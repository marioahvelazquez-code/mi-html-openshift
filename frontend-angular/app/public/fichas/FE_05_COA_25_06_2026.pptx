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charts/chart5.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6.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7.xml" ContentType="application/vnd.openxmlformats-officedocument.drawingml.chart+xml"/>
  <Override PartName="/ppt/notesSlides/notesSlide19.xml" ContentType="application/vnd.openxmlformats-officedocument.presentationml.notesSlide+xml"/>
  <Override PartName="/ppt/charts/chart8.xml" ContentType="application/vnd.openxmlformats-officedocument.drawingml.chart+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289" r:id="rId3"/>
    <p:sldId id="258" r:id="rId4"/>
    <p:sldId id="259" r:id="rId5"/>
    <p:sldId id="260" r:id="rId6"/>
    <p:sldId id="301" r:id="rId7"/>
    <p:sldId id="261" r:id="rId8"/>
    <p:sldId id="287" r:id="rId9"/>
    <p:sldId id="262" r:id="rId10"/>
    <p:sldId id="263" r:id="rId11"/>
    <p:sldId id="280" r:id="rId12"/>
    <p:sldId id="267" r:id="rId13"/>
    <p:sldId id="298" r:id="rId14"/>
    <p:sldId id="303" r:id="rId15"/>
    <p:sldId id="304" r:id="rId16"/>
    <p:sldId id="306" r:id="rId17"/>
    <p:sldId id="307" r:id="rId18"/>
    <p:sldId id="308" r:id="rId19"/>
    <p:sldId id="288" r:id="rId20"/>
    <p:sldId id="270" r:id="rId21"/>
    <p:sldId id="271" r:id="rId22"/>
    <p:sldId id="272" r:id="rId23"/>
    <p:sldId id="300" r:id="rId24"/>
    <p:sldId id="297" r:id="rId25"/>
    <p:sldId id="284" r:id="rId26"/>
    <p:sldId id="277" r:id="rId27"/>
    <p:sldId id="278" r:id="rId28"/>
    <p:sldId id="279" r:id="rId29"/>
    <p:sldId id="282" r:id="rId30"/>
  </p:sldIdLst>
  <p:sldSz cx="7772400" cy="10058400"/>
  <p:notesSz cx="6858000" cy="9144000"/>
  <p:embeddedFontLst>
    <p:embeddedFont>
      <p:font typeface="Montserrat" panose="020B0604020202020204" charset="0"/>
      <p:regular r:id="rId32"/>
      <p:bold r:id="rId33"/>
      <p:italic r:id="rId34"/>
      <p:boldItalic r:id="rId35"/>
    </p:embeddedFont>
    <p:embeddedFont>
      <p:font typeface="Noto Sans" panose="020B0604020202020204" charset="0"/>
      <p:regular r:id="rId36"/>
      <p:bold r:id="rId37"/>
      <p:italic r:id="rId38"/>
      <p:boldItalic r:id="rId39"/>
    </p:embeddedFont>
    <p:embeddedFont>
      <p:font typeface="Noto Sans Black" panose="020B0604020202020204"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F22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991293-E692-4EEF-A682-71B9E1E65B18}" v="7" dt="2026-07-03T23:15:19.583"/>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3168"/>
        <p:guide pos="2448"/>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57"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font" Target="fonts/font10.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nica Guadalupe Becerra Quiroz" userId="3f0ab3d9-73d5-4a96-ad75-906d0f222192" providerId="ADAL" clId="{14A85CE8-0E71-4838-BA5F-B8772D1D5B6B}"/>
    <pc:docChg chg="undo custSel delSld modSld sldOrd">
      <pc:chgData name="Monica Guadalupe Becerra Quiroz" userId="3f0ab3d9-73d5-4a96-ad75-906d0f222192" providerId="ADAL" clId="{14A85CE8-0E71-4838-BA5F-B8772D1D5B6B}" dt="2026-07-03T23:15:19.583" v="786" actId="1076"/>
      <pc:docMkLst>
        <pc:docMk/>
      </pc:docMkLst>
      <pc:sldChg chg="modSp mod">
        <pc:chgData name="Monica Guadalupe Becerra Quiroz" userId="3f0ab3d9-73d5-4a96-ad75-906d0f222192" providerId="ADAL" clId="{14A85CE8-0E71-4838-BA5F-B8772D1D5B6B}" dt="2026-06-26T19:37:30.639" v="696" actId="20577"/>
        <pc:sldMkLst>
          <pc:docMk/>
          <pc:sldMk cId="0" sldId="256"/>
        </pc:sldMkLst>
        <pc:spChg chg="mod">
          <ac:chgData name="Monica Guadalupe Becerra Quiroz" userId="3f0ab3d9-73d5-4a96-ad75-906d0f222192" providerId="ADAL" clId="{14A85CE8-0E71-4838-BA5F-B8772D1D5B6B}" dt="2026-06-26T19:37:30.639" v="696" actId="20577"/>
          <ac:spMkLst>
            <pc:docMk/>
            <pc:sldMk cId="0" sldId="256"/>
            <ac:spMk id="70" creationId="{00000000-0000-0000-0000-000000000000}"/>
          </ac:spMkLst>
        </pc:spChg>
      </pc:sldChg>
      <pc:sldChg chg="modSp mod">
        <pc:chgData name="Monica Guadalupe Becerra Quiroz" userId="3f0ab3d9-73d5-4a96-ad75-906d0f222192" providerId="ADAL" clId="{14A85CE8-0E71-4838-BA5F-B8772D1D5B6B}" dt="2026-06-26T17:28:59.346" v="55"/>
        <pc:sldMkLst>
          <pc:docMk/>
          <pc:sldMk cId="0" sldId="258"/>
        </pc:sldMkLst>
        <pc:spChg chg="mod">
          <ac:chgData name="Monica Guadalupe Becerra Quiroz" userId="3f0ab3d9-73d5-4a96-ad75-906d0f222192" providerId="ADAL" clId="{14A85CE8-0E71-4838-BA5F-B8772D1D5B6B}" dt="2026-06-26T17:25:30.016" v="7" actId="1076"/>
          <ac:spMkLst>
            <pc:docMk/>
            <pc:sldMk cId="0" sldId="258"/>
            <ac:spMk id="118" creationId="{00000000-0000-0000-0000-000000000000}"/>
          </ac:spMkLst>
        </pc:spChg>
        <pc:spChg chg="mod">
          <ac:chgData name="Monica Guadalupe Becerra Quiroz" userId="3f0ab3d9-73d5-4a96-ad75-906d0f222192" providerId="ADAL" clId="{14A85CE8-0E71-4838-BA5F-B8772D1D5B6B}" dt="2026-06-26T17:25:22.015" v="5" actId="1076"/>
          <ac:spMkLst>
            <pc:docMk/>
            <pc:sldMk cId="0" sldId="258"/>
            <ac:spMk id="120" creationId="{00000000-0000-0000-0000-000000000000}"/>
          </ac:spMkLst>
        </pc:spChg>
        <pc:spChg chg="mod">
          <ac:chgData name="Monica Guadalupe Becerra Quiroz" userId="3f0ab3d9-73d5-4a96-ad75-906d0f222192" providerId="ADAL" clId="{14A85CE8-0E71-4838-BA5F-B8772D1D5B6B}" dt="2026-06-26T17:27:31.396" v="43" actId="1076"/>
          <ac:spMkLst>
            <pc:docMk/>
            <pc:sldMk cId="0" sldId="258"/>
            <ac:spMk id="121" creationId="{00000000-0000-0000-0000-000000000000}"/>
          </ac:spMkLst>
        </pc:spChg>
        <pc:spChg chg="mod">
          <ac:chgData name="Monica Guadalupe Becerra Quiroz" userId="3f0ab3d9-73d5-4a96-ad75-906d0f222192" providerId="ADAL" clId="{14A85CE8-0E71-4838-BA5F-B8772D1D5B6B}" dt="2026-06-26T17:27:25.440" v="41" actId="1076"/>
          <ac:spMkLst>
            <pc:docMk/>
            <pc:sldMk cId="0" sldId="258"/>
            <ac:spMk id="123" creationId="{00000000-0000-0000-0000-000000000000}"/>
          </ac:spMkLst>
        </pc:spChg>
        <pc:spChg chg="mod">
          <ac:chgData name="Monica Guadalupe Becerra Quiroz" userId="3f0ab3d9-73d5-4a96-ad75-906d0f222192" providerId="ADAL" clId="{14A85CE8-0E71-4838-BA5F-B8772D1D5B6B}" dt="2026-06-26T17:25:59.257" v="16" actId="1076"/>
          <ac:spMkLst>
            <pc:docMk/>
            <pc:sldMk cId="0" sldId="258"/>
            <ac:spMk id="124" creationId="{00000000-0000-0000-0000-000000000000}"/>
          </ac:spMkLst>
        </pc:spChg>
        <pc:spChg chg="mod">
          <ac:chgData name="Monica Guadalupe Becerra Quiroz" userId="3f0ab3d9-73d5-4a96-ad75-906d0f222192" providerId="ADAL" clId="{14A85CE8-0E71-4838-BA5F-B8772D1D5B6B}" dt="2026-06-26T17:25:56.096" v="15" actId="1076"/>
          <ac:spMkLst>
            <pc:docMk/>
            <pc:sldMk cId="0" sldId="258"/>
            <ac:spMk id="126" creationId="{00000000-0000-0000-0000-000000000000}"/>
          </ac:spMkLst>
        </pc:spChg>
        <pc:spChg chg="mod">
          <ac:chgData name="Monica Guadalupe Becerra Quiroz" userId="3f0ab3d9-73d5-4a96-ad75-906d0f222192" providerId="ADAL" clId="{14A85CE8-0E71-4838-BA5F-B8772D1D5B6B}" dt="2026-06-26T17:27:16.124" v="39" actId="1076"/>
          <ac:spMkLst>
            <pc:docMk/>
            <pc:sldMk cId="0" sldId="258"/>
            <ac:spMk id="127" creationId="{00000000-0000-0000-0000-000000000000}"/>
          </ac:spMkLst>
        </pc:spChg>
        <pc:spChg chg="mod">
          <ac:chgData name="Monica Guadalupe Becerra Quiroz" userId="3f0ab3d9-73d5-4a96-ad75-906d0f222192" providerId="ADAL" clId="{14A85CE8-0E71-4838-BA5F-B8772D1D5B6B}" dt="2026-06-26T17:27:12.900" v="38" actId="1076"/>
          <ac:spMkLst>
            <pc:docMk/>
            <pc:sldMk cId="0" sldId="258"/>
            <ac:spMk id="129" creationId="{00000000-0000-0000-0000-000000000000}"/>
          </ac:spMkLst>
        </pc:spChg>
        <pc:spChg chg="mod">
          <ac:chgData name="Monica Guadalupe Becerra Quiroz" userId="3f0ab3d9-73d5-4a96-ad75-906d0f222192" providerId="ADAL" clId="{14A85CE8-0E71-4838-BA5F-B8772D1D5B6B}" dt="2026-06-26T17:27:09.200" v="37" actId="1076"/>
          <ac:spMkLst>
            <pc:docMk/>
            <pc:sldMk cId="0" sldId="258"/>
            <ac:spMk id="130" creationId="{00000000-0000-0000-0000-000000000000}"/>
          </ac:spMkLst>
        </pc:spChg>
        <pc:spChg chg="mod">
          <ac:chgData name="Monica Guadalupe Becerra Quiroz" userId="3f0ab3d9-73d5-4a96-ad75-906d0f222192" providerId="ADAL" clId="{14A85CE8-0E71-4838-BA5F-B8772D1D5B6B}" dt="2026-06-26T17:26:45.734" v="27" actId="1076"/>
          <ac:spMkLst>
            <pc:docMk/>
            <pc:sldMk cId="0" sldId="258"/>
            <ac:spMk id="132" creationId="{00000000-0000-0000-0000-000000000000}"/>
          </ac:spMkLst>
        </pc:spChg>
        <pc:graphicFrameChg chg="mod">
          <ac:chgData name="Monica Guadalupe Becerra Quiroz" userId="3f0ab3d9-73d5-4a96-ad75-906d0f222192" providerId="ADAL" clId="{14A85CE8-0E71-4838-BA5F-B8772D1D5B6B}" dt="2026-06-26T17:26:27.191" v="22"/>
          <ac:graphicFrameMkLst>
            <pc:docMk/>
            <pc:sldMk cId="0" sldId="258"/>
            <ac:graphicFrameMk id="117" creationId="{00000000-0000-0000-0000-000000000000}"/>
          </ac:graphicFrameMkLst>
        </pc:graphicFrameChg>
        <pc:graphicFrameChg chg="mod">
          <ac:chgData name="Monica Guadalupe Becerra Quiroz" userId="3f0ab3d9-73d5-4a96-ad75-906d0f222192" providerId="ADAL" clId="{14A85CE8-0E71-4838-BA5F-B8772D1D5B6B}" dt="2026-06-26T17:28:59.346" v="55"/>
          <ac:graphicFrameMkLst>
            <pc:docMk/>
            <pc:sldMk cId="0" sldId="258"/>
            <ac:graphicFrameMk id="137" creationId="{00000000-0000-0000-0000-000000000000}"/>
          </ac:graphicFrameMkLst>
        </pc:graphicFrameChg>
        <pc:graphicFrameChg chg="mod">
          <ac:chgData name="Monica Guadalupe Becerra Quiroz" userId="3f0ab3d9-73d5-4a96-ad75-906d0f222192" providerId="ADAL" clId="{14A85CE8-0E71-4838-BA5F-B8772D1D5B6B}" dt="2026-06-26T17:28:38.754" v="50"/>
          <ac:graphicFrameMkLst>
            <pc:docMk/>
            <pc:sldMk cId="0" sldId="258"/>
            <ac:graphicFrameMk id="138" creationId="{00000000-0000-0000-0000-000000000000}"/>
          </ac:graphicFrameMkLst>
        </pc:graphicFrameChg>
        <pc:graphicFrameChg chg="mod">
          <ac:chgData name="Monica Guadalupe Becerra Quiroz" userId="3f0ab3d9-73d5-4a96-ad75-906d0f222192" providerId="ADAL" clId="{14A85CE8-0E71-4838-BA5F-B8772D1D5B6B}" dt="2026-06-26T17:28:42.100" v="51"/>
          <ac:graphicFrameMkLst>
            <pc:docMk/>
            <pc:sldMk cId="0" sldId="258"/>
            <ac:graphicFrameMk id="139" creationId="{00000000-0000-0000-0000-000000000000}"/>
          </ac:graphicFrameMkLst>
        </pc:graphicFrameChg>
        <pc:picChg chg="mod">
          <ac:chgData name="Monica Guadalupe Becerra Quiroz" userId="3f0ab3d9-73d5-4a96-ad75-906d0f222192" providerId="ADAL" clId="{14A85CE8-0E71-4838-BA5F-B8772D1D5B6B}" dt="2026-06-26T17:25:19.990" v="4" actId="1076"/>
          <ac:picMkLst>
            <pc:docMk/>
            <pc:sldMk cId="0" sldId="258"/>
            <ac:picMk id="119" creationId="{00000000-0000-0000-0000-000000000000}"/>
          </ac:picMkLst>
        </pc:picChg>
        <pc:picChg chg="mod">
          <ac:chgData name="Monica Guadalupe Becerra Quiroz" userId="3f0ab3d9-73d5-4a96-ad75-906d0f222192" providerId="ADAL" clId="{14A85CE8-0E71-4838-BA5F-B8772D1D5B6B}" dt="2026-06-26T17:27:27.297" v="42" actId="1076"/>
          <ac:picMkLst>
            <pc:docMk/>
            <pc:sldMk cId="0" sldId="258"/>
            <ac:picMk id="122" creationId="{00000000-0000-0000-0000-000000000000}"/>
          </ac:picMkLst>
        </pc:picChg>
        <pc:picChg chg="mod">
          <ac:chgData name="Monica Guadalupe Becerra Quiroz" userId="3f0ab3d9-73d5-4a96-ad75-906d0f222192" providerId="ADAL" clId="{14A85CE8-0E71-4838-BA5F-B8772D1D5B6B}" dt="2026-06-26T17:27:34.975" v="44" actId="1076"/>
          <ac:picMkLst>
            <pc:docMk/>
            <pc:sldMk cId="0" sldId="258"/>
            <ac:picMk id="125" creationId="{00000000-0000-0000-0000-000000000000}"/>
          </ac:picMkLst>
        </pc:picChg>
        <pc:picChg chg="mod">
          <ac:chgData name="Monica Guadalupe Becerra Quiroz" userId="3f0ab3d9-73d5-4a96-ad75-906d0f222192" providerId="ADAL" clId="{14A85CE8-0E71-4838-BA5F-B8772D1D5B6B}" dt="2026-06-26T17:27:21.328" v="40" actId="1076"/>
          <ac:picMkLst>
            <pc:docMk/>
            <pc:sldMk cId="0" sldId="258"/>
            <ac:picMk id="128" creationId="{00000000-0000-0000-0000-000000000000}"/>
          </ac:picMkLst>
        </pc:picChg>
        <pc:picChg chg="mod">
          <ac:chgData name="Monica Guadalupe Becerra Quiroz" userId="3f0ab3d9-73d5-4a96-ad75-906d0f222192" providerId="ADAL" clId="{14A85CE8-0E71-4838-BA5F-B8772D1D5B6B}" dt="2026-06-26T17:26:47.531" v="28" actId="1076"/>
          <ac:picMkLst>
            <pc:docMk/>
            <pc:sldMk cId="0" sldId="258"/>
            <ac:picMk id="131" creationId="{00000000-0000-0000-0000-000000000000}"/>
          </ac:picMkLst>
        </pc:picChg>
      </pc:sldChg>
      <pc:sldChg chg="modSp mod">
        <pc:chgData name="Monica Guadalupe Becerra Quiroz" userId="3f0ab3d9-73d5-4a96-ad75-906d0f222192" providerId="ADAL" clId="{14A85CE8-0E71-4838-BA5F-B8772D1D5B6B}" dt="2026-06-29T18:12:10.437" v="770" actId="20577"/>
        <pc:sldMkLst>
          <pc:docMk/>
          <pc:sldMk cId="0" sldId="259"/>
        </pc:sldMkLst>
        <pc:spChg chg="mod">
          <ac:chgData name="Monica Guadalupe Becerra Quiroz" userId="3f0ab3d9-73d5-4a96-ad75-906d0f222192" providerId="ADAL" clId="{14A85CE8-0E71-4838-BA5F-B8772D1D5B6B}" dt="2026-06-29T18:12:10.437" v="770" actId="20577"/>
          <ac:spMkLst>
            <pc:docMk/>
            <pc:sldMk cId="0" sldId="259"/>
            <ac:spMk id="139" creationId="{00000000-0000-0000-0000-000000000000}"/>
          </ac:spMkLst>
        </pc:spChg>
        <pc:graphicFrameChg chg="mod modGraphic">
          <ac:chgData name="Monica Guadalupe Becerra Quiroz" userId="3f0ab3d9-73d5-4a96-ad75-906d0f222192" providerId="ADAL" clId="{14A85CE8-0E71-4838-BA5F-B8772D1D5B6B}" dt="2026-06-29T17:58:13.836" v="739" actId="20577"/>
          <ac:graphicFrameMkLst>
            <pc:docMk/>
            <pc:sldMk cId="0" sldId="259"/>
            <ac:graphicFrameMk id="135" creationId="{00000000-0000-0000-0000-000000000000}"/>
          </ac:graphicFrameMkLst>
        </pc:graphicFrameChg>
        <pc:graphicFrameChg chg="mod modGraphic">
          <ac:chgData name="Monica Guadalupe Becerra Quiroz" userId="3f0ab3d9-73d5-4a96-ad75-906d0f222192" providerId="ADAL" clId="{14A85CE8-0E71-4838-BA5F-B8772D1D5B6B}" dt="2026-06-29T17:59:18.757" v="741" actId="947"/>
          <ac:graphicFrameMkLst>
            <pc:docMk/>
            <pc:sldMk cId="0" sldId="259"/>
            <ac:graphicFrameMk id="136" creationId="{00000000-0000-0000-0000-000000000000}"/>
          </ac:graphicFrameMkLst>
        </pc:graphicFrameChg>
        <pc:graphicFrameChg chg="mod">
          <ac:chgData name="Monica Guadalupe Becerra Quiroz" userId="3f0ab3d9-73d5-4a96-ad75-906d0f222192" providerId="ADAL" clId="{14A85CE8-0E71-4838-BA5F-B8772D1D5B6B}" dt="2026-06-26T17:29:14.763" v="56"/>
          <ac:graphicFrameMkLst>
            <pc:docMk/>
            <pc:sldMk cId="0" sldId="259"/>
            <ac:graphicFrameMk id="137" creationId="{00000000-0000-0000-0000-000000000000}"/>
          </ac:graphicFrameMkLst>
        </pc:graphicFrameChg>
      </pc:sldChg>
      <pc:sldChg chg="delSp modSp mod">
        <pc:chgData name="Monica Guadalupe Becerra Quiroz" userId="3f0ab3d9-73d5-4a96-ad75-906d0f222192" providerId="ADAL" clId="{14A85CE8-0E71-4838-BA5F-B8772D1D5B6B}" dt="2026-06-29T18:12:23.818" v="773" actId="20577"/>
        <pc:sldMkLst>
          <pc:docMk/>
          <pc:sldMk cId="0" sldId="260"/>
        </pc:sldMkLst>
        <pc:spChg chg="mod">
          <ac:chgData name="Monica Guadalupe Becerra Quiroz" userId="3f0ab3d9-73d5-4a96-ad75-906d0f222192" providerId="ADAL" clId="{14A85CE8-0E71-4838-BA5F-B8772D1D5B6B}" dt="2026-06-26T18:13:59.845" v="73" actId="1076"/>
          <ac:spMkLst>
            <pc:docMk/>
            <pc:sldMk cId="0" sldId="260"/>
            <ac:spMk id="7" creationId="{869A875B-834A-EB32-DFDC-8C3B643F744D}"/>
          </ac:spMkLst>
        </pc:spChg>
        <pc:spChg chg="mod">
          <ac:chgData name="Monica Guadalupe Becerra Quiroz" userId="3f0ab3d9-73d5-4a96-ad75-906d0f222192" providerId="ADAL" clId="{14A85CE8-0E71-4838-BA5F-B8772D1D5B6B}" dt="2026-06-29T18:12:23.818" v="773" actId="20577"/>
          <ac:spMkLst>
            <pc:docMk/>
            <pc:sldMk cId="0" sldId="260"/>
            <ac:spMk id="13" creationId="{00000000-0000-0000-0000-000000000000}"/>
          </ac:spMkLst>
        </pc:spChg>
        <pc:picChg chg="mod">
          <ac:chgData name="Monica Guadalupe Becerra Quiroz" userId="3f0ab3d9-73d5-4a96-ad75-906d0f222192" providerId="ADAL" clId="{14A85CE8-0E71-4838-BA5F-B8772D1D5B6B}" dt="2026-06-26T18:13:56.022" v="72" actId="1076"/>
          <ac:picMkLst>
            <pc:docMk/>
            <pc:sldMk cId="0" sldId="260"/>
            <ac:picMk id="5" creationId="{254D2AEA-4739-9BC4-E8D0-E18F6F0B0E40}"/>
          </ac:picMkLst>
        </pc:picChg>
        <pc:picChg chg="mod">
          <ac:chgData name="Monica Guadalupe Becerra Quiroz" userId="3f0ab3d9-73d5-4a96-ad75-906d0f222192" providerId="ADAL" clId="{14A85CE8-0E71-4838-BA5F-B8772D1D5B6B}" dt="2026-06-26T18:14:02.086" v="74" actId="1076"/>
          <ac:picMkLst>
            <pc:docMk/>
            <pc:sldMk cId="0" sldId="260"/>
            <ac:picMk id="11" creationId="{00000000-0000-0000-0000-000000000000}"/>
          </ac:picMkLst>
        </pc:picChg>
      </pc:sldChg>
      <pc:sldChg chg="addSp modSp mod">
        <pc:chgData name="Monica Guadalupe Becerra Quiroz" userId="3f0ab3d9-73d5-4a96-ad75-906d0f222192" providerId="ADAL" clId="{14A85CE8-0E71-4838-BA5F-B8772D1D5B6B}" dt="2026-06-29T18:12:36.590" v="779" actId="20577"/>
        <pc:sldMkLst>
          <pc:docMk/>
          <pc:sldMk cId="0" sldId="261"/>
        </pc:sldMkLst>
        <pc:spChg chg="mod">
          <ac:chgData name="Monica Guadalupe Becerra Quiroz" userId="3f0ab3d9-73d5-4a96-ad75-906d0f222192" providerId="ADAL" clId="{14A85CE8-0E71-4838-BA5F-B8772D1D5B6B}" dt="2026-06-29T18:12:36.590" v="779" actId="20577"/>
          <ac:spMkLst>
            <pc:docMk/>
            <pc:sldMk cId="0" sldId="261"/>
            <ac:spMk id="156" creationId="{00000000-0000-0000-0000-000000000000}"/>
          </ac:spMkLst>
        </pc:spChg>
        <pc:grpChg chg="mod">
          <ac:chgData name="Monica Guadalupe Becerra Quiroz" userId="3f0ab3d9-73d5-4a96-ad75-906d0f222192" providerId="ADAL" clId="{14A85CE8-0E71-4838-BA5F-B8772D1D5B6B}" dt="2026-06-26T18:17:00.643" v="100" actId="1076"/>
          <ac:grpSpMkLst>
            <pc:docMk/>
            <pc:sldMk cId="0" sldId="261"/>
            <ac:grpSpMk id="2" creationId="{104E9437-0840-26BD-ECBC-779486D7CA1D}"/>
          </ac:grpSpMkLst>
        </pc:grpChg>
        <pc:graphicFrameChg chg="add mod modGraphic">
          <ac:chgData name="Monica Guadalupe Becerra Quiroz" userId="3f0ab3d9-73d5-4a96-ad75-906d0f222192" providerId="ADAL" clId="{14A85CE8-0E71-4838-BA5F-B8772D1D5B6B}" dt="2026-06-26T18:16:28.106" v="95" actId="14100"/>
          <ac:graphicFrameMkLst>
            <pc:docMk/>
            <pc:sldMk cId="0" sldId="261"/>
            <ac:graphicFrameMk id="3" creationId="{86995122-8B3A-B085-7A4B-4D4F178897BA}"/>
          </ac:graphicFrameMkLst>
        </pc:graphicFrameChg>
        <pc:graphicFrameChg chg="modGraphic">
          <ac:chgData name="Monica Guadalupe Becerra Quiroz" userId="3f0ab3d9-73d5-4a96-ad75-906d0f222192" providerId="ADAL" clId="{14A85CE8-0E71-4838-BA5F-B8772D1D5B6B}" dt="2026-06-26T18:15:50.380" v="89" actId="14100"/>
          <ac:graphicFrameMkLst>
            <pc:docMk/>
            <pc:sldMk cId="0" sldId="261"/>
            <ac:graphicFrameMk id="154" creationId="{00000000-0000-0000-0000-000000000000}"/>
          </ac:graphicFrameMkLst>
        </pc:graphicFrameChg>
      </pc:sldChg>
      <pc:sldChg chg="modSp mod">
        <pc:chgData name="Monica Guadalupe Becerra Quiroz" userId="3f0ab3d9-73d5-4a96-ad75-906d0f222192" providerId="ADAL" clId="{14A85CE8-0E71-4838-BA5F-B8772D1D5B6B}" dt="2026-06-26T18:19:14.349" v="106" actId="1076"/>
        <pc:sldMkLst>
          <pc:docMk/>
          <pc:sldMk cId="0" sldId="262"/>
        </pc:sldMkLst>
        <pc:spChg chg="mod">
          <ac:chgData name="Monica Guadalupe Becerra Quiroz" userId="3f0ab3d9-73d5-4a96-ad75-906d0f222192" providerId="ADAL" clId="{14A85CE8-0E71-4838-BA5F-B8772D1D5B6B}" dt="2026-06-26T18:19:10.419" v="105" actId="1076"/>
          <ac:spMkLst>
            <pc:docMk/>
            <pc:sldMk cId="0" sldId="262"/>
            <ac:spMk id="10" creationId="{00000000-0000-0000-0000-000000000000}"/>
          </ac:spMkLst>
        </pc:spChg>
        <pc:spChg chg="mod">
          <ac:chgData name="Monica Guadalupe Becerra Quiroz" userId="3f0ab3d9-73d5-4a96-ad75-906d0f222192" providerId="ADAL" clId="{14A85CE8-0E71-4838-BA5F-B8772D1D5B6B}" dt="2026-06-26T18:19:14.349" v="106" actId="1076"/>
          <ac:spMkLst>
            <pc:docMk/>
            <pc:sldMk cId="0" sldId="262"/>
            <ac:spMk id="11" creationId="{00000000-0000-0000-0000-000000000000}"/>
          </ac:spMkLst>
        </pc:spChg>
        <pc:graphicFrameChg chg="mod">
          <ac:chgData name="Monica Guadalupe Becerra Quiroz" userId="3f0ab3d9-73d5-4a96-ad75-906d0f222192" providerId="ADAL" clId="{14A85CE8-0E71-4838-BA5F-B8772D1D5B6B}" dt="2026-06-26T18:19:07.801" v="104" actId="1076"/>
          <ac:graphicFrameMkLst>
            <pc:docMk/>
            <pc:sldMk cId="0" sldId="262"/>
            <ac:graphicFrameMk id="9" creationId="{00000000-0000-0000-0000-000000000000}"/>
          </ac:graphicFrameMkLst>
        </pc:graphicFrameChg>
      </pc:sldChg>
      <pc:sldChg chg="modSp mod">
        <pc:chgData name="Monica Guadalupe Becerra Quiroz" userId="3f0ab3d9-73d5-4a96-ad75-906d0f222192" providerId="ADAL" clId="{14A85CE8-0E71-4838-BA5F-B8772D1D5B6B}" dt="2026-06-26T18:20:46.808" v="121" actId="1076"/>
        <pc:sldMkLst>
          <pc:docMk/>
          <pc:sldMk cId="0" sldId="263"/>
        </pc:sldMkLst>
        <pc:spChg chg="mod">
          <ac:chgData name="Monica Guadalupe Becerra Quiroz" userId="3f0ab3d9-73d5-4a96-ad75-906d0f222192" providerId="ADAL" clId="{14A85CE8-0E71-4838-BA5F-B8772D1D5B6B}" dt="2026-06-26T18:20:41.594" v="120" actId="1076"/>
          <ac:spMkLst>
            <pc:docMk/>
            <pc:sldMk cId="0" sldId="263"/>
            <ac:spMk id="11" creationId="{F0DCF302-2907-56E8-606C-7F21E9D471F3}"/>
          </ac:spMkLst>
        </pc:spChg>
        <pc:spChg chg="mod">
          <ac:chgData name="Monica Guadalupe Becerra Quiroz" userId="3f0ab3d9-73d5-4a96-ad75-906d0f222192" providerId="ADAL" clId="{14A85CE8-0E71-4838-BA5F-B8772D1D5B6B}" dt="2026-06-26T18:20:00.407" v="110" actId="1076"/>
          <ac:spMkLst>
            <pc:docMk/>
            <pc:sldMk cId="0" sldId="263"/>
            <ac:spMk id="15" creationId="{00000000-0000-0000-0000-000000000000}"/>
          </ac:spMkLst>
        </pc:spChg>
        <pc:spChg chg="mod">
          <ac:chgData name="Monica Guadalupe Becerra Quiroz" userId="3f0ab3d9-73d5-4a96-ad75-906d0f222192" providerId="ADAL" clId="{14A85CE8-0E71-4838-BA5F-B8772D1D5B6B}" dt="2026-06-26T18:19:52.991" v="108" actId="1076"/>
          <ac:spMkLst>
            <pc:docMk/>
            <pc:sldMk cId="0" sldId="263"/>
            <ac:spMk id="16" creationId="{00000000-0000-0000-0000-000000000000}"/>
          </ac:spMkLst>
        </pc:spChg>
        <pc:spChg chg="mod">
          <ac:chgData name="Monica Guadalupe Becerra Quiroz" userId="3f0ab3d9-73d5-4a96-ad75-906d0f222192" providerId="ADAL" clId="{14A85CE8-0E71-4838-BA5F-B8772D1D5B6B}" dt="2026-06-26T18:20:15.800" v="112" actId="1076"/>
          <ac:spMkLst>
            <pc:docMk/>
            <pc:sldMk cId="0" sldId="263"/>
            <ac:spMk id="19" creationId="{00000000-0000-0000-0000-000000000000}"/>
          </ac:spMkLst>
        </pc:spChg>
        <pc:spChg chg="mod">
          <ac:chgData name="Monica Guadalupe Becerra Quiroz" userId="3f0ab3d9-73d5-4a96-ad75-906d0f222192" providerId="ADAL" clId="{14A85CE8-0E71-4838-BA5F-B8772D1D5B6B}" dt="2026-06-26T18:20:38.200" v="119" actId="1076"/>
          <ac:spMkLst>
            <pc:docMk/>
            <pc:sldMk cId="0" sldId="263"/>
            <ac:spMk id="22" creationId="{00000000-0000-0000-0000-000000000000}"/>
          </ac:spMkLst>
        </pc:spChg>
        <pc:graphicFrameChg chg="mod">
          <ac:chgData name="Monica Guadalupe Becerra Quiroz" userId="3f0ab3d9-73d5-4a96-ad75-906d0f222192" providerId="ADAL" clId="{14A85CE8-0E71-4838-BA5F-B8772D1D5B6B}" dt="2026-06-26T18:20:46.808" v="121" actId="1076"/>
          <ac:graphicFrameMkLst>
            <pc:docMk/>
            <pc:sldMk cId="0" sldId="263"/>
            <ac:graphicFrameMk id="12" creationId="{C5698DFF-0C68-FECC-333B-331C3D3BDE3B}"/>
          </ac:graphicFrameMkLst>
        </pc:graphicFrameChg>
        <pc:graphicFrameChg chg="mod">
          <ac:chgData name="Monica Guadalupe Becerra Quiroz" userId="3f0ab3d9-73d5-4a96-ad75-906d0f222192" providerId="ADAL" clId="{14A85CE8-0E71-4838-BA5F-B8772D1D5B6B}" dt="2026-06-26T18:19:50.207" v="107" actId="1076"/>
          <ac:graphicFrameMkLst>
            <pc:docMk/>
            <pc:sldMk cId="0" sldId="263"/>
            <ac:graphicFrameMk id="20" creationId="{00000000-0000-0000-0000-000000000000}"/>
          </ac:graphicFrameMkLst>
        </pc:graphicFrameChg>
        <pc:graphicFrameChg chg="mod">
          <ac:chgData name="Monica Guadalupe Becerra Quiroz" userId="3f0ab3d9-73d5-4a96-ad75-906d0f222192" providerId="ADAL" clId="{14A85CE8-0E71-4838-BA5F-B8772D1D5B6B}" dt="2026-06-26T18:20:35.505" v="118" actId="1076"/>
          <ac:graphicFrameMkLst>
            <pc:docMk/>
            <pc:sldMk cId="0" sldId="263"/>
            <ac:graphicFrameMk id="21" creationId="{00000000-0000-0000-0000-000000000000}"/>
          </ac:graphicFrameMkLst>
        </pc:graphicFrameChg>
        <pc:cxnChg chg="mod">
          <ac:chgData name="Monica Guadalupe Becerra Quiroz" userId="3f0ab3d9-73d5-4a96-ad75-906d0f222192" providerId="ADAL" clId="{14A85CE8-0E71-4838-BA5F-B8772D1D5B6B}" dt="2026-06-26T18:20:04.387" v="111" actId="1076"/>
          <ac:cxnSpMkLst>
            <pc:docMk/>
            <pc:sldMk cId="0" sldId="263"/>
            <ac:cxnSpMk id="17" creationId="{00000000-0000-0000-0000-000000000000}"/>
          </ac:cxnSpMkLst>
        </pc:cxnChg>
      </pc:sldChg>
      <pc:sldChg chg="modSp mod">
        <pc:chgData name="Monica Guadalupe Becerra Quiroz" userId="3f0ab3d9-73d5-4a96-ad75-906d0f222192" providerId="ADAL" clId="{14A85CE8-0E71-4838-BA5F-B8772D1D5B6B}" dt="2026-06-26T18:22:23.407" v="132" actId="1076"/>
        <pc:sldMkLst>
          <pc:docMk/>
          <pc:sldMk cId="0" sldId="267"/>
        </pc:sldMkLst>
        <pc:spChg chg="mod">
          <ac:chgData name="Monica Guadalupe Becerra Quiroz" userId="3f0ab3d9-73d5-4a96-ad75-906d0f222192" providerId="ADAL" clId="{14A85CE8-0E71-4838-BA5F-B8772D1D5B6B}" dt="2026-06-26T18:22:02.737" v="130" actId="1076"/>
          <ac:spMkLst>
            <pc:docMk/>
            <pc:sldMk cId="0" sldId="267"/>
            <ac:spMk id="236" creationId="{00000000-0000-0000-0000-000000000000}"/>
          </ac:spMkLst>
        </pc:spChg>
        <pc:spChg chg="mod">
          <ac:chgData name="Monica Guadalupe Becerra Quiroz" userId="3f0ab3d9-73d5-4a96-ad75-906d0f222192" providerId="ADAL" clId="{14A85CE8-0E71-4838-BA5F-B8772D1D5B6B}" dt="2026-06-26T18:22:05.475" v="131" actId="1076"/>
          <ac:spMkLst>
            <pc:docMk/>
            <pc:sldMk cId="0" sldId="267"/>
            <ac:spMk id="237" creationId="{00000000-0000-0000-0000-000000000000}"/>
          </ac:spMkLst>
        </pc:spChg>
        <pc:spChg chg="mod">
          <ac:chgData name="Monica Guadalupe Becerra Quiroz" userId="3f0ab3d9-73d5-4a96-ad75-906d0f222192" providerId="ADAL" clId="{14A85CE8-0E71-4838-BA5F-B8772D1D5B6B}" dt="2026-06-26T18:22:23.407" v="132" actId="1076"/>
          <ac:spMkLst>
            <pc:docMk/>
            <pc:sldMk cId="0" sldId="267"/>
            <ac:spMk id="238" creationId="{00000000-0000-0000-0000-000000000000}"/>
          </ac:spMkLst>
        </pc:spChg>
        <pc:graphicFrameChg chg="mod">
          <ac:chgData name="Monica Guadalupe Becerra Quiroz" userId="3f0ab3d9-73d5-4a96-ad75-906d0f222192" providerId="ADAL" clId="{14A85CE8-0E71-4838-BA5F-B8772D1D5B6B}" dt="2026-06-26T18:21:59.864" v="129" actId="1076"/>
          <ac:graphicFrameMkLst>
            <pc:docMk/>
            <pc:sldMk cId="0" sldId="267"/>
            <ac:graphicFrameMk id="235" creationId="{00000000-0000-0000-0000-000000000000}"/>
          </ac:graphicFrameMkLst>
        </pc:graphicFrameChg>
      </pc:sldChg>
      <pc:sldChg chg="modSp mod">
        <pc:chgData name="Monica Guadalupe Becerra Quiroz" userId="3f0ab3d9-73d5-4a96-ad75-906d0f222192" providerId="ADAL" clId="{14A85CE8-0E71-4838-BA5F-B8772D1D5B6B}" dt="2026-06-26T18:38:47.289" v="314"/>
        <pc:sldMkLst>
          <pc:docMk/>
          <pc:sldMk cId="0" sldId="270"/>
        </pc:sldMkLst>
        <pc:spChg chg="mod">
          <ac:chgData name="Monica Guadalupe Becerra Quiroz" userId="3f0ab3d9-73d5-4a96-ad75-906d0f222192" providerId="ADAL" clId="{14A85CE8-0E71-4838-BA5F-B8772D1D5B6B}" dt="2026-06-26T18:37:49.311" v="307" actId="1076"/>
          <ac:spMkLst>
            <pc:docMk/>
            <pc:sldMk cId="0" sldId="270"/>
            <ac:spMk id="322" creationId="{00000000-0000-0000-0000-000000000000}"/>
          </ac:spMkLst>
        </pc:spChg>
        <pc:spChg chg="mod">
          <ac:chgData name="Monica Guadalupe Becerra Quiroz" userId="3f0ab3d9-73d5-4a96-ad75-906d0f222192" providerId="ADAL" clId="{14A85CE8-0E71-4838-BA5F-B8772D1D5B6B}" dt="2026-06-26T18:35:57.378" v="297" actId="207"/>
          <ac:spMkLst>
            <pc:docMk/>
            <pc:sldMk cId="0" sldId="270"/>
            <ac:spMk id="323" creationId="{00000000-0000-0000-0000-000000000000}"/>
          </ac:spMkLst>
        </pc:spChg>
        <pc:graphicFrameChg chg="modGraphic">
          <ac:chgData name="Monica Guadalupe Becerra Quiroz" userId="3f0ab3d9-73d5-4a96-ad75-906d0f222192" providerId="ADAL" clId="{14A85CE8-0E71-4838-BA5F-B8772D1D5B6B}" dt="2026-06-26T18:36:40.788" v="300" actId="255"/>
          <ac:graphicFrameMkLst>
            <pc:docMk/>
            <pc:sldMk cId="0" sldId="270"/>
            <ac:graphicFrameMk id="301" creationId="{00000000-0000-0000-0000-000000000000}"/>
          </ac:graphicFrameMkLst>
        </pc:graphicFrameChg>
        <pc:graphicFrameChg chg="modGraphic">
          <ac:chgData name="Monica Guadalupe Becerra Quiroz" userId="3f0ab3d9-73d5-4a96-ad75-906d0f222192" providerId="ADAL" clId="{14A85CE8-0E71-4838-BA5F-B8772D1D5B6B}" dt="2026-06-26T18:37:06.020" v="303" actId="255"/>
          <ac:graphicFrameMkLst>
            <pc:docMk/>
            <pc:sldMk cId="0" sldId="270"/>
            <ac:graphicFrameMk id="304" creationId="{00000000-0000-0000-0000-000000000000}"/>
          </ac:graphicFrameMkLst>
        </pc:graphicFrameChg>
        <pc:graphicFrameChg chg="modGraphic">
          <ac:chgData name="Monica Guadalupe Becerra Quiroz" userId="3f0ab3d9-73d5-4a96-ad75-906d0f222192" providerId="ADAL" clId="{14A85CE8-0E71-4838-BA5F-B8772D1D5B6B}" dt="2026-06-26T18:36:48.804" v="301" actId="255"/>
          <ac:graphicFrameMkLst>
            <pc:docMk/>
            <pc:sldMk cId="0" sldId="270"/>
            <ac:graphicFrameMk id="307" creationId="{00000000-0000-0000-0000-000000000000}"/>
          </ac:graphicFrameMkLst>
        </pc:graphicFrameChg>
        <pc:graphicFrameChg chg="modGraphic">
          <ac:chgData name="Monica Guadalupe Becerra Quiroz" userId="3f0ab3d9-73d5-4a96-ad75-906d0f222192" providerId="ADAL" clId="{14A85CE8-0E71-4838-BA5F-B8772D1D5B6B}" dt="2026-06-26T18:37:25.427" v="305" actId="255"/>
          <ac:graphicFrameMkLst>
            <pc:docMk/>
            <pc:sldMk cId="0" sldId="270"/>
            <ac:graphicFrameMk id="310" creationId="{00000000-0000-0000-0000-000000000000}"/>
          </ac:graphicFrameMkLst>
        </pc:graphicFrameChg>
        <pc:graphicFrameChg chg="modGraphic">
          <ac:chgData name="Monica Guadalupe Becerra Quiroz" userId="3f0ab3d9-73d5-4a96-ad75-906d0f222192" providerId="ADAL" clId="{14A85CE8-0E71-4838-BA5F-B8772D1D5B6B}" dt="2026-06-26T18:36:57.917" v="302" actId="255"/>
          <ac:graphicFrameMkLst>
            <pc:docMk/>
            <pc:sldMk cId="0" sldId="270"/>
            <ac:graphicFrameMk id="313" creationId="{00000000-0000-0000-0000-000000000000}"/>
          </ac:graphicFrameMkLst>
        </pc:graphicFrameChg>
        <pc:graphicFrameChg chg="modGraphic">
          <ac:chgData name="Monica Guadalupe Becerra Quiroz" userId="3f0ab3d9-73d5-4a96-ad75-906d0f222192" providerId="ADAL" clId="{14A85CE8-0E71-4838-BA5F-B8772D1D5B6B}" dt="2026-06-26T18:37:33.939" v="306" actId="255"/>
          <ac:graphicFrameMkLst>
            <pc:docMk/>
            <pc:sldMk cId="0" sldId="270"/>
            <ac:graphicFrameMk id="316" creationId="{00000000-0000-0000-0000-000000000000}"/>
          </ac:graphicFrameMkLst>
        </pc:graphicFrameChg>
        <pc:graphicFrameChg chg="mod modGraphic">
          <ac:chgData name="Monica Guadalupe Becerra Quiroz" userId="3f0ab3d9-73d5-4a96-ad75-906d0f222192" providerId="ADAL" clId="{14A85CE8-0E71-4838-BA5F-B8772D1D5B6B}" dt="2026-06-26T18:38:33.555" v="312"/>
          <ac:graphicFrameMkLst>
            <pc:docMk/>
            <pc:sldMk cId="0" sldId="270"/>
            <ac:graphicFrameMk id="317" creationId="{00000000-0000-0000-0000-000000000000}"/>
          </ac:graphicFrameMkLst>
        </pc:graphicFrameChg>
        <pc:graphicFrameChg chg="mod modGraphic">
          <ac:chgData name="Monica Guadalupe Becerra Quiroz" userId="3f0ab3d9-73d5-4a96-ad75-906d0f222192" providerId="ADAL" clId="{14A85CE8-0E71-4838-BA5F-B8772D1D5B6B}" dt="2026-06-26T18:38:28.798" v="311"/>
          <ac:graphicFrameMkLst>
            <pc:docMk/>
            <pc:sldMk cId="0" sldId="270"/>
            <ac:graphicFrameMk id="318" creationId="{00000000-0000-0000-0000-000000000000}"/>
          </ac:graphicFrameMkLst>
        </pc:graphicFrameChg>
        <pc:graphicFrameChg chg="mod">
          <ac:chgData name="Monica Guadalupe Becerra Quiroz" userId="3f0ab3d9-73d5-4a96-ad75-906d0f222192" providerId="ADAL" clId="{14A85CE8-0E71-4838-BA5F-B8772D1D5B6B}" dt="2026-06-26T18:38:47.289" v="314"/>
          <ac:graphicFrameMkLst>
            <pc:docMk/>
            <pc:sldMk cId="0" sldId="270"/>
            <ac:graphicFrameMk id="319" creationId="{00000000-0000-0000-0000-000000000000}"/>
          </ac:graphicFrameMkLst>
        </pc:graphicFrameChg>
        <pc:graphicFrameChg chg="mod">
          <ac:chgData name="Monica Guadalupe Becerra Quiroz" userId="3f0ab3d9-73d5-4a96-ad75-906d0f222192" providerId="ADAL" clId="{14A85CE8-0E71-4838-BA5F-B8772D1D5B6B}" dt="2026-06-26T18:37:53.685" v="308" actId="14100"/>
          <ac:graphicFrameMkLst>
            <pc:docMk/>
            <pc:sldMk cId="0" sldId="270"/>
            <ac:graphicFrameMk id="320" creationId="{00000000-0000-0000-0000-000000000000}"/>
          </ac:graphicFrameMkLst>
        </pc:graphicFrameChg>
      </pc:sldChg>
      <pc:sldChg chg="modSp mod">
        <pc:chgData name="Monica Guadalupe Becerra Quiroz" userId="3f0ab3d9-73d5-4a96-ad75-906d0f222192" providerId="ADAL" clId="{14A85CE8-0E71-4838-BA5F-B8772D1D5B6B}" dt="2026-06-26T18:40:00.632" v="325" actId="1076"/>
        <pc:sldMkLst>
          <pc:docMk/>
          <pc:sldMk cId="0" sldId="271"/>
        </pc:sldMkLst>
        <pc:spChg chg="mod">
          <ac:chgData name="Monica Guadalupe Becerra Quiroz" userId="3f0ab3d9-73d5-4a96-ad75-906d0f222192" providerId="ADAL" clId="{14A85CE8-0E71-4838-BA5F-B8772D1D5B6B}" dt="2026-06-26T18:39:35.788" v="322" actId="14100"/>
          <ac:spMkLst>
            <pc:docMk/>
            <pc:sldMk cId="0" sldId="271"/>
            <ac:spMk id="345" creationId="{00000000-0000-0000-0000-000000000000}"/>
          </ac:spMkLst>
        </pc:spChg>
        <pc:spChg chg="mod">
          <ac:chgData name="Monica Guadalupe Becerra Quiroz" userId="3f0ab3d9-73d5-4a96-ad75-906d0f222192" providerId="ADAL" clId="{14A85CE8-0E71-4838-BA5F-B8772D1D5B6B}" dt="2026-06-26T18:39:29.023" v="320" actId="207"/>
          <ac:spMkLst>
            <pc:docMk/>
            <pc:sldMk cId="0" sldId="271"/>
            <ac:spMk id="346" creationId="{00000000-0000-0000-0000-000000000000}"/>
          </ac:spMkLst>
        </pc:spChg>
        <pc:graphicFrameChg chg="mod modGraphic">
          <ac:chgData name="Monica Guadalupe Becerra Quiroz" userId="3f0ab3d9-73d5-4a96-ad75-906d0f222192" providerId="ADAL" clId="{14A85CE8-0E71-4838-BA5F-B8772D1D5B6B}" dt="2026-06-26T18:40:00.632" v="325" actId="1076"/>
          <ac:graphicFrameMkLst>
            <pc:docMk/>
            <pc:sldMk cId="0" sldId="271"/>
            <ac:graphicFrameMk id="344" creationId="{00000000-0000-0000-0000-000000000000}"/>
          </ac:graphicFrameMkLst>
        </pc:graphicFrameChg>
      </pc:sldChg>
      <pc:sldChg chg="modSp mod">
        <pc:chgData name="Monica Guadalupe Becerra Quiroz" userId="3f0ab3d9-73d5-4a96-ad75-906d0f222192" providerId="ADAL" clId="{14A85CE8-0E71-4838-BA5F-B8772D1D5B6B}" dt="2026-06-26T18:43:25.940" v="336" actId="1076"/>
        <pc:sldMkLst>
          <pc:docMk/>
          <pc:sldMk cId="0" sldId="272"/>
        </pc:sldMkLst>
        <pc:spChg chg="mod">
          <ac:chgData name="Monica Guadalupe Becerra Quiroz" userId="3f0ab3d9-73d5-4a96-ad75-906d0f222192" providerId="ADAL" clId="{14A85CE8-0E71-4838-BA5F-B8772D1D5B6B}" dt="2026-06-26T18:43:07.660" v="333" actId="207"/>
          <ac:spMkLst>
            <pc:docMk/>
            <pc:sldMk cId="0" sldId="272"/>
            <ac:spMk id="7" creationId="{00000000-0000-0000-0000-000000000000}"/>
          </ac:spMkLst>
        </pc:spChg>
        <pc:spChg chg="mod">
          <ac:chgData name="Monica Guadalupe Becerra Quiroz" userId="3f0ab3d9-73d5-4a96-ad75-906d0f222192" providerId="ADAL" clId="{14A85CE8-0E71-4838-BA5F-B8772D1D5B6B}" dt="2026-06-26T18:43:25.940" v="336" actId="1076"/>
          <ac:spMkLst>
            <pc:docMk/>
            <pc:sldMk cId="0" sldId="272"/>
            <ac:spMk id="8" creationId="{00000000-0000-0000-0000-000000000000}"/>
          </ac:spMkLst>
        </pc:spChg>
        <pc:graphicFrameChg chg="mod">
          <ac:chgData name="Monica Guadalupe Becerra Quiroz" userId="3f0ab3d9-73d5-4a96-ad75-906d0f222192" providerId="ADAL" clId="{14A85CE8-0E71-4838-BA5F-B8772D1D5B6B}" dt="2026-06-26T18:43:19.932" v="334" actId="1076"/>
          <ac:graphicFrameMkLst>
            <pc:docMk/>
            <pc:sldMk cId="0" sldId="272"/>
            <ac:graphicFrameMk id="10" creationId="{00000000-0000-0000-0000-000000000000}"/>
          </ac:graphicFrameMkLst>
        </pc:graphicFrameChg>
        <pc:picChg chg="mod">
          <ac:chgData name="Monica Guadalupe Becerra Quiroz" userId="3f0ab3d9-73d5-4a96-ad75-906d0f222192" providerId="ADAL" clId="{14A85CE8-0E71-4838-BA5F-B8772D1D5B6B}" dt="2026-06-26T18:42:44.508" v="331" actId="14100"/>
          <ac:picMkLst>
            <pc:docMk/>
            <pc:sldMk cId="0" sldId="272"/>
            <ac:picMk id="6" creationId="{00000000-0000-0000-0000-000000000000}"/>
          </ac:picMkLst>
        </pc:picChg>
        <pc:cxnChg chg="mod">
          <ac:chgData name="Monica Guadalupe Becerra Quiroz" userId="3f0ab3d9-73d5-4a96-ad75-906d0f222192" providerId="ADAL" clId="{14A85CE8-0E71-4838-BA5F-B8772D1D5B6B}" dt="2026-06-26T18:43:23.433" v="335" actId="1076"/>
          <ac:cxnSpMkLst>
            <pc:docMk/>
            <pc:sldMk cId="0" sldId="272"/>
            <ac:cxnSpMk id="9" creationId="{00000000-0000-0000-0000-000000000000}"/>
          </ac:cxnSpMkLst>
        </pc:cxnChg>
      </pc:sldChg>
      <pc:sldChg chg="modSp mod">
        <pc:chgData name="Monica Guadalupe Becerra Quiroz" userId="3f0ab3d9-73d5-4a96-ad75-906d0f222192" providerId="ADAL" clId="{14A85CE8-0E71-4838-BA5F-B8772D1D5B6B}" dt="2026-06-26T19:13:45.340" v="563" actId="14734"/>
        <pc:sldMkLst>
          <pc:docMk/>
          <pc:sldMk cId="0" sldId="277"/>
        </pc:sldMkLst>
        <pc:spChg chg="mod">
          <ac:chgData name="Monica Guadalupe Becerra Quiroz" userId="3f0ab3d9-73d5-4a96-ad75-906d0f222192" providerId="ADAL" clId="{14A85CE8-0E71-4838-BA5F-B8772D1D5B6B}" dt="2026-06-26T19:11:37.160" v="473" actId="1076"/>
          <ac:spMkLst>
            <pc:docMk/>
            <pc:sldMk cId="0" sldId="277"/>
            <ac:spMk id="460" creationId="{00000000-0000-0000-0000-000000000000}"/>
          </ac:spMkLst>
        </pc:spChg>
        <pc:spChg chg="mod">
          <ac:chgData name="Monica Guadalupe Becerra Quiroz" userId="3f0ab3d9-73d5-4a96-ad75-906d0f222192" providerId="ADAL" clId="{14A85CE8-0E71-4838-BA5F-B8772D1D5B6B}" dt="2026-06-26T19:11:54.041" v="477" actId="1076"/>
          <ac:spMkLst>
            <pc:docMk/>
            <pc:sldMk cId="0" sldId="277"/>
            <ac:spMk id="472" creationId="{00000000-0000-0000-0000-000000000000}"/>
          </ac:spMkLst>
        </pc:spChg>
        <pc:graphicFrameChg chg="mod modGraphic">
          <ac:chgData name="Monica Guadalupe Becerra Quiroz" userId="3f0ab3d9-73d5-4a96-ad75-906d0f222192" providerId="ADAL" clId="{14A85CE8-0E71-4838-BA5F-B8772D1D5B6B}" dt="2026-06-26T19:13:03.935" v="489" actId="20577"/>
          <ac:graphicFrameMkLst>
            <pc:docMk/>
            <pc:sldMk cId="0" sldId="277"/>
            <ac:graphicFrameMk id="467" creationId="{00000000-0000-0000-0000-000000000000}"/>
          </ac:graphicFrameMkLst>
        </pc:graphicFrameChg>
        <pc:graphicFrameChg chg="mod modGraphic">
          <ac:chgData name="Monica Guadalupe Becerra Quiroz" userId="3f0ab3d9-73d5-4a96-ad75-906d0f222192" providerId="ADAL" clId="{14A85CE8-0E71-4838-BA5F-B8772D1D5B6B}" dt="2026-06-26T19:13:17.798" v="519" actId="20577"/>
          <ac:graphicFrameMkLst>
            <pc:docMk/>
            <pc:sldMk cId="0" sldId="277"/>
            <ac:graphicFrameMk id="468" creationId="{00000000-0000-0000-0000-000000000000}"/>
          </ac:graphicFrameMkLst>
        </pc:graphicFrameChg>
        <pc:graphicFrameChg chg="mod modGraphic">
          <ac:chgData name="Monica Guadalupe Becerra Quiroz" userId="3f0ab3d9-73d5-4a96-ad75-906d0f222192" providerId="ADAL" clId="{14A85CE8-0E71-4838-BA5F-B8772D1D5B6B}" dt="2026-06-26T19:13:45.340" v="563" actId="14734"/>
          <ac:graphicFrameMkLst>
            <pc:docMk/>
            <pc:sldMk cId="0" sldId="277"/>
            <ac:graphicFrameMk id="469" creationId="{00000000-0000-0000-0000-000000000000}"/>
          </ac:graphicFrameMkLst>
        </pc:graphicFrameChg>
        <pc:picChg chg="mod">
          <ac:chgData name="Monica Guadalupe Becerra Quiroz" userId="3f0ab3d9-73d5-4a96-ad75-906d0f222192" providerId="ADAL" clId="{14A85CE8-0E71-4838-BA5F-B8772D1D5B6B}" dt="2026-06-26T19:11:40.917" v="474" actId="1076"/>
          <ac:picMkLst>
            <pc:docMk/>
            <pc:sldMk cId="0" sldId="277"/>
            <ac:picMk id="458" creationId="{00000000-0000-0000-0000-000000000000}"/>
          </ac:picMkLst>
        </pc:picChg>
        <pc:picChg chg="mod">
          <ac:chgData name="Monica Guadalupe Becerra Quiroz" userId="3f0ab3d9-73d5-4a96-ad75-906d0f222192" providerId="ADAL" clId="{14A85CE8-0E71-4838-BA5F-B8772D1D5B6B}" dt="2026-06-26T19:11:44.808" v="475" actId="1076"/>
          <ac:picMkLst>
            <pc:docMk/>
            <pc:sldMk cId="0" sldId="277"/>
            <ac:picMk id="459" creationId="{00000000-0000-0000-0000-000000000000}"/>
          </ac:picMkLst>
        </pc:picChg>
        <pc:picChg chg="mod">
          <ac:chgData name="Monica Guadalupe Becerra Quiroz" userId="3f0ab3d9-73d5-4a96-ad75-906d0f222192" providerId="ADAL" clId="{14A85CE8-0E71-4838-BA5F-B8772D1D5B6B}" dt="2026-06-26T19:11:48.442" v="476" actId="1076"/>
          <ac:picMkLst>
            <pc:docMk/>
            <pc:sldMk cId="0" sldId="277"/>
            <ac:picMk id="470" creationId="{00000000-0000-0000-0000-000000000000}"/>
          </ac:picMkLst>
        </pc:picChg>
      </pc:sldChg>
      <pc:sldChg chg="addSp delSp modSp mod">
        <pc:chgData name="Monica Guadalupe Becerra Quiroz" userId="3f0ab3d9-73d5-4a96-ad75-906d0f222192" providerId="ADAL" clId="{14A85CE8-0E71-4838-BA5F-B8772D1D5B6B}" dt="2026-06-26T19:26:24.810" v="630" actId="1076"/>
        <pc:sldMkLst>
          <pc:docMk/>
          <pc:sldMk cId="0" sldId="278"/>
        </pc:sldMkLst>
        <pc:spChg chg="add mod">
          <ac:chgData name="Monica Guadalupe Becerra Quiroz" userId="3f0ab3d9-73d5-4a96-ad75-906d0f222192" providerId="ADAL" clId="{14A85CE8-0E71-4838-BA5F-B8772D1D5B6B}" dt="2026-06-26T19:26:24.810" v="630" actId="1076"/>
          <ac:spMkLst>
            <pc:docMk/>
            <pc:sldMk cId="0" sldId="278"/>
            <ac:spMk id="2" creationId="{C3BD7773-80E5-9709-1AA1-3ED02216B1D6}"/>
          </ac:spMkLst>
        </pc:spChg>
        <pc:graphicFrameChg chg="modGraphic">
          <ac:chgData name="Monica Guadalupe Becerra Quiroz" userId="3f0ab3d9-73d5-4a96-ad75-906d0f222192" providerId="ADAL" clId="{14A85CE8-0E71-4838-BA5F-B8772D1D5B6B}" dt="2026-06-26T19:14:39.735" v="587" actId="20577"/>
          <ac:graphicFrameMkLst>
            <pc:docMk/>
            <pc:sldMk cId="0" sldId="278"/>
            <ac:graphicFrameMk id="479" creationId="{00000000-0000-0000-0000-000000000000}"/>
          </ac:graphicFrameMkLst>
        </pc:graphicFrameChg>
      </pc:sldChg>
      <pc:sldChg chg="modSp mod">
        <pc:chgData name="Monica Guadalupe Becerra Quiroz" userId="3f0ab3d9-73d5-4a96-ad75-906d0f222192" providerId="ADAL" clId="{14A85CE8-0E71-4838-BA5F-B8772D1D5B6B}" dt="2026-06-26T19:17:38.021" v="617" actId="242"/>
        <pc:sldMkLst>
          <pc:docMk/>
          <pc:sldMk cId="0" sldId="279"/>
        </pc:sldMkLst>
        <pc:spChg chg="mod">
          <ac:chgData name="Monica Guadalupe Becerra Quiroz" userId="3f0ab3d9-73d5-4a96-ad75-906d0f222192" providerId="ADAL" clId="{14A85CE8-0E71-4838-BA5F-B8772D1D5B6B}" dt="2026-06-26T19:16:55.240" v="592" actId="14100"/>
          <ac:spMkLst>
            <pc:docMk/>
            <pc:sldMk cId="0" sldId="279"/>
            <ac:spMk id="515" creationId="{00000000-0000-0000-0000-000000000000}"/>
          </ac:spMkLst>
        </pc:spChg>
        <pc:graphicFrameChg chg="modGraphic">
          <ac:chgData name="Monica Guadalupe Becerra Quiroz" userId="3f0ab3d9-73d5-4a96-ad75-906d0f222192" providerId="ADAL" clId="{14A85CE8-0E71-4838-BA5F-B8772D1D5B6B}" dt="2026-06-26T19:17:38.021" v="617" actId="242"/>
          <ac:graphicFrameMkLst>
            <pc:docMk/>
            <pc:sldMk cId="0" sldId="279"/>
            <ac:graphicFrameMk id="514" creationId="{00000000-0000-0000-0000-000000000000}"/>
          </ac:graphicFrameMkLst>
        </pc:graphicFrameChg>
      </pc:sldChg>
      <pc:sldChg chg="modSp mod">
        <pc:chgData name="Monica Guadalupe Becerra Quiroz" userId="3f0ab3d9-73d5-4a96-ad75-906d0f222192" providerId="ADAL" clId="{14A85CE8-0E71-4838-BA5F-B8772D1D5B6B}" dt="2026-06-26T18:21:46.457" v="128" actId="1076"/>
        <pc:sldMkLst>
          <pc:docMk/>
          <pc:sldMk cId="540716406" sldId="280"/>
        </pc:sldMkLst>
        <pc:spChg chg="mod">
          <ac:chgData name="Monica Guadalupe Becerra Quiroz" userId="3f0ab3d9-73d5-4a96-ad75-906d0f222192" providerId="ADAL" clId="{14A85CE8-0E71-4838-BA5F-B8772D1D5B6B}" dt="2026-06-26T18:21:41.521" v="126" actId="1076"/>
          <ac:spMkLst>
            <pc:docMk/>
            <pc:sldMk cId="540716406" sldId="280"/>
            <ac:spMk id="239" creationId="{00000000-0000-0000-0000-000000000000}"/>
          </ac:spMkLst>
        </pc:spChg>
        <pc:spChg chg="mod">
          <ac:chgData name="Monica Guadalupe Becerra Quiroz" userId="3f0ab3d9-73d5-4a96-ad75-906d0f222192" providerId="ADAL" clId="{14A85CE8-0E71-4838-BA5F-B8772D1D5B6B}" dt="2026-06-26T18:21:44.106" v="127" actId="1076"/>
          <ac:spMkLst>
            <pc:docMk/>
            <pc:sldMk cId="540716406" sldId="280"/>
            <ac:spMk id="240" creationId="{00000000-0000-0000-0000-000000000000}"/>
          </ac:spMkLst>
        </pc:spChg>
        <pc:spChg chg="mod">
          <ac:chgData name="Monica Guadalupe Becerra Quiroz" userId="3f0ab3d9-73d5-4a96-ad75-906d0f222192" providerId="ADAL" clId="{14A85CE8-0E71-4838-BA5F-B8772D1D5B6B}" dt="2026-06-26T18:21:46.457" v="128" actId="1076"/>
          <ac:spMkLst>
            <pc:docMk/>
            <pc:sldMk cId="540716406" sldId="280"/>
            <ac:spMk id="241" creationId="{00000000-0000-0000-0000-000000000000}"/>
          </ac:spMkLst>
        </pc:spChg>
        <pc:graphicFrameChg chg="modGraphic">
          <ac:chgData name="Monica Guadalupe Becerra Quiroz" userId="3f0ab3d9-73d5-4a96-ad75-906d0f222192" providerId="ADAL" clId="{14A85CE8-0E71-4838-BA5F-B8772D1D5B6B}" dt="2026-06-26T18:21:21.099" v="122" actId="14100"/>
          <ac:graphicFrameMkLst>
            <pc:docMk/>
            <pc:sldMk cId="540716406" sldId="280"/>
            <ac:graphicFrameMk id="236" creationId="{00000000-0000-0000-0000-000000000000}"/>
          </ac:graphicFrameMkLst>
        </pc:graphicFrameChg>
        <pc:graphicFrameChg chg="modGraphic">
          <ac:chgData name="Monica Guadalupe Becerra Quiroz" userId="3f0ab3d9-73d5-4a96-ad75-906d0f222192" providerId="ADAL" clId="{14A85CE8-0E71-4838-BA5F-B8772D1D5B6B}" dt="2026-06-26T18:21:24.135" v="123" actId="14100"/>
          <ac:graphicFrameMkLst>
            <pc:docMk/>
            <pc:sldMk cId="540716406" sldId="280"/>
            <ac:graphicFrameMk id="237" creationId="{00000000-0000-0000-0000-000000000000}"/>
          </ac:graphicFrameMkLst>
        </pc:graphicFrameChg>
        <pc:graphicFrameChg chg="mod">
          <ac:chgData name="Monica Guadalupe Becerra Quiroz" userId="3f0ab3d9-73d5-4a96-ad75-906d0f222192" providerId="ADAL" clId="{14A85CE8-0E71-4838-BA5F-B8772D1D5B6B}" dt="2026-06-26T18:21:38.981" v="125" actId="1076"/>
          <ac:graphicFrameMkLst>
            <pc:docMk/>
            <pc:sldMk cId="540716406" sldId="280"/>
            <ac:graphicFrameMk id="238" creationId="{00000000-0000-0000-0000-000000000000}"/>
          </ac:graphicFrameMkLst>
        </pc:graphicFrameChg>
      </pc:sldChg>
      <pc:sldChg chg="modSp mod">
        <pc:chgData name="Monica Guadalupe Becerra Quiroz" userId="3f0ab3d9-73d5-4a96-ad75-906d0f222192" providerId="ADAL" clId="{14A85CE8-0E71-4838-BA5F-B8772D1D5B6B}" dt="2026-06-26T19:18:18.303" v="627" actId="20577"/>
        <pc:sldMkLst>
          <pc:docMk/>
          <pc:sldMk cId="0" sldId="282"/>
        </pc:sldMkLst>
        <pc:graphicFrameChg chg="mod">
          <ac:chgData name="Monica Guadalupe Becerra Quiroz" userId="3f0ab3d9-73d5-4a96-ad75-906d0f222192" providerId="ADAL" clId="{14A85CE8-0E71-4838-BA5F-B8772D1D5B6B}" dt="2026-06-26T19:18:13.886" v="619" actId="1076"/>
          <ac:graphicFrameMkLst>
            <pc:docMk/>
            <pc:sldMk cId="0" sldId="282"/>
            <ac:graphicFrameMk id="521" creationId="{00000000-0000-0000-0000-000000000000}"/>
          </ac:graphicFrameMkLst>
        </pc:graphicFrameChg>
        <pc:graphicFrameChg chg="mod modGraphic">
          <ac:chgData name="Monica Guadalupe Becerra Quiroz" userId="3f0ab3d9-73d5-4a96-ad75-906d0f222192" providerId="ADAL" clId="{14A85CE8-0E71-4838-BA5F-B8772D1D5B6B}" dt="2026-06-26T19:18:18.303" v="627" actId="20577"/>
          <ac:graphicFrameMkLst>
            <pc:docMk/>
            <pc:sldMk cId="0" sldId="282"/>
            <ac:graphicFrameMk id="536" creationId="{00000000-0000-0000-0000-000000000000}"/>
          </ac:graphicFrameMkLst>
        </pc:graphicFrameChg>
      </pc:sldChg>
      <pc:sldChg chg="addSp modSp mod">
        <pc:chgData name="Monica Guadalupe Becerra Quiroz" userId="3f0ab3d9-73d5-4a96-ad75-906d0f222192" providerId="ADAL" clId="{14A85CE8-0E71-4838-BA5F-B8772D1D5B6B}" dt="2026-06-26T19:10:39.059" v="464"/>
        <pc:sldMkLst>
          <pc:docMk/>
          <pc:sldMk cId="364733940" sldId="284"/>
        </pc:sldMkLst>
        <pc:spChg chg="add mod">
          <ac:chgData name="Monica Guadalupe Becerra Quiroz" userId="3f0ab3d9-73d5-4a96-ad75-906d0f222192" providerId="ADAL" clId="{14A85CE8-0E71-4838-BA5F-B8772D1D5B6B}" dt="2026-06-26T19:09:10.329" v="451"/>
          <ac:spMkLst>
            <pc:docMk/>
            <pc:sldMk cId="364733940" sldId="284"/>
            <ac:spMk id="8" creationId="{1CFCE444-12DD-D109-A796-7924C33A5D14}"/>
          </ac:spMkLst>
        </pc:spChg>
        <pc:spChg chg="add mod">
          <ac:chgData name="Monica Guadalupe Becerra Quiroz" userId="3f0ab3d9-73d5-4a96-ad75-906d0f222192" providerId="ADAL" clId="{14A85CE8-0E71-4838-BA5F-B8772D1D5B6B}" dt="2026-06-26T19:09:10.329" v="451"/>
          <ac:spMkLst>
            <pc:docMk/>
            <pc:sldMk cId="364733940" sldId="284"/>
            <ac:spMk id="9" creationId="{7A6658D4-29D8-8663-D2C5-74863CD96596}"/>
          </ac:spMkLst>
        </pc:spChg>
        <pc:spChg chg="add mod">
          <ac:chgData name="Monica Guadalupe Becerra Quiroz" userId="3f0ab3d9-73d5-4a96-ad75-906d0f222192" providerId="ADAL" clId="{14A85CE8-0E71-4838-BA5F-B8772D1D5B6B}" dt="2026-06-26T19:09:10.329" v="451"/>
          <ac:spMkLst>
            <pc:docMk/>
            <pc:sldMk cId="364733940" sldId="284"/>
            <ac:spMk id="10" creationId="{D407F8E2-D0BB-FA42-30DC-AD7126C10878}"/>
          </ac:spMkLst>
        </pc:spChg>
        <pc:spChg chg="mod">
          <ac:chgData name="Monica Guadalupe Becerra Quiroz" userId="3f0ab3d9-73d5-4a96-ad75-906d0f222192" providerId="ADAL" clId="{14A85CE8-0E71-4838-BA5F-B8772D1D5B6B}" dt="2026-06-26T18:56:25.354" v="413" actId="1076"/>
          <ac:spMkLst>
            <pc:docMk/>
            <pc:sldMk cId="364733940" sldId="284"/>
            <ac:spMk id="12" creationId="{907F7F6F-8FF8-56A0-795F-B2A127C97D4D}"/>
          </ac:spMkLst>
        </pc:spChg>
        <pc:spChg chg="mod">
          <ac:chgData name="Monica Guadalupe Becerra Quiroz" userId="3f0ab3d9-73d5-4a96-ad75-906d0f222192" providerId="ADAL" clId="{14A85CE8-0E71-4838-BA5F-B8772D1D5B6B}" dt="2026-06-26T18:56:49.449" v="419" actId="1076"/>
          <ac:spMkLst>
            <pc:docMk/>
            <pc:sldMk cId="364733940" sldId="284"/>
            <ac:spMk id="14" creationId="{2C157DF6-A7FD-940D-19DA-323ACD68454D}"/>
          </ac:spMkLst>
        </pc:spChg>
        <pc:spChg chg="mod">
          <ac:chgData name="Monica Guadalupe Becerra Quiroz" userId="3f0ab3d9-73d5-4a96-ad75-906d0f222192" providerId="ADAL" clId="{14A85CE8-0E71-4838-BA5F-B8772D1D5B6B}" dt="2026-06-26T19:08:32.304" v="449" actId="20577"/>
          <ac:spMkLst>
            <pc:docMk/>
            <pc:sldMk cId="364733940" sldId="284"/>
            <ac:spMk id="19" creationId="{00000000-0000-0000-0000-000000000000}"/>
          </ac:spMkLst>
        </pc:spChg>
        <pc:spChg chg="add mod ord">
          <ac:chgData name="Monica Guadalupe Becerra Quiroz" userId="3f0ab3d9-73d5-4a96-ad75-906d0f222192" providerId="ADAL" clId="{14A85CE8-0E71-4838-BA5F-B8772D1D5B6B}" dt="2026-06-26T19:10:17.171" v="462" actId="1076"/>
          <ac:spMkLst>
            <pc:docMk/>
            <pc:sldMk cId="364733940" sldId="284"/>
            <ac:spMk id="21" creationId="{43703745-6ED6-D9C3-5F59-C46A4D065BFD}"/>
          </ac:spMkLst>
        </pc:spChg>
        <pc:spChg chg="add mod">
          <ac:chgData name="Monica Guadalupe Becerra Quiroz" userId="3f0ab3d9-73d5-4a96-ad75-906d0f222192" providerId="ADAL" clId="{14A85CE8-0E71-4838-BA5F-B8772D1D5B6B}" dt="2026-06-26T19:09:10.329" v="451"/>
          <ac:spMkLst>
            <pc:docMk/>
            <pc:sldMk cId="364733940" sldId="284"/>
            <ac:spMk id="23" creationId="{00000000-0000-0000-0000-000000000000}"/>
          </ac:spMkLst>
        </pc:spChg>
        <pc:spChg chg="add mod">
          <ac:chgData name="Monica Guadalupe Becerra Quiroz" userId="3f0ab3d9-73d5-4a96-ad75-906d0f222192" providerId="ADAL" clId="{14A85CE8-0E71-4838-BA5F-B8772D1D5B6B}" dt="2026-06-26T19:10:06.927" v="459" actId="1076"/>
          <ac:spMkLst>
            <pc:docMk/>
            <pc:sldMk cId="364733940" sldId="284"/>
            <ac:spMk id="24" creationId="{415681FD-D292-5ED1-F810-B489AE1BAFE5}"/>
          </ac:spMkLst>
        </pc:spChg>
        <pc:spChg chg="add mod">
          <ac:chgData name="Monica Guadalupe Becerra Quiroz" userId="3f0ab3d9-73d5-4a96-ad75-906d0f222192" providerId="ADAL" clId="{14A85CE8-0E71-4838-BA5F-B8772D1D5B6B}" dt="2026-06-26T19:10:39.059" v="464"/>
          <ac:spMkLst>
            <pc:docMk/>
            <pc:sldMk cId="364733940" sldId="284"/>
            <ac:spMk id="25" creationId="{39A6A446-A948-C216-A35F-14288D99498B}"/>
          </ac:spMkLst>
        </pc:spChg>
        <pc:graphicFrameChg chg="mod modGraphic">
          <ac:chgData name="Monica Guadalupe Becerra Quiroz" userId="3f0ab3d9-73d5-4a96-ad75-906d0f222192" providerId="ADAL" clId="{14A85CE8-0E71-4838-BA5F-B8772D1D5B6B}" dt="2026-06-26T19:08:09.745" v="442"/>
          <ac:graphicFrameMkLst>
            <pc:docMk/>
            <pc:sldMk cId="364733940" sldId="284"/>
            <ac:graphicFrameMk id="16" creationId="{00000000-0000-0000-0000-000000000000}"/>
          </ac:graphicFrameMkLst>
        </pc:graphicFrameChg>
        <pc:graphicFrameChg chg="mod modGraphic">
          <ac:chgData name="Monica Guadalupe Becerra Quiroz" userId="3f0ab3d9-73d5-4a96-ad75-906d0f222192" providerId="ADAL" clId="{14A85CE8-0E71-4838-BA5F-B8772D1D5B6B}" dt="2026-06-26T19:08:06.698" v="441"/>
          <ac:graphicFrameMkLst>
            <pc:docMk/>
            <pc:sldMk cId="364733940" sldId="284"/>
            <ac:graphicFrameMk id="17" creationId="{00000000-0000-0000-0000-000000000000}"/>
          </ac:graphicFrameMkLst>
        </pc:graphicFrameChg>
        <pc:graphicFrameChg chg="mod modGraphic">
          <ac:chgData name="Monica Guadalupe Becerra Quiroz" userId="3f0ab3d9-73d5-4a96-ad75-906d0f222192" providerId="ADAL" clId="{14A85CE8-0E71-4838-BA5F-B8772D1D5B6B}" dt="2026-06-26T19:08:01.366" v="440"/>
          <ac:graphicFrameMkLst>
            <pc:docMk/>
            <pc:sldMk cId="364733940" sldId="284"/>
            <ac:graphicFrameMk id="18" creationId="{00000000-0000-0000-0000-000000000000}"/>
          </ac:graphicFrameMkLst>
        </pc:graphicFrameChg>
        <pc:graphicFrameChg chg="add mod">
          <ac:chgData name="Monica Guadalupe Becerra Quiroz" userId="3f0ab3d9-73d5-4a96-ad75-906d0f222192" providerId="ADAL" clId="{14A85CE8-0E71-4838-BA5F-B8772D1D5B6B}" dt="2026-06-26T19:09:10.329" v="451"/>
          <ac:graphicFrameMkLst>
            <pc:docMk/>
            <pc:sldMk cId="364733940" sldId="284"/>
            <ac:graphicFrameMk id="22" creationId="{00000000-0000-0000-0000-000000000000}"/>
          </ac:graphicFrameMkLst>
        </pc:graphicFrameChg>
        <pc:picChg chg="mod">
          <ac:chgData name="Monica Guadalupe Becerra Quiroz" userId="3f0ab3d9-73d5-4a96-ad75-906d0f222192" providerId="ADAL" clId="{14A85CE8-0E71-4838-BA5F-B8772D1D5B6B}" dt="2026-06-26T18:56:22.415" v="412" actId="1076"/>
          <ac:picMkLst>
            <pc:docMk/>
            <pc:sldMk cId="364733940" sldId="284"/>
            <ac:picMk id="4" creationId="{488C755F-8E2D-8CE1-6C1B-6DBB55EE2CD3}"/>
          </ac:picMkLst>
        </pc:picChg>
        <pc:picChg chg="mod">
          <ac:chgData name="Monica Guadalupe Becerra Quiroz" userId="3f0ab3d9-73d5-4a96-ad75-906d0f222192" providerId="ADAL" clId="{14A85CE8-0E71-4838-BA5F-B8772D1D5B6B}" dt="2026-06-26T18:56:43.579" v="417" actId="1076"/>
          <ac:picMkLst>
            <pc:docMk/>
            <pc:sldMk cId="364733940" sldId="284"/>
            <ac:picMk id="11" creationId="{4F2E1097-3694-6090-CBA5-667DCD67E48E}"/>
          </ac:picMkLst>
        </pc:picChg>
        <pc:picChg chg="mod">
          <ac:chgData name="Monica Guadalupe Becerra Quiroz" userId="3f0ab3d9-73d5-4a96-ad75-906d0f222192" providerId="ADAL" clId="{14A85CE8-0E71-4838-BA5F-B8772D1D5B6B}" dt="2026-06-26T18:56:46.889" v="418" actId="1076"/>
          <ac:picMkLst>
            <pc:docMk/>
            <pc:sldMk cId="364733940" sldId="284"/>
            <ac:picMk id="13" creationId="{CA24C0E7-282C-9B96-A7B5-7554B2C6EF8D}"/>
          </ac:picMkLst>
        </pc:picChg>
        <pc:picChg chg="add mod ord">
          <ac:chgData name="Monica Guadalupe Becerra Quiroz" userId="3f0ab3d9-73d5-4a96-ad75-906d0f222192" providerId="ADAL" clId="{14A85CE8-0E71-4838-BA5F-B8772D1D5B6B}" dt="2026-06-26T19:09:26.867" v="454" actId="167"/>
          <ac:picMkLst>
            <pc:docMk/>
            <pc:sldMk cId="364733940" sldId="284"/>
            <ac:picMk id="20" creationId="{5BD5C9B2-AB8A-FA14-D2D6-EBEB470169FF}"/>
          </ac:picMkLst>
        </pc:picChg>
      </pc:sldChg>
      <pc:sldChg chg="modSp mod">
        <pc:chgData name="Monica Guadalupe Becerra Quiroz" userId="3f0ab3d9-73d5-4a96-ad75-906d0f222192" providerId="ADAL" clId="{14A85CE8-0E71-4838-BA5F-B8772D1D5B6B}" dt="2026-06-26T18:18:03.673" v="103" actId="403"/>
        <pc:sldMkLst>
          <pc:docMk/>
          <pc:sldMk cId="748044913" sldId="287"/>
        </pc:sldMkLst>
        <pc:graphicFrameChg chg="mod modGraphic">
          <ac:chgData name="Monica Guadalupe Becerra Quiroz" userId="3f0ab3d9-73d5-4a96-ad75-906d0f222192" providerId="ADAL" clId="{14A85CE8-0E71-4838-BA5F-B8772D1D5B6B}" dt="2026-06-26T18:18:03.673" v="103" actId="403"/>
          <ac:graphicFrameMkLst>
            <pc:docMk/>
            <pc:sldMk cId="748044913" sldId="287"/>
            <ac:graphicFrameMk id="236" creationId="{00000000-0000-0000-0000-000000000000}"/>
          </ac:graphicFrameMkLst>
        </pc:graphicFrameChg>
      </pc:sldChg>
      <pc:sldChg chg="addSp delSp modSp mod">
        <pc:chgData name="Monica Guadalupe Becerra Quiroz" userId="3f0ab3d9-73d5-4a96-ad75-906d0f222192" providerId="ADAL" clId="{14A85CE8-0E71-4838-BA5F-B8772D1D5B6B}" dt="2026-06-26T19:36:18.160" v="690" actId="1076"/>
        <pc:sldMkLst>
          <pc:docMk/>
          <pc:sldMk cId="3805655920" sldId="288"/>
        </pc:sldMkLst>
        <pc:spChg chg="mod">
          <ac:chgData name="Monica Guadalupe Becerra Quiroz" userId="3f0ab3d9-73d5-4a96-ad75-906d0f222192" providerId="ADAL" clId="{14A85CE8-0E71-4838-BA5F-B8772D1D5B6B}" dt="2026-06-26T19:36:03.013" v="687" actId="1076"/>
          <ac:spMkLst>
            <pc:docMk/>
            <pc:sldMk cId="3805655920" sldId="288"/>
            <ac:spMk id="4" creationId="{00000000-0000-0000-0000-000000000000}"/>
          </ac:spMkLst>
        </pc:spChg>
        <pc:spChg chg="add mod">
          <ac:chgData name="Monica Guadalupe Becerra Quiroz" userId="3f0ab3d9-73d5-4a96-ad75-906d0f222192" providerId="ADAL" clId="{14A85CE8-0E71-4838-BA5F-B8772D1D5B6B}" dt="2026-06-26T19:36:13.092" v="689" actId="207"/>
          <ac:spMkLst>
            <pc:docMk/>
            <pc:sldMk cId="3805655920" sldId="288"/>
            <ac:spMk id="7" creationId="{798E2446-DBE4-53A1-BC29-8CB1CF757421}"/>
          </ac:spMkLst>
        </pc:spChg>
        <pc:spChg chg="add mod">
          <ac:chgData name="Monica Guadalupe Becerra Quiroz" userId="3f0ab3d9-73d5-4a96-ad75-906d0f222192" providerId="ADAL" clId="{14A85CE8-0E71-4838-BA5F-B8772D1D5B6B}" dt="2026-06-26T19:36:18.160" v="690" actId="1076"/>
          <ac:spMkLst>
            <pc:docMk/>
            <pc:sldMk cId="3805655920" sldId="288"/>
            <ac:spMk id="8" creationId="{BE86EB12-95EE-1BE0-B1A1-DE864E266AC1}"/>
          </ac:spMkLst>
        </pc:spChg>
        <pc:spChg chg="add mod">
          <ac:chgData name="Monica Guadalupe Becerra Quiroz" userId="3f0ab3d9-73d5-4a96-ad75-906d0f222192" providerId="ADAL" clId="{14A85CE8-0E71-4838-BA5F-B8772D1D5B6B}" dt="2026-06-26T19:35:03.469" v="676" actId="1076"/>
          <ac:spMkLst>
            <pc:docMk/>
            <pc:sldMk cId="3805655920" sldId="288"/>
            <ac:spMk id="9" creationId="{4B417EE3-24BF-89D8-FCBB-F617812479EB}"/>
          </ac:spMkLst>
        </pc:spChg>
        <pc:spChg chg="add mod">
          <ac:chgData name="Monica Guadalupe Becerra Quiroz" userId="3f0ab3d9-73d5-4a96-ad75-906d0f222192" providerId="ADAL" clId="{14A85CE8-0E71-4838-BA5F-B8772D1D5B6B}" dt="2026-06-26T19:34:46.050" v="673" actId="1076"/>
          <ac:spMkLst>
            <pc:docMk/>
            <pc:sldMk cId="3805655920" sldId="288"/>
            <ac:spMk id="10" creationId="{84546EE8-CAA7-60A6-F387-3B59F445423E}"/>
          </ac:spMkLst>
        </pc:spChg>
        <pc:spChg chg="add mod">
          <ac:chgData name="Monica Guadalupe Becerra Quiroz" userId="3f0ab3d9-73d5-4a96-ad75-906d0f222192" providerId="ADAL" clId="{14A85CE8-0E71-4838-BA5F-B8772D1D5B6B}" dt="2026-06-26T19:34:56.913" v="675" actId="1076"/>
          <ac:spMkLst>
            <pc:docMk/>
            <pc:sldMk cId="3805655920" sldId="288"/>
            <ac:spMk id="11" creationId="{FC442E3E-ACCB-D723-3A97-CCEA24E4BD48}"/>
          </ac:spMkLst>
        </pc:spChg>
        <pc:spChg chg="add mod">
          <ac:chgData name="Monica Guadalupe Becerra Quiroz" userId="3f0ab3d9-73d5-4a96-ad75-906d0f222192" providerId="ADAL" clId="{14A85CE8-0E71-4838-BA5F-B8772D1D5B6B}" dt="2026-06-26T19:32:46.397" v="650" actId="1076"/>
          <ac:spMkLst>
            <pc:docMk/>
            <pc:sldMk cId="3805655920" sldId="288"/>
            <ac:spMk id="19" creationId="{5BB7C014-4BD7-3409-FB3D-7B282C4653E7}"/>
          </ac:spMkLst>
        </pc:spChg>
        <pc:spChg chg="add mod">
          <ac:chgData name="Monica Guadalupe Becerra Quiroz" userId="3f0ab3d9-73d5-4a96-ad75-906d0f222192" providerId="ADAL" clId="{14A85CE8-0E71-4838-BA5F-B8772D1D5B6B}" dt="2026-06-26T19:34:20.498" v="667" actId="1076"/>
          <ac:spMkLst>
            <pc:docMk/>
            <pc:sldMk cId="3805655920" sldId="288"/>
            <ac:spMk id="21" creationId="{F3D9A22F-F757-65C4-6051-FFE8B6C42E04}"/>
          </ac:spMkLst>
        </pc:spChg>
        <pc:graphicFrameChg chg="mod modGraphic">
          <ac:chgData name="Monica Guadalupe Becerra Quiroz" userId="3f0ab3d9-73d5-4a96-ad75-906d0f222192" providerId="ADAL" clId="{14A85CE8-0E71-4838-BA5F-B8772D1D5B6B}" dt="2026-06-26T19:33:58.685" v="663" actId="1076"/>
          <ac:graphicFrameMkLst>
            <pc:docMk/>
            <pc:sldMk cId="3805655920" sldId="288"/>
            <ac:graphicFrameMk id="2" creationId="{1A88FF10-1AA9-E6ED-75C5-CA6842A69D10}"/>
          </ac:graphicFrameMkLst>
        </pc:graphicFrameChg>
        <pc:graphicFrameChg chg="mod">
          <ac:chgData name="Monica Guadalupe Becerra Quiroz" userId="3f0ab3d9-73d5-4a96-ad75-906d0f222192" providerId="ADAL" clId="{14A85CE8-0E71-4838-BA5F-B8772D1D5B6B}" dt="2026-06-26T19:34:03.889" v="664" actId="1076"/>
          <ac:graphicFrameMkLst>
            <pc:docMk/>
            <pc:sldMk cId="3805655920" sldId="288"/>
            <ac:graphicFrameMk id="5" creationId="{00000000-0000-0000-0000-000000000000}"/>
          </ac:graphicFrameMkLst>
        </pc:graphicFrameChg>
        <pc:graphicFrameChg chg="mod">
          <ac:chgData name="Monica Guadalupe Becerra Quiroz" userId="3f0ab3d9-73d5-4a96-ad75-906d0f222192" providerId="ADAL" clId="{14A85CE8-0E71-4838-BA5F-B8772D1D5B6B}" dt="2026-06-26T19:34:14.939" v="666" actId="1076"/>
          <ac:graphicFrameMkLst>
            <pc:docMk/>
            <pc:sldMk cId="3805655920" sldId="288"/>
            <ac:graphicFrameMk id="6" creationId="{00000000-0000-0000-0000-000000000000}"/>
          </ac:graphicFrameMkLst>
        </pc:graphicFrameChg>
        <pc:graphicFrameChg chg="mod modGraphic">
          <ac:chgData name="Monica Guadalupe Becerra Quiroz" userId="3f0ab3d9-73d5-4a96-ad75-906d0f222192" providerId="ADAL" clId="{14A85CE8-0E71-4838-BA5F-B8772D1D5B6B}" dt="2026-06-26T19:34:39.938" v="671" actId="1076"/>
          <ac:graphicFrameMkLst>
            <pc:docMk/>
            <pc:sldMk cId="3805655920" sldId="288"/>
            <ac:graphicFrameMk id="15" creationId="{A15DC46A-F244-DF02-EB08-FFD12716A602}"/>
          </ac:graphicFrameMkLst>
        </pc:graphicFrameChg>
        <pc:graphicFrameChg chg="mod">
          <ac:chgData name="Monica Guadalupe Becerra Quiroz" userId="3f0ab3d9-73d5-4a96-ad75-906d0f222192" providerId="ADAL" clId="{14A85CE8-0E71-4838-BA5F-B8772D1D5B6B}" dt="2026-06-26T19:34:34.273" v="670" actId="1076"/>
          <ac:graphicFrameMkLst>
            <pc:docMk/>
            <pc:sldMk cId="3805655920" sldId="288"/>
            <ac:graphicFrameMk id="16" creationId="{32A29464-1224-429B-6B38-02A741923CD7}"/>
          </ac:graphicFrameMkLst>
        </pc:graphicFrameChg>
        <pc:picChg chg="add mod">
          <ac:chgData name="Monica Guadalupe Becerra Quiroz" userId="3f0ab3d9-73d5-4a96-ad75-906d0f222192" providerId="ADAL" clId="{14A85CE8-0E71-4838-BA5F-B8772D1D5B6B}" dt="2026-06-26T19:34:42.731" v="672" actId="1076"/>
          <ac:picMkLst>
            <pc:docMk/>
            <pc:sldMk cId="3805655920" sldId="288"/>
            <ac:picMk id="12" creationId="{21A08EB2-2A39-4622-5F69-BB0CBAE10775}"/>
          </ac:picMkLst>
        </pc:picChg>
        <pc:picChg chg="add mod">
          <ac:chgData name="Monica Guadalupe Becerra Quiroz" userId="3f0ab3d9-73d5-4a96-ad75-906d0f222192" providerId="ADAL" clId="{14A85CE8-0E71-4838-BA5F-B8772D1D5B6B}" dt="2026-06-26T19:34:52.045" v="674" actId="1076"/>
          <ac:picMkLst>
            <pc:docMk/>
            <pc:sldMk cId="3805655920" sldId="288"/>
            <ac:picMk id="13" creationId="{973B1E68-0B65-AEDC-E97D-826D046FBC70}"/>
          </ac:picMkLst>
        </pc:picChg>
        <pc:picChg chg="add mod">
          <ac:chgData name="Monica Guadalupe Becerra Quiroz" userId="3f0ab3d9-73d5-4a96-ad75-906d0f222192" providerId="ADAL" clId="{14A85CE8-0E71-4838-BA5F-B8772D1D5B6B}" dt="2026-06-26T19:35:06.519" v="677" actId="1076"/>
          <ac:picMkLst>
            <pc:docMk/>
            <pc:sldMk cId="3805655920" sldId="288"/>
            <ac:picMk id="14" creationId="{65DA7D5D-D563-F148-EEA4-106F1CE73058}"/>
          </ac:picMkLst>
        </pc:picChg>
      </pc:sldChg>
      <pc:sldChg chg="addSp delSp modSp mod">
        <pc:chgData name="Monica Guadalupe Becerra Quiroz" userId="3f0ab3d9-73d5-4a96-ad75-906d0f222192" providerId="ADAL" clId="{14A85CE8-0E71-4838-BA5F-B8772D1D5B6B}" dt="2026-06-26T19:39:35.782" v="718" actId="14100"/>
        <pc:sldMkLst>
          <pc:docMk/>
          <pc:sldMk cId="3763779569" sldId="289"/>
        </pc:sldMkLst>
        <pc:spChg chg="add mod">
          <ac:chgData name="Monica Guadalupe Becerra Quiroz" userId="3f0ab3d9-73d5-4a96-ad75-906d0f222192" providerId="ADAL" clId="{14A85CE8-0E71-4838-BA5F-B8772D1D5B6B}" dt="2026-06-26T19:38:00.439" v="698"/>
          <ac:spMkLst>
            <pc:docMk/>
            <pc:sldMk cId="3763779569" sldId="289"/>
            <ac:spMk id="4" creationId="{8B1514A4-6E0D-C82C-C0A0-839EB7C221A0}"/>
          </ac:spMkLst>
        </pc:spChg>
        <pc:spChg chg="add mod">
          <ac:chgData name="Monica Guadalupe Becerra Quiroz" userId="3f0ab3d9-73d5-4a96-ad75-906d0f222192" providerId="ADAL" clId="{14A85CE8-0E71-4838-BA5F-B8772D1D5B6B}" dt="2026-06-26T19:38:00.439" v="698"/>
          <ac:spMkLst>
            <pc:docMk/>
            <pc:sldMk cId="3763779569" sldId="289"/>
            <ac:spMk id="5" creationId="{5C576865-1B81-B085-924F-1232B063CF24}"/>
          </ac:spMkLst>
        </pc:spChg>
        <pc:graphicFrameChg chg="add mod">
          <ac:chgData name="Monica Guadalupe Becerra Quiroz" userId="3f0ab3d9-73d5-4a96-ad75-906d0f222192" providerId="ADAL" clId="{14A85CE8-0E71-4838-BA5F-B8772D1D5B6B}" dt="2026-06-26T19:38:21.749" v="700" actId="1076"/>
          <ac:graphicFrameMkLst>
            <pc:docMk/>
            <pc:sldMk cId="3763779569" sldId="289"/>
            <ac:graphicFrameMk id="7" creationId="{0CD70531-579D-BD0A-9521-C53C50A98D0B}"/>
          </ac:graphicFrameMkLst>
        </pc:graphicFrameChg>
        <pc:picChg chg="add mod">
          <ac:chgData name="Monica Guadalupe Becerra Quiroz" userId="3f0ab3d9-73d5-4a96-ad75-906d0f222192" providerId="ADAL" clId="{14A85CE8-0E71-4838-BA5F-B8772D1D5B6B}" dt="2026-06-26T19:38:00.439" v="698"/>
          <ac:picMkLst>
            <pc:docMk/>
            <pc:sldMk cId="3763779569" sldId="289"/>
            <ac:picMk id="6" creationId="{F81DAA3E-FB00-928D-4DD7-A2DC57A2D423}"/>
          </ac:picMkLst>
        </pc:picChg>
        <pc:picChg chg="add mod">
          <ac:chgData name="Monica Guadalupe Becerra Quiroz" userId="3f0ab3d9-73d5-4a96-ad75-906d0f222192" providerId="ADAL" clId="{14A85CE8-0E71-4838-BA5F-B8772D1D5B6B}" dt="2026-06-26T19:39:35.782" v="718" actId="14100"/>
          <ac:picMkLst>
            <pc:docMk/>
            <pc:sldMk cId="3763779569" sldId="289"/>
            <ac:picMk id="8" creationId="{E4C1BCCE-C12C-A952-9F27-59A8C678B56E}"/>
          </ac:picMkLst>
        </pc:picChg>
        <pc:picChg chg="add mod">
          <ac:chgData name="Monica Guadalupe Becerra Quiroz" userId="3f0ab3d9-73d5-4a96-ad75-906d0f222192" providerId="ADAL" clId="{14A85CE8-0E71-4838-BA5F-B8772D1D5B6B}" dt="2026-06-26T19:39:33.220" v="717" actId="14100"/>
          <ac:picMkLst>
            <pc:docMk/>
            <pc:sldMk cId="3763779569" sldId="289"/>
            <ac:picMk id="9" creationId="{3D55CC7D-1482-204E-CB98-58F2420ABB04}"/>
          </ac:picMkLst>
        </pc:picChg>
        <pc:picChg chg="add mod">
          <ac:chgData name="Monica Guadalupe Becerra Quiroz" userId="3f0ab3d9-73d5-4a96-ad75-906d0f222192" providerId="ADAL" clId="{14A85CE8-0E71-4838-BA5F-B8772D1D5B6B}" dt="2026-06-26T19:39:23.492" v="714" actId="14100"/>
          <ac:picMkLst>
            <pc:docMk/>
            <pc:sldMk cId="3763779569" sldId="289"/>
            <ac:picMk id="10" creationId="{BB0690E6-0C91-3D18-A7C9-B1F305B17BC5}"/>
          </ac:picMkLst>
        </pc:picChg>
        <pc:picChg chg="add mod">
          <ac:chgData name="Monica Guadalupe Becerra Quiroz" userId="3f0ab3d9-73d5-4a96-ad75-906d0f222192" providerId="ADAL" clId="{14A85CE8-0E71-4838-BA5F-B8772D1D5B6B}" dt="2026-06-26T19:39:00.208" v="708" actId="14100"/>
          <ac:picMkLst>
            <pc:docMk/>
            <pc:sldMk cId="3763779569" sldId="289"/>
            <ac:picMk id="11" creationId="{255E8C56-E686-FC65-5782-A07D746B95E2}"/>
          </ac:picMkLst>
        </pc:picChg>
        <pc:picChg chg="add mod">
          <ac:chgData name="Monica Guadalupe Becerra Quiroz" userId="3f0ab3d9-73d5-4a96-ad75-906d0f222192" providerId="ADAL" clId="{14A85CE8-0E71-4838-BA5F-B8772D1D5B6B}" dt="2026-06-26T19:38:51.920" v="706" actId="14100"/>
          <ac:picMkLst>
            <pc:docMk/>
            <pc:sldMk cId="3763779569" sldId="289"/>
            <ac:picMk id="12" creationId="{D5A02590-B4B8-F3FD-92E4-2D968483A174}"/>
          </ac:picMkLst>
        </pc:picChg>
        <pc:picChg chg="add mod">
          <ac:chgData name="Monica Guadalupe Becerra Quiroz" userId="3f0ab3d9-73d5-4a96-ad75-906d0f222192" providerId="ADAL" clId="{14A85CE8-0E71-4838-BA5F-B8772D1D5B6B}" dt="2026-06-26T19:38:40.407" v="704" actId="1076"/>
          <ac:picMkLst>
            <pc:docMk/>
            <pc:sldMk cId="3763779569" sldId="289"/>
            <ac:picMk id="13" creationId="{2FCC1A91-9ACB-9470-D5F3-2D2CB6ADCDDE}"/>
          </ac:picMkLst>
        </pc:picChg>
        <pc:picChg chg="add mod">
          <ac:chgData name="Monica Guadalupe Becerra Quiroz" userId="3f0ab3d9-73d5-4a96-ad75-906d0f222192" providerId="ADAL" clId="{14A85CE8-0E71-4838-BA5F-B8772D1D5B6B}" dt="2026-06-26T19:38:37.107" v="703" actId="1076"/>
          <ac:picMkLst>
            <pc:docMk/>
            <pc:sldMk cId="3763779569" sldId="289"/>
            <ac:picMk id="14" creationId="{E638EFB5-2ACC-D3F2-6534-71EF16A443BD}"/>
          </ac:picMkLst>
        </pc:picChg>
        <pc:picChg chg="add mod">
          <ac:chgData name="Monica Guadalupe Becerra Quiroz" userId="3f0ab3d9-73d5-4a96-ad75-906d0f222192" providerId="ADAL" clId="{14A85CE8-0E71-4838-BA5F-B8772D1D5B6B}" dt="2026-06-26T19:38:34.343" v="702" actId="14100"/>
          <ac:picMkLst>
            <pc:docMk/>
            <pc:sldMk cId="3763779569" sldId="289"/>
            <ac:picMk id="15" creationId="{5850DB1B-2C2E-DBF8-47E4-971C0502C85B}"/>
          </ac:picMkLst>
        </pc:picChg>
      </pc:sldChg>
      <pc:sldChg chg="addSp modSp mod">
        <pc:chgData name="Monica Guadalupe Becerra Quiroz" userId="3f0ab3d9-73d5-4a96-ad75-906d0f222192" providerId="ADAL" clId="{14A85CE8-0E71-4838-BA5F-B8772D1D5B6B}" dt="2026-06-26T18:55:41.009" v="409" actId="1076"/>
        <pc:sldMkLst>
          <pc:docMk/>
          <pc:sldMk cId="3240565764" sldId="297"/>
        </pc:sldMkLst>
        <pc:spChg chg="mod">
          <ac:chgData name="Monica Guadalupe Becerra Quiroz" userId="3f0ab3d9-73d5-4a96-ad75-906d0f222192" providerId="ADAL" clId="{14A85CE8-0E71-4838-BA5F-B8772D1D5B6B}" dt="2026-06-26T18:54:05.599" v="397" actId="1076"/>
          <ac:spMkLst>
            <pc:docMk/>
            <pc:sldMk cId="3240565764" sldId="297"/>
            <ac:spMk id="6" creationId="{3C879FA3-8153-8C4E-8B9C-4DF691C41AD2}"/>
          </ac:spMkLst>
        </pc:spChg>
        <pc:spChg chg="mod">
          <ac:chgData name="Monica Guadalupe Becerra Quiroz" userId="3f0ab3d9-73d5-4a96-ad75-906d0f222192" providerId="ADAL" clId="{14A85CE8-0E71-4838-BA5F-B8772D1D5B6B}" dt="2026-06-26T18:54:29.903" v="399" actId="1076"/>
          <ac:spMkLst>
            <pc:docMk/>
            <pc:sldMk cId="3240565764" sldId="297"/>
            <ac:spMk id="10" creationId="{991C7EE4-1170-AC4C-597D-3383D8E8A8F9}"/>
          </ac:spMkLst>
        </pc:spChg>
        <pc:spChg chg="mod">
          <ac:chgData name="Monica Guadalupe Becerra Quiroz" userId="3f0ab3d9-73d5-4a96-ad75-906d0f222192" providerId="ADAL" clId="{14A85CE8-0E71-4838-BA5F-B8772D1D5B6B}" dt="2026-06-26T18:54:41.805" v="402" actId="1076"/>
          <ac:spMkLst>
            <pc:docMk/>
            <pc:sldMk cId="3240565764" sldId="297"/>
            <ac:spMk id="12" creationId="{CA535D92-E281-11D7-D7CB-F8BAB9F176B8}"/>
          </ac:spMkLst>
        </pc:spChg>
        <pc:spChg chg="mod">
          <ac:chgData name="Monica Guadalupe Becerra Quiroz" userId="3f0ab3d9-73d5-4a96-ad75-906d0f222192" providerId="ADAL" clId="{14A85CE8-0E71-4838-BA5F-B8772D1D5B6B}" dt="2026-06-26T18:54:51.711" v="404" actId="1076"/>
          <ac:spMkLst>
            <pc:docMk/>
            <pc:sldMk cId="3240565764" sldId="297"/>
            <ac:spMk id="15" creationId="{A0083CC0-370A-999A-F425-0B0E05DEB5CF}"/>
          </ac:spMkLst>
        </pc:spChg>
        <pc:spChg chg="mod">
          <ac:chgData name="Monica Guadalupe Becerra Quiroz" userId="3f0ab3d9-73d5-4a96-ad75-906d0f222192" providerId="ADAL" clId="{14A85CE8-0E71-4838-BA5F-B8772D1D5B6B}" dt="2026-06-26T18:54:13.397" v="398" actId="403"/>
          <ac:spMkLst>
            <pc:docMk/>
            <pc:sldMk cId="3240565764" sldId="297"/>
            <ac:spMk id="20" creationId="{00000000-0000-0000-0000-000000000000}"/>
          </ac:spMkLst>
        </pc:spChg>
        <pc:spChg chg="add mod">
          <ac:chgData name="Monica Guadalupe Becerra Quiroz" userId="3f0ab3d9-73d5-4a96-ad75-906d0f222192" providerId="ADAL" clId="{14A85CE8-0E71-4838-BA5F-B8772D1D5B6B}" dt="2026-06-26T18:55:41.009" v="409" actId="1076"/>
          <ac:spMkLst>
            <pc:docMk/>
            <pc:sldMk cId="3240565764" sldId="297"/>
            <ac:spMk id="21" creationId="{A68EE9FF-D1B7-7646-BECE-8951D096B5E0}"/>
          </ac:spMkLst>
        </pc:spChg>
        <pc:graphicFrameChg chg="mod modGraphic">
          <ac:chgData name="Monica Guadalupe Becerra Quiroz" userId="3f0ab3d9-73d5-4a96-ad75-906d0f222192" providerId="ADAL" clId="{14A85CE8-0E71-4838-BA5F-B8772D1D5B6B}" dt="2026-06-26T18:53:49.378" v="395"/>
          <ac:graphicFrameMkLst>
            <pc:docMk/>
            <pc:sldMk cId="3240565764" sldId="297"/>
            <ac:graphicFrameMk id="17" creationId="{00000000-0000-0000-0000-000000000000}"/>
          </ac:graphicFrameMkLst>
        </pc:graphicFrameChg>
        <pc:graphicFrameChg chg="mod modGraphic">
          <ac:chgData name="Monica Guadalupe Becerra Quiroz" userId="3f0ab3d9-73d5-4a96-ad75-906d0f222192" providerId="ADAL" clId="{14A85CE8-0E71-4838-BA5F-B8772D1D5B6B}" dt="2026-06-26T18:55:11.630" v="405" actId="122"/>
          <ac:graphicFrameMkLst>
            <pc:docMk/>
            <pc:sldMk cId="3240565764" sldId="297"/>
            <ac:graphicFrameMk id="18" creationId="{00000000-0000-0000-0000-000000000000}"/>
          </ac:graphicFrameMkLst>
        </pc:graphicFrameChg>
        <pc:graphicFrameChg chg="mod modGraphic">
          <ac:chgData name="Monica Guadalupe Becerra Quiroz" userId="3f0ab3d9-73d5-4a96-ad75-906d0f222192" providerId="ADAL" clId="{14A85CE8-0E71-4838-BA5F-B8772D1D5B6B}" dt="2026-06-26T18:53:41.165" v="393"/>
          <ac:graphicFrameMkLst>
            <pc:docMk/>
            <pc:sldMk cId="3240565764" sldId="297"/>
            <ac:graphicFrameMk id="19" creationId="{00000000-0000-0000-0000-000000000000}"/>
          </ac:graphicFrameMkLst>
        </pc:graphicFrameChg>
        <pc:picChg chg="mod">
          <ac:chgData name="Monica Guadalupe Becerra Quiroz" userId="3f0ab3d9-73d5-4a96-ad75-906d0f222192" providerId="ADAL" clId="{14A85CE8-0E71-4838-BA5F-B8772D1D5B6B}" dt="2026-06-26T18:54:36.806" v="401" actId="1076"/>
          <ac:picMkLst>
            <pc:docMk/>
            <pc:sldMk cId="3240565764" sldId="297"/>
            <ac:picMk id="11" creationId="{F7B31A16-FD1A-331A-6F76-259EB810FD76}"/>
          </ac:picMkLst>
        </pc:picChg>
        <pc:picChg chg="add mod">
          <ac:chgData name="Monica Guadalupe Becerra Quiroz" userId="3f0ab3d9-73d5-4a96-ad75-906d0f222192" providerId="ADAL" clId="{14A85CE8-0E71-4838-BA5F-B8772D1D5B6B}" dt="2026-06-26T18:55:30.095" v="407" actId="1076"/>
          <ac:picMkLst>
            <pc:docMk/>
            <pc:sldMk cId="3240565764" sldId="297"/>
            <ac:picMk id="13" creationId="{935F4B0B-6D7E-979B-1BC9-85DED4E42233}"/>
          </ac:picMkLst>
        </pc:picChg>
        <pc:picChg chg="mod">
          <ac:chgData name="Monica Guadalupe Becerra Quiroz" userId="3f0ab3d9-73d5-4a96-ad75-906d0f222192" providerId="ADAL" clId="{14A85CE8-0E71-4838-BA5F-B8772D1D5B6B}" dt="2026-06-26T18:54:47.415" v="403" actId="1076"/>
          <ac:picMkLst>
            <pc:docMk/>
            <pc:sldMk cId="3240565764" sldId="297"/>
            <ac:picMk id="14" creationId="{C365C7D6-999E-5396-FE1A-9AF265B06DAC}"/>
          </ac:picMkLst>
        </pc:picChg>
      </pc:sldChg>
      <pc:sldChg chg="addSp modSp mod">
        <pc:chgData name="Monica Guadalupe Becerra Quiroz" userId="3f0ab3d9-73d5-4a96-ad75-906d0f222192" providerId="ADAL" clId="{14A85CE8-0E71-4838-BA5F-B8772D1D5B6B}" dt="2026-06-26T18:33:53.219" v="270" actId="20577"/>
        <pc:sldMkLst>
          <pc:docMk/>
          <pc:sldMk cId="3391025972" sldId="298"/>
        </pc:sldMkLst>
        <pc:spChg chg="mod">
          <ac:chgData name="Monica Guadalupe Becerra Quiroz" userId="3f0ab3d9-73d5-4a96-ad75-906d0f222192" providerId="ADAL" clId="{14A85CE8-0E71-4838-BA5F-B8772D1D5B6B}" dt="2026-06-26T18:33:53.219" v="270" actId="20577"/>
          <ac:spMkLst>
            <pc:docMk/>
            <pc:sldMk cId="3391025972" sldId="298"/>
            <ac:spMk id="5" creationId="{00000000-0000-0000-0000-000000000000}"/>
          </ac:spMkLst>
        </pc:spChg>
        <pc:graphicFrameChg chg="mod">
          <ac:chgData name="Monica Guadalupe Becerra Quiroz" userId="3f0ab3d9-73d5-4a96-ad75-906d0f222192" providerId="ADAL" clId="{14A85CE8-0E71-4838-BA5F-B8772D1D5B6B}" dt="2026-06-26T18:23:20.813" v="138" actId="1076"/>
          <ac:graphicFrameMkLst>
            <pc:docMk/>
            <pc:sldMk cId="3391025972" sldId="298"/>
            <ac:graphicFrameMk id="9" creationId="{00000000-0000-0000-0000-000000000000}"/>
          </ac:graphicFrameMkLst>
        </pc:graphicFrameChg>
        <pc:graphicFrameChg chg="mod">
          <ac:chgData name="Monica Guadalupe Becerra Quiroz" userId="3f0ab3d9-73d5-4a96-ad75-906d0f222192" providerId="ADAL" clId="{14A85CE8-0E71-4838-BA5F-B8772D1D5B6B}" dt="2026-06-26T18:23:02.037" v="134" actId="1076"/>
          <ac:graphicFrameMkLst>
            <pc:docMk/>
            <pc:sldMk cId="3391025972" sldId="298"/>
            <ac:graphicFrameMk id="10" creationId="{00000000-0000-0000-0000-000000000000}"/>
          </ac:graphicFrameMkLst>
        </pc:graphicFrameChg>
        <pc:graphicFrameChg chg="mod">
          <ac:chgData name="Monica Guadalupe Becerra Quiroz" userId="3f0ab3d9-73d5-4a96-ad75-906d0f222192" providerId="ADAL" clId="{14A85CE8-0E71-4838-BA5F-B8772D1D5B6B}" dt="2026-06-26T18:23:23.374" v="139" actId="1076"/>
          <ac:graphicFrameMkLst>
            <pc:docMk/>
            <pc:sldMk cId="3391025972" sldId="298"/>
            <ac:graphicFrameMk id="11" creationId="{00000000-0000-0000-0000-000000000000}"/>
          </ac:graphicFrameMkLst>
        </pc:graphicFrameChg>
        <pc:graphicFrameChg chg="mod">
          <ac:chgData name="Monica Guadalupe Becerra Quiroz" userId="3f0ab3d9-73d5-4a96-ad75-906d0f222192" providerId="ADAL" clId="{14A85CE8-0E71-4838-BA5F-B8772D1D5B6B}" dt="2026-06-26T18:23:07.271" v="135" actId="1076"/>
          <ac:graphicFrameMkLst>
            <pc:docMk/>
            <pc:sldMk cId="3391025972" sldId="298"/>
            <ac:graphicFrameMk id="12" creationId="{00000000-0000-0000-0000-000000000000}"/>
          </ac:graphicFrameMkLst>
        </pc:graphicFrameChg>
        <pc:graphicFrameChg chg="mod">
          <ac:chgData name="Monica Guadalupe Becerra Quiroz" userId="3f0ab3d9-73d5-4a96-ad75-906d0f222192" providerId="ADAL" clId="{14A85CE8-0E71-4838-BA5F-B8772D1D5B6B}" dt="2026-06-26T18:23:26.162" v="140" actId="1076"/>
          <ac:graphicFrameMkLst>
            <pc:docMk/>
            <pc:sldMk cId="3391025972" sldId="298"/>
            <ac:graphicFrameMk id="13" creationId="{00000000-0000-0000-0000-000000000000}"/>
          </ac:graphicFrameMkLst>
        </pc:graphicFrameChg>
        <pc:graphicFrameChg chg="mod modGraphic">
          <ac:chgData name="Monica Guadalupe Becerra Quiroz" userId="3f0ab3d9-73d5-4a96-ad75-906d0f222192" providerId="ADAL" clId="{14A85CE8-0E71-4838-BA5F-B8772D1D5B6B}" dt="2026-06-26T18:23:53.672" v="145" actId="14100"/>
          <ac:graphicFrameMkLst>
            <pc:docMk/>
            <pc:sldMk cId="3391025972" sldId="298"/>
            <ac:graphicFrameMk id="14" creationId="{00000000-0000-0000-0000-000000000000}"/>
          </ac:graphicFrameMkLst>
        </pc:graphicFrameChg>
        <pc:graphicFrameChg chg="add mod">
          <ac:chgData name="Monica Guadalupe Becerra Quiroz" userId="3f0ab3d9-73d5-4a96-ad75-906d0f222192" providerId="ADAL" clId="{14A85CE8-0E71-4838-BA5F-B8772D1D5B6B}" dt="2026-06-26T18:23:48.427" v="143" actId="1076"/>
          <ac:graphicFrameMkLst>
            <pc:docMk/>
            <pc:sldMk cId="3391025972" sldId="298"/>
            <ac:graphicFrameMk id="15" creationId="{1B0ADF4F-09E8-4F79-E92D-D0594A4449CF}"/>
          </ac:graphicFrameMkLst>
        </pc:graphicFrameChg>
      </pc:sldChg>
      <pc:sldChg chg="modSp mod">
        <pc:chgData name="Monica Guadalupe Becerra Quiroz" userId="3f0ab3d9-73d5-4a96-ad75-906d0f222192" providerId="ADAL" clId="{14A85CE8-0E71-4838-BA5F-B8772D1D5B6B}" dt="2026-06-26T18:51:08.348" v="376" actId="20577"/>
        <pc:sldMkLst>
          <pc:docMk/>
          <pc:sldMk cId="1664225171" sldId="300"/>
        </pc:sldMkLst>
        <pc:spChg chg="mod">
          <ac:chgData name="Monica Guadalupe Becerra Quiroz" userId="3f0ab3d9-73d5-4a96-ad75-906d0f222192" providerId="ADAL" clId="{14A85CE8-0E71-4838-BA5F-B8772D1D5B6B}" dt="2026-06-26T18:46:40.937" v="352" actId="1076"/>
          <ac:spMkLst>
            <pc:docMk/>
            <pc:sldMk cId="1664225171" sldId="300"/>
            <ac:spMk id="3" creationId="{00000000-0000-0000-0000-000000000000}"/>
          </ac:spMkLst>
        </pc:spChg>
        <pc:spChg chg="mod">
          <ac:chgData name="Monica Guadalupe Becerra Quiroz" userId="3f0ab3d9-73d5-4a96-ad75-906d0f222192" providerId="ADAL" clId="{14A85CE8-0E71-4838-BA5F-B8772D1D5B6B}" dt="2026-06-26T18:46:38.249" v="351" actId="1076"/>
          <ac:spMkLst>
            <pc:docMk/>
            <pc:sldMk cId="1664225171" sldId="300"/>
            <ac:spMk id="4" creationId="{00000000-0000-0000-0000-000000000000}"/>
          </ac:spMkLst>
        </pc:spChg>
        <pc:spChg chg="mod">
          <ac:chgData name="Monica Guadalupe Becerra Quiroz" userId="3f0ab3d9-73d5-4a96-ad75-906d0f222192" providerId="ADAL" clId="{14A85CE8-0E71-4838-BA5F-B8772D1D5B6B}" dt="2026-06-26T18:46:19.549" v="347" actId="1076"/>
          <ac:spMkLst>
            <pc:docMk/>
            <pc:sldMk cId="1664225171" sldId="300"/>
            <ac:spMk id="7" creationId="{00000000-0000-0000-0000-000000000000}"/>
          </ac:spMkLst>
        </pc:spChg>
        <pc:spChg chg="mod">
          <ac:chgData name="Monica Guadalupe Becerra Quiroz" userId="3f0ab3d9-73d5-4a96-ad75-906d0f222192" providerId="ADAL" clId="{14A85CE8-0E71-4838-BA5F-B8772D1D5B6B}" dt="2026-06-26T18:51:08.348" v="376" actId="20577"/>
          <ac:spMkLst>
            <pc:docMk/>
            <pc:sldMk cId="1664225171" sldId="300"/>
            <ac:spMk id="10" creationId="{00000000-0000-0000-0000-000000000000}"/>
          </ac:spMkLst>
        </pc:spChg>
        <pc:graphicFrameChg chg="mod modGraphic">
          <ac:chgData name="Monica Guadalupe Becerra Quiroz" userId="3f0ab3d9-73d5-4a96-ad75-906d0f222192" providerId="ADAL" clId="{14A85CE8-0E71-4838-BA5F-B8772D1D5B6B}" dt="2026-06-26T18:50:53.794" v="361" actId="20577"/>
          <ac:graphicFrameMkLst>
            <pc:docMk/>
            <pc:sldMk cId="1664225171" sldId="300"/>
            <ac:graphicFrameMk id="9" creationId="{00000000-0000-0000-0000-000000000000}"/>
          </ac:graphicFrameMkLst>
        </pc:graphicFrameChg>
        <pc:picChg chg="mod">
          <ac:chgData name="Monica Guadalupe Becerra Quiroz" userId="3f0ab3d9-73d5-4a96-ad75-906d0f222192" providerId="ADAL" clId="{14A85CE8-0E71-4838-BA5F-B8772D1D5B6B}" dt="2026-06-26T18:46:34.813" v="350" actId="14100"/>
          <ac:picMkLst>
            <pc:docMk/>
            <pc:sldMk cId="1664225171" sldId="300"/>
            <ac:picMk id="6" creationId="{00000000-0000-0000-0000-000000000000}"/>
          </ac:picMkLst>
        </pc:picChg>
        <pc:cxnChg chg="mod">
          <ac:chgData name="Monica Guadalupe Becerra Quiroz" userId="3f0ab3d9-73d5-4a96-ad75-906d0f222192" providerId="ADAL" clId="{14A85CE8-0E71-4838-BA5F-B8772D1D5B6B}" dt="2026-06-26T18:46:29.512" v="349" actId="1076"/>
          <ac:cxnSpMkLst>
            <pc:docMk/>
            <pc:sldMk cId="1664225171" sldId="300"/>
            <ac:cxnSpMk id="5" creationId="{00000000-0000-0000-0000-000000000000}"/>
          </ac:cxnSpMkLst>
        </pc:cxnChg>
        <pc:cxnChg chg="mod">
          <ac:chgData name="Monica Guadalupe Becerra Quiroz" userId="3f0ab3d9-73d5-4a96-ad75-906d0f222192" providerId="ADAL" clId="{14A85CE8-0E71-4838-BA5F-B8772D1D5B6B}" dt="2026-06-26T18:46:17.559" v="346" actId="1076"/>
          <ac:cxnSpMkLst>
            <pc:docMk/>
            <pc:sldMk cId="1664225171" sldId="300"/>
            <ac:cxnSpMk id="8" creationId="{00000000-0000-0000-0000-000000000000}"/>
          </ac:cxnSpMkLst>
        </pc:cxnChg>
      </pc:sldChg>
      <pc:sldChg chg="addSp modSp mod">
        <pc:chgData name="Monica Guadalupe Becerra Quiroz" userId="3f0ab3d9-73d5-4a96-ad75-906d0f222192" providerId="ADAL" clId="{14A85CE8-0E71-4838-BA5F-B8772D1D5B6B}" dt="2026-06-29T18:12:31.159" v="776" actId="20577"/>
        <pc:sldMkLst>
          <pc:docMk/>
          <pc:sldMk cId="0" sldId="301"/>
        </pc:sldMkLst>
        <pc:spChg chg="mod">
          <ac:chgData name="Monica Guadalupe Becerra Quiroz" userId="3f0ab3d9-73d5-4a96-ad75-906d0f222192" providerId="ADAL" clId="{14A85CE8-0E71-4838-BA5F-B8772D1D5B6B}" dt="2026-06-29T18:12:31.159" v="776" actId="20577"/>
          <ac:spMkLst>
            <pc:docMk/>
            <pc:sldMk cId="0" sldId="301"/>
            <ac:spMk id="8" creationId="{00000000-0000-0000-0000-000000000000}"/>
          </ac:spMkLst>
        </pc:spChg>
        <pc:graphicFrameChg chg="mod modGraphic">
          <ac:chgData name="Monica Guadalupe Becerra Quiroz" userId="3f0ab3d9-73d5-4a96-ad75-906d0f222192" providerId="ADAL" clId="{14A85CE8-0E71-4838-BA5F-B8772D1D5B6B}" dt="2026-06-29T18:10:40.379" v="762" actId="255"/>
          <ac:graphicFrameMkLst>
            <pc:docMk/>
            <pc:sldMk cId="0" sldId="301"/>
            <ac:graphicFrameMk id="5" creationId="{00000000-0000-0000-0000-000000000000}"/>
          </ac:graphicFrameMkLst>
        </pc:graphicFrameChg>
        <pc:graphicFrameChg chg="mod modGraphic">
          <ac:chgData name="Monica Guadalupe Becerra Quiroz" userId="3f0ab3d9-73d5-4a96-ad75-906d0f222192" providerId="ADAL" clId="{14A85CE8-0E71-4838-BA5F-B8772D1D5B6B}" dt="2026-06-29T18:10:54.782" v="765" actId="255"/>
          <ac:graphicFrameMkLst>
            <pc:docMk/>
            <pc:sldMk cId="0" sldId="301"/>
            <ac:graphicFrameMk id="6" creationId="{00000000-0000-0000-0000-000000000000}"/>
          </ac:graphicFrameMkLst>
        </pc:graphicFrameChg>
        <pc:graphicFrameChg chg="mod modGraphic">
          <ac:chgData name="Monica Guadalupe Becerra Quiroz" userId="3f0ab3d9-73d5-4a96-ad75-906d0f222192" providerId="ADAL" clId="{14A85CE8-0E71-4838-BA5F-B8772D1D5B6B}" dt="2026-06-29T18:11:08.398" v="767" actId="1076"/>
          <ac:graphicFrameMkLst>
            <pc:docMk/>
            <pc:sldMk cId="0" sldId="301"/>
            <ac:graphicFrameMk id="7" creationId="{00000000-0000-0000-0000-000000000000}"/>
          </ac:graphicFrameMkLst>
        </pc:graphicFrameChg>
        <pc:graphicFrameChg chg="add mod modGraphic">
          <ac:chgData name="Monica Guadalupe Becerra Quiroz" userId="3f0ab3d9-73d5-4a96-ad75-906d0f222192" providerId="ADAL" clId="{14A85CE8-0E71-4838-BA5F-B8772D1D5B6B}" dt="2026-06-29T18:01:27.717" v="753" actId="20577"/>
          <ac:graphicFrameMkLst>
            <pc:docMk/>
            <pc:sldMk cId="0" sldId="301"/>
            <ac:graphicFrameMk id="12" creationId="{00000000-0000-0000-0000-000000000000}"/>
          </ac:graphicFrameMkLst>
        </pc:graphicFrameChg>
      </pc:sldChg>
      <pc:sldChg chg="addSp delSp modSp mod">
        <pc:chgData name="Monica Guadalupe Becerra Quiroz" userId="3f0ab3d9-73d5-4a96-ad75-906d0f222192" providerId="ADAL" clId="{14A85CE8-0E71-4838-BA5F-B8772D1D5B6B}" dt="2026-07-03T23:15:01.507" v="783" actId="20577"/>
        <pc:sldMkLst>
          <pc:docMk/>
          <pc:sldMk cId="0" sldId="303"/>
        </pc:sldMkLst>
        <pc:spChg chg="mod">
          <ac:chgData name="Monica Guadalupe Becerra Quiroz" userId="3f0ab3d9-73d5-4a96-ad75-906d0f222192" providerId="ADAL" clId="{14A85CE8-0E71-4838-BA5F-B8772D1D5B6B}" dt="2026-06-26T18:34:06.016" v="273" actId="20577"/>
          <ac:spMkLst>
            <pc:docMk/>
            <pc:sldMk cId="0" sldId="303"/>
            <ac:spMk id="5" creationId="{00000000-0000-0000-0000-000000000000}"/>
          </ac:spMkLst>
        </pc:spChg>
        <pc:graphicFrameChg chg="add del mod modGraphic">
          <ac:chgData name="Monica Guadalupe Becerra Quiroz" userId="3f0ab3d9-73d5-4a96-ad75-906d0f222192" providerId="ADAL" clId="{14A85CE8-0E71-4838-BA5F-B8772D1D5B6B}" dt="2026-06-26T18:25:26.568" v="168" actId="1035"/>
          <ac:graphicFrameMkLst>
            <pc:docMk/>
            <pc:sldMk cId="0" sldId="303"/>
            <ac:graphicFrameMk id="8" creationId="{00000000-0000-0000-0000-000000000000}"/>
          </ac:graphicFrameMkLst>
        </pc:graphicFrameChg>
        <pc:graphicFrameChg chg="mod modGraphic">
          <ac:chgData name="Monica Guadalupe Becerra Quiroz" userId="3f0ab3d9-73d5-4a96-ad75-906d0f222192" providerId="ADAL" clId="{14A85CE8-0E71-4838-BA5F-B8772D1D5B6B}" dt="2026-06-26T18:24:07.596" v="147" actId="14100"/>
          <ac:graphicFrameMkLst>
            <pc:docMk/>
            <pc:sldMk cId="0" sldId="303"/>
            <ac:graphicFrameMk id="9" creationId="{00000000-0000-0000-0000-000000000000}"/>
          </ac:graphicFrameMkLst>
        </pc:graphicFrameChg>
        <pc:graphicFrameChg chg="mod modGraphic">
          <ac:chgData name="Monica Guadalupe Becerra Quiroz" userId="3f0ab3d9-73d5-4a96-ad75-906d0f222192" providerId="ADAL" clId="{14A85CE8-0E71-4838-BA5F-B8772D1D5B6B}" dt="2026-06-26T18:25:34.718" v="171" actId="1035"/>
          <ac:graphicFrameMkLst>
            <pc:docMk/>
            <pc:sldMk cId="0" sldId="303"/>
            <ac:graphicFrameMk id="10" creationId="{00000000-0000-0000-0000-000000000000}"/>
          </ac:graphicFrameMkLst>
        </pc:graphicFrameChg>
        <pc:graphicFrameChg chg="mod modGraphic">
          <ac:chgData name="Monica Guadalupe Becerra Quiroz" userId="3f0ab3d9-73d5-4a96-ad75-906d0f222192" providerId="ADAL" clId="{14A85CE8-0E71-4838-BA5F-B8772D1D5B6B}" dt="2026-06-26T18:24:27.022" v="151" actId="14100"/>
          <ac:graphicFrameMkLst>
            <pc:docMk/>
            <pc:sldMk cId="0" sldId="303"/>
            <ac:graphicFrameMk id="11" creationId="{00000000-0000-0000-0000-000000000000}"/>
          </ac:graphicFrameMkLst>
        </pc:graphicFrameChg>
        <pc:graphicFrameChg chg="mod">
          <ac:chgData name="Monica Guadalupe Becerra Quiroz" userId="3f0ab3d9-73d5-4a96-ad75-906d0f222192" providerId="ADAL" clId="{14A85CE8-0E71-4838-BA5F-B8772D1D5B6B}" dt="2026-06-26T18:24:32.294" v="152" actId="1076"/>
          <ac:graphicFrameMkLst>
            <pc:docMk/>
            <pc:sldMk cId="0" sldId="303"/>
            <ac:graphicFrameMk id="12" creationId="{00000000-0000-0000-0000-000000000000}"/>
          </ac:graphicFrameMkLst>
        </pc:graphicFrameChg>
        <pc:graphicFrameChg chg="add mod">
          <ac:chgData name="Monica Guadalupe Becerra Quiroz" userId="3f0ab3d9-73d5-4a96-ad75-906d0f222192" providerId="ADAL" clId="{14A85CE8-0E71-4838-BA5F-B8772D1D5B6B}" dt="2026-06-26T18:25:40.737" v="174" actId="1035"/>
          <ac:graphicFrameMkLst>
            <pc:docMk/>
            <pc:sldMk cId="0" sldId="303"/>
            <ac:graphicFrameMk id="13" creationId="{CB54143C-F53F-C8B6-32E5-EC8AD8308EB1}"/>
          </ac:graphicFrameMkLst>
        </pc:graphicFrameChg>
        <pc:graphicFrameChg chg="add mod modGraphic">
          <ac:chgData name="Monica Guadalupe Becerra Quiroz" userId="3f0ab3d9-73d5-4a96-ad75-906d0f222192" providerId="ADAL" clId="{14A85CE8-0E71-4838-BA5F-B8772D1D5B6B}" dt="2026-07-03T23:15:01.507" v="783" actId="20577"/>
          <ac:graphicFrameMkLst>
            <pc:docMk/>
            <pc:sldMk cId="0" sldId="303"/>
            <ac:graphicFrameMk id="14" creationId="{00000000-0000-0000-0000-000000000000}"/>
          </ac:graphicFrameMkLst>
        </pc:graphicFrameChg>
      </pc:sldChg>
      <pc:sldChg chg="addSp delSp modSp mod">
        <pc:chgData name="Monica Guadalupe Becerra Quiroz" userId="3f0ab3d9-73d5-4a96-ad75-906d0f222192" providerId="ADAL" clId="{14A85CE8-0E71-4838-BA5F-B8772D1D5B6B}" dt="2026-07-03T23:15:19.583" v="786" actId="1076"/>
        <pc:sldMkLst>
          <pc:docMk/>
          <pc:sldMk cId="0" sldId="304"/>
        </pc:sldMkLst>
        <pc:spChg chg="mod">
          <ac:chgData name="Monica Guadalupe Becerra Quiroz" userId="3f0ab3d9-73d5-4a96-ad75-906d0f222192" providerId="ADAL" clId="{14A85CE8-0E71-4838-BA5F-B8772D1D5B6B}" dt="2026-06-26T18:34:17.039" v="277" actId="20577"/>
          <ac:spMkLst>
            <pc:docMk/>
            <pc:sldMk cId="0" sldId="304"/>
            <ac:spMk id="5" creationId="{00000000-0000-0000-0000-000000000000}"/>
          </ac:spMkLst>
        </pc:spChg>
        <pc:spChg chg="mod">
          <ac:chgData name="Monica Guadalupe Becerra Quiroz" userId="3f0ab3d9-73d5-4a96-ad75-906d0f222192" providerId="ADAL" clId="{14A85CE8-0E71-4838-BA5F-B8772D1D5B6B}" dt="2026-06-26T18:26:34.600" v="184" actId="1076"/>
          <ac:spMkLst>
            <pc:docMk/>
            <pc:sldMk cId="0" sldId="304"/>
            <ac:spMk id="11" creationId="{00000000-0000-0000-0000-000000000000}"/>
          </ac:spMkLst>
        </pc:spChg>
        <pc:spChg chg="add mod">
          <ac:chgData name="Monica Guadalupe Becerra Quiroz" userId="3f0ab3d9-73d5-4a96-ad75-906d0f222192" providerId="ADAL" clId="{14A85CE8-0E71-4838-BA5F-B8772D1D5B6B}" dt="2026-06-26T18:28:30.552" v="202" actId="1076"/>
          <ac:spMkLst>
            <pc:docMk/>
            <pc:sldMk cId="0" sldId="304"/>
            <ac:spMk id="24" creationId="{00000000-0000-0000-0000-000000000000}"/>
          </ac:spMkLst>
        </pc:spChg>
        <pc:spChg chg="add mod">
          <ac:chgData name="Monica Guadalupe Becerra Quiroz" userId="3f0ab3d9-73d5-4a96-ad75-906d0f222192" providerId="ADAL" clId="{14A85CE8-0E71-4838-BA5F-B8772D1D5B6B}" dt="2026-06-26T18:28:30.552" v="202" actId="1076"/>
          <ac:spMkLst>
            <pc:docMk/>
            <pc:sldMk cId="0" sldId="304"/>
            <ac:spMk id="25" creationId="{00000000-0000-0000-0000-000000000000}"/>
          </ac:spMkLst>
        </pc:spChg>
        <pc:graphicFrameChg chg="mod modGraphic">
          <ac:chgData name="Monica Guadalupe Becerra Quiroz" userId="3f0ab3d9-73d5-4a96-ad75-906d0f222192" providerId="ADAL" clId="{14A85CE8-0E71-4838-BA5F-B8772D1D5B6B}" dt="2026-07-03T23:15:19.583" v="786" actId="1076"/>
          <ac:graphicFrameMkLst>
            <pc:docMk/>
            <pc:sldMk cId="0" sldId="304"/>
            <ac:graphicFrameMk id="8" creationId="{00000000-0000-0000-0000-000000000000}"/>
          </ac:graphicFrameMkLst>
        </pc:graphicFrameChg>
        <pc:graphicFrameChg chg="del mod">
          <ac:chgData name="Monica Guadalupe Becerra Quiroz" userId="3f0ab3d9-73d5-4a96-ad75-906d0f222192" providerId="ADAL" clId="{14A85CE8-0E71-4838-BA5F-B8772D1D5B6B}" dt="2026-07-03T23:15:11.725" v="784" actId="478"/>
          <ac:graphicFrameMkLst>
            <pc:docMk/>
            <pc:sldMk cId="0" sldId="304"/>
            <ac:graphicFrameMk id="10" creationId="{00000000-0000-0000-0000-000000000000}"/>
          </ac:graphicFrameMkLst>
        </pc:graphicFrameChg>
        <pc:graphicFrameChg chg="mod">
          <ac:chgData name="Monica Guadalupe Becerra Quiroz" userId="3f0ab3d9-73d5-4a96-ad75-906d0f222192" providerId="ADAL" clId="{14A85CE8-0E71-4838-BA5F-B8772D1D5B6B}" dt="2026-06-26T18:26:41.990" v="186" actId="1076"/>
          <ac:graphicFrameMkLst>
            <pc:docMk/>
            <pc:sldMk cId="0" sldId="304"/>
            <ac:graphicFrameMk id="13" creationId="{00000000-0000-0000-0000-000000000000}"/>
          </ac:graphicFrameMkLst>
        </pc:graphicFrameChg>
        <pc:graphicFrameChg chg="add mod">
          <ac:chgData name="Monica Guadalupe Becerra Quiroz" userId="3f0ab3d9-73d5-4a96-ad75-906d0f222192" providerId="ADAL" clId="{14A85CE8-0E71-4838-BA5F-B8772D1D5B6B}" dt="2026-06-26T18:28:34.937" v="203" actId="1076"/>
          <ac:graphicFrameMkLst>
            <pc:docMk/>
            <pc:sldMk cId="0" sldId="304"/>
            <ac:graphicFrameMk id="14" creationId="{00000000-0000-0000-0000-000000000000}"/>
          </ac:graphicFrameMkLst>
        </pc:graphicFrameChg>
        <pc:graphicFrameChg chg="add mod modGraphic">
          <ac:chgData name="Monica Guadalupe Becerra Quiroz" userId="3f0ab3d9-73d5-4a96-ad75-906d0f222192" providerId="ADAL" clId="{14A85CE8-0E71-4838-BA5F-B8772D1D5B6B}" dt="2026-06-26T18:28:41.620" v="205" actId="1076"/>
          <ac:graphicFrameMkLst>
            <pc:docMk/>
            <pc:sldMk cId="0" sldId="304"/>
            <ac:graphicFrameMk id="15" creationId="{00000000-0000-0000-0000-000000000000}"/>
          </ac:graphicFrameMkLst>
        </pc:graphicFrameChg>
        <pc:graphicFrameChg chg="add mod">
          <ac:chgData name="Monica Guadalupe Becerra Quiroz" userId="3f0ab3d9-73d5-4a96-ad75-906d0f222192" providerId="ADAL" clId="{14A85CE8-0E71-4838-BA5F-B8772D1D5B6B}" dt="2026-06-26T18:28:50.741" v="206" actId="1076"/>
          <ac:graphicFrameMkLst>
            <pc:docMk/>
            <pc:sldMk cId="0" sldId="304"/>
            <ac:graphicFrameMk id="16" creationId="{00000000-0000-0000-0000-000000000000}"/>
          </ac:graphicFrameMkLst>
        </pc:graphicFrameChg>
        <pc:graphicFrameChg chg="add mod">
          <ac:chgData name="Monica Guadalupe Becerra Quiroz" userId="3f0ab3d9-73d5-4a96-ad75-906d0f222192" providerId="ADAL" clId="{14A85CE8-0E71-4838-BA5F-B8772D1D5B6B}" dt="2026-06-26T18:28:56.888" v="207" actId="1076"/>
          <ac:graphicFrameMkLst>
            <pc:docMk/>
            <pc:sldMk cId="0" sldId="304"/>
            <ac:graphicFrameMk id="17" creationId="{00000000-0000-0000-0000-000000000000}"/>
          </ac:graphicFrameMkLst>
        </pc:graphicFrameChg>
        <pc:graphicFrameChg chg="add mod">
          <ac:chgData name="Monica Guadalupe Becerra Quiroz" userId="3f0ab3d9-73d5-4a96-ad75-906d0f222192" providerId="ADAL" clId="{14A85CE8-0E71-4838-BA5F-B8772D1D5B6B}" dt="2026-06-26T18:28:50.741" v="206" actId="1076"/>
          <ac:graphicFrameMkLst>
            <pc:docMk/>
            <pc:sldMk cId="0" sldId="304"/>
            <ac:graphicFrameMk id="18" creationId="{00000000-0000-0000-0000-000000000000}"/>
          </ac:graphicFrameMkLst>
        </pc:graphicFrameChg>
        <pc:graphicFrameChg chg="add mod">
          <ac:chgData name="Monica Guadalupe Becerra Quiroz" userId="3f0ab3d9-73d5-4a96-ad75-906d0f222192" providerId="ADAL" clId="{14A85CE8-0E71-4838-BA5F-B8772D1D5B6B}" dt="2026-06-26T18:28:56.888" v="207" actId="1076"/>
          <ac:graphicFrameMkLst>
            <pc:docMk/>
            <pc:sldMk cId="0" sldId="304"/>
            <ac:graphicFrameMk id="19" creationId="{00000000-0000-0000-0000-000000000000}"/>
          </ac:graphicFrameMkLst>
        </pc:graphicFrameChg>
        <pc:graphicFrameChg chg="add mod">
          <ac:chgData name="Monica Guadalupe Becerra Quiroz" userId="3f0ab3d9-73d5-4a96-ad75-906d0f222192" providerId="ADAL" clId="{14A85CE8-0E71-4838-BA5F-B8772D1D5B6B}" dt="2026-06-26T18:28:50.741" v="206" actId="1076"/>
          <ac:graphicFrameMkLst>
            <pc:docMk/>
            <pc:sldMk cId="0" sldId="304"/>
            <ac:graphicFrameMk id="20" creationId="{00000000-0000-0000-0000-000000000000}"/>
          </ac:graphicFrameMkLst>
        </pc:graphicFrameChg>
        <pc:graphicFrameChg chg="add mod">
          <ac:chgData name="Monica Guadalupe Becerra Quiroz" userId="3f0ab3d9-73d5-4a96-ad75-906d0f222192" providerId="ADAL" clId="{14A85CE8-0E71-4838-BA5F-B8772D1D5B6B}" dt="2026-06-26T18:28:56.888" v="207" actId="1076"/>
          <ac:graphicFrameMkLst>
            <pc:docMk/>
            <pc:sldMk cId="0" sldId="304"/>
            <ac:graphicFrameMk id="21" creationId="{00000000-0000-0000-0000-000000000000}"/>
          </ac:graphicFrameMkLst>
        </pc:graphicFrameChg>
        <pc:graphicFrameChg chg="add mod">
          <ac:chgData name="Monica Guadalupe Becerra Quiroz" userId="3f0ab3d9-73d5-4a96-ad75-906d0f222192" providerId="ADAL" clId="{14A85CE8-0E71-4838-BA5F-B8772D1D5B6B}" dt="2026-06-26T18:28:50.741" v="206" actId="1076"/>
          <ac:graphicFrameMkLst>
            <pc:docMk/>
            <pc:sldMk cId="0" sldId="304"/>
            <ac:graphicFrameMk id="22" creationId="{00000000-0000-0000-0000-000000000000}"/>
          </ac:graphicFrameMkLst>
        </pc:graphicFrameChg>
        <pc:graphicFrameChg chg="add mod">
          <ac:chgData name="Monica Guadalupe Becerra Quiroz" userId="3f0ab3d9-73d5-4a96-ad75-906d0f222192" providerId="ADAL" clId="{14A85CE8-0E71-4838-BA5F-B8772D1D5B6B}" dt="2026-06-26T18:28:56.888" v="207" actId="1076"/>
          <ac:graphicFrameMkLst>
            <pc:docMk/>
            <pc:sldMk cId="0" sldId="304"/>
            <ac:graphicFrameMk id="23" creationId="{00000000-0000-0000-0000-000000000000}"/>
          </ac:graphicFrameMkLst>
        </pc:graphicFrameChg>
        <pc:graphicFrameChg chg="add mod">
          <ac:chgData name="Monica Guadalupe Becerra Quiroz" userId="3f0ab3d9-73d5-4a96-ad75-906d0f222192" providerId="ADAL" clId="{14A85CE8-0E71-4838-BA5F-B8772D1D5B6B}" dt="2026-06-26T18:29:15.733" v="210" actId="1076"/>
          <ac:graphicFrameMkLst>
            <pc:docMk/>
            <pc:sldMk cId="0" sldId="304"/>
            <ac:graphicFrameMk id="27" creationId="{00000000-0000-0000-0000-000000000000}"/>
          </ac:graphicFrameMkLst>
        </pc:graphicFrameChg>
        <pc:cxnChg chg="mod">
          <ac:chgData name="Monica Guadalupe Becerra Quiroz" userId="3f0ab3d9-73d5-4a96-ad75-906d0f222192" providerId="ADAL" clId="{14A85CE8-0E71-4838-BA5F-B8772D1D5B6B}" dt="2026-06-26T18:26:38.669" v="185" actId="1076"/>
          <ac:cxnSpMkLst>
            <pc:docMk/>
            <pc:sldMk cId="0" sldId="304"/>
            <ac:cxnSpMk id="12" creationId="{00000000-0000-0000-0000-000000000000}"/>
          </ac:cxnSpMkLst>
        </pc:cxnChg>
        <pc:cxnChg chg="add mod">
          <ac:chgData name="Monica Guadalupe Becerra Quiroz" userId="3f0ab3d9-73d5-4a96-ad75-906d0f222192" providerId="ADAL" clId="{14A85CE8-0E71-4838-BA5F-B8772D1D5B6B}" dt="2026-06-26T18:28:30.552" v="202" actId="1076"/>
          <ac:cxnSpMkLst>
            <pc:docMk/>
            <pc:sldMk cId="0" sldId="304"/>
            <ac:cxnSpMk id="26" creationId="{00000000-0000-0000-0000-000000000000}"/>
          </ac:cxnSpMkLst>
        </pc:cxnChg>
      </pc:sldChg>
      <pc:sldChg chg="addSp modSp mod ord">
        <pc:chgData name="Monica Guadalupe Becerra Quiroz" userId="3f0ab3d9-73d5-4a96-ad75-906d0f222192" providerId="ADAL" clId="{14A85CE8-0E71-4838-BA5F-B8772D1D5B6B}" dt="2026-06-26T18:34:24.976" v="280" actId="20577"/>
        <pc:sldMkLst>
          <pc:docMk/>
          <pc:sldMk cId="0" sldId="306"/>
        </pc:sldMkLst>
        <pc:spChg chg="mod">
          <ac:chgData name="Monica Guadalupe Becerra Quiroz" userId="3f0ab3d9-73d5-4a96-ad75-906d0f222192" providerId="ADAL" clId="{14A85CE8-0E71-4838-BA5F-B8772D1D5B6B}" dt="2026-06-26T18:33:35.297" v="261" actId="1076"/>
          <ac:spMkLst>
            <pc:docMk/>
            <pc:sldMk cId="0" sldId="306"/>
            <ac:spMk id="3" creationId="{00000000-0000-0000-0000-000000000000}"/>
          </ac:spMkLst>
        </pc:spChg>
        <pc:spChg chg="mod">
          <ac:chgData name="Monica Guadalupe Becerra Quiroz" userId="3f0ab3d9-73d5-4a96-ad75-906d0f222192" providerId="ADAL" clId="{14A85CE8-0E71-4838-BA5F-B8772D1D5B6B}" dt="2026-06-26T18:34:24.976" v="280" actId="20577"/>
          <ac:spMkLst>
            <pc:docMk/>
            <pc:sldMk cId="0" sldId="306"/>
            <ac:spMk id="5" creationId="{00000000-0000-0000-0000-000000000000}"/>
          </ac:spMkLst>
        </pc:spChg>
        <pc:graphicFrameChg chg="mod">
          <ac:chgData name="Monica Guadalupe Becerra Quiroz" userId="3f0ab3d9-73d5-4a96-ad75-906d0f222192" providerId="ADAL" clId="{14A85CE8-0E71-4838-BA5F-B8772D1D5B6B}" dt="2026-06-26T18:33:24.522" v="257" actId="1076"/>
          <ac:graphicFrameMkLst>
            <pc:docMk/>
            <pc:sldMk cId="0" sldId="306"/>
            <ac:graphicFrameMk id="7" creationId="{00000000-0000-0000-0000-000000000000}"/>
          </ac:graphicFrameMkLst>
        </pc:graphicFrameChg>
        <pc:graphicFrameChg chg="mod">
          <ac:chgData name="Monica Guadalupe Becerra Quiroz" userId="3f0ab3d9-73d5-4a96-ad75-906d0f222192" providerId="ADAL" clId="{14A85CE8-0E71-4838-BA5F-B8772D1D5B6B}" dt="2026-06-26T18:31:12.155" v="237" actId="1076"/>
          <ac:graphicFrameMkLst>
            <pc:docMk/>
            <pc:sldMk cId="0" sldId="306"/>
            <ac:graphicFrameMk id="8" creationId="{00000000-0000-0000-0000-000000000000}"/>
          </ac:graphicFrameMkLst>
        </pc:graphicFrameChg>
        <pc:graphicFrameChg chg="mod">
          <ac:chgData name="Monica Guadalupe Becerra Quiroz" userId="3f0ab3d9-73d5-4a96-ad75-906d0f222192" providerId="ADAL" clId="{14A85CE8-0E71-4838-BA5F-B8772D1D5B6B}" dt="2026-06-26T18:31:38.678" v="240" actId="1076"/>
          <ac:graphicFrameMkLst>
            <pc:docMk/>
            <pc:sldMk cId="0" sldId="306"/>
            <ac:graphicFrameMk id="9" creationId="{00000000-0000-0000-0000-000000000000}"/>
          </ac:graphicFrameMkLst>
        </pc:graphicFrameChg>
        <pc:graphicFrameChg chg="mod">
          <ac:chgData name="Monica Guadalupe Becerra Quiroz" userId="3f0ab3d9-73d5-4a96-ad75-906d0f222192" providerId="ADAL" clId="{14A85CE8-0E71-4838-BA5F-B8772D1D5B6B}" dt="2026-06-26T18:33:24.522" v="257" actId="1076"/>
          <ac:graphicFrameMkLst>
            <pc:docMk/>
            <pc:sldMk cId="0" sldId="306"/>
            <ac:graphicFrameMk id="10" creationId="{00000000-0000-0000-0000-000000000000}"/>
          </ac:graphicFrameMkLst>
        </pc:graphicFrameChg>
        <pc:graphicFrameChg chg="mod">
          <ac:chgData name="Monica Guadalupe Becerra Quiroz" userId="3f0ab3d9-73d5-4a96-ad75-906d0f222192" providerId="ADAL" clId="{14A85CE8-0E71-4838-BA5F-B8772D1D5B6B}" dt="2026-06-26T18:33:24.522" v="257" actId="1076"/>
          <ac:graphicFrameMkLst>
            <pc:docMk/>
            <pc:sldMk cId="0" sldId="306"/>
            <ac:graphicFrameMk id="11" creationId="{00000000-0000-0000-0000-000000000000}"/>
          </ac:graphicFrameMkLst>
        </pc:graphicFrameChg>
        <pc:graphicFrameChg chg="mod">
          <ac:chgData name="Monica Guadalupe Becerra Quiroz" userId="3f0ab3d9-73d5-4a96-ad75-906d0f222192" providerId="ADAL" clId="{14A85CE8-0E71-4838-BA5F-B8772D1D5B6B}" dt="2026-06-26T18:33:24.522" v="257" actId="1076"/>
          <ac:graphicFrameMkLst>
            <pc:docMk/>
            <pc:sldMk cId="0" sldId="306"/>
            <ac:graphicFrameMk id="12" creationId="{00000000-0000-0000-0000-000000000000}"/>
          </ac:graphicFrameMkLst>
        </pc:graphicFrameChg>
        <pc:graphicFrameChg chg="mod">
          <ac:chgData name="Monica Guadalupe Becerra Quiroz" userId="3f0ab3d9-73d5-4a96-ad75-906d0f222192" providerId="ADAL" clId="{14A85CE8-0E71-4838-BA5F-B8772D1D5B6B}" dt="2026-06-26T18:31:38.678" v="240" actId="1076"/>
          <ac:graphicFrameMkLst>
            <pc:docMk/>
            <pc:sldMk cId="0" sldId="306"/>
            <ac:graphicFrameMk id="13" creationId="{00000000-0000-0000-0000-000000000000}"/>
          </ac:graphicFrameMkLst>
        </pc:graphicFrameChg>
        <pc:graphicFrameChg chg="mod">
          <ac:chgData name="Monica Guadalupe Becerra Quiroz" userId="3f0ab3d9-73d5-4a96-ad75-906d0f222192" providerId="ADAL" clId="{14A85CE8-0E71-4838-BA5F-B8772D1D5B6B}" dt="2026-06-26T18:33:24.522" v="257" actId="1076"/>
          <ac:graphicFrameMkLst>
            <pc:docMk/>
            <pc:sldMk cId="0" sldId="306"/>
            <ac:graphicFrameMk id="14" creationId="{00000000-0000-0000-0000-000000000000}"/>
          </ac:graphicFrameMkLst>
        </pc:graphicFrameChg>
        <pc:graphicFrameChg chg="mod">
          <ac:chgData name="Monica Guadalupe Becerra Quiroz" userId="3f0ab3d9-73d5-4a96-ad75-906d0f222192" providerId="ADAL" clId="{14A85CE8-0E71-4838-BA5F-B8772D1D5B6B}" dt="2026-06-26T18:31:38.678" v="240" actId="1076"/>
          <ac:graphicFrameMkLst>
            <pc:docMk/>
            <pc:sldMk cId="0" sldId="306"/>
            <ac:graphicFrameMk id="15" creationId="{00000000-0000-0000-0000-000000000000}"/>
          </ac:graphicFrameMkLst>
        </pc:graphicFrameChg>
        <pc:graphicFrameChg chg="mod">
          <ac:chgData name="Monica Guadalupe Becerra Quiroz" userId="3f0ab3d9-73d5-4a96-ad75-906d0f222192" providerId="ADAL" clId="{14A85CE8-0E71-4838-BA5F-B8772D1D5B6B}" dt="2026-06-26T18:31:29.214" v="239" actId="1076"/>
          <ac:graphicFrameMkLst>
            <pc:docMk/>
            <pc:sldMk cId="0" sldId="306"/>
            <ac:graphicFrameMk id="16" creationId="{00000000-0000-0000-0000-000000000000}"/>
          </ac:graphicFrameMkLst>
        </pc:graphicFrameChg>
        <pc:graphicFrameChg chg="mod">
          <ac:chgData name="Monica Guadalupe Becerra Quiroz" userId="3f0ab3d9-73d5-4a96-ad75-906d0f222192" providerId="ADAL" clId="{14A85CE8-0E71-4838-BA5F-B8772D1D5B6B}" dt="2026-06-26T18:31:38.678" v="240" actId="1076"/>
          <ac:graphicFrameMkLst>
            <pc:docMk/>
            <pc:sldMk cId="0" sldId="306"/>
            <ac:graphicFrameMk id="17" creationId="{00000000-0000-0000-0000-000000000000}"/>
          </ac:graphicFrameMkLst>
        </pc:graphicFrameChg>
        <pc:graphicFrameChg chg="mod">
          <ac:chgData name="Monica Guadalupe Becerra Quiroz" userId="3f0ab3d9-73d5-4a96-ad75-906d0f222192" providerId="ADAL" clId="{14A85CE8-0E71-4838-BA5F-B8772D1D5B6B}" dt="2026-06-26T18:33:24.522" v="257" actId="1076"/>
          <ac:graphicFrameMkLst>
            <pc:docMk/>
            <pc:sldMk cId="0" sldId="306"/>
            <ac:graphicFrameMk id="18" creationId="{00000000-0000-0000-0000-000000000000}"/>
          </ac:graphicFrameMkLst>
        </pc:graphicFrameChg>
        <pc:graphicFrameChg chg="mod">
          <ac:chgData name="Monica Guadalupe Becerra Quiroz" userId="3f0ab3d9-73d5-4a96-ad75-906d0f222192" providerId="ADAL" clId="{14A85CE8-0E71-4838-BA5F-B8772D1D5B6B}" dt="2026-06-26T18:33:24.522" v="257" actId="1076"/>
          <ac:graphicFrameMkLst>
            <pc:docMk/>
            <pc:sldMk cId="0" sldId="306"/>
            <ac:graphicFrameMk id="19" creationId="{00000000-0000-0000-0000-000000000000}"/>
          </ac:graphicFrameMkLst>
        </pc:graphicFrameChg>
        <pc:graphicFrameChg chg="mod">
          <ac:chgData name="Monica Guadalupe Becerra Quiroz" userId="3f0ab3d9-73d5-4a96-ad75-906d0f222192" providerId="ADAL" clId="{14A85CE8-0E71-4838-BA5F-B8772D1D5B6B}" dt="2026-06-26T18:31:29.214" v="239" actId="1076"/>
          <ac:graphicFrameMkLst>
            <pc:docMk/>
            <pc:sldMk cId="0" sldId="306"/>
            <ac:graphicFrameMk id="20" creationId="{00000000-0000-0000-0000-000000000000}"/>
          </ac:graphicFrameMkLst>
        </pc:graphicFrameChg>
        <pc:graphicFrameChg chg="add mod">
          <ac:chgData name="Monica Guadalupe Becerra Quiroz" userId="3f0ab3d9-73d5-4a96-ad75-906d0f222192" providerId="ADAL" clId="{14A85CE8-0E71-4838-BA5F-B8772D1D5B6B}" dt="2026-06-26T18:33:24.522" v="257" actId="1076"/>
          <ac:graphicFrameMkLst>
            <pc:docMk/>
            <pc:sldMk cId="0" sldId="306"/>
            <ac:graphicFrameMk id="21" creationId="{00000000-0000-0000-0000-000000000000}"/>
          </ac:graphicFrameMkLst>
        </pc:graphicFrameChg>
        <pc:graphicFrameChg chg="add mod">
          <ac:chgData name="Monica Guadalupe Becerra Quiroz" userId="3f0ab3d9-73d5-4a96-ad75-906d0f222192" providerId="ADAL" clId="{14A85CE8-0E71-4838-BA5F-B8772D1D5B6B}" dt="2026-06-26T18:33:24.522" v="257" actId="1076"/>
          <ac:graphicFrameMkLst>
            <pc:docMk/>
            <pc:sldMk cId="0" sldId="306"/>
            <ac:graphicFrameMk id="22" creationId="{00000000-0000-0000-0000-000000000000}"/>
          </ac:graphicFrameMkLst>
        </pc:graphicFrameChg>
        <pc:graphicFrameChg chg="add mod">
          <ac:chgData name="Monica Guadalupe Becerra Quiroz" userId="3f0ab3d9-73d5-4a96-ad75-906d0f222192" providerId="ADAL" clId="{14A85CE8-0E71-4838-BA5F-B8772D1D5B6B}" dt="2026-06-26T18:33:24.522" v="257" actId="1076"/>
          <ac:graphicFrameMkLst>
            <pc:docMk/>
            <pc:sldMk cId="0" sldId="306"/>
            <ac:graphicFrameMk id="23" creationId="{00000000-0000-0000-0000-000000000000}"/>
          </ac:graphicFrameMkLst>
        </pc:graphicFrameChg>
        <pc:cxnChg chg="mod">
          <ac:chgData name="Monica Guadalupe Becerra Quiroz" userId="3f0ab3d9-73d5-4a96-ad75-906d0f222192" providerId="ADAL" clId="{14A85CE8-0E71-4838-BA5F-B8772D1D5B6B}" dt="2026-06-26T18:33:29.768" v="259" actId="1076"/>
          <ac:cxnSpMkLst>
            <pc:docMk/>
            <pc:sldMk cId="0" sldId="306"/>
            <ac:cxnSpMk id="6" creationId="{00000000-0000-0000-0000-000000000000}"/>
          </ac:cxnSpMkLst>
        </pc:cxnChg>
      </pc:sldChg>
      <pc:sldChg chg="addSp delSp modSp mod">
        <pc:chgData name="Monica Guadalupe Becerra Quiroz" userId="3f0ab3d9-73d5-4a96-ad75-906d0f222192" providerId="ADAL" clId="{14A85CE8-0E71-4838-BA5F-B8772D1D5B6B}" dt="2026-06-26T18:34:31.455" v="283" actId="20577"/>
        <pc:sldMkLst>
          <pc:docMk/>
          <pc:sldMk cId="0" sldId="307"/>
        </pc:sldMkLst>
        <pc:spChg chg="mod">
          <ac:chgData name="Monica Guadalupe Becerra Quiroz" userId="3f0ab3d9-73d5-4a96-ad75-906d0f222192" providerId="ADAL" clId="{14A85CE8-0E71-4838-BA5F-B8772D1D5B6B}" dt="2026-06-26T18:34:31.455" v="283" actId="20577"/>
          <ac:spMkLst>
            <pc:docMk/>
            <pc:sldMk cId="0" sldId="307"/>
            <ac:spMk id="5" creationId="{00000000-0000-0000-0000-000000000000}"/>
          </ac:spMkLst>
        </pc:spChg>
        <pc:graphicFrameChg chg="mod">
          <ac:chgData name="Monica Guadalupe Becerra Quiroz" userId="3f0ab3d9-73d5-4a96-ad75-906d0f222192" providerId="ADAL" clId="{14A85CE8-0E71-4838-BA5F-B8772D1D5B6B}" dt="2026-06-26T18:33:04.047" v="255" actId="1076"/>
          <ac:graphicFrameMkLst>
            <pc:docMk/>
            <pc:sldMk cId="0" sldId="307"/>
            <ac:graphicFrameMk id="7" creationId="{00000000-0000-0000-0000-000000000000}"/>
          </ac:graphicFrameMkLst>
        </pc:graphicFrameChg>
        <pc:graphicFrameChg chg="add del mod">
          <ac:chgData name="Monica Guadalupe Becerra Quiroz" userId="3f0ab3d9-73d5-4a96-ad75-906d0f222192" providerId="ADAL" clId="{14A85CE8-0E71-4838-BA5F-B8772D1D5B6B}" dt="2026-06-26T18:33:07.423" v="256" actId="1076"/>
          <ac:graphicFrameMkLst>
            <pc:docMk/>
            <pc:sldMk cId="0" sldId="307"/>
            <ac:graphicFrameMk id="8" creationId="{00000000-0000-0000-0000-000000000000}"/>
          </ac:graphicFrameMkLst>
        </pc:graphicFrameChg>
      </pc:sldChg>
      <pc:sldChg chg="addSp delSp modSp mod">
        <pc:chgData name="Monica Guadalupe Becerra Quiroz" userId="3f0ab3d9-73d5-4a96-ad75-906d0f222192" providerId="ADAL" clId="{14A85CE8-0E71-4838-BA5F-B8772D1D5B6B}" dt="2026-06-26T18:34:56.241" v="285"/>
        <pc:sldMkLst>
          <pc:docMk/>
          <pc:sldMk cId="0" sldId="308"/>
        </pc:sldMkLst>
        <pc:graphicFrameChg chg="add mod">
          <ac:chgData name="Monica Guadalupe Becerra Quiroz" userId="3f0ab3d9-73d5-4a96-ad75-906d0f222192" providerId="ADAL" clId="{14A85CE8-0E71-4838-BA5F-B8772D1D5B6B}" dt="2026-06-26T18:34:56.241" v="285"/>
          <ac:graphicFrameMkLst>
            <pc:docMk/>
            <pc:sldMk cId="0" sldId="308"/>
            <ac:graphicFrameMk id="6" creationId="{2133685E-10C7-A83D-70D7-853419CFC8A0}"/>
          </ac:graphicFrameMkLst>
        </pc:graphicFrameChg>
      </pc:sldChg>
    </pc:docChg>
  </pc:docChgLst>
  <pc:docChgLst>
    <pc:chgData name="Rohan Myron Oprisko" userId="a7c52ab4-f8b1-4d15-aaf6-6388cc510347" providerId="ADAL" clId="{97C26823-81C0-4343-94EC-E87AB1317939}"/>
    <pc:docChg chg="custSel modSld">
      <pc:chgData name="Rohan Myron Oprisko" userId="a7c52ab4-f8b1-4d15-aaf6-6388cc510347" providerId="ADAL" clId="{97C26823-81C0-4343-94EC-E87AB1317939}" dt="2026-06-24T15:54:45.463" v="2" actId="22"/>
      <pc:docMkLst>
        <pc:docMk/>
      </pc:docMkLst>
      <pc:sldChg chg="addSp delSp mod">
        <pc:chgData name="Rohan Myron Oprisko" userId="a7c52ab4-f8b1-4d15-aaf6-6388cc510347" providerId="ADAL" clId="{97C26823-81C0-4343-94EC-E87AB1317939}" dt="2026-06-24T15:54:45.463" v="2" actId="22"/>
        <pc:sldMkLst>
          <pc:docMk/>
          <pc:sldMk cId="748044913" sldId="287"/>
        </pc:sldMkLst>
        <pc:spChg chg="add">
          <ac:chgData name="Rohan Myron Oprisko" userId="a7c52ab4-f8b1-4d15-aaf6-6388cc510347" providerId="ADAL" clId="{97C26823-81C0-4343-94EC-E87AB1317939}" dt="2026-06-24T15:54:45.463" v="2" actId="22"/>
          <ac:spMkLst>
            <pc:docMk/>
            <pc:sldMk cId="748044913" sldId="287"/>
            <ac:spMk id="10" creationId="{772CD39C-7054-08A4-840A-46B275860FA5}"/>
          </ac:spMkLst>
        </pc:spChg>
        <pc:spChg chg="add">
          <ac:chgData name="Rohan Myron Oprisko" userId="a7c52ab4-f8b1-4d15-aaf6-6388cc510347" providerId="ADAL" clId="{97C26823-81C0-4343-94EC-E87AB1317939}" dt="2026-06-24T15:54:45.463" v="2" actId="22"/>
          <ac:spMkLst>
            <pc:docMk/>
            <pc:sldMk cId="748044913" sldId="287"/>
            <ac:spMk id="12" creationId="{A6D188C9-CEA7-479D-99AD-7BBD3D82F0D5}"/>
          </ac:spMkLst>
        </pc:spChg>
      </pc:sldChg>
    </pc:docChg>
  </pc:docChgLst>
  <pc:docChgLst>
    <pc:chgData name="Laura Patricia Galvan Chavez" userId="S::laura.galvan@imss.gob.mx::6b13af50-ce8b-483e-8fc4-f994efaf3289" providerId="AD" clId="Web-{0092CBAF-2563-442C-7C2F-B5D0281E5765}"/>
    <pc:docChg chg="modSld">
      <pc:chgData name="Laura Patricia Galvan Chavez" userId="S::laura.galvan@imss.gob.mx::6b13af50-ce8b-483e-8fc4-f994efaf3289" providerId="AD" clId="Web-{0092CBAF-2563-442C-7C2F-B5D0281E5765}" dt="2026-06-23T22:37:06.361" v="68" actId="1076"/>
      <pc:docMkLst>
        <pc:docMk/>
      </pc:docMkLst>
      <pc:sldChg chg="addSp delSp modSp">
        <pc:chgData name="Laura Patricia Galvan Chavez" userId="S::laura.galvan@imss.gob.mx::6b13af50-ce8b-483e-8fc4-f994efaf3289" providerId="AD" clId="Web-{0092CBAF-2563-442C-7C2F-B5D0281E5765}" dt="2026-06-23T22:37:06.361" v="68" actId="1076"/>
        <pc:sldMkLst>
          <pc:docMk/>
          <pc:sldMk cId="364733940" sldId="284"/>
        </pc:sldMkLst>
        <pc:spChg chg="mod">
          <ac:chgData name="Laura Patricia Galvan Chavez" userId="S::laura.galvan@imss.gob.mx::6b13af50-ce8b-483e-8fc4-f994efaf3289" providerId="AD" clId="Web-{0092CBAF-2563-442C-7C2F-B5D0281E5765}" dt="2026-06-23T22:36:52.783" v="66" actId="1076"/>
          <ac:spMkLst>
            <pc:docMk/>
            <pc:sldMk cId="364733940" sldId="284"/>
            <ac:spMk id="3" creationId="{ABCC6279-D2EB-1F1F-D811-3FFF80887FF1}"/>
          </ac:spMkLst>
        </pc:spChg>
        <pc:spChg chg="mod">
          <ac:chgData name="Laura Patricia Galvan Chavez" userId="S::laura.galvan@imss.gob.mx::6b13af50-ce8b-483e-8fc4-f994efaf3289" providerId="AD" clId="Web-{0092CBAF-2563-442C-7C2F-B5D0281E5765}" dt="2026-06-23T22:37:06.361" v="68" actId="1076"/>
          <ac:spMkLst>
            <pc:docMk/>
            <pc:sldMk cId="364733940" sldId="284"/>
            <ac:spMk id="6" creationId="{4578A0AA-9DC1-3453-263A-76BE5A8BE282}"/>
          </ac:spMkLst>
        </pc:spChg>
        <pc:picChg chg="mod">
          <ac:chgData name="Laura Patricia Galvan Chavez" userId="S::laura.galvan@imss.gob.mx::6b13af50-ce8b-483e-8fc4-f994efaf3289" providerId="AD" clId="Web-{0092CBAF-2563-442C-7C2F-B5D0281E5765}" dt="2026-06-23T22:35:52.361" v="59" actId="1076"/>
          <ac:picMkLst>
            <pc:docMk/>
            <pc:sldMk cId="364733940" sldId="284"/>
            <ac:picMk id="4" creationId="{488C755F-8E2D-8CE1-6C1B-6DBB55EE2CD3}"/>
          </ac:picMkLst>
        </pc:picChg>
        <pc:picChg chg="mod">
          <ac:chgData name="Laura Patricia Galvan Chavez" userId="S::laura.galvan@imss.gob.mx::6b13af50-ce8b-483e-8fc4-f994efaf3289" providerId="AD" clId="Web-{0092CBAF-2563-442C-7C2F-B5D0281E5765}" dt="2026-06-23T22:36:21.752" v="61" actId="1076"/>
          <ac:picMkLst>
            <pc:docMk/>
            <pc:sldMk cId="364733940" sldId="284"/>
            <ac:picMk id="11" creationId="{4F2E1097-3694-6090-CBA5-667DCD67E48E}"/>
          </ac:picMkLst>
        </pc:picChg>
        <pc:picChg chg="mod">
          <ac:chgData name="Laura Patricia Galvan Chavez" userId="S::laura.galvan@imss.gob.mx::6b13af50-ce8b-483e-8fc4-f994efaf3289" providerId="AD" clId="Web-{0092CBAF-2563-442C-7C2F-B5D0281E5765}" dt="2026-06-23T22:36:29.642" v="62" actId="1076"/>
          <ac:picMkLst>
            <pc:docMk/>
            <pc:sldMk cId="364733940" sldId="284"/>
            <ac:picMk id="13" creationId="{CA24C0E7-282C-9B96-A7B5-7554B2C6EF8D}"/>
          </ac:picMkLst>
        </pc:picChg>
      </pc:sldChg>
      <pc:sldChg chg="delSp modSp">
        <pc:chgData name="Laura Patricia Galvan Chavez" userId="S::laura.galvan@imss.gob.mx::6b13af50-ce8b-483e-8fc4-f994efaf3289" providerId="AD" clId="Web-{0092CBAF-2563-442C-7C2F-B5D0281E5765}" dt="2026-06-23T22:34:30.704" v="39" actId="1076"/>
        <pc:sldMkLst>
          <pc:docMk/>
          <pc:sldMk cId="3240565764" sldId="297"/>
        </pc:sldMkLst>
        <pc:spChg chg="mod">
          <ac:chgData name="Laura Patricia Galvan Chavez" userId="S::laura.galvan@imss.gob.mx::6b13af50-ce8b-483e-8fc4-f994efaf3289" providerId="AD" clId="Web-{0092CBAF-2563-442C-7C2F-B5D0281E5765}" dt="2026-06-23T22:34:19.313" v="31" actId="1076"/>
          <ac:spMkLst>
            <pc:docMk/>
            <pc:sldMk cId="3240565764" sldId="297"/>
            <ac:spMk id="3" creationId="{21AE8FA6-CA77-F761-93C9-BF2570CBBE30}"/>
          </ac:spMkLst>
        </pc:spChg>
        <pc:spChg chg="mod">
          <ac:chgData name="Laura Patricia Galvan Chavez" userId="S::laura.galvan@imss.gob.mx::6b13af50-ce8b-483e-8fc4-f994efaf3289" providerId="AD" clId="Web-{0092CBAF-2563-442C-7C2F-B5D0281E5765}" dt="2026-06-23T22:34:19.329" v="33" actId="1076"/>
          <ac:spMkLst>
            <pc:docMk/>
            <pc:sldMk cId="3240565764" sldId="297"/>
            <ac:spMk id="7" creationId="{FD4175D4-66CF-7FBC-B843-C149C5339DF1}"/>
          </ac:spMkLst>
        </pc:spChg>
        <pc:spChg chg="mod">
          <ac:chgData name="Laura Patricia Galvan Chavez" userId="S::laura.galvan@imss.gob.mx::6b13af50-ce8b-483e-8fc4-f994efaf3289" providerId="AD" clId="Web-{0092CBAF-2563-442C-7C2F-B5D0281E5765}" dt="2026-06-23T22:34:19.345" v="35" actId="1076"/>
          <ac:spMkLst>
            <pc:docMk/>
            <pc:sldMk cId="3240565764" sldId="297"/>
            <ac:spMk id="9" creationId="{50F1217E-09B0-81A3-6E99-CB1DE729ADDF}"/>
          </ac:spMkLst>
        </pc:spChg>
        <pc:spChg chg="mod">
          <ac:chgData name="Laura Patricia Galvan Chavez" userId="S::laura.galvan@imss.gob.mx::6b13af50-ce8b-483e-8fc4-f994efaf3289" providerId="AD" clId="Web-{0092CBAF-2563-442C-7C2F-B5D0281E5765}" dt="2026-06-23T22:34:24.438" v="37" actId="1076"/>
          <ac:spMkLst>
            <pc:docMk/>
            <pc:sldMk cId="3240565764" sldId="297"/>
            <ac:spMk id="10" creationId="{991C7EE4-1170-AC4C-597D-3383D8E8A8F9}"/>
          </ac:spMkLst>
        </pc:spChg>
        <pc:spChg chg="mod">
          <ac:chgData name="Laura Patricia Galvan Chavez" userId="S::laura.galvan@imss.gob.mx::6b13af50-ce8b-483e-8fc4-f994efaf3289" providerId="AD" clId="Web-{0092CBAF-2563-442C-7C2F-B5D0281E5765}" dt="2026-06-23T22:34:30.704" v="39" actId="1076"/>
          <ac:spMkLst>
            <pc:docMk/>
            <pc:sldMk cId="3240565764" sldId="297"/>
            <ac:spMk id="15" creationId="{A0083CC0-370A-999A-F425-0B0E05DEB5CF}"/>
          </ac:spMkLst>
        </pc:spChg>
        <pc:picChg chg="mod">
          <ac:chgData name="Laura Patricia Galvan Chavez" userId="S::laura.galvan@imss.gob.mx::6b13af50-ce8b-483e-8fc4-f994efaf3289" providerId="AD" clId="Web-{0092CBAF-2563-442C-7C2F-B5D0281E5765}" dt="2026-06-23T22:34:19.313" v="32" actId="1076"/>
          <ac:picMkLst>
            <pc:docMk/>
            <pc:sldMk cId="3240565764" sldId="297"/>
            <ac:picMk id="4" creationId="{AE9FD96F-084C-5DEE-6966-05F8D1633A42}"/>
          </ac:picMkLst>
        </pc:picChg>
        <pc:picChg chg="mod">
          <ac:chgData name="Laura Patricia Galvan Chavez" userId="S::laura.galvan@imss.gob.mx::6b13af50-ce8b-483e-8fc4-f994efaf3289" providerId="AD" clId="Web-{0092CBAF-2563-442C-7C2F-B5D0281E5765}" dt="2026-06-23T22:34:19.345" v="34" actId="1076"/>
          <ac:picMkLst>
            <pc:docMk/>
            <pc:sldMk cId="3240565764" sldId="297"/>
            <ac:picMk id="8" creationId="{170CBE01-E044-2F44-556A-69D0B561DC01}"/>
          </ac:picMkLst>
        </pc:picChg>
        <pc:picChg chg="mod">
          <ac:chgData name="Laura Patricia Galvan Chavez" userId="S::laura.galvan@imss.gob.mx::6b13af50-ce8b-483e-8fc4-f994efaf3289" providerId="AD" clId="Web-{0092CBAF-2563-442C-7C2F-B5D0281E5765}" dt="2026-06-23T22:34:30.704" v="38" actId="1076"/>
          <ac:picMkLst>
            <pc:docMk/>
            <pc:sldMk cId="3240565764" sldId="297"/>
            <ac:picMk id="14" creationId="{C365C7D6-999E-5396-FE1A-9AF265B06DAC}"/>
          </ac:picMkLst>
        </pc:picChg>
      </pc:sldChg>
    </pc:docChg>
  </pc:docChgLst>
  <pc:docChgLst>
    <pc:chgData name="Laura Patricia Galvan Chavez" userId="S::laura.galvan@imss.gob.mx::6b13af50-ce8b-483e-8fc4-f994efaf3289" providerId="AD" clId="Web-{898B6348-11E3-AAE4-7A39-580FCAFC3F9C}"/>
    <pc:docChg chg="modSld">
      <pc:chgData name="Laura Patricia Galvan Chavez" userId="S::laura.galvan@imss.gob.mx::6b13af50-ce8b-483e-8fc4-f994efaf3289" providerId="AD" clId="Web-{898B6348-11E3-AAE4-7A39-580FCAFC3F9C}" dt="2026-06-23T19:43:11.632" v="25" actId="14100"/>
      <pc:docMkLst>
        <pc:docMk/>
      </pc:docMkLst>
      <pc:sldChg chg="modSp">
        <pc:chgData name="Laura Patricia Galvan Chavez" userId="S::laura.galvan@imss.gob.mx::6b13af50-ce8b-483e-8fc4-f994efaf3289" providerId="AD" clId="Web-{898B6348-11E3-AAE4-7A39-580FCAFC3F9C}" dt="2026-06-23T19:43:11.632" v="25" actId="14100"/>
        <pc:sldMkLst>
          <pc:docMk/>
          <pc:sldMk cId="0" sldId="260"/>
        </pc:sldMkLst>
        <pc:spChg chg="mod">
          <ac:chgData name="Laura Patricia Galvan Chavez" userId="S::laura.galvan@imss.gob.mx::6b13af50-ce8b-483e-8fc4-f994efaf3289" providerId="AD" clId="Web-{898B6348-11E3-AAE4-7A39-580FCAFC3F9C}" dt="2026-06-23T19:42:41.694" v="24" actId="20577"/>
          <ac:spMkLst>
            <pc:docMk/>
            <pc:sldMk cId="0" sldId="260"/>
            <ac:spMk id="7" creationId="{869A875B-834A-EB32-DFDC-8C3B643F744D}"/>
          </ac:spMkLst>
        </pc:spChg>
        <pc:graphicFrameChg chg="mod modGraphic">
          <ac:chgData name="Laura Patricia Galvan Chavez" userId="S::laura.galvan@imss.gob.mx::6b13af50-ce8b-483e-8fc4-f994efaf3289" providerId="AD" clId="Web-{898B6348-11E3-AAE4-7A39-580FCAFC3F9C}" dt="2026-06-23T19:42:18.178" v="23"/>
          <ac:graphicFrameMkLst>
            <pc:docMk/>
            <pc:sldMk cId="0" sldId="260"/>
            <ac:graphicFrameMk id="6" creationId="{CF9870F8-F893-ED91-6B98-CAC3C8B988FF}"/>
          </ac:graphicFrameMkLst>
        </pc:graphicFrameChg>
        <pc:picChg chg="mod">
          <ac:chgData name="Laura Patricia Galvan Chavez" userId="S::laura.galvan@imss.gob.mx::6b13af50-ce8b-483e-8fc4-f994efaf3289" providerId="AD" clId="Web-{898B6348-11E3-AAE4-7A39-580FCAFC3F9C}" dt="2026-06-23T19:43:11.632" v="25" actId="14100"/>
          <ac:picMkLst>
            <pc:docMk/>
            <pc:sldMk cId="0" sldId="260"/>
            <ac:picMk id="5" creationId="{254D2AEA-4739-9BC4-E8D0-E18F6F0B0E40}"/>
          </ac:picMkLst>
        </pc:picChg>
      </pc:sldChg>
    </pc:docChg>
  </pc:docChgLst>
  <pc:docChgLst>
    <pc:chgData name="Laura Patricia Galvan Chavez" userId="6b13af50-ce8b-483e-8fc4-f994efaf3289" providerId="ADAL" clId="{655D084B-7DF1-4C24-9447-417D7DC498B8}"/>
    <pc:docChg chg="modSld">
      <pc:chgData name="Laura Patricia Galvan Chavez" userId="6b13af50-ce8b-483e-8fc4-f994efaf3289" providerId="ADAL" clId="{655D084B-7DF1-4C24-9447-417D7DC498B8}" dt="2026-07-03T20:06:34.463" v="89" actId="20577"/>
      <pc:docMkLst>
        <pc:docMk/>
      </pc:docMkLst>
      <pc:sldChg chg="modSp mod">
        <pc:chgData name="Laura Patricia Galvan Chavez" userId="6b13af50-ce8b-483e-8fc4-f994efaf3289" providerId="ADAL" clId="{655D084B-7DF1-4C24-9447-417D7DC498B8}" dt="2026-06-29T17:19:08.662" v="41" actId="1076"/>
        <pc:sldMkLst>
          <pc:docMk/>
          <pc:sldMk cId="0" sldId="258"/>
        </pc:sldMkLst>
        <pc:spChg chg="mod">
          <ac:chgData name="Laura Patricia Galvan Chavez" userId="6b13af50-ce8b-483e-8fc4-f994efaf3289" providerId="ADAL" clId="{655D084B-7DF1-4C24-9447-417D7DC498B8}" dt="2026-06-29T17:17:23.058" v="27" actId="1076"/>
          <ac:spMkLst>
            <pc:docMk/>
            <pc:sldMk cId="0" sldId="258"/>
            <ac:spMk id="114" creationId="{00000000-0000-0000-0000-000000000000}"/>
          </ac:spMkLst>
        </pc:spChg>
        <pc:spChg chg="mod">
          <ac:chgData name="Laura Patricia Galvan Chavez" userId="6b13af50-ce8b-483e-8fc4-f994efaf3289" providerId="ADAL" clId="{655D084B-7DF1-4C24-9447-417D7DC498B8}" dt="2026-06-29T17:19:08.662" v="41" actId="1076"/>
          <ac:spMkLst>
            <pc:docMk/>
            <pc:sldMk cId="0" sldId="258"/>
            <ac:spMk id="116" creationId="{00000000-0000-0000-0000-000000000000}"/>
          </ac:spMkLst>
        </pc:spChg>
        <pc:spChg chg="mod">
          <ac:chgData name="Laura Patricia Galvan Chavez" userId="6b13af50-ce8b-483e-8fc4-f994efaf3289" providerId="ADAL" clId="{655D084B-7DF1-4C24-9447-417D7DC498B8}" dt="2026-06-29T17:17:41.832" v="29" actId="1076"/>
          <ac:spMkLst>
            <pc:docMk/>
            <pc:sldMk cId="0" sldId="258"/>
            <ac:spMk id="118" creationId="{00000000-0000-0000-0000-000000000000}"/>
          </ac:spMkLst>
        </pc:spChg>
        <pc:spChg chg="mod">
          <ac:chgData name="Laura Patricia Galvan Chavez" userId="6b13af50-ce8b-483e-8fc4-f994efaf3289" providerId="ADAL" clId="{655D084B-7DF1-4C24-9447-417D7DC498B8}" dt="2026-06-29T17:18:33.682" v="38" actId="1076"/>
          <ac:spMkLst>
            <pc:docMk/>
            <pc:sldMk cId="0" sldId="258"/>
            <ac:spMk id="120" creationId="{00000000-0000-0000-0000-000000000000}"/>
          </ac:spMkLst>
        </pc:spChg>
        <pc:spChg chg="mod">
          <ac:chgData name="Laura Patricia Galvan Chavez" userId="6b13af50-ce8b-483e-8fc4-f994efaf3289" providerId="ADAL" clId="{655D084B-7DF1-4C24-9447-417D7DC498B8}" dt="2026-06-29T17:15:01.202" v="8" actId="1076"/>
          <ac:spMkLst>
            <pc:docMk/>
            <pc:sldMk cId="0" sldId="258"/>
            <ac:spMk id="121" creationId="{00000000-0000-0000-0000-000000000000}"/>
          </ac:spMkLst>
        </pc:spChg>
        <pc:spChg chg="mod">
          <ac:chgData name="Laura Patricia Galvan Chavez" userId="6b13af50-ce8b-483e-8fc4-f994efaf3289" providerId="ADAL" clId="{655D084B-7DF1-4C24-9447-417D7DC498B8}" dt="2026-06-29T17:15:01.202" v="8" actId="1076"/>
          <ac:spMkLst>
            <pc:docMk/>
            <pc:sldMk cId="0" sldId="258"/>
            <ac:spMk id="123" creationId="{00000000-0000-0000-0000-000000000000}"/>
          </ac:spMkLst>
        </pc:spChg>
        <pc:spChg chg="mod">
          <ac:chgData name="Laura Patricia Galvan Chavez" userId="6b13af50-ce8b-483e-8fc4-f994efaf3289" providerId="ADAL" clId="{655D084B-7DF1-4C24-9447-417D7DC498B8}" dt="2026-06-29T17:18:53.730" v="40" actId="1076"/>
          <ac:spMkLst>
            <pc:docMk/>
            <pc:sldMk cId="0" sldId="258"/>
            <ac:spMk id="124" creationId="{00000000-0000-0000-0000-000000000000}"/>
          </ac:spMkLst>
        </pc:spChg>
        <pc:spChg chg="mod">
          <ac:chgData name="Laura Patricia Galvan Chavez" userId="6b13af50-ce8b-483e-8fc4-f994efaf3289" providerId="ADAL" clId="{655D084B-7DF1-4C24-9447-417D7DC498B8}" dt="2026-06-29T17:15:49.125" v="14" actId="1076"/>
          <ac:spMkLst>
            <pc:docMk/>
            <pc:sldMk cId="0" sldId="258"/>
            <ac:spMk id="126" creationId="{00000000-0000-0000-0000-000000000000}"/>
          </ac:spMkLst>
        </pc:spChg>
        <pc:spChg chg="mod">
          <ac:chgData name="Laura Patricia Galvan Chavez" userId="6b13af50-ce8b-483e-8fc4-f994efaf3289" providerId="ADAL" clId="{655D084B-7DF1-4C24-9447-417D7DC498B8}" dt="2026-06-29T17:17:09.635" v="25" actId="1076"/>
          <ac:spMkLst>
            <pc:docMk/>
            <pc:sldMk cId="0" sldId="258"/>
            <ac:spMk id="127" creationId="{00000000-0000-0000-0000-000000000000}"/>
          </ac:spMkLst>
        </pc:spChg>
        <pc:spChg chg="mod">
          <ac:chgData name="Laura Patricia Galvan Chavez" userId="6b13af50-ce8b-483e-8fc4-f994efaf3289" providerId="ADAL" clId="{655D084B-7DF1-4C24-9447-417D7DC498B8}" dt="2026-06-29T17:17:13.886" v="26" actId="1076"/>
          <ac:spMkLst>
            <pc:docMk/>
            <pc:sldMk cId="0" sldId="258"/>
            <ac:spMk id="129" creationId="{00000000-0000-0000-0000-000000000000}"/>
          </ac:spMkLst>
        </pc:spChg>
        <pc:spChg chg="mod">
          <ac:chgData name="Laura Patricia Galvan Chavez" userId="6b13af50-ce8b-483e-8fc4-f994efaf3289" providerId="ADAL" clId="{655D084B-7DF1-4C24-9447-417D7DC498B8}" dt="2026-06-29T17:15:01.202" v="8" actId="1076"/>
          <ac:spMkLst>
            <pc:docMk/>
            <pc:sldMk cId="0" sldId="258"/>
            <ac:spMk id="130" creationId="{00000000-0000-0000-0000-000000000000}"/>
          </ac:spMkLst>
        </pc:spChg>
        <pc:spChg chg="mod">
          <ac:chgData name="Laura Patricia Galvan Chavez" userId="6b13af50-ce8b-483e-8fc4-f994efaf3289" providerId="ADAL" clId="{655D084B-7DF1-4C24-9447-417D7DC498B8}" dt="2026-06-29T17:15:01.202" v="8" actId="1076"/>
          <ac:spMkLst>
            <pc:docMk/>
            <pc:sldMk cId="0" sldId="258"/>
            <ac:spMk id="132" creationId="{00000000-0000-0000-0000-000000000000}"/>
          </ac:spMkLst>
        </pc:spChg>
        <pc:spChg chg="mod">
          <ac:chgData name="Laura Patricia Galvan Chavez" userId="6b13af50-ce8b-483e-8fc4-f994efaf3289" providerId="ADAL" clId="{655D084B-7DF1-4C24-9447-417D7DC498B8}" dt="2026-06-29T17:15:01.202" v="8" actId="1076"/>
          <ac:spMkLst>
            <pc:docMk/>
            <pc:sldMk cId="0" sldId="258"/>
            <ac:spMk id="133" creationId="{00000000-0000-0000-0000-000000000000}"/>
          </ac:spMkLst>
        </pc:spChg>
        <pc:graphicFrameChg chg="mod">
          <ac:chgData name="Laura Patricia Galvan Chavez" userId="6b13af50-ce8b-483e-8fc4-f994efaf3289" providerId="ADAL" clId="{655D084B-7DF1-4C24-9447-417D7DC498B8}" dt="2026-06-29T17:18:17.192" v="36"/>
          <ac:graphicFrameMkLst>
            <pc:docMk/>
            <pc:sldMk cId="0" sldId="258"/>
            <ac:graphicFrameMk id="117" creationId="{00000000-0000-0000-0000-000000000000}"/>
          </ac:graphicFrameMkLst>
        </pc:graphicFrameChg>
        <pc:picChg chg="mod">
          <ac:chgData name="Laura Patricia Galvan Chavez" userId="6b13af50-ce8b-483e-8fc4-f994efaf3289" providerId="ADAL" clId="{655D084B-7DF1-4C24-9447-417D7DC498B8}" dt="2026-06-29T17:18:09.478" v="35" actId="1076"/>
          <ac:picMkLst>
            <pc:docMk/>
            <pc:sldMk cId="0" sldId="258"/>
            <ac:picMk id="119" creationId="{00000000-0000-0000-0000-000000000000}"/>
          </ac:picMkLst>
        </pc:picChg>
        <pc:picChg chg="mod">
          <ac:chgData name="Laura Patricia Galvan Chavez" userId="6b13af50-ce8b-483e-8fc4-f994efaf3289" providerId="ADAL" clId="{655D084B-7DF1-4C24-9447-417D7DC498B8}" dt="2026-06-29T17:18:47.832" v="39" actId="1076"/>
          <ac:picMkLst>
            <pc:docMk/>
            <pc:sldMk cId="0" sldId="258"/>
            <ac:picMk id="125" creationId="{00000000-0000-0000-0000-000000000000}"/>
          </ac:picMkLst>
        </pc:picChg>
        <pc:picChg chg="mod">
          <ac:chgData name="Laura Patricia Galvan Chavez" userId="6b13af50-ce8b-483e-8fc4-f994efaf3289" providerId="ADAL" clId="{655D084B-7DF1-4C24-9447-417D7DC498B8}" dt="2026-06-29T17:16:10.911" v="17" actId="1076"/>
          <ac:picMkLst>
            <pc:docMk/>
            <pc:sldMk cId="0" sldId="258"/>
            <ac:picMk id="128" creationId="{00000000-0000-0000-0000-000000000000}"/>
          </ac:picMkLst>
        </pc:picChg>
        <pc:cxnChg chg="mod">
          <ac:chgData name="Laura Patricia Galvan Chavez" userId="6b13af50-ce8b-483e-8fc4-f994efaf3289" providerId="ADAL" clId="{655D084B-7DF1-4C24-9447-417D7DC498B8}" dt="2026-06-29T17:17:29.726" v="28" actId="1076"/>
          <ac:cxnSpMkLst>
            <pc:docMk/>
            <pc:sldMk cId="0" sldId="258"/>
            <ac:cxnSpMk id="115" creationId="{00000000-0000-0000-0000-000000000000}"/>
          </ac:cxnSpMkLst>
        </pc:cxnChg>
      </pc:sldChg>
      <pc:sldChg chg="modSp mod">
        <pc:chgData name="Laura Patricia Galvan Chavez" userId="6b13af50-ce8b-483e-8fc4-f994efaf3289" providerId="ADAL" clId="{655D084B-7DF1-4C24-9447-417D7DC498B8}" dt="2026-07-03T20:00:25.320" v="72" actId="255"/>
        <pc:sldMkLst>
          <pc:docMk/>
          <pc:sldMk cId="0" sldId="261"/>
        </pc:sldMkLst>
        <pc:spChg chg="mod">
          <ac:chgData name="Laura Patricia Galvan Chavez" userId="6b13af50-ce8b-483e-8fc4-f994efaf3289" providerId="ADAL" clId="{655D084B-7DF1-4C24-9447-417D7DC498B8}" dt="2026-07-03T20:00:25.320" v="72" actId="255"/>
          <ac:spMkLst>
            <pc:docMk/>
            <pc:sldMk cId="0" sldId="261"/>
            <ac:spMk id="27" creationId="{2BCC90C5-01B7-852D-DC0F-1EDF075B72C4}"/>
          </ac:spMkLst>
        </pc:spChg>
        <pc:grpChg chg="mod">
          <ac:chgData name="Laura Patricia Galvan Chavez" userId="6b13af50-ce8b-483e-8fc4-f994efaf3289" providerId="ADAL" clId="{655D084B-7DF1-4C24-9447-417D7DC498B8}" dt="2026-07-03T20:00:08.679" v="71" actId="1076"/>
          <ac:grpSpMkLst>
            <pc:docMk/>
            <pc:sldMk cId="0" sldId="261"/>
            <ac:grpSpMk id="2" creationId="{104E9437-0840-26BD-ECBC-779486D7CA1D}"/>
          </ac:grpSpMkLst>
        </pc:grpChg>
      </pc:sldChg>
      <pc:sldChg chg="modSp mod">
        <pc:chgData name="Laura Patricia Galvan Chavez" userId="6b13af50-ce8b-483e-8fc4-f994efaf3289" providerId="ADAL" clId="{655D084B-7DF1-4C24-9447-417D7DC498B8}" dt="2026-06-29T17:10:09.519" v="3" actId="1076"/>
        <pc:sldMkLst>
          <pc:docMk/>
          <pc:sldMk cId="0" sldId="267"/>
        </pc:sldMkLst>
        <pc:spChg chg="mod">
          <ac:chgData name="Laura Patricia Galvan Chavez" userId="6b13af50-ce8b-483e-8fc4-f994efaf3289" providerId="ADAL" clId="{655D084B-7DF1-4C24-9447-417D7DC498B8}" dt="2026-06-29T17:10:09.519" v="3" actId="1076"/>
          <ac:spMkLst>
            <pc:docMk/>
            <pc:sldMk cId="0" sldId="267"/>
            <ac:spMk id="236" creationId="{00000000-0000-0000-0000-000000000000}"/>
          </ac:spMkLst>
        </pc:spChg>
      </pc:sldChg>
      <pc:sldChg chg="modSp mod">
        <pc:chgData name="Laura Patricia Galvan Chavez" userId="6b13af50-ce8b-483e-8fc4-f994efaf3289" providerId="ADAL" clId="{655D084B-7DF1-4C24-9447-417D7DC498B8}" dt="2026-06-29T17:45:04.424" v="51" actId="20577"/>
        <pc:sldMkLst>
          <pc:docMk/>
          <pc:sldMk cId="0" sldId="279"/>
        </pc:sldMkLst>
        <pc:graphicFrameChg chg="modGraphic">
          <ac:chgData name="Laura Patricia Galvan Chavez" userId="6b13af50-ce8b-483e-8fc4-f994efaf3289" providerId="ADAL" clId="{655D084B-7DF1-4C24-9447-417D7DC498B8}" dt="2026-06-29T17:45:04.424" v="51" actId="20577"/>
          <ac:graphicFrameMkLst>
            <pc:docMk/>
            <pc:sldMk cId="0" sldId="279"/>
            <ac:graphicFrameMk id="514" creationId="{00000000-0000-0000-0000-000000000000}"/>
          </ac:graphicFrameMkLst>
        </pc:graphicFrameChg>
      </pc:sldChg>
      <pc:sldChg chg="modSp mod">
        <pc:chgData name="Laura Patricia Galvan Chavez" userId="6b13af50-ce8b-483e-8fc4-f994efaf3289" providerId="ADAL" clId="{655D084B-7DF1-4C24-9447-417D7DC498B8}" dt="2026-07-03T20:06:34.463" v="89" actId="20577"/>
        <pc:sldMkLst>
          <pc:docMk/>
          <pc:sldMk cId="364733940" sldId="284"/>
        </pc:sldMkLst>
        <pc:spChg chg="mod">
          <ac:chgData name="Laura Patricia Galvan Chavez" userId="6b13af50-ce8b-483e-8fc4-f994efaf3289" providerId="ADAL" clId="{655D084B-7DF1-4C24-9447-417D7DC498B8}" dt="2026-06-29T17:13:15.702" v="6" actId="1076"/>
          <ac:spMkLst>
            <pc:docMk/>
            <pc:sldMk cId="364733940" sldId="284"/>
            <ac:spMk id="12" creationId="{907F7F6F-8FF8-56A0-795F-B2A127C97D4D}"/>
          </ac:spMkLst>
        </pc:spChg>
        <pc:spChg chg="mod">
          <ac:chgData name="Laura Patricia Galvan Chavez" userId="6b13af50-ce8b-483e-8fc4-f994efaf3289" providerId="ADAL" clId="{655D084B-7DF1-4C24-9447-417D7DC498B8}" dt="2026-06-29T17:13:08.668" v="5" actId="1076"/>
          <ac:spMkLst>
            <pc:docMk/>
            <pc:sldMk cId="364733940" sldId="284"/>
            <ac:spMk id="14" creationId="{2C157DF6-A7FD-940D-19DA-323ACD68454D}"/>
          </ac:spMkLst>
        </pc:spChg>
        <pc:spChg chg="mod">
          <ac:chgData name="Laura Patricia Galvan Chavez" userId="6b13af50-ce8b-483e-8fc4-f994efaf3289" providerId="ADAL" clId="{655D084B-7DF1-4C24-9447-417D7DC498B8}" dt="2026-07-03T20:06:34.463" v="89" actId="20577"/>
          <ac:spMkLst>
            <pc:docMk/>
            <pc:sldMk cId="364733940" sldId="284"/>
            <ac:spMk id="19" creationId="{00000000-0000-0000-0000-000000000000}"/>
          </ac:spMkLst>
        </pc:spChg>
      </pc:sldChg>
      <pc:sldChg chg="modSp mod">
        <pc:chgData name="Laura Patricia Galvan Chavez" userId="6b13af50-ce8b-483e-8fc4-f994efaf3289" providerId="ADAL" clId="{655D084B-7DF1-4C24-9447-417D7DC498B8}" dt="2026-06-29T19:58:05.188" v="52" actId="1076"/>
        <pc:sldMkLst>
          <pc:docMk/>
          <pc:sldMk cId="3805655920" sldId="288"/>
        </pc:sldMkLst>
        <pc:spChg chg="mod">
          <ac:chgData name="Laura Patricia Galvan Chavez" userId="6b13af50-ce8b-483e-8fc4-f994efaf3289" providerId="ADAL" clId="{655D084B-7DF1-4C24-9447-417D7DC498B8}" dt="2026-06-29T19:58:05.188" v="52" actId="1076"/>
          <ac:spMkLst>
            <pc:docMk/>
            <pc:sldMk cId="3805655920" sldId="288"/>
            <ac:spMk id="4" creationId="{00000000-0000-0000-0000-000000000000}"/>
          </ac:spMkLst>
        </pc:spChg>
      </pc:sldChg>
      <pc:sldChg chg="modSp mod">
        <pc:chgData name="Laura Patricia Galvan Chavez" userId="6b13af50-ce8b-483e-8fc4-f994efaf3289" providerId="ADAL" clId="{655D084B-7DF1-4C24-9447-417D7DC498B8}" dt="2026-07-03T19:59:36.006" v="70" actId="20577"/>
        <pc:sldMkLst>
          <pc:docMk/>
          <pc:sldMk cId="0" sldId="301"/>
        </pc:sldMkLst>
        <pc:graphicFrameChg chg="mod modGraphic">
          <ac:chgData name="Laura Patricia Galvan Chavez" userId="6b13af50-ce8b-483e-8fc4-f994efaf3289" providerId="ADAL" clId="{655D084B-7DF1-4C24-9447-417D7DC498B8}" dt="2026-07-03T19:57:16.253" v="60" actId="14734"/>
          <ac:graphicFrameMkLst>
            <pc:docMk/>
            <pc:sldMk cId="0" sldId="301"/>
            <ac:graphicFrameMk id="6" creationId="{00000000-0000-0000-0000-000000000000}"/>
          </ac:graphicFrameMkLst>
        </pc:graphicFrameChg>
        <pc:graphicFrameChg chg="mod modGraphic">
          <ac:chgData name="Laura Patricia Galvan Chavez" userId="6b13af50-ce8b-483e-8fc4-f994efaf3289" providerId="ADAL" clId="{655D084B-7DF1-4C24-9447-417D7DC498B8}" dt="2026-07-03T19:59:36.006" v="70" actId="20577"/>
          <ac:graphicFrameMkLst>
            <pc:docMk/>
            <pc:sldMk cId="0" sldId="301"/>
            <ac:graphicFrameMk id="7" creationId="{00000000-0000-0000-0000-000000000000}"/>
          </ac:graphicFrameMkLst>
        </pc:graphicFrameChg>
      </pc:sldChg>
      <pc:sldChg chg="modSp mod">
        <pc:chgData name="Laura Patricia Galvan Chavez" userId="6b13af50-ce8b-483e-8fc4-f994efaf3289" providerId="ADAL" clId="{655D084B-7DF1-4C24-9447-417D7DC498B8}" dt="2026-07-03T20:02:38.981" v="86" actId="1076"/>
        <pc:sldMkLst>
          <pc:docMk/>
          <pc:sldMk cId="0" sldId="303"/>
        </pc:sldMkLst>
        <pc:graphicFrameChg chg="modGraphic">
          <ac:chgData name="Laura Patricia Galvan Chavez" userId="6b13af50-ce8b-483e-8fc4-f994efaf3289" providerId="ADAL" clId="{655D084B-7DF1-4C24-9447-417D7DC498B8}" dt="2026-07-03T20:02:04.098" v="75" actId="14100"/>
          <ac:graphicFrameMkLst>
            <pc:docMk/>
            <pc:sldMk cId="0" sldId="303"/>
            <ac:graphicFrameMk id="8" creationId="{00000000-0000-0000-0000-000000000000}"/>
          </ac:graphicFrameMkLst>
        </pc:graphicFrameChg>
        <pc:graphicFrameChg chg="modGraphic">
          <ac:chgData name="Laura Patricia Galvan Chavez" userId="6b13af50-ce8b-483e-8fc4-f994efaf3289" providerId="ADAL" clId="{655D084B-7DF1-4C24-9447-417D7DC498B8}" dt="2026-07-03T20:02:13.415" v="78" actId="14100"/>
          <ac:graphicFrameMkLst>
            <pc:docMk/>
            <pc:sldMk cId="0" sldId="303"/>
            <ac:graphicFrameMk id="10" creationId="{00000000-0000-0000-0000-000000000000}"/>
          </ac:graphicFrameMkLst>
        </pc:graphicFrameChg>
        <pc:graphicFrameChg chg="mod modGraphic">
          <ac:chgData name="Laura Patricia Galvan Chavez" userId="6b13af50-ce8b-483e-8fc4-f994efaf3289" providerId="ADAL" clId="{655D084B-7DF1-4C24-9447-417D7DC498B8}" dt="2026-07-03T20:02:27.128" v="82" actId="1076"/>
          <ac:graphicFrameMkLst>
            <pc:docMk/>
            <pc:sldMk cId="0" sldId="303"/>
            <ac:graphicFrameMk id="13" creationId="{CB54143C-F53F-C8B6-32E5-EC8AD8308EB1}"/>
          </ac:graphicFrameMkLst>
        </pc:graphicFrameChg>
        <pc:graphicFrameChg chg="mod modGraphic">
          <ac:chgData name="Laura Patricia Galvan Chavez" userId="6b13af50-ce8b-483e-8fc4-f994efaf3289" providerId="ADAL" clId="{655D084B-7DF1-4C24-9447-417D7DC498B8}" dt="2026-07-03T20:02:38.981" v="86" actId="1076"/>
          <ac:graphicFrameMkLst>
            <pc:docMk/>
            <pc:sldMk cId="0" sldId="303"/>
            <ac:graphicFrameMk id="14" creationId="{00000000-0000-0000-0000-000000000000}"/>
          </ac:graphicFrameMkLst>
        </pc:graphicFrameChg>
      </pc:sldChg>
      <pc:sldChg chg="modSp mod">
        <pc:chgData name="Laura Patricia Galvan Chavez" userId="6b13af50-ce8b-483e-8fc4-f994efaf3289" providerId="ADAL" clId="{655D084B-7DF1-4C24-9447-417D7DC498B8}" dt="2026-07-03T20:02:57.064" v="87" actId="1076"/>
        <pc:sldMkLst>
          <pc:docMk/>
          <pc:sldMk cId="0" sldId="308"/>
        </pc:sldMkLst>
        <pc:graphicFrameChg chg="mod">
          <ac:chgData name="Laura Patricia Galvan Chavez" userId="6b13af50-ce8b-483e-8fc4-f994efaf3289" providerId="ADAL" clId="{655D084B-7DF1-4C24-9447-417D7DC498B8}" dt="2026-07-03T20:02:57.064" v="87" actId="1076"/>
          <ac:graphicFrameMkLst>
            <pc:docMk/>
            <pc:sldMk cId="0" sldId="308"/>
            <ac:graphicFrameMk id="6" creationId="{2133685E-10C7-A83D-70D7-853419CFC8A0}"/>
          </ac:graphicFrameMkLst>
        </pc:graphicFrameChg>
        <pc:cxnChg chg="mod">
          <ac:chgData name="Laura Patricia Galvan Chavez" userId="6b13af50-ce8b-483e-8fc4-f994efaf3289" providerId="ADAL" clId="{655D084B-7DF1-4C24-9447-417D7DC498B8}" dt="2026-06-29T17:10:26.740" v="4" actId="1076"/>
          <ac:cxnSpMkLst>
            <pc:docMk/>
            <pc:sldMk cId="0" sldId="308"/>
            <ac:cxnSpMk id="4" creationId="{00000000-0000-0000-0000-000000000000}"/>
          </ac:cxnSpMkLst>
        </pc:cxn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_102_0.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_106_0.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_118_203AAD76.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_10B_0.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_10E_0.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_116_0.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_117_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4.3117283950617286E-2"/>
          <c:y val="3.1358024691358025E-2"/>
          <c:w val="0.91376543209876548"/>
          <c:h val="0.91376543209876548"/>
        </c:manualLayout>
      </c:layout>
      <c:doughnutChart>
        <c:varyColors val="1"/>
        <c:ser>
          <c:idx val="0"/>
          <c:order val="0"/>
          <c:tx>
            <c:strRef>
              <c:f>Sheet1!$B$1</c:f>
              <c:strCache>
                <c:ptCount val="1"/>
              </c:strCache>
            </c:strRef>
          </c:tx>
          <c:dPt>
            <c:idx val="0"/>
            <c:bubble3D val="0"/>
            <c:spPr>
              <a:solidFill>
                <a:srgbClr val="006455"/>
              </a:solidFill>
            </c:spPr>
            <c:extLst>
              <c:ext xmlns:c16="http://schemas.microsoft.com/office/drawing/2014/chart" uri="{C3380CC4-5D6E-409C-BE32-E72D297353CC}">
                <c16:uniqueId val="{00000001-01D2-4CEF-AEB0-53345D79296A}"/>
              </c:ext>
            </c:extLst>
          </c:dPt>
          <c:dPt>
            <c:idx val="1"/>
            <c:bubble3D val="0"/>
            <c:spPr>
              <a:solidFill>
                <a:schemeClr val="bg2">
                  <a:lumMod val="20000"/>
                  <a:lumOff val="80000"/>
                </a:schemeClr>
              </a:solidFill>
            </c:spPr>
            <c:extLst>
              <c:ext xmlns:c16="http://schemas.microsoft.com/office/drawing/2014/chart" uri="{C3380CC4-5D6E-409C-BE32-E72D297353CC}">
                <c16:uniqueId val="{00000003-01D2-4CEF-AEB0-53345D79296A}"/>
              </c:ext>
            </c:extLst>
          </c:dPt>
          <c:dPt>
            <c:idx val="2"/>
            <c:bubble3D val="0"/>
            <c:spPr>
              <a:solidFill>
                <a:srgbClr val="691C32"/>
              </a:solidFill>
            </c:spPr>
            <c:extLst>
              <c:ext xmlns:c16="http://schemas.microsoft.com/office/drawing/2014/chart" uri="{C3380CC4-5D6E-409C-BE32-E72D297353CC}">
                <c16:uniqueId val="{00000005-01D2-4CEF-AEB0-53345D79296A}"/>
              </c:ext>
            </c:extLst>
          </c:dPt>
          <c:dPt>
            <c:idx val="3"/>
            <c:bubble3D val="0"/>
            <c:spPr>
              <a:solidFill>
                <a:srgbClr val="BC955C"/>
              </a:solidFill>
            </c:spPr>
            <c:extLst>
              <c:ext xmlns:c16="http://schemas.microsoft.com/office/drawing/2014/chart" uri="{C3380CC4-5D6E-409C-BE32-E72D297353CC}">
                <c16:uniqueId val="{00000007-01D2-4CEF-AEB0-53345D79296A}"/>
              </c:ext>
            </c:extLst>
          </c:dPt>
          <c:dPt>
            <c:idx val="4"/>
            <c:bubble3D val="0"/>
            <c:spPr>
              <a:solidFill>
                <a:srgbClr val="9E9E9E"/>
              </a:solidFill>
            </c:spPr>
            <c:extLst>
              <c:ext xmlns:c16="http://schemas.microsoft.com/office/drawing/2014/chart" uri="{C3380CC4-5D6E-409C-BE32-E72D297353CC}">
                <c16:uniqueId val="{00000009-01D2-4CEF-AEB0-53345D79296A}"/>
              </c:ext>
            </c:extLst>
          </c:dPt>
          <c:cat>
            <c:strRef>
              <c:f>Sheet1!$A$2:$A$6</c:f>
              <c:strCache>
                <c:ptCount val="5"/>
                <c:pt idx="0">
                  <c:v>IMSS</c:v>
                </c:pt>
                <c:pt idx="1">
                  <c:v>IMSS Coplamar</c:v>
                </c:pt>
                <c:pt idx="2">
                  <c:v>ISSSTE</c:v>
                </c:pt>
                <c:pt idx="3">
                  <c:v>IMSS-BIENESTAR</c:v>
                </c:pt>
                <c:pt idx="4">
                  <c:v>Otros</c:v>
                </c:pt>
              </c:strCache>
            </c:strRef>
          </c:cat>
          <c:val>
            <c:numRef>
              <c:f>Sheet1!$B$2:$B$6</c:f>
              <c:numCache>
                <c:formatCode>General</c:formatCode>
                <c:ptCount val="5"/>
                <c:pt idx="0">
                  <c:v>2497371</c:v>
                </c:pt>
                <c:pt idx="1">
                  <c:v>257089</c:v>
                </c:pt>
                <c:pt idx="2">
                  <c:v>407839</c:v>
                </c:pt>
                <c:pt idx="3">
                  <c:v>272190</c:v>
                </c:pt>
                <c:pt idx="4">
                  <c:v>5896</c:v>
                </c:pt>
              </c:numCache>
            </c:numRef>
          </c:val>
          <c:extLst>
            <c:ext xmlns:c16="http://schemas.microsoft.com/office/drawing/2014/chart" uri="{C3380CC4-5D6E-409C-BE32-E72D297353CC}">
              <c16:uniqueId val="{0000000A-01D2-4CEF-AEB0-53345D79296A}"/>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s-MX"/>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8D43-4E03-9999-82640C597420}"/>
              </c:ext>
            </c:extLst>
          </c:dPt>
          <c:dPt>
            <c:idx val="1"/>
            <c:bubble3D val="0"/>
            <c:spPr>
              <a:solidFill>
                <a:srgbClr val="EBE0D2"/>
              </a:solidFill>
              <a:ln>
                <a:noFill/>
              </a:ln>
            </c:spPr>
            <c:extLst>
              <c:ext xmlns:c16="http://schemas.microsoft.com/office/drawing/2014/chart" uri="{C3380CC4-5D6E-409C-BE32-E72D297353CC}">
                <c16:uniqueId val="{00000003-8D43-4E03-9999-82640C597420}"/>
              </c:ext>
            </c:extLst>
          </c:dPt>
          <c:cat>
            <c:strRef>
              <c:f>Sheet1!$A$2:$A$3</c:f>
              <c:strCache>
                <c:ptCount val="2"/>
                <c:pt idx="0">
                  <c:v>Avance</c:v>
                </c:pt>
                <c:pt idx="1">
                  <c:v>Restante</c:v>
                </c:pt>
              </c:strCache>
            </c:strRef>
          </c:cat>
          <c:val>
            <c:numRef>
              <c:f>Sheet1!$B$2:$B$3</c:f>
              <c:numCache>
                <c:formatCode>General</c:formatCode>
                <c:ptCount val="2"/>
                <c:pt idx="0">
                  <c:v>44.505957805619673</c:v>
                </c:pt>
                <c:pt idx="1">
                  <c:v>55.494042194380327</c:v>
                </c:pt>
              </c:numCache>
            </c:numRef>
          </c:val>
          <c:extLst>
            <c:ext xmlns:c16="http://schemas.microsoft.com/office/drawing/2014/chart" uri="{C3380CC4-5D6E-409C-BE32-E72D297353CC}">
              <c16:uniqueId val="{00000004-8D43-4E03-9999-82640C597420}"/>
            </c:ext>
          </c:extLst>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lang="es-MX"/>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overlay val="0"/>
    </c:title>
    <c:autoTitleDeleted val="0"/>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DC84-499E-8D17-309E09128D15}"/>
              </c:ext>
            </c:extLst>
          </c:dPt>
          <c:dPt>
            <c:idx val="1"/>
            <c:bubble3D val="0"/>
            <c:spPr>
              <a:solidFill>
                <a:srgbClr val="EBE0D2"/>
              </a:solidFill>
              <a:ln>
                <a:noFill/>
              </a:ln>
            </c:spPr>
            <c:extLst>
              <c:ext xmlns:c16="http://schemas.microsoft.com/office/drawing/2014/chart" uri="{C3380CC4-5D6E-409C-BE32-E72D297353CC}">
                <c16:uniqueId val="{00000003-DC84-499E-8D17-309E09128D15}"/>
              </c:ext>
            </c:extLst>
          </c:dPt>
          <c:cat>
            <c:strRef>
              <c:f>Sheet1!$A$2:$A$3</c:f>
              <c:strCache>
                <c:ptCount val="2"/>
                <c:pt idx="0">
                  <c:v>Avance</c:v>
                </c:pt>
                <c:pt idx="1">
                  <c:v>Restante</c:v>
                </c:pt>
              </c:strCache>
            </c:strRef>
          </c:cat>
          <c:val>
            <c:numRef>
              <c:f>Sheet1!$B$2:$B$3</c:f>
              <c:numCache>
                <c:formatCode>General</c:formatCode>
                <c:ptCount val="2"/>
                <c:pt idx="0">
                  <c:v>8.7119434574000003</c:v>
                </c:pt>
                <c:pt idx="1">
                  <c:v>91.288056542600003</c:v>
                </c:pt>
              </c:numCache>
            </c:numRef>
          </c:val>
          <c:extLst>
            <c:ext xmlns:c16="http://schemas.microsoft.com/office/drawing/2014/chart" uri="{C3380CC4-5D6E-409C-BE32-E72D297353CC}">
              <c16:uniqueId val="{00000004-DC84-499E-8D17-309E09128D15}"/>
            </c:ext>
          </c:extLst>
        </c:ser>
        <c:dLbls>
          <c:showLegendKey val="0"/>
          <c:showVal val="0"/>
          <c:showCatName val="0"/>
          <c:showSerName val="0"/>
          <c:showPercent val="0"/>
          <c:showBubbleSize val="0"/>
          <c:showLeaderLines val="1"/>
        </c:dLbls>
        <c:firstSliceAng val="0"/>
        <c:holeSize val="70"/>
      </c:doughnutChart>
    </c:plotArea>
    <c:plotVisOnly val="1"/>
    <c:dispBlanksAs val="zero"/>
    <c:showDLblsOverMax val="1"/>
  </c:char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CD2A-44AE-9BDE-C328B4903315}"/>
              </c:ext>
            </c:extLst>
          </c:dPt>
          <c:dPt>
            <c:idx val="1"/>
            <c:bubble3D val="0"/>
            <c:spPr>
              <a:solidFill>
                <a:srgbClr val="EBE0D2"/>
              </a:solidFill>
              <a:ln>
                <a:noFill/>
              </a:ln>
            </c:spPr>
            <c:extLst>
              <c:ext xmlns:c16="http://schemas.microsoft.com/office/drawing/2014/chart" uri="{C3380CC4-5D6E-409C-BE32-E72D297353CC}">
                <c16:uniqueId val="{00000003-CD2A-44AE-9BDE-C328B4903315}"/>
              </c:ext>
            </c:extLst>
          </c:dPt>
          <c:cat>
            <c:strRef>
              <c:f>Sheet1!$A$2:$A$3</c:f>
              <c:strCache>
                <c:ptCount val="2"/>
                <c:pt idx="0">
                  <c:v>Avance</c:v>
                </c:pt>
                <c:pt idx="1">
                  <c:v>Restante</c:v>
                </c:pt>
              </c:strCache>
            </c:strRef>
          </c:cat>
          <c:val>
            <c:numRef>
              <c:f>Sheet1!$B$2:$B$3</c:f>
              <c:numCache>
                <c:formatCode>General</c:formatCode>
                <c:ptCount val="2"/>
                <c:pt idx="0">
                  <c:v>41.18</c:v>
                </c:pt>
                <c:pt idx="1">
                  <c:v>58.82</c:v>
                </c:pt>
              </c:numCache>
            </c:numRef>
          </c:val>
          <c:extLst>
            <c:ext xmlns:c16="http://schemas.microsoft.com/office/drawing/2014/chart" uri="{C3380CC4-5D6E-409C-BE32-E72D297353CC}">
              <c16:uniqueId val="{00000004-CD2A-44AE-9BDE-C328B4903315}"/>
            </c:ext>
          </c:extLst>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lang="es-MX"/>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7B36-401D-8015-48DAA1CC8D23}"/>
              </c:ext>
            </c:extLst>
          </c:dPt>
          <c:dPt>
            <c:idx val="1"/>
            <c:bubble3D val="0"/>
            <c:spPr>
              <a:solidFill>
                <a:srgbClr val="EBE0D2"/>
              </a:solidFill>
              <a:ln>
                <a:noFill/>
              </a:ln>
            </c:spPr>
            <c:extLst>
              <c:ext xmlns:c16="http://schemas.microsoft.com/office/drawing/2014/chart" uri="{C3380CC4-5D6E-409C-BE32-E72D297353CC}">
                <c16:uniqueId val="{00000003-7B36-401D-8015-48DAA1CC8D23}"/>
              </c:ext>
            </c:extLst>
          </c:dPt>
          <c:cat>
            <c:strRef>
              <c:f>Sheet1!$A$2:$A$3</c:f>
              <c:strCache>
                <c:ptCount val="2"/>
                <c:pt idx="0">
                  <c:v>Avance</c:v>
                </c:pt>
                <c:pt idx="1">
                  <c:v>Restante</c:v>
                </c:pt>
              </c:strCache>
            </c:strRef>
          </c:cat>
          <c:val>
            <c:numRef>
              <c:f>Sheet1!$B$2:$B$3</c:f>
              <c:numCache>
                <c:formatCode>General</c:formatCode>
                <c:ptCount val="2"/>
                <c:pt idx="0">
                  <c:v>42.79</c:v>
                </c:pt>
                <c:pt idx="1">
                  <c:v>57.21</c:v>
                </c:pt>
              </c:numCache>
            </c:numRef>
          </c:val>
          <c:extLst>
            <c:ext xmlns:c16="http://schemas.microsoft.com/office/drawing/2014/chart" uri="{C3380CC4-5D6E-409C-BE32-E72D297353CC}">
              <c16:uniqueId val="{00000004-7B36-401D-8015-48DAA1CC8D23}"/>
            </c:ext>
          </c:extLst>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lang="es-MX"/>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strCache>
            </c:strRef>
          </c:tx>
          <c:spPr>
            <a:solidFill>
              <a:srgbClr val="006455"/>
            </a:solidFill>
          </c:spPr>
          <c:invertIfNegative val="1"/>
          <c:dPt>
            <c:idx val="3"/>
            <c:invertIfNegative val="1"/>
            <c:bubble3D val="0"/>
            <c:spPr>
              <a:solidFill>
                <a:srgbClr val="691C32"/>
              </a:solidFill>
            </c:spPr>
            <c:extLst>
              <c:ext xmlns:c16="http://schemas.microsoft.com/office/drawing/2014/chart" uri="{C3380CC4-5D6E-409C-BE32-E72D297353CC}">
                <c16:uniqueId val="{00000001-D98C-485E-9E0F-728813F4DA0E}"/>
              </c:ext>
            </c:extLst>
          </c:dPt>
          <c:dLbls>
            <c:numFmt formatCode="#,##0" sourceLinked="0"/>
            <c:spPr>
              <a:noFill/>
              <a:ln>
                <a:noFill/>
              </a:ln>
              <a:effectLst/>
            </c:spPr>
            <c:txPr>
              <a:bodyPr/>
              <a:lstStyle/>
              <a:p>
                <a:pPr>
                  <a:defRPr sz="1000" b="1">
                    <a:solidFill>
                      <a:srgbClr val="FFFFFF"/>
                    </a:solidFill>
                    <a:latin typeface="Montserrat"/>
                  </a:defRPr>
                </a:pPr>
                <a:endParaRPr lang="es-MX"/>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2018</c:v>
                </c:pt>
                <c:pt idx="1">
                  <c:v>2024</c:v>
                </c:pt>
                <c:pt idx="2">
                  <c:v>2025</c:v>
                </c:pt>
                <c:pt idx="3">
                  <c:v>2026</c:v>
                </c:pt>
              </c:strCache>
            </c:strRef>
          </c:cat>
          <c:val>
            <c:numRef>
              <c:f>Sheet1!$B$2:$B$5</c:f>
              <c:numCache>
                <c:formatCode>General</c:formatCode>
                <c:ptCount val="4"/>
                <c:pt idx="0">
                  <c:v>166</c:v>
                </c:pt>
                <c:pt idx="1">
                  <c:v>249</c:v>
                </c:pt>
                <c:pt idx="2">
                  <c:v>289</c:v>
                </c:pt>
                <c:pt idx="3">
                  <c:v>292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D98C-485E-9E0F-728813F4DA0E}"/>
            </c:ext>
          </c:extLst>
        </c:ser>
        <c:dLbls>
          <c:dLblPos val="inEnd"/>
          <c:showLegendKey val="0"/>
          <c:showVal val="1"/>
          <c:showCatName val="0"/>
          <c:showSerName val="0"/>
          <c:showPercent val="0"/>
          <c:showBubbleSize val="0"/>
        </c:dLbls>
        <c:gapWidth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8C8C8"/>
            </a:solidFill>
          </a:ln>
        </c:spPr>
        <c:txPr>
          <a:bodyPr/>
          <a:lstStyle/>
          <a:p>
            <a:pPr>
              <a:defRPr sz="1000" b="0">
                <a:latin typeface="Montserrat"/>
              </a:defRPr>
            </a:pPr>
            <a:endParaRPr lang="es-MX"/>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bar"/>
        <c:grouping val="clustered"/>
        <c:varyColors val="1"/>
        <c:ser>
          <c:idx val="0"/>
          <c:order val="0"/>
          <c:tx>
            <c:strRef>
              <c:f>Sheet1!$B$1</c:f>
              <c:strCache>
                <c:ptCount val="1"/>
                <c:pt idx="0">
                  <c:v>Mes Anterior</c:v>
                </c:pt>
              </c:strCache>
            </c:strRef>
          </c:tx>
          <c:spPr>
            <a:solidFill>
              <a:srgbClr val="006455"/>
            </a:solidFill>
          </c:spPr>
          <c:invertIfNegative val="1"/>
          <c:dLbls>
            <c:numFmt formatCode="#,##0" sourceLinked="0"/>
            <c:spPr>
              <a:noFill/>
              <a:ln>
                <a:noFill/>
              </a:ln>
              <a:effectLst/>
            </c:spPr>
            <c:txPr>
              <a:bodyPr/>
              <a:lstStyle/>
              <a:p>
                <a:pPr>
                  <a:defRPr sz="800" b="1">
                    <a:solidFill>
                      <a:srgbClr val="000000"/>
                    </a:solidFill>
                    <a:latin typeface="Montserra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Industria de la Construcción</c:v>
                </c:pt>
                <c:pt idx="1">
                  <c:v>Industrias de la Transformación</c:v>
                </c:pt>
                <c:pt idx="2">
                  <c:v>Agricultura, Ganaderia, Silvicultura, Pesca y Caza</c:v>
                </c:pt>
                <c:pt idx="3">
                  <c:v>Comercio</c:v>
                </c:pt>
                <c:pt idx="4">
                  <c:v>Transportes y Comunicaciones</c:v>
                </c:pt>
                <c:pt idx="5">
                  <c:v>Servicios para Empresas, Personas y el Hogar</c:v>
                </c:pt>
                <c:pt idx="6">
                  <c:v>Servicios Sociales y Comunales</c:v>
                </c:pt>
                <c:pt idx="7">
                  <c:v>Ind Eléctrica y Captación y Suministro de Agua Potable</c:v>
                </c:pt>
                <c:pt idx="8">
                  <c:v>Industrias Extractivas</c:v>
                </c:pt>
              </c:strCache>
            </c:strRef>
          </c:cat>
          <c:val>
            <c:numRef>
              <c:f>Sheet1!$B$2:$B$10</c:f>
              <c:numCache>
                <c:formatCode>General</c:formatCode>
                <c:ptCount val="9"/>
                <c:pt idx="0">
                  <c:v>58955</c:v>
                </c:pt>
                <c:pt idx="1">
                  <c:v>416956</c:v>
                </c:pt>
                <c:pt idx="2">
                  <c:v>20130</c:v>
                </c:pt>
                <c:pt idx="3">
                  <c:v>140415</c:v>
                </c:pt>
                <c:pt idx="4">
                  <c:v>42474</c:v>
                </c:pt>
                <c:pt idx="5">
                  <c:v>105626</c:v>
                </c:pt>
                <c:pt idx="6">
                  <c:v>64753</c:v>
                </c:pt>
                <c:pt idx="7">
                  <c:v>6218</c:v>
                </c:pt>
                <c:pt idx="8">
                  <c:v>9582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49F-4357-84DC-9390B6ECE189}"/>
            </c:ext>
          </c:extLst>
        </c:ser>
        <c:ser>
          <c:idx val="1"/>
          <c:order val="1"/>
          <c:tx>
            <c:strRef>
              <c:f>Sheet1!$C$1</c:f>
              <c:strCache>
                <c:ptCount val="1"/>
                <c:pt idx="0">
                  <c:v>Mes Actual</c:v>
                </c:pt>
              </c:strCache>
            </c:strRef>
          </c:tx>
          <c:spPr>
            <a:solidFill>
              <a:srgbClr val="9F2241"/>
            </a:solidFill>
          </c:spPr>
          <c:invertIfNegative val="1"/>
          <c:dLbls>
            <c:numFmt formatCode="#,##0" sourceLinked="0"/>
            <c:spPr>
              <a:noFill/>
              <a:ln>
                <a:noFill/>
              </a:ln>
              <a:effectLst/>
            </c:spPr>
            <c:txPr>
              <a:bodyPr/>
              <a:lstStyle/>
              <a:p>
                <a:pPr>
                  <a:defRPr sz="800" b="1">
                    <a:solidFill>
                      <a:srgbClr val="000000"/>
                    </a:solidFill>
                    <a:latin typeface="Montserra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Industria de la Construcción</c:v>
                </c:pt>
                <c:pt idx="1">
                  <c:v>Industrias de la Transformación</c:v>
                </c:pt>
                <c:pt idx="2">
                  <c:v>Agricultura, Ganaderia, Silvicultura, Pesca y Caza</c:v>
                </c:pt>
                <c:pt idx="3">
                  <c:v>Comercio</c:v>
                </c:pt>
                <c:pt idx="4">
                  <c:v>Transportes y Comunicaciones</c:v>
                </c:pt>
                <c:pt idx="5">
                  <c:v>Servicios para Empresas, Personas y el Hogar</c:v>
                </c:pt>
                <c:pt idx="6">
                  <c:v>Servicios Sociales y Comunales</c:v>
                </c:pt>
                <c:pt idx="7">
                  <c:v>Ind Eléctrica y Captación y Suministro de Agua Potable</c:v>
                </c:pt>
                <c:pt idx="8">
                  <c:v>Industrias Extractivas</c:v>
                </c:pt>
              </c:strCache>
            </c:strRef>
          </c:cat>
          <c:val>
            <c:numRef>
              <c:f>Sheet1!$C$2:$C$10</c:f>
              <c:numCache>
                <c:formatCode>General</c:formatCode>
                <c:ptCount val="9"/>
                <c:pt idx="0">
                  <c:v>55137</c:v>
                </c:pt>
                <c:pt idx="1">
                  <c:v>399599</c:v>
                </c:pt>
                <c:pt idx="2">
                  <c:v>19999</c:v>
                </c:pt>
                <c:pt idx="3">
                  <c:v>140662</c:v>
                </c:pt>
                <c:pt idx="4">
                  <c:v>42712</c:v>
                </c:pt>
                <c:pt idx="5">
                  <c:v>107634</c:v>
                </c:pt>
                <c:pt idx="6">
                  <c:v>66110</c:v>
                </c:pt>
                <c:pt idx="7">
                  <c:v>6439</c:v>
                </c:pt>
                <c:pt idx="8">
                  <c:v>10067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949F-4357-84DC-9390B6ECE189}"/>
            </c:ext>
          </c:extLst>
        </c:ser>
        <c:dLbls>
          <c:showLegendKey val="0"/>
          <c:showVal val="0"/>
          <c:showCatName val="0"/>
          <c:showSerName val="0"/>
          <c:showPercent val="0"/>
          <c:showBubbleSize val="0"/>
        </c:dLbls>
        <c:gapWidth val="50"/>
        <c:axId val="-2068027336"/>
        <c:axId val="-2113994440"/>
      </c:barChart>
      <c:catAx>
        <c:axId val="-2068027336"/>
        <c:scaling>
          <c:orientation val="maxMin"/>
        </c:scaling>
        <c:delete val="0"/>
        <c:axPos val="l"/>
        <c:numFmt formatCode="General" sourceLinked="0"/>
        <c:majorTickMark val="out"/>
        <c:minorTickMark val="none"/>
        <c:tickLblPos val="nextTo"/>
        <c:txPr>
          <a:bodyPr/>
          <a:lstStyle/>
          <a:p>
            <a:pPr>
              <a:defRPr sz="700" b="1">
                <a:solidFill>
                  <a:srgbClr val="000000"/>
                </a:solidFill>
                <a:latin typeface="Montserrat"/>
              </a:defRPr>
            </a:pPr>
            <a:endParaRPr lang="es-MX"/>
          </a:p>
        </c:txPr>
        <c:crossAx val="-2113994440"/>
        <c:crosses val="autoZero"/>
        <c:auto val="1"/>
        <c:lblAlgn val="ctr"/>
        <c:lblOffset val="100"/>
        <c:noMultiLvlLbl val="0"/>
      </c:catAx>
      <c:valAx>
        <c:axId val="-2113994440"/>
        <c:scaling>
          <c:orientation val="minMax"/>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Total</c:v>
                </c:pt>
              </c:strCache>
            </c:strRef>
          </c:tx>
          <c:spPr>
            <a:solidFill>
              <a:srgbClr val="006455"/>
            </a:solidFill>
          </c:spPr>
          <c:invertIfNegative val="1"/>
          <c:dLbls>
            <c:numFmt formatCode="#,##0" sourceLinked="0"/>
            <c:spPr>
              <a:noFill/>
              <a:ln>
                <a:noFill/>
              </a:ln>
              <a:effectLst/>
            </c:spPr>
            <c:txPr>
              <a:bodyPr/>
              <a:lstStyle/>
              <a:p>
                <a:pPr>
                  <a:defRPr sz="1000" b="1">
                    <a:solidFill>
                      <a:srgbClr val="006455"/>
                    </a:solidFill>
                    <a:latin typeface="Montserra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776222</c:v>
                </c:pt>
                <c:pt idx="1">
                  <c:v>788960</c:v>
                </c:pt>
                <c:pt idx="2">
                  <c:v>747455</c:v>
                </c:pt>
                <c:pt idx="3">
                  <c:v>771792</c:v>
                </c:pt>
                <c:pt idx="4">
                  <c:v>814193</c:v>
                </c:pt>
                <c:pt idx="5">
                  <c:v>854579</c:v>
                </c:pt>
                <c:pt idx="6">
                  <c:v>878555</c:v>
                </c:pt>
                <c:pt idx="7">
                  <c:v>865109</c:v>
                </c:pt>
                <c:pt idx="8">
                  <c:v>848359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C63-441D-ABA3-CA199CE2561B}"/>
            </c:ext>
          </c:extLst>
        </c:ser>
        <c:dLbls>
          <c:showLegendKey val="0"/>
          <c:showVal val="0"/>
          <c:showCatName val="0"/>
          <c:showSerName val="0"/>
          <c:showPercent val="0"/>
          <c:showBubbleSize val="0"/>
        </c:dLbls>
        <c:gapWidth val="50"/>
        <c:axId val="-2068027336"/>
        <c:axId val="-2113994440"/>
      </c:barChart>
      <c:catAx>
        <c:axId val="-2068027336"/>
        <c:scaling>
          <c:orientation val="minMax"/>
        </c:scaling>
        <c:delete val="1"/>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19</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20</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24</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25</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70e87ffe7a_0_0: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g370e87ffe7a_0_0: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370e87ffe7a_0_0: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chart" Target="../charts/chart1.xml"/><Relationship Id="rId10" Type="http://schemas.openxmlformats.org/officeDocument/2006/relationships/image" Target="../media/image17.png"/><Relationship Id="rId4" Type="http://schemas.openxmlformats.org/officeDocument/2006/relationships/image" Target="../media/image12.png"/><Relationship Id="rId9"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e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chart" Target="../charts/chart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chart" Target="../charts/char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chart" Target="../charts/char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1.png"/><Relationship Id="rId7"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chart" Target="../charts/chart6.xml"/><Relationship Id="rId4" Type="http://schemas.openxmlformats.org/officeDocument/2006/relationships/image" Target="../media/image28.png"/><Relationship Id="rId9"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image" Target="../media/image38.png"/><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40.png"/><Relationship Id="rId5" Type="http://schemas.openxmlformats.org/officeDocument/2006/relationships/image" Target="../media/image37.png"/><Relationship Id="rId4" Type="http://schemas.openxmlformats.org/officeDocument/2006/relationships/image" Target="../media/image39.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chart" Target="../charts/chart7.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chart" Target="../charts/chart8.xml"/><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Coahuila</a:t>
            </a:r>
          </a:p>
        </p:txBody>
      </p:sp>
      <p:sp>
        <p:nvSpPr>
          <p:cNvPr id="70" name="TextBox 69"/>
          <p:cNvSpPr txBox="1"/>
          <p:nvPr/>
        </p:nvSpPr>
        <p:spPr>
          <a:xfrm>
            <a:off x="3176711" y="5472000"/>
            <a:ext cx="1418978" cy="553998"/>
          </a:xfrm>
          <a:prstGeom prst="rect">
            <a:avLst/>
          </a:prstGeom>
          <a:noFill/>
        </p:spPr>
        <p:txBody>
          <a:bodyPr wrap="none">
            <a:spAutoFit/>
          </a:bodyPr>
          <a:lstStyle/>
          <a:p>
            <a:pPr algn="ctr">
              <a:defRPr sz="1500" b="0">
                <a:solidFill>
                  <a:srgbClr val="7F7F7F"/>
                </a:solidFill>
                <a:latin typeface="Montserrat"/>
              </a:defRPr>
            </a:pPr>
            <a:r>
              <a:rPr err="1"/>
              <a:t>Ficha</a:t>
            </a:r>
            <a:r>
              <a:t> Estatal</a:t>
            </a:r>
          </a:p>
          <a:p>
            <a:pPr algn="ctr">
              <a:defRPr sz="1500" b="1">
                <a:solidFill>
                  <a:srgbClr val="7F7F7F"/>
                </a:solidFill>
                <a:latin typeface="Montserrat"/>
              </a:defRPr>
            </a:pPr>
            <a:r>
              <a:t>Ju</a:t>
            </a:r>
            <a:r>
              <a:rPr lang="es-MX"/>
              <a:t>lio</a:t>
            </a:r>
            <a:r>
              <a: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4" name="Google Shape;123;g3e905011f46_11_57">
            <a:extLst>
              <a:ext uri="{FF2B5EF4-FFF2-40B4-BE49-F238E27FC236}">
                <a16:creationId xmlns:a16="http://schemas.microsoft.com/office/drawing/2014/main" id="{8B1514A4-6E0D-C82C-C0A0-839EB7C221A0}"/>
              </a:ext>
            </a:extLst>
          </p:cNvPr>
          <p:cNvSpPr/>
          <p:nvPr/>
        </p:nvSpPr>
        <p:spPr>
          <a:xfrm>
            <a:off x="0" y="566113"/>
            <a:ext cx="7772400" cy="1771800"/>
          </a:xfrm>
          <a:prstGeom prst="rect">
            <a:avLst/>
          </a:prstGeom>
          <a:solidFill>
            <a:srgbClr val="D9D9D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 name="Google Shape;124;g3e905011f46_11_57">
            <a:extLst>
              <a:ext uri="{FF2B5EF4-FFF2-40B4-BE49-F238E27FC236}">
                <a16:creationId xmlns:a16="http://schemas.microsoft.com/office/drawing/2014/main" id="{5C576865-1B81-B085-924F-1232B063CF24}"/>
              </a:ext>
            </a:extLst>
          </p:cNvPr>
          <p:cNvSpPr txBox="1"/>
          <p:nvPr/>
        </p:nvSpPr>
        <p:spPr>
          <a:xfrm>
            <a:off x="2840412" y="674056"/>
            <a:ext cx="4198800" cy="1264868"/>
          </a:xfrm>
          <a:prstGeom prst="rect">
            <a:avLst/>
          </a:prstGeom>
          <a:noFill/>
          <a:ln>
            <a:noFill/>
          </a:ln>
        </p:spPr>
        <p:txBody>
          <a:bodyPr spcFirstLastPara="1" wrap="square" lIns="91425" tIns="91425" rIns="91425" bIns="91425" anchor="t" anchorCtr="0">
            <a:spAutoFit/>
          </a:bodyPr>
          <a:lstStyle/>
          <a:p>
            <a:pPr marL="0" marR="0" lvl="0" indent="0" algn="l" rtl="0">
              <a:lnSpc>
                <a:spcPct val="107916"/>
              </a:lnSpc>
              <a:spcBef>
                <a:spcPts val="0"/>
              </a:spcBef>
              <a:spcAft>
                <a:spcPts val="0"/>
              </a:spcAft>
              <a:buClr>
                <a:schemeClr val="dk1"/>
              </a:buClr>
              <a:buSzPts val="1100"/>
              <a:buFont typeface="Arial"/>
              <a:buNone/>
            </a:pPr>
            <a:endParaRPr sz="1000" b="0" i="0" u="none" strike="noStrike" cap="none">
              <a:solidFill>
                <a:schemeClr val="dk1"/>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r>
              <a:rPr lang="es" sz="1100" b="1" i="0" u="none" strike="noStrike" cap="none">
                <a:solidFill>
                  <a:srgbClr val="006858"/>
                </a:solidFill>
                <a:latin typeface="Montserrat"/>
                <a:ea typeface="Montserrat"/>
                <a:cs typeface="Montserrat"/>
                <a:sym typeface="Montserrat"/>
              </a:rPr>
              <a:t>Dr. José Valeriano Ibáñez De La Rosa</a:t>
            </a:r>
            <a:endParaRPr sz="1100" b="0" i="0" u="none" strike="noStrike" cap="none">
              <a:solidFill>
                <a:schemeClr val="dk1"/>
              </a:solidFill>
              <a:latin typeface="Montserrat"/>
              <a:ea typeface="Montserrat"/>
              <a:cs typeface="Montserrat"/>
              <a:sym typeface="Montserrat"/>
            </a:endParaRPr>
          </a:p>
          <a:p>
            <a:pPr marL="457200" marR="0" lvl="0" indent="-279400" algn="l" rtl="0">
              <a:lnSpc>
                <a:spcPct val="107916"/>
              </a:lnSpc>
              <a:spcBef>
                <a:spcPts val="0"/>
              </a:spcBef>
              <a:spcAft>
                <a:spcPts val="0"/>
              </a:spcAft>
              <a:buClr>
                <a:schemeClr val="dk1"/>
              </a:buClr>
              <a:buSzPts val="800"/>
              <a:buFont typeface="Montserrat"/>
              <a:buChar char="●"/>
            </a:pPr>
            <a:r>
              <a:rPr lang="es" sz="1100" b="0" i="0" u="none" strike="noStrike" cap="none">
                <a:solidFill>
                  <a:srgbClr val="000000"/>
                </a:solidFill>
                <a:latin typeface="Montserrat"/>
                <a:ea typeface="Montserrat"/>
                <a:cs typeface="Montserrat"/>
                <a:sym typeface="Montserrat"/>
              </a:rPr>
              <a:t>Especialidad: Cirugia General</a:t>
            </a:r>
            <a:endParaRPr sz="1100" b="0" i="0" u="none" strike="noStrike" cap="none">
              <a:solidFill>
                <a:srgbClr val="000000"/>
              </a:solidFill>
              <a:latin typeface="Arial"/>
              <a:ea typeface="Arial"/>
              <a:cs typeface="Arial"/>
              <a:sym typeface="Arial"/>
            </a:endParaRPr>
          </a:p>
          <a:p>
            <a:pPr marL="152400" marR="0" lvl="0" algn="l" rtl="0">
              <a:lnSpc>
                <a:spcPct val="107916"/>
              </a:lnSpc>
              <a:spcBef>
                <a:spcPts val="0"/>
              </a:spcBef>
              <a:spcAft>
                <a:spcPts val="0"/>
              </a:spcAft>
              <a:buClr>
                <a:srgbClr val="000000"/>
              </a:buClr>
              <a:buSzPts val="1200"/>
            </a:pPr>
            <a:r>
              <a:rPr lang="es" sz="1100" b="0" i="0" u="none" strike="noStrike" cap="none">
                <a:solidFill>
                  <a:srgbClr val="000000"/>
                </a:solidFill>
                <a:latin typeface="Montserrat"/>
                <a:ea typeface="Montserrat"/>
                <a:cs typeface="Montserrat"/>
                <a:sym typeface="Montserrat"/>
              </a:rPr>
              <a:t>        Licenciatura: </a:t>
            </a:r>
            <a:r>
              <a:rPr lang="es-MX" sz="1100" b="0" i="0" u="none" strike="noStrike" cap="none">
                <a:solidFill>
                  <a:srgbClr val="000000"/>
                </a:solidFill>
                <a:latin typeface="Montserrat"/>
                <a:ea typeface="Montserrat"/>
                <a:cs typeface="Montserrat"/>
                <a:sym typeface="Montserrat"/>
              </a:rPr>
              <a:t>Medicina General</a:t>
            </a:r>
            <a:endParaRPr sz="1100" b="0" i="0" u="none" strike="noStrike" cap="none">
              <a:solidFill>
                <a:srgbClr val="000000"/>
              </a:solidFill>
              <a:latin typeface="Montserrat"/>
              <a:ea typeface="Montserrat"/>
              <a:cs typeface="Montserrat"/>
              <a:sym typeface="Montserrat"/>
            </a:endParaRPr>
          </a:p>
          <a:p>
            <a:pPr marL="0" marR="0" lvl="0" indent="0" algn="l" rtl="0">
              <a:lnSpc>
                <a:spcPct val="107916"/>
              </a:lnSpc>
              <a:spcBef>
                <a:spcPts val="0"/>
              </a:spcBef>
              <a:spcAft>
                <a:spcPts val="0"/>
              </a:spcAft>
              <a:buClr>
                <a:srgbClr val="000000"/>
              </a:buClr>
              <a:buSzPts val="1200"/>
              <a:buFont typeface="Arial"/>
              <a:buNone/>
            </a:pPr>
            <a:endParaRPr sz="1100" b="0" i="0" u="none" strike="noStrike" cap="none">
              <a:solidFill>
                <a:srgbClr val="000000"/>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r>
              <a:rPr lang="es" sz="1100" b="1" i="0" u="none" strike="noStrike" cap="none">
                <a:solidFill>
                  <a:srgbClr val="006858"/>
                </a:solidFill>
                <a:latin typeface="Montserrat"/>
                <a:ea typeface="Montserrat"/>
                <a:cs typeface="Montserrat"/>
                <a:sym typeface="Montserrat"/>
              </a:rPr>
              <a:t>Inicio en el cargo: 16 de mayo de 2024</a:t>
            </a:r>
            <a:endParaRPr sz="1100" b="0" i="0" u="none" strike="noStrike" cap="none">
              <a:solidFill>
                <a:srgbClr val="000000"/>
              </a:solidFill>
              <a:latin typeface="Montserrat"/>
              <a:ea typeface="Montserrat"/>
              <a:cs typeface="Montserrat"/>
              <a:sym typeface="Montserrat"/>
            </a:endParaRPr>
          </a:p>
        </p:txBody>
      </p:sp>
      <p:pic>
        <p:nvPicPr>
          <p:cNvPr id="6" name="Google Shape;127;g3e905011f46_11_57">
            <a:extLst>
              <a:ext uri="{FF2B5EF4-FFF2-40B4-BE49-F238E27FC236}">
                <a16:creationId xmlns:a16="http://schemas.microsoft.com/office/drawing/2014/main" id="{F81DAA3E-FB00-928D-4DD7-A2DC57A2D423}"/>
              </a:ext>
            </a:extLst>
          </p:cNvPr>
          <p:cNvPicPr preferRelativeResize="0"/>
          <p:nvPr/>
        </p:nvPicPr>
        <p:blipFill rotWithShape="1">
          <a:blip r:embed="rId2">
            <a:alphaModFix/>
          </a:blip>
          <a:srcRect l="14410" t="8223" r="9747" b="20707"/>
          <a:stretch/>
        </p:blipFill>
        <p:spPr>
          <a:xfrm>
            <a:off x="887105" y="674056"/>
            <a:ext cx="1460310" cy="1553741"/>
          </a:xfrm>
          <a:prstGeom prst="rect">
            <a:avLst/>
          </a:prstGeom>
          <a:noFill/>
          <a:ln>
            <a:noFill/>
          </a:ln>
        </p:spPr>
      </p:pic>
      <p:graphicFrame>
        <p:nvGraphicFramePr>
          <p:cNvPr id="7" name="Google Shape;126;g3e905011f46_11_57">
            <a:extLst>
              <a:ext uri="{FF2B5EF4-FFF2-40B4-BE49-F238E27FC236}">
                <a16:creationId xmlns:a16="http://schemas.microsoft.com/office/drawing/2014/main" id="{0CD70531-579D-BD0A-9521-C53C50A98D0B}"/>
              </a:ext>
            </a:extLst>
          </p:cNvPr>
          <p:cNvGraphicFramePr/>
          <p:nvPr>
            <p:extLst>
              <p:ext uri="{D42A27DB-BD31-4B8C-83A1-F6EECF244321}">
                <p14:modId xmlns:p14="http://schemas.microsoft.com/office/powerpoint/2010/main" val="2577177011"/>
              </p:ext>
            </p:extLst>
          </p:nvPr>
        </p:nvGraphicFramePr>
        <p:xfrm>
          <a:off x="137904" y="2445856"/>
          <a:ext cx="6088024" cy="6903781"/>
        </p:xfrm>
        <a:graphic>
          <a:graphicData uri="http://schemas.openxmlformats.org/drawingml/2006/table">
            <a:tbl>
              <a:tblPr bandRow="1">
                <a:noFill/>
              </a:tblPr>
              <a:tblGrid>
                <a:gridCol w="2399208">
                  <a:extLst>
                    <a:ext uri="{9D8B030D-6E8A-4147-A177-3AD203B41FA5}">
                      <a16:colId xmlns:a16="http://schemas.microsoft.com/office/drawing/2014/main" val="20000"/>
                    </a:ext>
                  </a:extLst>
                </a:gridCol>
                <a:gridCol w="3688816">
                  <a:extLst>
                    <a:ext uri="{9D8B030D-6E8A-4147-A177-3AD203B41FA5}">
                      <a16:colId xmlns:a16="http://schemas.microsoft.com/office/drawing/2014/main" val="20001"/>
                    </a:ext>
                  </a:extLst>
                </a:gridCol>
              </a:tblGrid>
              <a:tr h="924940">
                <a:tc>
                  <a:txBody>
                    <a:bodyPr/>
                    <a:lstStyle/>
                    <a:p>
                      <a:pPr marL="0" marR="0" lvl="0" indent="0" algn="l" rtl="0">
                        <a:lnSpc>
                          <a:spcPct val="107916"/>
                        </a:lnSpc>
                        <a:spcBef>
                          <a:spcPts val="0"/>
                        </a:spcBef>
                        <a:spcAft>
                          <a:spcPts val="0"/>
                        </a:spcAft>
                        <a:buClr>
                          <a:srgbClr val="000000"/>
                        </a:buClr>
                        <a:buSzPts val="1000"/>
                        <a:buFont typeface="Arial"/>
                        <a:buNone/>
                      </a:pPr>
                      <a:r>
                        <a:rPr lang="es" sz="1100" u="none" strike="noStrike" cap="none">
                          <a:solidFill>
                            <a:srgbClr val="FFFFFF"/>
                          </a:solidFill>
                          <a:latin typeface="Montserrat"/>
                          <a:ea typeface="Montserrat"/>
                          <a:cs typeface="Montserrat"/>
                          <a:sym typeface="Montserrat"/>
                        </a:rPr>
                        <a:t>Jefatura de Servicios de Prestaciones Médicas</a:t>
                      </a:r>
                      <a:endParaRPr sz="1100" u="none" strike="noStrike" cap="none">
                        <a:solidFill>
                          <a:srgbClr val="FFFFFF"/>
                        </a:solidFill>
                        <a:latin typeface="Montserrat"/>
                        <a:ea typeface="Montserrat"/>
                        <a:cs typeface="Montserrat"/>
                        <a:sym typeface="Montserrat"/>
                      </a:endParaRPr>
                    </a:p>
                  </a:txBody>
                  <a:tcPr marL="95250" marR="95250" marT="0" marB="0" anchor="ctr">
                    <a:lnL w="12700" cap="flat" cmpd="sng" algn="ctr">
                      <a:noFill/>
                      <a:prstDash val="solid"/>
                      <a:round/>
                      <a:headEnd type="none" w="med" len="med"/>
                      <a:tailEnd type="none" w="med" len="med"/>
                    </a:lnL>
                    <a:lnR w="9525" cap="flat" cmpd="sng">
                      <a:solidFill>
                        <a:schemeClr val="lt1"/>
                      </a:solidFill>
                      <a:prstDash val="solid"/>
                      <a:round/>
                      <a:headEnd type="none" w="sm" len="sm"/>
                      <a:tailEnd type="none" w="sm" len="sm"/>
                    </a:lnR>
                    <a:lnT w="12700" cap="flat" cmpd="sng" algn="ctr">
                      <a:noFill/>
                      <a:prstDash val="solid"/>
                      <a:round/>
                      <a:headEnd type="none" w="med" len="med"/>
                      <a:tailEnd type="none" w="med" len="med"/>
                    </a:lnT>
                    <a:lnB w="9525" cap="flat" cmpd="sng">
                      <a:solidFill>
                        <a:schemeClr val="lt1"/>
                      </a:solidFill>
                      <a:prstDash val="solid"/>
                      <a:round/>
                      <a:headEnd type="none" w="sm" len="sm"/>
                      <a:tailEnd type="none" w="sm" len="sm"/>
                    </a:lnB>
                    <a:solidFill>
                      <a:srgbClr val="006858"/>
                    </a:solidFill>
                  </a:tcPr>
                </a:tc>
                <a:tc>
                  <a:txBody>
                    <a:bodyPr/>
                    <a:lstStyle/>
                    <a:p>
                      <a:pPr marL="0" marR="0" lvl="0" indent="0" algn="l" rtl="0">
                        <a:lnSpc>
                          <a:spcPct val="107916"/>
                        </a:lnSpc>
                        <a:spcBef>
                          <a:spcPts val="0"/>
                        </a:spcBef>
                        <a:spcAft>
                          <a:spcPts val="0"/>
                        </a:spcAft>
                        <a:buClr>
                          <a:srgbClr val="000000"/>
                        </a:buClr>
                        <a:buSzPts val="1000"/>
                        <a:buFont typeface="Arial"/>
                        <a:buNone/>
                      </a:pPr>
                      <a:r>
                        <a:rPr lang="es" sz="1100" b="1" u="none" strike="noStrike" cap="none">
                          <a:latin typeface="Montserrat"/>
                          <a:ea typeface="Montserrat"/>
                          <a:cs typeface="Montserrat"/>
                          <a:sym typeface="Montserrat"/>
                        </a:rPr>
                        <a:t>Dr. Ricardo Arturo Covarrubias del Bosque</a:t>
                      </a:r>
                      <a:endParaRPr sz="1100" u="none" strike="noStrike" cap="none"/>
                    </a:p>
                    <a:p>
                      <a:pPr marL="0" marR="0" lvl="0" indent="0" algn="l" rtl="0">
                        <a:lnSpc>
                          <a:spcPct val="107916"/>
                        </a:lnSpc>
                        <a:spcBef>
                          <a:spcPts val="0"/>
                        </a:spcBef>
                        <a:spcAft>
                          <a:spcPts val="0"/>
                        </a:spcAft>
                        <a:buClr>
                          <a:srgbClr val="000000"/>
                        </a:buClr>
                        <a:buSzPts val="1000"/>
                        <a:buFont typeface="Arial"/>
                        <a:buNone/>
                      </a:pPr>
                      <a:r>
                        <a:rPr lang="es" sz="1100" u="none" strike="noStrike" cap="none">
                          <a:latin typeface="Montserrat"/>
                          <a:ea typeface="Montserrat"/>
                          <a:cs typeface="Montserrat"/>
                          <a:sym typeface="Montserrat"/>
                        </a:rPr>
                        <a:t>Médico Especialista en Traumatólogía y Ortopedia</a:t>
                      </a:r>
                      <a:endParaRPr sz="1100" u="none" strike="noStrike" cap="none">
                        <a:latin typeface="Montserrat"/>
                        <a:ea typeface="Montserrat"/>
                        <a:cs typeface="Montserrat"/>
                        <a:sym typeface="Montserrat"/>
                      </a:endParaRPr>
                    </a:p>
                    <a:p>
                      <a:pPr marL="0" marR="0" lvl="0" indent="0" algn="l" rtl="0">
                        <a:lnSpc>
                          <a:spcPct val="107916"/>
                        </a:lnSpc>
                        <a:spcBef>
                          <a:spcPts val="0"/>
                        </a:spcBef>
                        <a:spcAft>
                          <a:spcPts val="0"/>
                        </a:spcAft>
                        <a:buClr>
                          <a:srgbClr val="000000"/>
                        </a:buClr>
                        <a:buSzPts val="1000"/>
                        <a:buFont typeface="Arial"/>
                        <a:buNone/>
                      </a:pPr>
                      <a:r>
                        <a:rPr lang="es" sz="1100" u="none" strike="noStrike" cap="none">
                          <a:latin typeface="Montserrat"/>
                          <a:ea typeface="Montserrat"/>
                          <a:cs typeface="Montserrat"/>
                          <a:sym typeface="Montserrat"/>
                        </a:rPr>
                        <a:t>Inicio en el cargo: 16 de enero de 2024</a:t>
                      </a:r>
                      <a:endParaRPr sz="1100" u="none" strike="noStrike" cap="none">
                        <a:latin typeface="Montserrat"/>
                        <a:ea typeface="Montserrat"/>
                        <a:cs typeface="Montserrat"/>
                        <a:sym typeface="Montserrat"/>
                      </a:endParaRPr>
                    </a:p>
                  </a:txBody>
                  <a:tcPr marL="95250" marR="95250" marT="0" marB="0" anchor="ctr">
                    <a:lnL w="9525" cap="flat" cmpd="sng">
                      <a:solidFill>
                        <a:schemeClr val="lt1"/>
                      </a:solidFill>
                      <a:prstDash val="solid"/>
                      <a:round/>
                      <a:headEnd type="none" w="sm" len="sm"/>
                      <a:tailEnd type="none" w="sm" len="sm"/>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789257">
                <a:tc>
                  <a:txBody>
                    <a:bodyPr/>
                    <a:lstStyle/>
                    <a:p>
                      <a:pPr marL="0" marR="0" lvl="0" indent="0" algn="l" rtl="0">
                        <a:lnSpc>
                          <a:spcPct val="107916"/>
                        </a:lnSpc>
                        <a:spcBef>
                          <a:spcPts val="0"/>
                        </a:spcBef>
                        <a:spcAft>
                          <a:spcPts val="0"/>
                        </a:spcAft>
                        <a:buClr>
                          <a:srgbClr val="000000"/>
                        </a:buClr>
                        <a:buSzPts val="1000"/>
                        <a:buFont typeface="Arial"/>
                        <a:buNone/>
                      </a:pPr>
                      <a:r>
                        <a:rPr lang="es" sz="1100" u="none" strike="noStrike" cap="none">
                          <a:solidFill>
                            <a:srgbClr val="FFFFFF"/>
                          </a:solidFill>
                          <a:latin typeface="Montserrat"/>
                          <a:ea typeface="Montserrat"/>
                          <a:cs typeface="Montserrat"/>
                          <a:sym typeface="Montserrat"/>
                        </a:rPr>
                        <a:t>Jefatura de Servicios de Salud en el Trabajo, Prestaciones Económicas y Sociales</a:t>
                      </a:r>
                      <a:endParaRPr sz="1100" u="none" strike="noStrike" cap="none">
                        <a:solidFill>
                          <a:srgbClr val="FFFFFF"/>
                        </a:solidFill>
                        <a:latin typeface="Montserrat"/>
                        <a:ea typeface="Montserrat"/>
                        <a:cs typeface="Montserrat"/>
                        <a:sym typeface="Montserrat"/>
                      </a:endParaRPr>
                    </a:p>
                  </a:txBody>
                  <a:tcPr marL="95250" marR="95250" marT="0" marB="0" anchor="ctr">
                    <a:lnL w="12700" cap="flat" cmpd="sng" algn="ctr">
                      <a:noFill/>
                      <a:prstDash val="solid"/>
                      <a:round/>
                      <a:headEnd type="none" w="med" len="med"/>
                      <a:tailEnd type="none" w="med" len="med"/>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0" marR="0" lvl="0" indent="0" algn="l" rtl="0">
                        <a:lnSpc>
                          <a:spcPct val="107916"/>
                        </a:lnSpc>
                        <a:spcBef>
                          <a:spcPts val="0"/>
                        </a:spcBef>
                        <a:spcAft>
                          <a:spcPts val="0"/>
                        </a:spcAft>
                        <a:buClr>
                          <a:srgbClr val="000000"/>
                        </a:buClr>
                        <a:buSzPts val="1000"/>
                        <a:buFont typeface="Arial"/>
                        <a:buNone/>
                      </a:pPr>
                      <a:r>
                        <a:rPr lang="es" sz="1100" b="1" u="none" strike="noStrike" cap="none">
                          <a:latin typeface="Montserrat"/>
                          <a:ea typeface="Montserrat"/>
                          <a:cs typeface="Montserrat"/>
                          <a:sym typeface="Montserrat"/>
                        </a:rPr>
                        <a:t>Lic. Dora Elizabeth Molina Guerrero</a:t>
                      </a:r>
                      <a:endParaRPr sz="1100" u="none" strike="noStrike" cap="none"/>
                    </a:p>
                    <a:p>
                      <a:pPr marL="0" marR="0" lvl="0" indent="0" algn="l" rtl="0">
                        <a:lnSpc>
                          <a:spcPct val="107916"/>
                        </a:lnSpc>
                        <a:spcBef>
                          <a:spcPts val="0"/>
                        </a:spcBef>
                        <a:spcAft>
                          <a:spcPts val="0"/>
                        </a:spcAft>
                        <a:buClr>
                          <a:srgbClr val="000000"/>
                        </a:buClr>
                        <a:buSzPts val="1000"/>
                        <a:buFont typeface="Arial"/>
                        <a:buNone/>
                      </a:pPr>
                      <a:r>
                        <a:rPr lang="es" sz="1100" u="none" strike="noStrike" cap="none">
                          <a:latin typeface="Montserrat"/>
                          <a:ea typeface="Montserrat"/>
                          <a:cs typeface="Montserrat"/>
                          <a:sym typeface="Montserrat"/>
                        </a:rPr>
                        <a:t>Licenciatura en Filosofía y Letras Españolas</a:t>
                      </a:r>
                      <a:endParaRPr sz="1100" u="none" strike="noStrike" cap="none"/>
                    </a:p>
                    <a:p>
                      <a:pPr marL="0" marR="0" lvl="0" indent="0" algn="l" rtl="0">
                        <a:lnSpc>
                          <a:spcPct val="107916"/>
                        </a:lnSpc>
                        <a:spcBef>
                          <a:spcPts val="0"/>
                        </a:spcBef>
                        <a:spcAft>
                          <a:spcPts val="0"/>
                        </a:spcAft>
                        <a:buClr>
                          <a:srgbClr val="000000"/>
                        </a:buClr>
                        <a:buSzPts val="1000"/>
                        <a:buFont typeface="Arial"/>
                        <a:buNone/>
                      </a:pPr>
                      <a:r>
                        <a:rPr lang="es" sz="1100" u="none" strike="noStrike" cap="none">
                          <a:latin typeface="Montserrat"/>
                          <a:ea typeface="Montserrat"/>
                          <a:cs typeface="Montserrat"/>
                          <a:sym typeface="Montserrat"/>
                        </a:rPr>
                        <a:t>Inicio en el cargo: 15 de octubre de 2019</a:t>
                      </a:r>
                      <a:endParaRPr sz="1100" u="none" strike="noStrike" cap="none"/>
                    </a:p>
                    <a:p>
                      <a:pPr marL="0" marR="0" lvl="0" indent="0" algn="l" rtl="0">
                        <a:lnSpc>
                          <a:spcPct val="107916"/>
                        </a:lnSpc>
                        <a:spcBef>
                          <a:spcPts val="0"/>
                        </a:spcBef>
                        <a:spcAft>
                          <a:spcPts val="0"/>
                        </a:spcAft>
                        <a:buClr>
                          <a:srgbClr val="000000"/>
                        </a:buClr>
                        <a:buSzPts val="1000"/>
                        <a:buFont typeface="Arial"/>
                        <a:buNone/>
                      </a:pPr>
                      <a:endParaRPr sz="1100" u="none" strike="noStrike" cap="none">
                        <a:latin typeface="Montserrat"/>
                        <a:ea typeface="Montserrat"/>
                        <a:cs typeface="Montserrat"/>
                        <a:sym typeface="Montserrat"/>
                      </a:endParaRPr>
                    </a:p>
                  </a:txBody>
                  <a:tcPr marL="95250" marR="95250" marT="0" marB="0" anchor="ctr">
                    <a:lnL w="9525" cap="flat" cmpd="sng">
                      <a:solidFill>
                        <a:schemeClr val="lt1"/>
                      </a:solidFill>
                      <a:prstDash val="solid"/>
                      <a:round/>
                      <a:headEnd type="none" w="sm" len="sm"/>
                      <a:tailEnd type="none" w="sm" len="sm"/>
                    </a:lnL>
                    <a:lnR w="12700" cap="flat" cmpd="sng" algn="ctr">
                      <a:noFill/>
                      <a:prstDash val="solid"/>
                      <a:round/>
                      <a:headEnd type="none" w="med" len="med"/>
                      <a:tailEnd type="none" w="med" len="med"/>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EEEE"/>
                    </a:solidFill>
                  </a:tcPr>
                </a:tc>
                <a:extLst>
                  <a:ext uri="{0D108BD9-81ED-4DB2-BD59-A6C34878D82A}">
                    <a16:rowId xmlns:a16="http://schemas.microsoft.com/office/drawing/2014/main" val="10001"/>
                  </a:ext>
                </a:extLst>
              </a:tr>
              <a:tr h="923828">
                <a:tc>
                  <a:txBody>
                    <a:bodyPr/>
                    <a:lstStyle/>
                    <a:p>
                      <a:pPr marL="0" marR="0" lvl="0" indent="0" algn="l" rtl="0">
                        <a:lnSpc>
                          <a:spcPct val="107916"/>
                        </a:lnSpc>
                        <a:spcBef>
                          <a:spcPts val="0"/>
                        </a:spcBef>
                        <a:spcAft>
                          <a:spcPts val="0"/>
                        </a:spcAft>
                        <a:buClr>
                          <a:srgbClr val="000000"/>
                        </a:buClr>
                        <a:buSzPts val="1000"/>
                        <a:buFont typeface="Arial"/>
                        <a:buNone/>
                      </a:pPr>
                      <a:r>
                        <a:rPr lang="es" sz="1100" u="none" strike="noStrike" cap="none">
                          <a:solidFill>
                            <a:srgbClr val="FFFFFF"/>
                          </a:solidFill>
                          <a:latin typeface="Montserrat"/>
                          <a:ea typeface="Montserrat"/>
                          <a:cs typeface="Montserrat"/>
                          <a:sym typeface="Montserrat"/>
                        </a:rPr>
                        <a:t>Jefatura de Servicios de Afiliación y Cobranza</a:t>
                      </a:r>
                      <a:endParaRPr sz="1100" u="none" strike="noStrike" cap="none">
                        <a:solidFill>
                          <a:srgbClr val="FFFFFF"/>
                        </a:solidFill>
                        <a:latin typeface="Montserrat"/>
                        <a:ea typeface="Montserrat"/>
                        <a:cs typeface="Montserrat"/>
                        <a:sym typeface="Montserrat"/>
                      </a:endParaRPr>
                    </a:p>
                  </a:txBody>
                  <a:tcPr marL="95250" marR="95250" marT="0" marB="0" anchor="ctr">
                    <a:lnL w="12700" cap="flat" cmpd="sng" algn="ctr">
                      <a:noFill/>
                      <a:prstDash val="solid"/>
                      <a:round/>
                      <a:headEnd type="none" w="med" len="med"/>
                      <a:tailEnd type="none" w="med" len="med"/>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0" marR="0" lvl="0" indent="0" algn="l" rtl="0">
                        <a:lnSpc>
                          <a:spcPct val="107916"/>
                        </a:lnSpc>
                        <a:spcBef>
                          <a:spcPts val="0"/>
                        </a:spcBef>
                        <a:spcAft>
                          <a:spcPts val="0"/>
                        </a:spcAft>
                        <a:buClr>
                          <a:srgbClr val="000000"/>
                        </a:buClr>
                        <a:buSzPts val="1000"/>
                        <a:buFont typeface="Arial"/>
                        <a:buNone/>
                      </a:pPr>
                      <a:endParaRPr lang="es" sz="1100" b="1" u="none" strike="noStrike" cap="none">
                        <a:latin typeface="Montserrat"/>
                        <a:ea typeface="Montserrat"/>
                        <a:cs typeface="Montserrat"/>
                        <a:sym typeface="Montserrat"/>
                      </a:endParaRPr>
                    </a:p>
                    <a:p>
                      <a:pPr marL="0" marR="0" lvl="0" indent="0" algn="l" rtl="0">
                        <a:lnSpc>
                          <a:spcPct val="107916"/>
                        </a:lnSpc>
                        <a:spcBef>
                          <a:spcPts val="0"/>
                        </a:spcBef>
                        <a:spcAft>
                          <a:spcPts val="0"/>
                        </a:spcAft>
                        <a:buClr>
                          <a:srgbClr val="000000"/>
                        </a:buClr>
                        <a:buSzPts val="1000"/>
                        <a:buFont typeface="Arial"/>
                        <a:buNone/>
                      </a:pPr>
                      <a:r>
                        <a:rPr lang="es" sz="1100" b="1" u="none" strike="noStrike" cap="none">
                          <a:latin typeface="Montserrat"/>
                          <a:ea typeface="Montserrat"/>
                          <a:cs typeface="Montserrat"/>
                          <a:sym typeface="Montserrat"/>
                        </a:rPr>
                        <a:t>C.P. Claudia Selene Casillas Fuentes (encargada)</a:t>
                      </a:r>
                      <a:endParaRPr sz="1100" u="none" strike="noStrike" cap="none"/>
                    </a:p>
                    <a:p>
                      <a:pPr marL="0" marR="0" lvl="0" indent="0" algn="l" rtl="0">
                        <a:lnSpc>
                          <a:spcPct val="107916"/>
                        </a:lnSpc>
                        <a:spcBef>
                          <a:spcPts val="0"/>
                        </a:spcBef>
                        <a:spcAft>
                          <a:spcPts val="0"/>
                        </a:spcAft>
                        <a:buClr>
                          <a:srgbClr val="000000"/>
                        </a:buClr>
                        <a:buSzPts val="1000"/>
                        <a:buFont typeface="Arial"/>
                        <a:buNone/>
                      </a:pPr>
                      <a:r>
                        <a:rPr lang="es" sz="1100" u="none" strike="noStrike" cap="none">
                          <a:latin typeface="Montserrat"/>
                          <a:ea typeface="Montserrat"/>
                          <a:cs typeface="Montserrat"/>
                          <a:sym typeface="Montserrat"/>
                        </a:rPr>
                        <a:t>Licenciatura en Contaduría Pública</a:t>
                      </a:r>
                      <a:endParaRPr sz="1100" u="none" strike="noStrike" cap="none"/>
                    </a:p>
                    <a:p>
                      <a:pPr marL="0" marR="0" lvl="0" indent="0" algn="l" rtl="0">
                        <a:lnSpc>
                          <a:spcPct val="107916"/>
                        </a:lnSpc>
                        <a:spcBef>
                          <a:spcPts val="0"/>
                        </a:spcBef>
                        <a:spcAft>
                          <a:spcPts val="0"/>
                        </a:spcAft>
                        <a:buClr>
                          <a:srgbClr val="000000"/>
                        </a:buClr>
                        <a:buSzPts val="1000"/>
                        <a:buFont typeface="Arial"/>
                        <a:buNone/>
                      </a:pPr>
                      <a:r>
                        <a:rPr lang="es" sz="1100" u="none" strike="noStrike" cap="none">
                          <a:latin typeface="Montserrat"/>
                          <a:ea typeface="Montserrat"/>
                          <a:cs typeface="Montserrat"/>
                          <a:sym typeface="Montserrat"/>
                        </a:rPr>
                        <a:t>Inicio en el cargo: 20 de abril de 2026</a:t>
                      </a:r>
                      <a:endParaRPr sz="1100" u="none" strike="noStrike" cap="none"/>
                    </a:p>
                    <a:p>
                      <a:pPr marL="0" marR="0" lvl="0" indent="0" algn="l" rtl="0">
                        <a:lnSpc>
                          <a:spcPct val="107916"/>
                        </a:lnSpc>
                        <a:spcBef>
                          <a:spcPts val="0"/>
                        </a:spcBef>
                        <a:spcAft>
                          <a:spcPts val="0"/>
                        </a:spcAft>
                        <a:buClr>
                          <a:srgbClr val="000000"/>
                        </a:buClr>
                        <a:buSzPts val="1000"/>
                        <a:buFont typeface="Arial"/>
                        <a:buNone/>
                      </a:pPr>
                      <a:endParaRPr sz="1100" u="none" strike="noStrike" cap="none">
                        <a:latin typeface="Montserrat"/>
                        <a:ea typeface="Montserrat"/>
                        <a:cs typeface="Montserrat"/>
                        <a:sym typeface="Montserrat"/>
                      </a:endParaRPr>
                    </a:p>
                  </a:txBody>
                  <a:tcPr marL="95250" marR="95250" marT="0" marB="0" anchor="ctr">
                    <a:lnL w="9525" cap="flat" cmpd="sng">
                      <a:solidFill>
                        <a:schemeClr val="lt1"/>
                      </a:solidFill>
                      <a:prstDash val="solid"/>
                      <a:round/>
                      <a:headEnd type="none" w="sm" len="sm"/>
                      <a:tailEnd type="none" w="sm" len="sm"/>
                    </a:lnL>
                    <a:lnR w="12700" cap="flat" cmpd="sng" algn="ctr">
                      <a:noFill/>
                      <a:prstDash val="solid"/>
                      <a:round/>
                      <a:headEnd type="none" w="med" len="med"/>
                      <a:tailEnd type="none" w="med" len="med"/>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789257">
                <a:tc>
                  <a:txBody>
                    <a:bodyPr/>
                    <a:lstStyle/>
                    <a:p>
                      <a:pPr marL="0" marR="0" lvl="0" indent="0" algn="l" rtl="0">
                        <a:lnSpc>
                          <a:spcPct val="107916"/>
                        </a:lnSpc>
                        <a:spcBef>
                          <a:spcPts val="0"/>
                        </a:spcBef>
                        <a:spcAft>
                          <a:spcPts val="0"/>
                        </a:spcAft>
                        <a:buClr>
                          <a:srgbClr val="000000"/>
                        </a:buClr>
                        <a:buSzPts val="1000"/>
                        <a:buFont typeface="Arial"/>
                        <a:buNone/>
                      </a:pPr>
                      <a:r>
                        <a:rPr lang="es" sz="1100" u="none" strike="noStrike" cap="none">
                          <a:solidFill>
                            <a:srgbClr val="FFFFFF"/>
                          </a:solidFill>
                          <a:latin typeface="Montserrat"/>
                          <a:ea typeface="Montserrat"/>
                          <a:cs typeface="Montserrat"/>
                          <a:sym typeface="Montserrat"/>
                        </a:rPr>
                        <a:t>Jefatura de Servicios de Desarrollo de Personal</a:t>
                      </a:r>
                      <a:endParaRPr sz="1100" u="none" strike="noStrike" cap="none">
                        <a:solidFill>
                          <a:srgbClr val="FFFFFF"/>
                        </a:solidFill>
                        <a:latin typeface="Montserrat"/>
                        <a:ea typeface="Montserrat"/>
                        <a:cs typeface="Montserrat"/>
                        <a:sym typeface="Montserrat"/>
                      </a:endParaRPr>
                    </a:p>
                  </a:txBody>
                  <a:tcPr marL="95250" marR="95250" marT="0" marB="0" anchor="ctr">
                    <a:lnL w="12700" cap="flat" cmpd="sng" algn="ctr">
                      <a:noFill/>
                      <a:prstDash val="solid"/>
                      <a:round/>
                      <a:headEnd type="none" w="med" len="med"/>
                      <a:tailEnd type="none" w="med" len="med"/>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0" marR="0" lvl="0" indent="0" algn="l" rtl="0">
                        <a:lnSpc>
                          <a:spcPct val="107916"/>
                        </a:lnSpc>
                        <a:spcBef>
                          <a:spcPts val="0"/>
                        </a:spcBef>
                        <a:spcAft>
                          <a:spcPts val="0"/>
                        </a:spcAft>
                        <a:buClr>
                          <a:srgbClr val="000000"/>
                        </a:buClr>
                        <a:buSzPts val="1000"/>
                        <a:buFont typeface="Arial"/>
                        <a:buNone/>
                      </a:pPr>
                      <a:r>
                        <a:rPr lang="es" sz="1100" b="1" u="none" strike="noStrike" cap="none">
                          <a:latin typeface="Montserrat"/>
                          <a:ea typeface="Montserrat"/>
                          <a:cs typeface="Montserrat"/>
                          <a:sym typeface="Montserrat"/>
                        </a:rPr>
                        <a:t>Lic. Jorge Luis Almaraz Aguirre</a:t>
                      </a:r>
                      <a:endParaRPr sz="1100" u="none" strike="noStrike" cap="none"/>
                    </a:p>
                    <a:p>
                      <a:pPr marL="0" marR="0" lvl="0" indent="0" algn="l" rtl="0">
                        <a:lnSpc>
                          <a:spcPct val="107916"/>
                        </a:lnSpc>
                        <a:spcBef>
                          <a:spcPts val="0"/>
                        </a:spcBef>
                        <a:spcAft>
                          <a:spcPts val="0"/>
                        </a:spcAft>
                        <a:buClr>
                          <a:srgbClr val="000000"/>
                        </a:buClr>
                        <a:buSzPts val="1000"/>
                        <a:buFont typeface="Arial"/>
                        <a:buNone/>
                      </a:pPr>
                      <a:r>
                        <a:rPr lang="es" sz="1100" u="none" strike="noStrike" cap="none">
                          <a:latin typeface="Montserrat"/>
                          <a:ea typeface="Montserrat"/>
                          <a:cs typeface="Montserrat"/>
                          <a:sym typeface="Montserrat"/>
                        </a:rPr>
                        <a:t>Licenciatura en Administración de Empresas</a:t>
                      </a:r>
                      <a:endParaRPr sz="1100" u="none" strike="noStrike" cap="none"/>
                    </a:p>
                    <a:p>
                      <a:pPr marL="0" marR="0" lvl="0" indent="0" algn="l" rtl="0">
                        <a:lnSpc>
                          <a:spcPct val="107916"/>
                        </a:lnSpc>
                        <a:spcBef>
                          <a:spcPts val="0"/>
                        </a:spcBef>
                        <a:spcAft>
                          <a:spcPts val="0"/>
                        </a:spcAft>
                        <a:buClr>
                          <a:srgbClr val="000000"/>
                        </a:buClr>
                        <a:buSzPts val="1000"/>
                        <a:buFont typeface="Arial"/>
                        <a:buNone/>
                      </a:pPr>
                      <a:r>
                        <a:rPr lang="es" sz="1100" u="none" strike="noStrike" cap="none">
                          <a:latin typeface="Montserrat"/>
                          <a:ea typeface="Montserrat"/>
                          <a:cs typeface="Montserrat"/>
                          <a:sym typeface="Montserrat"/>
                        </a:rPr>
                        <a:t>Inicio en el cargo: 01 de diciembre de 2022</a:t>
                      </a:r>
                      <a:endParaRPr sz="1100" u="none" strike="noStrike" cap="none"/>
                    </a:p>
                  </a:txBody>
                  <a:tcPr marL="95250" marR="95250" marT="0" marB="0" anchor="ctr">
                    <a:lnL w="9525" cap="flat" cmpd="sng">
                      <a:solidFill>
                        <a:schemeClr val="lt1"/>
                      </a:solidFill>
                      <a:prstDash val="solid"/>
                      <a:round/>
                      <a:headEnd type="none" w="sm" len="sm"/>
                      <a:tailEnd type="none" w="sm" len="sm"/>
                    </a:lnL>
                    <a:lnR w="12700" cap="flat" cmpd="sng" algn="ctr">
                      <a:noFill/>
                      <a:prstDash val="solid"/>
                      <a:round/>
                      <a:headEnd type="none" w="med" len="med"/>
                      <a:tailEnd type="none" w="med" len="med"/>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EEEE"/>
                    </a:solidFill>
                  </a:tcPr>
                </a:tc>
                <a:extLst>
                  <a:ext uri="{0D108BD9-81ED-4DB2-BD59-A6C34878D82A}">
                    <a16:rowId xmlns:a16="http://schemas.microsoft.com/office/drawing/2014/main" val="10003"/>
                  </a:ext>
                </a:extLst>
              </a:tr>
              <a:tr h="825405">
                <a:tc>
                  <a:txBody>
                    <a:bodyPr/>
                    <a:lstStyle/>
                    <a:p>
                      <a:pPr marL="0" marR="0" lvl="0" indent="0" algn="l" rtl="0">
                        <a:lnSpc>
                          <a:spcPct val="107916"/>
                        </a:lnSpc>
                        <a:spcBef>
                          <a:spcPts val="0"/>
                        </a:spcBef>
                        <a:spcAft>
                          <a:spcPts val="0"/>
                        </a:spcAft>
                        <a:buClr>
                          <a:srgbClr val="000000"/>
                        </a:buClr>
                        <a:buSzPts val="1000"/>
                        <a:buFont typeface="Arial"/>
                        <a:buNone/>
                      </a:pPr>
                      <a:r>
                        <a:rPr lang="es" sz="1100" u="none" strike="noStrike" cap="none">
                          <a:solidFill>
                            <a:srgbClr val="FFFFFF"/>
                          </a:solidFill>
                          <a:latin typeface="Montserrat"/>
                          <a:ea typeface="Montserrat"/>
                          <a:cs typeface="Montserrat"/>
                          <a:sym typeface="Montserrat"/>
                        </a:rPr>
                        <a:t>Jefatura de Servicios de Finanzas</a:t>
                      </a:r>
                      <a:endParaRPr sz="1100" u="none" strike="noStrike" cap="none">
                        <a:solidFill>
                          <a:srgbClr val="FFFFFF"/>
                        </a:solidFill>
                        <a:latin typeface="Montserrat"/>
                        <a:ea typeface="Montserrat"/>
                        <a:cs typeface="Montserrat"/>
                        <a:sym typeface="Montserrat"/>
                      </a:endParaRPr>
                    </a:p>
                  </a:txBody>
                  <a:tcPr marL="95250" marR="95250" marT="0" marB="0" anchor="ctr">
                    <a:lnL w="12700" cap="flat" cmpd="sng" algn="ctr">
                      <a:noFill/>
                      <a:prstDash val="solid"/>
                      <a:round/>
                      <a:headEnd type="none" w="med" len="med"/>
                      <a:tailEnd type="none" w="med" len="med"/>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0" marR="0" lvl="0" indent="0" algn="l" rtl="0">
                        <a:lnSpc>
                          <a:spcPct val="107916"/>
                        </a:lnSpc>
                        <a:spcBef>
                          <a:spcPts val="0"/>
                        </a:spcBef>
                        <a:spcAft>
                          <a:spcPts val="0"/>
                        </a:spcAft>
                        <a:buClr>
                          <a:srgbClr val="000000"/>
                        </a:buClr>
                        <a:buSzPts val="1000"/>
                        <a:buFont typeface="Arial"/>
                        <a:buNone/>
                      </a:pPr>
                      <a:r>
                        <a:rPr lang="es" sz="1100" b="1" u="none" strike="noStrike" cap="none">
                          <a:latin typeface="Montserrat"/>
                          <a:ea typeface="Montserrat"/>
                          <a:cs typeface="Montserrat"/>
                          <a:sym typeface="Montserrat"/>
                        </a:rPr>
                        <a:t>Lic. Rafael Eduardo Ayala Farías</a:t>
                      </a:r>
                      <a:endParaRPr sz="1100" u="none" strike="noStrike" cap="none"/>
                    </a:p>
                    <a:p>
                      <a:pPr marL="0" marR="0" lvl="0" indent="0" algn="l" rtl="0">
                        <a:lnSpc>
                          <a:spcPct val="107916"/>
                        </a:lnSpc>
                        <a:spcBef>
                          <a:spcPts val="0"/>
                        </a:spcBef>
                        <a:spcAft>
                          <a:spcPts val="0"/>
                        </a:spcAft>
                        <a:buClr>
                          <a:srgbClr val="000000"/>
                        </a:buClr>
                        <a:buSzPts val="1000"/>
                        <a:buFont typeface="Arial"/>
                        <a:buNone/>
                      </a:pPr>
                      <a:r>
                        <a:rPr lang="es" sz="1100" u="none" strike="noStrike" cap="none">
                          <a:latin typeface="Montserrat"/>
                          <a:ea typeface="Montserrat"/>
                          <a:cs typeface="Montserrat"/>
                          <a:sym typeface="Montserrat"/>
                        </a:rPr>
                        <a:t>Licenciatura en Mercadotecnia</a:t>
                      </a:r>
                      <a:endParaRPr sz="1100" u="none" strike="noStrike" cap="none"/>
                    </a:p>
                    <a:p>
                      <a:pPr marL="0" marR="0" lvl="0" indent="0" algn="l" rtl="0">
                        <a:lnSpc>
                          <a:spcPct val="107916"/>
                        </a:lnSpc>
                        <a:spcBef>
                          <a:spcPts val="0"/>
                        </a:spcBef>
                        <a:spcAft>
                          <a:spcPts val="0"/>
                        </a:spcAft>
                        <a:buClr>
                          <a:srgbClr val="000000"/>
                        </a:buClr>
                        <a:buSzPts val="1000"/>
                        <a:buFont typeface="Arial"/>
                        <a:buNone/>
                      </a:pPr>
                      <a:r>
                        <a:rPr lang="es" sz="1100" u="none" strike="noStrike" cap="none">
                          <a:latin typeface="Montserrat"/>
                          <a:ea typeface="Montserrat"/>
                          <a:cs typeface="Montserrat"/>
                          <a:sym typeface="Montserrat"/>
                        </a:rPr>
                        <a:t>Inicio en el cargo: 01 de julio del 2014</a:t>
                      </a:r>
                      <a:endParaRPr sz="1100" u="none" strike="noStrike" cap="none">
                        <a:latin typeface="Montserrat"/>
                        <a:ea typeface="Montserrat"/>
                        <a:cs typeface="Montserrat"/>
                        <a:sym typeface="Montserrat"/>
                      </a:endParaRPr>
                    </a:p>
                  </a:txBody>
                  <a:tcPr marL="95250" marR="95250" marT="0" marB="0" anchor="ctr">
                    <a:lnL w="9525" cap="flat" cmpd="sng">
                      <a:solidFill>
                        <a:schemeClr val="lt1"/>
                      </a:solidFill>
                      <a:prstDash val="solid"/>
                      <a:round/>
                      <a:headEnd type="none" w="sm" len="sm"/>
                      <a:tailEnd type="none" w="sm" len="sm"/>
                    </a:lnL>
                    <a:lnR w="12700" cap="flat" cmpd="sng" algn="ctr">
                      <a:noFill/>
                      <a:prstDash val="solid"/>
                      <a:round/>
                      <a:headEnd type="none" w="med" len="med"/>
                      <a:tailEnd type="none" w="med" len="med"/>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882125">
                <a:tc>
                  <a:txBody>
                    <a:bodyPr/>
                    <a:lstStyle/>
                    <a:p>
                      <a:pPr marL="0" marR="0" lvl="0" indent="0" algn="l" rtl="0">
                        <a:lnSpc>
                          <a:spcPct val="107916"/>
                        </a:lnSpc>
                        <a:spcBef>
                          <a:spcPts val="0"/>
                        </a:spcBef>
                        <a:spcAft>
                          <a:spcPts val="0"/>
                        </a:spcAft>
                        <a:buClr>
                          <a:srgbClr val="000000"/>
                        </a:buClr>
                        <a:buSzPts val="1000"/>
                        <a:buFont typeface="Arial"/>
                        <a:buNone/>
                      </a:pPr>
                      <a:r>
                        <a:rPr lang="es" sz="1100" u="none" strike="noStrike" cap="none">
                          <a:solidFill>
                            <a:srgbClr val="FFFFFF"/>
                          </a:solidFill>
                          <a:latin typeface="Montserrat"/>
                          <a:ea typeface="Montserrat"/>
                          <a:cs typeface="Montserrat"/>
                          <a:sym typeface="Montserrat"/>
                        </a:rPr>
                        <a:t>Jefatura de Servicios Administrativos</a:t>
                      </a:r>
                      <a:endParaRPr sz="1100" u="none" strike="noStrike" cap="none">
                        <a:solidFill>
                          <a:srgbClr val="FFFFFF"/>
                        </a:solidFill>
                        <a:latin typeface="Montserrat"/>
                        <a:ea typeface="Montserrat"/>
                        <a:cs typeface="Montserrat"/>
                        <a:sym typeface="Montserrat"/>
                      </a:endParaRPr>
                    </a:p>
                  </a:txBody>
                  <a:tcPr marL="95250" marR="95250" marT="0" marB="0" anchor="ctr">
                    <a:lnL w="12700" cap="flat" cmpd="sng" algn="ctr">
                      <a:noFill/>
                      <a:prstDash val="solid"/>
                      <a:round/>
                      <a:headEnd type="none" w="med" len="med"/>
                      <a:tailEnd type="none" w="med" len="med"/>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0" marR="0" lvl="0" indent="0" algn="l" rtl="0">
                        <a:lnSpc>
                          <a:spcPct val="107916"/>
                        </a:lnSpc>
                        <a:spcBef>
                          <a:spcPts val="0"/>
                        </a:spcBef>
                        <a:spcAft>
                          <a:spcPts val="0"/>
                        </a:spcAft>
                        <a:buClr>
                          <a:srgbClr val="000000"/>
                        </a:buClr>
                        <a:buSzPts val="1000"/>
                        <a:buFont typeface="Arial"/>
                        <a:buNone/>
                      </a:pPr>
                      <a:r>
                        <a:rPr lang="es" sz="1100" b="1" u="none" strike="noStrike" cap="none">
                          <a:latin typeface="Montserrat"/>
                          <a:ea typeface="Montserrat"/>
                          <a:cs typeface="Montserrat"/>
                          <a:sym typeface="Montserrat"/>
                        </a:rPr>
                        <a:t>Lic. Gerardo Hernández López Romo</a:t>
                      </a:r>
                      <a:endParaRPr sz="1100" u="none" strike="noStrike" cap="none"/>
                    </a:p>
                    <a:p>
                      <a:pPr marL="0" marR="0" lvl="0" indent="0" algn="l" rtl="0">
                        <a:lnSpc>
                          <a:spcPct val="107916"/>
                        </a:lnSpc>
                        <a:spcBef>
                          <a:spcPts val="0"/>
                        </a:spcBef>
                        <a:spcAft>
                          <a:spcPts val="0"/>
                        </a:spcAft>
                        <a:buClr>
                          <a:srgbClr val="000000"/>
                        </a:buClr>
                        <a:buSzPts val="1000"/>
                        <a:buFont typeface="Arial"/>
                        <a:buNone/>
                      </a:pPr>
                      <a:r>
                        <a:rPr lang="es" sz="1100" u="none" strike="noStrike" cap="none">
                          <a:latin typeface="Montserrat"/>
                          <a:ea typeface="Montserrat"/>
                          <a:cs typeface="Montserrat"/>
                          <a:sym typeface="Montserrat"/>
                        </a:rPr>
                        <a:t>Licenciatura en Comercio Internacional</a:t>
                      </a:r>
                      <a:endParaRPr sz="1100" u="none" strike="noStrike" cap="none"/>
                    </a:p>
                    <a:p>
                      <a:pPr marL="0" marR="0" lvl="0" indent="0" algn="l" rtl="0">
                        <a:lnSpc>
                          <a:spcPct val="107916"/>
                        </a:lnSpc>
                        <a:spcBef>
                          <a:spcPts val="0"/>
                        </a:spcBef>
                        <a:spcAft>
                          <a:spcPts val="0"/>
                        </a:spcAft>
                        <a:buClr>
                          <a:srgbClr val="000000"/>
                        </a:buClr>
                        <a:buSzPts val="1000"/>
                        <a:buFont typeface="Arial"/>
                        <a:buNone/>
                      </a:pPr>
                      <a:r>
                        <a:rPr lang="es" sz="1100" u="none" strike="noStrike" cap="none">
                          <a:latin typeface="Montserrat"/>
                          <a:ea typeface="Montserrat"/>
                          <a:cs typeface="Montserrat"/>
                          <a:sym typeface="Montserrat"/>
                        </a:rPr>
                        <a:t>Inicio en el cargo: 01 de octubre de 2019</a:t>
                      </a:r>
                      <a:endParaRPr sz="1100" u="none" strike="noStrike" cap="none"/>
                    </a:p>
                    <a:p>
                      <a:pPr marL="0" marR="0" lvl="0" indent="0" algn="l" rtl="0">
                        <a:lnSpc>
                          <a:spcPct val="107916"/>
                        </a:lnSpc>
                        <a:spcBef>
                          <a:spcPts val="0"/>
                        </a:spcBef>
                        <a:spcAft>
                          <a:spcPts val="0"/>
                        </a:spcAft>
                        <a:buClr>
                          <a:srgbClr val="000000"/>
                        </a:buClr>
                        <a:buSzPts val="1000"/>
                        <a:buFont typeface="Arial"/>
                        <a:buNone/>
                      </a:pPr>
                      <a:endParaRPr sz="1100" u="none" strike="noStrike" cap="none">
                        <a:latin typeface="Montserrat"/>
                        <a:ea typeface="Montserrat"/>
                        <a:cs typeface="Montserrat"/>
                        <a:sym typeface="Montserrat"/>
                      </a:endParaRPr>
                    </a:p>
                  </a:txBody>
                  <a:tcPr marL="95250" marR="95250" marT="0" marB="0" anchor="ctr">
                    <a:lnL w="9525" cap="flat" cmpd="sng">
                      <a:solidFill>
                        <a:schemeClr val="lt1"/>
                      </a:solidFill>
                      <a:prstDash val="solid"/>
                      <a:round/>
                      <a:headEnd type="none" w="sm" len="sm"/>
                      <a:tailEnd type="none" w="sm" len="sm"/>
                    </a:lnL>
                    <a:lnR w="12700" cap="flat" cmpd="sng" algn="ctr">
                      <a:noFill/>
                      <a:prstDash val="solid"/>
                      <a:round/>
                      <a:headEnd type="none" w="med" len="med"/>
                      <a:tailEnd type="none" w="med" len="med"/>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EEEE"/>
                    </a:solidFill>
                  </a:tcPr>
                </a:tc>
                <a:extLst>
                  <a:ext uri="{0D108BD9-81ED-4DB2-BD59-A6C34878D82A}">
                    <a16:rowId xmlns:a16="http://schemas.microsoft.com/office/drawing/2014/main" val="10005"/>
                  </a:ext>
                </a:extLst>
              </a:tr>
              <a:tr h="789257">
                <a:tc>
                  <a:txBody>
                    <a:bodyPr/>
                    <a:lstStyle/>
                    <a:p>
                      <a:pPr marL="0" marR="0" lvl="0" indent="0" algn="l" rtl="0">
                        <a:lnSpc>
                          <a:spcPct val="107916"/>
                        </a:lnSpc>
                        <a:spcBef>
                          <a:spcPts val="0"/>
                        </a:spcBef>
                        <a:spcAft>
                          <a:spcPts val="0"/>
                        </a:spcAft>
                        <a:buClr>
                          <a:srgbClr val="000000"/>
                        </a:buClr>
                        <a:buSzPts val="1000"/>
                        <a:buFont typeface="Arial"/>
                        <a:buNone/>
                      </a:pPr>
                      <a:r>
                        <a:rPr lang="es" sz="1100" u="none" strike="noStrike" cap="none">
                          <a:solidFill>
                            <a:srgbClr val="FFFFFF"/>
                          </a:solidFill>
                          <a:latin typeface="Montserrat"/>
                          <a:ea typeface="Montserrat"/>
                          <a:cs typeface="Montserrat"/>
                          <a:sym typeface="Montserrat"/>
                        </a:rPr>
                        <a:t>Jefatura de Servicios Jurídicos</a:t>
                      </a:r>
                      <a:endParaRPr sz="1100" u="none" strike="noStrike" cap="none">
                        <a:solidFill>
                          <a:srgbClr val="FFFFFF"/>
                        </a:solidFill>
                        <a:latin typeface="Montserrat"/>
                        <a:ea typeface="Montserrat"/>
                        <a:cs typeface="Montserrat"/>
                        <a:sym typeface="Montserrat"/>
                      </a:endParaRPr>
                    </a:p>
                  </a:txBody>
                  <a:tcPr marL="95250" marR="95250" marT="0" marB="0" anchor="ctr">
                    <a:lnL w="12700" cap="flat" cmpd="sng" algn="ctr">
                      <a:noFill/>
                      <a:prstDash val="solid"/>
                      <a:round/>
                      <a:headEnd type="none" w="med" len="med"/>
                      <a:tailEnd type="none" w="med" len="med"/>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0" marR="0" lvl="0" indent="0" algn="l" rtl="0">
                        <a:lnSpc>
                          <a:spcPct val="107916"/>
                        </a:lnSpc>
                        <a:spcBef>
                          <a:spcPts val="0"/>
                        </a:spcBef>
                        <a:spcAft>
                          <a:spcPts val="0"/>
                        </a:spcAft>
                        <a:buClr>
                          <a:srgbClr val="000000"/>
                        </a:buClr>
                        <a:buSzPts val="1000"/>
                        <a:buFont typeface="Arial"/>
                        <a:buNone/>
                      </a:pPr>
                      <a:endParaRPr lang="es" sz="500" b="1" u="none" strike="noStrike" cap="none">
                        <a:latin typeface="Montserrat"/>
                        <a:ea typeface="Montserrat"/>
                        <a:cs typeface="Montserrat"/>
                        <a:sym typeface="Montserrat"/>
                      </a:endParaRPr>
                    </a:p>
                    <a:p>
                      <a:pPr marL="0" marR="0" lvl="0" indent="0" algn="l" rtl="0">
                        <a:lnSpc>
                          <a:spcPct val="107916"/>
                        </a:lnSpc>
                        <a:spcBef>
                          <a:spcPts val="0"/>
                        </a:spcBef>
                        <a:spcAft>
                          <a:spcPts val="0"/>
                        </a:spcAft>
                        <a:buClr>
                          <a:srgbClr val="000000"/>
                        </a:buClr>
                        <a:buSzPts val="1000"/>
                        <a:buFont typeface="Arial"/>
                        <a:buNone/>
                      </a:pPr>
                      <a:r>
                        <a:rPr lang="es" sz="1100" b="1" u="none" strike="noStrike" cap="none">
                          <a:latin typeface="Montserrat"/>
                          <a:ea typeface="Montserrat"/>
                          <a:cs typeface="Montserrat"/>
                          <a:sym typeface="Montserrat"/>
                        </a:rPr>
                        <a:t>Lic. Armando Rico Almanza </a:t>
                      </a:r>
                      <a:endParaRPr sz="1100" u="none" strike="noStrike" cap="none"/>
                    </a:p>
                    <a:p>
                      <a:pPr marL="0" marR="0" lvl="0" indent="0" algn="l" rtl="0">
                        <a:lnSpc>
                          <a:spcPct val="107916"/>
                        </a:lnSpc>
                        <a:spcBef>
                          <a:spcPts val="0"/>
                        </a:spcBef>
                        <a:spcAft>
                          <a:spcPts val="0"/>
                        </a:spcAft>
                        <a:buClr>
                          <a:srgbClr val="000000"/>
                        </a:buClr>
                        <a:buSzPts val="1000"/>
                        <a:buFont typeface="Arial"/>
                        <a:buNone/>
                      </a:pPr>
                      <a:r>
                        <a:rPr lang="es" sz="1100" u="none" strike="noStrike" cap="none">
                          <a:latin typeface="Montserrat"/>
                          <a:ea typeface="Montserrat"/>
                          <a:cs typeface="Montserrat"/>
                          <a:sym typeface="Montserrat"/>
                        </a:rPr>
                        <a:t>Licenciatura en Derecho</a:t>
                      </a:r>
                      <a:endParaRPr sz="1100" u="none" strike="noStrike" cap="none"/>
                    </a:p>
                    <a:p>
                      <a:pPr marL="0" marR="0" lvl="0" indent="0" algn="l" rtl="0">
                        <a:lnSpc>
                          <a:spcPct val="107916"/>
                        </a:lnSpc>
                        <a:spcBef>
                          <a:spcPts val="0"/>
                        </a:spcBef>
                        <a:spcAft>
                          <a:spcPts val="0"/>
                        </a:spcAft>
                        <a:buClr>
                          <a:srgbClr val="000000"/>
                        </a:buClr>
                        <a:buSzPts val="1000"/>
                        <a:buFont typeface="Arial"/>
                        <a:buNone/>
                      </a:pPr>
                      <a:r>
                        <a:rPr lang="es" sz="1100" u="none" strike="noStrike" cap="none">
                          <a:latin typeface="Montserrat"/>
                          <a:ea typeface="Montserrat"/>
                          <a:cs typeface="Montserrat"/>
                          <a:sym typeface="Montserrat"/>
                        </a:rPr>
                        <a:t>Inicio en el cargo: 15 de octubre de 2019</a:t>
                      </a:r>
                      <a:endParaRPr sz="1100" u="none" strike="noStrike" cap="none">
                        <a:latin typeface="Montserrat"/>
                        <a:ea typeface="Montserrat"/>
                        <a:cs typeface="Montserrat"/>
                        <a:sym typeface="Montserrat"/>
                      </a:endParaRPr>
                    </a:p>
                  </a:txBody>
                  <a:tcPr marL="95250" marR="95250" marT="0" marB="0" anchor="ctr">
                    <a:lnL w="9525" cap="flat" cmpd="sng">
                      <a:solidFill>
                        <a:schemeClr val="lt1"/>
                      </a:solidFill>
                      <a:prstDash val="solid"/>
                      <a:round/>
                      <a:headEnd type="none" w="sm" len="sm"/>
                      <a:tailEnd type="none" w="sm" len="sm"/>
                    </a:lnL>
                    <a:lnR w="12700" cap="flat" cmpd="sng" algn="ctr">
                      <a:noFill/>
                      <a:prstDash val="solid"/>
                      <a:round/>
                      <a:headEnd type="none" w="med" len="med"/>
                      <a:tailEnd type="none" w="med" len="med"/>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6"/>
                  </a:ext>
                </a:extLst>
              </a:tr>
              <a:tr h="813313">
                <a:tc>
                  <a:txBody>
                    <a:bodyPr/>
                    <a:lstStyle/>
                    <a:p>
                      <a:pPr marL="0" marR="0" lvl="0" indent="0" algn="l" rtl="0">
                        <a:lnSpc>
                          <a:spcPct val="107916"/>
                        </a:lnSpc>
                        <a:spcBef>
                          <a:spcPts val="0"/>
                        </a:spcBef>
                        <a:spcAft>
                          <a:spcPts val="0"/>
                        </a:spcAft>
                        <a:buClr>
                          <a:schemeClr val="dk1"/>
                        </a:buClr>
                        <a:buSzPts val="1100"/>
                        <a:buFont typeface="Arial"/>
                        <a:buNone/>
                      </a:pPr>
                      <a:r>
                        <a:rPr lang="es" sz="1100" u="none" strike="noStrike" cap="none">
                          <a:solidFill>
                            <a:schemeClr val="lt1"/>
                          </a:solidFill>
                          <a:latin typeface="Montserrat"/>
                          <a:ea typeface="Montserrat"/>
                          <a:cs typeface="Montserrat"/>
                          <a:sym typeface="Montserrat"/>
                        </a:rPr>
                        <a:t>Secretario General de la Sección XII Coahuila</a:t>
                      </a:r>
                      <a:endParaRPr sz="1100" u="none" strike="noStrike" cap="none">
                        <a:solidFill>
                          <a:srgbClr val="FFFFFF"/>
                        </a:solidFill>
                        <a:latin typeface="Montserrat"/>
                        <a:ea typeface="Montserrat"/>
                        <a:cs typeface="Montserrat"/>
                        <a:sym typeface="Montserrat"/>
                      </a:endParaRPr>
                    </a:p>
                  </a:txBody>
                  <a:tcPr marL="95250" marR="95250" marT="0" marB="0" anchor="ctr">
                    <a:lnL w="12700" cap="flat" cmpd="sng" algn="ctr">
                      <a:noFill/>
                      <a:prstDash val="solid"/>
                      <a:round/>
                      <a:headEnd type="none" w="med" len="med"/>
                      <a:tailEnd type="none" w="med" len="med"/>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12700" cap="flat" cmpd="sng" algn="ctr">
                      <a:noFill/>
                      <a:prstDash val="solid"/>
                      <a:round/>
                      <a:headEnd type="none" w="med" len="med"/>
                      <a:tailEnd type="none" w="med" len="med"/>
                    </a:lnB>
                    <a:solidFill>
                      <a:srgbClr val="006858"/>
                    </a:solidFill>
                  </a:tcPr>
                </a:tc>
                <a:tc>
                  <a:txBody>
                    <a:bodyPr/>
                    <a:lstStyle/>
                    <a:p>
                      <a:pPr marL="0" marR="0" lvl="0" indent="0" algn="l" rtl="0">
                        <a:lnSpc>
                          <a:spcPct val="107916"/>
                        </a:lnSpc>
                        <a:spcBef>
                          <a:spcPts val="0"/>
                        </a:spcBef>
                        <a:spcAft>
                          <a:spcPts val="0"/>
                        </a:spcAft>
                        <a:buClr>
                          <a:srgbClr val="000000"/>
                        </a:buClr>
                        <a:buSzPts val="1000"/>
                        <a:buFont typeface="Arial"/>
                        <a:buNone/>
                      </a:pPr>
                      <a:endParaRPr lang="es" sz="700" b="1" u="none" strike="noStrike" cap="none">
                        <a:latin typeface="Montserrat"/>
                        <a:ea typeface="Montserrat"/>
                        <a:cs typeface="Montserrat"/>
                        <a:sym typeface="Montserrat"/>
                      </a:endParaRPr>
                    </a:p>
                    <a:p>
                      <a:pPr marL="0" marR="0" lvl="0" indent="0" algn="l" rtl="0">
                        <a:lnSpc>
                          <a:spcPct val="107916"/>
                        </a:lnSpc>
                        <a:spcBef>
                          <a:spcPts val="0"/>
                        </a:spcBef>
                        <a:spcAft>
                          <a:spcPts val="0"/>
                        </a:spcAft>
                        <a:buClr>
                          <a:srgbClr val="000000"/>
                        </a:buClr>
                        <a:buSzPts val="1000"/>
                        <a:buFont typeface="Arial"/>
                        <a:buNone/>
                      </a:pPr>
                      <a:r>
                        <a:rPr lang="es" sz="1100" b="1" u="none" strike="noStrike" cap="none">
                          <a:latin typeface="Montserrat"/>
                          <a:ea typeface="Montserrat"/>
                          <a:cs typeface="Montserrat"/>
                          <a:sym typeface="Montserrat"/>
                        </a:rPr>
                        <a:t>Dr. Anastacio Gomez Moreno</a:t>
                      </a:r>
                      <a:endParaRPr sz="1100" u="none" strike="noStrike" cap="none"/>
                    </a:p>
                    <a:p>
                      <a:pPr marL="0" marR="0" lvl="0" indent="0" algn="l" rtl="0">
                        <a:lnSpc>
                          <a:spcPct val="107916"/>
                        </a:lnSpc>
                        <a:spcBef>
                          <a:spcPts val="0"/>
                        </a:spcBef>
                        <a:spcAft>
                          <a:spcPts val="0"/>
                        </a:spcAft>
                        <a:buClr>
                          <a:srgbClr val="000000"/>
                        </a:buClr>
                        <a:buSzPts val="1000"/>
                        <a:buFont typeface="Arial"/>
                        <a:buNone/>
                      </a:pPr>
                      <a:r>
                        <a:rPr lang="es" sz="1100" u="none" strike="noStrike" cap="none">
                          <a:latin typeface="Montserrat"/>
                          <a:ea typeface="Montserrat"/>
                          <a:cs typeface="Montserrat"/>
                          <a:sym typeface="Montserrat"/>
                        </a:rPr>
                        <a:t>Licenciatura en Odontología con especialidad en Cirugía Maxilofacial</a:t>
                      </a:r>
                      <a:endParaRPr sz="1100" u="none" strike="noStrike" cap="none"/>
                    </a:p>
                    <a:p>
                      <a:pPr marL="0" marR="0" lvl="0" indent="0" algn="l" rtl="0">
                        <a:lnSpc>
                          <a:spcPct val="107916"/>
                        </a:lnSpc>
                        <a:spcBef>
                          <a:spcPts val="0"/>
                        </a:spcBef>
                        <a:spcAft>
                          <a:spcPts val="0"/>
                        </a:spcAft>
                        <a:buClr>
                          <a:srgbClr val="000000"/>
                        </a:buClr>
                        <a:buSzPts val="1000"/>
                        <a:buFont typeface="Arial"/>
                        <a:buNone/>
                      </a:pPr>
                      <a:r>
                        <a:rPr lang="es" sz="1100" u="none" strike="noStrike" cap="none">
                          <a:latin typeface="Montserrat"/>
                          <a:ea typeface="Montserrat"/>
                          <a:cs typeface="Montserrat"/>
                          <a:sym typeface="Montserrat"/>
                        </a:rPr>
                        <a:t>Inicio en el cargo: 12 de marzo 2026</a:t>
                      </a:r>
                      <a:endParaRPr sz="1100" u="none" strike="noStrike" cap="none"/>
                    </a:p>
                  </a:txBody>
                  <a:tcPr marL="95250" marR="95250" marT="0" marB="0" anchor="ctr">
                    <a:lnL w="9525" cap="flat" cmpd="sng">
                      <a:solidFill>
                        <a:schemeClr val="lt1"/>
                      </a:solidFill>
                      <a:prstDash val="solid"/>
                      <a:round/>
                      <a:headEnd type="none" w="sm" len="sm"/>
                      <a:tailEnd type="none" w="sm" len="sm"/>
                    </a:lnL>
                    <a:lnR w="12700" cap="flat" cmpd="sng" algn="ctr">
                      <a:noFill/>
                      <a:prstDash val="solid"/>
                      <a:round/>
                      <a:headEnd type="none" w="med" len="med"/>
                      <a:tailEnd type="none" w="med" len="med"/>
                    </a:lnR>
                    <a:lnT w="9525" cap="flat" cmpd="sng">
                      <a:solidFill>
                        <a:schemeClr val="lt1"/>
                      </a:solidFill>
                      <a:prstDash val="solid"/>
                      <a:round/>
                      <a:headEnd type="none" w="sm" len="sm"/>
                      <a:tailEnd type="none" w="sm" len="sm"/>
                    </a:lnT>
                    <a:lnB w="12700" cap="flat" cmpd="sng" algn="ctr">
                      <a:noFill/>
                      <a:prstDash val="solid"/>
                      <a:round/>
                      <a:headEnd type="none" w="med" len="med"/>
                      <a:tailEnd type="none" w="med" len="med"/>
                    </a:lnB>
                    <a:solidFill>
                      <a:schemeClr val="lt2"/>
                    </a:solidFill>
                  </a:tcPr>
                </a:tc>
                <a:extLst>
                  <a:ext uri="{0D108BD9-81ED-4DB2-BD59-A6C34878D82A}">
                    <a16:rowId xmlns:a16="http://schemas.microsoft.com/office/drawing/2014/main" val="10007"/>
                  </a:ext>
                </a:extLst>
              </a:tr>
            </a:tbl>
          </a:graphicData>
        </a:graphic>
      </p:graphicFrame>
      <p:pic>
        <p:nvPicPr>
          <p:cNvPr id="8" name="Imagen 7">
            <a:extLst>
              <a:ext uri="{FF2B5EF4-FFF2-40B4-BE49-F238E27FC236}">
                <a16:creationId xmlns:a16="http://schemas.microsoft.com/office/drawing/2014/main" id="{E4C1BCCE-C12C-A952-9F27-59A8C678B56E}"/>
              </a:ext>
            </a:extLst>
          </p:cNvPr>
          <p:cNvPicPr>
            <a:picLocks noChangeAspect="1"/>
          </p:cNvPicPr>
          <p:nvPr/>
        </p:nvPicPr>
        <p:blipFill>
          <a:blip r:embed="rId3"/>
          <a:stretch>
            <a:fillRect/>
          </a:stretch>
        </p:blipFill>
        <p:spPr>
          <a:xfrm>
            <a:off x="6257146" y="2445857"/>
            <a:ext cx="1291589" cy="897922"/>
          </a:xfrm>
          <a:prstGeom prst="rect">
            <a:avLst/>
          </a:prstGeom>
        </p:spPr>
      </p:pic>
      <p:pic>
        <p:nvPicPr>
          <p:cNvPr id="9" name="Imagen 8">
            <a:extLst>
              <a:ext uri="{FF2B5EF4-FFF2-40B4-BE49-F238E27FC236}">
                <a16:creationId xmlns:a16="http://schemas.microsoft.com/office/drawing/2014/main" id="{3D55CC7D-1482-204E-CB98-58F2420ABB04}"/>
              </a:ext>
            </a:extLst>
          </p:cNvPr>
          <p:cNvPicPr>
            <a:picLocks noChangeAspect="1"/>
          </p:cNvPicPr>
          <p:nvPr/>
        </p:nvPicPr>
        <p:blipFill>
          <a:blip r:embed="rId4"/>
          <a:stretch>
            <a:fillRect/>
          </a:stretch>
        </p:blipFill>
        <p:spPr>
          <a:xfrm>
            <a:off x="6238016" y="3359689"/>
            <a:ext cx="1310719" cy="831892"/>
          </a:xfrm>
          <a:prstGeom prst="rect">
            <a:avLst/>
          </a:prstGeom>
        </p:spPr>
      </p:pic>
      <p:pic>
        <p:nvPicPr>
          <p:cNvPr id="10" name="Imagen 9">
            <a:extLst>
              <a:ext uri="{FF2B5EF4-FFF2-40B4-BE49-F238E27FC236}">
                <a16:creationId xmlns:a16="http://schemas.microsoft.com/office/drawing/2014/main" id="{BB0690E6-0C91-3D18-A7C9-B1F305B17BC5}"/>
              </a:ext>
            </a:extLst>
          </p:cNvPr>
          <p:cNvPicPr>
            <a:picLocks noChangeAspect="1"/>
          </p:cNvPicPr>
          <p:nvPr/>
        </p:nvPicPr>
        <p:blipFill>
          <a:blip r:embed="rId5"/>
          <a:srcRect b="22454"/>
          <a:stretch>
            <a:fillRect/>
          </a:stretch>
        </p:blipFill>
        <p:spPr>
          <a:xfrm>
            <a:off x="6221635" y="4209867"/>
            <a:ext cx="1327100" cy="975020"/>
          </a:xfrm>
          <a:prstGeom prst="rect">
            <a:avLst/>
          </a:prstGeom>
        </p:spPr>
      </p:pic>
      <p:pic>
        <p:nvPicPr>
          <p:cNvPr id="11" name="Imagen 10">
            <a:extLst>
              <a:ext uri="{FF2B5EF4-FFF2-40B4-BE49-F238E27FC236}">
                <a16:creationId xmlns:a16="http://schemas.microsoft.com/office/drawing/2014/main" id="{255E8C56-E686-FC65-5782-A07D746B95E2}"/>
              </a:ext>
            </a:extLst>
          </p:cNvPr>
          <p:cNvPicPr>
            <a:picLocks noChangeAspect="1"/>
          </p:cNvPicPr>
          <p:nvPr/>
        </p:nvPicPr>
        <p:blipFill>
          <a:blip r:embed="rId6"/>
          <a:stretch>
            <a:fillRect/>
          </a:stretch>
        </p:blipFill>
        <p:spPr>
          <a:xfrm>
            <a:off x="6221635" y="5184887"/>
            <a:ext cx="1341423" cy="831892"/>
          </a:xfrm>
          <a:prstGeom prst="rect">
            <a:avLst/>
          </a:prstGeom>
        </p:spPr>
      </p:pic>
      <p:pic>
        <p:nvPicPr>
          <p:cNvPr id="12" name="Imagen 11">
            <a:extLst>
              <a:ext uri="{FF2B5EF4-FFF2-40B4-BE49-F238E27FC236}">
                <a16:creationId xmlns:a16="http://schemas.microsoft.com/office/drawing/2014/main" id="{D5A02590-B4B8-F3FD-92E4-2D968483A174}"/>
              </a:ext>
            </a:extLst>
          </p:cNvPr>
          <p:cNvPicPr>
            <a:picLocks noChangeAspect="1"/>
          </p:cNvPicPr>
          <p:nvPr/>
        </p:nvPicPr>
        <p:blipFill>
          <a:blip r:embed="rId7">
            <a:extLst>
              <a:ext uri="{28A0092B-C50C-407E-A947-70E740481C1C}">
                <a14:useLocalDpi xmlns:a14="http://schemas.microsoft.com/office/drawing/2010/main" val="0"/>
              </a:ext>
            </a:extLst>
          </a:blip>
          <a:srcRect l="36170" t="34042" r="37644" b="35319"/>
          <a:stretch>
            <a:fillRect/>
          </a:stretch>
        </p:blipFill>
        <p:spPr>
          <a:xfrm>
            <a:off x="6221636" y="6001346"/>
            <a:ext cx="1358317" cy="899598"/>
          </a:xfrm>
          <a:prstGeom prst="rect">
            <a:avLst/>
          </a:prstGeom>
        </p:spPr>
      </p:pic>
      <p:pic>
        <p:nvPicPr>
          <p:cNvPr id="13" name="Imagen 12">
            <a:extLst>
              <a:ext uri="{FF2B5EF4-FFF2-40B4-BE49-F238E27FC236}">
                <a16:creationId xmlns:a16="http://schemas.microsoft.com/office/drawing/2014/main" id="{2FCC1A91-9ACB-9470-D5F3-2D2CB6ADCDDE}"/>
              </a:ext>
            </a:extLst>
          </p:cNvPr>
          <p:cNvPicPr>
            <a:picLocks noChangeAspect="1"/>
          </p:cNvPicPr>
          <p:nvPr/>
        </p:nvPicPr>
        <p:blipFill>
          <a:blip r:embed="rId8"/>
          <a:stretch>
            <a:fillRect/>
          </a:stretch>
        </p:blipFill>
        <p:spPr>
          <a:xfrm>
            <a:off x="6224444" y="6900944"/>
            <a:ext cx="1385243" cy="884892"/>
          </a:xfrm>
          <a:prstGeom prst="rect">
            <a:avLst/>
          </a:prstGeom>
        </p:spPr>
      </p:pic>
      <p:pic>
        <p:nvPicPr>
          <p:cNvPr id="14" name="Imagen 13">
            <a:extLst>
              <a:ext uri="{FF2B5EF4-FFF2-40B4-BE49-F238E27FC236}">
                <a16:creationId xmlns:a16="http://schemas.microsoft.com/office/drawing/2014/main" id="{E638EFB5-2ACC-D3F2-6534-71EF16A443BD}"/>
              </a:ext>
            </a:extLst>
          </p:cNvPr>
          <p:cNvPicPr>
            <a:picLocks noChangeAspect="1"/>
          </p:cNvPicPr>
          <p:nvPr/>
        </p:nvPicPr>
        <p:blipFill>
          <a:blip r:embed="rId7">
            <a:extLst>
              <a:ext uri="{28A0092B-C50C-407E-A947-70E740481C1C}">
                <a14:useLocalDpi xmlns:a14="http://schemas.microsoft.com/office/drawing/2010/main" val="0"/>
              </a:ext>
            </a:extLst>
          </a:blip>
          <a:srcRect l="3385" t="65419" r="69239" b="2418"/>
          <a:stretch>
            <a:fillRect/>
          </a:stretch>
        </p:blipFill>
        <p:spPr>
          <a:xfrm>
            <a:off x="6224444" y="7768231"/>
            <a:ext cx="1410052" cy="807125"/>
          </a:xfrm>
          <a:prstGeom prst="rect">
            <a:avLst/>
          </a:prstGeom>
        </p:spPr>
      </p:pic>
      <p:pic>
        <p:nvPicPr>
          <p:cNvPr id="15" name="Imagen 14">
            <a:extLst>
              <a:ext uri="{FF2B5EF4-FFF2-40B4-BE49-F238E27FC236}">
                <a16:creationId xmlns:a16="http://schemas.microsoft.com/office/drawing/2014/main" id="{5850DB1B-2C2E-DBF8-47E4-971C0502C85B}"/>
              </a:ext>
            </a:extLst>
          </p:cNvPr>
          <p:cNvPicPr>
            <a:picLocks noChangeAspect="1"/>
          </p:cNvPicPr>
          <p:nvPr/>
        </p:nvPicPr>
        <p:blipFill>
          <a:blip r:embed="rId9"/>
          <a:srcRect t="59642" b="18535"/>
          <a:stretch>
            <a:fillRect/>
          </a:stretch>
        </p:blipFill>
        <p:spPr>
          <a:xfrm>
            <a:off x="6224444" y="8552379"/>
            <a:ext cx="1410052" cy="905201"/>
          </a:xfrm>
          <a:prstGeom prst="rect">
            <a:avLst/>
          </a:prstGeom>
        </p:spPr>
      </p:pic>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a:solidFill>
                  <a:srgbClr val="006455"/>
                </a:solidFill>
                <a:latin typeface="Noto Sans"/>
                <a:ea typeface="Noto Sans"/>
                <a:cs typeface="Noto Sans"/>
                <a:sym typeface="Noto Sans"/>
              </a:rPr>
              <a:t>Personas Trabajadoras Independientes</a:t>
            </a:r>
            <a:endParaRPr sz="700" b="1" i="0" u="none" strike="noStrike" cap="none">
              <a:solidFill>
                <a:srgbClr val="006455"/>
              </a:solidFill>
              <a:latin typeface="Noto Sans"/>
              <a:ea typeface="Noto Sans"/>
              <a:cs typeface="Noto Sans"/>
              <a:sym typeface="Noto Sans"/>
            </a:endParaRPr>
          </a:p>
        </p:txBody>
      </p:sp>
      <p:sp>
        <p:nvSpPr>
          <p:cNvPr id="114" name="TextBox 113"/>
          <p:cNvSpPr txBox="1"/>
          <p:nvPr/>
        </p:nvSpPr>
        <p:spPr>
          <a:xfrm>
            <a:off x="149400" y="513487"/>
            <a:ext cx="7473600" cy="385200"/>
          </a:xfrm>
          <a:prstGeom prst="rect">
            <a:avLst/>
          </a:prstGeom>
          <a:noFill/>
        </p:spPr>
        <p:txBody>
          <a:bodyPr wrap="none">
            <a:spAutoFit/>
          </a:bodyPr>
          <a:lstStyle/>
          <a:p>
            <a:pPr algn="l">
              <a:defRPr sz="2000" b="1">
                <a:solidFill>
                  <a:srgbClr val="BC955C"/>
                </a:solidFill>
                <a:latin typeface="Montserrat"/>
              </a:defRPr>
            </a:pPr>
            <a:r>
              <a:t>IMSS </a:t>
            </a:r>
            <a:r>
              <a:rPr err="1"/>
              <a:t>atiende</a:t>
            </a:r>
            <a:r>
              <a:t> 80% de la población (</a:t>
            </a:r>
            <a:r>
              <a:rPr err="1"/>
              <a:t>incluye</a:t>
            </a:r>
            <a:r>
              <a:t> COPLAMAR)</a:t>
            </a:r>
          </a:p>
        </p:txBody>
      </p:sp>
      <p:cxnSp>
        <p:nvCxnSpPr>
          <p:cNvPr id="115" name="Connector 114"/>
          <p:cNvCxnSpPr/>
          <p:nvPr/>
        </p:nvCxnSpPr>
        <p:spPr>
          <a:xfrm>
            <a:off x="123701" y="867434"/>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161999" y="4509434"/>
            <a:ext cx="5864400" cy="360000"/>
          </a:xfrm>
          <a:prstGeom prst="rect">
            <a:avLst/>
          </a:prstGeom>
          <a:noFill/>
        </p:spPr>
        <p:txBody>
          <a:bodyPr wrap="square">
            <a:spAutoFit/>
          </a:bodyPr>
          <a:lstStyle/>
          <a:p>
            <a:pPr algn="l">
              <a:defRPr sz="800">
                <a:solidFill>
                  <a:srgbClr val="000000"/>
                </a:solidFill>
                <a:latin typeface="Montserrat"/>
              </a:defRPr>
            </a:pPr>
            <a:r>
              <a:t>Fuente: CONAPO, </a:t>
            </a:r>
            <a:r>
              <a:rPr err="1"/>
              <a:t>proyección</a:t>
            </a:r>
            <a:r>
              <a:t> a </a:t>
            </a:r>
            <a:r>
              <a:rPr err="1"/>
              <a:t>enero</a:t>
            </a:r>
            <a:r>
              <a:t> de 2026.</a:t>
            </a:r>
          </a:p>
        </p:txBody>
      </p:sp>
      <p:graphicFrame>
        <p:nvGraphicFramePr>
          <p:cNvPr id="117" name="Chart 116"/>
          <p:cNvGraphicFramePr>
            <a:graphicFrameLocks noGrp="1"/>
          </p:cNvGraphicFramePr>
          <p:nvPr>
            <p:extLst>
              <p:ext uri="{D42A27DB-BD31-4B8C-83A1-F6EECF244321}">
                <p14:modId xmlns:p14="http://schemas.microsoft.com/office/powerpoint/2010/main" val="1381869977"/>
              </p:ext>
            </p:extLst>
          </p:nvPr>
        </p:nvGraphicFramePr>
        <p:xfrm>
          <a:off x="2240501" y="1370993"/>
          <a:ext cx="3240000" cy="3240000"/>
        </p:xfrm>
        <a:graphic>
          <a:graphicData uri="http://schemas.openxmlformats.org/drawingml/2006/chart">
            <c:chart xmlns:c="http://schemas.openxmlformats.org/drawingml/2006/chart" xmlns:r="http://schemas.openxmlformats.org/officeDocument/2006/relationships" r:id="rId5"/>
          </a:graphicData>
        </a:graphic>
      </p:graphicFrame>
      <p:sp>
        <p:nvSpPr>
          <p:cNvPr id="118" name="TextBox 117"/>
          <p:cNvSpPr txBox="1"/>
          <p:nvPr/>
        </p:nvSpPr>
        <p:spPr>
          <a:xfrm>
            <a:off x="6551538" y="2562240"/>
            <a:ext cx="1188000" cy="503999"/>
          </a:xfrm>
          <a:prstGeom prst="rect">
            <a:avLst/>
          </a:prstGeom>
          <a:noFill/>
        </p:spPr>
        <p:txBody>
          <a:bodyPr wrap="none"/>
          <a:lstStyle/>
          <a:p>
            <a:pPr algn="l">
              <a:defRPr sz="1400" b="1">
                <a:solidFill>
                  <a:srgbClr val="595959"/>
                </a:solidFill>
                <a:latin typeface="Montserrat"/>
              </a:defRPr>
            </a:pPr>
            <a:r>
              <a:t>2,497,371</a:t>
            </a:r>
            <a:br>
              <a:rPr/>
            </a:br>
            <a:r>
              <a:t>73%</a:t>
            </a:r>
          </a:p>
        </p:txBody>
      </p:sp>
      <p:pic>
        <p:nvPicPr>
          <p:cNvPr id="119" name="Picture 118" descr="imss.png"/>
          <p:cNvPicPr>
            <a:picLocks noChangeAspect="1"/>
          </p:cNvPicPr>
          <p:nvPr/>
        </p:nvPicPr>
        <p:blipFill>
          <a:blip r:embed="rId6"/>
          <a:stretch>
            <a:fillRect/>
          </a:stretch>
        </p:blipFill>
        <p:spPr>
          <a:xfrm>
            <a:off x="6123753" y="2623649"/>
            <a:ext cx="377265" cy="468000"/>
          </a:xfrm>
          <a:prstGeom prst="rect">
            <a:avLst/>
          </a:prstGeom>
        </p:spPr>
      </p:pic>
      <p:sp>
        <p:nvSpPr>
          <p:cNvPr id="120" name="Rectangle 119"/>
          <p:cNvSpPr/>
          <p:nvPr/>
        </p:nvSpPr>
        <p:spPr>
          <a:xfrm>
            <a:off x="5618527" y="2857649"/>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634314" y="3203406"/>
            <a:ext cx="1188000" cy="503999"/>
          </a:xfrm>
          <a:prstGeom prst="rect">
            <a:avLst/>
          </a:prstGeom>
          <a:noFill/>
        </p:spPr>
        <p:txBody>
          <a:bodyPr wrap="none"/>
          <a:lstStyle/>
          <a:p>
            <a:pPr algn="l">
              <a:defRPr sz="1400" b="1">
                <a:solidFill>
                  <a:srgbClr val="595959"/>
                </a:solidFill>
                <a:latin typeface="Montserrat"/>
              </a:defRPr>
            </a:pPr>
            <a:r>
              <a:t>257,089</a:t>
            </a:r>
            <a:br>
              <a:rPr/>
            </a:br>
            <a:r>
              <a:t>7%</a:t>
            </a:r>
          </a:p>
        </p:txBody>
      </p:sp>
      <p:pic>
        <p:nvPicPr>
          <p:cNvPr id="122" name="Picture 121" descr="imss_coplamar.png"/>
          <p:cNvPicPr>
            <a:picLocks noChangeAspect="1"/>
          </p:cNvPicPr>
          <p:nvPr/>
        </p:nvPicPr>
        <p:blipFill>
          <a:blip r:embed="rId7"/>
          <a:stretch>
            <a:fillRect/>
          </a:stretch>
        </p:blipFill>
        <p:spPr>
          <a:xfrm>
            <a:off x="1475343" y="3102270"/>
            <a:ext cx="586036" cy="468000"/>
          </a:xfrm>
          <a:prstGeom prst="rect">
            <a:avLst/>
          </a:prstGeom>
        </p:spPr>
      </p:pic>
      <p:sp>
        <p:nvSpPr>
          <p:cNvPr id="123" name="Rectangle 122"/>
          <p:cNvSpPr/>
          <p:nvPr/>
        </p:nvSpPr>
        <p:spPr>
          <a:xfrm>
            <a:off x="2144540" y="3053106"/>
            <a:ext cx="122400" cy="122400"/>
          </a:xfrm>
          <a:prstGeom prst="rect">
            <a:avLst/>
          </a:prstGeom>
          <a:solidFill>
            <a:schemeClr val="bg2">
              <a:lumMod val="20000"/>
              <a:lumOff val="80000"/>
            </a:schemeClr>
          </a:solidFill>
          <a:ln>
            <a:solidFill>
              <a:schemeClr val="bg2">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1253185" y="1919240"/>
            <a:ext cx="1188000" cy="503999"/>
          </a:xfrm>
          <a:prstGeom prst="rect">
            <a:avLst/>
          </a:prstGeom>
          <a:noFill/>
        </p:spPr>
        <p:txBody>
          <a:bodyPr wrap="none"/>
          <a:lstStyle/>
          <a:p>
            <a:pPr algn="l">
              <a:defRPr sz="1400" b="1">
                <a:solidFill>
                  <a:srgbClr val="595959"/>
                </a:solidFill>
                <a:latin typeface="Montserrat"/>
              </a:defRPr>
            </a:pPr>
            <a:r>
              <a:t>407,839</a:t>
            </a:r>
            <a:br>
              <a:rPr/>
            </a:br>
            <a:r>
              <a:t>12%</a:t>
            </a:r>
          </a:p>
        </p:txBody>
      </p:sp>
      <p:pic>
        <p:nvPicPr>
          <p:cNvPr id="125" name="Picture 124" descr="issste.png"/>
          <p:cNvPicPr>
            <a:picLocks noChangeAspect="1"/>
          </p:cNvPicPr>
          <p:nvPr/>
        </p:nvPicPr>
        <p:blipFill>
          <a:blip r:embed="rId8"/>
          <a:stretch>
            <a:fillRect/>
          </a:stretch>
        </p:blipFill>
        <p:spPr>
          <a:xfrm>
            <a:off x="634314" y="2393056"/>
            <a:ext cx="1437091" cy="496780"/>
          </a:xfrm>
          <a:prstGeom prst="rect">
            <a:avLst/>
          </a:prstGeom>
        </p:spPr>
      </p:pic>
      <p:sp>
        <p:nvSpPr>
          <p:cNvPr id="126" name="Rectangle 125"/>
          <p:cNvSpPr/>
          <p:nvPr/>
        </p:nvSpPr>
        <p:spPr>
          <a:xfrm>
            <a:off x="2318785" y="217124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1597249" y="1138365"/>
            <a:ext cx="1188000" cy="503999"/>
          </a:xfrm>
          <a:prstGeom prst="rect">
            <a:avLst/>
          </a:prstGeom>
          <a:noFill/>
        </p:spPr>
        <p:txBody>
          <a:bodyPr wrap="none"/>
          <a:lstStyle/>
          <a:p>
            <a:pPr algn="r">
              <a:defRPr sz="1400" b="1">
                <a:solidFill>
                  <a:srgbClr val="595959"/>
                </a:solidFill>
                <a:latin typeface="Montserrat"/>
              </a:defRPr>
            </a:pPr>
            <a:r>
              <a:t>272,190</a:t>
            </a:r>
            <a:br>
              <a:rPr/>
            </a:br>
            <a:r>
              <a:t>8%</a:t>
            </a:r>
          </a:p>
        </p:txBody>
      </p:sp>
      <p:pic>
        <p:nvPicPr>
          <p:cNvPr id="128" name="Picture 127" descr="05.png"/>
          <p:cNvPicPr>
            <a:picLocks noChangeAspect="1"/>
          </p:cNvPicPr>
          <p:nvPr/>
        </p:nvPicPr>
        <p:blipFill>
          <a:blip r:embed="rId9"/>
          <a:stretch>
            <a:fillRect/>
          </a:stretch>
        </p:blipFill>
        <p:spPr>
          <a:xfrm>
            <a:off x="883674" y="1161996"/>
            <a:ext cx="1019887" cy="434374"/>
          </a:xfrm>
          <a:prstGeom prst="rect">
            <a:avLst/>
          </a:prstGeom>
        </p:spPr>
      </p:pic>
      <p:sp>
        <p:nvSpPr>
          <p:cNvPr id="129" name="Rectangle 128"/>
          <p:cNvSpPr/>
          <p:nvPr/>
        </p:nvSpPr>
        <p:spPr>
          <a:xfrm>
            <a:off x="2919671" y="1258811"/>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6055877" y="1404356"/>
            <a:ext cx="1175299" cy="503999"/>
          </a:xfrm>
          <a:prstGeom prst="rect">
            <a:avLst/>
          </a:prstGeom>
          <a:noFill/>
        </p:spPr>
        <p:txBody>
          <a:bodyPr wrap="none"/>
          <a:lstStyle/>
          <a:p>
            <a:pPr algn="r">
              <a:defRPr sz="1400" b="1">
                <a:solidFill>
                  <a:srgbClr val="595959"/>
                </a:solidFill>
                <a:latin typeface="Montserrat"/>
              </a:defRPr>
            </a:pPr>
            <a:r>
              <a:rPr err="1"/>
              <a:t>Otros</a:t>
            </a:r>
            <a:r>
              <a:rPr lang="es-MX"/>
              <a:t>     </a:t>
            </a:r>
            <a:r>
              <a:t>5,896</a:t>
            </a:r>
            <a:br>
              <a:rPr/>
            </a:br>
            <a:r>
              <a:t>0.17%</a:t>
            </a:r>
          </a:p>
        </p:txBody>
      </p:sp>
      <p:pic>
        <p:nvPicPr>
          <p:cNvPr id="131" name="Picture 130" descr="otros.png"/>
          <p:cNvPicPr>
            <a:picLocks noChangeAspect="1"/>
          </p:cNvPicPr>
          <p:nvPr/>
        </p:nvPicPr>
        <p:blipFill>
          <a:blip r:embed="rId10"/>
          <a:stretch>
            <a:fillRect/>
          </a:stretch>
        </p:blipFill>
        <p:spPr>
          <a:xfrm>
            <a:off x="5246621" y="1415125"/>
            <a:ext cx="468000" cy="468000"/>
          </a:xfrm>
          <a:prstGeom prst="rect">
            <a:avLst/>
          </a:prstGeom>
        </p:spPr>
      </p:pic>
      <p:sp>
        <p:nvSpPr>
          <p:cNvPr id="132" name="Rectangle 131"/>
          <p:cNvSpPr/>
          <p:nvPr/>
        </p:nvSpPr>
        <p:spPr>
          <a:xfrm>
            <a:off x="5103356" y="1550178"/>
            <a:ext cx="122400" cy="122400"/>
          </a:xfrm>
          <a:prstGeom prst="rect">
            <a:avLst/>
          </a:prstGeom>
          <a:solidFill>
            <a:srgbClr val="9E9E9E"/>
          </a:solidFill>
          <a:ln>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2988000" y="2521206"/>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3,440,385</a:t>
            </a:r>
          </a:p>
        </p:txBody>
      </p:sp>
      <p:sp>
        <p:nvSpPr>
          <p:cNvPr id="134" name="TextBox 133"/>
          <p:cNvSpPr txBox="1"/>
          <p:nvPr/>
        </p:nvSpPr>
        <p:spPr>
          <a:xfrm>
            <a:off x="82800" y="9507600"/>
            <a:ext cx="5864400" cy="360000"/>
          </a:xfrm>
          <a:prstGeom prst="rect">
            <a:avLst/>
          </a:prstGeom>
          <a:noFill/>
        </p:spPr>
        <p:txBody>
          <a:bodyPr wrap="square">
            <a:spAutoFit/>
          </a:bodyPr>
          <a:lstStyle/>
          <a:p>
            <a:pPr algn="l">
              <a:defRPr sz="800">
                <a:solidFill>
                  <a:srgbClr val="FFFFFF"/>
                </a:solidFill>
                <a:latin typeface="Montserrat"/>
              </a:defRPr>
            </a:pPr>
            <a:r>
              <a:t>Fuente: Dirección de Incorporación y Recaudación. Corte mayo de 2026.</a:t>
            </a:r>
          </a:p>
        </p:txBody>
      </p:sp>
      <p:sp>
        <p:nvSpPr>
          <p:cNvPr id="135" name="TextBox 134"/>
          <p:cNvSpPr txBox="1"/>
          <p:nvPr/>
        </p:nvSpPr>
        <p:spPr>
          <a:xfrm>
            <a:off x="82800" y="9658800"/>
            <a:ext cx="5864400" cy="360000"/>
          </a:xfrm>
          <a:prstGeom prst="rect">
            <a:avLst/>
          </a:prstGeom>
          <a:noFill/>
        </p:spPr>
        <p:txBody>
          <a:bodyPr wrap="square">
            <a:spAutoFit/>
          </a:bodyPr>
          <a:lstStyle/>
          <a:p>
            <a:pPr algn="l">
              <a:defRPr sz="800">
                <a:solidFill>
                  <a:srgbClr val="FFFFFF"/>
                </a:solidFill>
                <a:latin typeface="Montserrat"/>
              </a:defRPr>
            </a:pPr>
            <a:r>
              <a:t>¹ Se refiere a personas derechohabientes (titulares y familiares) adscritas a UMF.</a:t>
            </a:r>
          </a:p>
        </p:txBody>
      </p:sp>
      <p:sp>
        <p:nvSpPr>
          <p:cNvPr id="136" name="TextBox 135"/>
          <p:cNvSpPr txBox="1"/>
          <p:nvPr/>
        </p:nvSpPr>
        <p:spPr>
          <a:xfrm>
            <a:off x="82800" y="9813600"/>
            <a:ext cx="7653600" cy="360000"/>
          </a:xfrm>
          <a:prstGeom prst="rect">
            <a:avLst/>
          </a:prstGeom>
          <a:noFill/>
        </p:spPr>
        <p:txBody>
          <a:bodyPr wrap="square">
            <a:spAutoFit/>
          </a:bodyPr>
          <a:lstStyle/>
          <a:p>
            <a:pPr algn="l">
              <a:defRPr sz="800">
                <a:solidFill>
                  <a:srgbClr val="FFFFFF"/>
                </a:solidFill>
                <a:latin typeface="Montserrat"/>
              </a:defRPr>
            </a:pPr>
            <a:r>
              <a:t>² La afiliación al Seguro de Salud de Familia disminuye en virtud del incremento en los nuevos esquemas de aseguramiento.</a:t>
            </a:r>
          </a:p>
        </p:txBody>
      </p:sp>
      <p:graphicFrame>
        <p:nvGraphicFramePr>
          <p:cNvPr id="137" name="Table 136"/>
          <p:cNvGraphicFramePr>
            <a:graphicFrameLocks noGrp="1"/>
          </p:cNvGraphicFramePr>
          <p:nvPr>
            <p:extLst>
              <p:ext uri="{D42A27DB-BD31-4B8C-83A1-F6EECF244321}">
                <p14:modId xmlns:p14="http://schemas.microsoft.com/office/powerpoint/2010/main" val="3698503170"/>
              </p:ext>
            </p:extLst>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extLst>
                    <a:ext uri="{9D8B030D-6E8A-4147-A177-3AD203B41FA5}">
                      <a16:colId xmlns:a16="http://schemas.microsoft.com/office/drawing/2014/main" val="20000"/>
                    </a:ext>
                  </a:extLst>
                </a:gridCol>
                <a:gridCol w="1206000">
                  <a:extLst>
                    <a:ext uri="{9D8B030D-6E8A-4147-A177-3AD203B41FA5}">
                      <a16:colId xmlns:a16="http://schemas.microsoft.com/office/drawing/2014/main" val="20001"/>
                    </a:ext>
                  </a:extLst>
                </a:gridCol>
                <a:gridCol w="1206000">
                  <a:extLst>
                    <a:ext uri="{9D8B030D-6E8A-4147-A177-3AD203B41FA5}">
                      <a16:colId xmlns:a16="http://schemas.microsoft.com/office/drawing/2014/main" val="20002"/>
                    </a:ext>
                  </a:extLst>
                </a:gridCol>
                <a:gridCol w="1159200">
                  <a:extLst>
                    <a:ext uri="{9D8B030D-6E8A-4147-A177-3AD203B41FA5}">
                      <a16:colId xmlns:a16="http://schemas.microsoft.com/office/drawing/2014/main" val="20003"/>
                    </a:ext>
                  </a:extLst>
                </a:gridCol>
              </a:tblGrid>
              <a:tr h="251999">
                <a:tc>
                  <a:txBody>
                    <a:bodyPr/>
                    <a:lstStyle/>
                    <a:p>
                      <a:pPr algn="ctr">
                        <a:defRPr sz="900" b="1">
                          <a:solidFill>
                            <a:srgbClr val="FFFFFF"/>
                          </a:solidFill>
                          <a:latin typeface="Montserrat"/>
                        </a:defRPr>
                      </a:pPr>
                      <a:r>
                        <a:t>Categoría</a:t>
                      </a:r>
                    </a:p>
                  </a:txBody>
                  <a:tcPr>
                    <a:lnL w="12700" cap="flat" cmpd="sng" algn="ctr">
                      <a:solidFill>
                        <a:schemeClr val="bg2">
                          <a:lumMod val="20000"/>
                          <a:lumOff val="80000"/>
                        </a:schemeClr>
                      </a:solidFill>
                      <a:prstDash val="solid"/>
                      <a:round/>
                      <a:headEnd type="none" w="med" len="med"/>
                      <a:tailEnd type="none" w="med" len="med"/>
                    </a:lnL>
                    <a:lnT w="12700" cap="flat" cmpd="sng" algn="ctr">
                      <a:solidFill>
                        <a:schemeClr val="bg2">
                          <a:lumMod val="20000"/>
                          <a:lumOff val="80000"/>
                        </a:schemeClr>
                      </a:solidFill>
                      <a:prstDash val="solid"/>
                      <a:round/>
                      <a:headEnd type="none" w="med" len="med"/>
                      <a:tailEnd type="none" w="med" len="med"/>
                    </a:lnT>
                    <a:solidFill>
                      <a:srgbClr val="006455"/>
                    </a:solidFill>
                  </a:tcPr>
                </a:tc>
                <a:tc>
                  <a:txBody>
                    <a:bodyPr/>
                    <a:lstStyle/>
                    <a:p>
                      <a:pPr algn="ctr">
                        <a:defRPr sz="900" b="1">
                          <a:solidFill>
                            <a:srgbClr val="FFFFFF"/>
                          </a:solidFill>
                          <a:latin typeface="Montserrat"/>
                        </a:defRPr>
                      </a:pPr>
                      <a:r>
                        <a:t>2018</a:t>
                      </a:r>
                    </a:p>
                  </a:txBody>
                  <a:tcPr>
                    <a:lnT w="12700" cap="flat" cmpd="sng" algn="ctr">
                      <a:solidFill>
                        <a:schemeClr val="bg2">
                          <a:lumMod val="20000"/>
                          <a:lumOff val="80000"/>
                        </a:schemeClr>
                      </a:solidFill>
                      <a:prstDash val="solid"/>
                      <a:round/>
                      <a:headEnd type="none" w="med" len="med"/>
                      <a:tailEnd type="none" w="med" len="med"/>
                    </a:lnT>
                    <a:solidFill>
                      <a:srgbClr val="006455"/>
                    </a:solidFill>
                  </a:tcPr>
                </a:tc>
                <a:tc>
                  <a:txBody>
                    <a:bodyPr/>
                    <a:lstStyle/>
                    <a:p>
                      <a:pPr algn="ctr">
                        <a:defRPr sz="900" b="1">
                          <a:solidFill>
                            <a:srgbClr val="FFFFFF"/>
                          </a:solidFill>
                          <a:latin typeface="Montserrat"/>
                        </a:defRPr>
                      </a:pPr>
                      <a:r>
                        <a:t>2026</a:t>
                      </a:r>
                    </a:p>
                  </a:txBody>
                  <a:tcPr>
                    <a:lnT w="12700" cap="flat" cmpd="sng" algn="ctr">
                      <a:solidFill>
                        <a:schemeClr val="bg2">
                          <a:lumMod val="20000"/>
                          <a:lumOff val="80000"/>
                        </a:schemeClr>
                      </a:solidFill>
                      <a:prstDash val="solid"/>
                      <a:round/>
                      <a:headEnd type="none" w="med" len="med"/>
                      <a:tailEnd type="none" w="med" len="med"/>
                    </a:lnT>
                    <a:solidFill>
                      <a:srgbClr val="006455"/>
                    </a:solidFill>
                  </a:tcPr>
                </a:tc>
                <a:tc>
                  <a:txBody>
                    <a:bodyPr/>
                    <a:lstStyle/>
                    <a:p>
                      <a:pPr algn="ctr">
                        <a:defRPr sz="900" b="1">
                          <a:solidFill>
                            <a:srgbClr val="FFFFFF"/>
                          </a:solidFill>
                          <a:latin typeface="Montserrat"/>
                        </a:defRPr>
                      </a:pPr>
                      <a:r>
                        <a:t>Variación</a:t>
                      </a:r>
                    </a:p>
                  </a:txBody>
                  <a:tcPr>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solidFill>
                      <a:srgbClr val="006455"/>
                    </a:solidFill>
                  </a:tcPr>
                </a:tc>
                <a:extLst>
                  <a:ext uri="{0D108BD9-81ED-4DB2-BD59-A6C34878D82A}">
                    <a16:rowId xmlns:a16="http://schemas.microsoft.com/office/drawing/2014/main" val="10000"/>
                  </a:ext>
                </a:extLst>
              </a:tr>
              <a:tr h="251999">
                <a:tc>
                  <a:txBody>
                    <a:bodyPr/>
                    <a:lstStyle/>
                    <a:p>
                      <a:pPr algn="l">
                        <a:defRPr sz="900" b="1">
                          <a:solidFill>
                            <a:srgbClr val="FFFFFF"/>
                          </a:solidFill>
                          <a:latin typeface="Montserrat"/>
                        </a:defRPr>
                      </a:pPr>
                      <a:r>
                        <a:t>PDA¹</a:t>
                      </a:r>
                    </a:p>
                  </a:txBody>
                  <a:tcPr>
                    <a:lnL w="12700" cap="flat" cmpd="sng" algn="ctr">
                      <a:solidFill>
                        <a:schemeClr val="bg2">
                          <a:lumMod val="20000"/>
                          <a:lumOff val="80000"/>
                        </a:schemeClr>
                      </a:solidFill>
                      <a:prstDash val="solid"/>
                      <a:round/>
                      <a:headEnd type="none" w="med" len="med"/>
                      <a:tailEnd type="none" w="med" len="med"/>
                    </a:lnL>
                    <a:solidFill>
                      <a:srgbClr val="9F2241"/>
                    </a:solidFill>
                  </a:tcPr>
                </a:tc>
                <a:tc>
                  <a:txBody>
                    <a:bodyPr/>
                    <a:lstStyle/>
                    <a:p>
                      <a:pPr algn="ctr">
                        <a:defRPr sz="900" b="1">
                          <a:solidFill>
                            <a:srgbClr val="000000"/>
                          </a:solidFill>
                          <a:latin typeface="Montserrat"/>
                        </a:defRPr>
                      </a:pPr>
                      <a:r>
                        <a:t>2,331,199</a:t>
                      </a:r>
                    </a:p>
                  </a:txBody>
                  <a:tcPr>
                    <a:solidFill>
                      <a:srgbClr val="EBD2D9"/>
                    </a:solidFill>
                  </a:tcPr>
                </a:tc>
                <a:tc>
                  <a:txBody>
                    <a:bodyPr/>
                    <a:lstStyle/>
                    <a:p>
                      <a:pPr algn="ctr">
                        <a:defRPr sz="900" b="1">
                          <a:solidFill>
                            <a:srgbClr val="000000"/>
                          </a:solidFill>
                          <a:latin typeface="Montserrat"/>
                        </a:defRPr>
                      </a:pPr>
                      <a:r>
                        <a:t>2,497,371</a:t>
                      </a:r>
                    </a:p>
                  </a:txBody>
                  <a:tcPr>
                    <a:solidFill>
                      <a:srgbClr val="EBD2D9"/>
                    </a:solidFill>
                  </a:tcPr>
                </a:tc>
                <a:tc>
                  <a:txBody>
                    <a:bodyPr/>
                    <a:lstStyle/>
                    <a:p>
                      <a:pPr algn="ctr">
                        <a:defRPr sz="900" b="1">
                          <a:solidFill>
                            <a:srgbClr val="000000"/>
                          </a:solidFill>
                          <a:latin typeface="Montserrat"/>
                        </a:defRPr>
                      </a:pPr>
                      <a:r>
                        <a:t>7%</a:t>
                      </a:r>
                    </a:p>
                  </a:txBody>
                  <a:tcPr>
                    <a:lnR w="12700" cap="flat" cmpd="sng" algn="ctr">
                      <a:solidFill>
                        <a:schemeClr val="bg2">
                          <a:lumMod val="20000"/>
                          <a:lumOff val="80000"/>
                        </a:schemeClr>
                      </a:solidFill>
                      <a:prstDash val="solid"/>
                      <a:round/>
                      <a:headEnd type="none" w="med" len="med"/>
                      <a:tailEnd type="none" w="med" len="med"/>
                    </a:lnR>
                    <a:solidFill>
                      <a:srgbClr val="EBD2D9"/>
                    </a:solidFill>
                  </a:tcPr>
                </a:tc>
                <a:extLst>
                  <a:ext uri="{0D108BD9-81ED-4DB2-BD59-A6C34878D82A}">
                    <a16:rowId xmlns:a16="http://schemas.microsoft.com/office/drawing/2014/main" val="10001"/>
                  </a:ext>
                </a:extLst>
              </a:tr>
              <a:tr h="251999">
                <a:tc>
                  <a:txBody>
                    <a:bodyPr/>
                    <a:lstStyle/>
                    <a:p>
                      <a:pPr algn="l">
                        <a:defRPr sz="900" b="1">
                          <a:solidFill>
                            <a:srgbClr val="FFFFFF"/>
                          </a:solidFill>
                          <a:latin typeface="Montserrat"/>
                        </a:defRPr>
                      </a:pPr>
                      <a:r>
                        <a:t>Titulares</a:t>
                      </a:r>
                    </a:p>
                  </a:txBody>
                  <a:tcPr>
                    <a:lnL w="12700" cap="flat" cmpd="sng" algn="ctr">
                      <a:solidFill>
                        <a:schemeClr val="bg2">
                          <a:lumMod val="20000"/>
                          <a:lumOff val="80000"/>
                        </a:schemeClr>
                      </a:solidFill>
                      <a:prstDash val="solid"/>
                      <a:round/>
                      <a:headEnd type="none" w="med" len="med"/>
                      <a:tailEnd type="none" w="med" len="med"/>
                    </a:lnL>
                    <a:solidFill>
                      <a:srgbClr val="9F2241"/>
                    </a:solidFill>
                  </a:tcPr>
                </a:tc>
                <a:tc>
                  <a:txBody>
                    <a:bodyPr/>
                    <a:lstStyle/>
                    <a:p>
                      <a:pPr algn="ctr">
                        <a:defRPr sz="900" b="1">
                          <a:solidFill>
                            <a:srgbClr val="000000"/>
                          </a:solidFill>
                          <a:latin typeface="Montserrat"/>
                        </a:defRPr>
                      </a:pPr>
                      <a:r>
                        <a:t>1,116,150</a:t>
                      </a:r>
                    </a:p>
                  </a:txBody>
                  <a:tcPr>
                    <a:solidFill>
                      <a:srgbClr val="EBD2D9"/>
                    </a:solidFill>
                  </a:tcPr>
                </a:tc>
                <a:tc>
                  <a:txBody>
                    <a:bodyPr/>
                    <a:lstStyle/>
                    <a:p>
                      <a:pPr algn="ctr">
                        <a:defRPr sz="900" b="1">
                          <a:solidFill>
                            <a:srgbClr val="000000"/>
                          </a:solidFill>
                          <a:latin typeface="Montserrat"/>
                        </a:defRPr>
                      </a:pPr>
                      <a:r>
                        <a:t>1,311,407</a:t>
                      </a:r>
                    </a:p>
                  </a:txBody>
                  <a:tcPr>
                    <a:solidFill>
                      <a:srgbClr val="EBD2D9"/>
                    </a:solidFill>
                  </a:tcPr>
                </a:tc>
                <a:tc>
                  <a:txBody>
                    <a:bodyPr/>
                    <a:lstStyle/>
                    <a:p>
                      <a:pPr algn="ctr">
                        <a:defRPr sz="900" b="1">
                          <a:solidFill>
                            <a:srgbClr val="000000"/>
                          </a:solidFill>
                          <a:latin typeface="Montserrat"/>
                        </a:defRPr>
                      </a:pPr>
                      <a:r>
                        <a:t>17%</a:t>
                      </a:r>
                    </a:p>
                  </a:txBody>
                  <a:tcPr>
                    <a:lnR w="12700" cap="flat" cmpd="sng" algn="ctr">
                      <a:solidFill>
                        <a:schemeClr val="bg2">
                          <a:lumMod val="20000"/>
                          <a:lumOff val="80000"/>
                        </a:schemeClr>
                      </a:solidFill>
                      <a:prstDash val="solid"/>
                      <a:round/>
                      <a:headEnd type="none" w="med" len="med"/>
                      <a:tailEnd type="none" w="med" len="med"/>
                    </a:lnR>
                    <a:solidFill>
                      <a:srgbClr val="EBD2D9"/>
                    </a:solidFill>
                  </a:tcPr>
                </a:tc>
                <a:extLst>
                  <a:ext uri="{0D108BD9-81ED-4DB2-BD59-A6C34878D82A}">
                    <a16:rowId xmlns:a16="http://schemas.microsoft.com/office/drawing/2014/main" val="10002"/>
                  </a:ext>
                </a:extLst>
              </a:tr>
              <a:tr h="251999">
                <a:tc>
                  <a:txBody>
                    <a:bodyPr/>
                    <a:lstStyle/>
                    <a:p>
                      <a:pPr algn="l">
                        <a:defRPr sz="900" b="1">
                          <a:solidFill>
                            <a:srgbClr val="000000"/>
                          </a:solidFill>
                          <a:latin typeface="Montserrat"/>
                        </a:defRPr>
                      </a:pPr>
                      <a:r>
                        <a:t>Puestos de trabajo</a:t>
                      </a:r>
                    </a:p>
                  </a:txBody>
                  <a:tcPr>
                    <a:lnL w="12700" cap="flat" cmpd="sng" algn="ctr">
                      <a:solidFill>
                        <a:schemeClr val="bg2">
                          <a:lumMod val="20000"/>
                          <a:lumOff val="80000"/>
                        </a:schemeClr>
                      </a:solidFill>
                      <a:prstDash val="solid"/>
                      <a:round/>
                      <a:headEnd type="none" w="med" len="med"/>
                      <a:tailEnd type="none" w="med" len="med"/>
                    </a:lnL>
                    <a:lnB w="12700" cap="flat" cmpd="sng" algn="ctr">
                      <a:solidFill>
                        <a:schemeClr val="bg2">
                          <a:lumMod val="20000"/>
                          <a:lumOff val="80000"/>
                        </a:schemeClr>
                      </a:solidFill>
                      <a:prstDash val="solid"/>
                      <a:round/>
                      <a:headEnd type="none" w="med" len="med"/>
                      <a:tailEnd type="none" w="med" len="med"/>
                    </a:lnB>
                    <a:solidFill>
                      <a:srgbClr val="DDC9A3"/>
                    </a:solidFill>
                  </a:tcPr>
                </a:tc>
                <a:tc>
                  <a:txBody>
                    <a:bodyPr/>
                    <a:lstStyle/>
                    <a:p>
                      <a:pPr algn="ctr">
                        <a:defRPr sz="900" b="1">
                          <a:solidFill>
                            <a:srgbClr val="000000"/>
                          </a:solidFill>
                          <a:latin typeface="Montserrat"/>
                        </a:defRPr>
                      </a:pPr>
                      <a:r>
                        <a:t>779,580</a:t>
                      </a:r>
                    </a:p>
                  </a:txBody>
                  <a:tcPr>
                    <a:solidFill>
                      <a:srgbClr val="F8F4EC"/>
                    </a:solidFill>
                  </a:tcPr>
                </a:tc>
                <a:tc>
                  <a:txBody>
                    <a:bodyPr/>
                    <a:lstStyle/>
                    <a:p>
                      <a:pPr algn="ctr">
                        <a:defRPr sz="900" b="1">
                          <a:solidFill>
                            <a:srgbClr val="000000"/>
                          </a:solidFill>
                          <a:latin typeface="Montserrat"/>
                        </a:defRPr>
                      </a:pPr>
                      <a:r>
                        <a:t>848,359</a:t>
                      </a:r>
                    </a:p>
                  </a:txBody>
                  <a:tcPr>
                    <a:solidFill>
                      <a:srgbClr val="F8F4EC"/>
                    </a:solidFill>
                  </a:tcPr>
                </a:tc>
                <a:tc>
                  <a:txBody>
                    <a:bodyPr/>
                    <a:lstStyle/>
                    <a:p>
                      <a:pPr algn="ctr">
                        <a:defRPr sz="900" b="1">
                          <a:solidFill>
                            <a:srgbClr val="000000"/>
                          </a:solidFill>
                          <a:latin typeface="Montserrat"/>
                        </a:defRPr>
                      </a:pPr>
                      <a:r>
                        <a:t>9%</a:t>
                      </a:r>
                    </a:p>
                  </a:txBody>
                  <a:tcPr>
                    <a:lnR w="12700" cap="flat" cmpd="sng" algn="ctr">
                      <a:solidFill>
                        <a:schemeClr val="bg2">
                          <a:lumMod val="20000"/>
                          <a:lumOff val="80000"/>
                        </a:schemeClr>
                      </a:solidFill>
                      <a:prstDash val="solid"/>
                      <a:round/>
                      <a:headEnd type="none" w="med" len="med"/>
                      <a:tailEnd type="none" w="med" len="med"/>
                    </a:lnR>
                    <a:solidFill>
                      <a:srgbClr val="F8F4EC"/>
                    </a:solidFill>
                  </a:tcPr>
                </a:tc>
                <a:extLst>
                  <a:ext uri="{0D108BD9-81ED-4DB2-BD59-A6C34878D82A}">
                    <a16:rowId xmlns:a16="http://schemas.microsoft.com/office/drawing/2014/main" val="10003"/>
                  </a:ext>
                </a:extLst>
              </a:tr>
              <a:tr h="251999">
                <a:tc>
                  <a:txBody>
                    <a:bodyPr/>
                    <a:lstStyle/>
                    <a:p>
                      <a:pPr lvl="1" algn="l">
                        <a:defRPr sz="900">
                          <a:solidFill>
                            <a:srgbClr val="000000"/>
                          </a:solidFill>
                          <a:latin typeface="Montserrat"/>
                        </a:defRPr>
                      </a:pPr>
                      <a:r>
                        <a:t>Pensionados</a:t>
                      </a:r>
                    </a:p>
                  </a:txBody>
                  <a:tcP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2">
                          <a:lumMod val="20000"/>
                          <a:lumOff val="80000"/>
                        </a:schemeClr>
                      </a:solidFill>
                      <a:prstDash val="solid"/>
                      <a:round/>
                      <a:headEnd type="none" w="med" len="med"/>
                      <a:tailEnd type="none" w="med" len="med"/>
                    </a:lnB>
                    <a:solidFill>
                      <a:srgbClr val="FFFFFF"/>
                    </a:solidFill>
                  </a:tcPr>
                </a:tc>
                <a:tc>
                  <a:txBody>
                    <a:bodyPr/>
                    <a:lstStyle/>
                    <a:p>
                      <a:pPr algn="ctr">
                        <a:defRPr sz="900">
                          <a:solidFill>
                            <a:srgbClr val="000000"/>
                          </a:solidFill>
                          <a:latin typeface="Montserrat"/>
                        </a:defRPr>
                      </a:pPr>
                      <a:r>
                        <a:t>200,511</a:t>
                      </a:r>
                    </a:p>
                  </a:txBody>
                  <a:tcP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defRPr sz="900">
                          <a:solidFill>
                            <a:srgbClr val="000000"/>
                          </a:solidFill>
                          <a:latin typeface="Montserrat"/>
                        </a:defRPr>
                      </a:pPr>
                      <a:r>
                        <a:t>284,559</a:t>
                      </a:r>
                    </a:p>
                  </a:txBody>
                  <a:tcPr>
                    <a:solidFill>
                      <a:srgbClr val="FFFFFF"/>
                    </a:solidFill>
                  </a:tcPr>
                </a:tc>
                <a:tc>
                  <a:txBody>
                    <a:bodyPr/>
                    <a:lstStyle/>
                    <a:p>
                      <a:pPr algn="ctr">
                        <a:defRPr sz="900">
                          <a:solidFill>
                            <a:srgbClr val="000000"/>
                          </a:solidFill>
                          <a:latin typeface="Montserrat"/>
                        </a:defRPr>
                      </a:pPr>
                      <a:r>
                        <a:t>42%</a:t>
                      </a:r>
                    </a:p>
                  </a:txBody>
                  <a:tcP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4"/>
                  </a:ext>
                </a:extLst>
              </a:tr>
              <a:tr h="251999">
                <a:tc>
                  <a:txBody>
                    <a:bodyPr/>
                    <a:lstStyle/>
                    <a:p>
                      <a:pPr lvl="1" algn="l">
                        <a:defRPr sz="900">
                          <a:solidFill>
                            <a:srgbClr val="000000"/>
                          </a:solidFill>
                          <a:latin typeface="Montserrat"/>
                        </a:defRPr>
                      </a:pPr>
                      <a:r>
                        <a:rPr err="1"/>
                        <a:t>Conservación</a:t>
                      </a:r>
                      <a:r>
                        <a:t> de derechos</a:t>
                      </a:r>
                    </a:p>
                  </a:txBody>
                  <a:tcPr>
                    <a:lnL w="12700" cap="flat" cmpd="sng" algn="ctr">
                      <a:solidFill>
                        <a:schemeClr val="bg2">
                          <a:lumMod val="20000"/>
                          <a:lumOff val="80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FFFFFF"/>
                    </a:solidFill>
                  </a:tcPr>
                </a:tc>
                <a:tc>
                  <a:txBody>
                    <a:bodyPr/>
                    <a:lstStyle/>
                    <a:p>
                      <a:pPr algn="ctr">
                        <a:defRPr sz="900">
                          <a:solidFill>
                            <a:srgbClr val="000000"/>
                          </a:solidFill>
                          <a:latin typeface="Montserrat"/>
                        </a:defRPr>
                      </a:pPr>
                      <a:r>
                        <a:t>27,176</a:t>
                      </a:r>
                    </a:p>
                  </a:txBody>
                  <a:tcPr>
                    <a:lnL w="12700" cap="flat" cmpd="sng" algn="ctr">
                      <a:solidFill>
                        <a:schemeClr val="bg1">
                          <a:lumMod val="95000"/>
                        </a:schemeClr>
                      </a:solidFill>
                      <a:prstDash val="solid"/>
                      <a:round/>
                      <a:headEnd type="none" w="med" len="med"/>
                      <a:tailEnd type="none" w="med" len="med"/>
                    </a:lnL>
                    <a:solidFill>
                      <a:srgbClr val="FFFFFF"/>
                    </a:solidFill>
                  </a:tcPr>
                </a:tc>
                <a:tc>
                  <a:txBody>
                    <a:bodyPr/>
                    <a:lstStyle/>
                    <a:p>
                      <a:pPr algn="ctr">
                        <a:defRPr sz="900">
                          <a:solidFill>
                            <a:srgbClr val="000000"/>
                          </a:solidFill>
                          <a:latin typeface="Montserrat"/>
                        </a:defRPr>
                      </a:pPr>
                      <a:r>
                        <a:t>25,617</a:t>
                      </a:r>
                    </a:p>
                  </a:txBody>
                  <a:tcPr>
                    <a:solidFill>
                      <a:srgbClr val="FFFFFF"/>
                    </a:solidFill>
                  </a:tcPr>
                </a:tc>
                <a:tc>
                  <a:txBody>
                    <a:bodyPr/>
                    <a:lstStyle/>
                    <a:p>
                      <a:pPr algn="ctr">
                        <a:defRPr sz="900">
                          <a:solidFill>
                            <a:srgbClr val="000000"/>
                          </a:solidFill>
                          <a:latin typeface="Montserrat"/>
                        </a:defRPr>
                      </a:pPr>
                      <a:r>
                        <a:t>-6%</a:t>
                      </a:r>
                    </a:p>
                  </a:txBody>
                  <a:tcP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5"/>
                  </a:ext>
                </a:extLst>
              </a:tr>
              <a:tr h="251999">
                <a:tc>
                  <a:txBody>
                    <a:bodyPr/>
                    <a:lstStyle/>
                    <a:p>
                      <a:pPr algn="l">
                        <a:defRPr sz="900" b="1">
                          <a:solidFill>
                            <a:srgbClr val="FFFFFF"/>
                          </a:solidFill>
                          <a:latin typeface="Montserrat"/>
                        </a:defRPr>
                      </a:pPr>
                      <a:r>
                        <a:t>Sin empleo asociado</a:t>
                      </a:r>
                    </a:p>
                  </a:txBody>
                  <a:tcPr>
                    <a:lnL w="12700" cap="flat" cmpd="sng" algn="ctr">
                      <a:solidFill>
                        <a:schemeClr val="bg2">
                          <a:lumMod val="20000"/>
                          <a:lumOff val="80000"/>
                        </a:schemeClr>
                      </a:solidFill>
                      <a:prstDash val="solid"/>
                      <a:round/>
                      <a:headEnd type="none" w="med" len="med"/>
                      <a:tailEnd type="none" w="med" len="med"/>
                    </a:lnL>
                    <a:lnT w="12700" cap="flat" cmpd="sng" algn="ctr">
                      <a:solidFill>
                        <a:schemeClr val="bg1">
                          <a:lumMod val="95000"/>
                        </a:schemeClr>
                      </a:solidFill>
                      <a:prstDash val="solid"/>
                      <a:round/>
                      <a:headEnd type="none" w="med" len="med"/>
                      <a:tailEnd type="none" w="med" len="med"/>
                    </a:lnT>
                    <a:solidFill>
                      <a:srgbClr val="006455"/>
                    </a:solidFill>
                  </a:tcPr>
                </a:tc>
                <a:tc>
                  <a:txBody>
                    <a:bodyPr/>
                    <a:lstStyle/>
                    <a:p>
                      <a:pPr algn="ctr">
                        <a:defRPr sz="900" b="1">
                          <a:solidFill>
                            <a:srgbClr val="000000"/>
                          </a:solidFill>
                          <a:latin typeface="Montserrat"/>
                        </a:defRPr>
                      </a:pPr>
                      <a:r>
                        <a:t>108,883</a:t>
                      </a:r>
                    </a:p>
                  </a:txBody>
                  <a:tcPr>
                    <a:solidFill>
                      <a:srgbClr val="CCE0DD"/>
                    </a:solidFill>
                  </a:tcPr>
                </a:tc>
                <a:tc>
                  <a:txBody>
                    <a:bodyPr/>
                    <a:lstStyle/>
                    <a:p>
                      <a:pPr algn="ctr">
                        <a:defRPr sz="900" b="1">
                          <a:solidFill>
                            <a:srgbClr val="000000"/>
                          </a:solidFill>
                          <a:latin typeface="Montserrat"/>
                        </a:defRPr>
                      </a:pPr>
                      <a:r>
                        <a:t>140,459</a:t>
                      </a:r>
                    </a:p>
                  </a:txBody>
                  <a:tcPr>
                    <a:solidFill>
                      <a:srgbClr val="CCE0DD"/>
                    </a:solidFill>
                  </a:tcPr>
                </a:tc>
                <a:tc>
                  <a:txBody>
                    <a:bodyPr/>
                    <a:lstStyle/>
                    <a:p>
                      <a:pPr algn="ctr">
                        <a:defRPr sz="900" b="1">
                          <a:solidFill>
                            <a:srgbClr val="000000"/>
                          </a:solidFill>
                          <a:latin typeface="Montserrat"/>
                        </a:defRPr>
                      </a:pPr>
                      <a:r>
                        <a:t>29%</a:t>
                      </a:r>
                    </a:p>
                  </a:txBody>
                  <a:tcPr>
                    <a:lnR w="12700" cap="flat" cmpd="sng" algn="ctr">
                      <a:solidFill>
                        <a:schemeClr val="bg2">
                          <a:lumMod val="20000"/>
                          <a:lumOff val="80000"/>
                        </a:schemeClr>
                      </a:solidFill>
                      <a:prstDash val="solid"/>
                      <a:round/>
                      <a:headEnd type="none" w="med" len="med"/>
                      <a:tailEnd type="none" w="med" len="med"/>
                    </a:lnR>
                    <a:solidFill>
                      <a:srgbClr val="CCE0DD"/>
                    </a:solidFill>
                  </a:tcPr>
                </a:tc>
                <a:extLst>
                  <a:ext uri="{0D108BD9-81ED-4DB2-BD59-A6C34878D82A}">
                    <a16:rowId xmlns:a16="http://schemas.microsoft.com/office/drawing/2014/main" val="10006"/>
                  </a:ext>
                </a:extLst>
              </a:tr>
              <a:tr h="251999">
                <a:tc>
                  <a:txBody>
                    <a:bodyPr/>
                    <a:lstStyle/>
                    <a:p>
                      <a:pPr lvl="1" algn="l">
                        <a:defRPr sz="900">
                          <a:solidFill>
                            <a:srgbClr val="000000"/>
                          </a:solidFill>
                          <a:latin typeface="Montserrat"/>
                        </a:defRPr>
                      </a:pPr>
                      <a:r>
                        <a:t>Estudiantes</a:t>
                      </a:r>
                    </a:p>
                  </a:txBody>
                  <a:tcP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defRPr sz="900">
                          <a:solidFill>
                            <a:srgbClr val="000000"/>
                          </a:solidFill>
                          <a:latin typeface="Montserrat"/>
                        </a:defRPr>
                      </a:pPr>
                      <a:r>
                        <a:t>100,219</a:t>
                      </a:r>
                    </a:p>
                  </a:txBody>
                  <a:tcPr>
                    <a:solidFill>
                      <a:srgbClr val="FFFFFF"/>
                    </a:solidFill>
                  </a:tcPr>
                </a:tc>
                <a:tc>
                  <a:txBody>
                    <a:bodyPr/>
                    <a:lstStyle/>
                    <a:p>
                      <a:pPr algn="ctr">
                        <a:defRPr sz="900">
                          <a:solidFill>
                            <a:srgbClr val="000000"/>
                          </a:solidFill>
                          <a:latin typeface="Montserrat"/>
                        </a:defRPr>
                      </a:pPr>
                      <a:r>
                        <a:t>130,316</a:t>
                      </a:r>
                    </a:p>
                  </a:txBody>
                  <a:tcPr>
                    <a:solidFill>
                      <a:srgbClr val="FFFFFF"/>
                    </a:solidFill>
                  </a:tcPr>
                </a:tc>
                <a:tc>
                  <a:txBody>
                    <a:bodyPr/>
                    <a:lstStyle/>
                    <a:p>
                      <a:pPr algn="ctr">
                        <a:defRPr sz="900">
                          <a:solidFill>
                            <a:srgbClr val="000000"/>
                          </a:solidFill>
                          <a:latin typeface="Montserrat"/>
                        </a:defRPr>
                      </a:pPr>
                      <a:r>
                        <a:t>30%</a:t>
                      </a:r>
                    </a:p>
                  </a:txBody>
                  <a:tcP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7"/>
                  </a:ext>
                </a:extLst>
              </a:tr>
              <a:tr h="251999">
                <a:tc>
                  <a:txBody>
                    <a:bodyPr/>
                    <a:lstStyle/>
                    <a:p>
                      <a:pPr lvl="1" algn="l">
                        <a:defRPr sz="900">
                          <a:solidFill>
                            <a:srgbClr val="000000"/>
                          </a:solidFill>
                          <a:latin typeface="Montserrat"/>
                        </a:defRPr>
                      </a:pPr>
                      <a:r>
                        <a:t>Seguro de Salud de Familia²</a:t>
                      </a:r>
                    </a:p>
                  </a:txBody>
                  <a:tcP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defRPr sz="900">
                          <a:solidFill>
                            <a:srgbClr val="000000"/>
                          </a:solidFill>
                          <a:latin typeface="Montserrat"/>
                        </a:defRPr>
                      </a:pPr>
                      <a:r>
                        <a:t>4,109</a:t>
                      </a:r>
                    </a:p>
                  </a:txBody>
                  <a:tcPr>
                    <a:solidFill>
                      <a:srgbClr val="FFFFFF"/>
                    </a:solidFill>
                  </a:tcPr>
                </a:tc>
                <a:tc>
                  <a:txBody>
                    <a:bodyPr/>
                    <a:lstStyle/>
                    <a:p>
                      <a:pPr algn="ctr">
                        <a:defRPr sz="900">
                          <a:solidFill>
                            <a:srgbClr val="000000"/>
                          </a:solidFill>
                          <a:latin typeface="Montserrat"/>
                        </a:defRPr>
                      </a:pPr>
                      <a:r>
                        <a:t>1,296</a:t>
                      </a:r>
                    </a:p>
                  </a:txBody>
                  <a:tcPr>
                    <a:solidFill>
                      <a:srgbClr val="FFFFFF"/>
                    </a:solidFill>
                  </a:tcPr>
                </a:tc>
                <a:tc>
                  <a:txBody>
                    <a:bodyPr/>
                    <a:lstStyle/>
                    <a:p>
                      <a:pPr algn="ctr">
                        <a:defRPr sz="900">
                          <a:solidFill>
                            <a:srgbClr val="000000"/>
                          </a:solidFill>
                          <a:latin typeface="Montserrat"/>
                        </a:defRPr>
                      </a:pPr>
                      <a:r>
                        <a:t>-68%</a:t>
                      </a:r>
                    </a:p>
                  </a:txBody>
                  <a:tcP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8"/>
                  </a:ext>
                </a:extLst>
              </a:tr>
              <a:tr h="251999">
                <a:tc>
                  <a:txBody>
                    <a:bodyPr/>
                    <a:lstStyle/>
                    <a:p>
                      <a:pPr lvl="1" algn="l">
                        <a:defRPr sz="900">
                          <a:solidFill>
                            <a:srgbClr val="000000"/>
                          </a:solidFill>
                          <a:latin typeface="Montserrat"/>
                        </a:defRPr>
                      </a:pPr>
                      <a:r>
                        <a:t>Continuación voluntaria</a:t>
                      </a:r>
                    </a:p>
                  </a:txBody>
                  <a:tcP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defRPr sz="900">
                          <a:solidFill>
                            <a:srgbClr val="000000"/>
                          </a:solidFill>
                          <a:latin typeface="Montserrat"/>
                        </a:defRPr>
                      </a:pPr>
                      <a:r>
                        <a:t>4,555</a:t>
                      </a:r>
                    </a:p>
                  </a:txBody>
                  <a:tcPr>
                    <a:solidFill>
                      <a:srgbClr val="FFFFFF"/>
                    </a:solidFill>
                  </a:tcPr>
                </a:tc>
                <a:tc>
                  <a:txBody>
                    <a:bodyPr/>
                    <a:lstStyle/>
                    <a:p>
                      <a:pPr algn="ctr">
                        <a:defRPr sz="900">
                          <a:solidFill>
                            <a:srgbClr val="000000"/>
                          </a:solidFill>
                          <a:latin typeface="Montserrat"/>
                        </a:defRPr>
                      </a:pPr>
                      <a:r>
                        <a:t>8,847</a:t>
                      </a:r>
                    </a:p>
                  </a:txBody>
                  <a:tcPr>
                    <a:solidFill>
                      <a:srgbClr val="FFFFFF"/>
                    </a:solidFill>
                  </a:tcPr>
                </a:tc>
                <a:tc>
                  <a:txBody>
                    <a:bodyPr/>
                    <a:lstStyle/>
                    <a:p>
                      <a:pPr algn="ctr">
                        <a:defRPr sz="900">
                          <a:solidFill>
                            <a:srgbClr val="000000"/>
                          </a:solidFill>
                          <a:latin typeface="Montserrat"/>
                        </a:defRPr>
                      </a:pPr>
                      <a:r>
                        <a:t>94%</a:t>
                      </a:r>
                    </a:p>
                  </a:txBody>
                  <a:tcP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9"/>
                  </a:ext>
                </a:extLst>
              </a:tr>
              <a:tr h="251999">
                <a:tc>
                  <a:txBody>
                    <a:bodyPr/>
                    <a:lstStyle/>
                    <a:p>
                      <a:pPr algn="l">
                        <a:defRPr sz="900" b="1">
                          <a:solidFill>
                            <a:srgbClr val="FFFFFF"/>
                          </a:solidFill>
                          <a:latin typeface="Montserrat"/>
                        </a:defRPr>
                      </a:pPr>
                      <a:r>
                        <a:t>Familiares</a:t>
                      </a:r>
                    </a:p>
                  </a:txBody>
                  <a:tcPr>
                    <a:lnL w="12700" cap="flat" cmpd="sng" algn="ctr">
                      <a:solidFill>
                        <a:schemeClr val="bg2">
                          <a:lumMod val="20000"/>
                          <a:lumOff val="80000"/>
                        </a:schemeClr>
                      </a:solidFill>
                      <a:prstDash val="solid"/>
                      <a:round/>
                      <a:headEnd type="none" w="med" len="med"/>
                      <a:tailEnd type="none" w="med" len="med"/>
                    </a:lnL>
                    <a:solidFill>
                      <a:srgbClr val="9F2241"/>
                    </a:solidFill>
                  </a:tcPr>
                </a:tc>
                <a:tc>
                  <a:txBody>
                    <a:bodyPr/>
                    <a:lstStyle/>
                    <a:p>
                      <a:pPr algn="ctr">
                        <a:defRPr sz="900" b="1">
                          <a:solidFill>
                            <a:srgbClr val="000000"/>
                          </a:solidFill>
                          <a:latin typeface="Montserrat"/>
                        </a:defRPr>
                      </a:pPr>
                      <a:r>
                        <a:t>1,215,049</a:t>
                      </a:r>
                    </a:p>
                  </a:txBody>
                  <a:tcPr>
                    <a:solidFill>
                      <a:srgbClr val="EBD2D9"/>
                    </a:solidFill>
                  </a:tcPr>
                </a:tc>
                <a:tc>
                  <a:txBody>
                    <a:bodyPr/>
                    <a:lstStyle/>
                    <a:p>
                      <a:pPr algn="ctr">
                        <a:defRPr sz="900" b="1">
                          <a:solidFill>
                            <a:srgbClr val="000000"/>
                          </a:solidFill>
                          <a:latin typeface="Montserrat"/>
                        </a:defRPr>
                      </a:pPr>
                      <a:r>
                        <a:t>1,185,964</a:t>
                      </a:r>
                    </a:p>
                  </a:txBody>
                  <a:tcPr>
                    <a:solidFill>
                      <a:srgbClr val="EBD2D9"/>
                    </a:solidFill>
                  </a:tcPr>
                </a:tc>
                <a:tc>
                  <a:txBody>
                    <a:bodyPr/>
                    <a:lstStyle/>
                    <a:p>
                      <a:pPr algn="ctr">
                        <a:defRPr sz="900" b="1">
                          <a:solidFill>
                            <a:srgbClr val="000000"/>
                          </a:solidFill>
                          <a:latin typeface="Montserrat"/>
                        </a:defRPr>
                      </a:pPr>
                      <a:r>
                        <a:t>-2%</a:t>
                      </a:r>
                    </a:p>
                  </a:txBody>
                  <a:tcPr>
                    <a:lnR w="12700" cap="flat" cmpd="sng" algn="ctr">
                      <a:solidFill>
                        <a:schemeClr val="bg2">
                          <a:lumMod val="20000"/>
                          <a:lumOff val="80000"/>
                        </a:schemeClr>
                      </a:solidFill>
                      <a:prstDash val="solid"/>
                      <a:round/>
                      <a:headEnd type="none" w="med" len="med"/>
                      <a:tailEnd type="none" w="med" len="med"/>
                    </a:lnR>
                    <a:solidFill>
                      <a:srgbClr val="EBD2D9"/>
                    </a:solidFill>
                  </a:tcPr>
                </a:tc>
                <a:extLst>
                  <a:ext uri="{0D108BD9-81ED-4DB2-BD59-A6C34878D82A}">
                    <a16:rowId xmlns:a16="http://schemas.microsoft.com/office/drawing/2014/main" val="10010"/>
                  </a:ext>
                </a:extLst>
              </a:tr>
              <a:tr h="251999">
                <a:tc>
                  <a:txBody>
                    <a:bodyPr/>
                    <a:lstStyle/>
                    <a:p>
                      <a:pPr lvl="1" algn="l">
                        <a:defRPr sz="900">
                          <a:solidFill>
                            <a:srgbClr val="000000"/>
                          </a:solidFill>
                          <a:latin typeface="Montserrat"/>
                        </a:defRPr>
                      </a:pPr>
                      <a:r>
                        <a:t>Esposa(o)/concubina(rio)</a:t>
                      </a:r>
                    </a:p>
                  </a:txBody>
                  <a:tcP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defRPr sz="900">
                          <a:solidFill>
                            <a:srgbClr val="000000"/>
                          </a:solidFill>
                          <a:latin typeface="Montserrat"/>
                        </a:defRPr>
                      </a:pPr>
                      <a:r>
                        <a:t>414,208</a:t>
                      </a:r>
                    </a:p>
                  </a:txBody>
                  <a:tcPr>
                    <a:solidFill>
                      <a:srgbClr val="FFFFFF"/>
                    </a:solidFill>
                  </a:tcPr>
                </a:tc>
                <a:tc>
                  <a:txBody>
                    <a:bodyPr/>
                    <a:lstStyle/>
                    <a:p>
                      <a:pPr algn="ctr">
                        <a:defRPr sz="900">
                          <a:solidFill>
                            <a:srgbClr val="000000"/>
                          </a:solidFill>
                          <a:latin typeface="Montserrat"/>
                        </a:defRPr>
                      </a:pPr>
                      <a:r>
                        <a:t>426,102</a:t>
                      </a:r>
                    </a:p>
                  </a:txBody>
                  <a:tcPr>
                    <a:solidFill>
                      <a:srgbClr val="FFFFFF"/>
                    </a:solidFill>
                  </a:tcPr>
                </a:tc>
                <a:tc>
                  <a:txBody>
                    <a:bodyPr/>
                    <a:lstStyle/>
                    <a:p>
                      <a:pPr algn="ctr">
                        <a:defRPr sz="900">
                          <a:solidFill>
                            <a:srgbClr val="000000"/>
                          </a:solidFill>
                          <a:latin typeface="Montserrat"/>
                        </a:defRPr>
                      </a:pPr>
                      <a:r>
                        <a:t>3%</a:t>
                      </a:r>
                    </a:p>
                  </a:txBody>
                  <a:tcP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11"/>
                  </a:ext>
                </a:extLst>
              </a:tr>
              <a:tr h="251999">
                <a:tc>
                  <a:txBody>
                    <a:bodyPr/>
                    <a:lstStyle/>
                    <a:p>
                      <a:pPr lvl="1" algn="l">
                        <a:defRPr sz="900">
                          <a:solidFill>
                            <a:srgbClr val="000000"/>
                          </a:solidFill>
                          <a:latin typeface="Montserrat"/>
                        </a:defRPr>
                      </a:pPr>
                      <a:r>
                        <a:t>Hijas e hijos</a:t>
                      </a:r>
                    </a:p>
                  </a:txBody>
                  <a:tcP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defRPr sz="900">
                          <a:solidFill>
                            <a:srgbClr val="000000"/>
                          </a:solidFill>
                          <a:latin typeface="Montserrat"/>
                        </a:defRPr>
                      </a:pPr>
                      <a:r>
                        <a:t>604,654</a:t>
                      </a:r>
                    </a:p>
                  </a:txBody>
                  <a:tcPr>
                    <a:solidFill>
                      <a:srgbClr val="FFFFFF"/>
                    </a:solidFill>
                  </a:tcPr>
                </a:tc>
                <a:tc>
                  <a:txBody>
                    <a:bodyPr/>
                    <a:lstStyle/>
                    <a:p>
                      <a:pPr algn="ctr">
                        <a:defRPr sz="900">
                          <a:solidFill>
                            <a:srgbClr val="000000"/>
                          </a:solidFill>
                          <a:latin typeface="Montserrat"/>
                        </a:defRPr>
                      </a:pPr>
                      <a:r>
                        <a:t>511,185</a:t>
                      </a:r>
                    </a:p>
                  </a:txBody>
                  <a:tcPr>
                    <a:solidFill>
                      <a:srgbClr val="FFFFFF"/>
                    </a:solidFill>
                  </a:tcPr>
                </a:tc>
                <a:tc>
                  <a:txBody>
                    <a:bodyPr/>
                    <a:lstStyle/>
                    <a:p>
                      <a:pPr algn="ctr">
                        <a:defRPr sz="900">
                          <a:solidFill>
                            <a:srgbClr val="000000"/>
                          </a:solidFill>
                          <a:latin typeface="Montserrat"/>
                        </a:defRPr>
                      </a:pPr>
                      <a:r>
                        <a:t>-15%</a:t>
                      </a:r>
                    </a:p>
                  </a:txBody>
                  <a:tcP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12"/>
                  </a:ext>
                </a:extLst>
              </a:tr>
              <a:tr h="251999">
                <a:tc>
                  <a:txBody>
                    <a:bodyPr/>
                    <a:lstStyle/>
                    <a:p>
                      <a:pPr lvl="1" algn="l">
                        <a:defRPr sz="900">
                          <a:solidFill>
                            <a:srgbClr val="000000"/>
                          </a:solidFill>
                          <a:latin typeface="Montserrat"/>
                        </a:defRPr>
                      </a:pPr>
                      <a:r>
                        <a:t>Madres y padres</a:t>
                      </a:r>
                    </a:p>
                  </a:txBody>
                  <a:tcPr>
                    <a:lnL w="12700" cap="flat" cmpd="sng" algn="ctr">
                      <a:solidFill>
                        <a:schemeClr val="bg2">
                          <a:lumMod val="20000"/>
                          <a:lumOff val="80000"/>
                        </a:schemeClr>
                      </a:solidFill>
                      <a:prstDash val="solid"/>
                      <a:round/>
                      <a:headEnd type="none" w="med" len="med"/>
                      <a:tailEnd type="none" w="med" len="med"/>
                    </a:lnL>
                    <a:lnB w="12700" cap="flat" cmpd="sng" algn="ctr">
                      <a:solidFill>
                        <a:schemeClr val="bg2">
                          <a:lumMod val="20000"/>
                          <a:lumOff val="80000"/>
                        </a:schemeClr>
                      </a:solidFill>
                      <a:prstDash val="solid"/>
                      <a:round/>
                      <a:headEnd type="none" w="med" len="med"/>
                      <a:tailEnd type="none" w="med" len="med"/>
                    </a:lnB>
                    <a:solidFill>
                      <a:srgbClr val="FFFFFF"/>
                    </a:solidFill>
                  </a:tcPr>
                </a:tc>
                <a:tc>
                  <a:txBody>
                    <a:bodyPr/>
                    <a:lstStyle/>
                    <a:p>
                      <a:pPr algn="ctr">
                        <a:defRPr sz="900">
                          <a:solidFill>
                            <a:srgbClr val="000000"/>
                          </a:solidFill>
                          <a:latin typeface="Montserrat"/>
                        </a:defRPr>
                      </a:pPr>
                      <a:r>
                        <a:t>196,187</a:t>
                      </a:r>
                    </a:p>
                  </a:txBody>
                  <a:tcPr>
                    <a:lnB w="12700" cap="flat" cmpd="sng" algn="ctr">
                      <a:solidFill>
                        <a:schemeClr val="bg2">
                          <a:lumMod val="20000"/>
                          <a:lumOff val="80000"/>
                        </a:schemeClr>
                      </a:solidFill>
                      <a:prstDash val="solid"/>
                      <a:round/>
                      <a:headEnd type="none" w="med" len="med"/>
                      <a:tailEnd type="none" w="med" len="med"/>
                    </a:lnB>
                    <a:solidFill>
                      <a:srgbClr val="FFFFFF"/>
                    </a:solidFill>
                  </a:tcPr>
                </a:tc>
                <a:tc>
                  <a:txBody>
                    <a:bodyPr/>
                    <a:lstStyle/>
                    <a:p>
                      <a:pPr algn="ctr">
                        <a:defRPr sz="900">
                          <a:solidFill>
                            <a:srgbClr val="000000"/>
                          </a:solidFill>
                          <a:latin typeface="Montserrat"/>
                        </a:defRPr>
                      </a:pPr>
                      <a:r>
                        <a:t>248,677</a:t>
                      </a:r>
                    </a:p>
                  </a:txBody>
                  <a:tcPr>
                    <a:lnB w="12700" cap="flat" cmpd="sng" algn="ctr">
                      <a:solidFill>
                        <a:schemeClr val="bg2">
                          <a:lumMod val="20000"/>
                          <a:lumOff val="80000"/>
                        </a:schemeClr>
                      </a:solidFill>
                      <a:prstDash val="solid"/>
                      <a:round/>
                      <a:headEnd type="none" w="med" len="med"/>
                      <a:tailEnd type="none" w="med" len="med"/>
                    </a:lnB>
                    <a:solidFill>
                      <a:srgbClr val="FFFFFF"/>
                    </a:solidFill>
                  </a:tcPr>
                </a:tc>
                <a:tc>
                  <a:txBody>
                    <a:bodyPr/>
                    <a:lstStyle/>
                    <a:p>
                      <a:pPr algn="ctr">
                        <a:defRPr sz="900">
                          <a:solidFill>
                            <a:srgbClr val="000000"/>
                          </a:solidFill>
                          <a:latin typeface="Montserrat"/>
                        </a:defRPr>
                      </a:pPr>
                      <a:r>
                        <a:t>27%</a:t>
                      </a:r>
                    </a:p>
                  </a:txBody>
                  <a:tcPr>
                    <a:lnR w="12700" cap="flat" cmpd="sng" algn="ctr">
                      <a:solidFill>
                        <a:schemeClr val="bg2">
                          <a:lumMod val="20000"/>
                          <a:lumOff val="80000"/>
                        </a:schemeClr>
                      </a:solidFill>
                      <a:prstDash val="solid"/>
                      <a:round/>
                      <a:headEnd type="none" w="med" len="med"/>
                      <a:tailEnd type="none" w="med" len="med"/>
                    </a:lnR>
                    <a:lnB w="12700" cap="flat" cmpd="sng" algn="ctr">
                      <a:solidFill>
                        <a:schemeClr val="bg2">
                          <a:lumMod val="20000"/>
                          <a:lumOff val="80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bl>
          </a:graphicData>
        </a:graphic>
      </p:graphicFrame>
      <p:graphicFrame>
        <p:nvGraphicFramePr>
          <p:cNvPr id="138" name="Table 137"/>
          <p:cNvGraphicFramePr>
            <a:graphicFrameLocks noGrp="1"/>
          </p:cNvGraphicFramePr>
          <p:nvPr>
            <p:extLst>
              <p:ext uri="{D42A27DB-BD31-4B8C-83A1-F6EECF244321}">
                <p14:modId xmlns:p14="http://schemas.microsoft.com/office/powerpoint/2010/main" val="3331188485"/>
              </p:ext>
            </p:extLst>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extLst>
                    <a:ext uri="{9D8B030D-6E8A-4147-A177-3AD203B41FA5}">
                      <a16:colId xmlns:a16="http://schemas.microsoft.com/office/drawing/2014/main" val="20000"/>
                    </a:ext>
                  </a:extLst>
                </a:gridCol>
                <a:gridCol w="648000">
                  <a:extLst>
                    <a:ext uri="{9D8B030D-6E8A-4147-A177-3AD203B41FA5}">
                      <a16:colId xmlns:a16="http://schemas.microsoft.com/office/drawing/2014/main" val="20001"/>
                    </a:ext>
                  </a:extLst>
                </a:gridCol>
                <a:gridCol w="648000">
                  <a:extLst>
                    <a:ext uri="{9D8B030D-6E8A-4147-A177-3AD203B41FA5}">
                      <a16:colId xmlns:a16="http://schemas.microsoft.com/office/drawing/2014/main" val="20002"/>
                    </a:ext>
                  </a:extLst>
                </a:gridCol>
              </a:tblGrid>
              <a:tr h="300000">
                <a:tc gridSpan="2">
                  <a:txBody>
                    <a:bodyPr/>
                    <a:lstStyle/>
                    <a:p>
                      <a:pPr algn="ctr">
                        <a:defRPr sz="900" b="1">
                          <a:solidFill>
                            <a:srgbClr val="FFFFFF"/>
                          </a:solidFill>
                          <a:latin typeface="Montserrat"/>
                        </a:defRPr>
                      </a:pPr>
                      <a:r>
                        <a:t>mayo</a:t>
                      </a:r>
                    </a:p>
                  </a:txBody>
                  <a:tcPr>
                    <a:lnL w="12700" cap="flat" cmpd="sng" algn="ctr">
                      <a:solidFill>
                        <a:schemeClr val="bg1">
                          <a:lumMod val="95000"/>
                        </a:schemeClr>
                      </a:solidFill>
                      <a:prstDash val="solid"/>
                      <a:round/>
                      <a:headEnd type="none" w="med" len="med"/>
                      <a:tailEnd type="none" w="med" len="med"/>
                    </a:lnL>
                    <a:lnT w="12700" cap="flat" cmpd="sng" algn="ctr">
                      <a:solidFill>
                        <a:schemeClr val="bg1">
                          <a:lumMod val="95000"/>
                        </a:schemeClr>
                      </a:solidFill>
                      <a:prstDash val="solid"/>
                      <a:round/>
                      <a:headEnd type="none" w="med" len="med"/>
                      <a:tailEnd type="none" w="med" len="med"/>
                    </a:lnT>
                    <a:solidFill>
                      <a:srgbClr val="006455"/>
                    </a:solidFill>
                  </a:tcPr>
                </a:tc>
                <a:tc hMerge="1">
                  <a:txBody>
                    <a:bodyPr/>
                    <a:lstStyle/>
                    <a:p>
                      <a:pPr algn="ctr">
                        <a:defRPr sz="900" b="1">
                          <a:solidFill>
                            <a:srgbClr val="FFFFFF"/>
                          </a:solidFill>
                          <a:latin typeface="Montserrat"/>
                        </a:defRPr>
                      </a:pPr>
                      <a:endParaRPr/>
                    </a:p>
                  </a:txBody>
                  <a:tcPr>
                    <a:solidFill>
                      <a:srgbClr val="006455"/>
                    </a:solidFill>
                  </a:tcPr>
                </a:tc>
                <a:tc rowSpan="2">
                  <a:txBody>
                    <a:bodyPr/>
                    <a:lstStyle/>
                    <a:p>
                      <a:pPr algn="ctr">
                        <a:defRPr sz="900" b="1">
                          <a:solidFill>
                            <a:srgbClr val="FFFFFF"/>
                          </a:solidFill>
                          <a:latin typeface="Montserrat"/>
                        </a:defRPr>
                      </a:pPr>
                      <a:r>
                        <a:t>Variación</a:t>
                      </a:r>
                    </a:p>
                  </a:txBody>
                  <a:tcPr marL="0" marR="0" marT="216000" marB="0" anchor="ctr">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solidFill>
                      <a:srgbClr val="006455"/>
                    </a:solidFill>
                  </a:tcPr>
                </a:tc>
                <a:extLst>
                  <a:ext uri="{0D108BD9-81ED-4DB2-BD59-A6C34878D82A}">
                    <a16:rowId xmlns:a16="http://schemas.microsoft.com/office/drawing/2014/main" val="10000"/>
                  </a:ext>
                </a:extLst>
              </a:tr>
              <a:tr h="300000">
                <a:tc>
                  <a:txBody>
                    <a:bodyPr/>
                    <a:lstStyle/>
                    <a:p>
                      <a:pPr algn="ctr">
                        <a:defRPr sz="900" b="1">
                          <a:solidFill>
                            <a:srgbClr val="FFFFFF"/>
                          </a:solidFill>
                          <a:latin typeface="Montserrat"/>
                        </a:defRPr>
                      </a:pPr>
                      <a:r>
                        <a:t>2025</a:t>
                      </a:r>
                    </a:p>
                  </a:txBody>
                  <a:tcPr>
                    <a:lnL w="12700" cap="flat" cmpd="sng" algn="ctr">
                      <a:solidFill>
                        <a:schemeClr val="bg1">
                          <a:lumMod val="95000"/>
                        </a:schemeClr>
                      </a:solidFill>
                      <a:prstDash val="solid"/>
                      <a:round/>
                      <a:headEnd type="none" w="med" len="med"/>
                      <a:tailEnd type="none" w="med" len="med"/>
                    </a:lnL>
                    <a:solidFill>
                      <a:srgbClr val="006455"/>
                    </a:solidFill>
                  </a:tcPr>
                </a:tc>
                <a:tc>
                  <a:txBody>
                    <a:bodyPr/>
                    <a:lstStyle/>
                    <a:p>
                      <a:pPr algn="ctr">
                        <a:defRPr sz="900" b="1">
                          <a:solidFill>
                            <a:srgbClr val="FFFFFF"/>
                          </a:solidFill>
                          <a:latin typeface="Montserrat"/>
                        </a:defRPr>
                      </a:pPr>
                      <a:r>
                        <a:t>2026</a:t>
                      </a:r>
                    </a:p>
                  </a:txBody>
                  <a:tcPr>
                    <a:solidFill>
                      <a:srgbClr val="006455"/>
                    </a:solidFill>
                  </a:tcPr>
                </a:tc>
                <a:tc vMerge="1">
                  <a:txBody>
                    <a:bodyPr/>
                    <a:lstStyle/>
                    <a:p>
                      <a:endParaRPr/>
                    </a:p>
                  </a:txBody>
                  <a:tcPr>
                    <a:solidFill>
                      <a:srgbClr val="006455"/>
                    </a:solidFill>
                  </a:tcPr>
                </a:tc>
                <a:extLst>
                  <a:ext uri="{0D108BD9-81ED-4DB2-BD59-A6C34878D82A}">
                    <a16:rowId xmlns:a16="http://schemas.microsoft.com/office/drawing/2014/main" val="10001"/>
                  </a:ext>
                </a:extLst>
              </a:tr>
              <a:tr h="300000">
                <a:tc>
                  <a:txBody>
                    <a:bodyPr/>
                    <a:lstStyle/>
                    <a:p>
                      <a:pPr algn="ctr">
                        <a:defRPr sz="900" b="1">
                          <a:latin typeface="Montserrat"/>
                        </a:defRPr>
                      </a:pPr>
                      <a:r>
                        <a:t>3,025</a:t>
                      </a:r>
                    </a:p>
                  </a:txBody>
                  <a:tcPr>
                    <a:lnL w="12700" cap="flat" cmpd="sng" algn="ctr">
                      <a:solidFill>
                        <a:schemeClr val="bg1">
                          <a:lumMod val="95000"/>
                        </a:schemeClr>
                      </a:solidFill>
                      <a:prstDash val="solid"/>
                      <a:round/>
                      <a:headEnd type="none" w="med" len="med"/>
                      <a:tailEnd type="none" w="med" len="med"/>
                    </a:lnL>
                    <a:lnB w="12700" cap="flat" cmpd="sng" algn="ctr">
                      <a:solidFill>
                        <a:schemeClr val="bg1">
                          <a:lumMod val="95000"/>
                        </a:schemeClr>
                      </a:solidFill>
                      <a:prstDash val="solid"/>
                      <a:round/>
                      <a:headEnd type="none" w="med" len="med"/>
                      <a:tailEnd type="none" w="med" len="med"/>
                    </a:lnB>
                    <a:solidFill>
                      <a:srgbClr val="F8F4EC"/>
                    </a:solidFill>
                  </a:tcPr>
                </a:tc>
                <a:tc>
                  <a:txBody>
                    <a:bodyPr/>
                    <a:lstStyle/>
                    <a:p>
                      <a:pPr algn="ctr">
                        <a:defRPr sz="900" b="1">
                          <a:latin typeface="Montserrat"/>
                        </a:defRPr>
                      </a:pPr>
                      <a:r>
                        <a:t>2,958</a:t>
                      </a:r>
                    </a:p>
                  </a:txBody>
                  <a:tcPr>
                    <a:lnB w="12700" cap="flat" cmpd="sng" algn="ctr">
                      <a:solidFill>
                        <a:schemeClr val="bg1">
                          <a:lumMod val="95000"/>
                        </a:schemeClr>
                      </a:solidFill>
                      <a:prstDash val="solid"/>
                      <a:round/>
                      <a:headEnd type="none" w="med" len="med"/>
                      <a:tailEnd type="none" w="med" len="med"/>
                    </a:lnB>
                    <a:solidFill>
                      <a:srgbClr val="F8F4EC"/>
                    </a:solidFill>
                  </a:tcPr>
                </a:tc>
                <a:tc>
                  <a:txBody>
                    <a:bodyPr/>
                    <a:lstStyle/>
                    <a:p>
                      <a:pPr algn="ctr">
                        <a:defRPr sz="900" b="1">
                          <a:solidFill>
                            <a:srgbClr val="A61C00"/>
                          </a:solidFill>
                          <a:latin typeface="Montserrat"/>
                        </a:defRPr>
                      </a:pPr>
                      <a:r>
                        <a:t>-2%</a:t>
                      </a:r>
                    </a:p>
                  </a:txBody>
                  <a:tcPr>
                    <a:lnR w="12700" cap="flat" cmpd="sng" algn="ctr">
                      <a:solidFill>
                        <a:schemeClr val="bg1">
                          <a:lumMod val="95000"/>
                        </a:schemeClr>
                      </a:solidFill>
                      <a:prstDash val="solid"/>
                      <a:round/>
                      <a:headEnd type="none" w="med" len="med"/>
                      <a:tailEnd type="none" w="med" len="med"/>
                    </a:lnR>
                    <a:lnB w="12700" cap="flat" cmpd="sng" algn="ctr">
                      <a:solidFill>
                        <a:schemeClr val="bg1">
                          <a:lumMod val="95000"/>
                        </a:schemeClr>
                      </a:solidFill>
                      <a:prstDash val="solid"/>
                      <a:round/>
                      <a:headEnd type="none" w="med" len="med"/>
                      <a:tailEnd type="none" w="med" len="med"/>
                    </a:lnB>
                    <a:solidFill>
                      <a:srgbClr val="F8F4EC"/>
                    </a:solidFill>
                  </a:tcPr>
                </a:tc>
                <a:extLst>
                  <a:ext uri="{0D108BD9-81ED-4DB2-BD59-A6C34878D82A}">
                    <a16:rowId xmlns:a16="http://schemas.microsoft.com/office/drawing/2014/main" val="10002"/>
                  </a:ext>
                </a:extLst>
              </a:tr>
            </a:tbl>
          </a:graphicData>
        </a:graphic>
      </p:graphicFrame>
      <p:graphicFrame>
        <p:nvGraphicFramePr>
          <p:cNvPr id="139" name="Table 138"/>
          <p:cNvGraphicFramePr>
            <a:graphicFrameLocks noGrp="1"/>
          </p:cNvGraphicFramePr>
          <p:nvPr>
            <p:extLst>
              <p:ext uri="{D42A27DB-BD31-4B8C-83A1-F6EECF244321}">
                <p14:modId xmlns:p14="http://schemas.microsoft.com/office/powerpoint/2010/main" val="303312173"/>
              </p:ext>
            </p:extLst>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extLst>
                    <a:ext uri="{9D8B030D-6E8A-4147-A177-3AD203B41FA5}">
                      <a16:colId xmlns:a16="http://schemas.microsoft.com/office/drawing/2014/main" val="20000"/>
                    </a:ext>
                  </a:extLst>
                </a:gridCol>
                <a:gridCol w="648000">
                  <a:extLst>
                    <a:ext uri="{9D8B030D-6E8A-4147-A177-3AD203B41FA5}">
                      <a16:colId xmlns:a16="http://schemas.microsoft.com/office/drawing/2014/main" val="20001"/>
                    </a:ext>
                  </a:extLst>
                </a:gridCol>
                <a:gridCol w="648000">
                  <a:extLst>
                    <a:ext uri="{9D8B030D-6E8A-4147-A177-3AD203B41FA5}">
                      <a16:colId xmlns:a16="http://schemas.microsoft.com/office/drawing/2014/main" val="20002"/>
                    </a:ext>
                  </a:extLst>
                </a:gridCol>
              </a:tblGrid>
              <a:tr h="300000">
                <a:tc gridSpan="2">
                  <a:txBody>
                    <a:bodyPr/>
                    <a:lstStyle/>
                    <a:p>
                      <a:pPr algn="ctr">
                        <a:defRPr sz="900" b="1">
                          <a:solidFill>
                            <a:srgbClr val="FFFFFF"/>
                          </a:solidFill>
                          <a:latin typeface="Montserrat"/>
                        </a:defRPr>
                      </a:pPr>
                      <a:r>
                        <a:t>mayo</a:t>
                      </a:r>
                    </a:p>
                  </a:txBody>
                  <a:tcPr>
                    <a:lnL w="12700" cap="flat" cmpd="sng" algn="ctr">
                      <a:solidFill>
                        <a:schemeClr val="bg1">
                          <a:lumMod val="95000"/>
                        </a:schemeClr>
                      </a:solidFill>
                      <a:prstDash val="solid"/>
                      <a:round/>
                      <a:headEnd type="none" w="med" len="med"/>
                      <a:tailEnd type="none" w="med" len="med"/>
                    </a:lnL>
                    <a:lnT w="12700" cap="flat" cmpd="sng" algn="ctr">
                      <a:solidFill>
                        <a:schemeClr val="bg1">
                          <a:lumMod val="95000"/>
                        </a:schemeClr>
                      </a:solidFill>
                      <a:prstDash val="solid"/>
                      <a:round/>
                      <a:headEnd type="none" w="med" len="med"/>
                      <a:tailEnd type="none" w="med" len="med"/>
                    </a:lnT>
                    <a:solidFill>
                      <a:srgbClr val="006455"/>
                    </a:solidFill>
                  </a:tcPr>
                </a:tc>
                <a:tc hMerge="1">
                  <a:txBody>
                    <a:bodyPr/>
                    <a:lstStyle/>
                    <a:p>
                      <a:pPr algn="ctr">
                        <a:defRPr sz="900" b="1">
                          <a:solidFill>
                            <a:srgbClr val="FFFFFF"/>
                          </a:solidFill>
                          <a:latin typeface="Montserrat"/>
                        </a:defRPr>
                      </a:pPr>
                      <a:endParaRPr/>
                    </a:p>
                  </a:txBody>
                  <a:tcPr>
                    <a:solidFill>
                      <a:srgbClr val="006455"/>
                    </a:solidFill>
                  </a:tcPr>
                </a:tc>
                <a:tc rowSpan="2">
                  <a:txBody>
                    <a:bodyPr/>
                    <a:lstStyle/>
                    <a:p>
                      <a:pPr algn="ctr">
                        <a:defRPr sz="900" b="1">
                          <a:solidFill>
                            <a:srgbClr val="FFFFFF"/>
                          </a:solidFill>
                          <a:latin typeface="Montserrat"/>
                        </a:defRPr>
                      </a:pPr>
                      <a:r>
                        <a:t>Variación</a:t>
                      </a:r>
                    </a:p>
                  </a:txBody>
                  <a:tcPr marL="0" marR="0" marT="216000" marB="0" anchor="ctr">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solidFill>
                      <a:srgbClr val="006455"/>
                    </a:solidFill>
                  </a:tcPr>
                </a:tc>
                <a:extLst>
                  <a:ext uri="{0D108BD9-81ED-4DB2-BD59-A6C34878D82A}">
                    <a16:rowId xmlns:a16="http://schemas.microsoft.com/office/drawing/2014/main" val="10000"/>
                  </a:ext>
                </a:extLst>
              </a:tr>
              <a:tr h="300000">
                <a:tc>
                  <a:txBody>
                    <a:bodyPr/>
                    <a:lstStyle/>
                    <a:p>
                      <a:pPr algn="ctr">
                        <a:defRPr sz="900" b="1">
                          <a:solidFill>
                            <a:srgbClr val="FFFFFF"/>
                          </a:solidFill>
                          <a:latin typeface="Montserrat"/>
                        </a:defRPr>
                      </a:pPr>
                      <a:r>
                        <a:t>2025</a:t>
                      </a:r>
                    </a:p>
                  </a:txBody>
                  <a:tcPr>
                    <a:lnL w="12700" cap="flat" cmpd="sng" algn="ctr">
                      <a:solidFill>
                        <a:schemeClr val="bg1">
                          <a:lumMod val="95000"/>
                        </a:schemeClr>
                      </a:solidFill>
                      <a:prstDash val="solid"/>
                      <a:round/>
                      <a:headEnd type="none" w="med" len="med"/>
                      <a:tailEnd type="none" w="med" len="med"/>
                    </a:lnL>
                    <a:solidFill>
                      <a:srgbClr val="006455"/>
                    </a:solidFill>
                  </a:tcPr>
                </a:tc>
                <a:tc>
                  <a:txBody>
                    <a:bodyPr/>
                    <a:lstStyle/>
                    <a:p>
                      <a:pPr algn="ctr">
                        <a:defRPr sz="900" b="1">
                          <a:solidFill>
                            <a:srgbClr val="FFFFFF"/>
                          </a:solidFill>
                          <a:latin typeface="Montserrat"/>
                        </a:defRPr>
                      </a:pPr>
                      <a:r>
                        <a:t>2026</a:t>
                      </a:r>
                    </a:p>
                  </a:txBody>
                  <a:tcPr>
                    <a:solidFill>
                      <a:srgbClr val="006455"/>
                    </a:solidFill>
                  </a:tcPr>
                </a:tc>
                <a:tc vMerge="1">
                  <a:txBody>
                    <a:bodyPr/>
                    <a:lstStyle/>
                    <a:p>
                      <a:endParaRPr/>
                    </a:p>
                  </a:txBody>
                  <a:tcPr>
                    <a:solidFill>
                      <a:srgbClr val="006455"/>
                    </a:solidFill>
                  </a:tcPr>
                </a:tc>
                <a:extLst>
                  <a:ext uri="{0D108BD9-81ED-4DB2-BD59-A6C34878D82A}">
                    <a16:rowId xmlns:a16="http://schemas.microsoft.com/office/drawing/2014/main" val="10001"/>
                  </a:ext>
                </a:extLst>
              </a:tr>
              <a:tr h="300000">
                <a:tc>
                  <a:txBody>
                    <a:bodyPr/>
                    <a:lstStyle/>
                    <a:p>
                      <a:pPr algn="ctr">
                        <a:defRPr sz="900" b="1">
                          <a:latin typeface="Montserrat"/>
                        </a:defRPr>
                      </a:pPr>
                      <a:r>
                        <a:t>9,330</a:t>
                      </a:r>
                    </a:p>
                  </a:txBody>
                  <a:tcPr>
                    <a:lnL w="12700" cap="flat" cmpd="sng" algn="ctr">
                      <a:solidFill>
                        <a:schemeClr val="bg1">
                          <a:lumMod val="95000"/>
                        </a:schemeClr>
                      </a:solidFill>
                      <a:prstDash val="solid"/>
                      <a:round/>
                      <a:headEnd type="none" w="med" len="med"/>
                      <a:tailEnd type="none" w="med" len="med"/>
                    </a:lnL>
                    <a:lnB w="12700" cap="flat" cmpd="sng" algn="ctr">
                      <a:solidFill>
                        <a:schemeClr val="bg1">
                          <a:lumMod val="95000"/>
                        </a:schemeClr>
                      </a:solidFill>
                      <a:prstDash val="solid"/>
                      <a:round/>
                      <a:headEnd type="none" w="med" len="med"/>
                      <a:tailEnd type="none" w="med" len="med"/>
                    </a:lnB>
                    <a:solidFill>
                      <a:srgbClr val="F8F4EC"/>
                    </a:solidFill>
                  </a:tcPr>
                </a:tc>
                <a:tc>
                  <a:txBody>
                    <a:bodyPr/>
                    <a:lstStyle/>
                    <a:p>
                      <a:pPr algn="ctr">
                        <a:defRPr sz="900" b="1">
                          <a:latin typeface="Montserrat"/>
                        </a:defRPr>
                      </a:pPr>
                      <a:r>
                        <a:t>13,361</a:t>
                      </a:r>
                    </a:p>
                  </a:txBody>
                  <a:tcPr>
                    <a:lnB w="12700" cap="flat" cmpd="sng" algn="ctr">
                      <a:solidFill>
                        <a:schemeClr val="bg1">
                          <a:lumMod val="95000"/>
                        </a:schemeClr>
                      </a:solidFill>
                      <a:prstDash val="solid"/>
                      <a:round/>
                      <a:headEnd type="none" w="med" len="med"/>
                      <a:tailEnd type="none" w="med" len="med"/>
                    </a:lnB>
                    <a:solidFill>
                      <a:srgbClr val="F8F4EC"/>
                    </a:solidFill>
                  </a:tcPr>
                </a:tc>
                <a:tc>
                  <a:txBody>
                    <a:bodyPr/>
                    <a:lstStyle/>
                    <a:p>
                      <a:pPr algn="ctr">
                        <a:defRPr sz="900" b="1">
                          <a:latin typeface="Montserrat"/>
                        </a:defRPr>
                      </a:pPr>
                      <a:r>
                        <a:t>43%</a:t>
                      </a:r>
                    </a:p>
                  </a:txBody>
                  <a:tcPr>
                    <a:lnR w="12700" cap="flat" cmpd="sng" algn="ctr">
                      <a:solidFill>
                        <a:schemeClr val="bg1">
                          <a:lumMod val="95000"/>
                        </a:schemeClr>
                      </a:solidFill>
                      <a:prstDash val="solid"/>
                      <a:round/>
                      <a:headEnd type="none" w="med" len="med"/>
                      <a:tailEnd type="none" w="med" len="med"/>
                    </a:lnR>
                    <a:lnB w="12700" cap="flat" cmpd="sng" algn="ctr">
                      <a:solidFill>
                        <a:schemeClr val="bg1">
                          <a:lumMod val="95000"/>
                        </a:schemeClr>
                      </a:solidFill>
                      <a:prstDash val="solid"/>
                      <a:round/>
                      <a:headEnd type="none" w="med" len="med"/>
                      <a:tailEnd type="none" w="med" len="med"/>
                    </a:lnB>
                    <a:solidFill>
                      <a:srgbClr val="F8F4EC"/>
                    </a:solidFill>
                  </a:tcPr>
                </a:tc>
                <a:extLst>
                  <a:ext uri="{0D108BD9-81ED-4DB2-BD59-A6C34878D82A}">
                    <a16:rowId xmlns:a16="http://schemas.microsoft.com/office/drawing/2014/main" val="10002"/>
                  </a:ext>
                </a:extLst>
              </a:tr>
            </a:tbl>
          </a:graphicData>
        </a:graphic>
      </p:graphicFrame>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Infraestructura médica IMSS e IMSS Coplamar</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05_coah.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extLst>
              <p:ext uri="{D42A27DB-BD31-4B8C-83A1-F6EECF244321}">
                <p14:modId xmlns:p14="http://schemas.microsoft.com/office/powerpoint/2010/main" val="3828570721"/>
              </p:ext>
            </p:extLst>
          </p:nvPr>
        </p:nvGraphicFramePr>
        <p:xfrm>
          <a:off x="97200" y="6854400"/>
          <a:ext cx="4359600" cy="1496400"/>
        </p:xfrm>
        <a:graphic>
          <a:graphicData uri="http://schemas.openxmlformats.org/drawingml/2006/table">
            <a:tbl>
              <a:tblPr firstRow="1" bandRow="1">
                <a:tableStyleId>{5C22544A-7EE6-4342-B048-85BDC9FD1C3A}</a:tableStyleId>
              </a:tblPr>
              <a:tblGrid>
                <a:gridCol w="871920">
                  <a:extLst>
                    <a:ext uri="{9D8B030D-6E8A-4147-A177-3AD203B41FA5}">
                      <a16:colId xmlns:a16="http://schemas.microsoft.com/office/drawing/2014/main" val="20000"/>
                    </a:ext>
                  </a:extLst>
                </a:gridCol>
                <a:gridCol w="871920">
                  <a:extLst>
                    <a:ext uri="{9D8B030D-6E8A-4147-A177-3AD203B41FA5}">
                      <a16:colId xmlns:a16="http://schemas.microsoft.com/office/drawing/2014/main" val="20001"/>
                    </a:ext>
                  </a:extLst>
                </a:gridCol>
                <a:gridCol w="871920">
                  <a:extLst>
                    <a:ext uri="{9D8B030D-6E8A-4147-A177-3AD203B41FA5}">
                      <a16:colId xmlns:a16="http://schemas.microsoft.com/office/drawing/2014/main" val="20002"/>
                    </a:ext>
                  </a:extLst>
                </a:gridCol>
                <a:gridCol w="871920">
                  <a:extLst>
                    <a:ext uri="{9D8B030D-6E8A-4147-A177-3AD203B41FA5}">
                      <a16:colId xmlns:a16="http://schemas.microsoft.com/office/drawing/2014/main" val="20003"/>
                    </a:ext>
                  </a:extLst>
                </a:gridCol>
                <a:gridCol w="871920">
                  <a:extLst>
                    <a:ext uri="{9D8B030D-6E8A-4147-A177-3AD203B41FA5}">
                      <a16:colId xmlns:a16="http://schemas.microsoft.com/office/drawing/2014/main" val="20004"/>
                    </a:ext>
                  </a:extLst>
                </a:gridCol>
              </a:tblGrid>
              <a:tr h="234000">
                <a:tc rowSpan="2">
                  <a:txBody>
                    <a:bodyPr/>
                    <a:lstStyle/>
                    <a:p>
                      <a:pPr algn="ctr">
                        <a:defRPr sz="1000" b="1">
                          <a:solidFill>
                            <a:srgbClr val="FFFFFF"/>
                          </a:solidFill>
                          <a:latin typeface="Montserrat"/>
                        </a:defRPr>
                      </a:pPr>
                      <a:r>
                        <a:t>Nivel</a:t>
                      </a:r>
                    </a:p>
                  </a:txBody>
                  <a:tcPr marL="10800" marR="10800" marT="10800" marB="10800" anchor="ctr">
                    <a:lnL w="12700" cap="flat" cmpd="sng" algn="ctr">
                      <a:solidFill>
                        <a:schemeClr val="bg2">
                          <a:lumMod val="20000"/>
                          <a:lumOff val="80000"/>
                        </a:schemeClr>
                      </a:solidFill>
                      <a:prstDash val="solid"/>
                      <a:round/>
                      <a:headEnd type="none" w="med" len="med"/>
                      <a:tailEnd type="none" w="med" len="med"/>
                    </a:lnL>
                    <a:lnT w="12700" cap="flat" cmpd="sng" algn="ctr">
                      <a:solidFill>
                        <a:schemeClr val="bg2">
                          <a:lumMod val="20000"/>
                          <a:lumOff val="80000"/>
                        </a:schemeClr>
                      </a:solidFill>
                      <a:prstDash val="solid"/>
                      <a:round/>
                      <a:headEnd type="none" w="med" len="med"/>
                      <a:tailEnd type="none" w="med" len="med"/>
                    </a:lnT>
                    <a:solidFill>
                      <a:srgbClr val="660000"/>
                    </a:solidFill>
                  </a:tcPr>
                </a:tc>
                <a:tc gridSpan="4">
                  <a:txBody>
                    <a:bodyPr/>
                    <a:lstStyle/>
                    <a:p>
                      <a:pPr algn="ctr">
                        <a:defRPr sz="1000" b="1">
                          <a:solidFill>
                            <a:srgbClr val="FFFFFF"/>
                          </a:solidFill>
                          <a:latin typeface="Montserrat"/>
                        </a:defRPr>
                      </a:pPr>
                      <a:r>
                        <a:t>IMSS Ordinario</a:t>
                      </a:r>
                    </a:p>
                  </a:txBody>
                  <a:tcPr marL="10800" marR="10800" marT="10800" marB="10800">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solidFill>
                      <a:srgbClr val="006455"/>
                    </a:solidFill>
                  </a:tcPr>
                </a:tc>
                <a:tc hMerge="1">
                  <a:txBody>
                    <a:bodyPr/>
                    <a:lstStyle/>
                    <a:p>
                      <a:endParaRPr/>
                    </a:p>
                  </a:txBody>
                  <a:tcPr marL="10800" marR="10800" marT="10800" marB="10800"/>
                </a:tc>
                <a:tc hMerge="1">
                  <a:txBody>
                    <a:bodyPr/>
                    <a:lstStyle/>
                    <a:p>
                      <a:endParaRPr/>
                    </a:p>
                  </a:txBody>
                  <a:tcPr marL="10800" marR="10800" marT="10800" marB="10800"/>
                </a:tc>
                <a:tc hMerge="1">
                  <a:txBody>
                    <a:bodyPr/>
                    <a:lstStyle/>
                    <a:p>
                      <a:endParaRPr/>
                    </a:p>
                  </a:txBody>
                  <a:tcPr marL="10800" marR="10800" marT="10800" marB="10800"/>
                </a:tc>
                <a:extLst>
                  <a:ext uri="{0D108BD9-81ED-4DB2-BD59-A6C34878D82A}">
                    <a16:rowId xmlns:a16="http://schemas.microsoft.com/office/drawing/2014/main" val="10000"/>
                  </a:ext>
                </a:extLst>
              </a:tr>
              <a:tr h="234000">
                <a:tc vMerge="1">
                  <a:txBody>
                    <a:bodyPr/>
                    <a:lstStyle/>
                    <a:p>
                      <a:endParaRPr/>
                    </a:p>
                  </a:txBody>
                  <a:tcPr marL="10800" marR="10800" marT="10800" marB="10800" anchor="ctr">
                    <a:solidFill>
                      <a:srgbClr val="006455"/>
                    </a:solidFill>
                  </a:tcPr>
                </a:tc>
                <a:tc>
                  <a:txBody>
                    <a:bodyPr/>
                    <a:lstStyle/>
                    <a:p>
                      <a:pPr algn="ctr">
                        <a:defRPr sz="1000" b="1">
                          <a:solidFill>
                            <a:srgbClr val="FFFFFF"/>
                          </a:solidFill>
                          <a:latin typeface="Montserrat"/>
                        </a:defRPr>
                      </a:pPr>
                      <a:r>
                        <a:t>Unidades</a:t>
                      </a:r>
                    </a:p>
                  </a:txBody>
                  <a:tcPr marL="10800" marR="10800" marT="10800" marB="10800" anchor="ctr">
                    <a:solidFill>
                      <a:srgbClr val="006455"/>
                    </a:solidFill>
                  </a:tcPr>
                </a:tc>
                <a:tc>
                  <a:txBody>
                    <a:bodyPr/>
                    <a:lstStyle/>
                    <a:p>
                      <a:pPr algn="ctr">
                        <a:defRPr sz="1000" b="1">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sz="1000" b="1">
                          <a:solidFill>
                            <a:srgbClr val="FFFFFF"/>
                          </a:solidFill>
                          <a:latin typeface="Montserrat"/>
                        </a:defRPr>
                      </a:pPr>
                      <a:r>
                        <a:t>Camas</a:t>
                      </a:r>
                    </a:p>
                  </a:txBody>
                  <a:tcPr marL="10800" marR="10800" marT="10800" marB="10800" anchor="ctr">
                    <a:solidFill>
                      <a:srgbClr val="006455"/>
                    </a:solidFill>
                  </a:tcPr>
                </a:tc>
                <a:tc>
                  <a:txBody>
                    <a:bodyPr/>
                    <a:lstStyle/>
                    <a:p>
                      <a:pPr algn="ctr">
                        <a:defRPr sz="1000" b="1">
                          <a:solidFill>
                            <a:srgbClr val="FFFFFF"/>
                          </a:solidFill>
                          <a:latin typeface="Montserrat"/>
                        </a:defRPr>
                      </a:pPr>
                      <a:r>
                        <a:t>Camas no censables</a:t>
                      </a:r>
                    </a:p>
                  </a:txBody>
                  <a:tcPr marL="10800" marR="10800" marT="10800" marB="10800" anchor="ctr">
                    <a:lnR w="12700" cap="flat" cmpd="sng" algn="ctr">
                      <a:solidFill>
                        <a:schemeClr val="bg2">
                          <a:lumMod val="20000"/>
                          <a:lumOff val="80000"/>
                        </a:schemeClr>
                      </a:solidFill>
                      <a:prstDash val="solid"/>
                      <a:round/>
                      <a:headEnd type="none" w="med" len="med"/>
                      <a:tailEnd type="none" w="med" len="med"/>
                    </a:lnR>
                    <a:solidFill>
                      <a:srgbClr val="006455"/>
                    </a:solidFill>
                  </a:tcPr>
                </a:tc>
                <a:extLst>
                  <a:ext uri="{0D108BD9-81ED-4DB2-BD59-A6C34878D82A}">
                    <a16:rowId xmlns:a16="http://schemas.microsoft.com/office/drawing/2014/main" val="10001"/>
                  </a:ext>
                </a:extLst>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defRPr sz="1000">
                          <a:solidFill>
                            <a:srgbClr val="000000"/>
                          </a:solidFill>
                          <a:latin typeface="Montserrat"/>
                        </a:defRPr>
                      </a:pPr>
                      <a:r>
                        <a:rPr sz="1000">
                          <a:latin typeface="Montserrat"/>
                        </a:rPr>
                        <a:t>39</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23</a:t>
                      </a:r>
                      <a:r>
                        <a:rPr lang="es-MX" sz="1000">
                          <a:latin typeface="Montserrat"/>
                        </a:rPr>
                        <a:t>7</a:t>
                      </a:r>
                      <a:endParaRPr sz="1000">
                        <a:latin typeface="Montserrat"/>
                      </a:endParaRP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lang="es-MX" sz="1000">
                          <a:latin typeface="Montserrat"/>
                        </a:rPr>
                        <a:t>112</a:t>
                      </a:r>
                      <a:endParaRPr sz="1000">
                        <a:latin typeface="Montserrat"/>
                      </a:endParaRPr>
                    </a:p>
                  </a:txBody>
                  <a:tcPr marL="10800" marR="10800" marT="10800" marB="10800" anchor="ct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2"/>
                  </a:ext>
                </a:extLst>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lnL w="12700" cap="flat" cmpd="sng" algn="ctr">
                      <a:solidFill>
                        <a:schemeClr val="bg2">
                          <a:lumMod val="20000"/>
                          <a:lumOff val="80000"/>
                        </a:schemeClr>
                      </a:solidFill>
                      <a:prstDash val="solid"/>
                      <a:round/>
                      <a:headEnd type="none" w="med" len="med"/>
                      <a:tailEnd type="none" w="med" len="med"/>
                    </a:lnL>
                    <a:solidFill>
                      <a:srgbClr val="EFEFEF"/>
                    </a:solidFill>
                  </a:tcPr>
                </a:tc>
                <a:tc>
                  <a:txBody>
                    <a:bodyPr/>
                    <a:lstStyle/>
                    <a:p>
                      <a:pPr algn="ctr">
                        <a:defRPr sz="1000">
                          <a:solidFill>
                            <a:srgbClr val="000000"/>
                          </a:solidFill>
                          <a:latin typeface="Montserrat"/>
                        </a:defRPr>
                      </a:pPr>
                      <a:r>
                        <a:rPr sz="1000">
                          <a:latin typeface="Montserrat"/>
                        </a:rPr>
                        <a:t>14</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87</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1,46</a:t>
                      </a:r>
                      <a:r>
                        <a:rPr lang="es-MX" sz="1000">
                          <a:latin typeface="Montserrat"/>
                        </a:rPr>
                        <a:t>7</a:t>
                      </a:r>
                      <a:endParaRPr sz="1000">
                        <a:latin typeface="Montserrat"/>
                      </a:endParaRP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5</a:t>
                      </a:r>
                      <a:r>
                        <a:rPr lang="es-MX" sz="1000">
                          <a:latin typeface="Montserrat"/>
                        </a:rPr>
                        <a:t>49</a:t>
                      </a:r>
                      <a:endParaRPr sz="1000">
                        <a:latin typeface="Montserrat"/>
                      </a:endParaRPr>
                    </a:p>
                  </a:txBody>
                  <a:tcPr marL="10800" marR="10800" marT="10800" marB="10800" anchor="ctr">
                    <a:lnR w="12700" cap="flat" cmpd="sng" algn="ctr">
                      <a:solidFill>
                        <a:schemeClr val="bg2">
                          <a:lumMod val="20000"/>
                          <a:lumOff val="80000"/>
                        </a:schemeClr>
                      </a:solidFill>
                      <a:prstDash val="solid"/>
                      <a:round/>
                      <a:headEnd type="none" w="med" len="med"/>
                      <a:tailEnd type="none" w="med" len="med"/>
                    </a:lnR>
                    <a:solidFill>
                      <a:srgbClr val="EFEFEF"/>
                    </a:solidFill>
                  </a:tcPr>
                </a:tc>
                <a:extLst>
                  <a:ext uri="{0D108BD9-81ED-4DB2-BD59-A6C34878D82A}">
                    <a16:rowId xmlns:a16="http://schemas.microsoft.com/office/drawing/2014/main" val="10003"/>
                  </a:ext>
                </a:extLst>
              </a:tr>
              <a:tr h="234000">
                <a:tc>
                  <a:txBody>
                    <a:bodyPr/>
                    <a:lstStyle/>
                    <a:p>
                      <a:pPr algn="l">
                        <a:defRPr sz="1000">
                          <a:solidFill>
                            <a:srgbClr val="000000"/>
                          </a:solidFill>
                          <a:latin typeface="Montserrat"/>
                        </a:defRPr>
                      </a:pPr>
                      <a:r>
                        <a:rPr sz="1000">
                          <a:latin typeface="Montserrat"/>
                        </a:rPr>
                        <a:t>Tercer</a:t>
                      </a:r>
                    </a:p>
                  </a:txBody>
                  <a:tcPr marL="10800" marR="10800" marT="10800" marB="10800" anchor="ct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defRPr sz="1000">
                          <a:solidFill>
                            <a:srgbClr val="000000"/>
                          </a:solidFill>
                          <a:latin typeface="Montserrat"/>
                        </a:defRPr>
                      </a:pPr>
                      <a:r>
                        <a:rPr sz="1000">
                          <a:latin typeface="Montserrat"/>
                        </a:rPr>
                        <a:t>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248</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107</a:t>
                      </a:r>
                    </a:p>
                  </a:txBody>
                  <a:tcPr marL="10800" marR="10800" marT="10800" marB="10800" anchor="ct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4"/>
                  </a:ext>
                </a:extLst>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lnL w="12700" cap="flat" cmpd="sng" algn="ctr">
                      <a:solidFill>
                        <a:schemeClr val="bg2">
                          <a:lumMod val="20000"/>
                          <a:lumOff val="80000"/>
                        </a:schemeClr>
                      </a:solidFill>
                      <a:prstDash val="solid"/>
                      <a:round/>
                      <a:headEnd type="none" w="med" len="med"/>
                      <a:tailEnd type="none" w="med" len="med"/>
                    </a:lnL>
                    <a:lnB w="12700" cap="flat" cmpd="sng" algn="ctr">
                      <a:solidFill>
                        <a:schemeClr val="bg2">
                          <a:lumMod val="20000"/>
                          <a:lumOff val="80000"/>
                        </a:schemeClr>
                      </a:solidFill>
                      <a:prstDash val="solid"/>
                      <a:round/>
                      <a:headEnd type="none" w="med" len="med"/>
                      <a:tailEnd type="none" w="med" len="med"/>
                    </a:lnB>
                    <a:solidFill>
                      <a:srgbClr val="D3E9E7"/>
                    </a:solidFill>
                  </a:tcPr>
                </a:tc>
                <a:tc>
                  <a:txBody>
                    <a:bodyPr/>
                    <a:lstStyle/>
                    <a:p>
                      <a:pPr algn="ctr">
                        <a:defRPr sz="1000" b="1">
                          <a:solidFill>
                            <a:srgbClr val="006556"/>
                          </a:solidFill>
                          <a:latin typeface="Montserrat"/>
                        </a:defRPr>
                      </a:pPr>
                      <a:r>
                        <a:rPr sz="1000">
                          <a:latin typeface="Montserrat"/>
                        </a:rPr>
                        <a:t>54</a:t>
                      </a:r>
                    </a:p>
                  </a:txBody>
                  <a:tcPr marL="10800" marR="10800" marT="10800" marB="10800" anchor="ctr">
                    <a:lnB w="12700" cap="flat" cmpd="sng" algn="ctr">
                      <a:solidFill>
                        <a:schemeClr val="bg2">
                          <a:lumMod val="20000"/>
                          <a:lumOff val="80000"/>
                        </a:schemeClr>
                      </a:solidFill>
                      <a:prstDash val="solid"/>
                      <a:round/>
                      <a:headEnd type="none" w="med" len="med"/>
                      <a:tailEnd type="none" w="med" len="med"/>
                    </a:lnB>
                    <a:solidFill>
                      <a:srgbClr val="D3E9E7"/>
                    </a:solidFill>
                  </a:tcPr>
                </a:tc>
                <a:tc>
                  <a:txBody>
                    <a:bodyPr/>
                    <a:lstStyle/>
                    <a:p>
                      <a:pPr algn="ctr">
                        <a:defRPr sz="1000" b="1">
                          <a:solidFill>
                            <a:srgbClr val="006556"/>
                          </a:solidFill>
                          <a:latin typeface="Montserrat"/>
                        </a:defRPr>
                      </a:pPr>
                      <a:r>
                        <a:rPr sz="1000">
                          <a:latin typeface="Montserrat"/>
                        </a:rPr>
                        <a:t>32</a:t>
                      </a:r>
                      <a:r>
                        <a:rPr lang="es-MX" sz="1000">
                          <a:latin typeface="Montserrat"/>
                        </a:rPr>
                        <a:t>4</a:t>
                      </a:r>
                      <a:endParaRPr sz="1000">
                        <a:latin typeface="Montserrat"/>
                      </a:endParaRPr>
                    </a:p>
                  </a:txBody>
                  <a:tcPr marL="10800" marR="10800" marT="10800" marB="10800" anchor="ctr">
                    <a:lnB w="12700" cap="flat" cmpd="sng" algn="ctr">
                      <a:solidFill>
                        <a:schemeClr val="bg2">
                          <a:lumMod val="20000"/>
                          <a:lumOff val="80000"/>
                        </a:schemeClr>
                      </a:solidFill>
                      <a:prstDash val="solid"/>
                      <a:round/>
                      <a:headEnd type="none" w="med" len="med"/>
                      <a:tailEnd type="none" w="med" len="med"/>
                    </a:lnB>
                    <a:solidFill>
                      <a:srgbClr val="D3E9E7"/>
                    </a:solidFill>
                  </a:tcPr>
                </a:tc>
                <a:tc>
                  <a:txBody>
                    <a:bodyPr/>
                    <a:lstStyle/>
                    <a:p>
                      <a:pPr algn="ctr">
                        <a:defRPr sz="1000" b="1">
                          <a:solidFill>
                            <a:srgbClr val="006556"/>
                          </a:solidFill>
                          <a:latin typeface="Montserrat"/>
                        </a:defRPr>
                      </a:pPr>
                      <a:r>
                        <a:rPr sz="1000">
                          <a:latin typeface="Montserrat"/>
                        </a:rPr>
                        <a:t>1,71</a:t>
                      </a:r>
                      <a:r>
                        <a:rPr lang="es-MX" sz="1000">
                          <a:latin typeface="Montserrat"/>
                        </a:rPr>
                        <a:t>5</a:t>
                      </a:r>
                      <a:endParaRPr sz="1000">
                        <a:latin typeface="Montserrat"/>
                      </a:endParaRPr>
                    </a:p>
                  </a:txBody>
                  <a:tcPr marL="10800" marR="10800" marT="10800" marB="10800" anchor="ctr">
                    <a:lnB w="12700" cap="flat" cmpd="sng" algn="ctr">
                      <a:solidFill>
                        <a:schemeClr val="bg2">
                          <a:lumMod val="20000"/>
                          <a:lumOff val="80000"/>
                        </a:schemeClr>
                      </a:solidFill>
                      <a:prstDash val="solid"/>
                      <a:round/>
                      <a:headEnd type="none" w="med" len="med"/>
                      <a:tailEnd type="none" w="med" len="med"/>
                    </a:lnB>
                    <a:solidFill>
                      <a:srgbClr val="D3E9E7"/>
                    </a:solidFill>
                  </a:tcPr>
                </a:tc>
                <a:tc>
                  <a:txBody>
                    <a:bodyPr/>
                    <a:lstStyle/>
                    <a:p>
                      <a:pPr algn="ctr">
                        <a:defRPr sz="1000" b="1">
                          <a:solidFill>
                            <a:srgbClr val="006556"/>
                          </a:solidFill>
                          <a:latin typeface="Montserrat"/>
                        </a:defRPr>
                      </a:pPr>
                      <a:r>
                        <a:rPr sz="1000">
                          <a:latin typeface="Montserrat"/>
                        </a:rPr>
                        <a:t>7</a:t>
                      </a:r>
                      <a:r>
                        <a:rPr lang="es-MX" sz="1000">
                          <a:latin typeface="Montserrat"/>
                        </a:rPr>
                        <a:t>68</a:t>
                      </a:r>
                      <a:endParaRPr sz="1000">
                        <a:latin typeface="Montserrat"/>
                      </a:endParaRPr>
                    </a:p>
                  </a:txBody>
                  <a:tcPr marL="10800" marR="10800" marT="10800" marB="10800" anchor="ctr">
                    <a:lnR w="12700" cap="flat" cmpd="sng" algn="ctr">
                      <a:solidFill>
                        <a:schemeClr val="bg2">
                          <a:lumMod val="20000"/>
                          <a:lumOff val="80000"/>
                        </a:schemeClr>
                      </a:solidFill>
                      <a:prstDash val="solid"/>
                      <a:round/>
                      <a:headEnd type="none" w="med" len="med"/>
                      <a:tailEnd type="none" w="med" len="med"/>
                    </a:lnR>
                    <a:lnB w="12700" cap="flat" cmpd="sng" algn="ctr">
                      <a:solidFill>
                        <a:schemeClr val="bg2">
                          <a:lumMod val="20000"/>
                          <a:lumOff val="80000"/>
                        </a:schemeClr>
                      </a:solidFill>
                      <a:prstDash val="solid"/>
                      <a:round/>
                      <a:headEnd type="none" w="med" len="med"/>
                      <a:tailEnd type="none" w="med" len="med"/>
                    </a:lnB>
                    <a:solidFill>
                      <a:srgbClr val="D3E9E7"/>
                    </a:solidFill>
                  </a:tcPr>
                </a:tc>
                <a:extLst>
                  <a:ext uri="{0D108BD9-81ED-4DB2-BD59-A6C34878D82A}">
                    <a16:rowId xmlns:a16="http://schemas.microsoft.com/office/drawing/2014/main" val="10005"/>
                  </a:ext>
                </a:extLst>
              </a:tr>
            </a:tbl>
          </a:graphicData>
        </a:graphic>
      </p:graphicFrame>
      <p:graphicFrame>
        <p:nvGraphicFramePr>
          <p:cNvPr id="136" name="Table 135"/>
          <p:cNvGraphicFramePr>
            <a:graphicFrameLocks noGrp="1"/>
          </p:cNvGraphicFramePr>
          <p:nvPr>
            <p:extLst>
              <p:ext uri="{D42A27DB-BD31-4B8C-83A1-F6EECF244321}">
                <p14:modId xmlns:p14="http://schemas.microsoft.com/office/powerpoint/2010/main" val="3530017040"/>
              </p:ext>
            </p:extLst>
          </p:nvPr>
        </p:nvGraphicFramePr>
        <p:xfrm>
          <a:off x="4536000" y="6854400"/>
          <a:ext cx="3096000" cy="1507200"/>
        </p:xfrm>
        <a:graphic>
          <a:graphicData uri="http://schemas.openxmlformats.org/drawingml/2006/table">
            <a:tbl>
              <a:tblPr firstRow="1" bandRow="1">
                <a:tableStyleId>{5C22544A-7EE6-4342-B048-85BDC9FD1C3A}</a:tableStyleId>
              </a:tblPr>
              <a:tblGrid>
                <a:gridCol w="846000">
                  <a:extLst>
                    <a:ext uri="{9D8B030D-6E8A-4147-A177-3AD203B41FA5}">
                      <a16:colId xmlns:a16="http://schemas.microsoft.com/office/drawing/2014/main" val="20000"/>
                    </a:ext>
                  </a:extLst>
                </a:gridCol>
                <a:gridCol w="846000">
                  <a:extLst>
                    <a:ext uri="{9D8B030D-6E8A-4147-A177-3AD203B41FA5}">
                      <a16:colId xmlns:a16="http://schemas.microsoft.com/office/drawing/2014/main" val="20001"/>
                    </a:ext>
                  </a:extLst>
                </a:gridCol>
                <a:gridCol w="846000">
                  <a:extLst>
                    <a:ext uri="{9D8B030D-6E8A-4147-A177-3AD203B41FA5}">
                      <a16:colId xmlns:a16="http://schemas.microsoft.com/office/drawing/2014/main" val="20002"/>
                    </a:ext>
                  </a:extLst>
                </a:gridCol>
                <a:gridCol w="558000">
                  <a:extLst>
                    <a:ext uri="{9D8B030D-6E8A-4147-A177-3AD203B41FA5}">
                      <a16:colId xmlns:a16="http://schemas.microsoft.com/office/drawing/2014/main" val="20003"/>
                    </a:ext>
                  </a:extLst>
                </a:gridCol>
              </a:tblGrid>
              <a:tr h="295200">
                <a:tc gridSpan="4">
                  <a:txBody>
                    <a:bodyPr/>
                    <a:lstStyle/>
                    <a:p>
                      <a:pPr algn="ctr">
                        <a:defRPr sz="1000" b="1">
                          <a:solidFill>
                            <a:srgbClr val="FFFFFF"/>
                          </a:solidFill>
                          <a:latin typeface="Montserrat"/>
                        </a:defRPr>
                      </a:pPr>
                      <a:r>
                        <a:t>IMSS-COPLAMAR</a:t>
                      </a:r>
                    </a:p>
                  </a:txBody>
                  <a:tcPr marL="10800" marR="10800" marT="10800" marB="10800"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solidFill>
                      <a:srgbClr val="BC955C"/>
                    </a:solidFill>
                  </a:tcPr>
                </a:tc>
                <a:tc hMerge="1">
                  <a:txBody>
                    <a:bodyPr/>
                    <a:lstStyle/>
                    <a:p>
                      <a:endParaRPr/>
                    </a:p>
                  </a:txBody>
                  <a:tcPr marL="10800" marR="10800" marT="10800" marB="10800" anchor="ctr"/>
                </a:tc>
                <a:tc hMerge="1">
                  <a:txBody>
                    <a:bodyPr/>
                    <a:lstStyle/>
                    <a:p>
                      <a:endParaRPr/>
                    </a:p>
                  </a:txBody>
                  <a:tcPr marL="10800" marR="10800" marT="10800" marB="10800" anchor="ctr"/>
                </a:tc>
                <a:tc hMerge="1">
                  <a:txBody>
                    <a:bodyPr/>
                    <a:lstStyle/>
                    <a:p>
                      <a:endParaRPr/>
                    </a:p>
                  </a:txBody>
                  <a:tcPr marL="10800" marR="10800" marT="10800" marB="10800" anchor="ctr"/>
                </a:tc>
                <a:extLst>
                  <a:ext uri="{0D108BD9-81ED-4DB2-BD59-A6C34878D82A}">
                    <a16:rowId xmlns:a16="http://schemas.microsoft.com/office/drawing/2014/main" val="10000"/>
                  </a:ext>
                </a:extLst>
              </a:tr>
              <a:tr h="295200">
                <a:tc>
                  <a:txBody>
                    <a:bodyPr/>
                    <a:lstStyle/>
                    <a:p>
                      <a:pPr algn="ctr">
                        <a:defRPr sz="1000" b="1">
                          <a:solidFill>
                            <a:srgbClr val="FFFFFF"/>
                          </a:solidFill>
                          <a:latin typeface="Montserrat"/>
                        </a:defRPr>
                      </a:pPr>
                      <a:r>
                        <a:t>Nivel</a:t>
                      </a:r>
                    </a:p>
                  </a:txBody>
                  <a:tcPr marL="10800" marR="10800" marT="10800" marB="10800" anchor="ctr">
                    <a:lnL w="12700" cap="flat" cmpd="sng" algn="ctr">
                      <a:solidFill>
                        <a:schemeClr val="bg2">
                          <a:lumMod val="20000"/>
                          <a:lumOff val="80000"/>
                        </a:schemeClr>
                      </a:solidFill>
                      <a:prstDash val="solid"/>
                      <a:round/>
                      <a:headEnd type="none" w="med" len="med"/>
                      <a:tailEnd type="none" w="med" len="med"/>
                    </a:lnL>
                    <a:solidFill>
                      <a:srgbClr val="BC955C"/>
                    </a:solidFill>
                  </a:tcPr>
                </a:tc>
                <a:tc>
                  <a:txBody>
                    <a:bodyPr/>
                    <a:lstStyle/>
                    <a:p>
                      <a:pPr algn="ctr">
                        <a:defRPr sz="1000" b="1">
                          <a:solidFill>
                            <a:srgbClr val="FFFFFF"/>
                          </a:solidFill>
                          <a:latin typeface="Montserrat"/>
                        </a:defRPr>
                      </a:pPr>
                      <a:r>
                        <a:t>Unidades</a:t>
                      </a:r>
                    </a:p>
                  </a:txBody>
                  <a:tcPr marL="0" marR="0" marT="10800" marB="10800" anchor="ctr">
                    <a:solidFill>
                      <a:srgbClr val="BC955C"/>
                    </a:solidFill>
                  </a:tcPr>
                </a:tc>
                <a:tc>
                  <a:txBody>
                    <a:bodyPr/>
                    <a:lstStyle/>
                    <a:p>
                      <a:pPr algn="ctr">
                        <a:defRPr sz="1000" b="1">
                          <a:solidFill>
                            <a:srgbClr val="FFFFFF"/>
                          </a:solidFill>
                          <a:latin typeface="Montserrat"/>
                        </a:defRPr>
                      </a:pPr>
                      <a:r>
                        <a:t>Consultorios de MF</a:t>
                      </a:r>
                    </a:p>
                  </a:txBody>
                  <a:tcPr marL="0" marR="0" marT="10800" marB="10800" anchor="ctr">
                    <a:solidFill>
                      <a:srgbClr val="BC955C"/>
                    </a:solidFill>
                  </a:tcPr>
                </a:tc>
                <a:tc>
                  <a:txBody>
                    <a:bodyPr/>
                    <a:lstStyle/>
                    <a:p>
                      <a:pPr algn="ctr">
                        <a:defRPr sz="1000" b="1">
                          <a:solidFill>
                            <a:srgbClr val="FFFFFF"/>
                          </a:solidFill>
                          <a:latin typeface="Montserrat"/>
                        </a:defRPr>
                      </a:pPr>
                      <a:r>
                        <a:t>Camas</a:t>
                      </a:r>
                    </a:p>
                  </a:txBody>
                  <a:tcPr marL="0" marR="0" marT="10800" marB="10800" anchor="ctr">
                    <a:lnR w="12700" cap="flat" cmpd="sng" algn="ctr">
                      <a:solidFill>
                        <a:schemeClr val="bg2">
                          <a:lumMod val="20000"/>
                          <a:lumOff val="80000"/>
                        </a:schemeClr>
                      </a:solidFill>
                      <a:prstDash val="solid"/>
                      <a:round/>
                      <a:headEnd type="none" w="med" len="med"/>
                      <a:tailEnd type="none" w="med" len="med"/>
                    </a:lnR>
                    <a:solidFill>
                      <a:srgbClr val="BC955C"/>
                    </a:solidFill>
                  </a:tcPr>
                </a:tc>
                <a:extLst>
                  <a:ext uri="{0D108BD9-81ED-4DB2-BD59-A6C34878D82A}">
                    <a16:rowId xmlns:a16="http://schemas.microsoft.com/office/drawing/2014/main" val="10001"/>
                  </a:ext>
                </a:extLst>
              </a:tr>
              <a:tr h="295200">
                <a:tc>
                  <a:txBody>
                    <a:bodyPr/>
                    <a:lstStyle/>
                    <a:p>
                      <a:pPr algn="l">
                        <a:defRPr sz="1000">
                          <a:solidFill>
                            <a:srgbClr val="000000"/>
                          </a:solidFill>
                          <a:latin typeface="Montserrat"/>
                        </a:defRPr>
                      </a:pPr>
                      <a:r>
                        <a:t>Primer</a:t>
                      </a:r>
                      <a:r>
                        <a:rPr lang="es-MX" baseline="30000"/>
                        <a:t>2</a:t>
                      </a:r>
                      <a:endParaRPr baseline="30000"/>
                    </a:p>
                  </a:txBody>
                  <a:tcPr marL="10800" marR="10800" marT="10800" marB="10800" anchor="ct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defRPr sz="1000">
                          <a:solidFill>
                            <a:srgbClr val="000000"/>
                          </a:solidFill>
                          <a:latin typeface="Montserrat"/>
                        </a:defRPr>
                      </a:pPr>
                      <a:r>
                        <a:t>77</a:t>
                      </a:r>
                    </a:p>
                  </a:txBody>
                  <a:tcPr marL="10800" marR="10800" marT="10800" marB="10800" anchor="ctr">
                    <a:solidFill>
                      <a:srgbClr val="FFFFFF"/>
                    </a:solidFill>
                  </a:tcPr>
                </a:tc>
                <a:tc>
                  <a:txBody>
                    <a:bodyPr/>
                    <a:lstStyle/>
                    <a:p>
                      <a:pPr algn="ctr">
                        <a:defRPr sz="1000">
                          <a:solidFill>
                            <a:srgbClr val="000000"/>
                          </a:solidFill>
                          <a:latin typeface="Montserrat"/>
                        </a:defRPr>
                      </a:pPr>
                      <a:r>
                        <a:t>80</a:t>
                      </a:r>
                    </a:p>
                  </a:txBody>
                  <a:tcPr marL="10800" marR="10800" marT="10800" marB="10800" anchor="ctr">
                    <a:solidFill>
                      <a:srgbClr val="FFFFFF"/>
                    </a:solidFill>
                  </a:tcPr>
                </a:tc>
                <a:tc>
                  <a:txBody>
                    <a:bodyPr/>
                    <a:lstStyle/>
                    <a:p>
                      <a:pPr algn="ctr">
                        <a:defRPr sz="1000">
                          <a:solidFill>
                            <a:srgbClr val="000000"/>
                          </a:solidFill>
                          <a:latin typeface="Montserrat"/>
                        </a:defRPr>
                      </a:pPr>
                      <a:r>
                        <a:t>0</a:t>
                      </a:r>
                    </a:p>
                  </a:txBody>
                  <a:tcPr marL="10800" marR="10800" marT="10800" marB="10800" anchor="ct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2"/>
                  </a:ext>
                </a:extLst>
              </a:tr>
              <a:tr h="295200">
                <a:tc>
                  <a:txBody>
                    <a:bodyPr/>
                    <a:lstStyle/>
                    <a:p>
                      <a:pPr algn="l">
                        <a:defRPr sz="1000">
                          <a:solidFill>
                            <a:srgbClr val="000000"/>
                          </a:solidFill>
                          <a:latin typeface="Montserrat"/>
                        </a:defRPr>
                      </a:pPr>
                      <a:r>
                        <a:t>Segundo</a:t>
                      </a:r>
                    </a:p>
                  </a:txBody>
                  <a:tcPr marL="10800" marR="10800" marT="10800" marB="10800" anchor="ctr">
                    <a:lnL w="12700" cap="flat" cmpd="sng" algn="ctr">
                      <a:solidFill>
                        <a:schemeClr val="bg2">
                          <a:lumMod val="20000"/>
                          <a:lumOff val="80000"/>
                        </a:schemeClr>
                      </a:solidFill>
                      <a:prstDash val="solid"/>
                      <a:round/>
                      <a:headEnd type="none" w="med" len="med"/>
                      <a:tailEnd type="none" w="med" len="med"/>
                    </a:lnL>
                    <a:solidFill>
                      <a:srgbClr val="EFEFEF"/>
                    </a:solidFill>
                  </a:tcPr>
                </a:tc>
                <a:tc>
                  <a:txBody>
                    <a:bodyPr/>
                    <a:lstStyle/>
                    <a:p>
                      <a:pPr algn="ctr">
                        <a:defRPr sz="1000">
                          <a:solidFill>
                            <a:srgbClr val="000000"/>
                          </a:solidFill>
                          <a:latin typeface="Montserrat"/>
                        </a:defRPr>
                      </a:pPr>
                      <a:r>
                        <a:t>3</a:t>
                      </a:r>
                    </a:p>
                  </a:txBody>
                  <a:tcPr marL="10800" marR="10800" marT="10800" marB="10800" anchor="ctr">
                    <a:solidFill>
                      <a:srgbClr val="EFEFEF"/>
                    </a:solidFill>
                  </a:tcPr>
                </a:tc>
                <a:tc>
                  <a:txBody>
                    <a:bodyPr/>
                    <a:lstStyle/>
                    <a:p>
                      <a:pPr algn="ctr">
                        <a:defRPr sz="1000">
                          <a:solidFill>
                            <a:srgbClr val="000000"/>
                          </a:solidFill>
                          <a:latin typeface="Montserrat"/>
                        </a:defRPr>
                      </a:pPr>
                      <a:r>
                        <a:t>14</a:t>
                      </a:r>
                    </a:p>
                  </a:txBody>
                  <a:tcPr marL="10800" marR="10800" marT="10800" marB="10800" anchor="ctr">
                    <a:solidFill>
                      <a:srgbClr val="EFEFEF"/>
                    </a:solidFill>
                  </a:tcPr>
                </a:tc>
                <a:tc>
                  <a:txBody>
                    <a:bodyPr/>
                    <a:lstStyle/>
                    <a:p>
                      <a:pPr algn="ctr">
                        <a:defRPr sz="1000">
                          <a:solidFill>
                            <a:srgbClr val="000000"/>
                          </a:solidFill>
                          <a:latin typeface="Montserrat"/>
                        </a:defRPr>
                      </a:pPr>
                      <a:r>
                        <a:t>92</a:t>
                      </a:r>
                    </a:p>
                  </a:txBody>
                  <a:tcPr marL="10800" marR="10800" marT="10800" marB="10800" anchor="ctr">
                    <a:lnR w="12700" cap="flat" cmpd="sng" algn="ctr">
                      <a:solidFill>
                        <a:schemeClr val="bg2">
                          <a:lumMod val="20000"/>
                          <a:lumOff val="80000"/>
                        </a:schemeClr>
                      </a:solidFill>
                      <a:prstDash val="solid"/>
                      <a:round/>
                      <a:headEnd type="none" w="med" len="med"/>
                      <a:tailEnd type="none" w="med" len="med"/>
                    </a:lnR>
                    <a:solidFill>
                      <a:srgbClr val="EFEFEF"/>
                    </a:solidFill>
                  </a:tcPr>
                </a:tc>
                <a:extLst>
                  <a:ext uri="{0D108BD9-81ED-4DB2-BD59-A6C34878D82A}">
                    <a16:rowId xmlns:a16="http://schemas.microsoft.com/office/drawing/2014/main" val="10003"/>
                  </a:ext>
                </a:extLst>
              </a:tr>
              <a:tr h="295200">
                <a:tc>
                  <a:txBody>
                    <a:bodyPr/>
                    <a:lstStyle/>
                    <a:p>
                      <a:pPr algn="l">
                        <a:defRPr sz="1000" b="1">
                          <a:solidFill>
                            <a:srgbClr val="006556"/>
                          </a:solidFill>
                          <a:latin typeface="Montserrat"/>
                        </a:defRPr>
                      </a:pPr>
                      <a:r>
                        <a:t>Total</a:t>
                      </a:r>
                    </a:p>
                  </a:txBody>
                  <a:tcPr marL="10800" marR="10800" marT="10800" marB="10800" anchor="ctr">
                    <a:lnL w="12700" cap="flat" cmpd="sng" algn="ctr">
                      <a:solidFill>
                        <a:schemeClr val="bg2">
                          <a:lumMod val="20000"/>
                          <a:lumOff val="80000"/>
                        </a:schemeClr>
                      </a:solidFill>
                      <a:prstDash val="solid"/>
                      <a:round/>
                      <a:headEnd type="none" w="med" len="med"/>
                      <a:tailEnd type="none" w="med" len="med"/>
                    </a:lnL>
                    <a:lnB w="12700" cap="flat" cmpd="sng" algn="ctr">
                      <a:solidFill>
                        <a:schemeClr val="bg2">
                          <a:lumMod val="20000"/>
                          <a:lumOff val="80000"/>
                        </a:schemeClr>
                      </a:solidFill>
                      <a:prstDash val="solid"/>
                      <a:round/>
                      <a:headEnd type="none" w="med" len="med"/>
                      <a:tailEnd type="none" w="med" len="med"/>
                    </a:lnB>
                    <a:solidFill>
                      <a:srgbClr val="D3E9E7"/>
                    </a:solidFill>
                  </a:tcPr>
                </a:tc>
                <a:tc>
                  <a:txBody>
                    <a:bodyPr/>
                    <a:lstStyle/>
                    <a:p>
                      <a:pPr algn="ctr">
                        <a:defRPr sz="1000" b="1">
                          <a:solidFill>
                            <a:srgbClr val="006556"/>
                          </a:solidFill>
                          <a:latin typeface="Montserrat"/>
                        </a:defRPr>
                      </a:pPr>
                      <a:r>
                        <a:t>80</a:t>
                      </a:r>
                    </a:p>
                  </a:txBody>
                  <a:tcPr marL="10800" marR="10800" marT="10800" marB="10800" anchor="ctr">
                    <a:lnB w="12700" cap="flat" cmpd="sng" algn="ctr">
                      <a:solidFill>
                        <a:schemeClr val="bg2">
                          <a:lumMod val="20000"/>
                          <a:lumOff val="80000"/>
                        </a:schemeClr>
                      </a:solidFill>
                      <a:prstDash val="solid"/>
                      <a:round/>
                      <a:headEnd type="none" w="med" len="med"/>
                      <a:tailEnd type="none" w="med" len="med"/>
                    </a:lnB>
                    <a:solidFill>
                      <a:srgbClr val="D3E9E7"/>
                    </a:solidFill>
                  </a:tcPr>
                </a:tc>
                <a:tc>
                  <a:txBody>
                    <a:bodyPr/>
                    <a:lstStyle/>
                    <a:p>
                      <a:pPr algn="ctr">
                        <a:defRPr sz="1000" b="1">
                          <a:solidFill>
                            <a:srgbClr val="006556"/>
                          </a:solidFill>
                          <a:latin typeface="Montserrat"/>
                        </a:defRPr>
                      </a:pPr>
                      <a:r>
                        <a:t>94</a:t>
                      </a:r>
                    </a:p>
                  </a:txBody>
                  <a:tcPr marL="10800" marR="10800" marT="10800" marB="10800" anchor="ctr">
                    <a:lnB w="12700" cap="flat" cmpd="sng" algn="ctr">
                      <a:solidFill>
                        <a:schemeClr val="bg2">
                          <a:lumMod val="20000"/>
                          <a:lumOff val="80000"/>
                        </a:schemeClr>
                      </a:solidFill>
                      <a:prstDash val="solid"/>
                      <a:round/>
                      <a:headEnd type="none" w="med" len="med"/>
                      <a:tailEnd type="none" w="med" len="med"/>
                    </a:lnB>
                    <a:solidFill>
                      <a:srgbClr val="D3E9E7"/>
                    </a:solidFill>
                  </a:tcPr>
                </a:tc>
                <a:tc>
                  <a:txBody>
                    <a:bodyPr/>
                    <a:lstStyle/>
                    <a:p>
                      <a:pPr algn="ctr">
                        <a:defRPr sz="1000" b="1">
                          <a:solidFill>
                            <a:srgbClr val="006556"/>
                          </a:solidFill>
                          <a:latin typeface="Montserrat"/>
                        </a:defRPr>
                      </a:pPr>
                      <a:r>
                        <a:t>92</a:t>
                      </a:r>
                    </a:p>
                  </a:txBody>
                  <a:tcPr marL="10800" marR="10800" marT="10800" marB="10800" anchor="ctr">
                    <a:lnR w="12700" cap="flat" cmpd="sng" algn="ctr">
                      <a:solidFill>
                        <a:schemeClr val="bg2">
                          <a:lumMod val="20000"/>
                          <a:lumOff val="80000"/>
                        </a:schemeClr>
                      </a:solidFill>
                      <a:prstDash val="solid"/>
                      <a:round/>
                      <a:headEnd type="none" w="med" len="med"/>
                      <a:tailEnd type="none" w="med" len="med"/>
                    </a:lnR>
                    <a:lnB w="12700" cap="flat" cmpd="sng" algn="ctr">
                      <a:solidFill>
                        <a:schemeClr val="bg2">
                          <a:lumMod val="20000"/>
                          <a:lumOff val="80000"/>
                        </a:schemeClr>
                      </a:solidFill>
                      <a:prstDash val="solid"/>
                      <a:round/>
                      <a:headEnd type="none" w="med" len="med"/>
                      <a:tailEnd type="none" w="med" len="med"/>
                    </a:lnB>
                    <a:solidFill>
                      <a:srgbClr val="D3E9E7"/>
                    </a:solidFill>
                  </a:tcPr>
                </a:tc>
                <a:extLst>
                  <a:ext uri="{0D108BD9-81ED-4DB2-BD59-A6C34878D82A}">
                    <a16:rowId xmlns:a16="http://schemas.microsoft.com/office/drawing/2014/main" val="10004"/>
                  </a:ext>
                </a:extLst>
              </a:tr>
            </a:tbl>
          </a:graphicData>
        </a:graphic>
      </p:graphicFrame>
      <p:graphicFrame>
        <p:nvGraphicFramePr>
          <p:cNvPr id="137" name="Table 136"/>
          <p:cNvGraphicFramePr>
            <a:graphicFrameLocks noGrp="1"/>
          </p:cNvGraphicFramePr>
          <p:nvPr>
            <p:extLst>
              <p:ext uri="{D42A27DB-BD31-4B8C-83A1-F6EECF244321}">
                <p14:modId xmlns:p14="http://schemas.microsoft.com/office/powerpoint/2010/main" val="2344283350"/>
              </p:ext>
            </p:extLst>
          </p:nvPr>
        </p:nvGraphicFramePr>
        <p:xfrm>
          <a:off x="5659200" y="1155600"/>
          <a:ext cx="2026800" cy="1463040"/>
        </p:xfrm>
        <a:graphic>
          <a:graphicData uri="http://schemas.openxmlformats.org/drawingml/2006/table">
            <a:tbl>
              <a:tblPr firstRow="1" bandRow="1">
                <a:tableStyleId>{5C22544A-7EE6-4342-B048-85BDC9FD1C3A}</a:tableStyleId>
              </a:tblPr>
              <a:tblGrid>
                <a:gridCol w="1013400">
                  <a:extLst>
                    <a:ext uri="{9D8B030D-6E8A-4147-A177-3AD203B41FA5}">
                      <a16:colId xmlns:a16="http://schemas.microsoft.com/office/drawing/2014/main" val="20000"/>
                    </a:ext>
                  </a:extLst>
                </a:gridCol>
                <a:gridCol w="1013400">
                  <a:extLst>
                    <a:ext uri="{9D8B030D-6E8A-4147-A177-3AD203B41FA5}">
                      <a16:colId xmlns:a16="http://schemas.microsoft.com/office/drawing/2014/main" val="20001"/>
                    </a:ext>
                  </a:extLst>
                </a:gridCol>
              </a:tblGrid>
              <a:tr h="195600">
                <a:tc>
                  <a:txBody>
                    <a:bodyPr/>
                    <a:lstStyle/>
                    <a:p>
                      <a:pPr algn="ctr">
                        <a:defRPr sz="1000" b="1">
                          <a:solidFill>
                            <a:srgbClr val="FFFFFF"/>
                          </a:solidFill>
                          <a:latin typeface="Montserrat"/>
                        </a:defRPr>
                      </a:pPr>
                      <a:r>
                        <a:t>2o Nivel</a:t>
                      </a:r>
                    </a:p>
                  </a:txBody>
                  <a:tcPr>
                    <a:lnL w="12700" cap="flat" cmpd="sng" algn="ctr">
                      <a:solidFill>
                        <a:schemeClr val="bg2">
                          <a:lumMod val="20000"/>
                          <a:lumOff val="80000"/>
                        </a:schemeClr>
                      </a:solidFill>
                      <a:prstDash val="solid"/>
                      <a:round/>
                      <a:headEnd type="none" w="med" len="med"/>
                      <a:tailEnd type="none" w="med" len="med"/>
                    </a:lnL>
                    <a:lnT w="12700" cap="flat" cmpd="sng" algn="ctr">
                      <a:solidFill>
                        <a:schemeClr val="bg2">
                          <a:lumMod val="20000"/>
                          <a:lumOff val="80000"/>
                        </a:schemeClr>
                      </a:solidFill>
                      <a:prstDash val="solid"/>
                      <a:round/>
                      <a:headEnd type="none" w="med" len="med"/>
                      <a:tailEnd type="none" w="med" len="med"/>
                    </a:lnT>
                    <a:solidFill>
                      <a:srgbClr val="006455"/>
                    </a:solidFill>
                  </a:tcPr>
                </a:tc>
                <a:tc>
                  <a:txBody>
                    <a:bodyPr/>
                    <a:lstStyle/>
                    <a:p>
                      <a:pPr algn="ctr">
                        <a:defRPr sz="1000" b="1">
                          <a:solidFill>
                            <a:srgbClr val="FFFFFF"/>
                          </a:solidFill>
                          <a:latin typeface="Montserrat"/>
                        </a:defRPr>
                      </a:pPr>
                      <a:r>
                        <a:t>Unidades</a:t>
                      </a:r>
                    </a:p>
                  </a:txBody>
                  <a:tcPr>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solidFill>
                      <a:srgbClr val="006455"/>
                    </a:solidFill>
                  </a:tcPr>
                </a:tc>
                <a:extLst>
                  <a:ext uri="{0D108BD9-81ED-4DB2-BD59-A6C34878D82A}">
                    <a16:rowId xmlns:a16="http://schemas.microsoft.com/office/drawing/2014/main" val="10000"/>
                  </a:ext>
                </a:extLst>
              </a:tr>
              <a:tr h="195600">
                <a:tc>
                  <a:txBody>
                    <a:bodyPr/>
                    <a:lstStyle/>
                    <a:p>
                      <a:pPr algn="ctr">
                        <a:defRPr sz="1000">
                          <a:solidFill>
                            <a:srgbClr val="000000"/>
                          </a:solidFill>
                          <a:latin typeface="Montserrat"/>
                        </a:defRPr>
                      </a:pPr>
                      <a:r>
                        <a:t>UMAA (aut)</a:t>
                      </a:r>
                    </a:p>
                  </a:txBody>
                  <a:tcPr>
                    <a:lnL w="12700" cap="flat" cmpd="sng" algn="ctr">
                      <a:solidFill>
                        <a:schemeClr val="bg2">
                          <a:lumMod val="20000"/>
                          <a:lumOff val="80000"/>
                        </a:schemeClr>
                      </a:solidFill>
                      <a:prstDash val="solid"/>
                      <a:round/>
                      <a:headEnd type="none" w="med" len="med"/>
                      <a:tailEnd type="none" w="med" len="med"/>
                    </a:lnL>
                    <a:solidFill>
                      <a:srgbClr val="EFEFEF"/>
                    </a:solidFill>
                  </a:tcPr>
                </a:tc>
                <a:tc>
                  <a:txBody>
                    <a:bodyPr/>
                    <a:lstStyle/>
                    <a:p>
                      <a:pPr algn="ctr">
                        <a:defRPr sz="1000">
                          <a:solidFill>
                            <a:srgbClr val="000000"/>
                          </a:solidFill>
                          <a:latin typeface="Montserrat"/>
                        </a:defRPr>
                      </a:pPr>
                      <a:r>
                        <a:t>1</a:t>
                      </a:r>
                    </a:p>
                  </a:txBody>
                  <a:tcPr>
                    <a:lnR w="12700" cap="flat" cmpd="sng" algn="ctr">
                      <a:solidFill>
                        <a:schemeClr val="bg2">
                          <a:lumMod val="20000"/>
                          <a:lumOff val="80000"/>
                        </a:schemeClr>
                      </a:solidFill>
                      <a:prstDash val="solid"/>
                      <a:round/>
                      <a:headEnd type="none" w="med" len="med"/>
                      <a:tailEnd type="none" w="med" len="med"/>
                    </a:lnR>
                    <a:solidFill>
                      <a:srgbClr val="EFEFEF"/>
                    </a:solidFill>
                  </a:tcPr>
                </a:tc>
                <a:extLst>
                  <a:ext uri="{0D108BD9-81ED-4DB2-BD59-A6C34878D82A}">
                    <a16:rowId xmlns:a16="http://schemas.microsoft.com/office/drawing/2014/main" val="10001"/>
                  </a:ext>
                </a:extLst>
              </a:tr>
              <a:tr h="195600">
                <a:tc>
                  <a:txBody>
                    <a:bodyPr/>
                    <a:lstStyle/>
                    <a:p>
                      <a:pPr algn="ctr">
                        <a:defRPr sz="1000">
                          <a:solidFill>
                            <a:srgbClr val="000000"/>
                          </a:solidFill>
                          <a:latin typeface="Montserrat"/>
                        </a:defRPr>
                      </a:pPr>
                      <a:r>
                        <a:t>HR</a:t>
                      </a:r>
                    </a:p>
                  </a:txBody>
                  <a:tcP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defRPr sz="1000">
                          <a:solidFill>
                            <a:srgbClr val="000000"/>
                          </a:solidFill>
                          <a:latin typeface="Montserrat"/>
                        </a:defRPr>
                      </a:pPr>
                      <a:r>
                        <a:t>3</a:t>
                      </a:r>
                    </a:p>
                  </a:txBody>
                  <a:tcP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2"/>
                  </a:ext>
                </a:extLst>
              </a:tr>
              <a:tr h="195600">
                <a:tc>
                  <a:txBody>
                    <a:bodyPr/>
                    <a:lstStyle/>
                    <a:p>
                      <a:pPr algn="ctr">
                        <a:defRPr sz="1000">
                          <a:solidFill>
                            <a:srgbClr val="000000"/>
                          </a:solidFill>
                          <a:latin typeface="Montserrat"/>
                        </a:defRPr>
                      </a:pPr>
                      <a:r>
                        <a:t>HGZ</a:t>
                      </a:r>
                    </a:p>
                  </a:txBody>
                  <a:tcPr>
                    <a:lnL w="12700" cap="flat" cmpd="sng" algn="ctr">
                      <a:solidFill>
                        <a:schemeClr val="bg2">
                          <a:lumMod val="20000"/>
                          <a:lumOff val="80000"/>
                        </a:schemeClr>
                      </a:solidFill>
                      <a:prstDash val="solid"/>
                      <a:round/>
                      <a:headEnd type="none" w="med" len="med"/>
                      <a:tailEnd type="none" w="med" len="med"/>
                    </a:lnL>
                    <a:solidFill>
                      <a:srgbClr val="EFEFEF"/>
                    </a:solidFill>
                  </a:tcPr>
                </a:tc>
                <a:tc>
                  <a:txBody>
                    <a:bodyPr/>
                    <a:lstStyle/>
                    <a:p>
                      <a:pPr algn="ctr">
                        <a:defRPr sz="1000">
                          <a:solidFill>
                            <a:srgbClr val="000000"/>
                          </a:solidFill>
                          <a:latin typeface="Montserrat"/>
                        </a:defRPr>
                      </a:pPr>
                      <a:r>
                        <a:t>8</a:t>
                      </a:r>
                    </a:p>
                  </a:txBody>
                  <a:tcPr>
                    <a:lnR w="12700" cap="flat" cmpd="sng" algn="ctr">
                      <a:solidFill>
                        <a:schemeClr val="bg2">
                          <a:lumMod val="20000"/>
                          <a:lumOff val="80000"/>
                        </a:schemeClr>
                      </a:solidFill>
                      <a:prstDash val="solid"/>
                      <a:round/>
                      <a:headEnd type="none" w="med" len="med"/>
                      <a:tailEnd type="none" w="med" len="med"/>
                    </a:lnR>
                    <a:solidFill>
                      <a:srgbClr val="EFEFEF"/>
                    </a:solidFill>
                  </a:tcPr>
                </a:tc>
                <a:extLst>
                  <a:ext uri="{0D108BD9-81ED-4DB2-BD59-A6C34878D82A}">
                    <a16:rowId xmlns:a16="http://schemas.microsoft.com/office/drawing/2014/main" val="10003"/>
                  </a:ext>
                </a:extLst>
              </a:tr>
              <a:tr h="195600">
                <a:tc>
                  <a:txBody>
                    <a:bodyPr/>
                    <a:lstStyle/>
                    <a:p>
                      <a:pPr algn="ctr">
                        <a:defRPr sz="1000">
                          <a:solidFill>
                            <a:srgbClr val="000000"/>
                          </a:solidFill>
                          <a:latin typeface="Montserrat"/>
                        </a:defRPr>
                      </a:pPr>
                      <a:r>
                        <a:t>HGS</a:t>
                      </a:r>
                    </a:p>
                  </a:txBody>
                  <a:tcP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defRPr sz="1000">
                          <a:solidFill>
                            <a:srgbClr val="000000"/>
                          </a:solidFill>
                          <a:latin typeface="Montserrat"/>
                        </a:defRPr>
                      </a:pPr>
                      <a:r>
                        <a:t>5</a:t>
                      </a:r>
                    </a:p>
                  </a:txBody>
                  <a:tcP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4"/>
                  </a:ext>
                </a:extLst>
              </a:tr>
              <a:tr h="195600">
                <a:tc>
                  <a:txBody>
                    <a:bodyPr/>
                    <a:lstStyle/>
                    <a:p>
                      <a:pPr algn="ctr">
                        <a:defRPr sz="1000" b="1">
                          <a:solidFill>
                            <a:srgbClr val="006556"/>
                          </a:solidFill>
                          <a:latin typeface="Montserrat"/>
                        </a:defRPr>
                      </a:pPr>
                      <a:r>
                        <a:t>Total</a:t>
                      </a:r>
                    </a:p>
                  </a:txBody>
                  <a:tcPr>
                    <a:lnL w="12700" cap="flat" cmpd="sng" algn="ctr">
                      <a:solidFill>
                        <a:schemeClr val="bg2">
                          <a:lumMod val="20000"/>
                          <a:lumOff val="80000"/>
                        </a:schemeClr>
                      </a:solidFill>
                      <a:prstDash val="solid"/>
                      <a:round/>
                      <a:headEnd type="none" w="med" len="med"/>
                      <a:tailEnd type="none" w="med" len="med"/>
                    </a:lnL>
                    <a:lnB w="12700" cap="flat" cmpd="sng" algn="ctr">
                      <a:solidFill>
                        <a:schemeClr val="bg2">
                          <a:lumMod val="20000"/>
                          <a:lumOff val="80000"/>
                        </a:schemeClr>
                      </a:solidFill>
                      <a:prstDash val="solid"/>
                      <a:round/>
                      <a:headEnd type="none" w="med" len="med"/>
                      <a:tailEnd type="none" w="med" len="med"/>
                    </a:lnB>
                    <a:solidFill>
                      <a:srgbClr val="D3E9E7"/>
                    </a:solidFill>
                  </a:tcPr>
                </a:tc>
                <a:tc>
                  <a:txBody>
                    <a:bodyPr/>
                    <a:lstStyle/>
                    <a:p>
                      <a:pPr algn="ctr">
                        <a:defRPr sz="1000" b="1">
                          <a:solidFill>
                            <a:srgbClr val="006556"/>
                          </a:solidFill>
                          <a:latin typeface="Montserrat"/>
                        </a:defRPr>
                      </a:pPr>
                      <a:r>
                        <a:t>17</a:t>
                      </a:r>
                    </a:p>
                  </a:txBody>
                  <a:tcPr>
                    <a:lnR w="12700" cap="flat" cmpd="sng" algn="ctr">
                      <a:solidFill>
                        <a:schemeClr val="bg2">
                          <a:lumMod val="20000"/>
                          <a:lumOff val="80000"/>
                        </a:schemeClr>
                      </a:solidFill>
                      <a:prstDash val="solid"/>
                      <a:round/>
                      <a:headEnd type="none" w="med" len="med"/>
                      <a:tailEnd type="none" w="med" len="med"/>
                    </a:lnR>
                    <a:lnB w="12700" cap="flat" cmpd="sng" algn="ctr">
                      <a:solidFill>
                        <a:schemeClr val="bg2">
                          <a:lumMod val="20000"/>
                          <a:lumOff val="80000"/>
                        </a:schemeClr>
                      </a:solidFill>
                      <a:prstDash val="solid"/>
                      <a:round/>
                      <a:headEnd type="none" w="med" len="med"/>
                      <a:tailEnd type="none" w="med" len="med"/>
                    </a:lnB>
                    <a:solidFill>
                      <a:srgbClr val="D3E9E7"/>
                    </a:solidFill>
                  </a:tcPr>
                </a:tc>
                <a:extLst>
                  <a:ext uri="{0D108BD9-81ED-4DB2-BD59-A6C34878D82A}">
                    <a16:rowId xmlns:a16="http://schemas.microsoft.com/office/drawing/2014/main" val="10005"/>
                  </a:ext>
                </a:extLst>
              </a:tr>
            </a:tbl>
          </a:graphicData>
        </a:graphic>
      </p:graphicFrame>
      <p:sp>
        <p:nvSpPr>
          <p:cNvPr id="138" name="TextBox 137"/>
          <p:cNvSpPr txBox="1"/>
          <p:nvPr/>
        </p:nvSpPr>
        <p:spPr>
          <a:xfrm>
            <a:off x="212400" y="9540000"/>
            <a:ext cx="7200000" cy="360000"/>
          </a:xfrm>
          <a:prstGeom prst="rect">
            <a:avLst/>
          </a:prstGeom>
          <a:noFill/>
        </p:spPr>
        <p:txBody>
          <a:bodyPr wrap="square" lIns="0" tIns="0" rIns="0" bIns="0">
            <a:spAutoFit/>
          </a:bodyPr>
          <a:lstStyle/>
          <a:p>
            <a:pPr algn="l">
              <a:defRPr sz="700">
                <a:solidFill>
                  <a:srgbClr val="FFFFFF"/>
                </a:solidFill>
                <a:latin typeface="Montserrat"/>
              </a:defRPr>
            </a:pPr>
            <a:r>
              <a:t>¹ Incluye 37 UMF, 1 UMF-UMAA y no incluye 13 Unidades Auxiliares de Medicina Familiar.</a:t>
            </a:r>
            <a:br/>
            <a:r>
              <a:t>² No incluye Unidades médicas móviles (UMM) ni Brigadas de salud (BS).</a:t>
            </a:r>
          </a:p>
        </p:txBody>
      </p:sp>
      <p:sp>
        <p:nvSpPr>
          <p:cNvPr id="139" name="TextBox 138"/>
          <p:cNvSpPr txBox="1"/>
          <p:nvPr/>
        </p:nvSpPr>
        <p:spPr>
          <a:xfrm>
            <a:off x="212400" y="9774000"/>
            <a:ext cx="1713600" cy="107722"/>
          </a:xfrm>
          <a:prstGeom prst="rect">
            <a:avLst/>
          </a:prstGeom>
          <a:noFill/>
        </p:spPr>
        <p:txBody>
          <a:bodyPr wrap="square" lIns="0" tIns="0" rIns="0" bIns="0">
            <a:spAutoFit/>
          </a:bodyPr>
          <a:lstStyle/>
          <a:p>
            <a:pPr algn="l">
              <a:defRPr sz="700">
                <a:solidFill>
                  <a:srgbClr val="FFFFFF"/>
                </a:solidFill>
                <a:latin typeface="Montserrat"/>
              </a:defRPr>
            </a:pPr>
            <a:r>
              <a:t>Corte de información: ma</a:t>
            </a:r>
            <a:r>
              <a:rPr lang="es-MX"/>
              <a:t>y</a:t>
            </a:r>
            <a:r>
              <a:t>o de 2026</a:t>
            </a:r>
          </a:p>
        </p:txBody>
      </p:sp>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pic>
        <p:nvPicPr>
          <p:cNvPr id="5" name="Google Shape;98;g3d0b4d3c5c9_3_50">
            <a:extLst>
              <a:ext uri="{FF2B5EF4-FFF2-40B4-BE49-F238E27FC236}">
                <a16:creationId xmlns:a16="http://schemas.microsoft.com/office/drawing/2014/main" id="{254D2AEA-4739-9BC4-E8D0-E18F6F0B0E40}"/>
              </a:ext>
            </a:extLst>
          </p:cNvPr>
          <p:cNvPicPr preferRelativeResize="0"/>
          <p:nvPr/>
        </p:nvPicPr>
        <p:blipFill rotWithShape="1">
          <a:blip r:embed="rId4">
            <a:alphaModFix/>
          </a:blip>
          <a:srcRect/>
          <a:stretch/>
        </p:blipFill>
        <p:spPr>
          <a:xfrm>
            <a:off x="575090" y="2125723"/>
            <a:ext cx="6613075" cy="2334897"/>
          </a:xfrm>
          <a:prstGeom prst="rect">
            <a:avLst/>
          </a:prstGeom>
          <a:noFill/>
          <a:ln>
            <a:noFill/>
          </a:ln>
        </p:spPr>
      </p:pic>
      <p:graphicFrame>
        <p:nvGraphicFramePr>
          <p:cNvPr id="6" name="Google Shape;99;g3d0b4d3c5c9_3_50">
            <a:extLst>
              <a:ext uri="{FF2B5EF4-FFF2-40B4-BE49-F238E27FC236}">
                <a16:creationId xmlns:a16="http://schemas.microsoft.com/office/drawing/2014/main" id="{CF9870F8-F893-ED91-6B98-CAC3C8B988FF}"/>
              </a:ext>
            </a:extLst>
          </p:cNvPr>
          <p:cNvGraphicFramePr/>
          <p:nvPr>
            <p:extLst>
              <p:ext uri="{D42A27DB-BD31-4B8C-83A1-F6EECF244321}">
                <p14:modId xmlns:p14="http://schemas.microsoft.com/office/powerpoint/2010/main" val="1878632234"/>
              </p:ext>
            </p:extLst>
          </p:nvPr>
        </p:nvGraphicFramePr>
        <p:xfrm>
          <a:off x="288000" y="1191600"/>
          <a:ext cx="7034300" cy="548640"/>
        </p:xfrm>
        <a:graphic>
          <a:graphicData uri="http://schemas.openxmlformats.org/drawingml/2006/table">
            <a:tbl>
              <a:tblPr>
                <a:noFill/>
              </a:tblPr>
              <a:tblGrid>
                <a:gridCol w="7034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600"/>
                        <a:buFont typeface="Arial"/>
                        <a:buNone/>
                      </a:pPr>
                      <a:r>
                        <a:rPr lang="es" sz="1800" b="1">
                          <a:solidFill>
                            <a:srgbClr val="A42145"/>
                          </a:solidFill>
                          <a:latin typeface="Montserrat"/>
                          <a:ea typeface="Montserrat"/>
                          <a:cs typeface="Montserrat"/>
                          <a:sym typeface="Montserrat"/>
                        </a:rPr>
                        <a:t>Primer hospital en la entidad:</a:t>
                      </a:r>
                      <a:endParaRPr sz="1800" b="1">
                        <a:solidFill>
                          <a:srgbClr val="A4214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600"/>
                        <a:buFont typeface="Arial"/>
                        <a:buNone/>
                      </a:pPr>
                      <a:r>
                        <a:rPr lang="es" sz="1800" b="1" u="none" strike="noStrike" cap="none">
                          <a:solidFill>
                            <a:srgbClr val="BC955C"/>
                          </a:solidFill>
                          <a:latin typeface="Montserrat"/>
                          <a:ea typeface="Montserrat"/>
                          <a:cs typeface="Montserrat"/>
                          <a:sym typeface="Montserrat"/>
                        </a:rPr>
                        <a:t>Hospital General de Zona </a:t>
                      </a:r>
                      <a:r>
                        <a:rPr lang="es" sz="1800" b="1">
                          <a:solidFill>
                            <a:srgbClr val="BC955C"/>
                          </a:solidFill>
                          <a:latin typeface="Montserrat"/>
                          <a:ea typeface="Montserrat"/>
                          <a:cs typeface="Montserrat"/>
                          <a:sym typeface="Montserrat"/>
                        </a:rPr>
                        <a:t>No.</a:t>
                      </a:r>
                      <a:r>
                        <a:rPr lang="es" sz="1800" b="1" u="none" strike="noStrike" cap="none">
                          <a:solidFill>
                            <a:srgbClr val="BC955C"/>
                          </a:solidFill>
                          <a:latin typeface="Montserrat"/>
                          <a:ea typeface="Montserrat"/>
                          <a:cs typeface="Montserrat"/>
                          <a:sym typeface="Montserrat"/>
                        </a:rPr>
                        <a:t> 1 Saltillo</a:t>
                      </a:r>
                      <a:r>
                        <a:rPr lang="es" sz="1800" b="1" u="none" strike="noStrike" cap="none">
                          <a:solidFill>
                            <a:srgbClr val="BC955C"/>
                          </a:solidFill>
                          <a:latin typeface="Montserrat"/>
                          <a:ea typeface="Montserrat"/>
                          <a:cs typeface="Montserrat"/>
                        </a:rPr>
                        <a:t>, Coahuila</a:t>
                      </a:r>
                      <a:endParaRPr lang="es" sz="18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7" name="CuadroTexto 6">
            <a:extLst>
              <a:ext uri="{FF2B5EF4-FFF2-40B4-BE49-F238E27FC236}">
                <a16:creationId xmlns:a16="http://schemas.microsoft.com/office/drawing/2014/main" id="{869A875B-834A-EB32-DFDC-8C3B643F744D}"/>
              </a:ext>
            </a:extLst>
          </p:cNvPr>
          <p:cNvSpPr txBox="1"/>
          <p:nvPr/>
        </p:nvSpPr>
        <p:spPr>
          <a:xfrm>
            <a:off x="452880" y="4877593"/>
            <a:ext cx="6735285" cy="1559401"/>
          </a:xfrm>
          <a:prstGeom prst="rect">
            <a:avLst/>
          </a:prstGeom>
          <a:noFill/>
        </p:spPr>
        <p:txBody>
          <a:bodyPr wrap="square" lIns="91440" tIns="45720" rIns="91440" bIns="45720" anchor="t">
            <a:spAutoFit/>
          </a:bodyPr>
          <a:lstStyle/>
          <a:p>
            <a:pPr algn="just" rtl="0" fontAlgn="base">
              <a:spcBef>
                <a:spcPts val="1000"/>
              </a:spcBef>
              <a:spcAft>
                <a:spcPts val="100"/>
              </a:spcAft>
              <a:buFont typeface="Arial" panose="020B0604020202020204" pitchFamily="34" charset="0"/>
              <a:buChar char="•"/>
            </a:pPr>
            <a:r>
              <a:rPr lang="es-ES" sz="1100" b="0" i="0" u="none" strike="noStrike">
                <a:solidFill>
                  <a:srgbClr val="000000"/>
                </a:solidFill>
                <a:effectLst/>
                <a:latin typeface="Montserrat" panose="00000500000000000000" pitchFamily="2" charset="0"/>
              </a:rPr>
              <a:t>El IMSS inició con servicios en la entidad el 19 junio 1957. En 1958 con la afiliación de trabajadores de Altos Hornos de México se dio inicio al pago de cuotas del seguro de invalidez.</a:t>
            </a:r>
          </a:p>
          <a:p>
            <a:pPr algn="just" rtl="0" fontAlgn="base">
              <a:spcBef>
                <a:spcPts val="1000"/>
              </a:spcBef>
              <a:spcAft>
                <a:spcPts val="100"/>
              </a:spcAft>
              <a:buFont typeface="Arial" panose="020B0604020202020204" pitchFamily="34" charset="0"/>
              <a:buChar char="•"/>
            </a:pPr>
            <a:r>
              <a:rPr lang="es-ES" sz="1100" b="0" i="0" u="none" strike="noStrike">
                <a:solidFill>
                  <a:srgbClr val="000000"/>
                </a:solidFill>
                <a:effectLst/>
                <a:latin typeface="Montserrat"/>
              </a:rPr>
              <a:t>El HGZ 1 Saltillo inició operaciones en 1959 con servicios de consulta general y traumatología. En </a:t>
            </a:r>
            <a:r>
              <a:rPr lang="es-ES" sz="1100">
                <a:latin typeface="Montserrat"/>
              </a:rPr>
              <a:t>1961</a:t>
            </a:r>
            <a:r>
              <a:rPr lang="es-ES" sz="1100" b="0" i="0" u="none" strike="noStrike">
                <a:solidFill>
                  <a:srgbClr val="000000"/>
                </a:solidFill>
                <a:effectLst/>
                <a:latin typeface="Montserrat"/>
              </a:rPr>
              <a:t> fue constituido oficialmente como Hospital General. </a:t>
            </a:r>
          </a:p>
          <a:p>
            <a:pPr algn="just" rtl="0" fontAlgn="base">
              <a:spcBef>
                <a:spcPts val="1000"/>
              </a:spcBef>
              <a:spcAft>
                <a:spcPts val="100"/>
              </a:spcAft>
              <a:buFont typeface="Arial" panose="020B0604020202020204" pitchFamily="34" charset="0"/>
              <a:buChar char="•"/>
            </a:pPr>
            <a:r>
              <a:rPr lang="es-ES" sz="1100" b="0" i="0" u="none" strike="noStrike">
                <a:solidFill>
                  <a:srgbClr val="000000"/>
                </a:solidFill>
                <a:effectLst/>
                <a:latin typeface="Montserrat" panose="00000500000000000000" pitchFamily="2" charset="0"/>
              </a:rPr>
              <a:t>En 1961, comenzó a funcionar como Complejo Administrativo-Hospitalario IMSS, integrado por el Centro de Seguridad Social, la Delegación Estatal, y el Hospital General de Zona. 1. </a:t>
            </a: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coa_05.png"/>
          <p:cNvPicPr>
            <a:picLocks noChangeAspect="1"/>
          </p:cNvPicPr>
          <p:nvPr/>
        </p:nvPicPr>
        <p:blipFill>
          <a:blip r:embed="rId5"/>
          <a:stretch>
            <a:fillRect/>
          </a:stretch>
        </p:blipFill>
        <p:spPr>
          <a:xfrm>
            <a:off x="146304" y="7167626"/>
            <a:ext cx="7488000" cy="727200"/>
          </a:xfrm>
          <a:prstGeom prst="rect">
            <a:avLst/>
          </a:prstGeom>
        </p:spPr>
      </p:pic>
      <p:sp>
        <p:nvSpPr>
          <p:cNvPr id="13" name="TextBox 12"/>
          <p:cNvSpPr txBox="1"/>
          <p:nvPr/>
        </p:nvSpPr>
        <p:spPr>
          <a:xfrm>
            <a:off x="100800" y="9507600"/>
            <a:ext cx="7387200" cy="369332"/>
          </a:xfrm>
          <a:prstGeom prst="rect">
            <a:avLst/>
          </a:prstGeom>
          <a:noFill/>
        </p:spPr>
        <p:txBody>
          <a:bodyPr wrap="square" lIns="0" tIns="0" rIns="0" bIns="0">
            <a:spAutoFit/>
          </a:bodyPr>
          <a:lstStyle/>
          <a:p>
            <a:pPr algn="l">
              <a:defRPr sz="800">
                <a:solidFill>
                  <a:srgbClr val="FFFFFF"/>
                </a:solidFill>
                <a:latin typeface="Montserrat"/>
              </a:defRPr>
            </a:pPr>
            <a:r>
              <a:t>¹Incluye salas de </a:t>
            </a:r>
            <a:r>
              <a:rPr err="1"/>
              <a:t>quirófano</a:t>
            </a:r>
            <a:r>
              <a:t>, salas </a:t>
            </a:r>
            <a:r>
              <a:rPr err="1"/>
              <a:t>híbridas</a:t>
            </a:r>
            <a:r>
              <a:t> y salas </a:t>
            </a:r>
            <a:r>
              <a:rPr err="1"/>
              <a:t>mixtas</a:t>
            </a:r>
            <a:r>
              <a:t>, no </a:t>
            </a:r>
            <a:r>
              <a:rPr err="1"/>
              <a:t>considera</a:t>
            </a:r>
            <a:r>
              <a:t> salas de </a:t>
            </a:r>
            <a:r>
              <a:rPr err="1"/>
              <a:t>tococirugía</a:t>
            </a:r>
            <a:r>
              <a:t> y </a:t>
            </a:r>
            <a:r>
              <a:rPr err="1"/>
              <a:t>expulsión</a:t>
            </a:r>
            <a:r>
              <a:t>.</a:t>
            </a:r>
            <a:br>
              <a:rPr/>
            </a:br>
            <a:r>
              <a:t>Fuente: Cédula de </a:t>
            </a:r>
            <a:r>
              <a:rPr err="1"/>
              <a:t>actualización</a:t>
            </a:r>
            <a:r>
              <a:t> de variables </a:t>
            </a:r>
            <a:r>
              <a:rPr err="1"/>
              <a:t>seleccionados</a:t>
            </a:r>
            <a:r>
              <a:t> del IFU </a:t>
            </a:r>
            <a:r>
              <a:rPr err="1"/>
              <a:t>enviados</a:t>
            </a:r>
            <a:r>
              <a:t> por el OOAD.</a:t>
            </a:r>
            <a:br>
              <a:rPr/>
            </a:br>
            <a:r>
              <a:t>Corte de Información: ma</a:t>
            </a:r>
            <a:r>
              <a:rPr lang="es-MX"/>
              <a:t>y</a:t>
            </a:r>
            <a:r>
              <a:t>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4" name="Connector 3"/>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1940961267"/>
              </p:ext>
            </p:extLst>
          </p:nvPr>
        </p:nvGraphicFramePr>
        <p:xfrm>
          <a:off x="56628" y="3942564"/>
          <a:ext cx="7650000" cy="1219200"/>
        </p:xfrm>
        <a:graphic>
          <a:graphicData uri="http://schemas.openxmlformats.org/drawingml/2006/table">
            <a:tbl>
              <a:tblPr firstRow="1" bandRow="1">
                <a:tableStyleId>{5C22544A-7EE6-4342-B048-85BDC9FD1C3A}</a:tableStyleId>
              </a:tblPr>
              <a:tblGrid>
                <a:gridCol w="1980000">
                  <a:extLst>
                    <a:ext uri="{9D8B030D-6E8A-4147-A177-3AD203B41FA5}">
                      <a16:colId xmlns:a16="http://schemas.microsoft.com/office/drawing/2014/main" val="20000"/>
                    </a:ext>
                  </a:extLst>
                </a:gridCol>
                <a:gridCol w="1339200">
                  <a:extLst>
                    <a:ext uri="{9D8B030D-6E8A-4147-A177-3AD203B41FA5}">
                      <a16:colId xmlns:a16="http://schemas.microsoft.com/office/drawing/2014/main" val="20001"/>
                    </a:ext>
                  </a:extLst>
                </a:gridCol>
                <a:gridCol w="684000">
                  <a:extLst>
                    <a:ext uri="{9D8B030D-6E8A-4147-A177-3AD203B41FA5}">
                      <a16:colId xmlns:a16="http://schemas.microsoft.com/office/drawing/2014/main" val="20002"/>
                    </a:ext>
                  </a:extLst>
                </a:gridCol>
                <a:gridCol w="781200">
                  <a:extLst>
                    <a:ext uri="{9D8B030D-6E8A-4147-A177-3AD203B41FA5}">
                      <a16:colId xmlns:a16="http://schemas.microsoft.com/office/drawing/2014/main" val="20003"/>
                    </a:ext>
                  </a:extLst>
                </a:gridCol>
                <a:gridCol w="810000">
                  <a:extLst>
                    <a:ext uri="{9D8B030D-6E8A-4147-A177-3AD203B41FA5}">
                      <a16:colId xmlns:a16="http://schemas.microsoft.com/office/drawing/2014/main" val="20004"/>
                    </a:ext>
                  </a:extLst>
                </a:gridCol>
                <a:gridCol w="957600">
                  <a:extLst>
                    <a:ext uri="{9D8B030D-6E8A-4147-A177-3AD203B41FA5}">
                      <a16:colId xmlns:a16="http://schemas.microsoft.com/office/drawing/2014/main" val="20005"/>
                    </a:ext>
                  </a:extLst>
                </a:gridCol>
                <a:gridCol w="1098000">
                  <a:extLst>
                    <a:ext uri="{9D8B030D-6E8A-4147-A177-3AD203B41FA5}">
                      <a16:colId xmlns:a16="http://schemas.microsoft.com/office/drawing/2014/main" val="20006"/>
                    </a:ext>
                  </a:extLst>
                </a:gridCol>
              </a:tblGrid>
              <a:tr h="217327">
                <a:tc>
                  <a:txBody>
                    <a:bodyPr/>
                    <a:lstStyle/>
                    <a:p>
                      <a:pPr algn="l">
                        <a:defRPr sz="900">
                          <a:latin typeface="Montserrat"/>
                        </a:defRPr>
                      </a:pPr>
                      <a:r>
                        <a:rPr sz="1000" b="0">
                          <a:solidFill>
                            <a:schemeClr val="tx1">
                              <a:lumMod val="65000"/>
                              <a:lumOff val="35000"/>
                            </a:schemeClr>
                          </a:solidFill>
                        </a:rPr>
                        <a:t>HGSMF 27 Palau</a:t>
                      </a:r>
                    </a:p>
                  </a:txBody>
                  <a:tcPr anchor="ctr">
                    <a:solidFill>
                      <a:srgbClr val="FFFFFF"/>
                    </a:solidFill>
                  </a:tcPr>
                </a:tc>
                <a:tc>
                  <a:txBody>
                    <a:bodyPr/>
                    <a:lstStyle/>
                    <a:p>
                      <a:pPr algn="ctr">
                        <a:defRPr sz="900">
                          <a:latin typeface="Montserrat"/>
                        </a:defRPr>
                      </a:pPr>
                      <a:r>
                        <a:rPr sz="1000" b="0" err="1">
                          <a:solidFill>
                            <a:schemeClr val="tx1">
                              <a:lumMod val="65000"/>
                              <a:lumOff val="35000"/>
                            </a:schemeClr>
                          </a:solidFill>
                        </a:rPr>
                        <a:t>Octubre</a:t>
                      </a:r>
                      <a:r>
                        <a:rPr sz="1000" b="0">
                          <a:solidFill>
                            <a:schemeClr val="tx1">
                              <a:lumMod val="65000"/>
                              <a:lumOff val="35000"/>
                            </a:schemeClr>
                          </a:solidFill>
                        </a:rPr>
                        <a:t> de 1976</a:t>
                      </a:r>
                    </a:p>
                  </a:txBody>
                  <a:tcPr anchor="ctr">
                    <a:solidFill>
                      <a:srgbClr val="FFFFFF"/>
                    </a:solidFill>
                  </a:tcPr>
                </a:tc>
                <a:tc>
                  <a:txBody>
                    <a:bodyPr/>
                    <a:lstStyle/>
                    <a:p>
                      <a:pPr algn="ctr">
                        <a:defRPr sz="900">
                          <a:latin typeface="Montserrat"/>
                        </a:defRPr>
                      </a:pPr>
                      <a:r>
                        <a:rPr sz="1000" b="0">
                          <a:solidFill>
                            <a:schemeClr val="tx1">
                              <a:lumMod val="65000"/>
                              <a:lumOff val="35000"/>
                            </a:schemeClr>
                          </a:solidFill>
                        </a:rPr>
                        <a:t>36</a:t>
                      </a:r>
                    </a:p>
                  </a:txBody>
                  <a:tcPr anchor="ctr">
                    <a:solidFill>
                      <a:srgbClr val="FFFFFF"/>
                    </a:solidFill>
                  </a:tcPr>
                </a:tc>
                <a:tc>
                  <a:txBody>
                    <a:bodyPr/>
                    <a:lstStyle/>
                    <a:p>
                      <a:pPr algn="ctr">
                        <a:defRPr sz="900">
                          <a:latin typeface="Montserrat"/>
                        </a:defRPr>
                      </a:pPr>
                      <a:r>
                        <a:rPr sz="1000" b="0">
                          <a:solidFill>
                            <a:schemeClr val="tx1">
                              <a:lumMod val="65000"/>
                              <a:lumOff val="35000"/>
                            </a:schemeClr>
                          </a:solidFill>
                        </a:rPr>
                        <a:t>16</a:t>
                      </a:r>
                    </a:p>
                  </a:txBody>
                  <a:tcPr anchor="ctr">
                    <a:solidFill>
                      <a:srgbClr val="FFFFFF"/>
                    </a:solidFill>
                  </a:tcPr>
                </a:tc>
                <a:tc>
                  <a:txBody>
                    <a:bodyPr/>
                    <a:lstStyle/>
                    <a:p>
                      <a:pPr algn="ctr">
                        <a:defRPr sz="900">
                          <a:latin typeface="Montserrat"/>
                        </a:defRPr>
                      </a:pPr>
                      <a:r>
                        <a:rPr sz="1000" b="0">
                          <a:solidFill>
                            <a:schemeClr val="tx1">
                              <a:lumMod val="65000"/>
                              <a:lumOff val="35000"/>
                            </a:schemeClr>
                          </a:solidFill>
                        </a:rPr>
                        <a:t>0</a:t>
                      </a:r>
                    </a:p>
                  </a:txBody>
                  <a:tcPr anchor="ctr">
                    <a:solidFill>
                      <a:srgbClr val="FFFFFF"/>
                    </a:solidFill>
                  </a:tcPr>
                </a:tc>
                <a:tc>
                  <a:txBody>
                    <a:bodyPr/>
                    <a:lstStyle/>
                    <a:p>
                      <a:pPr algn="ctr">
                        <a:defRPr sz="900">
                          <a:latin typeface="Montserrat"/>
                        </a:defRPr>
                      </a:pPr>
                      <a:r>
                        <a:rPr sz="1000" b="0">
                          <a:solidFill>
                            <a:schemeClr val="tx1">
                              <a:lumMod val="65000"/>
                              <a:lumOff val="35000"/>
                            </a:schemeClr>
                          </a:solidFill>
                        </a:rPr>
                        <a:t>1</a:t>
                      </a:r>
                    </a:p>
                  </a:txBody>
                  <a:tcPr anchor="ctr">
                    <a:solidFill>
                      <a:srgbClr val="FFFFFF"/>
                    </a:solidFill>
                  </a:tcPr>
                </a:tc>
                <a:tc>
                  <a:txBody>
                    <a:bodyPr/>
                    <a:lstStyle/>
                    <a:p>
                      <a:pPr algn="ctr">
                        <a:defRPr sz="900">
                          <a:latin typeface="Montserrat"/>
                        </a:defRPr>
                      </a:pPr>
                      <a:r>
                        <a:rPr sz="1000" b="0">
                          <a:solidFill>
                            <a:schemeClr val="tx1">
                              <a:lumMod val="65000"/>
                              <a:lumOff val="35000"/>
                            </a:schemeClr>
                          </a:solidFill>
                        </a:rPr>
                        <a:t>3</a:t>
                      </a:r>
                    </a:p>
                  </a:txBody>
                  <a:tcPr anchor="ctr">
                    <a:solidFill>
                      <a:srgbClr val="FFFFFF"/>
                    </a:solidFill>
                  </a:tcPr>
                </a:tc>
                <a:extLst>
                  <a:ext uri="{0D108BD9-81ED-4DB2-BD59-A6C34878D82A}">
                    <a16:rowId xmlns:a16="http://schemas.microsoft.com/office/drawing/2014/main" val="10001"/>
                  </a:ext>
                </a:extLst>
              </a:tr>
              <a:tr h="217327">
                <a:tc>
                  <a:txBody>
                    <a:bodyPr/>
                    <a:lstStyle/>
                    <a:p>
                      <a:pPr algn="l">
                        <a:defRPr sz="900">
                          <a:latin typeface="Montserrat"/>
                        </a:defRPr>
                      </a:pPr>
                      <a:r>
                        <a:rPr sz="1000"/>
                        <a:t>HGSMF 6 Parras</a:t>
                      </a:r>
                    </a:p>
                  </a:txBody>
                  <a:tcPr anchor="ctr">
                    <a:solidFill>
                      <a:srgbClr val="EFEFEF"/>
                    </a:solidFill>
                  </a:tcPr>
                </a:tc>
                <a:tc>
                  <a:txBody>
                    <a:bodyPr/>
                    <a:lstStyle/>
                    <a:p>
                      <a:pPr algn="ctr">
                        <a:defRPr sz="900">
                          <a:latin typeface="Montserrat"/>
                        </a:defRPr>
                      </a:pPr>
                      <a:r>
                        <a:rPr sz="1000"/>
                        <a:t>Mayo de 1989</a:t>
                      </a:r>
                    </a:p>
                  </a:txBody>
                  <a:tcPr anchor="ctr">
                    <a:solidFill>
                      <a:srgbClr val="EFEFEF"/>
                    </a:solidFill>
                  </a:tcPr>
                </a:tc>
                <a:tc>
                  <a:txBody>
                    <a:bodyPr/>
                    <a:lstStyle/>
                    <a:p>
                      <a:pPr algn="ctr">
                        <a:defRPr sz="900">
                          <a:latin typeface="Montserrat"/>
                        </a:defRPr>
                      </a:pPr>
                      <a:r>
                        <a:rPr sz="1000"/>
                        <a:t>19</a:t>
                      </a:r>
                    </a:p>
                  </a:txBody>
                  <a:tcPr anchor="ctr">
                    <a:solidFill>
                      <a:srgbClr val="EFEFEF"/>
                    </a:solidFill>
                  </a:tcPr>
                </a:tc>
                <a:tc>
                  <a:txBody>
                    <a:bodyPr/>
                    <a:lstStyle/>
                    <a:p>
                      <a:pPr algn="ctr">
                        <a:defRPr sz="900">
                          <a:latin typeface="Montserrat"/>
                        </a:defRPr>
                      </a:pPr>
                      <a:r>
                        <a:rPr sz="1000"/>
                        <a:t>8</a:t>
                      </a:r>
                    </a:p>
                  </a:txBody>
                  <a:tcPr anchor="ctr">
                    <a:solidFill>
                      <a:srgbClr val="EFEFEF"/>
                    </a:solidFill>
                  </a:tcPr>
                </a:tc>
                <a:tc>
                  <a:txBody>
                    <a:bodyPr/>
                    <a:lstStyle/>
                    <a:p>
                      <a:pPr algn="ctr">
                        <a:defRPr sz="900">
                          <a:latin typeface="Montserrat"/>
                        </a:defRPr>
                      </a:pPr>
                      <a:r>
                        <a:rPr sz="1000"/>
                        <a:t>0</a:t>
                      </a:r>
                    </a:p>
                  </a:txBody>
                  <a:tcPr anchor="ctr">
                    <a:solidFill>
                      <a:srgbClr val="EFEFEF"/>
                    </a:solidFill>
                  </a:tcPr>
                </a:tc>
                <a:tc>
                  <a:txBody>
                    <a:bodyPr/>
                    <a:lstStyle/>
                    <a:p>
                      <a:pPr algn="ctr">
                        <a:defRPr sz="900">
                          <a:latin typeface="Montserrat"/>
                        </a:defRPr>
                      </a:pPr>
                      <a:r>
                        <a:rPr sz="1000"/>
                        <a:t>1</a:t>
                      </a:r>
                    </a:p>
                  </a:txBody>
                  <a:tcPr anchor="ctr">
                    <a:solidFill>
                      <a:srgbClr val="EFEFEF"/>
                    </a:solidFill>
                  </a:tcPr>
                </a:tc>
                <a:tc>
                  <a:txBody>
                    <a:bodyPr/>
                    <a:lstStyle/>
                    <a:p>
                      <a:pPr algn="ctr">
                        <a:defRPr sz="900">
                          <a:latin typeface="Montserrat"/>
                        </a:defRPr>
                      </a:pPr>
                      <a:r>
                        <a:rPr sz="1000"/>
                        <a:t>3</a:t>
                      </a:r>
                    </a:p>
                  </a:txBody>
                  <a:tcPr anchor="ctr">
                    <a:solidFill>
                      <a:srgbClr val="EFEFEF"/>
                    </a:solidFill>
                  </a:tcPr>
                </a:tc>
                <a:extLst>
                  <a:ext uri="{0D108BD9-81ED-4DB2-BD59-A6C34878D82A}">
                    <a16:rowId xmlns:a16="http://schemas.microsoft.com/office/drawing/2014/main" val="10002"/>
                  </a:ext>
                </a:extLst>
              </a:tr>
              <a:tr h="217327">
                <a:tc>
                  <a:txBody>
                    <a:bodyPr/>
                    <a:lstStyle/>
                    <a:p>
                      <a:pPr algn="l">
                        <a:defRPr sz="900">
                          <a:latin typeface="Montserrat"/>
                        </a:defRPr>
                      </a:pPr>
                      <a:r>
                        <a:rPr sz="1000"/>
                        <a:t>UMAA 90 Torreón (Aut)</a:t>
                      </a:r>
                    </a:p>
                  </a:txBody>
                  <a:tcPr anchor="ctr">
                    <a:solidFill>
                      <a:srgbClr val="FFFFFF"/>
                    </a:solidFill>
                  </a:tcPr>
                </a:tc>
                <a:tc>
                  <a:txBody>
                    <a:bodyPr/>
                    <a:lstStyle/>
                    <a:p>
                      <a:pPr algn="ctr">
                        <a:defRPr sz="900">
                          <a:latin typeface="Montserrat"/>
                        </a:defRPr>
                      </a:pPr>
                      <a:r>
                        <a:rPr sz="1000"/>
                        <a:t>Enero de 2009</a:t>
                      </a:r>
                    </a:p>
                  </a:txBody>
                  <a:tcPr anchor="ctr">
                    <a:solidFill>
                      <a:srgbClr val="FFFFFF"/>
                    </a:solidFill>
                  </a:tcPr>
                </a:tc>
                <a:tc>
                  <a:txBody>
                    <a:bodyPr/>
                    <a:lstStyle/>
                    <a:p>
                      <a:pPr algn="ctr">
                        <a:defRPr sz="900">
                          <a:latin typeface="Montserrat"/>
                        </a:defRPr>
                      </a:pPr>
                      <a:r>
                        <a:rPr sz="1000"/>
                        <a:t>0</a:t>
                      </a:r>
                    </a:p>
                  </a:txBody>
                  <a:tcPr anchor="ctr">
                    <a:solidFill>
                      <a:srgbClr val="FFFFFF"/>
                    </a:solidFill>
                  </a:tcPr>
                </a:tc>
                <a:tc>
                  <a:txBody>
                    <a:bodyPr/>
                    <a:lstStyle/>
                    <a:p>
                      <a:pPr algn="ctr">
                        <a:defRPr sz="900">
                          <a:latin typeface="Montserrat"/>
                        </a:defRPr>
                      </a:pPr>
                      <a:r>
                        <a:rPr sz="1000"/>
                        <a:t>20</a:t>
                      </a:r>
                    </a:p>
                  </a:txBody>
                  <a:tcPr anchor="ctr">
                    <a:solidFill>
                      <a:srgbClr val="FFFFFF"/>
                    </a:solidFill>
                  </a:tcPr>
                </a:tc>
                <a:tc>
                  <a:txBody>
                    <a:bodyPr/>
                    <a:lstStyle/>
                    <a:p>
                      <a:pPr algn="ctr">
                        <a:defRPr sz="900">
                          <a:latin typeface="Montserrat"/>
                        </a:defRPr>
                      </a:pPr>
                      <a:r>
                        <a:rPr sz="1000"/>
                        <a:t>0</a:t>
                      </a:r>
                    </a:p>
                  </a:txBody>
                  <a:tcPr anchor="ctr">
                    <a:solidFill>
                      <a:srgbClr val="FFFFFF"/>
                    </a:solidFill>
                  </a:tcPr>
                </a:tc>
                <a:tc>
                  <a:txBody>
                    <a:bodyPr/>
                    <a:lstStyle/>
                    <a:p>
                      <a:pPr algn="ctr">
                        <a:defRPr sz="900">
                          <a:latin typeface="Montserrat"/>
                        </a:defRPr>
                      </a:pPr>
                      <a:r>
                        <a:rPr sz="1000"/>
                        <a:t>2</a:t>
                      </a:r>
                    </a:p>
                  </a:txBody>
                  <a:tcPr anchor="ctr">
                    <a:solidFill>
                      <a:srgbClr val="FFFFFF"/>
                    </a:solidFill>
                  </a:tcPr>
                </a:tc>
                <a:tc>
                  <a:txBody>
                    <a:bodyPr/>
                    <a:lstStyle/>
                    <a:p>
                      <a:pPr algn="ctr">
                        <a:defRPr sz="900">
                          <a:latin typeface="Montserrat"/>
                        </a:defRPr>
                      </a:pPr>
                      <a:r>
                        <a:rPr sz="1000"/>
                        <a:t>9</a:t>
                      </a:r>
                    </a:p>
                  </a:txBody>
                  <a:tcPr anchor="ctr">
                    <a:solidFill>
                      <a:srgbClr val="FFFFFF"/>
                    </a:solidFill>
                  </a:tcPr>
                </a:tc>
                <a:extLst>
                  <a:ext uri="{0D108BD9-81ED-4DB2-BD59-A6C34878D82A}">
                    <a16:rowId xmlns:a16="http://schemas.microsoft.com/office/drawing/2014/main" val="10003"/>
                  </a:ext>
                </a:extLst>
              </a:tr>
              <a:tr h="217327">
                <a:tc>
                  <a:txBody>
                    <a:bodyPr/>
                    <a:lstStyle/>
                    <a:p>
                      <a:pPr algn="l">
                        <a:defRPr sz="900">
                          <a:latin typeface="Montserrat"/>
                        </a:defRPr>
                      </a:pPr>
                      <a:r>
                        <a:rPr sz="1000"/>
                        <a:t>HGZ 92 Coahuila</a:t>
                      </a:r>
                    </a:p>
                  </a:txBody>
                  <a:tcPr anchor="ctr">
                    <a:solidFill>
                      <a:srgbClr val="EFEFEF"/>
                    </a:solidFill>
                  </a:tcPr>
                </a:tc>
                <a:tc>
                  <a:txBody>
                    <a:bodyPr/>
                    <a:lstStyle/>
                    <a:p>
                      <a:pPr algn="ctr">
                        <a:defRPr sz="900">
                          <a:latin typeface="Montserrat"/>
                        </a:defRPr>
                      </a:pPr>
                      <a:r>
                        <a:rPr sz="1000"/>
                        <a:t>Agosto de 2020</a:t>
                      </a:r>
                    </a:p>
                  </a:txBody>
                  <a:tcPr anchor="ctr">
                    <a:solidFill>
                      <a:srgbClr val="EFEFEF"/>
                    </a:solidFill>
                  </a:tcPr>
                </a:tc>
                <a:tc>
                  <a:txBody>
                    <a:bodyPr/>
                    <a:lstStyle/>
                    <a:p>
                      <a:pPr algn="ctr">
                        <a:defRPr sz="900">
                          <a:latin typeface="Montserrat"/>
                        </a:defRPr>
                      </a:pPr>
                      <a:r>
                        <a:rPr sz="1000"/>
                        <a:t>94</a:t>
                      </a:r>
                    </a:p>
                  </a:txBody>
                  <a:tcPr anchor="ctr">
                    <a:solidFill>
                      <a:srgbClr val="EFEFEF"/>
                    </a:solidFill>
                  </a:tcPr>
                </a:tc>
                <a:tc>
                  <a:txBody>
                    <a:bodyPr/>
                    <a:lstStyle/>
                    <a:p>
                      <a:pPr algn="ctr">
                        <a:defRPr sz="900">
                          <a:latin typeface="Montserrat"/>
                        </a:defRPr>
                      </a:pPr>
                      <a:r>
                        <a:rPr sz="1000"/>
                        <a:t>68</a:t>
                      </a:r>
                    </a:p>
                  </a:txBody>
                  <a:tcPr anchor="ctr">
                    <a:solidFill>
                      <a:srgbClr val="EFEFEF"/>
                    </a:solidFill>
                  </a:tcPr>
                </a:tc>
                <a:tc>
                  <a:txBody>
                    <a:bodyPr/>
                    <a:lstStyle/>
                    <a:p>
                      <a:pPr algn="ctr">
                        <a:defRPr sz="900">
                          <a:latin typeface="Montserrat"/>
                        </a:defRPr>
                      </a:pPr>
                      <a:r>
                        <a:rPr sz="1000"/>
                        <a:t>6</a:t>
                      </a:r>
                    </a:p>
                  </a:txBody>
                  <a:tcPr anchor="ctr">
                    <a:solidFill>
                      <a:srgbClr val="EFEFEF"/>
                    </a:solidFill>
                  </a:tcPr>
                </a:tc>
                <a:tc>
                  <a:txBody>
                    <a:bodyPr/>
                    <a:lstStyle/>
                    <a:p>
                      <a:pPr algn="ctr">
                        <a:defRPr sz="900">
                          <a:latin typeface="Montserrat"/>
                        </a:defRPr>
                      </a:pPr>
                      <a:r>
                        <a:rPr sz="1000"/>
                        <a:t>5</a:t>
                      </a:r>
                    </a:p>
                  </a:txBody>
                  <a:tcPr anchor="ctr">
                    <a:solidFill>
                      <a:srgbClr val="EFEFEF"/>
                    </a:solidFill>
                  </a:tcPr>
                </a:tc>
                <a:tc>
                  <a:txBody>
                    <a:bodyPr/>
                    <a:lstStyle/>
                    <a:p>
                      <a:pPr algn="ctr">
                        <a:defRPr sz="900">
                          <a:latin typeface="Montserrat"/>
                        </a:defRPr>
                      </a:pPr>
                      <a:r>
                        <a:rPr sz="1000"/>
                        <a:t>28</a:t>
                      </a:r>
                    </a:p>
                  </a:txBody>
                  <a:tcPr anchor="ctr">
                    <a:solidFill>
                      <a:srgbClr val="EFEFEF"/>
                    </a:solidFill>
                  </a:tcPr>
                </a:tc>
                <a:extLst>
                  <a:ext uri="{0D108BD9-81ED-4DB2-BD59-A6C34878D82A}">
                    <a16:rowId xmlns:a16="http://schemas.microsoft.com/office/drawing/2014/main" val="10004"/>
                  </a:ext>
                </a:extLst>
              </a:tr>
              <a:tr h="217327">
                <a:tc gridSpan="2">
                  <a:txBody>
                    <a:bodyPr/>
                    <a:lstStyle/>
                    <a:p>
                      <a:pPr algn="ctr">
                        <a:defRPr sz="900" b="1">
                          <a:solidFill>
                            <a:srgbClr val="006556"/>
                          </a:solidFill>
                          <a:latin typeface="Montserrat"/>
                        </a:defRPr>
                      </a:pPr>
                      <a:r>
                        <a:rPr sz="1000"/>
                        <a:t>Subtotal</a:t>
                      </a:r>
                    </a:p>
                  </a:txBody>
                  <a:tcPr anchor="ctr">
                    <a:solidFill>
                      <a:srgbClr val="D3E9E7"/>
                    </a:solidFill>
                  </a:tcPr>
                </a:tc>
                <a:tc hMerge="1">
                  <a:txBody>
                    <a:bodyPr/>
                    <a:lstStyle/>
                    <a:p>
                      <a:endParaRPr/>
                    </a:p>
                  </a:txBody>
                  <a:tcPr/>
                </a:tc>
                <a:tc>
                  <a:txBody>
                    <a:bodyPr/>
                    <a:lstStyle/>
                    <a:p>
                      <a:pPr algn="ctr">
                        <a:defRPr sz="900" b="1">
                          <a:solidFill>
                            <a:srgbClr val="006556"/>
                          </a:solidFill>
                          <a:latin typeface="Montserrat"/>
                        </a:defRPr>
                      </a:pPr>
                      <a:r>
                        <a:rPr sz="1000"/>
                        <a:t>1,46</a:t>
                      </a:r>
                      <a:r>
                        <a:rPr lang="es-MX" sz="1000"/>
                        <a:t>7</a:t>
                      </a:r>
                      <a:endParaRPr sz="1000"/>
                    </a:p>
                  </a:txBody>
                  <a:tcPr anchor="ctr">
                    <a:solidFill>
                      <a:srgbClr val="D3E9E7"/>
                    </a:solidFill>
                  </a:tcPr>
                </a:tc>
                <a:tc>
                  <a:txBody>
                    <a:bodyPr/>
                    <a:lstStyle/>
                    <a:p>
                      <a:pPr algn="ctr">
                        <a:defRPr sz="900" b="1">
                          <a:solidFill>
                            <a:srgbClr val="006556"/>
                          </a:solidFill>
                          <a:latin typeface="Montserrat"/>
                        </a:defRPr>
                      </a:pPr>
                      <a:r>
                        <a:rPr sz="1000"/>
                        <a:t>5</a:t>
                      </a:r>
                      <a:r>
                        <a:rPr lang="es-MX" sz="1000"/>
                        <a:t>49</a:t>
                      </a:r>
                      <a:endParaRPr sz="1000"/>
                    </a:p>
                  </a:txBody>
                  <a:tcPr anchor="ctr">
                    <a:solidFill>
                      <a:srgbClr val="D3E9E7"/>
                    </a:solidFill>
                  </a:tcPr>
                </a:tc>
                <a:tc>
                  <a:txBody>
                    <a:bodyPr/>
                    <a:lstStyle/>
                    <a:p>
                      <a:pPr algn="ctr">
                        <a:defRPr sz="900" b="1">
                          <a:solidFill>
                            <a:srgbClr val="006556"/>
                          </a:solidFill>
                          <a:latin typeface="Montserrat"/>
                        </a:defRPr>
                      </a:pPr>
                      <a:r>
                        <a:rPr sz="1000"/>
                        <a:t>36</a:t>
                      </a:r>
                    </a:p>
                  </a:txBody>
                  <a:tcPr anchor="ctr">
                    <a:solidFill>
                      <a:srgbClr val="D3E9E7"/>
                    </a:solidFill>
                  </a:tcPr>
                </a:tc>
                <a:tc>
                  <a:txBody>
                    <a:bodyPr/>
                    <a:lstStyle/>
                    <a:p>
                      <a:pPr algn="ctr">
                        <a:defRPr sz="900" b="1">
                          <a:solidFill>
                            <a:srgbClr val="006556"/>
                          </a:solidFill>
                          <a:latin typeface="Montserrat"/>
                        </a:defRPr>
                      </a:pPr>
                      <a:r>
                        <a:rPr sz="1000"/>
                        <a:t>43</a:t>
                      </a:r>
                    </a:p>
                  </a:txBody>
                  <a:tcPr anchor="ctr">
                    <a:solidFill>
                      <a:srgbClr val="D3E9E7"/>
                    </a:solidFill>
                  </a:tcPr>
                </a:tc>
                <a:tc>
                  <a:txBody>
                    <a:bodyPr/>
                    <a:lstStyle/>
                    <a:p>
                      <a:pPr algn="ctr">
                        <a:defRPr sz="900" b="1">
                          <a:solidFill>
                            <a:srgbClr val="006556"/>
                          </a:solidFill>
                          <a:latin typeface="Montserrat"/>
                        </a:defRPr>
                      </a:pPr>
                      <a:r>
                        <a:rPr sz="1000"/>
                        <a:t>192</a:t>
                      </a:r>
                    </a:p>
                  </a:txBody>
                  <a:tcPr anchor="ctr">
                    <a:solidFill>
                      <a:srgbClr val="D3E9E7"/>
                    </a:solidFill>
                  </a:tcPr>
                </a:tc>
                <a:extLst>
                  <a:ext uri="{0D108BD9-81ED-4DB2-BD59-A6C34878D82A}">
                    <a16:rowId xmlns:a16="http://schemas.microsoft.com/office/drawing/2014/main" val="10005"/>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386668233"/>
              </p:ext>
            </p:extLst>
          </p:nvPr>
        </p:nvGraphicFramePr>
        <p:xfrm>
          <a:off x="56628" y="5248506"/>
          <a:ext cx="7650000" cy="1676400"/>
        </p:xfrm>
        <a:graphic>
          <a:graphicData uri="http://schemas.openxmlformats.org/drawingml/2006/table">
            <a:tbl>
              <a:tblPr firstRow="1" bandRow="1">
                <a:tableStyleId>{5C22544A-7EE6-4342-B048-85BDC9FD1C3A}</a:tableStyleId>
              </a:tblPr>
              <a:tblGrid>
                <a:gridCol w="1980000">
                  <a:extLst>
                    <a:ext uri="{9D8B030D-6E8A-4147-A177-3AD203B41FA5}">
                      <a16:colId xmlns:a16="http://schemas.microsoft.com/office/drawing/2014/main" val="20000"/>
                    </a:ext>
                  </a:extLst>
                </a:gridCol>
                <a:gridCol w="1262475">
                  <a:extLst>
                    <a:ext uri="{9D8B030D-6E8A-4147-A177-3AD203B41FA5}">
                      <a16:colId xmlns:a16="http://schemas.microsoft.com/office/drawing/2014/main" val="20001"/>
                    </a:ext>
                  </a:extLst>
                </a:gridCol>
                <a:gridCol w="700088">
                  <a:extLst>
                    <a:ext uri="{9D8B030D-6E8A-4147-A177-3AD203B41FA5}">
                      <a16:colId xmlns:a16="http://schemas.microsoft.com/office/drawing/2014/main" val="20002"/>
                    </a:ext>
                  </a:extLst>
                </a:gridCol>
                <a:gridCol w="841837">
                  <a:extLst>
                    <a:ext uri="{9D8B030D-6E8A-4147-A177-3AD203B41FA5}">
                      <a16:colId xmlns:a16="http://schemas.microsoft.com/office/drawing/2014/main" val="20003"/>
                    </a:ext>
                  </a:extLst>
                </a:gridCol>
                <a:gridCol w="886950">
                  <a:extLst>
                    <a:ext uri="{9D8B030D-6E8A-4147-A177-3AD203B41FA5}">
                      <a16:colId xmlns:a16="http://schemas.microsoft.com/office/drawing/2014/main" val="20004"/>
                    </a:ext>
                  </a:extLst>
                </a:gridCol>
                <a:gridCol w="801410">
                  <a:extLst>
                    <a:ext uri="{9D8B030D-6E8A-4147-A177-3AD203B41FA5}">
                      <a16:colId xmlns:a16="http://schemas.microsoft.com/office/drawing/2014/main" val="20005"/>
                    </a:ext>
                  </a:extLst>
                </a:gridCol>
                <a:gridCol w="1177240">
                  <a:extLst>
                    <a:ext uri="{9D8B030D-6E8A-4147-A177-3AD203B41FA5}">
                      <a16:colId xmlns:a16="http://schemas.microsoft.com/office/drawing/2014/main" val="20006"/>
                    </a:ext>
                  </a:extLst>
                </a:gridCol>
              </a:tblGrid>
              <a:tr h="230400">
                <a:tc>
                  <a:txBody>
                    <a:bodyPr/>
                    <a:lstStyle/>
                    <a:p>
                      <a:pPr algn="ctr">
                        <a:defRPr sz="900" b="1">
                          <a:solidFill>
                            <a:srgbClr val="FFFFFF"/>
                          </a:solidFill>
                          <a:latin typeface="Montserrat"/>
                        </a:defRPr>
                      </a:pPr>
                      <a:r>
                        <a:rPr sz="1000"/>
                        <a:t>IMSS-</a:t>
                      </a:r>
                      <a:r>
                        <a:rPr sz="1000" err="1"/>
                        <a:t>Coplamar</a:t>
                      </a:r>
                      <a:endParaRPr sz="1000"/>
                    </a:p>
                  </a:txBody>
                  <a:tcPr anchor="ctr">
                    <a:solidFill>
                      <a:srgbClr val="006455"/>
                    </a:solidFill>
                  </a:tcPr>
                </a:tc>
                <a:tc>
                  <a:txBody>
                    <a:bodyPr/>
                    <a:lstStyle/>
                    <a:p>
                      <a:pPr algn="ctr">
                        <a:defRPr sz="900" b="1">
                          <a:solidFill>
                            <a:srgbClr val="FFFFFF"/>
                          </a:solidFill>
                          <a:latin typeface="Montserrat"/>
                        </a:defRPr>
                      </a:pPr>
                      <a:r>
                        <a:rPr sz="1000"/>
                        <a:t>Inicio de operaciones</a:t>
                      </a:r>
                    </a:p>
                  </a:txBody>
                  <a:tcPr anchor="ctr">
                    <a:solidFill>
                      <a:srgbClr val="006455"/>
                    </a:solidFill>
                  </a:tcPr>
                </a:tc>
                <a:tc>
                  <a:txBody>
                    <a:bodyPr/>
                    <a:lstStyle/>
                    <a:p>
                      <a:pPr algn="ctr">
                        <a:defRPr sz="900" b="1">
                          <a:solidFill>
                            <a:srgbClr val="FFFFFF"/>
                          </a:solidFill>
                          <a:latin typeface="Montserrat"/>
                        </a:defRPr>
                      </a:pPr>
                      <a:r>
                        <a:rPr sz="1000"/>
                        <a:t>Camas</a:t>
                      </a:r>
                    </a:p>
                  </a:txBody>
                  <a:tcPr anchor="ctr">
                    <a:solidFill>
                      <a:srgbClr val="006455"/>
                    </a:solidFill>
                  </a:tcPr>
                </a:tc>
                <a:tc>
                  <a:txBody>
                    <a:bodyPr/>
                    <a:lstStyle/>
                    <a:p>
                      <a:pPr algn="ctr">
                        <a:defRPr sz="900" b="1">
                          <a:solidFill>
                            <a:srgbClr val="FFFFFF"/>
                          </a:solidFill>
                          <a:latin typeface="Montserrat"/>
                        </a:defRPr>
                      </a:pPr>
                      <a:r>
                        <a:rPr sz="1000"/>
                        <a:t>Camas no censables</a:t>
                      </a:r>
                    </a:p>
                  </a:txBody>
                  <a:tcPr anchor="ctr">
                    <a:solidFill>
                      <a:srgbClr val="006455"/>
                    </a:solidFill>
                  </a:tcPr>
                </a:tc>
                <a:tc>
                  <a:txBody>
                    <a:bodyPr/>
                    <a:lstStyle/>
                    <a:p>
                      <a:pPr algn="ctr">
                        <a:defRPr sz="900" b="1">
                          <a:solidFill>
                            <a:srgbClr val="FFFFFF"/>
                          </a:solidFill>
                          <a:latin typeface="Montserrat"/>
                        </a:defRPr>
                      </a:pPr>
                      <a:r>
                        <a:rPr sz="1000"/>
                        <a:t>Camas de cuidados intensivos</a:t>
                      </a:r>
                    </a:p>
                  </a:txBody>
                  <a:tcPr anchor="ctr">
                    <a:solidFill>
                      <a:srgbClr val="006455"/>
                    </a:solidFill>
                  </a:tcPr>
                </a:tc>
                <a:tc>
                  <a:txBody>
                    <a:bodyPr/>
                    <a:lstStyle/>
                    <a:p>
                      <a:pPr algn="ctr">
                        <a:defRPr sz="900" b="1">
                          <a:solidFill>
                            <a:srgbClr val="FFFFFF"/>
                          </a:solidFill>
                          <a:latin typeface="Montserrat"/>
                        </a:defRPr>
                      </a:pPr>
                      <a:r>
                        <a:rPr sz="1000"/>
                        <a:t>Salas Quirúrgicas¹</a:t>
                      </a:r>
                    </a:p>
                  </a:txBody>
                  <a:tcPr anchor="ctr">
                    <a:solidFill>
                      <a:srgbClr val="006455"/>
                    </a:solidFill>
                  </a:tcPr>
                </a:tc>
                <a:tc>
                  <a:txBody>
                    <a:bodyPr/>
                    <a:lstStyle/>
                    <a:p>
                      <a:pPr algn="ctr">
                        <a:defRPr sz="900" b="1">
                          <a:solidFill>
                            <a:srgbClr val="FFFFFF"/>
                          </a:solidFill>
                          <a:latin typeface="Montserrat"/>
                        </a:defRPr>
                      </a:pPr>
                      <a:r>
                        <a:rPr sz="1000"/>
                        <a:t>Consultorios de especialidades</a:t>
                      </a:r>
                    </a:p>
                  </a:txBody>
                  <a:tcPr anchor="ctr">
                    <a:solidFill>
                      <a:srgbClr val="006455"/>
                    </a:solidFill>
                  </a:tcPr>
                </a:tc>
                <a:extLst>
                  <a:ext uri="{0D108BD9-81ED-4DB2-BD59-A6C34878D82A}">
                    <a16:rowId xmlns:a16="http://schemas.microsoft.com/office/drawing/2014/main" val="10000"/>
                  </a:ext>
                </a:extLst>
              </a:tr>
              <a:tr h="230400">
                <a:tc>
                  <a:txBody>
                    <a:bodyPr/>
                    <a:lstStyle/>
                    <a:p>
                      <a:pPr algn="l">
                        <a:defRPr sz="900">
                          <a:latin typeface="Montserrat"/>
                        </a:defRPr>
                      </a:pPr>
                      <a:r>
                        <a:rPr sz="1000"/>
                        <a:t>HR Ramos Arizpe</a:t>
                      </a:r>
                    </a:p>
                  </a:txBody>
                  <a:tcPr anchor="ctr">
                    <a:solidFill>
                      <a:srgbClr val="FFFFFF"/>
                    </a:solidFill>
                  </a:tcPr>
                </a:tc>
                <a:tc>
                  <a:txBody>
                    <a:bodyPr/>
                    <a:lstStyle/>
                    <a:p>
                      <a:pPr algn="ctr">
                        <a:defRPr sz="900">
                          <a:latin typeface="Montserrat"/>
                        </a:defRPr>
                      </a:pPr>
                      <a:r>
                        <a:rPr sz="1000"/>
                        <a:t>Mayo de 1974</a:t>
                      </a:r>
                    </a:p>
                  </a:txBody>
                  <a:tcPr anchor="ctr">
                    <a:solidFill>
                      <a:srgbClr val="FFFFFF"/>
                    </a:solidFill>
                  </a:tcPr>
                </a:tc>
                <a:tc>
                  <a:txBody>
                    <a:bodyPr/>
                    <a:lstStyle/>
                    <a:p>
                      <a:pPr algn="ctr">
                        <a:defRPr sz="900">
                          <a:latin typeface="Montserrat"/>
                        </a:defRPr>
                      </a:pPr>
                      <a:r>
                        <a:rPr sz="1000"/>
                        <a:t>33</a:t>
                      </a:r>
                    </a:p>
                  </a:txBody>
                  <a:tcPr anchor="ctr">
                    <a:solidFill>
                      <a:srgbClr val="FFFFFF"/>
                    </a:solidFill>
                  </a:tcPr>
                </a:tc>
                <a:tc>
                  <a:txBody>
                    <a:bodyPr/>
                    <a:lstStyle/>
                    <a:p>
                      <a:pPr algn="ctr">
                        <a:defRPr sz="900">
                          <a:latin typeface="Montserrat"/>
                        </a:defRPr>
                      </a:pPr>
                      <a:r>
                        <a:rPr sz="1000"/>
                        <a:t>16</a:t>
                      </a:r>
                    </a:p>
                  </a:txBody>
                  <a:tcPr anchor="ctr">
                    <a:solidFill>
                      <a:srgbClr val="FFFFFF"/>
                    </a:solidFill>
                  </a:tcPr>
                </a:tc>
                <a:tc>
                  <a:txBody>
                    <a:bodyPr/>
                    <a:lstStyle/>
                    <a:p>
                      <a:pPr algn="ctr">
                        <a:defRPr sz="900">
                          <a:latin typeface="Montserrat"/>
                        </a:defRPr>
                      </a:pPr>
                      <a:r>
                        <a:rPr sz="1000"/>
                        <a:t>0</a:t>
                      </a:r>
                    </a:p>
                  </a:txBody>
                  <a:tcPr anchor="ctr">
                    <a:solidFill>
                      <a:srgbClr val="FFFFFF"/>
                    </a:solidFill>
                  </a:tcPr>
                </a:tc>
                <a:tc>
                  <a:txBody>
                    <a:bodyPr/>
                    <a:lstStyle/>
                    <a:p>
                      <a:pPr algn="ctr">
                        <a:defRPr sz="900">
                          <a:latin typeface="Montserrat"/>
                        </a:defRPr>
                      </a:pPr>
                      <a:r>
                        <a:rPr sz="1000"/>
                        <a:t>2</a:t>
                      </a:r>
                    </a:p>
                  </a:txBody>
                  <a:tcPr anchor="ctr">
                    <a:solidFill>
                      <a:srgbClr val="FFFFFF"/>
                    </a:solidFill>
                  </a:tcPr>
                </a:tc>
                <a:tc>
                  <a:txBody>
                    <a:bodyPr/>
                    <a:lstStyle/>
                    <a:p>
                      <a:pPr algn="ctr">
                        <a:defRPr sz="900">
                          <a:latin typeface="Montserrat"/>
                        </a:defRPr>
                      </a:pPr>
                      <a:r>
                        <a:rPr sz="1000"/>
                        <a:t>7</a:t>
                      </a:r>
                    </a:p>
                  </a:txBody>
                  <a:tcPr anchor="ctr">
                    <a:solidFill>
                      <a:srgbClr val="FFFFFF"/>
                    </a:solidFill>
                  </a:tcPr>
                </a:tc>
                <a:extLst>
                  <a:ext uri="{0D108BD9-81ED-4DB2-BD59-A6C34878D82A}">
                    <a16:rowId xmlns:a16="http://schemas.microsoft.com/office/drawing/2014/main" val="10001"/>
                  </a:ext>
                </a:extLst>
              </a:tr>
              <a:tr h="230400">
                <a:tc>
                  <a:txBody>
                    <a:bodyPr/>
                    <a:lstStyle/>
                    <a:p>
                      <a:pPr algn="l">
                        <a:defRPr sz="900">
                          <a:latin typeface="Montserrat"/>
                        </a:defRPr>
                      </a:pPr>
                      <a:r>
                        <a:rPr sz="1000"/>
                        <a:t>HR San Buenaventura</a:t>
                      </a:r>
                    </a:p>
                  </a:txBody>
                  <a:tcPr anchor="ctr">
                    <a:solidFill>
                      <a:srgbClr val="EFEFEF"/>
                    </a:solidFill>
                  </a:tcPr>
                </a:tc>
                <a:tc>
                  <a:txBody>
                    <a:bodyPr/>
                    <a:lstStyle/>
                    <a:p>
                      <a:pPr algn="ctr">
                        <a:defRPr sz="900">
                          <a:latin typeface="Montserrat"/>
                        </a:defRPr>
                      </a:pPr>
                      <a:r>
                        <a:rPr sz="1000"/>
                        <a:t>Noviembre de 1976</a:t>
                      </a:r>
                    </a:p>
                  </a:txBody>
                  <a:tcPr anchor="ctr">
                    <a:solidFill>
                      <a:srgbClr val="EFEFEF"/>
                    </a:solidFill>
                  </a:tcPr>
                </a:tc>
                <a:tc>
                  <a:txBody>
                    <a:bodyPr/>
                    <a:lstStyle/>
                    <a:p>
                      <a:pPr algn="ctr">
                        <a:defRPr sz="900">
                          <a:latin typeface="Montserrat"/>
                        </a:defRPr>
                      </a:pPr>
                      <a:r>
                        <a:rPr sz="1000"/>
                        <a:t>30</a:t>
                      </a:r>
                    </a:p>
                  </a:txBody>
                  <a:tcPr anchor="ctr">
                    <a:solidFill>
                      <a:srgbClr val="EFEFEF"/>
                    </a:solidFill>
                  </a:tcPr>
                </a:tc>
                <a:tc>
                  <a:txBody>
                    <a:bodyPr/>
                    <a:lstStyle/>
                    <a:p>
                      <a:pPr algn="ctr">
                        <a:defRPr sz="900">
                          <a:latin typeface="Montserrat"/>
                        </a:defRPr>
                      </a:pPr>
                      <a:r>
                        <a:rPr sz="1000"/>
                        <a:t>6</a:t>
                      </a:r>
                    </a:p>
                  </a:txBody>
                  <a:tcPr anchor="ctr">
                    <a:solidFill>
                      <a:srgbClr val="EFEFEF"/>
                    </a:solidFill>
                  </a:tcPr>
                </a:tc>
                <a:tc>
                  <a:txBody>
                    <a:bodyPr/>
                    <a:lstStyle/>
                    <a:p>
                      <a:pPr algn="ctr">
                        <a:defRPr sz="900">
                          <a:latin typeface="Montserrat"/>
                        </a:defRPr>
                      </a:pPr>
                      <a:r>
                        <a:rPr sz="1000"/>
                        <a:t>0</a:t>
                      </a:r>
                    </a:p>
                  </a:txBody>
                  <a:tcPr anchor="ctr">
                    <a:solidFill>
                      <a:srgbClr val="EFEFEF"/>
                    </a:solidFill>
                  </a:tcPr>
                </a:tc>
                <a:tc>
                  <a:txBody>
                    <a:bodyPr/>
                    <a:lstStyle/>
                    <a:p>
                      <a:pPr algn="ctr">
                        <a:defRPr sz="900">
                          <a:latin typeface="Montserrat"/>
                        </a:defRPr>
                      </a:pPr>
                      <a:r>
                        <a:rPr sz="1000"/>
                        <a:t>1</a:t>
                      </a:r>
                    </a:p>
                  </a:txBody>
                  <a:tcPr anchor="ctr">
                    <a:solidFill>
                      <a:srgbClr val="EFEFEF"/>
                    </a:solidFill>
                  </a:tcPr>
                </a:tc>
                <a:tc>
                  <a:txBody>
                    <a:bodyPr/>
                    <a:lstStyle/>
                    <a:p>
                      <a:pPr algn="ctr">
                        <a:defRPr sz="900">
                          <a:latin typeface="Montserrat"/>
                        </a:defRPr>
                      </a:pPr>
                      <a:r>
                        <a:rPr sz="1000"/>
                        <a:t>3</a:t>
                      </a:r>
                    </a:p>
                  </a:txBody>
                  <a:tcPr anchor="ctr">
                    <a:solidFill>
                      <a:srgbClr val="EFEFEF"/>
                    </a:solidFill>
                  </a:tcPr>
                </a:tc>
                <a:extLst>
                  <a:ext uri="{0D108BD9-81ED-4DB2-BD59-A6C34878D82A}">
                    <a16:rowId xmlns:a16="http://schemas.microsoft.com/office/drawing/2014/main" val="10002"/>
                  </a:ext>
                </a:extLst>
              </a:tr>
              <a:tr h="230400">
                <a:tc>
                  <a:txBody>
                    <a:bodyPr/>
                    <a:lstStyle/>
                    <a:p>
                      <a:pPr algn="l">
                        <a:defRPr sz="900">
                          <a:latin typeface="Montserrat"/>
                        </a:defRPr>
                      </a:pPr>
                      <a:r>
                        <a:rPr sz="1000"/>
                        <a:t>HR Matamoros</a:t>
                      </a:r>
                    </a:p>
                  </a:txBody>
                  <a:tcPr anchor="ctr">
                    <a:solidFill>
                      <a:srgbClr val="FFFFFF"/>
                    </a:solidFill>
                  </a:tcPr>
                </a:tc>
                <a:tc>
                  <a:txBody>
                    <a:bodyPr/>
                    <a:lstStyle/>
                    <a:p>
                      <a:pPr algn="ctr">
                        <a:defRPr sz="900">
                          <a:latin typeface="Montserrat"/>
                        </a:defRPr>
                      </a:pPr>
                      <a:r>
                        <a:rPr sz="1000"/>
                        <a:t>Abril de 1994</a:t>
                      </a:r>
                    </a:p>
                  </a:txBody>
                  <a:tcPr anchor="ctr">
                    <a:solidFill>
                      <a:srgbClr val="FFFFFF"/>
                    </a:solidFill>
                  </a:tcPr>
                </a:tc>
                <a:tc>
                  <a:txBody>
                    <a:bodyPr/>
                    <a:lstStyle/>
                    <a:p>
                      <a:pPr algn="ctr">
                        <a:defRPr sz="900">
                          <a:latin typeface="Montserrat"/>
                        </a:defRPr>
                      </a:pPr>
                      <a:r>
                        <a:rPr sz="1000"/>
                        <a:t>29</a:t>
                      </a:r>
                    </a:p>
                  </a:txBody>
                  <a:tcPr anchor="ctr">
                    <a:solidFill>
                      <a:srgbClr val="FFFFFF"/>
                    </a:solidFill>
                  </a:tcPr>
                </a:tc>
                <a:tc>
                  <a:txBody>
                    <a:bodyPr/>
                    <a:lstStyle/>
                    <a:p>
                      <a:pPr algn="ctr">
                        <a:defRPr sz="900">
                          <a:latin typeface="Montserrat"/>
                        </a:defRPr>
                      </a:pPr>
                      <a:r>
                        <a:rPr sz="1000"/>
                        <a:t>11</a:t>
                      </a:r>
                    </a:p>
                  </a:txBody>
                  <a:tcPr anchor="ctr">
                    <a:solidFill>
                      <a:srgbClr val="FFFFFF"/>
                    </a:solidFill>
                  </a:tcPr>
                </a:tc>
                <a:tc>
                  <a:txBody>
                    <a:bodyPr/>
                    <a:lstStyle/>
                    <a:p>
                      <a:pPr algn="ctr">
                        <a:defRPr sz="900">
                          <a:latin typeface="Montserrat"/>
                        </a:defRPr>
                      </a:pPr>
                      <a:r>
                        <a:rPr sz="1000"/>
                        <a:t>0</a:t>
                      </a:r>
                    </a:p>
                  </a:txBody>
                  <a:tcPr anchor="ctr">
                    <a:solidFill>
                      <a:srgbClr val="FFFFFF"/>
                    </a:solidFill>
                  </a:tcPr>
                </a:tc>
                <a:tc>
                  <a:txBody>
                    <a:bodyPr/>
                    <a:lstStyle/>
                    <a:p>
                      <a:pPr algn="ctr">
                        <a:defRPr sz="900">
                          <a:latin typeface="Montserrat"/>
                        </a:defRPr>
                      </a:pPr>
                      <a:r>
                        <a:rPr sz="1000"/>
                        <a:t>1</a:t>
                      </a:r>
                    </a:p>
                  </a:txBody>
                  <a:tcPr anchor="ctr">
                    <a:solidFill>
                      <a:srgbClr val="FFFFFF"/>
                    </a:solidFill>
                  </a:tcPr>
                </a:tc>
                <a:tc>
                  <a:txBody>
                    <a:bodyPr/>
                    <a:lstStyle/>
                    <a:p>
                      <a:pPr algn="ctr">
                        <a:defRPr sz="900">
                          <a:latin typeface="Montserrat"/>
                        </a:defRPr>
                      </a:pPr>
                      <a:r>
                        <a:rPr sz="1000"/>
                        <a:t>4</a:t>
                      </a:r>
                    </a:p>
                  </a:txBody>
                  <a:tcPr anchor="ctr">
                    <a:solidFill>
                      <a:srgbClr val="FFFFFF"/>
                    </a:solidFill>
                  </a:tcPr>
                </a:tc>
                <a:extLst>
                  <a:ext uri="{0D108BD9-81ED-4DB2-BD59-A6C34878D82A}">
                    <a16:rowId xmlns:a16="http://schemas.microsoft.com/office/drawing/2014/main" val="10003"/>
                  </a:ext>
                </a:extLst>
              </a:tr>
              <a:tr h="230400">
                <a:tc gridSpan="2">
                  <a:txBody>
                    <a:bodyPr/>
                    <a:lstStyle/>
                    <a:p>
                      <a:pPr algn="ctr">
                        <a:defRPr sz="900" b="1">
                          <a:solidFill>
                            <a:srgbClr val="006556"/>
                          </a:solidFill>
                          <a:latin typeface="Montserrat"/>
                        </a:defRPr>
                      </a:pPr>
                      <a:r>
                        <a:rPr sz="1000"/>
                        <a:t>Subtotal</a:t>
                      </a:r>
                    </a:p>
                  </a:txBody>
                  <a:tcPr anchor="ctr">
                    <a:solidFill>
                      <a:srgbClr val="D3E9E7"/>
                    </a:solidFill>
                  </a:tcPr>
                </a:tc>
                <a:tc hMerge="1">
                  <a:txBody>
                    <a:bodyPr/>
                    <a:lstStyle/>
                    <a:p>
                      <a:endParaRPr/>
                    </a:p>
                  </a:txBody>
                  <a:tcPr/>
                </a:tc>
                <a:tc>
                  <a:txBody>
                    <a:bodyPr/>
                    <a:lstStyle/>
                    <a:p>
                      <a:pPr algn="ctr">
                        <a:defRPr sz="900" b="1">
                          <a:solidFill>
                            <a:srgbClr val="006556"/>
                          </a:solidFill>
                          <a:latin typeface="Montserrat"/>
                        </a:defRPr>
                      </a:pPr>
                      <a:r>
                        <a:rPr sz="1000"/>
                        <a:t>92</a:t>
                      </a:r>
                    </a:p>
                  </a:txBody>
                  <a:tcPr anchor="ctr">
                    <a:solidFill>
                      <a:srgbClr val="D3E9E7"/>
                    </a:solidFill>
                  </a:tcPr>
                </a:tc>
                <a:tc>
                  <a:txBody>
                    <a:bodyPr/>
                    <a:lstStyle/>
                    <a:p>
                      <a:pPr algn="ctr">
                        <a:defRPr sz="900" b="1">
                          <a:solidFill>
                            <a:srgbClr val="006556"/>
                          </a:solidFill>
                          <a:latin typeface="Montserrat"/>
                        </a:defRPr>
                      </a:pPr>
                      <a:r>
                        <a:rPr sz="1000"/>
                        <a:t>33</a:t>
                      </a:r>
                    </a:p>
                  </a:txBody>
                  <a:tcPr anchor="ctr">
                    <a:solidFill>
                      <a:srgbClr val="D3E9E7"/>
                    </a:solidFill>
                  </a:tcPr>
                </a:tc>
                <a:tc>
                  <a:txBody>
                    <a:bodyPr/>
                    <a:lstStyle/>
                    <a:p>
                      <a:pPr algn="ctr">
                        <a:defRPr sz="900" b="1">
                          <a:solidFill>
                            <a:srgbClr val="006556"/>
                          </a:solidFill>
                          <a:latin typeface="Montserrat"/>
                        </a:defRPr>
                      </a:pPr>
                      <a:r>
                        <a:rPr sz="1000"/>
                        <a:t>0</a:t>
                      </a:r>
                    </a:p>
                  </a:txBody>
                  <a:tcPr anchor="ctr">
                    <a:solidFill>
                      <a:srgbClr val="D3E9E7"/>
                    </a:solidFill>
                  </a:tcPr>
                </a:tc>
                <a:tc>
                  <a:txBody>
                    <a:bodyPr/>
                    <a:lstStyle/>
                    <a:p>
                      <a:pPr algn="ctr">
                        <a:defRPr sz="900" b="1">
                          <a:solidFill>
                            <a:srgbClr val="006556"/>
                          </a:solidFill>
                          <a:latin typeface="Montserrat"/>
                        </a:defRPr>
                      </a:pPr>
                      <a:r>
                        <a:rPr sz="1000"/>
                        <a:t>4</a:t>
                      </a:r>
                    </a:p>
                  </a:txBody>
                  <a:tcPr anchor="ctr">
                    <a:solidFill>
                      <a:srgbClr val="D3E9E7"/>
                    </a:solidFill>
                  </a:tcPr>
                </a:tc>
                <a:tc>
                  <a:txBody>
                    <a:bodyPr/>
                    <a:lstStyle/>
                    <a:p>
                      <a:pPr algn="ctr">
                        <a:defRPr sz="900" b="1">
                          <a:solidFill>
                            <a:srgbClr val="006556"/>
                          </a:solidFill>
                          <a:latin typeface="Montserrat"/>
                        </a:defRPr>
                      </a:pPr>
                      <a:r>
                        <a:rPr sz="1000"/>
                        <a:t>14</a:t>
                      </a:r>
                    </a:p>
                  </a:txBody>
                  <a:tcPr anchor="ctr">
                    <a:solidFill>
                      <a:srgbClr val="D3E9E7"/>
                    </a:solidFill>
                  </a:tcPr>
                </a:tc>
                <a:extLst>
                  <a:ext uri="{0D108BD9-81ED-4DB2-BD59-A6C34878D82A}">
                    <a16:rowId xmlns:a16="http://schemas.microsoft.com/office/drawing/2014/main" val="10004"/>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470098339"/>
              </p:ext>
            </p:extLst>
          </p:nvPr>
        </p:nvGraphicFramePr>
        <p:xfrm>
          <a:off x="100800" y="7011648"/>
          <a:ext cx="7649999" cy="1584960"/>
        </p:xfrm>
        <a:graphic>
          <a:graphicData uri="http://schemas.openxmlformats.org/drawingml/2006/table">
            <a:tbl>
              <a:tblPr firstRow="1" bandRow="1">
                <a:tableStyleId>{5C22544A-7EE6-4342-B048-85BDC9FD1C3A}</a:tableStyleId>
              </a:tblPr>
              <a:tblGrid>
                <a:gridCol w="1980001">
                  <a:extLst>
                    <a:ext uri="{9D8B030D-6E8A-4147-A177-3AD203B41FA5}">
                      <a16:colId xmlns:a16="http://schemas.microsoft.com/office/drawing/2014/main" val="20000"/>
                    </a:ext>
                  </a:extLst>
                </a:gridCol>
                <a:gridCol w="1263784">
                  <a:extLst>
                    <a:ext uri="{9D8B030D-6E8A-4147-A177-3AD203B41FA5}">
                      <a16:colId xmlns:a16="http://schemas.microsoft.com/office/drawing/2014/main" val="20001"/>
                    </a:ext>
                  </a:extLst>
                </a:gridCol>
                <a:gridCol w="671511">
                  <a:extLst>
                    <a:ext uri="{9D8B030D-6E8A-4147-A177-3AD203B41FA5}">
                      <a16:colId xmlns:a16="http://schemas.microsoft.com/office/drawing/2014/main" val="20002"/>
                    </a:ext>
                  </a:extLst>
                </a:gridCol>
                <a:gridCol w="869103">
                  <a:extLst>
                    <a:ext uri="{9D8B030D-6E8A-4147-A177-3AD203B41FA5}">
                      <a16:colId xmlns:a16="http://schemas.microsoft.com/office/drawing/2014/main" val="20003"/>
                    </a:ext>
                  </a:extLst>
                </a:gridCol>
                <a:gridCol w="810000">
                  <a:extLst>
                    <a:ext uri="{9D8B030D-6E8A-4147-A177-3AD203B41FA5}">
                      <a16:colId xmlns:a16="http://schemas.microsoft.com/office/drawing/2014/main" val="20004"/>
                    </a:ext>
                  </a:extLst>
                </a:gridCol>
                <a:gridCol w="792635">
                  <a:extLst>
                    <a:ext uri="{9D8B030D-6E8A-4147-A177-3AD203B41FA5}">
                      <a16:colId xmlns:a16="http://schemas.microsoft.com/office/drawing/2014/main" val="20005"/>
                    </a:ext>
                  </a:extLst>
                </a:gridCol>
                <a:gridCol w="1262965">
                  <a:extLst>
                    <a:ext uri="{9D8B030D-6E8A-4147-A177-3AD203B41FA5}">
                      <a16:colId xmlns:a16="http://schemas.microsoft.com/office/drawing/2014/main" val="20006"/>
                    </a:ext>
                  </a:extLst>
                </a:gridCol>
              </a:tblGrid>
              <a:tr h="0">
                <a:tc>
                  <a:txBody>
                    <a:bodyPr/>
                    <a:lstStyle/>
                    <a:p>
                      <a:pPr algn="ctr">
                        <a:defRPr sz="900" b="1">
                          <a:solidFill>
                            <a:srgbClr val="FFFFFF"/>
                          </a:solidFill>
                          <a:latin typeface="Montserrat"/>
                        </a:defRPr>
                      </a:pPr>
                      <a:r>
                        <a:rPr sz="1000"/>
                        <a:t>UMAE</a:t>
                      </a:r>
                    </a:p>
                  </a:txBody>
                  <a:tcPr anchor="ctr">
                    <a:solidFill>
                      <a:srgbClr val="006455"/>
                    </a:solidFill>
                  </a:tcPr>
                </a:tc>
                <a:tc>
                  <a:txBody>
                    <a:bodyPr/>
                    <a:lstStyle/>
                    <a:p>
                      <a:pPr algn="ctr">
                        <a:defRPr sz="900" b="1">
                          <a:solidFill>
                            <a:srgbClr val="FFFFFF"/>
                          </a:solidFill>
                          <a:latin typeface="Montserrat"/>
                        </a:defRPr>
                      </a:pPr>
                      <a:r>
                        <a:rPr sz="1000" err="1"/>
                        <a:t>Inicio</a:t>
                      </a:r>
                      <a:r>
                        <a:rPr sz="1000"/>
                        <a:t> de </a:t>
                      </a:r>
                      <a:r>
                        <a:rPr sz="1000" err="1"/>
                        <a:t>operaciones</a:t>
                      </a:r>
                      <a:endParaRPr sz="1000"/>
                    </a:p>
                  </a:txBody>
                  <a:tcPr anchor="ctr">
                    <a:solidFill>
                      <a:srgbClr val="006455"/>
                    </a:solidFill>
                  </a:tcPr>
                </a:tc>
                <a:tc>
                  <a:txBody>
                    <a:bodyPr/>
                    <a:lstStyle/>
                    <a:p>
                      <a:pPr algn="ctr">
                        <a:defRPr sz="900" b="1">
                          <a:solidFill>
                            <a:srgbClr val="FFFFFF"/>
                          </a:solidFill>
                          <a:latin typeface="Montserrat"/>
                        </a:defRPr>
                      </a:pPr>
                      <a:r>
                        <a:rPr sz="1000"/>
                        <a:t>Camas</a:t>
                      </a:r>
                    </a:p>
                  </a:txBody>
                  <a:tcPr anchor="ctr">
                    <a:solidFill>
                      <a:srgbClr val="006455"/>
                    </a:solidFill>
                  </a:tcPr>
                </a:tc>
                <a:tc>
                  <a:txBody>
                    <a:bodyPr/>
                    <a:lstStyle/>
                    <a:p>
                      <a:pPr algn="ctr">
                        <a:defRPr sz="900" b="1">
                          <a:solidFill>
                            <a:srgbClr val="FFFFFF"/>
                          </a:solidFill>
                          <a:latin typeface="Montserrat"/>
                        </a:defRPr>
                      </a:pPr>
                      <a:r>
                        <a:rPr sz="1000"/>
                        <a:t>Camas no censables</a:t>
                      </a:r>
                    </a:p>
                  </a:txBody>
                  <a:tcPr anchor="ctr">
                    <a:solidFill>
                      <a:srgbClr val="006455"/>
                    </a:solidFill>
                  </a:tcPr>
                </a:tc>
                <a:tc>
                  <a:txBody>
                    <a:bodyPr/>
                    <a:lstStyle/>
                    <a:p>
                      <a:pPr algn="ctr">
                        <a:defRPr sz="900" b="1">
                          <a:solidFill>
                            <a:srgbClr val="FFFFFF"/>
                          </a:solidFill>
                          <a:latin typeface="Montserrat"/>
                        </a:defRPr>
                      </a:pPr>
                      <a:r>
                        <a:rPr sz="1000"/>
                        <a:t>Camas de cuidados intensivos</a:t>
                      </a:r>
                    </a:p>
                  </a:txBody>
                  <a:tcPr anchor="ctr">
                    <a:solidFill>
                      <a:srgbClr val="006455"/>
                    </a:solidFill>
                  </a:tcPr>
                </a:tc>
                <a:tc>
                  <a:txBody>
                    <a:bodyPr/>
                    <a:lstStyle/>
                    <a:p>
                      <a:pPr algn="ctr">
                        <a:defRPr sz="900" b="1">
                          <a:solidFill>
                            <a:srgbClr val="FFFFFF"/>
                          </a:solidFill>
                          <a:latin typeface="Montserrat"/>
                        </a:defRPr>
                      </a:pPr>
                      <a:r>
                        <a:rPr sz="1000"/>
                        <a:t>Salas Quirúrgicas¹</a:t>
                      </a:r>
                    </a:p>
                  </a:txBody>
                  <a:tcPr anchor="ctr">
                    <a:solidFill>
                      <a:srgbClr val="006455"/>
                    </a:solidFill>
                  </a:tcPr>
                </a:tc>
                <a:tc>
                  <a:txBody>
                    <a:bodyPr/>
                    <a:lstStyle/>
                    <a:p>
                      <a:pPr algn="ctr">
                        <a:defRPr sz="900" b="1">
                          <a:solidFill>
                            <a:srgbClr val="FFFFFF"/>
                          </a:solidFill>
                          <a:latin typeface="Montserrat"/>
                        </a:defRPr>
                      </a:pPr>
                      <a:r>
                        <a:rPr sz="1000"/>
                        <a:t>Consultorios de especialidades</a:t>
                      </a:r>
                    </a:p>
                  </a:txBody>
                  <a:tcPr anchor="ctr">
                    <a:solidFill>
                      <a:srgbClr val="006455"/>
                    </a:solidFill>
                  </a:tcPr>
                </a:tc>
                <a:extLst>
                  <a:ext uri="{0D108BD9-81ED-4DB2-BD59-A6C34878D82A}">
                    <a16:rowId xmlns:a16="http://schemas.microsoft.com/office/drawing/2014/main" val="10000"/>
                  </a:ext>
                </a:extLst>
              </a:tr>
              <a:tr h="230400">
                <a:tc>
                  <a:txBody>
                    <a:bodyPr/>
                    <a:lstStyle/>
                    <a:p>
                      <a:pPr algn="l">
                        <a:defRPr sz="900">
                          <a:latin typeface="Montserrat"/>
                        </a:defRPr>
                      </a:pPr>
                      <a:r>
                        <a:rPr sz="1000"/>
                        <a:t>HES 71 Torreón</a:t>
                      </a:r>
                    </a:p>
                  </a:txBody>
                  <a:tcPr anchor="ctr">
                    <a:solidFill>
                      <a:srgbClr val="FFFFFF"/>
                    </a:solidFill>
                  </a:tcPr>
                </a:tc>
                <a:tc>
                  <a:txBody>
                    <a:bodyPr/>
                    <a:lstStyle/>
                    <a:p>
                      <a:pPr algn="ctr">
                        <a:defRPr sz="900">
                          <a:latin typeface="Montserrat"/>
                        </a:defRPr>
                      </a:pPr>
                      <a:r>
                        <a:rPr sz="1000"/>
                        <a:t>Mayo de 2002</a:t>
                      </a:r>
                    </a:p>
                  </a:txBody>
                  <a:tcPr anchor="ctr">
                    <a:solidFill>
                      <a:srgbClr val="FFFFFF"/>
                    </a:solidFill>
                  </a:tcPr>
                </a:tc>
                <a:tc>
                  <a:txBody>
                    <a:bodyPr/>
                    <a:lstStyle/>
                    <a:p>
                      <a:pPr algn="ctr">
                        <a:defRPr sz="900">
                          <a:latin typeface="Montserrat"/>
                        </a:defRPr>
                      </a:pPr>
                      <a:r>
                        <a:rPr sz="1000"/>
                        <a:t>248</a:t>
                      </a:r>
                    </a:p>
                  </a:txBody>
                  <a:tcPr anchor="ctr">
                    <a:solidFill>
                      <a:srgbClr val="FFFFFF"/>
                    </a:solidFill>
                  </a:tcPr>
                </a:tc>
                <a:tc>
                  <a:txBody>
                    <a:bodyPr/>
                    <a:lstStyle/>
                    <a:p>
                      <a:pPr algn="ctr">
                        <a:defRPr sz="900">
                          <a:latin typeface="Montserrat"/>
                        </a:defRPr>
                      </a:pPr>
                      <a:r>
                        <a:rPr sz="1000"/>
                        <a:t>107</a:t>
                      </a:r>
                    </a:p>
                  </a:txBody>
                  <a:tcPr anchor="ctr">
                    <a:solidFill>
                      <a:srgbClr val="FFFFFF"/>
                    </a:solidFill>
                  </a:tcPr>
                </a:tc>
                <a:tc>
                  <a:txBody>
                    <a:bodyPr/>
                    <a:lstStyle/>
                    <a:p>
                      <a:pPr algn="ctr">
                        <a:defRPr sz="900">
                          <a:latin typeface="Montserrat"/>
                        </a:defRPr>
                      </a:pPr>
                      <a:r>
                        <a:rPr sz="1000"/>
                        <a:t>26</a:t>
                      </a:r>
                    </a:p>
                  </a:txBody>
                  <a:tcPr anchor="ctr">
                    <a:solidFill>
                      <a:srgbClr val="FFFFFF"/>
                    </a:solidFill>
                  </a:tcPr>
                </a:tc>
                <a:tc>
                  <a:txBody>
                    <a:bodyPr/>
                    <a:lstStyle/>
                    <a:p>
                      <a:pPr algn="ctr">
                        <a:defRPr sz="900">
                          <a:latin typeface="Montserrat"/>
                        </a:defRPr>
                      </a:pPr>
                      <a:r>
                        <a:rPr sz="1000"/>
                        <a:t>10</a:t>
                      </a:r>
                    </a:p>
                  </a:txBody>
                  <a:tcPr anchor="ctr">
                    <a:solidFill>
                      <a:srgbClr val="FFFFFF"/>
                    </a:solidFill>
                  </a:tcPr>
                </a:tc>
                <a:tc>
                  <a:txBody>
                    <a:bodyPr/>
                    <a:lstStyle/>
                    <a:p>
                      <a:pPr algn="ctr">
                        <a:defRPr sz="900">
                          <a:latin typeface="Montserrat"/>
                        </a:defRPr>
                      </a:pPr>
                      <a:r>
                        <a:rPr sz="1000"/>
                        <a:t>58</a:t>
                      </a:r>
                    </a:p>
                  </a:txBody>
                  <a:tcPr anchor="ctr">
                    <a:solidFill>
                      <a:srgbClr val="FFFFFF"/>
                    </a:solidFill>
                  </a:tcPr>
                </a:tc>
                <a:extLst>
                  <a:ext uri="{0D108BD9-81ED-4DB2-BD59-A6C34878D82A}">
                    <a16:rowId xmlns:a16="http://schemas.microsoft.com/office/drawing/2014/main" val="10001"/>
                  </a:ext>
                </a:extLst>
              </a:tr>
              <a:tr h="230400">
                <a:tc gridSpan="2">
                  <a:txBody>
                    <a:bodyPr/>
                    <a:lstStyle/>
                    <a:p>
                      <a:pPr algn="ctr">
                        <a:defRPr sz="900" b="1">
                          <a:solidFill>
                            <a:srgbClr val="006556"/>
                          </a:solidFill>
                          <a:latin typeface="Montserrat"/>
                        </a:defRPr>
                      </a:pPr>
                      <a:r>
                        <a:rPr sz="1000"/>
                        <a:t>Subtotal</a:t>
                      </a:r>
                    </a:p>
                  </a:txBody>
                  <a:tcPr anchor="ctr">
                    <a:solidFill>
                      <a:srgbClr val="D3E9E7"/>
                    </a:solidFill>
                  </a:tcPr>
                </a:tc>
                <a:tc hMerge="1">
                  <a:txBody>
                    <a:bodyPr/>
                    <a:lstStyle/>
                    <a:p>
                      <a:endParaRPr/>
                    </a:p>
                  </a:txBody>
                  <a:tcPr/>
                </a:tc>
                <a:tc>
                  <a:txBody>
                    <a:bodyPr/>
                    <a:lstStyle/>
                    <a:p>
                      <a:pPr algn="ctr">
                        <a:defRPr sz="900" b="1">
                          <a:solidFill>
                            <a:srgbClr val="006556"/>
                          </a:solidFill>
                          <a:latin typeface="Montserrat"/>
                        </a:defRPr>
                      </a:pPr>
                      <a:r>
                        <a:rPr sz="1000"/>
                        <a:t>248</a:t>
                      </a:r>
                    </a:p>
                  </a:txBody>
                  <a:tcPr anchor="ctr">
                    <a:solidFill>
                      <a:srgbClr val="D3E9E7"/>
                    </a:solidFill>
                  </a:tcPr>
                </a:tc>
                <a:tc>
                  <a:txBody>
                    <a:bodyPr/>
                    <a:lstStyle/>
                    <a:p>
                      <a:pPr algn="ctr">
                        <a:defRPr sz="900" b="1">
                          <a:solidFill>
                            <a:srgbClr val="006556"/>
                          </a:solidFill>
                          <a:latin typeface="Montserrat"/>
                        </a:defRPr>
                      </a:pPr>
                      <a:r>
                        <a:rPr sz="1000"/>
                        <a:t>107</a:t>
                      </a:r>
                    </a:p>
                  </a:txBody>
                  <a:tcPr anchor="ctr">
                    <a:solidFill>
                      <a:srgbClr val="D3E9E7"/>
                    </a:solidFill>
                  </a:tcPr>
                </a:tc>
                <a:tc>
                  <a:txBody>
                    <a:bodyPr/>
                    <a:lstStyle/>
                    <a:p>
                      <a:pPr algn="ctr">
                        <a:defRPr sz="900" b="1">
                          <a:solidFill>
                            <a:srgbClr val="006556"/>
                          </a:solidFill>
                          <a:latin typeface="Montserrat"/>
                        </a:defRPr>
                      </a:pPr>
                      <a:r>
                        <a:rPr sz="1000"/>
                        <a:t>26</a:t>
                      </a:r>
                    </a:p>
                  </a:txBody>
                  <a:tcPr anchor="ctr">
                    <a:solidFill>
                      <a:srgbClr val="D3E9E7"/>
                    </a:solidFill>
                  </a:tcPr>
                </a:tc>
                <a:tc>
                  <a:txBody>
                    <a:bodyPr/>
                    <a:lstStyle/>
                    <a:p>
                      <a:pPr algn="ctr">
                        <a:defRPr sz="900" b="1">
                          <a:solidFill>
                            <a:srgbClr val="006556"/>
                          </a:solidFill>
                          <a:latin typeface="Montserrat"/>
                        </a:defRPr>
                      </a:pPr>
                      <a:r>
                        <a:rPr sz="1000"/>
                        <a:t>10</a:t>
                      </a:r>
                    </a:p>
                  </a:txBody>
                  <a:tcPr anchor="ctr">
                    <a:solidFill>
                      <a:srgbClr val="D3E9E7"/>
                    </a:solidFill>
                  </a:tcPr>
                </a:tc>
                <a:tc>
                  <a:txBody>
                    <a:bodyPr/>
                    <a:lstStyle/>
                    <a:p>
                      <a:pPr algn="ctr">
                        <a:defRPr sz="900" b="1">
                          <a:solidFill>
                            <a:srgbClr val="006556"/>
                          </a:solidFill>
                          <a:latin typeface="Montserrat"/>
                        </a:defRPr>
                      </a:pPr>
                      <a:r>
                        <a:rPr sz="1000"/>
                        <a:t>58</a:t>
                      </a:r>
                    </a:p>
                  </a:txBody>
                  <a:tcPr anchor="ctr">
                    <a:solidFill>
                      <a:srgbClr val="D3E9E7"/>
                    </a:solidFill>
                  </a:tcPr>
                </a:tc>
                <a:extLst>
                  <a:ext uri="{0D108BD9-81ED-4DB2-BD59-A6C34878D82A}">
                    <a16:rowId xmlns:a16="http://schemas.microsoft.com/office/drawing/2014/main" val="10002"/>
                  </a:ext>
                </a:extLst>
              </a:tr>
              <a:tr h="230400">
                <a:tc gridSpan="2">
                  <a:txBody>
                    <a:bodyPr/>
                    <a:lstStyle/>
                    <a:p>
                      <a:pPr algn="ctr">
                        <a:defRPr sz="900" b="1">
                          <a:solidFill>
                            <a:srgbClr val="006556"/>
                          </a:solidFill>
                          <a:latin typeface="Montserrat"/>
                        </a:defRPr>
                      </a:pPr>
                      <a:r>
                        <a:rPr sz="1000"/>
                        <a:t>Total</a:t>
                      </a:r>
                    </a:p>
                  </a:txBody>
                  <a:tcPr anchor="ctr">
                    <a:solidFill>
                      <a:srgbClr val="D3E9E7"/>
                    </a:solidFill>
                  </a:tcPr>
                </a:tc>
                <a:tc hMerge="1">
                  <a:txBody>
                    <a:bodyPr/>
                    <a:lstStyle/>
                    <a:p>
                      <a:endParaRPr/>
                    </a:p>
                  </a:txBody>
                  <a:tcPr/>
                </a:tc>
                <a:tc>
                  <a:txBody>
                    <a:bodyPr/>
                    <a:lstStyle/>
                    <a:p>
                      <a:pPr algn="ctr">
                        <a:defRPr sz="900" b="1">
                          <a:solidFill>
                            <a:srgbClr val="006556"/>
                          </a:solidFill>
                          <a:latin typeface="Montserrat"/>
                        </a:defRPr>
                      </a:pPr>
                      <a:r>
                        <a:rPr sz="1000"/>
                        <a:t>1,80</a:t>
                      </a:r>
                      <a:r>
                        <a:rPr lang="es-MX" sz="1000"/>
                        <a:t>7</a:t>
                      </a:r>
                      <a:endParaRPr sz="1000"/>
                    </a:p>
                  </a:txBody>
                  <a:tcPr anchor="ctr">
                    <a:solidFill>
                      <a:srgbClr val="D3E9E7"/>
                    </a:solidFill>
                  </a:tcPr>
                </a:tc>
                <a:tc>
                  <a:txBody>
                    <a:bodyPr/>
                    <a:lstStyle/>
                    <a:p>
                      <a:pPr algn="ctr">
                        <a:defRPr sz="900" b="1">
                          <a:solidFill>
                            <a:srgbClr val="006556"/>
                          </a:solidFill>
                          <a:latin typeface="Montserrat"/>
                        </a:defRPr>
                      </a:pPr>
                      <a:r>
                        <a:rPr sz="1000"/>
                        <a:t>6</a:t>
                      </a:r>
                      <a:r>
                        <a:rPr lang="es-MX" sz="1000"/>
                        <a:t>89</a:t>
                      </a:r>
                      <a:endParaRPr sz="1000"/>
                    </a:p>
                  </a:txBody>
                  <a:tcPr anchor="ctr">
                    <a:solidFill>
                      <a:srgbClr val="D3E9E7"/>
                    </a:solidFill>
                  </a:tcPr>
                </a:tc>
                <a:tc>
                  <a:txBody>
                    <a:bodyPr/>
                    <a:lstStyle/>
                    <a:p>
                      <a:pPr algn="ctr">
                        <a:defRPr sz="900" b="1">
                          <a:solidFill>
                            <a:srgbClr val="006556"/>
                          </a:solidFill>
                          <a:latin typeface="Montserrat"/>
                        </a:defRPr>
                      </a:pPr>
                      <a:r>
                        <a:rPr sz="1000"/>
                        <a:t>62</a:t>
                      </a:r>
                    </a:p>
                  </a:txBody>
                  <a:tcPr anchor="ctr">
                    <a:solidFill>
                      <a:srgbClr val="D3E9E7"/>
                    </a:solidFill>
                  </a:tcPr>
                </a:tc>
                <a:tc>
                  <a:txBody>
                    <a:bodyPr/>
                    <a:lstStyle/>
                    <a:p>
                      <a:pPr algn="ctr">
                        <a:defRPr sz="900" b="1">
                          <a:solidFill>
                            <a:srgbClr val="006556"/>
                          </a:solidFill>
                          <a:latin typeface="Montserrat"/>
                        </a:defRPr>
                      </a:pPr>
                      <a:r>
                        <a:rPr sz="1000"/>
                        <a:t>57</a:t>
                      </a:r>
                    </a:p>
                  </a:txBody>
                  <a:tcPr anchor="ctr">
                    <a:solidFill>
                      <a:srgbClr val="D3E9E7"/>
                    </a:solidFill>
                  </a:tcPr>
                </a:tc>
                <a:tc>
                  <a:txBody>
                    <a:bodyPr/>
                    <a:lstStyle/>
                    <a:p>
                      <a:pPr algn="ctr">
                        <a:defRPr sz="900" b="1">
                          <a:solidFill>
                            <a:srgbClr val="006556"/>
                          </a:solidFill>
                          <a:latin typeface="Montserrat"/>
                        </a:defRPr>
                      </a:pPr>
                      <a:r>
                        <a:rPr sz="1000"/>
                        <a:t>26</a:t>
                      </a:r>
                      <a:r>
                        <a:rPr lang="es-MX" sz="1000"/>
                        <a:t>4</a:t>
                      </a:r>
                      <a:endParaRPr sz="1000"/>
                    </a:p>
                  </a:txBody>
                  <a:tcPr anchor="ctr">
                    <a:solidFill>
                      <a:srgbClr val="D3E9E7"/>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100800" y="9507600"/>
            <a:ext cx="7387200" cy="369332"/>
          </a:xfrm>
          <a:prstGeom prst="rect">
            <a:avLst/>
          </a:prstGeom>
          <a:noFill/>
        </p:spPr>
        <p:txBody>
          <a:bodyPr wrap="square" lIns="0" tIns="0" rIns="0" bIns="0">
            <a:spAutoFit/>
          </a:bodyPr>
          <a:lstStyle/>
          <a:p>
            <a:pPr algn="l">
              <a:defRPr sz="800">
                <a:solidFill>
                  <a:srgbClr val="FFFFFF"/>
                </a:solidFill>
                <a:latin typeface="Montserrat"/>
              </a:defRPr>
            </a:pPr>
            <a:r>
              <a:t>¹Incluye salas de </a:t>
            </a:r>
            <a:r>
              <a:rPr err="1"/>
              <a:t>quirófano</a:t>
            </a:r>
            <a:r>
              <a:t>, salas </a:t>
            </a:r>
            <a:r>
              <a:rPr err="1"/>
              <a:t>híbridas</a:t>
            </a:r>
            <a:r>
              <a:t> y salas </a:t>
            </a:r>
            <a:r>
              <a:rPr err="1"/>
              <a:t>mixtas</a:t>
            </a:r>
            <a:r>
              <a:t>, no </a:t>
            </a:r>
            <a:r>
              <a:rPr err="1"/>
              <a:t>considera</a:t>
            </a:r>
            <a:r>
              <a:t> salas de </a:t>
            </a:r>
            <a:r>
              <a:rPr err="1"/>
              <a:t>tococirugía</a:t>
            </a:r>
            <a:r>
              <a:t> y </a:t>
            </a:r>
            <a:r>
              <a:rPr err="1"/>
              <a:t>expulsión</a:t>
            </a:r>
            <a:r>
              <a:t>.</a:t>
            </a:r>
            <a:br>
              <a:rPr/>
            </a:br>
            <a:r>
              <a:t>Fuente: Cédula de </a:t>
            </a:r>
            <a:r>
              <a:rPr err="1"/>
              <a:t>actualización</a:t>
            </a:r>
            <a:r>
              <a:t> de variables </a:t>
            </a:r>
            <a:r>
              <a:rPr err="1"/>
              <a:t>seleccionados</a:t>
            </a:r>
            <a:r>
              <a:t> del IFU </a:t>
            </a:r>
            <a:r>
              <a:rPr err="1"/>
              <a:t>enviados</a:t>
            </a:r>
            <a:r>
              <a:t> por el OOAD.</a:t>
            </a:r>
            <a:br>
              <a:rPr/>
            </a:br>
            <a:r>
              <a:t>Corte de Información: ma</a:t>
            </a:r>
            <a:r>
              <a:rPr lang="es-MX"/>
              <a:t>y</a:t>
            </a:r>
            <a:r>
              <a:t>o de 2026</a:t>
            </a:r>
          </a:p>
        </p:txBody>
      </p:sp>
      <p:graphicFrame>
        <p:nvGraphicFramePr>
          <p:cNvPr id="12" name="Table 11"/>
          <p:cNvGraphicFramePr>
            <a:graphicFrameLocks noGrp="1"/>
          </p:cNvGraphicFramePr>
          <p:nvPr>
            <p:extLst>
              <p:ext uri="{D42A27DB-BD31-4B8C-83A1-F6EECF244321}">
                <p14:modId xmlns:p14="http://schemas.microsoft.com/office/powerpoint/2010/main" val="1241775155"/>
              </p:ext>
            </p:extLst>
          </p:nvPr>
        </p:nvGraphicFramePr>
        <p:xfrm>
          <a:off x="56628" y="1135644"/>
          <a:ext cx="7650000" cy="2806920"/>
        </p:xfrm>
        <a:graphic>
          <a:graphicData uri="http://schemas.openxmlformats.org/drawingml/2006/table">
            <a:tbl>
              <a:tblPr firstRow="1" bandRow="1">
                <a:tableStyleId>{5C22544A-7EE6-4342-B048-85BDC9FD1C3A}</a:tableStyleId>
              </a:tblPr>
              <a:tblGrid>
                <a:gridCol w="1980000">
                  <a:extLst>
                    <a:ext uri="{9D8B030D-6E8A-4147-A177-3AD203B41FA5}">
                      <a16:colId xmlns:a16="http://schemas.microsoft.com/office/drawing/2014/main" val="20000"/>
                    </a:ext>
                  </a:extLst>
                </a:gridCol>
                <a:gridCol w="1339200">
                  <a:extLst>
                    <a:ext uri="{9D8B030D-6E8A-4147-A177-3AD203B41FA5}">
                      <a16:colId xmlns:a16="http://schemas.microsoft.com/office/drawing/2014/main" val="20001"/>
                    </a:ext>
                  </a:extLst>
                </a:gridCol>
                <a:gridCol w="684000">
                  <a:extLst>
                    <a:ext uri="{9D8B030D-6E8A-4147-A177-3AD203B41FA5}">
                      <a16:colId xmlns:a16="http://schemas.microsoft.com/office/drawing/2014/main" val="20002"/>
                    </a:ext>
                  </a:extLst>
                </a:gridCol>
                <a:gridCol w="781200">
                  <a:extLst>
                    <a:ext uri="{9D8B030D-6E8A-4147-A177-3AD203B41FA5}">
                      <a16:colId xmlns:a16="http://schemas.microsoft.com/office/drawing/2014/main" val="20003"/>
                    </a:ext>
                  </a:extLst>
                </a:gridCol>
                <a:gridCol w="810000">
                  <a:extLst>
                    <a:ext uri="{9D8B030D-6E8A-4147-A177-3AD203B41FA5}">
                      <a16:colId xmlns:a16="http://schemas.microsoft.com/office/drawing/2014/main" val="20004"/>
                    </a:ext>
                  </a:extLst>
                </a:gridCol>
                <a:gridCol w="957600">
                  <a:extLst>
                    <a:ext uri="{9D8B030D-6E8A-4147-A177-3AD203B41FA5}">
                      <a16:colId xmlns:a16="http://schemas.microsoft.com/office/drawing/2014/main" val="20005"/>
                    </a:ext>
                  </a:extLst>
                </a:gridCol>
                <a:gridCol w="1098000">
                  <a:extLst>
                    <a:ext uri="{9D8B030D-6E8A-4147-A177-3AD203B41FA5}">
                      <a16:colId xmlns:a16="http://schemas.microsoft.com/office/drawing/2014/main" val="20006"/>
                    </a:ext>
                  </a:extLst>
                </a:gridCol>
              </a:tblGrid>
              <a:tr h="230400">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Inicio de operaciones</a:t>
                      </a:r>
                    </a:p>
                  </a:txBody>
                  <a:tcPr anchor="ctr">
                    <a:solidFill>
                      <a:srgbClr val="006455"/>
                    </a:solidFill>
                  </a:tcPr>
                </a:tc>
                <a:tc>
                  <a:txBody>
                    <a:bodyPr/>
                    <a:lstStyle/>
                    <a:p>
                      <a:pPr algn="ctr">
                        <a:defRPr sz="900" b="1">
                          <a:solidFill>
                            <a:srgbClr val="FFFFFF"/>
                          </a:solidFill>
                          <a:latin typeface="Montserrat"/>
                        </a:defRPr>
                      </a:pPr>
                      <a:r>
                        <a:t>Camas</a:t>
                      </a:r>
                    </a:p>
                  </a:txBody>
                  <a:tcPr anchor="ctr">
                    <a:solidFill>
                      <a:srgbClr val="006455"/>
                    </a:solidFill>
                  </a:tcPr>
                </a:tc>
                <a:tc>
                  <a:txBody>
                    <a:bodyPr/>
                    <a:lstStyle/>
                    <a:p>
                      <a:pPr algn="ctr">
                        <a:defRPr sz="900" b="1">
                          <a:solidFill>
                            <a:srgbClr val="FFFFFF"/>
                          </a:solidFill>
                          <a:latin typeface="Montserrat"/>
                        </a:defRPr>
                      </a:pPr>
                      <a:r>
                        <a:t>Camas no censables</a:t>
                      </a:r>
                    </a:p>
                  </a:txBody>
                  <a:tcPr anchor="ctr">
                    <a:solidFill>
                      <a:srgbClr val="006455"/>
                    </a:solidFill>
                  </a:tcPr>
                </a:tc>
                <a:tc>
                  <a:txBody>
                    <a:bodyPr/>
                    <a:lstStyle/>
                    <a:p>
                      <a:pPr algn="ctr">
                        <a:defRPr sz="900" b="1">
                          <a:solidFill>
                            <a:srgbClr val="FFFFFF"/>
                          </a:solidFill>
                          <a:latin typeface="Montserrat"/>
                        </a:defRPr>
                      </a:pPr>
                      <a:r>
                        <a:t>Camas de cuidados intensivos</a:t>
                      </a:r>
                    </a:p>
                  </a:txBody>
                  <a:tcPr anchor="ctr">
                    <a:solidFill>
                      <a:srgbClr val="006455"/>
                    </a:solidFill>
                  </a:tcPr>
                </a:tc>
                <a:tc>
                  <a:txBody>
                    <a:bodyPr/>
                    <a:lstStyle/>
                    <a:p>
                      <a:pPr algn="ctr">
                        <a:defRPr sz="900" b="1">
                          <a:solidFill>
                            <a:srgbClr val="FFFFFF"/>
                          </a:solidFill>
                          <a:latin typeface="Montserrat"/>
                        </a:defRPr>
                      </a:pPr>
                      <a:r>
                        <a:t>Salas Quirúrgicas¹</a:t>
                      </a:r>
                    </a:p>
                  </a:txBody>
                  <a:tcPr anchor="ctr">
                    <a:solidFill>
                      <a:srgbClr val="006455"/>
                    </a:solidFill>
                  </a:tcPr>
                </a:tc>
                <a:tc>
                  <a:txBody>
                    <a:bodyPr/>
                    <a:lstStyle/>
                    <a:p>
                      <a:pPr algn="ctr">
                        <a:defRPr sz="900" b="1">
                          <a:solidFill>
                            <a:srgbClr val="FFFFFF"/>
                          </a:solidFill>
                          <a:latin typeface="Montserrat"/>
                        </a:defRPr>
                      </a:pPr>
                      <a:r>
                        <a:t>Consultorios de especialidades</a:t>
                      </a:r>
                    </a:p>
                  </a:txBody>
                  <a:tcPr anchor="ctr">
                    <a:solidFill>
                      <a:srgbClr val="006455"/>
                    </a:solidFill>
                  </a:tcPr>
                </a:tc>
                <a:extLst>
                  <a:ext uri="{0D108BD9-81ED-4DB2-BD59-A6C34878D82A}">
                    <a16:rowId xmlns:a16="http://schemas.microsoft.com/office/drawing/2014/main" val="10000"/>
                  </a:ext>
                </a:extLst>
              </a:tr>
              <a:tr h="230400">
                <a:tc>
                  <a:txBody>
                    <a:bodyPr/>
                    <a:lstStyle/>
                    <a:p>
                      <a:pPr algn="l">
                        <a:defRPr sz="900">
                          <a:latin typeface="Montserrat"/>
                        </a:defRPr>
                      </a:pPr>
                      <a:r>
                        <a:t>HGZ 1 Saltillo</a:t>
                      </a:r>
                    </a:p>
                  </a:txBody>
                  <a:tcPr anchor="ctr">
                    <a:solidFill>
                      <a:srgbClr val="FFFFFF"/>
                    </a:solidFill>
                  </a:tcPr>
                </a:tc>
                <a:tc>
                  <a:txBody>
                    <a:bodyPr/>
                    <a:lstStyle/>
                    <a:p>
                      <a:pPr algn="ctr">
                        <a:defRPr sz="900">
                          <a:latin typeface="Montserrat"/>
                        </a:defRPr>
                      </a:pPr>
                      <a:r>
                        <a:t>Febrero de 1961</a:t>
                      </a:r>
                    </a:p>
                  </a:txBody>
                  <a:tcPr anchor="ctr">
                    <a:solidFill>
                      <a:srgbClr val="FFFFFF"/>
                    </a:solidFill>
                  </a:tcPr>
                </a:tc>
                <a:tc>
                  <a:txBody>
                    <a:bodyPr/>
                    <a:lstStyle/>
                    <a:p>
                      <a:pPr algn="ctr">
                        <a:defRPr sz="900">
                          <a:latin typeface="Montserrat"/>
                        </a:defRPr>
                      </a:pPr>
                      <a:r>
                        <a:t>206</a:t>
                      </a:r>
                    </a:p>
                  </a:txBody>
                  <a:tcPr anchor="ctr">
                    <a:solidFill>
                      <a:srgbClr val="FFFFFF"/>
                    </a:solidFill>
                  </a:tcPr>
                </a:tc>
                <a:tc>
                  <a:txBody>
                    <a:bodyPr/>
                    <a:lstStyle/>
                    <a:p>
                      <a:pPr algn="ctr">
                        <a:defRPr sz="900">
                          <a:latin typeface="Montserrat"/>
                        </a:defRPr>
                      </a:pPr>
                      <a:r>
                        <a:t>61</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13</a:t>
                      </a:r>
                    </a:p>
                  </a:txBody>
                  <a:tcPr anchor="ctr">
                    <a:solidFill>
                      <a:srgbClr val="FFFFFF"/>
                    </a:solidFill>
                  </a:tcPr>
                </a:tc>
                <a:extLst>
                  <a:ext uri="{0D108BD9-81ED-4DB2-BD59-A6C34878D82A}">
                    <a16:rowId xmlns:a16="http://schemas.microsoft.com/office/drawing/2014/main" val="10001"/>
                  </a:ext>
                </a:extLst>
              </a:tr>
              <a:tr h="230400">
                <a:tc>
                  <a:txBody>
                    <a:bodyPr/>
                    <a:lstStyle/>
                    <a:p>
                      <a:pPr algn="l">
                        <a:defRPr sz="900">
                          <a:latin typeface="Montserrat"/>
                        </a:defRPr>
                      </a:pPr>
                      <a:r>
                        <a:t>HGZMF 7 Monclova</a:t>
                      </a:r>
                    </a:p>
                  </a:txBody>
                  <a:tcPr anchor="ctr">
                    <a:solidFill>
                      <a:srgbClr val="EFEFEF"/>
                    </a:solidFill>
                  </a:tcPr>
                </a:tc>
                <a:tc>
                  <a:txBody>
                    <a:bodyPr/>
                    <a:lstStyle/>
                    <a:p>
                      <a:pPr algn="ctr">
                        <a:defRPr sz="900">
                          <a:latin typeface="Montserrat"/>
                        </a:defRPr>
                      </a:pPr>
                      <a:r>
                        <a:rPr err="1"/>
                        <a:t>Noviembre</a:t>
                      </a:r>
                      <a:r>
                        <a:t> de 1962</a:t>
                      </a:r>
                    </a:p>
                  </a:txBody>
                  <a:tcPr anchor="ctr">
                    <a:solidFill>
                      <a:srgbClr val="EFEFEF"/>
                    </a:solidFill>
                  </a:tcPr>
                </a:tc>
                <a:tc>
                  <a:txBody>
                    <a:bodyPr/>
                    <a:lstStyle/>
                    <a:p>
                      <a:pPr algn="ctr">
                        <a:defRPr sz="900">
                          <a:latin typeface="Montserrat"/>
                        </a:defRPr>
                      </a:pPr>
                      <a:r>
                        <a:t>274</a:t>
                      </a:r>
                    </a:p>
                  </a:txBody>
                  <a:tcPr anchor="ctr">
                    <a:solidFill>
                      <a:srgbClr val="EFEFEF"/>
                    </a:solidFill>
                  </a:tcPr>
                </a:tc>
                <a:tc>
                  <a:txBody>
                    <a:bodyPr/>
                    <a:lstStyle/>
                    <a:p>
                      <a:pPr algn="ctr">
                        <a:defRPr sz="900">
                          <a:latin typeface="Montserrat"/>
                        </a:defRPr>
                      </a:pPr>
                      <a:r>
                        <a:t>66</a:t>
                      </a:r>
                    </a:p>
                  </a:txBody>
                  <a:tcPr anchor="ctr">
                    <a:solidFill>
                      <a:srgbClr val="EFEFEF"/>
                    </a:solidFill>
                  </a:tcPr>
                </a:tc>
                <a:tc>
                  <a:txBody>
                    <a:bodyPr/>
                    <a:lstStyle/>
                    <a:p>
                      <a:pPr algn="ctr">
                        <a:defRPr sz="900">
                          <a:latin typeface="Montserrat"/>
                        </a:defRPr>
                      </a:pPr>
                      <a:r>
                        <a:t>10</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28</a:t>
                      </a:r>
                    </a:p>
                  </a:txBody>
                  <a:tcPr anchor="ctr">
                    <a:solidFill>
                      <a:srgbClr val="EFEFEF"/>
                    </a:solidFill>
                  </a:tcPr>
                </a:tc>
                <a:extLst>
                  <a:ext uri="{0D108BD9-81ED-4DB2-BD59-A6C34878D82A}">
                    <a16:rowId xmlns:a16="http://schemas.microsoft.com/office/drawing/2014/main" val="10002"/>
                  </a:ext>
                </a:extLst>
              </a:tr>
              <a:tr h="230400">
                <a:tc>
                  <a:txBody>
                    <a:bodyPr/>
                    <a:lstStyle/>
                    <a:p>
                      <a:pPr algn="l">
                        <a:defRPr sz="900">
                          <a:latin typeface="Montserrat"/>
                        </a:defRPr>
                      </a:pPr>
                      <a:r>
                        <a:t>HGZ 11 Piedras Negras</a:t>
                      </a:r>
                    </a:p>
                  </a:txBody>
                  <a:tcPr anchor="ctr">
                    <a:solidFill>
                      <a:srgbClr val="FFFFFF"/>
                    </a:solidFill>
                  </a:tcPr>
                </a:tc>
                <a:tc>
                  <a:txBody>
                    <a:bodyPr/>
                    <a:lstStyle/>
                    <a:p>
                      <a:pPr algn="ctr">
                        <a:defRPr sz="900">
                          <a:latin typeface="Montserrat"/>
                        </a:defRPr>
                      </a:pPr>
                      <a:r>
                        <a:t>Junio de 1966</a:t>
                      </a:r>
                    </a:p>
                  </a:txBody>
                  <a:tcPr anchor="ctr">
                    <a:solidFill>
                      <a:srgbClr val="FFFFFF"/>
                    </a:solidFill>
                  </a:tcPr>
                </a:tc>
                <a:tc>
                  <a:txBody>
                    <a:bodyPr/>
                    <a:lstStyle/>
                    <a:p>
                      <a:pPr algn="ctr">
                        <a:defRPr sz="900">
                          <a:latin typeface="Montserrat"/>
                        </a:defRPr>
                      </a:pPr>
                      <a:r>
                        <a:t>103</a:t>
                      </a:r>
                    </a:p>
                  </a:txBody>
                  <a:tcPr anchor="ctr">
                    <a:solidFill>
                      <a:srgbClr val="FFFFFF"/>
                    </a:solidFill>
                  </a:tcPr>
                </a:tc>
                <a:tc>
                  <a:txBody>
                    <a:bodyPr/>
                    <a:lstStyle/>
                    <a:p>
                      <a:pPr algn="ctr">
                        <a:defRPr sz="900">
                          <a:latin typeface="Montserrat"/>
                        </a:defRPr>
                      </a:pPr>
                      <a:r>
                        <a:t>43</a:t>
                      </a:r>
                    </a:p>
                  </a:txBody>
                  <a:tcPr anchor="ctr">
                    <a:solidFill>
                      <a:srgbClr val="FFFFFF"/>
                    </a:solidFill>
                  </a:tcPr>
                </a:tc>
                <a:tc>
                  <a:txBody>
                    <a:bodyPr/>
                    <a:lstStyle/>
                    <a:p>
                      <a:pPr algn="ctr">
                        <a:defRPr sz="900">
                          <a:latin typeface="Montserrat"/>
                        </a:defRPr>
                      </a:pPr>
                      <a:r>
                        <a:t>6</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17</a:t>
                      </a:r>
                    </a:p>
                  </a:txBody>
                  <a:tcPr anchor="ctr">
                    <a:solidFill>
                      <a:srgbClr val="FFFFFF"/>
                    </a:solidFill>
                  </a:tcPr>
                </a:tc>
                <a:extLst>
                  <a:ext uri="{0D108BD9-81ED-4DB2-BD59-A6C34878D82A}">
                    <a16:rowId xmlns:a16="http://schemas.microsoft.com/office/drawing/2014/main" val="10003"/>
                  </a:ext>
                </a:extLst>
              </a:tr>
              <a:tr h="230400">
                <a:tc>
                  <a:txBody>
                    <a:bodyPr/>
                    <a:lstStyle/>
                    <a:p>
                      <a:pPr algn="l">
                        <a:defRPr sz="900">
                          <a:latin typeface="Montserrat"/>
                        </a:defRPr>
                      </a:pPr>
                      <a:r>
                        <a:t>HGZMF 16 Torreón</a:t>
                      </a:r>
                    </a:p>
                  </a:txBody>
                  <a:tcPr anchor="ctr">
                    <a:solidFill>
                      <a:srgbClr val="EFEFEF"/>
                    </a:solidFill>
                  </a:tcPr>
                </a:tc>
                <a:tc>
                  <a:txBody>
                    <a:bodyPr/>
                    <a:lstStyle/>
                    <a:p>
                      <a:pPr algn="ctr">
                        <a:defRPr sz="900">
                          <a:latin typeface="Montserrat"/>
                        </a:defRPr>
                      </a:pPr>
                      <a:r>
                        <a:t>Marzo de 1970</a:t>
                      </a:r>
                    </a:p>
                  </a:txBody>
                  <a:tcPr anchor="ctr">
                    <a:solidFill>
                      <a:srgbClr val="EFEFEF"/>
                    </a:solidFill>
                  </a:tcPr>
                </a:tc>
                <a:tc>
                  <a:txBody>
                    <a:bodyPr/>
                    <a:lstStyle/>
                    <a:p>
                      <a:pPr algn="ctr">
                        <a:defRPr sz="900">
                          <a:latin typeface="Montserrat"/>
                        </a:defRPr>
                      </a:pPr>
                      <a:r>
                        <a:t>247</a:t>
                      </a:r>
                    </a:p>
                  </a:txBody>
                  <a:tcPr anchor="ctr">
                    <a:solidFill>
                      <a:srgbClr val="EFEFEF"/>
                    </a:solidFill>
                  </a:tcPr>
                </a:tc>
                <a:tc>
                  <a:txBody>
                    <a:bodyPr/>
                    <a:lstStyle/>
                    <a:p>
                      <a:pPr algn="ctr">
                        <a:defRPr sz="900">
                          <a:latin typeface="Montserrat"/>
                        </a:defRPr>
                      </a:pPr>
                      <a:r>
                        <a:t>122</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7</a:t>
                      </a:r>
                    </a:p>
                  </a:txBody>
                  <a:tcPr anchor="ctr">
                    <a:solidFill>
                      <a:srgbClr val="EFEFEF"/>
                    </a:solidFill>
                  </a:tcPr>
                </a:tc>
                <a:tc>
                  <a:txBody>
                    <a:bodyPr/>
                    <a:lstStyle/>
                    <a:p>
                      <a:pPr algn="ctr">
                        <a:defRPr sz="900">
                          <a:latin typeface="Montserrat"/>
                        </a:defRPr>
                      </a:pPr>
                      <a:r>
                        <a:t>28</a:t>
                      </a:r>
                    </a:p>
                  </a:txBody>
                  <a:tcPr anchor="ctr">
                    <a:solidFill>
                      <a:srgbClr val="EFEFEF"/>
                    </a:solidFill>
                  </a:tcPr>
                </a:tc>
                <a:extLst>
                  <a:ext uri="{0D108BD9-81ED-4DB2-BD59-A6C34878D82A}">
                    <a16:rowId xmlns:a16="http://schemas.microsoft.com/office/drawing/2014/main" val="10004"/>
                  </a:ext>
                </a:extLst>
              </a:tr>
              <a:tr h="230400">
                <a:tc>
                  <a:txBody>
                    <a:bodyPr/>
                    <a:lstStyle/>
                    <a:p>
                      <a:pPr algn="l">
                        <a:defRPr sz="900">
                          <a:latin typeface="Montserrat"/>
                        </a:defRPr>
                      </a:pPr>
                      <a:r>
                        <a:t>HGZMF 24 Nueva Rosita</a:t>
                      </a:r>
                    </a:p>
                  </a:txBody>
                  <a:tcPr anchor="ctr">
                    <a:solidFill>
                      <a:srgbClr val="FFFFFF"/>
                    </a:solidFill>
                  </a:tcPr>
                </a:tc>
                <a:tc>
                  <a:txBody>
                    <a:bodyPr/>
                    <a:lstStyle/>
                    <a:p>
                      <a:pPr algn="ctr">
                        <a:defRPr sz="900">
                          <a:latin typeface="Montserrat"/>
                        </a:defRPr>
                      </a:pPr>
                      <a:r>
                        <a:t>Noviembre de 1972</a:t>
                      </a:r>
                    </a:p>
                  </a:txBody>
                  <a:tcPr anchor="ctr">
                    <a:solidFill>
                      <a:srgbClr val="FFFFFF"/>
                    </a:solidFill>
                  </a:tcPr>
                </a:tc>
                <a:tc>
                  <a:txBody>
                    <a:bodyPr/>
                    <a:lstStyle/>
                    <a:p>
                      <a:pPr algn="ctr">
                        <a:defRPr sz="900">
                          <a:latin typeface="Montserrat"/>
                        </a:defRPr>
                      </a:pPr>
                      <a:r>
                        <a:t>86</a:t>
                      </a:r>
                    </a:p>
                  </a:txBody>
                  <a:tcPr anchor="ctr">
                    <a:solidFill>
                      <a:srgbClr val="FFFFFF"/>
                    </a:solidFill>
                  </a:tcPr>
                </a:tc>
                <a:tc>
                  <a:txBody>
                    <a:bodyPr/>
                    <a:lstStyle/>
                    <a:p>
                      <a:pPr algn="ctr">
                        <a:defRPr sz="900">
                          <a:latin typeface="Montserrat"/>
                        </a:defRPr>
                      </a:pPr>
                      <a:r>
                        <a:t>31</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14</a:t>
                      </a:r>
                    </a:p>
                  </a:txBody>
                  <a:tcPr anchor="ctr">
                    <a:solidFill>
                      <a:srgbClr val="FFFFFF"/>
                    </a:solidFill>
                  </a:tcPr>
                </a:tc>
                <a:extLst>
                  <a:ext uri="{0D108BD9-81ED-4DB2-BD59-A6C34878D82A}">
                    <a16:rowId xmlns:a16="http://schemas.microsoft.com/office/drawing/2014/main" val="10005"/>
                  </a:ext>
                </a:extLst>
              </a:tr>
              <a:tr h="230400">
                <a:tc>
                  <a:txBody>
                    <a:bodyPr/>
                    <a:lstStyle/>
                    <a:p>
                      <a:pPr algn="l">
                        <a:defRPr sz="900">
                          <a:latin typeface="Montserrat"/>
                        </a:defRPr>
                      </a:pPr>
                      <a:r>
                        <a:t>HGS 13 Cd. Acuña</a:t>
                      </a:r>
                    </a:p>
                  </a:txBody>
                  <a:tcPr anchor="ctr">
                    <a:solidFill>
                      <a:srgbClr val="EFEFEF"/>
                    </a:solidFill>
                  </a:tcPr>
                </a:tc>
                <a:tc>
                  <a:txBody>
                    <a:bodyPr/>
                    <a:lstStyle/>
                    <a:p>
                      <a:pPr algn="ctr">
                        <a:defRPr sz="900">
                          <a:latin typeface="Montserrat"/>
                        </a:defRPr>
                      </a:pPr>
                      <a:r>
                        <a:t>Mayo de 1974</a:t>
                      </a:r>
                    </a:p>
                  </a:txBody>
                  <a:tcPr anchor="ctr">
                    <a:solidFill>
                      <a:srgbClr val="EFEFEF"/>
                    </a:solidFill>
                  </a:tcPr>
                </a:tc>
                <a:tc>
                  <a:txBody>
                    <a:bodyPr/>
                    <a:lstStyle/>
                    <a:p>
                      <a:pPr algn="ctr">
                        <a:defRPr sz="900">
                          <a:latin typeface="Montserrat"/>
                        </a:defRPr>
                      </a:pPr>
                      <a:r>
                        <a:t>6</a:t>
                      </a:r>
                      <a:r>
                        <a:rPr lang="es-MX"/>
                        <a:t>5</a:t>
                      </a:r>
                      <a:endParaRPr/>
                    </a:p>
                  </a:txBody>
                  <a:tcPr anchor="ctr">
                    <a:solidFill>
                      <a:srgbClr val="EFEFEF"/>
                    </a:solidFill>
                  </a:tcPr>
                </a:tc>
                <a:tc>
                  <a:txBody>
                    <a:bodyPr/>
                    <a:lstStyle/>
                    <a:p>
                      <a:pPr algn="ctr">
                        <a:defRPr sz="900">
                          <a:latin typeface="Montserrat"/>
                        </a:defRPr>
                      </a:pPr>
                      <a:r>
                        <a:rPr lang="es-MX"/>
                        <a:t>24</a:t>
                      </a:r>
                      <a:endParaRP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9</a:t>
                      </a:r>
                    </a:p>
                  </a:txBody>
                  <a:tcPr anchor="ctr">
                    <a:solidFill>
                      <a:srgbClr val="EFEFEF"/>
                    </a:solidFill>
                  </a:tcPr>
                </a:tc>
                <a:extLst>
                  <a:ext uri="{0D108BD9-81ED-4DB2-BD59-A6C34878D82A}">
                    <a16:rowId xmlns:a16="http://schemas.microsoft.com/office/drawing/2014/main" val="10006"/>
                  </a:ext>
                </a:extLst>
              </a:tr>
              <a:tr h="230400">
                <a:tc>
                  <a:txBody>
                    <a:bodyPr/>
                    <a:lstStyle/>
                    <a:p>
                      <a:pPr algn="l">
                        <a:defRPr sz="900">
                          <a:latin typeface="Montserrat"/>
                        </a:defRPr>
                      </a:pPr>
                      <a:r>
                        <a:t>HGZMF 2 Saltillo</a:t>
                      </a:r>
                    </a:p>
                  </a:txBody>
                  <a:tcPr anchor="ctr">
                    <a:solidFill>
                      <a:srgbClr val="FFFFFF"/>
                    </a:solidFill>
                  </a:tcPr>
                </a:tc>
                <a:tc>
                  <a:txBody>
                    <a:bodyPr/>
                    <a:lstStyle/>
                    <a:p>
                      <a:pPr algn="ctr">
                        <a:defRPr sz="900">
                          <a:latin typeface="Montserrat"/>
                        </a:defRPr>
                      </a:pPr>
                      <a:r>
                        <a:t>Junio de 1974</a:t>
                      </a:r>
                    </a:p>
                  </a:txBody>
                  <a:tcPr anchor="ctr">
                    <a:solidFill>
                      <a:srgbClr val="FFFFFF"/>
                    </a:solidFill>
                  </a:tcPr>
                </a:tc>
                <a:tc>
                  <a:txBody>
                    <a:bodyPr/>
                    <a:lstStyle/>
                    <a:p>
                      <a:pPr algn="ctr">
                        <a:defRPr sz="900">
                          <a:latin typeface="Montserrat"/>
                        </a:defRPr>
                      </a:pPr>
                      <a:r>
                        <a:t>164</a:t>
                      </a:r>
                    </a:p>
                  </a:txBody>
                  <a:tcPr anchor="ctr">
                    <a:solidFill>
                      <a:srgbClr val="FFFFFF"/>
                    </a:solidFill>
                  </a:tcPr>
                </a:tc>
                <a:tc>
                  <a:txBody>
                    <a:bodyPr/>
                    <a:lstStyle/>
                    <a:p>
                      <a:pPr algn="ctr">
                        <a:defRPr sz="900">
                          <a:latin typeface="Montserrat"/>
                        </a:defRPr>
                      </a:pPr>
                      <a:r>
                        <a:t>43</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29</a:t>
                      </a:r>
                    </a:p>
                  </a:txBody>
                  <a:tcPr anchor="ctr">
                    <a:solidFill>
                      <a:srgbClr val="FFFFFF"/>
                    </a:solidFill>
                  </a:tcPr>
                </a:tc>
                <a:extLst>
                  <a:ext uri="{0D108BD9-81ED-4DB2-BD59-A6C34878D82A}">
                    <a16:rowId xmlns:a16="http://schemas.microsoft.com/office/drawing/2014/main" val="10007"/>
                  </a:ext>
                </a:extLst>
              </a:tr>
              <a:tr h="230400">
                <a:tc>
                  <a:txBody>
                    <a:bodyPr/>
                    <a:lstStyle/>
                    <a:p>
                      <a:pPr algn="l">
                        <a:defRPr sz="900">
                          <a:latin typeface="Montserrat"/>
                        </a:defRPr>
                      </a:pPr>
                      <a:r>
                        <a:t>HGZMF 18 Torreón</a:t>
                      </a:r>
                    </a:p>
                  </a:txBody>
                  <a:tcPr anchor="ctr">
                    <a:solidFill>
                      <a:srgbClr val="EFEFEF"/>
                    </a:solidFill>
                  </a:tcPr>
                </a:tc>
                <a:tc>
                  <a:txBody>
                    <a:bodyPr/>
                    <a:lstStyle/>
                    <a:p>
                      <a:pPr algn="ctr">
                        <a:defRPr sz="900">
                          <a:latin typeface="Montserrat"/>
                        </a:defRPr>
                      </a:pPr>
                      <a:r>
                        <a:t>Febrero de 1975</a:t>
                      </a:r>
                    </a:p>
                  </a:txBody>
                  <a:tcPr anchor="ctr">
                    <a:solidFill>
                      <a:srgbClr val="EFEFEF"/>
                    </a:solidFill>
                  </a:tcPr>
                </a:tc>
                <a:tc>
                  <a:txBody>
                    <a:bodyPr/>
                    <a:lstStyle/>
                    <a:p>
                      <a:pPr algn="ctr">
                        <a:defRPr sz="900">
                          <a:latin typeface="Montserrat"/>
                        </a:defRPr>
                      </a:pPr>
                      <a:r>
                        <a:t>115</a:t>
                      </a:r>
                    </a:p>
                  </a:txBody>
                  <a:tcPr anchor="ctr">
                    <a:solidFill>
                      <a:srgbClr val="EFEFEF"/>
                    </a:solidFill>
                  </a:tcPr>
                </a:tc>
                <a:tc>
                  <a:txBody>
                    <a:bodyPr/>
                    <a:lstStyle/>
                    <a:p>
                      <a:pPr algn="ctr">
                        <a:defRPr sz="900">
                          <a:latin typeface="Montserrat"/>
                        </a:defRPr>
                      </a:pPr>
                      <a:r>
                        <a:t>23</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3</a:t>
                      </a:r>
                    </a:p>
                  </a:txBody>
                  <a:tcPr anchor="ctr">
                    <a:solidFill>
                      <a:srgbClr val="EFEFEF"/>
                    </a:solidFill>
                  </a:tcPr>
                </a:tc>
                <a:tc>
                  <a:txBody>
                    <a:bodyPr/>
                    <a:lstStyle/>
                    <a:p>
                      <a:pPr algn="ctr">
                        <a:defRPr sz="900">
                          <a:latin typeface="Montserrat"/>
                        </a:defRPr>
                      </a:pPr>
                      <a:r>
                        <a:t>6</a:t>
                      </a:r>
                    </a:p>
                  </a:txBody>
                  <a:tcPr anchor="ctr">
                    <a:solidFill>
                      <a:srgbClr val="EFEFEF"/>
                    </a:solidFill>
                  </a:tcPr>
                </a:tc>
                <a:extLst>
                  <a:ext uri="{0D108BD9-81ED-4DB2-BD59-A6C34878D82A}">
                    <a16:rowId xmlns:a16="http://schemas.microsoft.com/office/drawing/2014/main" val="10008"/>
                  </a:ext>
                </a:extLst>
              </a:tr>
              <a:tr h="230400">
                <a:tc>
                  <a:txBody>
                    <a:bodyPr/>
                    <a:lstStyle/>
                    <a:p>
                      <a:pPr algn="l">
                        <a:defRPr sz="900">
                          <a:latin typeface="Montserrat"/>
                        </a:defRPr>
                      </a:pPr>
                      <a:r>
                        <a:t>HGSMF 20 Fco. I. Madero</a:t>
                      </a:r>
                    </a:p>
                  </a:txBody>
                  <a:tcPr anchor="ctr">
                    <a:solidFill>
                      <a:srgbClr val="FFFFFF"/>
                    </a:solidFill>
                  </a:tcPr>
                </a:tc>
                <a:tc>
                  <a:txBody>
                    <a:bodyPr/>
                    <a:lstStyle/>
                    <a:p>
                      <a:pPr algn="ctr">
                        <a:defRPr sz="900">
                          <a:latin typeface="Montserrat"/>
                        </a:defRPr>
                      </a:pPr>
                      <a:r>
                        <a:t>Junio de 1975</a:t>
                      </a:r>
                    </a:p>
                  </a:txBody>
                  <a:tcPr anchor="ctr">
                    <a:solidFill>
                      <a:srgbClr val="FFFFFF"/>
                    </a:solidFill>
                  </a:tcPr>
                </a:tc>
                <a:tc>
                  <a:txBody>
                    <a:bodyPr/>
                    <a:lstStyle/>
                    <a:p>
                      <a:pPr algn="ctr">
                        <a:defRPr sz="900">
                          <a:latin typeface="Montserrat"/>
                        </a:defRPr>
                      </a:pPr>
                      <a:r>
                        <a:t>32</a:t>
                      </a:r>
                    </a:p>
                  </a:txBody>
                  <a:tcPr anchor="ctr">
                    <a:solidFill>
                      <a:srgbClr val="FFFFFF"/>
                    </a:solidFill>
                  </a:tcPr>
                </a:tc>
                <a:tc>
                  <a:txBody>
                    <a:bodyPr/>
                    <a:lstStyle/>
                    <a:p>
                      <a:pPr algn="ctr">
                        <a:defRPr sz="900">
                          <a:latin typeface="Montserrat"/>
                        </a:defRPr>
                      </a:pPr>
                      <a:r>
                        <a:t>14</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3</a:t>
                      </a:r>
                    </a:p>
                  </a:txBody>
                  <a:tcPr anchor="ctr">
                    <a:solidFill>
                      <a:srgbClr val="FFFFFF"/>
                    </a:solidFill>
                  </a:tcPr>
                </a:tc>
                <a:extLst>
                  <a:ext uri="{0D108BD9-81ED-4DB2-BD59-A6C34878D82A}">
                    <a16:rowId xmlns:a16="http://schemas.microsoft.com/office/drawing/2014/main" val="10009"/>
                  </a:ext>
                </a:extLst>
              </a:tr>
              <a:tr h="230400">
                <a:tc>
                  <a:txBody>
                    <a:bodyPr/>
                    <a:lstStyle/>
                    <a:p>
                      <a:pPr algn="l">
                        <a:defRPr sz="900">
                          <a:latin typeface="Montserrat"/>
                        </a:defRPr>
                      </a:pPr>
                      <a:r>
                        <a:t>HGSMF 21 S. Pedro Colonias</a:t>
                      </a:r>
                    </a:p>
                  </a:txBody>
                  <a:tcPr anchor="ctr">
                    <a:solidFill>
                      <a:srgbClr val="EFEFEF"/>
                    </a:solidFill>
                  </a:tcPr>
                </a:tc>
                <a:tc>
                  <a:txBody>
                    <a:bodyPr/>
                    <a:lstStyle/>
                    <a:p>
                      <a:pPr algn="ctr">
                        <a:defRPr sz="900">
                          <a:latin typeface="Montserrat"/>
                        </a:defRPr>
                      </a:pPr>
                      <a:r>
                        <a:t>Junio de 1976</a:t>
                      </a:r>
                    </a:p>
                  </a:txBody>
                  <a:tcPr anchor="ctr">
                    <a:solidFill>
                      <a:srgbClr val="EFEFEF"/>
                    </a:solidFill>
                  </a:tcPr>
                </a:tc>
                <a:tc>
                  <a:txBody>
                    <a:bodyPr/>
                    <a:lstStyle/>
                    <a:p>
                      <a:pPr algn="ctr">
                        <a:defRPr sz="900">
                          <a:latin typeface="Montserrat"/>
                        </a:defRPr>
                      </a:pPr>
                      <a:r>
                        <a:t>26</a:t>
                      </a:r>
                    </a:p>
                  </a:txBody>
                  <a:tcPr anchor="ctr">
                    <a:solidFill>
                      <a:srgbClr val="EFEFEF"/>
                    </a:solidFill>
                  </a:tcPr>
                </a:tc>
                <a:tc>
                  <a:txBody>
                    <a:bodyPr/>
                    <a:lstStyle/>
                    <a:p>
                      <a:pPr algn="ctr">
                        <a:defRPr sz="900">
                          <a:latin typeface="Montserrat"/>
                        </a:defRPr>
                      </a:pPr>
                      <a:r>
                        <a:t>10</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2</a:t>
                      </a:r>
                    </a:p>
                  </a:txBody>
                  <a:tcPr anchor="ctr">
                    <a:solidFill>
                      <a:srgbClr val="EFEFEF"/>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2" name="Grupo 1">
            <a:extLst>
              <a:ext uri="{FF2B5EF4-FFF2-40B4-BE49-F238E27FC236}">
                <a16:creationId xmlns:a16="http://schemas.microsoft.com/office/drawing/2014/main" id="{104E9437-0840-26BD-ECBC-779486D7CA1D}"/>
              </a:ext>
            </a:extLst>
          </p:cNvPr>
          <p:cNvGrpSpPr/>
          <p:nvPr/>
        </p:nvGrpSpPr>
        <p:grpSpPr>
          <a:xfrm>
            <a:off x="108055" y="6586567"/>
            <a:ext cx="7462799" cy="2848522"/>
            <a:chOff x="0" y="5646445"/>
            <a:chExt cx="7772400" cy="3378061"/>
          </a:xfrm>
        </p:grpSpPr>
        <p:pic>
          <p:nvPicPr>
            <p:cNvPr id="15" name="Google Shape;139;g3d62d805bc0_1_133" title="HGZ 86 URUAPAN.jpg">
              <a:extLst>
                <a:ext uri="{FF2B5EF4-FFF2-40B4-BE49-F238E27FC236}">
                  <a16:creationId xmlns:a16="http://schemas.microsoft.com/office/drawing/2014/main" id="{58B1E772-4387-1B00-0E0A-658A272F4985}"/>
                </a:ext>
              </a:extLst>
            </p:cNvPr>
            <p:cNvPicPr preferRelativeResize="0"/>
            <p:nvPr/>
          </p:nvPicPr>
          <p:blipFill rotWithShape="1">
            <a:blip r:embed="rId4">
              <a:alphaModFix/>
            </a:blip>
            <a:srcRect l="1417" t="15479" r="44279" b="26090"/>
            <a:stretch/>
          </p:blipFill>
          <p:spPr>
            <a:xfrm>
              <a:off x="191116" y="6271940"/>
              <a:ext cx="2367954" cy="1562335"/>
            </a:xfrm>
            <a:prstGeom prst="rect">
              <a:avLst/>
            </a:prstGeom>
            <a:noFill/>
            <a:ln>
              <a:noFill/>
            </a:ln>
            <a:effectLst>
              <a:outerShdw blurRad="114300" dist="57150" dir="10800000" algn="bl" rotWithShape="0">
                <a:srgbClr val="000000">
                  <a:alpha val="50000"/>
                </a:srgbClr>
              </a:outerShdw>
            </a:effectLst>
          </p:spPr>
        </p:pic>
        <p:sp>
          <p:nvSpPr>
            <p:cNvPr id="16" name="Google Shape;141;g3d62d805bc0_1_133">
              <a:extLst>
                <a:ext uri="{FF2B5EF4-FFF2-40B4-BE49-F238E27FC236}">
                  <a16:creationId xmlns:a16="http://schemas.microsoft.com/office/drawing/2014/main" id="{77EA2954-1372-6DEF-2586-5F7A111A14BC}"/>
                </a:ext>
              </a:extLst>
            </p:cNvPr>
            <p:cNvSpPr/>
            <p:nvPr/>
          </p:nvSpPr>
          <p:spPr>
            <a:xfrm>
              <a:off x="607840" y="7848147"/>
              <a:ext cx="19098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s" sz="1300" b="1">
                  <a:solidFill>
                    <a:srgbClr val="FFFFFF"/>
                  </a:solidFill>
                  <a:latin typeface="Montserrat"/>
                  <a:ea typeface="Montserrat"/>
                  <a:cs typeface="Montserrat"/>
                  <a:sym typeface="Montserrat"/>
                </a:rPr>
                <a:t>Mastógrafos</a:t>
              </a:r>
              <a:endParaRPr sz="1100">
                <a:solidFill>
                  <a:srgbClr val="FFFFFF"/>
                </a:solidFill>
              </a:endParaRPr>
            </a:p>
          </p:txBody>
        </p:sp>
        <p:sp>
          <p:nvSpPr>
            <p:cNvPr id="17" name="Google Shape;142;g3d62d805bc0_1_133">
              <a:extLst>
                <a:ext uri="{FF2B5EF4-FFF2-40B4-BE49-F238E27FC236}">
                  <a16:creationId xmlns:a16="http://schemas.microsoft.com/office/drawing/2014/main" id="{C1AC196D-4723-903B-52BD-589DA63BE3C0}"/>
                </a:ext>
              </a:extLst>
            </p:cNvPr>
            <p:cNvSpPr txBox="1"/>
            <p:nvPr/>
          </p:nvSpPr>
          <p:spPr>
            <a:xfrm>
              <a:off x="83763" y="8239706"/>
              <a:ext cx="2291100" cy="784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1300">
                  <a:solidFill>
                    <a:srgbClr val="595959"/>
                  </a:solidFill>
                  <a:latin typeface="Montserrat"/>
                  <a:ea typeface="Montserrat"/>
                  <a:cs typeface="Montserrat"/>
                  <a:sym typeface="Montserrat"/>
                </a:rPr>
                <a:t>HGZ 11 Piedras Negras HGZMF 18 Torreón</a:t>
              </a:r>
            </a:p>
            <a:p>
              <a:pPr marL="0" marR="0" lvl="0" indent="0" algn="l" rtl="0">
                <a:lnSpc>
                  <a:spcPct val="100000"/>
                </a:lnSpc>
                <a:spcBef>
                  <a:spcPts val="0"/>
                </a:spcBef>
                <a:spcAft>
                  <a:spcPts val="0"/>
                </a:spcAft>
                <a:buClr>
                  <a:srgbClr val="000000"/>
                </a:buClr>
                <a:buSzPts val="800"/>
                <a:buFont typeface="Arial"/>
                <a:buNone/>
              </a:pPr>
              <a:r>
                <a:rPr lang="es" sz="1300" b="1">
                  <a:solidFill>
                    <a:srgbClr val="595959"/>
                  </a:solidFill>
                  <a:latin typeface="Montserrat"/>
                  <a:ea typeface="Montserrat"/>
                  <a:cs typeface="Montserrat"/>
                  <a:sym typeface="Montserrat"/>
                </a:rPr>
                <a:t>$8.6 mdp</a:t>
              </a:r>
              <a:endParaRPr sz="800" b="1">
                <a:latin typeface="Montserrat"/>
                <a:ea typeface="Montserrat"/>
                <a:cs typeface="Montserrat"/>
                <a:sym typeface="Montserrat"/>
              </a:endParaRPr>
            </a:p>
          </p:txBody>
        </p:sp>
        <p:sp>
          <p:nvSpPr>
            <p:cNvPr id="18" name="Google Shape;143;g3d62d805bc0_1_133">
              <a:extLst>
                <a:ext uri="{FF2B5EF4-FFF2-40B4-BE49-F238E27FC236}">
                  <a16:creationId xmlns:a16="http://schemas.microsoft.com/office/drawing/2014/main" id="{865C0F43-706E-CA48-0F46-879542C4FDAD}"/>
                </a:ext>
              </a:extLst>
            </p:cNvPr>
            <p:cNvSpPr/>
            <p:nvPr/>
          </p:nvSpPr>
          <p:spPr>
            <a:xfrm>
              <a:off x="191125" y="7848136"/>
              <a:ext cx="4542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rgbClr val="FFFFFF"/>
                  </a:solidFill>
                  <a:latin typeface="Noto Sans Black"/>
                  <a:ea typeface="Noto Sans Black"/>
                  <a:cs typeface="Noto Sans Black"/>
                  <a:sym typeface="Noto Sans Black"/>
                </a:rPr>
                <a:t>2</a:t>
              </a:r>
              <a:endParaRPr>
                <a:solidFill>
                  <a:srgbClr val="FFFFFF"/>
                </a:solidFill>
                <a:latin typeface="Noto Sans Black"/>
                <a:ea typeface="Noto Sans Black"/>
                <a:cs typeface="Noto Sans Black"/>
                <a:sym typeface="Noto Sans Black"/>
              </a:endParaRPr>
            </a:p>
          </p:txBody>
        </p:sp>
        <p:sp>
          <p:nvSpPr>
            <p:cNvPr id="19" name="Google Shape;144;g3d62d805bc0_1_133">
              <a:extLst>
                <a:ext uri="{FF2B5EF4-FFF2-40B4-BE49-F238E27FC236}">
                  <a16:creationId xmlns:a16="http://schemas.microsoft.com/office/drawing/2014/main" id="{391EBCFC-551F-04D5-4EB2-A39E3DDE0EA8}"/>
                </a:ext>
              </a:extLst>
            </p:cNvPr>
            <p:cNvSpPr/>
            <p:nvPr/>
          </p:nvSpPr>
          <p:spPr>
            <a:xfrm>
              <a:off x="2650992" y="7834269"/>
              <a:ext cx="4542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1</a:t>
              </a:r>
              <a:endParaRPr sz="1400" b="0" i="0" u="none" strike="noStrike" cap="none">
                <a:solidFill>
                  <a:srgbClr val="FFFFFF"/>
                </a:solidFill>
                <a:latin typeface="Noto Sans Black"/>
                <a:ea typeface="Noto Sans Black"/>
                <a:cs typeface="Noto Sans Black"/>
                <a:sym typeface="Noto Sans Black"/>
              </a:endParaRPr>
            </a:p>
          </p:txBody>
        </p:sp>
        <p:sp>
          <p:nvSpPr>
            <p:cNvPr id="20" name="Google Shape;145;g3d62d805bc0_1_133">
              <a:extLst>
                <a:ext uri="{FF2B5EF4-FFF2-40B4-BE49-F238E27FC236}">
                  <a16:creationId xmlns:a16="http://schemas.microsoft.com/office/drawing/2014/main" id="{7C5B7419-BA83-96FB-A1EF-BD5058CF3813}"/>
                </a:ext>
              </a:extLst>
            </p:cNvPr>
            <p:cNvSpPr/>
            <p:nvPr/>
          </p:nvSpPr>
          <p:spPr>
            <a:xfrm>
              <a:off x="3124854" y="7834269"/>
              <a:ext cx="20103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Resonador magnético </a:t>
              </a:r>
              <a:endParaRPr sz="1300" b="1" i="0" u="none" strike="noStrike" cap="none">
                <a:solidFill>
                  <a:srgbClr val="FFFFFF"/>
                </a:solidFill>
                <a:latin typeface="Montserrat"/>
                <a:ea typeface="Montserrat"/>
                <a:cs typeface="Montserrat"/>
                <a:sym typeface="Montserrat"/>
              </a:endParaRPr>
            </a:p>
          </p:txBody>
        </p:sp>
        <p:sp>
          <p:nvSpPr>
            <p:cNvPr id="21" name="Google Shape;146;g3d62d805bc0_1_133">
              <a:extLst>
                <a:ext uri="{FF2B5EF4-FFF2-40B4-BE49-F238E27FC236}">
                  <a16:creationId xmlns:a16="http://schemas.microsoft.com/office/drawing/2014/main" id="{608F1888-469F-9840-8AAB-6248DA430A12}"/>
                </a:ext>
              </a:extLst>
            </p:cNvPr>
            <p:cNvSpPr txBox="1"/>
            <p:nvPr/>
          </p:nvSpPr>
          <p:spPr>
            <a:xfrm>
              <a:off x="2634506" y="8211975"/>
              <a:ext cx="2291100" cy="662459"/>
            </a:xfrm>
            <a:prstGeom prst="rect">
              <a:avLst/>
            </a:prstGeom>
            <a:noFill/>
            <a:ln>
              <a:noFill/>
            </a:ln>
          </p:spPr>
          <p:txBody>
            <a:bodyPr spcFirstLastPara="1" wrap="square" lIns="91425" tIns="91425" rIns="91425" bIns="91425" anchor="t" anchorCtr="0">
              <a:spAutoFit/>
            </a:bodyPr>
            <a:lstStyle/>
            <a:p>
              <a:pPr marL="0" marR="63500" lvl="0" indent="0" algn="l" rtl="0">
                <a:lnSpc>
                  <a:spcPct val="115000"/>
                </a:lnSpc>
                <a:spcBef>
                  <a:spcPts val="0"/>
                </a:spcBef>
                <a:spcAft>
                  <a:spcPts val="0"/>
                </a:spcAft>
                <a:buNone/>
              </a:pPr>
              <a:r>
                <a:rPr lang="es" sz="1300">
                  <a:solidFill>
                    <a:srgbClr val="595959"/>
                  </a:solidFill>
                  <a:latin typeface="Montserrat"/>
                  <a:ea typeface="Montserrat"/>
                  <a:cs typeface="Montserrat"/>
                  <a:sym typeface="Montserrat"/>
                </a:rPr>
                <a:t>HES 71 Torreón </a:t>
              </a:r>
            </a:p>
            <a:p>
              <a:pPr marL="0" marR="63500" lvl="0" indent="0" algn="l" rtl="0">
                <a:lnSpc>
                  <a:spcPct val="115000"/>
                </a:lnSpc>
                <a:spcBef>
                  <a:spcPts val="0"/>
                </a:spcBef>
                <a:spcAft>
                  <a:spcPts val="0"/>
                </a:spcAft>
                <a:buNone/>
              </a:pPr>
              <a:r>
                <a:rPr lang="es" sz="1300" b="1">
                  <a:solidFill>
                    <a:srgbClr val="595959"/>
                  </a:solidFill>
                  <a:latin typeface="Montserrat"/>
                  <a:sym typeface="Montserrat"/>
                </a:rPr>
                <a:t>$38.2 mdp</a:t>
              </a:r>
              <a:endParaRPr b="1"/>
            </a:p>
          </p:txBody>
        </p:sp>
        <p:sp>
          <p:nvSpPr>
            <p:cNvPr id="22" name="Google Shape;147;g3d62d805bc0_1_133">
              <a:extLst>
                <a:ext uri="{FF2B5EF4-FFF2-40B4-BE49-F238E27FC236}">
                  <a16:creationId xmlns:a16="http://schemas.microsoft.com/office/drawing/2014/main" id="{B943C90F-A07E-89A1-D3F6-B4A796CC4227}"/>
                </a:ext>
              </a:extLst>
            </p:cNvPr>
            <p:cNvSpPr/>
            <p:nvPr/>
          </p:nvSpPr>
          <p:spPr>
            <a:xfrm>
              <a:off x="5656850" y="7834274"/>
              <a:ext cx="19098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Tomógrafo</a:t>
              </a:r>
              <a:endParaRPr sz="1100" b="0" i="0" u="none" strike="noStrike" cap="none">
                <a:solidFill>
                  <a:srgbClr val="FFFFFF"/>
                </a:solidFill>
                <a:latin typeface="Arial"/>
                <a:ea typeface="Arial"/>
                <a:cs typeface="Arial"/>
                <a:sym typeface="Arial"/>
              </a:endParaRPr>
            </a:p>
          </p:txBody>
        </p:sp>
        <p:sp>
          <p:nvSpPr>
            <p:cNvPr id="23" name="Google Shape;148;g3d62d805bc0_1_133">
              <a:extLst>
                <a:ext uri="{FF2B5EF4-FFF2-40B4-BE49-F238E27FC236}">
                  <a16:creationId xmlns:a16="http://schemas.microsoft.com/office/drawing/2014/main" id="{DDCBB79B-7C16-DF4C-D74A-2060309412C8}"/>
                </a:ext>
              </a:extLst>
            </p:cNvPr>
            <p:cNvSpPr/>
            <p:nvPr/>
          </p:nvSpPr>
          <p:spPr>
            <a:xfrm>
              <a:off x="5154811" y="7834274"/>
              <a:ext cx="5070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1</a:t>
              </a:r>
              <a:endParaRPr sz="1400" b="0" i="0" u="none" strike="noStrike" cap="none">
                <a:solidFill>
                  <a:srgbClr val="FFFFFF"/>
                </a:solidFill>
                <a:latin typeface="Noto Sans Black"/>
                <a:ea typeface="Noto Sans Black"/>
                <a:cs typeface="Noto Sans Black"/>
                <a:sym typeface="Noto Sans Black"/>
              </a:endParaRPr>
            </a:p>
          </p:txBody>
        </p:sp>
        <p:sp>
          <p:nvSpPr>
            <p:cNvPr id="24" name="Google Shape;149;g3d62d805bc0_1_133">
              <a:extLst>
                <a:ext uri="{FF2B5EF4-FFF2-40B4-BE49-F238E27FC236}">
                  <a16:creationId xmlns:a16="http://schemas.microsoft.com/office/drawing/2014/main" id="{B590CF3B-F24A-1FCD-E907-E05FD39F4785}"/>
                </a:ext>
              </a:extLst>
            </p:cNvPr>
            <p:cNvSpPr txBox="1"/>
            <p:nvPr/>
          </p:nvSpPr>
          <p:spPr>
            <a:xfrm>
              <a:off x="5171572" y="8187958"/>
              <a:ext cx="2577600" cy="645852"/>
            </a:xfrm>
            <a:prstGeom prst="rect">
              <a:avLst/>
            </a:prstGeom>
            <a:noFill/>
            <a:ln>
              <a:noFill/>
            </a:ln>
          </p:spPr>
          <p:txBody>
            <a:bodyPr spcFirstLastPara="1" wrap="square" lIns="91425" tIns="91425" rIns="91425" bIns="91425" anchor="t" anchorCtr="0">
              <a:spAutoFit/>
            </a:bodyPr>
            <a:lstStyle/>
            <a:p>
              <a:pPr marL="0" marR="50800" lvl="0" indent="0" algn="l" rtl="0">
                <a:lnSpc>
                  <a:spcPct val="111000"/>
                </a:lnSpc>
                <a:spcBef>
                  <a:spcPts val="0"/>
                </a:spcBef>
                <a:spcAft>
                  <a:spcPts val="0"/>
                </a:spcAft>
                <a:buNone/>
              </a:pPr>
              <a:r>
                <a:rPr lang="es" sz="1300">
                  <a:solidFill>
                    <a:srgbClr val="595959"/>
                  </a:solidFill>
                  <a:latin typeface="Montserrat"/>
                  <a:ea typeface="Montserrat"/>
                  <a:cs typeface="Montserrat"/>
                  <a:sym typeface="Montserrat"/>
                </a:rPr>
                <a:t>HGZMF 2 Saltillo</a:t>
              </a:r>
            </a:p>
            <a:p>
              <a:pPr marL="0" marR="50800" lvl="0" indent="0" algn="l" rtl="0">
                <a:lnSpc>
                  <a:spcPct val="111000"/>
                </a:lnSpc>
                <a:spcBef>
                  <a:spcPts val="0"/>
                </a:spcBef>
                <a:spcAft>
                  <a:spcPts val="0"/>
                </a:spcAft>
                <a:buNone/>
              </a:pPr>
              <a:r>
                <a:rPr lang="es" sz="1300" b="1">
                  <a:solidFill>
                    <a:srgbClr val="595959"/>
                  </a:solidFill>
                  <a:latin typeface="Montserrat"/>
                  <a:ea typeface="Montserrat"/>
                  <a:cs typeface="Montserrat"/>
                  <a:sym typeface="Montserrat"/>
                </a:rPr>
                <a:t>$29.6 mdp</a:t>
              </a:r>
              <a:r>
                <a:rPr lang="es" sz="1300">
                  <a:solidFill>
                    <a:srgbClr val="595959"/>
                  </a:solidFill>
                  <a:latin typeface="Montserrat"/>
                  <a:ea typeface="Montserrat"/>
                  <a:cs typeface="Montserrat"/>
                  <a:sym typeface="Montserrat"/>
                </a:rPr>
                <a:t> </a:t>
              </a:r>
              <a:r>
                <a:rPr lang="es">
                  <a:solidFill>
                    <a:srgbClr val="434343"/>
                  </a:solidFill>
                  <a:latin typeface="Noto Sans"/>
                  <a:ea typeface="Noto Sans"/>
                  <a:cs typeface="Noto Sans"/>
                  <a:sym typeface="Noto Sans"/>
                </a:rPr>
                <a:t> </a:t>
              </a:r>
              <a:r>
                <a:rPr lang="es" sz="1300">
                  <a:solidFill>
                    <a:srgbClr val="595959"/>
                  </a:solidFill>
                  <a:latin typeface="Montserrat"/>
                  <a:ea typeface="Montserrat"/>
                  <a:cs typeface="Montserrat"/>
                  <a:sym typeface="Montserrat"/>
                </a:rPr>
                <a:t> </a:t>
              </a:r>
              <a:endParaRPr>
                <a:solidFill>
                  <a:srgbClr val="434343"/>
                </a:solidFill>
                <a:latin typeface="Noto Sans"/>
                <a:ea typeface="Noto Sans"/>
                <a:cs typeface="Noto Sans"/>
                <a:sym typeface="Noto Sans"/>
              </a:endParaRPr>
            </a:p>
          </p:txBody>
        </p:sp>
        <p:pic>
          <p:nvPicPr>
            <p:cNvPr id="25" name="Google Shape;150;g3d62d805bc0_1_133">
              <a:extLst>
                <a:ext uri="{FF2B5EF4-FFF2-40B4-BE49-F238E27FC236}">
                  <a16:creationId xmlns:a16="http://schemas.microsoft.com/office/drawing/2014/main" id="{7F2F84D0-3B52-E570-9732-39DCF1487A4C}"/>
                </a:ext>
              </a:extLst>
            </p:cNvPr>
            <p:cNvPicPr preferRelativeResize="0"/>
            <p:nvPr/>
          </p:nvPicPr>
          <p:blipFill>
            <a:blip r:embed="rId5">
              <a:alphaModFix/>
            </a:blip>
            <a:stretch>
              <a:fillRect/>
            </a:stretch>
          </p:blipFill>
          <p:spPr>
            <a:xfrm>
              <a:off x="5192547" y="6271940"/>
              <a:ext cx="2382553" cy="1562334"/>
            </a:xfrm>
            <a:prstGeom prst="rect">
              <a:avLst/>
            </a:prstGeom>
            <a:noFill/>
            <a:ln>
              <a:noFill/>
            </a:ln>
          </p:spPr>
        </p:pic>
        <p:pic>
          <p:nvPicPr>
            <p:cNvPr id="26" name="Google Shape;151;g3d62d805bc0_1_133">
              <a:extLst>
                <a:ext uri="{FF2B5EF4-FFF2-40B4-BE49-F238E27FC236}">
                  <a16:creationId xmlns:a16="http://schemas.microsoft.com/office/drawing/2014/main" id="{6468F7E8-0DB5-6B14-0607-C1A563FC9770}"/>
                </a:ext>
              </a:extLst>
            </p:cNvPr>
            <p:cNvPicPr preferRelativeResize="0"/>
            <p:nvPr/>
          </p:nvPicPr>
          <p:blipFill>
            <a:blip r:embed="rId6">
              <a:alphaModFix/>
            </a:blip>
            <a:stretch>
              <a:fillRect/>
            </a:stretch>
          </p:blipFill>
          <p:spPr>
            <a:xfrm>
              <a:off x="2650994" y="6271940"/>
              <a:ext cx="2437578" cy="1562335"/>
            </a:xfrm>
            <a:prstGeom prst="rect">
              <a:avLst/>
            </a:prstGeom>
            <a:noFill/>
            <a:ln>
              <a:noFill/>
            </a:ln>
          </p:spPr>
        </p:pic>
        <p:sp>
          <p:nvSpPr>
            <p:cNvPr id="27" name="Google Shape;158;g3d62d805bc0_1_133">
              <a:extLst>
                <a:ext uri="{FF2B5EF4-FFF2-40B4-BE49-F238E27FC236}">
                  <a16:creationId xmlns:a16="http://schemas.microsoft.com/office/drawing/2014/main" id="{2BCC90C5-01B7-852D-DC0F-1EDF075B72C4}"/>
                </a:ext>
              </a:extLst>
            </p:cNvPr>
            <p:cNvSpPr txBox="1"/>
            <p:nvPr/>
          </p:nvSpPr>
          <p:spPr>
            <a:xfrm>
              <a:off x="0" y="5646445"/>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b="1">
                  <a:solidFill>
                    <a:srgbClr val="006858"/>
                  </a:solidFill>
                  <a:latin typeface="Montserrat"/>
                  <a:ea typeface="Montserrat"/>
                  <a:cs typeface="Montserrat"/>
                  <a:sym typeface="Montserrat"/>
                </a:rPr>
                <a:t>Fortalecimiento de equipo médico</a:t>
              </a:r>
              <a:endParaRPr b="1">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b="1" i="0" u="none" strike="noStrike" cap="none">
                  <a:solidFill>
                    <a:srgbClr val="006858"/>
                  </a:solidFill>
                  <a:latin typeface="Montserrat"/>
                  <a:ea typeface="Montserrat"/>
                  <a:cs typeface="Montserrat"/>
                  <a:sym typeface="Montserrat"/>
                </a:rPr>
                <a:t>Compra 2025-2026 equipo mayor  (</a:t>
              </a:r>
              <a:r>
                <a:rPr lang="es" b="1">
                  <a:solidFill>
                    <a:srgbClr val="006858"/>
                  </a:solidFill>
                  <a:latin typeface="Montserrat"/>
                  <a:ea typeface="Montserrat"/>
                  <a:cs typeface="Montserrat"/>
                  <a:sym typeface="Montserrat"/>
                </a:rPr>
                <a:t>Instalación</a:t>
              </a:r>
              <a:r>
                <a:rPr lang="es" b="1" i="0" u="none" strike="noStrike" cap="none">
                  <a:solidFill>
                    <a:srgbClr val="006858"/>
                  </a:solidFill>
                  <a:latin typeface="Montserrat"/>
                  <a:ea typeface="Montserrat"/>
                  <a:cs typeface="Montserrat"/>
                  <a:sym typeface="Montserrat"/>
                </a:rPr>
                <a:t> abr</a:t>
              </a:r>
              <a:r>
                <a:rPr lang="es" b="1">
                  <a:solidFill>
                    <a:srgbClr val="006858"/>
                  </a:solidFill>
                  <a:latin typeface="Montserrat"/>
                  <a:ea typeface="Montserrat"/>
                  <a:cs typeface="Montserrat"/>
                  <a:sym typeface="Montserrat"/>
                </a:rPr>
                <a:t>il-</a:t>
              </a:r>
              <a:r>
                <a:rPr lang="es" b="1" i="0" u="none" strike="noStrike" cap="none">
                  <a:solidFill>
                    <a:srgbClr val="006858"/>
                  </a:solidFill>
                  <a:latin typeface="Montserrat"/>
                  <a:ea typeface="Montserrat"/>
                  <a:cs typeface="Montserrat"/>
                  <a:sym typeface="Montserrat"/>
                </a:rPr>
                <a:t>mayo)</a:t>
              </a:r>
              <a:endParaRPr b="1" i="0" u="none" strike="noStrike" cap="none">
                <a:solidFill>
                  <a:srgbClr val="006858"/>
                </a:solidFill>
                <a:latin typeface="Montserrat"/>
                <a:ea typeface="Montserrat"/>
                <a:cs typeface="Montserrat"/>
                <a:sym typeface="Montserrat"/>
              </a:endParaRPr>
            </a:p>
          </p:txBody>
        </p:sp>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graphicFrame>
        <p:nvGraphicFramePr>
          <p:cNvPr id="154" name="Table 153"/>
          <p:cNvGraphicFramePr>
            <a:graphicFrameLocks noGrp="1"/>
          </p:cNvGraphicFramePr>
          <p:nvPr>
            <p:extLst>
              <p:ext uri="{D42A27DB-BD31-4B8C-83A1-F6EECF244321}">
                <p14:modId xmlns:p14="http://schemas.microsoft.com/office/powerpoint/2010/main" val="1521015038"/>
              </p:ext>
            </p:extLst>
          </p:nvPr>
        </p:nvGraphicFramePr>
        <p:xfrm>
          <a:off x="93600" y="1180800"/>
          <a:ext cx="7534799" cy="4160520"/>
        </p:xfrm>
        <a:graphic>
          <a:graphicData uri="http://schemas.openxmlformats.org/drawingml/2006/table">
            <a:tbl>
              <a:tblPr firstRow="1" bandRow="1">
                <a:tableStyleId>{5C22544A-7EE6-4342-B048-85BDC9FD1C3A}</a:tableStyleId>
              </a:tblPr>
              <a:tblGrid>
                <a:gridCol w="2192400">
                  <a:extLst>
                    <a:ext uri="{9D8B030D-6E8A-4147-A177-3AD203B41FA5}">
                      <a16:colId xmlns:a16="http://schemas.microsoft.com/office/drawing/2014/main" val="20000"/>
                    </a:ext>
                  </a:extLst>
                </a:gridCol>
                <a:gridCol w="943200">
                  <a:extLst>
                    <a:ext uri="{9D8B030D-6E8A-4147-A177-3AD203B41FA5}">
                      <a16:colId xmlns:a16="http://schemas.microsoft.com/office/drawing/2014/main" val="20001"/>
                    </a:ext>
                  </a:extLst>
                </a:gridCol>
                <a:gridCol w="925200">
                  <a:extLst>
                    <a:ext uri="{9D8B030D-6E8A-4147-A177-3AD203B41FA5}">
                      <a16:colId xmlns:a16="http://schemas.microsoft.com/office/drawing/2014/main" val="20002"/>
                    </a:ext>
                  </a:extLst>
                </a:gridCol>
                <a:gridCol w="896400">
                  <a:extLst>
                    <a:ext uri="{9D8B030D-6E8A-4147-A177-3AD203B41FA5}">
                      <a16:colId xmlns:a16="http://schemas.microsoft.com/office/drawing/2014/main" val="20003"/>
                    </a:ext>
                  </a:extLst>
                </a:gridCol>
                <a:gridCol w="525600">
                  <a:extLst>
                    <a:ext uri="{9D8B030D-6E8A-4147-A177-3AD203B41FA5}">
                      <a16:colId xmlns:a16="http://schemas.microsoft.com/office/drawing/2014/main" val="20004"/>
                    </a:ext>
                  </a:extLst>
                </a:gridCol>
                <a:gridCol w="1000799">
                  <a:extLst>
                    <a:ext uri="{9D8B030D-6E8A-4147-A177-3AD203B41FA5}">
                      <a16:colId xmlns:a16="http://schemas.microsoft.com/office/drawing/2014/main" val="20005"/>
                    </a:ext>
                  </a:extLst>
                </a:gridCol>
                <a:gridCol w="1051200">
                  <a:extLst>
                    <a:ext uri="{9D8B030D-6E8A-4147-A177-3AD203B41FA5}">
                      <a16:colId xmlns:a16="http://schemas.microsoft.com/office/drawing/2014/main" val="20006"/>
                    </a:ext>
                  </a:extLst>
                </a:gridCol>
              </a:tblGrid>
              <a:tr h="450958">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Aparatos de Tomografía</a:t>
                      </a:r>
                    </a:p>
                  </a:txBody>
                  <a:tcPr anchor="ctr">
                    <a:solidFill>
                      <a:srgbClr val="006455"/>
                    </a:solidFill>
                  </a:tcPr>
                </a:tc>
                <a:tc>
                  <a:txBody>
                    <a:bodyPr/>
                    <a:lstStyle/>
                    <a:p>
                      <a:pPr algn="ctr">
                        <a:defRPr sz="900" b="1">
                          <a:solidFill>
                            <a:srgbClr val="FFFFFF"/>
                          </a:solidFill>
                          <a:latin typeface="Montserrat"/>
                        </a:defRPr>
                      </a:pPr>
                      <a:r>
                        <a:t>Equipos de Resonancia Magnética</a:t>
                      </a:r>
                    </a:p>
                  </a:txBody>
                  <a:tcPr anchor="ctr">
                    <a:solidFill>
                      <a:srgbClr val="006455"/>
                    </a:solidFill>
                  </a:tcPr>
                </a:tc>
                <a:tc>
                  <a:txBody>
                    <a:bodyPr/>
                    <a:lstStyle/>
                    <a:p>
                      <a:pPr algn="ctr">
                        <a:defRPr sz="900" b="1">
                          <a:solidFill>
                            <a:srgbClr val="FFFFFF"/>
                          </a:solidFill>
                          <a:latin typeface="Montserrat"/>
                        </a:defRPr>
                      </a:pPr>
                      <a:r>
                        <a:t>Mastógrafo</a:t>
                      </a:r>
                    </a:p>
                  </a:txBody>
                  <a:tcPr anchor="ctr">
                    <a:solidFill>
                      <a:srgbClr val="006455"/>
                    </a:solidFill>
                  </a:tcPr>
                </a:tc>
                <a:tc>
                  <a:txBody>
                    <a:bodyPr/>
                    <a:lstStyle/>
                    <a:p>
                      <a:pPr algn="ctr">
                        <a:defRPr sz="900" b="1">
                          <a:solidFill>
                            <a:srgbClr val="FFFFFF"/>
                          </a:solidFill>
                          <a:latin typeface="Montserrat"/>
                        </a:defRPr>
                      </a:pPr>
                      <a:r>
                        <a:t>Arcos en C</a:t>
                      </a:r>
                    </a:p>
                  </a:txBody>
                  <a:tcPr anchor="ctr">
                    <a:solidFill>
                      <a:srgbClr val="006455"/>
                    </a:solidFill>
                  </a:tcPr>
                </a:tc>
                <a:tc>
                  <a:txBody>
                    <a:bodyPr/>
                    <a:lstStyle/>
                    <a:p>
                      <a:pPr algn="ctr">
                        <a:defRPr sz="900" b="1">
                          <a:solidFill>
                            <a:srgbClr val="FFFFFF"/>
                          </a:solidFill>
                          <a:latin typeface="Montserrat"/>
                        </a:defRPr>
                      </a:pPr>
                      <a:r>
                        <a:t>Máquinas de Hemodiálisis</a:t>
                      </a:r>
                    </a:p>
                  </a:txBody>
                  <a:tcPr anchor="ctr">
                    <a:solidFill>
                      <a:srgbClr val="006455"/>
                    </a:solidFill>
                  </a:tcPr>
                </a:tc>
                <a:tc>
                  <a:txBody>
                    <a:bodyPr/>
                    <a:lstStyle/>
                    <a:p>
                      <a:pPr algn="ctr">
                        <a:defRPr sz="900" b="1">
                          <a:solidFill>
                            <a:srgbClr val="FFFFFF"/>
                          </a:solidFill>
                          <a:latin typeface="Montserrat"/>
                        </a:defRPr>
                      </a:pPr>
                      <a:r>
                        <a:t>Sala de Hemodinamia</a:t>
                      </a:r>
                    </a:p>
                  </a:txBody>
                  <a:tcPr anchor="ctr">
                    <a:solidFill>
                      <a:srgbClr val="006455"/>
                    </a:solidFill>
                  </a:tcPr>
                </a:tc>
                <a:extLst>
                  <a:ext uri="{0D108BD9-81ED-4DB2-BD59-A6C34878D82A}">
                    <a16:rowId xmlns:a16="http://schemas.microsoft.com/office/drawing/2014/main" val="10000"/>
                  </a:ext>
                </a:extLst>
              </a:tr>
              <a:tr h="218646">
                <a:tc>
                  <a:txBody>
                    <a:bodyPr/>
                    <a:lstStyle/>
                    <a:p>
                      <a:pPr algn="l">
                        <a:defRPr sz="1000">
                          <a:latin typeface="Montserrat"/>
                        </a:defRPr>
                      </a:pPr>
                      <a:r>
                        <a:t>HGZMF 18 Torreón</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extLst>
                  <a:ext uri="{0D108BD9-81ED-4DB2-BD59-A6C34878D82A}">
                    <a16:rowId xmlns:a16="http://schemas.microsoft.com/office/drawing/2014/main" val="10001"/>
                  </a:ext>
                </a:extLst>
              </a:tr>
              <a:tr h="218646">
                <a:tc>
                  <a:txBody>
                    <a:bodyPr/>
                    <a:lstStyle/>
                    <a:p>
                      <a:pPr algn="l">
                        <a:defRPr sz="1000">
                          <a:latin typeface="Montserrat"/>
                        </a:defRPr>
                      </a:pPr>
                      <a:r>
                        <a:t>HGS 13 Cd. Acuña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extLst>
                  <a:ext uri="{0D108BD9-81ED-4DB2-BD59-A6C34878D82A}">
                    <a16:rowId xmlns:a16="http://schemas.microsoft.com/office/drawing/2014/main" val="10002"/>
                  </a:ext>
                </a:extLst>
              </a:tr>
              <a:tr h="218646">
                <a:tc>
                  <a:txBody>
                    <a:bodyPr/>
                    <a:lstStyle/>
                    <a:p>
                      <a:pPr algn="l">
                        <a:defRPr sz="1000">
                          <a:latin typeface="Montserrat"/>
                        </a:defRPr>
                      </a:pPr>
                      <a:r>
                        <a:t>HGZMF 16 Torreón</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7</a:t>
                      </a:r>
                    </a:p>
                  </a:txBody>
                  <a:tcPr>
                    <a:solidFill>
                      <a:srgbClr val="FFFFFF"/>
                    </a:solidFill>
                  </a:tcPr>
                </a:tc>
                <a:tc>
                  <a:txBody>
                    <a:bodyPr/>
                    <a:lstStyle/>
                    <a:p>
                      <a:pPr algn="ctr">
                        <a:defRPr sz="1000">
                          <a:latin typeface="Montserrat"/>
                        </a:defRPr>
                      </a:pPr>
                      <a:r>
                        <a:t>0</a:t>
                      </a:r>
                    </a:p>
                  </a:txBody>
                  <a:tcPr>
                    <a:solidFill>
                      <a:srgbClr val="FFFFFF"/>
                    </a:solidFill>
                  </a:tcPr>
                </a:tc>
                <a:extLst>
                  <a:ext uri="{0D108BD9-81ED-4DB2-BD59-A6C34878D82A}">
                    <a16:rowId xmlns:a16="http://schemas.microsoft.com/office/drawing/2014/main" val="10003"/>
                  </a:ext>
                </a:extLst>
              </a:tr>
              <a:tr h="218646">
                <a:tc>
                  <a:txBody>
                    <a:bodyPr/>
                    <a:lstStyle/>
                    <a:p>
                      <a:pPr algn="l">
                        <a:defRPr sz="1000">
                          <a:latin typeface="Montserrat"/>
                        </a:defRPr>
                      </a:pPr>
                      <a:r>
                        <a:t>HGSMF 27 Palau</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extLst>
                  <a:ext uri="{0D108BD9-81ED-4DB2-BD59-A6C34878D82A}">
                    <a16:rowId xmlns:a16="http://schemas.microsoft.com/office/drawing/2014/main" val="10004"/>
                  </a:ext>
                </a:extLst>
              </a:tr>
              <a:tr h="218646">
                <a:tc>
                  <a:txBody>
                    <a:bodyPr/>
                    <a:lstStyle/>
                    <a:p>
                      <a:pPr algn="l">
                        <a:defRPr sz="1000">
                          <a:latin typeface="Montserrat"/>
                        </a:defRPr>
                      </a:pPr>
                      <a:r>
                        <a:t>HGSMF 6 Parras</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extLst>
                  <a:ext uri="{0D108BD9-81ED-4DB2-BD59-A6C34878D82A}">
                    <a16:rowId xmlns:a16="http://schemas.microsoft.com/office/drawing/2014/main" val="10005"/>
                  </a:ext>
                </a:extLst>
              </a:tr>
              <a:tr h="218646">
                <a:tc>
                  <a:txBody>
                    <a:bodyPr/>
                    <a:lstStyle/>
                    <a:p>
                      <a:pPr algn="l">
                        <a:defRPr sz="1000">
                          <a:latin typeface="Montserrat"/>
                        </a:defRPr>
                      </a:pPr>
                      <a:r>
                        <a:t>HGZ 11 Piedras Negras</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4</a:t>
                      </a:r>
                    </a:p>
                  </a:txBody>
                  <a:tcPr>
                    <a:solidFill>
                      <a:srgbClr val="EFEFEF"/>
                    </a:solidFill>
                  </a:tcPr>
                </a:tc>
                <a:tc>
                  <a:txBody>
                    <a:bodyPr/>
                    <a:lstStyle/>
                    <a:p>
                      <a:pPr algn="ctr">
                        <a:defRPr sz="1000">
                          <a:latin typeface="Montserrat"/>
                        </a:defRPr>
                      </a:pPr>
                      <a:r>
                        <a:t>0</a:t>
                      </a:r>
                    </a:p>
                  </a:txBody>
                  <a:tcPr>
                    <a:solidFill>
                      <a:srgbClr val="EFEFEF"/>
                    </a:solidFill>
                  </a:tcPr>
                </a:tc>
                <a:extLst>
                  <a:ext uri="{0D108BD9-81ED-4DB2-BD59-A6C34878D82A}">
                    <a16:rowId xmlns:a16="http://schemas.microsoft.com/office/drawing/2014/main" val="10006"/>
                  </a:ext>
                </a:extLst>
              </a:tr>
              <a:tr h="218646">
                <a:tc>
                  <a:txBody>
                    <a:bodyPr/>
                    <a:lstStyle/>
                    <a:p>
                      <a:pPr algn="l">
                        <a:defRPr sz="1000">
                          <a:latin typeface="Montserrat"/>
                        </a:defRPr>
                      </a:pPr>
                      <a:r>
                        <a:t>HGZMF 24 Nueva Rosita</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3</a:t>
                      </a:r>
                    </a:p>
                  </a:txBody>
                  <a:tcPr>
                    <a:solidFill>
                      <a:srgbClr val="FFFFFF"/>
                    </a:solidFill>
                  </a:tcPr>
                </a:tc>
                <a:tc>
                  <a:txBody>
                    <a:bodyPr/>
                    <a:lstStyle/>
                    <a:p>
                      <a:pPr algn="ctr">
                        <a:defRPr sz="1000">
                          <a:latin typeface="Montserrat"/>
                        </a:defRPr>
                      </a:pPr>
                      <a:r>
                        <a:t>0</a:t>
                      </a:r>
                    </a:p>
                  </a:txBody>
                  <a:tcPr>
                    <a:solidFill>
                      <a:srgbClr val="FFFFFF"/>
                    </a:solidFill>
                  </a:tcPr>
                </a:tc>
                <a:extLst>
                  <a:ext uri="{0D108BD9-81ED-4DB2-BD59-A6C34878D82A}">
                    <a16:rowId xmlns:a16="http://schemas.microsoft.com/office/drawing/2014/main" val="10007"/>
                  </a:ext>
                </a:extLst>
              </a:tr>
              <a:tr h="218646">
                <a:tc>
                  <a:txBody>
                    <a:bodyPr/>
                    <a:lstStyle/>
                    <a:p>
                      <a:pPr algn="l">
                        <a:defRPr sz="1000">
                          <a:latin typeface="Montserrat"/>
                        </a:defRPr>
                      </a:pPr>
                      <a:r>
                        <a:t>HGSMF 20 Fco. I. Madero</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extLst>
                  <a:ext uri="{0D108BD9-81ED-4DB2-BD59-A6C34878D82A}">
                    <a16:rowId xmlns:a16="http://schemas.microsoft.com/office/drawing/2014/main" val="10008"/>
                  </a:ext>
                </a:extLst>
              </a:tr>
              <a:tr h="218646">
                <a:tc>
                  <a:txBody>
                    <a:bodyPr/>
                    <a:lstStyle/>
                    <a:p>
                      <a:pPr algn="l">
                        <a:defRPr sz="1000">
                          <a:latin typeface="Montserrat"/>
                        </a:defRPr>
                      </a:pPr>
                      <a:r>
                        <a:t>HGZMF 7 Monclova</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5</a:t>
                      </a:r>
                    </a:p>
                  </a:txBody>
                  <a:tcPr>
                    <a:solidFill>
                      <a:srgbClr val="FFFFFF"/>
                    </a:solidFill>
                  </a:tcPr>
                </a:tc>
                <a:tc>
                  <a:txBody>
                    <a:bodyPr/>
                    <a:lstStyle/>
                    <a:p>
                      <a:pPr algn="ctr">
                        <a:defRPr sz="1000">
                          <a:latin typeface="Montserrat"/>
                        </a:defRPr>
                      </a:pPr>
                      <a:r>
                        <a:t>1</a:t>
                      </a:r>
                    </a:p>
                  </a:txBody>
                  <a:tcPr>
                    <a:solidFill>
                      <a:srgbClr val="E6D194"/>
                    </a:solidFill>
                  </a:tcPr>
                </a:tc>
                <a:extLst>
                  <a:ext uri="{0D108BD9-81ED-4DB2-BD59-A6C34878D82A}">
                    <a16:rowId xmlns:a16="http://schemas.microsoft.com/office/drawing/2014/main" val="10009"/>
                  </a:ext>
                </a:extLst>
              </a:tr>
              <a:tr h="218646">
                <a:tc>
                  <a:txBody>
                    <a:bodyPr/>
                    <a:lstStyle/>
                    <a:p>
                      <a:pPr algn="l">
                        <a:defRPr sz="1000">
                          <a:latin typeface="Montserrat"/>
                        </a:defRPr>
                      </a:pPr>
                      <a:r>
                        <a:t>HGZ 92 Coahuila</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extLst>
                  <a:ext uri="{0D108BD9-81ED-4DB2-BD59-A6C34878D82A}">
                    <a16:rowId xmlns:a16="http://schemas.microsoft.com/office/drawing/2014/main" val="10010"/>
                  </a:ext>
                </a:extLst>
              </a:tr>
              <a:tr h="218646">
                <a:tc>
                  <a:txBody>
                    <a:bodyPr/>
                    <a:lstStyle/>
                    <a:p>
                      <a:pPr algn="l">
                        <a:defRPr sz="1000">
                          <a:latin typeface="Montserrat"/>
                        </a:defRPr>
                      </a:pPr>
                      <a:r>
                        <a:t>HGSMF 21 S. Pedro Colonias</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extLst>
                  <a:ext uri="{0D108BD9-81ED-4DB2-BD59-A6C34878D82A}">
                    <a16:rowId xmlns:a16="http://schemas.microsoft.com/office/drawing/2014/main" val="10011"/>
                  </a:ext>
                </a:extLst>
              </a:tr>
              <a:tr h="218646">
                <a:tc>
                  <a:txBody>
                    <a:bodyPr/>
                    <a:lstStyle/>
                    <a:p>
                      <a:pPr algn="l">
                        <a:defRPr sz="1000">
                          <a:latin typeface="Montserrat"/>
                        </a:defRPr>
                      </a:pPr>
                      <a:r>
                        <a:t>UMAA 90 Torreón (Aut)</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8</a:t>
                      </a:r>
                    </a:p>
                  </a:txBody>
                  <a:tcPr>
                    <a:solidFill>
                      <a:srgbClr val="EFEFEF"/>
                    </a:solidFill>
                  </a:tcPr>
                </a:tc>
                <a:tc>
                  <a:txBody>
                    <a:bodyPr/>
                    <a:lstStyle/>
                    <a:p>
                      <a:pPr algn="ctr">
                        <a:defRPr sz="1000">
                          <a:latin typeface="Montserrat"/>
                        </a:defRPr>
                      </a:pPr>
                      <a:r>
                        <a:t>0</a:t>
                      </a:r>
                    </a:p>
                  </a:txBody>
                  <a:tcPr>
                    <a:solidFill>
                      <a:srgbClr val="EFEFEF"/>
                    </a:solidFill>
                  </a:tcPr>
                </a:tc>
                <a:extLst>
                  <a:ext uri="{0D108BD9-81ED-4DB2-BD59-A6C34878D82A}">
                    <a16:rowId xmlns:a16="http://schemas.microsoft.com/office/drawing/2014/main" val="10012"/>
                  </a:ext>
                </a:extLst>
              </a:tr>
              <a:tr h="218646">
                <a:tc>
                  <a:txBody>
                    <a:bodyPr/>
                    <a:lstStyle/>
                    <a:p>
                      <a:pPr algn="l">
                        <a:defRPr sz="1000">
                          <a:latin typeface="Montserrat"/>
                        </a:defRPr>
                      </a:pPr>
                      <a:r>
                        <a:t>HGZ 1 Saltillo</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extLst>
                  <a:ext uri="{0D108BD9-81ED-4DB2-BD59-A6C34878D82A}">
                    <a16:rowId xmlns:a16="http://schemas.microsoft.com/office/drawing/2014/main" val="10013"/>
                  </a:ext>
                </a:extLst>
              </a:tr>
              <a:tr h="218646">
                <a:tc>
                  <a:txBody>
                    <a:bodyPr/>
                    <a:lstStyle/>
                    <a:p>
                      <a:pPr algn="l">
                        <a:defRPr sz="1000">
                          <a:latin typeface="Montserrat"/>
                        </a:defRPr>
                      </a:pPr>
                      <a:r>
                        <a:t>HGZMF 2 Saltillo</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6</a:t>
                      </a:r>
                    </a:p>
                  </a:txBody>
                  <a:tcPr>
                    <a:solidFill>
                      <a:srgbClr val="EFEFEF"/>
                    </a:solidFill>
                  </a:tcPr>
                </a:tc>
                <a:tc>
                  <a:txBody>
                    <a:bodyPr/>
                    <a:lstStyle/>
                    <a:p>
                      <a:pPr algn="ctr">
                        <a:defRPr sz="1000">
                          <a:latin typeface="Montserrat"/>
                        </a:defRPr>
                      </a:pPr>
                      <a:r>
                        <a:t>0</a:t>
                      </a:r>
                    </a:p>
                  </a:txBody>
                  <a:tcPr>
                    <a:solidFill>
                      <a:srgbClr val="EFEFEF"/>
                    </a:solidFill>
                  </a:tcPr>
                </a:tc>
                <a:extLst>
                  <a:ext uri="{0D108BD9-81ED-4DB2-BD59-A6C34878D82A}">
                    <a16:rowId xmlns:a16="http://schemas.microsoft.com/office/drawing/2014/main" val="10014"/>
                  </a:ext>
                </a:extLst>
              </a:tr>
              <a:tr h="218646">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6</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9</a:t>
                      </a:r>
                    </a:p>
                  </a:txBody>
                  <a:tcPr>
                    <a:solidFill>
                      <a:srgbClr val="D3E9E7"/>
                    </a:solidFill>
                  </a:tcPr>
                </a:tc>
                <a:tc>
                  <a:txBody>
                    <a:bodyPr/>
                    <a:lstStyle/>
                    <a:p>
                      <a:pPr algn="ctr">
                        <a:defRPr sz="1000" b="1">
                          <a:solidFill>
                            <a:srgbClr val="006556"/>
                          </a:solidFill>
                          <a:latin typeface="Montserrat"/>
                        </a:defRPr>
                      </a:pPr>
                      <a:r>
                        <a:t>7</a:t>
                      </a:r>
                    </a:p>
                  </a:txBody>
                  <a:tcPr>
                    <a:solidFill>
                      <a:srgbClr val="D3E9E7"/>
                    </a:solidFill>
                  </a:tcPr>
                </a:tc>
                <a:tc>
                  <a:txBody>
                    <a:bodyPr/>
                    <a:lstStyle/>
                    <a:p>
                      <a:pPr algn="ctr">
                        <a:defRPr sz="1000" b="1">
                          <a:solidFill>
                            <a:srgbClr val="006556"/>
                          </a:solidFill>
                          <a:latin typeface="Montserrat"/>
                        </a:defRPr>
                      </a:pPr>
                      <a:r>
                        <a:t>33</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extLst>
                  <a:ext uri="{0D108BD9-81ED-4DB2-BD59-A6C34878D82A}">
                    <a16:rowId xmlns:a16="http://schemas.microsoft.com/office/drawing/2014/main" val="10015"/>
                  </a:ext>
                </a:extLst>
              </a:tr>
            </a:tbl>
          </a:graphicData>
        </a:graphic>
      </p:graphicFrame>
      <p:sp>
        <p:nvSpPr>
          <p:cNvPr id="155" name="Rectangle 154"/>
          <p:cNvSpPr/>
          <p:nvPr/>
        </p:nvSpPr>
        <p:spPr>
          <a:xfrm>
            <a:off x="205199" y="96696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p:cNvSpPr txBox="1"/>
          <p:nvPr/>
        </p:nvSpPr>
        <p:spPr>
          <a:xfrm>
            <a:off x="406799" y="9568800"/>
            <a:ext cx="7149600" cy="461665"/>
          </a:xfrm>
          <a:prstGeom prst="rect">
            <a:avLst/>
          </a:prstGeom>
          <a:noFill/>
        </p:spPr>
        <p:txBody>
          <a:bodyPr wrap="square">
            <a:spAutoFit/>
          </a:bodyPr>
          <a:lstStyle/>
          <a:p>
            <a:pPr>
              <a:defRPr sz="800">
                <a:solidFill>
                  <a:srgbClr val="FFFFFF"/>
                </a:solidFill>
                <a:latin typeface="Montserrat"/>
              </a:defRPr>
            </a:pPr>
            <a:r>
              <a:rPr err="1"/>
              <a:t>Proyectos</a:t>
            </a:r>
            <a:r>
              <a:t> de </a:t>
            </a:r>
            <a:r>
              <a:rPr err="1"/>
              <a:t>implementación</a:t>
            </a:r>
            <a:r>
              <a:t>/</a:t>
            </a:r>
            <a:r>
              <a:rPr err="1"/>
              <a:t>sustitución</a:t>
            </a:r>
            <a:r>
              <a:t> 2019-2025. </a:t>
            </a:r>
            <a:r>
              <a:rPr err="1"/>
              <a:t>Incluye</a:t>
            </a:r>
            <a:r>
              <a:t> </a:t>
            </a:r>
            <a:r>
              <a:rPr err="1"/>
              <a:t>equipo</a:t>
            </a:r>
            <a:r>
              <a:t> de la </a:t>
            </a:r>
            <a:r>
              <a:rPr err="1"/>
              <a:t>compra</a:t>
            </a:r>
            <a:r>
              <a:t> 2025-2026.</a:t>
            </a:r>
            <a:br>
              <a:rPr/>
            </a:br>
            <a:r>
              <a:t>Fuente: Cédula de </a:t>
            </a:r>
            <a:r>
              <a:rPr err="1"/>
              <a:t>actualización</a:t>
            </a:r>
            <a:r>
              <a:t> de variables </a:t>
            </a:r>
            <a:r>
              <a:rPr err="1"/>
              <a:t>seleccionadas</a:t>
            </a:r>
            <a:r>
              <a:t> del IFU, </a:t>
            </a:r>
            <a:r>
              <a:rPr err="1"/>
              <a:t>enviadas</a:t>
            </a:r>
            <a:r>
              <a:t> por el OOAD.</a:t>
            </a:r>
            <a:br>
              <a:rPr/>
            </a:br>
            <a:r>
              <a:t>Corte de información: ma</a:t>
            </a:r>
            <a:r>
              <a:rPr lang="es-MX"/>
              <a:t>y</a:t>
            </a:r>
            <a:r>
              <a:t>o de 2026</a:t>
            </a:r>
          </a:p>
        </p:txBody>
      </p:sp>
      <p:graphicFrame>
        <p:nvGraphicFramePr>
          <p:cNvPr id="3" name="Table 4">
            <a:extLst>
              <a:ext uri="{FF2B5EF4-FFF2-40B4-BE49-F238E27FC236}">
                <a16:creationId xmlns:a16="http://schemas.microsoft.com/office/drawing/2014/main" id="{86995122-8B3A-B085-7A4B-4D4F178897BA}"/>
              </a:ext>
            </a:extLst>
          </p:cNvPr>
          <p:cNvGraphicFramePr>
            <a:graphicFrameLocks noGrp="1"/>
          </p:cNvGraphicFramePr>
          <p:nvPr>
            <p:extLst>
              <p:ext uri="{D42A27DB-BD31-4B8C-83A1-F6EECF244321}">
                <p14:modId xmlns:p14="http://schemas.microsoft.com/office/powerpoint/2010/main" val="3482382924"/>
              </p:ext>
            </p:extLst>
          </p:nvPr>
        </p:nvGraphicFramePr>
        <p:xfrm>
          <a:off x="108055" y="5319216"/>
          <a:ext cx="7534799" cy="1234440"/>
        </p:xfrm>
        <a:graphic>
          <a:graphicData uri="http://schemas.openxmlformats.org/drawingml/2006/table">
            <a:tbl>
              <a:tblPr firstRow="1" bandRow="1">
                <a:tableStyleId>{5C22544A-7EE6-4342-B048-85BDC9FD1C3A}</a:tableStyleId>
              </a:tblPr>
              <a:tblGrid>
                <a:gridCol w="2192400">
                  <a:extLst>
                    <a:ext uri="{9D8B030D-6E8A-4147-A177-3AD203B41FA5}">
                      <a16:colId xmlns:a16="http://schemas.microsoft.com/office/drawing/2014/main" val="20000"/>
                    </a:ext>
                  </a:extLst>
                </a:gridCol>
                <a:gridCol w="943200">
                  <a:extLst>
                    <a:ext uri="{9D8B030D-6E8A-4147-A177-3AD203B41FA5}">
                      <a16:colId xmlns:a16="http://schemas.microsoft.com/office/drawing/2014/main" val="20001"/>
                    </a:ext>
                  </a:extLst>
                </a:gridCol>
                <a:gridCol w="925200">
                  <a:extLst>
                    <a:ext uri="{9D8B030D-6E8A-4147-A177-3AD203B41FA5}">
                      <a16:colId xmlns:a16="http://schemas.microsoft.com/office/drawing/2014/main" val="20002"/>
                    </a:ext>
                  </a:extLst>
                </a:gridCol>
                <a:gridCol w="896400">
                  <a:extLst>
                    <a:ext uri="{9D8B030D-6E8A-4147-A177-3AD203B41FA5}">
                      <a16:colId xmlns:a16="http://schemas.microsoft.com/office/drawing/2014/main" val="20003"/>
                    </a:ext>
                  </a:extLst>
                </a:gridCol>
                <a:gridCol w="525600">
                  <a:extLst>
                    <a:ext uri="{9D8B030D-6E8A-4147-A177-3AD203B41FA5}">
                      <a16:colId xmlns:a16="http://schemas.microsoft.com/office/drawing/2014/main" val="20004"/>
                    </a:ext>
                  </a:extLst>
                </a:gridCol>
                <a:gridCol w="1000799">
                  <a:extLst>
                    <a:ext uri="{9D8B030D-6E8A-4147-A177-3AD203B41FA5}">
                      <a16:colId xmlns:a16="http://schemas.microsoft.com/office/drawing/2014/main" val="20005"/>
                    </a:ext>
                  </a:extLst>
                </a:gridCol>
                <a:gridCol w="1051200">
                  <a:extLst>
                    <a:ext uri="{9D8B030D-6E8A-4147-A177-3AD203B41FA5}">
                      <a16:colId xmlns:a16="http://schemas.microsoft.com/office/drawing/2014/main" val="20006"/>
                    </a:ext>
                  </a:extLst>
                </a:gridCol>
              </a:tblGrid>
              <a:tr h="349413">
                <a:tc>
                  <a:txBody>
                    <a:bodyPr/>
                    <a:lstStyle/>
                    <a:p>
                      <a:pPr algn="ctr">
                        <a:defRPr sz="900" b="1">
                          <a:solidFill>
                            <a:srgbClr val="FFFFFF"/>
                          </a:solidFill>
                          <a:latin typeface="Montserrat"/>
                        </a:defRPr>
                      </a:pPr>
                      <a:r>
                        <a:t>UMAE</a:t>
                      </a:r>
                    </a:p>
                  </a:txBody>
                  <a:tcPr anchor="ctr">
                    <a:solidFill>
                      <a:srgbClr val="006455"/>
                    </a:solidFill>
                  </a:tcPr>
                </a:tc>
                <a:tc>
                  <a:txBody>
                    <a:bodyPr/>
                    <a:lstStyle/>
                    <a:p>
                      <a:pPr algn="ctr">
                        <a:defRPr sz="900" b="1">
                          <a:solidFill>
                            <a:srgbClr val="FFFFFF"/>
                          </a:solidFill>
                          <a:latin typeface="Montserrat"/>
                        </a:defRPr>
                      </a:pPr>
                      <a:r>
                        <a:t>Aparatos de Tomografía</a:t>
                      </a:r>
                    </a:p>
                  </a:txBody>
                  <a:tcPr anchor="ctr">
                    <a:solidFill>
                      <a:srgbClr val="006455"/>
                    </a:solidFill>
                  </a:tcPr>
                </a:tc>
                <a:tc>
                  <a:txBody>
                    <a:bodyPr/>
                    <a:lstStyle/>
                    <a:p>
                      <a:pPr algn="ctr">
                        <a:defRPr sz="900" b="1">
                          <a:solidFill>
                            <a:srgbClr val="FFFFFF"/>
                          </a:solidFill>
                          <a:latin typeface="Montserrat"/>
                        </a:defRPr>
                      </a:pPr>
                      <a:r>
                        <a:t>Equipos de Resonancia Magnética</a:t>
                      </a:r>
                    </a:p>
                  </a:txBody>
                  <a:tcPr anchor="ctr">
                    <a:solidFill>
                      <a:srgbClr val="006455"/>
                    </a:solidFill>
                  </a:tcPr>
                </a:tc>
                <a:tc>
                  <a:txBody>
                    <a:bodyPr/>
                    <a:lstStyle/>
                    <a:p>
                      <a:pPr algn="ctr">
                        <a:defRPr sz="900" b="1">
                          <a:solidFill>
                            <a:srgbClr val="FFFFFF"/>
                          </a:solidFill>
                          <a:latin typeface="Montserrat"/>
                        </a:defRPr>
                      </a:pPr>
                      <a:r>
                        <a:t>Mastógrafo</a:t>
                      </a:r>
                    </a:p>
                  </a:txBody>
                  <a:tcPr anchor="ctr">
                    <a:solidFill>
                      <a:srgbClr val="006455"/>
                    </a:solidFill>
                  </a:tcPr>
                </a:tc>
                <a:tc>
                  <a:txBody>
                    <a:bodyPr/>
                    <a:lstStyle/>
                    <a:p>
                      <a:pPr algn="ctr">
                        <a:defRPr sz="900" b="1">
                          <a:solidFill>
                            <a:srgbClr val="FFFFFF"/>
                          </a:solidFill>
                          <a:latin typeface="Montserrat"/>
                        </a:defRPr>
                      </a:pPr>
                      <a:r>
                        <a:t>Arcos en C</a:t>
                      </a:r>
                    </a:p>
                  </a:txBody>
                  <a:tcPr anchor="ctr">
                    <a:solidFill>
                      <a:srgbClr val="006455"/>
                    </a:solidFill>
                  </a:tcPr>
                </a:tc>
                <a:tc>
                  <a:txBody>
                    <a:bodyPr/>
                    <a:lstStyle/>
                    <a:p>
                      <a:pPr algn="ctr">
                        <a:defRPr sz="900" b="1">
                          <a:solidFill>
                            <a:srgbClr val="FFFFFF"/>
                          </a:solidFill>
                          <a:latin typeface="Montserrat"/>
                        </a:defRPr>
                      </a:pPr>
                      <a:r>
                        <a:t>Máquinas de Hemodiálisis</a:t>
                      </a:r>
                    </a:p>
                  </a:txBody>
                  <a:tcPr anchor="ctr">
                    <a:solidFill>
                      <a:srgbClr val="006455"/>
                    </a:solidFill>
                  </a:tcPr>
                </a:tc>
                <a:tc>
                  <a:txBody>
                    <a:bodyPr/>
                    <a:lstStyle/>
                    <a:p>
                      <a:pPr algn="ctr">
                        <a:defRPr sz="900" b="1">
                          <a:solidFill>
                            <a:srgbClr val="FFFFFF"/>
                          </a:solidFill>
                          <a:latin typeface="Montserrat"/>
                        </a:defRPr>
                      </a:pPr>
                      <a:r>
                        <a:t>Sala de Hemodinamia</a:t>
                      </a:r>
                    </a:p>
                  </a:txBody>
                  <a:tcPr anchor="ctr">
                    <a:solidFill>
                      <a:srgbClr val="006455"/>
                    </a:solidFill>
                  </a:tcPr>
                </a:tc>
                <a:extLst>
                  <a:ext uri="{0D108BD9-81ED-4DB2-BD59-A6C34878D82A}">
                    <a16:rowId xmlns:a16="http://schemas.microsoft.com/office/drawing/2014/main" val="10000"/>
                  </a:ext>
                </a:extLst>
              </a:tr>
              <a:tr h="169413">
                <a:tc>
                  <a:txBody>
                    <a:bodyPr/>
                    <a:lstStyle/>
                    <a:p>
                      <a:pPr algn="l">
                        <a:defRPr sz="1000">
                          <a:latin typeface="Montserrat"/>
                        </a:defRPr>
                      </a:pPr>
                      <a:r>
                        <a:t>HES 71 Torreón</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5</a:t>
                      </a:r>
                    </a:p>
                  </a:txBody>
                  <a:tcPr>
                    <a:solidFill>
                      <a:srgbClr val="FFFFFF"/>
                    </a:solidFill>
                  </a:tcPr>
                </a:tc>
                <a:tc>
                  <a:txBody>
                    <a:bodyPr/>
                    <a:lstStyle/>
                    <a:p>
                      <a:pPr algn="ctr">
                        <a:defRPr sz="1000">
                          <a:latin typeface="Montserrat"/>
                        </a:defRPr>
                      </a:pPr>
                      <a:r>
                        <a:t>14</a:t>
                      </a:r>
                    </a:p>
                  </a:txBody>
                  <a:tcPr>
                    <a:solidFill>
                      <a:srgbClr val="FFFFFF"/>
                    </a:solidFill>
                  </a:tcPr>
                </a:tc>
                <a:tc>
                  <a:txBody>
                    <a:bodyPr/>
                    <a:lstStyle/>
                    <a:p>
                      <a:pPr algn="ctr">
                        <a:defRPr sz="1000">
                          <a:latin typeface="Montserrat"/>
                        </a:defRPr>
                      </a:pPr>
                      <a:r>
                        <a:t>3</a:t>
                      </a:r>
                    </a:p>
                  </a:txBody>
                  <a:tcPr>
                    <a:solidFill>
                      <a:srgbClr val="FFFFFF"/>
                    </a:solidFill>
                  </a:tcPr>
                </a:tc>
                <a:extLst>
                  <a:ext uri="{0D108BD9-81ED-4DB2-BD59-A6C34878D82A}">
                    <a16:rowId xmlns:a16="http://schemas.microsoft.com/office/drawing/2014/main" val="10001"/>
                  </a:ext>
                </a:extLst>
              </a:tr>
              <a:tr h="169413">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5</a:t>
                      </a:r>
                    </a:p>
                  </a:txBody>
                  <a:tcPr>
                    <a:solidFill>
                      <a:srgbClr val="D3E9E7"/>
                    </a:solidFill>
                  </a:tcPr>
                </a:tc>
                <a:tc>
                  <a:txBody>
                    <a:bodyPr/>
                    <a:lstStyle/>
                    <a:p>
                      <a:pPr algn="ctr">
                        <a:defRPr sz="1000" b="1">
                          <a:solidFill>
                            <a:srgbClr val="006556"/>
                          </a:solidFill>
                          <a:latin typeface="Montserrat"/>
                        </a:defRPr>
                      </a:pPr>
                      <a:r>
                        <a:t>14</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extLst>
                  <a:ext uri="{0D108BD9-81ED-4DB2-BD59-A6C34878D82A}">
                    <a16:rowId xmlns:a16="http://schemas.microsoft.com/office/drawing/2014/main" val="10002"/>
                  </a:ext>
                </a:extLst>
              </a:tr>
              <a:tr h="169413">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7</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9</a:t>
                      </a:r>
                    </a:p>
                  </a:txBody>
                  <a:tcPr>
                    <a:solidFill>
                      <a:srgbClr val="D3E9E7"/>
                    </a:solidFill>
                  </a:tcPr>
                </a:tc>
                <a:tc>
                  <a:txBody>
                    <a:bodyPr/>
                    <a:lstStyle/>
                    <a:p>
                      <a:pPr algn="ctr">
                        <a:defRPr sz="1000" b="1">
                          <a:solidFill>
                            <a:srgbClr val="006556"/>
                          </a:solidFill>
                          <a:latin typeface="Montserrat"/>
                        </a:defRPr>
                      </a:pPr>
                      <a:r>
                        <a:t>12</a:t>
                      </a:r>
                    </a:p>
                  </a:txBody>
                  <a:tcPr>
                    <a:solidFill>
                      <a:srgbClr val="D3E9E7"/>
                    </a:solidFill>
                  </a:tcPr>
                </a:tc>
                <a:tc>
                  <a:txBody>
                    <a:bodyPr/>
                    <a:lstStyle/>
                    <a:p>
                      <a:pPr algn="ctr">
                        <a:defRPr sz="1000" b="1">
                          <a:solidFill>
                            <a:srgbClr val="006556"/>
                          </a:solidFill>
                          <a:latin typeface="Montserrat"/>
                        </a:defRPr>
                      </a:pPr>
                      <a:r>
                        <a:t>47</a:t>
                      </a:r>
                    </a:p>
                  </a:txBody>
                  <a:tcPr>
                    <a:solidFill>
                      <a:srgbClr val="D3E9E7"/>
                    </a:solidFill>
                  </a:tcPr>
                </a:tc>
                <a:tc>
                  <a:txBody>
                    <a:bodyPr/>
                    <a:lstStyle/>
                    <a:p>
                      <a:pPr algn="ctr">
                        <a:defRPr sz="1000" b="1">
                          <a:solidFill>
                            <a:srgbClr val="006556"/>
                          </a:solidFill>
                          <a:latin typeface="Montserrat"/>
                        </a:defRPr>
                      </a:pPr>
                      <a:r>
                        <a:t>4</a:t>
                      </a:r>
                    </a:p>
                  </a:txBody>
                  <a:tcPr>
                    <a:solidFill>
                      <a:srgbClr val="D3E9E7"/>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3664358719"/>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980000"/>
                          </a:solidFill>
                          <a:latin typeface="Montserrat"/>
                          <a:ea typeface="Montserrat"/>
                          <a:cs typeface="Montserrat"/>
                          <a:sym typeface="Montserrat"/>
                        </a:rPr>
                        <a:t>Resumen 2026</a:t>
                      </a:r>
                      <a:endParaRPr sz="2100" b="1" u="none" strike="noStrike" cap="none">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19B74D2D-7AD2-05BC-562A-88D4606A832A}"/>
              </a:ext>
            </a:extLst>
          </p:cNvPr>
          <p:cNvGraphicFramePr/>
          <p:nvPr>
            <p:extLst>
              <p:ext uri="{D42A27DB-BD31-4B8C-83A1-F6EECF244321}">
                <p14:modId xmlns:p14="http://schemas.microsoft.com/office/powerpoint/2010/main" val="1272320527"/>
              </p:ext>
            </p:extLst>
          </p:nvPr>
        </p:nvGraphicFramePr>
        <p:xfrm>
          <a:off x="143502" y="4151846"/>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980000"/>
                          </a:solidFill>
                          <a:latin typeface="Montserrat"/>
                          <a:ea typeface="Montserrat"/>
                          <a:cs typeface="Montserrat"/>
                          <a:sym typeface="Montserrat"/>
                        </a:rPr>
                        <a:t>Resultados 2025</a:t>
                      </a:r>
                      <a:endParaRPr sz="2100" b="1" u="none" strike="noStrike" cap="none">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98567232-16FD-3F26-EDAB-4BDFBF049B2C}"/>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099493"/>
            <a:ext cx="2975495" cy="3699793"/>
          </a:xfrm>
          <a:prstGeom prst="rect">
            <a:avLst/>
          </a:prstGeom>
        </p:spPr>
      </p:pic>
      <p:cxnSp>
        <p:nvCxnSpPr>
          <p:cNvPr id="4" name="Conector recto 3">
            <a:extLst>
              <a:ext uri="{FF2B5EF4-FFF2-40B4-BE49-F238E27FC236}">
                <a16:creationId xmlns:a16="http://schemas.microsoft.com/office/drawing/2014/main" id="{D9803403-D829-77BD-01E5-D20D452AEA0B}"/>
              </a:ext>
            </a:extLst>
          </p:cNvPr>
          <p:cNvCxnSpPr>
            <a:cxnSpLocks/>
          </p:cNvCxnSpPr>
          <p:nvPr/>
        </p:nvCxnSpPr>
        <p:spPr>
          <a:xfrm>
            <a:off x="5210629" y="5572264"/>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1561157B-7858-C3B3-E08B-EFA80D817B3A}"/>
              </a:ext>
            </a:extLst>
          </p:cNvPr>
          <p:cNvCxnSpPr>
            <a:cxnSpLocks/>
          </p:cNvCxnSpPr>
          <p:nvPr/>
        </p:nvCxnSpPr>
        <p:spPr>
          <a:xfrm>
            <a:off x="5210629" y="7234150"/>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7" name="CuadroTexto 6">
            <a:extLst>
              <a:ext uri="{FF2B5EF4-FFF2-40B4-BE49-F238E27FC236}">
                <a16:creationId xmlns:a16="http://schemas.microsoft.com/office/drawing/2014/main" id="{B9E4CE65-F1D6-665C-EF8A-5202AA95B56B}"/>
              </a:ext>
            </a:extLst>
          </p:cNvPr>
          <p:cNvSpPr txBox="1"/>
          <p:nvPr/>
        </p:nvSpPr>
        <p:spPr>
          <a:xfrm>
            <a:off x="5064096" y="6495486"/>
            <a:ext cx="1930400" cy="738664"/>
          </a:xfrm>
          <a:prstGeom prst="rect">
            <a:avLst/>
          </a:prstGeom>
          <a:noFill/>
        </p:spPr>
        <p:txBody>
          <a:bodyPr wrap="square" rtlCol="0">
            <a:spAutoFit/>
          </a:bodyPr>
          <a:lstStyle/>
          <a:p>
            <a:pPr algn="ctr"/>
            <a:r>
              <a:rPr lang="es-ES" sz="2100" b="1">
                <a:solidFill>
                  <a:schemeClr val="tx1">
                    <a:lumMod val="75000"/>
                    <a:lumOff val="25000"/>
                  </a:schemeClr>
                </a:solidFill>
              </a:rPr>
              <a:t>Consultas Especialidad</a:t>
            </a:r>
            <a:endParaRPr lang="es-MX" sz="2100" b="1">
              <a:solidFill>
                <a:schemeClr val="tx1">
                  <a:lumMod val="75000"/>
                  <a:lumOff val="25000"/>
                </a:schemeClr>
              </a:solidFill>
            </a:endParaRPr>
          </a:p>
        </p:txBody>
      </p:sp>
      <p:sp>
        <p:nvSpPr>
          <p:cNvPr id="10" name="CuadroTexto 6">
            <a:extLst>
              <a:ext uri="{FF2B5EF4-FFF2-40B4-BE49-F238E27FC236}">
                <a16:creationId xmlns:a16="http://schemas.microsoft.com/office/drawing/2014/main" id="{772CD39C-7054-08A4-840A-46B275860FA5}"/>
              </a:ext>
            </a:extLst>
          </p:cNvPr>
          <p:cNvSpPr txBox="1"/>
          <p:nvPr/>
        </p:nvSpPr>
        <p:spPr>
          <a:xfrm>
            <a:off x="5064096" y="8117456"/>
            <a:ext cx="1930400" cy="415498"/>
          </a:xfrm>
          <a:prstGeom prst="rect">
            <a:avLst/>
          </a:prstGeom>
          <a:noFill/>
        </p:spPr>
        <p:txBody>
          <a:bodyPr wrap="square" rtlCol="0">
            <a:spAutoFit/>
          </a:bodyPr>
          <a:lstStyle/>
          <a:p>
            <a:pPr algn="ctr"/>
            <a:r>
              <a:rPr lang="es-ES" sz="2100" b="1">
                <a:solidFill>
                  <a:schemeClr val="tx1">
                    <a:lumMod val="75000"/>
                    <a:lumOff val="25000"/>
                  </a:schemeClr>
                </a:solidFill>
              </a:rPr>
              <a:t>Cirugías</a:t>
            </a:r>
            <a:endParaRPr lang="es-MX" sz="2100" b="1">
              <a:solidFill>
                <a:schemeClr val="tx1">
                  <a:lumMod val="75000"/>
                  <a:lumOff val="25000"/>
                </a:schemeClr>
              </a:solidFill>
            </a:endParaRPr>
          </a:p>
        </p:txBody>
      </p:sp>
      <p:sp>
        <p:nvSpPr>
          <p:cNvPr id="12" name="CuadroTexto 8">
            <a:extLst>
              <a:ext uri="{FF2B5EF4-FFF2-40B4-BE49-F238E27FC236}">
                <a16:creationId xmlns:a16="http://schemas.microsoft.com/office/drawing/2014/main" id="{A6D188C9-CEA7-479D-99AD-7BBD3D82F0D5}"/>
              </a:ext>
            </a:extLst>
          </p:cNvPr>
          <p:cNvSpPr txBox="1"/>
          <p:nvPr/>
        </p:nvSpPr>
        <p:spPr>
          <a:xfrm>
            <a:off x="4701239" y="4744510"/>
            <a:ext cx="2656114" cy="738664"/>
          </a:xfrm>
          <a:prstGeom prst="rect">
            <a:avLst/>
          </a:prstGeom>
          <a:noFill/>
        </p:spPr>
        <p:txBody>
          <a:bodyPr wrap="square" rtlCol="0">
            <a:spAutoFit/>
          </a:bodyPr>
          <a:lstStyle/>
          <a:p>
            <a:pPr algn="ctr"/>
            <a:r>
              <a:rPr lang="es-ES" sz="2100" b="1">
                <a:solidFill>
                  <a:schemeClr val="tx1">
                    <a:lumMod val="75000"/>
                    <a:lumOff val="25000"/>
                  </a:schemeClr>
                </a:solidFill>
              </a:rPr>
              <a:t>Consultas Medicina Familiar</a:t>
            </a:r>
            <a:endParaRPr lang="es-MX" sz="2100" b="1">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232" name="TextBox 231"/>
          <p:cNvSpPr txBox="1"/>
          <p:nvPr/>
        </p:nvSpPr>
        <p:spPr>
          <a:xfrm>
            <a:off x="176400" y="9565200"/>
            <a:ext cx="4680000" cy="399600"/>
          </a:xfrm>
          <a:prstGeom prst="rect">
            <a:avLst/>
          </a:prstGeom>
          <a:noFill/>
        </p:spPr>
        <p:txBody>
          <a:bodyPr wrap="square" lIns="0" tIns="0" rIns="0" bIns="0">
            <a:spAutoFit/>
          </a:bodyPr>
          <a:lstStyle/>
          <a:p>
            <a:pPr algn="l">
              <a:defRPr sz="800">
                <a:solidFill>
                  <a:srgbClr val="FFFFFF"/>
                </a:solidFill>
                <a:latin typeface="Montserrat"/>
              </a:defRPr>
            </a:pPr>
            <a:r>
              <a:t>Corte de información: </a:t>
            </a:r>
            <a:r>
              <a:rPr err="1"/>
              <a:t>semana</a:t>
            </a:r>
            <a:r>
              <a:t> 24, 7 </a:t>
            </a:r>
            <a:r>
              <a:rPr err="1"/>
              <a:t>junio</a:t>
            </a:r>
            <a:r>
              <a:t> 2026</a:t>
            </a:r>
            <a:br>
              <a:rPr/>
            </a:br>
            <a:r>
              <a:t>¹Las </a:t>
            </a:r>
            <a:r>
              <a:rPr err="1"/>
              <a:t>consultas</a:t>
            </a:r>
            <a:r>
              <a:t> de </a:t>
            </a:r>
            <a:r>
              <a:rPr err="1"/>
              <a:t>medicina</a:t>
            </a:r>
            <a:r>
              <a:t> familiar </a:t>
            </a:r>
            <a:r>
              <a:rPr err="1"/>
              <a:t>incluyen</a:t>
            </a:r>
            <a:r>
              <a:t> los </a:t>
            </a:r>
            <a:r>
              <a:rPr err="1"/>
              <a:t>hospitales</a:t>
            </a:r>
            <a:r>
              <a:t> con MF.</a:t>
            </a:r>
          </a:p>
        </p:txBody>
      </p:sp>
      <p:sp>
        <p:nvSpPr>
          <p:cNvPr id="233" name="TextBox 232"/>
          <p:cNvSpPr txBox="1"/>
          <p:nvPr/>
        </p:nvSpPr>
        <p:spPr>
          <a:xfrm>
            <a:off x="5270400" y="7488000"/>
            <a:ext cx="1515600" cy="540000"/>
          </a:xfrm>
          <a:prstGeom prst="rect">
            <a:avLst/>
          </a:prstGeom>
          <a:noFill/>
        </p:spPr>
        <p:txBody>
          <a:bodyPr wrap="none">
            <a:spAutoFit/>
          </a:bodyPr>
          <a:lstStyle/>
          <a:p>
            <a:pPr algn="ctr">
              <a:defRPr sz="2500" b="1">
                <a:solidFill>
                  <a:srgbClr val="9F2241"/>
                </a:solidFill>
                <a:latin typeface="Montserrat"/>
              </a:defRPr>
            </a:pPr>
            <a:r>
              <a:t>+22,600</a:t>
            </a:r>
          </a:p>
        </p:txBody>
      </p:sp>
      <p:sp>
        <p:nvSpPr>
          <p:cNvPr id="234" name="TextBox 233"/>
          <p:cNvSpPr txBox="1"/>
          <p:nvPr/>
        </p:nvSpPr>
        <p:spPr>
          <a:xfrm>
            <a:off x="5270400" y="4233600"/>
            <a:ext cx="1515600" cy="540000"/>
          </a:xfrm>
          <a:prstGeom prst="rect">
            <a:avLst/>
          </a:prstGeom>
          <a:noFill/>
        </p:spPr>
        <p:txBody>
          <a:bodyPr wrap="none">
            <a:spAutoFit/>
          </a:bodyPr>
          <a:lstStyle/>
          <a:p>
            <a:pPr algn="ctr">
              <a:defRPr sz="2500" b="1">
                <a:solidFill>
                  <a:srgbClr val="9F2241"/>
                </a:solidFill>
                <a:latin typeface="Montserrat"/>
              </a:defRPr>
            </a:pPr>
            <a:r>
              <a:t>+185,290</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+294,100</a:t>
            </a:r>
          </a:p>
        </p:txBody>
      </p:sp>
      <p:graphicFrame>
        <p:nvGraphicFramePr>
          <p:cNvPr id="236" name="Table 235"/>
          <p:cNvGraphicFramePr>
            <a:graphicFrameLocks noGrp="1"/>
          </p:cNvGraphicFramePr>
          <p:nvPr>
            <p:extLst>
              <p:ext uri="{D42A27DB-BD31-4B8C-83A1-F6EECF244321}">
                <p14:modId xmlns:p14="http://schemas.microsoft.com/office/powerpoint/2010/main" val="3716616668"/>
              </p:ext>
            </p:extLst>
          </p:nvPr>
        </p:nvGraphicFramePr>
        <p:xfrm>
          <a:off x="144000" y="1620000"/>
          <a:ext cx="7469999" cy="1828080"/>
        </p:xfrm>
        <a:graphic>
          <a:graphicData uri="http://schemas.openxmlformats.org/drawingml/2006/table">
            <a:tbl>
              <a:tblPr firstRow="1" bandRow="1">
                <a:tableStyleId>{5C22544A-7EE6-4342-B048-85BDC9FD1C3A}</a:tableStyleId>
              </a:tblPr>
              <a:tblGrid>
                <a:gridCol w="2134800">
                  <a:extLst>
                    <a:ext uri="{9D8B030D-6E8A-4147-A177-3AD203B41FA5}">
                      <a16:colId xmlns:a16="http://schemas.microsoft.com/office/drawing/2014/main" val="20000"/>
                    </a:ext>
                  </a:extLst>
                </a:gridCol>
                <a:gridCol w="1007999">
                  <a:extLst>
                    <a:ext uri="{9D8B030D-6E8A-4147-A177-3AD203B41FA5}">
                      <a16:colId xmlns:a16="http://schemas.microsoft.com/office/drawing/2014/main" val="20001"/>
                    </a:ext>
                  </a:extLst>
                </a:gridCol>
                <a:gridCol w="1188000">
                  <a:extLst>
                    <a:ext uri="{9D8B030D-6E8A-4147-A177-3AD203B41FA5}">
                      <a16:colId xmlns:a16="http://schemas.microsoft.com/office/drawing/2014/main" val="20002"/>
                    </a:ext>
                  </a:extLst>
                </a:gridCol>
                <a:gridCol w="1098000">
                  <a:extLst>
                    <a:ext uri="{9D8B030D-6E8A-4147-A177-3AD203B41FA5}">
                      <a16:colId xmlns:a16="http://schemas.microsoft.com/office/drawing/2014/main" val="20003"/>
                    </a:ext>
                  </a:extLst>
                </a:gridCol>
                <a:gridCol w="1098000">
                  <a:extLst>
                    <a:ext uri="{9D8B030D-6E8A-4147-A177-3AD203B41FA5}">
                      <a16:colId xmlns:a16="http://schemas.microsoft.com/office/drawing/2014/main" val="20004"/>
                    </a:ext>
                  </a:extLst>
                </a:gridCol>
                <a:gridCol w="943200">
                  <a:extLst>
                    <a:ext uri="{9D8B030D-6E8A-4147-A177-3AD203B41FA5}">
                      <a16:colId xmlns:a16="http://schemas.microsoft.com/office/drawing/2014/main" val="20005"/>
                    </a:ext>
                  </a:extLst>
                </a:gridCol>
              </a:tblGrid>
              <a:tr h="396000">
                <a:tc>
                  <a:txBody>
                    <a:bodyPr/>
                    <a:lstStyle/>
                    <a:p>
                      <a:pPr algn="ctr">
                        <a:defRPr sz="1200" b="1">
                          <a:solidFill>
                            <a:srgbClr val="FFFFFF"/>
                          </a:solidFill>
                          <a:latin typeface="Montserrat"/>
                        </a:defRPr>
                      </a:pPr>
                      <a:r>
                        <a:t>Indicador</a:t>
                      </a:r>
                    </a:p>
                  </a:txBody>
                  <a:tcPr anchor="ctr">
                    <a:lnL w="12700" cap="flat" cmpd="sng" algn="ctr">
                      <a:solidFill>
                        <a:schemeClr val="bg2">
                          <a:lumMod val="20000"/>
                          <a:lumOff val="80000"/>
                        </a:schemeClr>
                      </a:solidFill>
                      <a:prstDash val="solid"/>
                      <a:round/>
                      <a:headEnd type="none" w="med" len="med"/>
                      <a:tailEnd type="none" w="med" len="med"/>
                    </a:lnL>
                    <a:lnT w="12700" cap="flat" cmpd="sng" algn="ctr">
                      <a:solidFill>
                        <a:schemeClr val="bg2">
                          <a:lumMod val="20000"/>
                          <a:lumOff val="80000"/>
                        </a:schemeClr>
                      </a:solidFill>
                      <a:prstDash val="solid"/>
                      <a:round/>
                      <a:headEnd type="none" w="med" len="med"/>
                      <a:tailEnd type="none" w="med" len="med"/>
                    </a:lnT>
                    <a:solidFill>
                      <a:srgbClr val="006455"/>
                    </a:solidFill>
                  </a:tcPr>
                </a:tc>
                <a:tc>
                  <a:txBody>
                    <a:bodyPr/>
                    <a:lstStyle/>
                    <a:p>
                      <a:pPr algn="ctr">
                        <a:defRPr sz="1200" b="1">
                          <a:solidFill>
                            <a:srgbClr val="FFFFFF"/>
                          </a:solidFill>
                          <a:latin typeface="Montserrat"/>
                        </a:defRPr>
                      </a:pPr>
                      <a:r>
                        <a:t>2025</a:t>
                      </a:r>
                    </a:p>
                  </a:txBody>
                  <a:tcPr anchor="ctr">
                    <a:lnT w="12700" cap="flat" cmpd="sng" algn="ctr">
                      <a:solidFill>
                        <a:schemeClr val="bg2">
                          <a:lumMod val="20000"/>
                          <a:lumOff val="80000"/>
                        </a:schemeClr>
                      </a:solidFill>
                      <a:prstDash val="solid"/>
                      <a:round/>
                      <a:headEnd type="none" w="med" len="med"/>
                      <a:tailEnd type="none" w="med" len="med"/>
                    </a:lnT>
                    <a:solidFill>
                      <a:srgbClr val="006455"/>
                    </a:solidFill>
                  </a:tcPr>
                </a:tc>
                <a:tc>
                  <a:txBody>
                    <a:bodyPr/>
                    <a:lstStyle/>
                    <a:p>
                      <a:pPr algn="ctr">
                        <a:defRPr sz="1200" b="1">
                          <a:solidFill>
                            <a:srgbClr val="FFFFFF"/>
                          </a:solidFill>
                          <a:latin typeface="Montserrat"/>
                        </a:defRPr>
                      </a:pPr>
                      <a:r>
                        <a:t>Incremento 2024 vs 2025</a:t>
                      </a:r>
                    </a:p>
                  </a:txBody>
                  <a:tcPr anchor="ctr">
                    <a:lnT w="12700" cap="flat" cmpd="sng" algn="ctr">
                      <a:solidFill>
                        <a:schemeClr val="bg2">
                          <a:lumMod val="20000"/>
                          <a:lumOff val="80000"/>
                        </a:schemeClr>
                      </a:solidFill>
                      <a:prstDash val="solid"/>
                      <a:round/>
                      <a:headEnd type="none" w="med" len="med"/>
                      <a:tailEnd type="none" w="med" len="med"/>
                    </a:lnT>
                    <a:solidFill>
                      <a:srgbClr val="006455"/>
                    </a:solidFill>
                  </a:tcPr>
                </a:tc>
                <a:tc>
                  <a:txBody>
                    <a:bodyPr/>
                    <a:lstStyle/>
                    <a:p>
                      <a:pPr algn="ctr">
                        <a:defRPr sz="1200" b="1">
                          <a:solidFill>
                            <a:srgbClr val="FFFFFF"/>
                          </a:solidFill>
                          <a:latin typeface="Montserrat"/>
                        </a:defRPr>
                      </a:pPr>
                      <a:r>
                        <a:t>Avance 2026</a:t>
                      </a:r>
                    </a:p>
                  </a:txBody>
                  <a:tcPr anchor="ctr">
                    <a:lnT w="12700" cap="flat" cmpd="sng" algn="ctr">
                      <a:solidFill>
                        <a:schemeClr val="bg2">
                          <a:lumMod val="20000"/>
                          <a:lumOff val="80000"/>
                        </a:schemeClr>
                      </a:solidFill>
                      <a:prstDash val="solid"/>
                      <a:round/>
                      <a:headEnd type="none" w="med" len="med"/>
                      <a:tailEnd type="none" w="med" len="med"/>
                    </a:lnT>
                    <a:solidFill>
                      <a:srgbClr val="980000"/>
                    </a:solidFill>
                  </a:tcPr>
                </a:tc>
                <a:tc>
                  <a:txBody>
                    <a:bodyPr/>
                    <a:lstStyle/>
                    <a:p>
                      <a:pPr algn="ctr">
                        <a:defRPr sz="1200" b="1">
                          <a:solidFill>
                            <a:srgbClr val="FFFFFF"/>
                          </a:solidFill>
                          <a:latin typeface="Montserrat"/>
                        </a:defRPr>
                      </a:pPr>
                      <a:r>
                        <a:t>Meta 2026</a:t>
                      </a:r>
                    </a:p>
                  </a:txBody>
                  <a:tcPr anchor="ctr">
                    <a:lnT w="12700" cap="flat" cmpd="sng" algn="ctr">
                      <a:solidFill>
                        <a:schemeClr val="bg2">
                          <a:lumMod val="20000"/>
                          <a:lumOff val="80000"/>
                        </a:schemeClr>
                      </a:solidFill>
                      <a:prstDash val="solid"/>
                      <a:round/>
                      <a:headEnd type="none" w="med" len="med"/>
                      <a:tailEnd type="none" w="med" len="med"/>
                    </a:lnT>
                    <a:solidFill>
                      <a:srgbClr val="980000"/>
                    </a:solidFill>
                  </a:tcPr>
                </a:tc>
                <a:tc>
                  <a:txBody>
                    <a:bodyPr/>
                    <a:lstStyle/>
                    <a:p>
                      <a:pPr algn="ctr">
                        <a:defRPr sz="1200" b="1">
                          <a:solidFill>
                            <a:srgbClr val="FFFFFF"/>
                          </a:solidFill>
                          <a:latin typeface="Montserrat"/>
                        </a:defRPr>
                      </a:pPr>
                      <a:r>
                        <a:t>% avance anual</a:t>
                      </a:r>
                    </a:p>
                  </a:txBody>
                  <a:tcPr anchor="ctr">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solidFill>
                      <a:srgbClr val="980000"/>
                    </a:solidFill>
                  </a:tcPr>
                </a:tc>
                <a:extLst>
                  <a:ext uri="{0D108BD9-81ED-4DB2-BD59-A6C34878D82A}">
                    <a16:rowId xmlns:a16="http://schemas.microsoft.com/office/drawing/2014/main" val="10000"/>
                  </a:ext>
                </a:extLst>
              </a:tr>
              <a:tr h="396000">
                <a:tc>
                  <a:txBody>
                    <a:bodyPr/>
                    <a:lstStyle/>
                    <a:p>
                      <a:pPr algn="l">
                        <a:defRPr sz="1000" b="1">
                          <a:solidFill>
                            <a:srgbClr val="FFFFFF"/>
                          </a:solidFill>
                          <a:latin typeface="Montserrat"/>
                        </a:defRPr>
                      </a:pPr>
                      <a:r>
                        <a:rPr sz="1050"/>
                        <a:t>Consultas</a:t>
                      </a:r>
                    </a:p>
                    <a:p>
                      <a:pPr algn="l">
                        <a:defRPr sz="1000" b="1">
                          <a:solidFill>
                            <a:srgbClr val="FFFFFF"/>
                          </a:solidFill>
                          <a:latin typeface="Montserrat"/>
                        </a:defRPr>
                      </a:pPr>
                      <a:r>
                        <a:rPr sz="1050"/>
                        <a:t>de Medicina Familiar¹</a:t>
                      </a:r>
                    </a:p>
                  </a:txBody>
                  <a:tcPr marL="0" marR="0" marT="0" marB="0" anchor="ctr">
                    <a:lnL w="12700" cap="flat" cmpd="sng" algn="ctr">
                      <a:solidFill>
                        <a:schemeClr val="bg2">
                          <a:lumMod val="20000"/>
                          <a:lumOff val="80000"/>
                        </a:schemeClr>
                      </a:solidFill>
                      <a:prstDash val="solid"/>
                      <a:round/>
                      <a:headEnd type="none" w="med" len="med"/>
                      <a:tailEnd type="none" w="med" len="med"/>
                    </a:lnL>
                    <a:solidFill>
                      <a:srgbClr val="006455"/>
                    </a:solidFill>
                  </a:tcPr>
                </a:tc>
                <a:tc>
                  <a:txBody>
                    <a:bodyPr/>
                    <a:lstStyle/>
                    <a:p>
                      <a:pPr algn="ctr">
                        <a:defRPr sz="1000">
                          <a:solidFill>
                            <a:srgbClr val="404040"/>
                          </a:solidFill>
                          <a:latin typeface="Montserrat"/>
                        </a:defRPr>
                      </a:pPr>
                      <a:r>
                        <a:rPr sz="1050"/>
                        <a:t>4,081,467</a:t>
                      </a:r>
                    </a:p>
                  </a:txBody>
                  <a:tcPr marL="0" marR="0" marT="0" marB="0" anchor="ctr">
                    <a:solidFill>
                      <a:srgbClr val="FFFFFF"/>
                    </a:solidFill>
                  </a:tcPr>
                </a:tc>
                <a:tc>
                  <a:txBody>
                    <a:bodyPr/>
                    <a:lstStyle/>
                    <a:p>
                      <a:pPr algn="ctr">
                        <a:defRPr sz="1000">
                          <a:solidFill>
                            <a:srgbClr val="404040"/>
                          </a:solidFill>
                          <a:latin typeface="Montserrat"/>
                        </a:defRPr>
                      </a:pPr>
                      <a:r>
                        <a:rPr sz="1050"/>
                        <a:t>185,290</a:t>
                      </a:r>
                    </a:p>
                  </a:txBody>
                  <a:tcPr marL="0" marR="0" marT="0" marB="0" anchor="ctr">
                    <a:solidFill>
                      <a:srgbClr val="FFFFFF"/>
                    </a:solidFill>
                  </a:tcPr>
                </a:tc>
                <a:tc>
                  <a:txBody>
                    <a:bodyPr/>
                    <a:lstStyle/>
                    <a:p>
                      <a:pPr algn="ctr">
                        <a:defRPr sz="1000" b="1">
                          <a:solidFill>
                            <a:srgbClr val="980000"/>
                          </a:solidFill>
                          <a:latin typeface="Montserrat"/>
                        </a:defRPr>
                      </a:pPr>
                      <a:r>
                        <a:rPr sz="1050"/>
                        <a:t>1,903,702</a:t>
                      </a:r>
                    </a:p>
                  </a:txBody>
                  <a:tcPr marL="0" marR="0" marT="0" marB="0" anchor="ctr">
                    <a:solidFill>
                      <a:srgbClr val="ECD3D9"/>
                    </a:solidFill>
                  </a:tcPr>
                </a:tc>
                <a:tc>
                  <a:txBody>
                    <a:bodyPr/>
                    <a:lstStyle/>
                    <a:p>
                      <a:pPr algn="ctr">
                        <a:defRPr sz="1000" b="1">
                          <a:solidFill>
                            <a:srgbClr val="980000"/>
                          </a:solidFill>
                          <a:latin typeface="Montserrat"/>
                        </a:defRPr>
                      </a:pPr>
                      <a:r>
                        <a:rPr sz="1050"/>
                        <a:t>4,193,748</a:t>
                      </a:r>
                    </a:p>
                  </a:txBody>
                  <a:tcPr marL="0" marR="0" marT="0" marB="0" anchor="ctr">
                    <a:solidFill>
                      <a:srgbClr val="ECD3D9"/>
                    </a:solidFill>
                  </a:tcPr>
                </a:tc>
                <a:tc>
                  <a:txBody>
                    <a:bodyPr/>
                    <a:lstStyle/>
                    <a:p>
                      <a:pPr algn="ctr">
                        <a:defRPr sz="1000" b="1">
                          <a:solidFill>
                            <a:srgbClr val="980000"/>
                          </a:solidFill>
                          <a:latin typeface="Montserrat"/>
                        </a:defRPr>
                      </a:pPr>
                      <a:r>
                        <a:rPr sz="1050"/>
                        <a:t>45.4%</a:t>
                      </a:r>
                    </a:p>
                  </a:txBody>
                  <a:tcPr marL="0" marR="0" marT="0" marB="0" anchor="ctr">
                    <a:lnR w="12700" cap="flat" cmpd="sng" algn="ctr">
                      <a:solidFill>
                        <a:schemeClr val="bg2">
                          <a:lumMod val="20000"/>
                          <a:lumOff val="80000"/>
                        </a:schemeClr>
                      </a:solidFill>
                      <a:prstDash val="solid"/>
                      <a:round/>
                      <a:headEnd type="none" w="med" len="med"/>
                      <a:tailEnd type="none" w="med" len="med"/>
                    </a:lnR>
                    <a:solidFill>
                      <a:srgbClr val="ECD3D9"/>
                    </a:solidFill>
                  </a:tcPr>
                </a:tc>
                <a:extLst>
                  <a:ext uri="{0D108BD9-81ED-4DB2-BD59-A6C34878D82A}">
                    <a16:rowId xmlns:a16="http://schemas.microsoft.com/office/drawing/2014/main" val="10001"/>
                  </a:ext>
                </a:extLst>
              </a:tr>
              <a:tr h="396000">
                <a:tc>
                  <a:txBody>
                    <a:bodyPr/>
                    <a:lstStyle/>
                    <a:p>
                      <a:pPr algn="l">
                        <a:defRPr sz="1000" b="1">
                          <a:solidFill>
                            <a:srgbClr val="FFFFFF"/>
                          </a:solidFill>
                          <a:latin typeface="Montserrat"/>
                        </a:defRPr>
                      </a:pPr>
                      <a:r>
                        <a:rPr sz="1050"/>
                        <a:t>Consultas</a:t>
                      </a:r>
                    </a:p>
                    <a:p>
                      <a:pPr algn="l">
                        <a:defRPr sz="1000" b="1">
                          <a:solidFill>
                            <a:srgbClr val="FFFFFF"/>
                          </a:solidFill>
                          <a:latin typeface="Montserrat"/>
                        </a:defRPr>
                      </a:pPr>
                      <a:r>
                        <a:rPr sz="1050"/>
                        <a:t>de Especialidad</a:t>
                      </a:r>
                    </a:p>
                  </a:txBody>
                  <a:tcPr marL="0" marR="0" marT="0" marB="0" anchor="ctr">
                    <a:lnL w="12700" cap="flat" cmpd="sng" algn="ctr">
                      <a:solidFill>
                        <a:schemeClr val="bg2">
                          <a:lumMod val="20000"/>
                          <a:lumOff val="80000"/>
                        </a:schemeClr>
                      </a:solidFill>
                      <a:prstDash val="solid"/>
                      <a:round/>
                      <a:headEnd type="none" w="med" len="med"/>
                      <a:tailEnd type="none" w="med" len="med"/>
                    </a:lnL>
                    <a:solidFill>
                      <a:srgbClr val="006455"/>
                    </a:solidFill>
                  </a:tcPr>
                </a:tc>
                <a:tc>
                  <a:txBody>
                    <a:bodyPr/>
                    <a:lstStyle/>
                    <a:p>
                      <a:pPr algn="ctr">
                        <a:defRPr sz="1000">
                          <a:solidFill>
                            <a:srgbClr val="404040"/>
                          </a:solidFill>
                          <a:latin typeface="Montserrat"/>
                        </a:defRPr>
                      </a:pPr>
                      <a:r>
                        <a:rPr sz="1050"/>
                        <a:t>1,189,767</a:t>
                      </a:r>
                    </a:p>
                  </a:txBody>
                  <a:tcPr marL="0" marR="0" marT="0" marB="0" anchor="ctr">
                    <a:solidFill>
                      <a:srgbClr val="EFEFEF"/>
                    </a:solidFill>
                  </a:tcPr>
                </a:tc>
                <a:tc>
                  <a:txBody>
                    <a:bodyPr/>
                    <a:lstStyle/>
                    <a:p>
                      <a:pPr algn="ctr">
                        <a:defRPr sz="1000">
                          <a:solidFill>
                            <a:srgbClr val="404040"/>
                          </a:solidFill>
                          <a:latin typeface="Montserrat"/>
                        </a:defRPr>
                      </a:pPr>
                      <a:r>
                        <a:rPr sz="1050"/>
                        <a:t>294,100</a:t>
                      </a:r>
                    </a:p>
                  </a:txBody>
                  <a:tcPr marL="0" marR="0" marT="0" marB="0" anchor="ctr">
                    <a:solidFill>
                      <a:srgbClr val="EFEFEF"/>
                    </a:solidFill>
                  </a:tcPr>
                </a:tc>
                <a:tc>
                  <a:txBody>
                    <a:bodyPr/>
                    <a:lstStyle/>
                    <a:p>
                      <a:pPr algn="ctr">
                        <a:defRPr sz="1000" b="1">
                          <a:solidFill>
                            <a:srgbClr val="980000"/>
                          </a:solidFill>
                          <a:latin typeface="Montserrat"/>
                        </a:defRPr>
                      </a:pPr>
                      <a:r>
                        <a:rPr sz="1050"/>
                        <a:t>579,173</a:t>
                      </a:r>
                    </a:p>
                  </a:txBody>
                  <a:tcPr marL="0" marR="0" marT="0" marB="0" anchor="ctr">
                    <a:solidFill>
                      <a:srgbClr val="F4E3E7"/>
                    </a:solidFill>
                  </a:tcPr>
                </a:tc>
                <a:tc>
                  <a:txBody>
                    <a:bodyPr/>
                    <a:lstStyle/>
                    <a:p>
                      <a:pPr algn="ctr">
                        <a:defRPr sz="1000" b="1">
                          <a:solidFill>
                            <a:srgbClr val="980000"/>
                          </a:solidFill>
                          <a:latin typeface="Montserrat"/>
                        </a:defRPr>
                      </a:pPr>
                      <a:r>
                        <a:rPr sz="1050"/>
                        <a:t>1,406,345</a:t>
                      </a:r>
                    </a:p>
                  </a:txBody>
                  <a:tcPr marL="0" marR="0" marT="0" marB="0" anchor="ctr">
                    <a:solidFill>
                      <a:srgbClr val="F4E3E7"/>
                    </a:solidFill>
                  </a:tcPr>
                </a:tc>
                <a:tc>
                  <a:txBody>
                    <a:bodyPr/>
                    <a:lstStyle/>
                    <a:p>
                      <a:pPr algn="ctr">
                        <a:defRPr sz="1000" b="1">
                          <a:solidFill>
                            <a:srgbClr val="980000"/>
                          </a:solidFill>
                          <a:latin typeface="Montserrat"/>
                        </a:defRPr>
                      </a:pPr>
                      <a:r>
                        <a:rPr sz="1050"/>
                        <a:t>41.2%</a:t>
                      </a:r>
                    </a:p>
                  </a:txBody>
                  <a:tcPr marL="0" marR="0" marT="0" marB="0" anchor="ctr">
                    <a:lnR w="12700" cap="flat" cmpd="sng" algn="ctr">
                      <a:solidFill>
                        <a:schemeClr val="bg2">
                          <a:lumMod val="20000"/>
                          <a:lumOff val="80000"/>
                        </a:schemeClr>
                      </a:solidFill>
                      <a:prstDash val="solid"/>
                      <a:round/>
                      <a:headEnd type="none" w="med" len="med"/>
                      <a:tailEnd type="none" w="med" len="med"/>
                    </a:lnR>
                    <a:solidFill>
                      <a:srgbClr val="F4E3E7"/>
                    </a:solidFill>
                  </a:tcPr>
                </a:tc>
                <a:extLst>
                  <a:ext uri="{0D108BD9-81ED-4DB2-BD59-A6C34878D82A}">
                    <a16:rowId xmlns:a16="http://schemas.microsoft.com/office/drawing/2014/main" val="10002"/>
                  </a:ext>
                </a:extLst>
              </a:tr>
              <a:tr h="396000">
                <a:tc>
                  <a:txBody>
                    <a:bodyPr/>
                    <a:lstStyle/>
                    <a:p>
                      <a:pPr algn="l">
                        <a:defRPr sz="1000" b="1">
                          <a:solidFill>
                            <a:srgbClr val="FFFFFF"/>
                          </a:solidFill>
                          <a:latin typeface="Montserrat"/>
                        </a:defRPr>
                      </a:pPr>
                      <a:r>
                        <a:rPr sz="1050" err="1"/>
                        <a:t>Cirugías</a:t>
                      </a:r>
                      <a:endParaRPr sz="1050"/>
                    </a:p>
                  </a:txBody>
                  <a:tcPr marL="0" marR="0" marT="0" marB="0" anchor="ctr">
                    <a:lnL w="12700" cap="flat" cmpd="sng" algn="ctr">
                      <a:solidFill>
                        <a:schemeClr val="bg2">
                          <a:lumMod val="20000"/>
                          <a:lumOff val="80000"/>
                        </a:schemeClr>
                      </a:solidFill>
                      <a:prstDash val="solid"/>
                      <a:round/>
                      <a:headEnd type="none" w="med" len="med"/>
                      <a:tailEnd type="none" w="med" len="med"/>
                    </a:lnL>
                    <a:lnB w="12700" cap="flat" cmpd="sng" algn="ctr">
                      <a:solidFill>
                        <a:schemeClr val="bg2">
                          <a:lumMod val="20000"/>
                          <a:lumOff val="80000"/>
                        </a:schemeClr>
                      </a:solidFill>
                      <a:prstDash val="solid"/>
                      <a:round/>
                      <a:headEnd type="none" w="med" len="med"/>
                      <a:tailEnd type="none" w="med" len="med"/>
                    </a:lnB>
                    <a:solidFill>
                      <a:srgbClr val="006455"/>
                    </a:solidFill>
                  </a:tcPr>
                </a:tc>
                <a:tc>
                  <a:txBody>
                    <a:bodyPr/>
                    <a:lstStyle/>
                    <a:p>
                      <a:pPr algn="ctr">
                        <a:defRPr sz="1000">
                          <a:solidFill>
                            <a:srgbClr val="404040"/>
                          </a:solidFill>
                          <a:latin typeface="Montserrat"/>
                        </a:defRPr>
                      </a:pPr>
                      <a:r>
                        <a:rPr sz="1050"/>
                        <a:t>85,692</a:t>
                      </a:r>
                    </a:p>
                  </a:txBody>
                  <a:tcPr marL="0" marR="0" marT="0" marB="0" anchor="ctr">
                    <a:lnB w="12700" cap="flat" cmpd="sng" algn="ctr">
                      <a:solidFill>
                        <a:schemeClr val="bg2">
                          <a:lumMod val="20000"/>
                          <a:lumOff val="80000"/>
                        </a:schemeClr>
                      </a:solidFill>
                      <a:prstDash val="solid"/>
                      <a:round/>
                      <a:headEnd type="none" w="med" len="med"/>
                      <a:tailEnd type="none" w="med" len="med"/>
                    </a:lnB>
                    <a:solidFill>
                      <a:srgbClr val="FFFFFF"/>
                    </a:solidFill>
                  </a:tcPr>
                </a:tc>
                <a:tc>
                  <a:txBody>
                    <a:bodyPr/>
                    <a:lstStyle/>
                    <a:p>
                      <a:pPr algn="ctr">
                        <a:defRPr sz="1000">
                          <a:solidFill>
                            <a:srgbClr val="404040"/>
                          </a:solidFill>
                          <a:latin typeface="Montserrat"/>
                        </a:defRPr>
                      </a:pPr>
                      <a:r>
                        <a:rPr sz="1050"/>
                        <a:t>22,600</a:t>
                      </a:r>
                    </a:p>
                  </a:txBody>
                  <a:tcPr marL="0" marR="0" marT="0" marB="0" anchor="ctr">
                    <a:lnB w="12700" cap="flat" cmpd="sng" algn="ctr">
                      <a:solidFill>
                        <a:schemeClr val="bg2">
                          <a:lumMod val="20000"/>
                          <a:lumOff val="80000"/>
                        </a:schemeClr>
                      </a:solidFill>
                      <a:prstDash val="solid"/>
                      <a:round/>
                      <a:headEnd type="none" w="med" len="med"/>
                      <a:tailEnd type="none" w="med" len="med"/>
                    </a:lnB>
                    <a:solidFill>
                      <a:srgbClr val="FFFFFF"/>
                    </a:solidFill>
                  </a:tcPr>
                </a:tc>
                <a:tc>
                  <a:txBody>
                    <a:bodyPr/>
                    <a:lstStyle/>
                    <a:p>
                      <a:pPr algn="ctr">
                        <a:defRPr sz="1000" b="1">
                          <a:solidFill>
                            <a:srgbClr val="980000"/>
                          </a:solidFill>
                          <a:latin typeface="Montserrat"/>
                        </a:defRPr>
                      </a:pPr>
                      <a:r>
                        <a:rPr sz="1050"/>
                        <a:t>43,880</a:t>
                      </a:r>
                    </a:p>
                  </a:txBody>
                  <a:tcPr marL="0" marR="0" marT="0" marB="0" anchor="ctr">
                    <a:lnB w="12700" cap="flat" cmpd="sng" algn="ctr">
                      <a:solidFill>
                        <a:schemeClr val="bg2">
                          <a:lumMod val="20000"/>
                          <a:lumOff val="80000"/>
                        </a:schemeClr>
                      </a:solidFill>
                      <a:prstDash val="solid"/>
                      <a:round/>
                      <a:headEnd type="none" w="med" len="med"/>
                      <a:tailEnd type="none" w="med" len="med"/>
                    </a:lnB>
                    <a:solidFill>
                      <a:srgbClr val="ECD3D9"/>
                    </a:solidFill>
                  </a:tcPr>
                </a:tc>
                <a:tc>
                  <a:txBody>
                    <a:bodyPr/>
                    <a:lstStyle/>
                    <a:p>
                      <a:pPr algn="ctr">
                        <a:defRPr sz="1000" b="1">
                          <a:solidFill>
                            <a:srgbClr val="980000"/>
                          </a:solidFill>
                          <a:latin typeface="Montserrat"/>
                        </a:defRPr>
                      </a:pPr>
                      <a:r>
                        <a:rPr sz="1050"/>
                        <a:t>102,542</a:t>
                      </a:r>
                    </a:p>
                  </a:txBody>
                  <a:tcPr marL="0" marR="0" marT="0" marB="0" anchor="ctr">
                    <a:lnB w="12700" cap="flat" cmpd="sng" algn="ctr">
                      <a:solidFill>
                        <a:schemeClr val="bg2">
                          <a:lumMod val="20000"/>
                          <a:lumOff val="80000"/>
                        </a:schemeClr>
                      </a:solidFill>
                      <a:prstDash val="solid"/>
                      <a:round/>
                      <a:headEnd type="none" w="med" len="med"/>
                      <a:tailEnd type="none" w="med" len="med"/>
                    </a:lnB>
                    <a:solidFill>
                      <a:srgbClr val="ECD3D9"/>
                    </a:solidFill>
                  </a:tcPr>
                </a:tc>
                <a:tc>
                  <a:txBody>
                    <a:bodyPr/>
                    <a:lstStyle/>
                    <a:p>
                      <a:pPr algn="ctr">
                        <a:defRPr sz="1000" b="1">
                          <a:solidFill>
                            <a:srgbClr val="980000"/>
                          </a:solidFill>
                          <a:latin typeface="Montserrat"/>
                        </a:defRPr>
                      </a:pPr>
                      <a:r>
                        <a:rPr sz="1050"/>
                        <a:t>42.8%</a:t>
                      </a:r>
                    </a:p>
                  </a:txBody>
                  <a:tcPr marL="0" marR="0" marT="0" marB="0" anchor="ctr">
                    <a:lnR w="12700" cap="flat" cmpd="sng" algn="ctr">
                      <a:solidFill>
                        <a:schemeClr val="bg2">
                          <a:lumMod val="20000"/>
                          <a:lumOff val="80000"/>
                        </a:schemeClr>
                      </a:solidFill>
                      <a:prstDash val="solid"/>
                      <a:round/>
                      <a:headEnd type="none" w="med" len="med"/>
                      <a:tailEnd type="none" w="med" len="med"/>
                    </a:lnR>
                    <a:lnB w="12700" cap="flat" cmpd="sng" algn="ctr">
                      <a:solidFill>
                        <a:schemeClr val="bg2">
                          <a:lumMod val="20000"/>
                          <a:lumOff val="80000"/>
                        </a:schemeClr>
                      </a:solidFill>
                      <a:prstDash val="solid"/>
                      <a:round/>
                      <a:headEnd type="none" w="med" len="med"/>
                      <a:tailEnd type="none" w="med" len="med"/>
                    </a:lnB>
                    <a:solidFill>
                      <a:srgbClr val="ECD3D9"/>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48044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39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32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9561600"/>
            <a:ext cx="7473600" cy="399600"/>
          </a:xfrm>
          <a:prstGeom prst="rect">
            <a:avLst/>
          </a:prstGeom>
          <a:noFill/>
        </p:spPr>
        <p:txBody>
          <a:bodyPr wrap="square" lIns="0" tIns="0" rIns="0" bIns="0">
            <a:spAutoFit/>
          </a:bodyPr>
          <a:lstStyle/>
          <a:p>
            <a:pPr algn="l">
              <a:defRPr sz="800">
                <a:solidFill>
                  <a:srgbClr val="FFFFFF"/>
                </a:solidFill>
                <a:latin typeface="Montserrat"/>
              </a:defRPr>
            </a:pPr>
            <a:r>
              <a:t>En el año 2025 no incluye información de HR y UMR</a:t>
            </a:r>
            <a:br/>
            <a:r>
              <a:t>No incluye Unidades Auxiliares de Medicina Familiar, ni hospitales con servicio de medicina familiar.</a:t>
            </a:r>
            <a:br/>
            <a:r>
              <a:t>El año de proceso inicia del 26 de diciembre del año anterior al 25 de diciembre del año en curso:2025 (del 26 de dic de 2024 al 25 de dic de 2025).</a:t>
            </a:r>
            <a:br/>
            <a:r>
              <a:t>Corte de información: Semana 24, 7 junio 2026</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5425440"/>
        </p:xfrm>
        <a:graphic>
          <a:graphicData uri="http://schemas.openxmlformats.org/drawingml/2006/table">
            <a:tbl>
              <a:tblPr firstRow="1" bandRow="1">
                <a:tableStyleId>{5C22544A-7EE6-4342-B048-85BDC9FD1C3A}</a:tableStyleId>
              </a:tblPr>
              <a:tblGrid>
                <a:gridCol w="1681200">
                  <a:extLst>
                    <a:ext uri="{9D8B030D-6E8A-4147-A177-3AD203B41FA5}">
                      <a16:colId xmlns:a16="http://schemas.microsoft.com/office/drawing/2014/main" val="20000"/>
                    </a:ext>
                  </a:extLst>
                </a:gridCol>
                <a:gridCol w="1206000">
                  <a:extLst>
                    <a:ext uri="{9D8B030D-6E8A-4147-A177-3AD203B41FA5}">
                      <a16:colId xmlns:a16="http://schemas.microsoft.com/office/drawing/2014/main" val="20001"/>
                    </a:ext>
                  </a:extLst>
                </a:gridCol>
                <a:gridCol w="1216800">
                  <a:extLst>
                    <a:ext uri="{9D8B030D-6E8A-4147-A177-3AD203B41FA5}">
                      <a16:colId xmlns:a16="http://schemas.microsoft.com/office/drawing/2014/main" val="20002"/>
                    </a:ext>
                  </a:extLst>
                </a:gridCol>
                <a:gridCol w="1256400">
                  <a:extLst>
                    <a:ext uri="{9D8B030D-6E8A-4147-A177-3AD203B41FA5}">
                      <a16:colId xmlns:a16="http://schemas.microsoft.com/office/drawing/2014/main" val="20003"/>
                    </a:ext>
                  </a:extLst>
                </a:gridCol>
                <a:gridCol w="827999">
                  <a:extLst>
                    <a:ext uri="{9D8B030D-6E8A-4147-A177-3AD203B41FA5}">
                      <a16:colId xmlns:a16="http://schemas.microsoft.com/office/drawing/2014/main" val="20004"/>
                    </a:ext>
                  </a:extLst>
                </a:gridCol>
                <a:gridCol w="1285200">
                  <a:extLst>
                    <a:ext uri="{9D8B030D-6E8A-4147-A177-3AD203B41FA5}">
                      <a16:colId xmlns:a16="http://schemas.microsoft.com/office/drawing/2014/main" val="20005"/>
                    </a:ext>
                  </a:extLst>
                </a:gridCol>
              </a:tblGrid>
              <a:tr h="151200">
                <a:tc>
                  <a:txBody>
                    <a:bodyPr/>
                    <a:lstStyle/>
                    <a:p>
                      <a:pPr algn="ctr">
                        <a:defRPr sz="1000" b="1">
                          <a:solidFill>
                            <a:srgbClr val="FFFFFF"/>
                          </a:solidFill>
                          <a:latin typeface="Montserrat"/>
                        </a:defRPr>
                      </a:pPr>
                      <a:r>
                        <a:t>Unidad</a:t>
                      </a:r>
                    </a:p>
                  </a:txBody>
                  <a:tcPr anchor="ctr">
                    <a:solidFill>
                      <a:srgbClr val="006455"/>
                    </a:solidFill>
                  </a:tcPr>
                </a:tc>
                <a:tc>
                  <a:txBody>
                    <a:bodyPr/>
                    <a:lstStyle/>
                    <a:p>
                      <a:pPr algn="ctr">
                        <a:defRPr sz="1000" b="1">
                          <a:solidFill>
                            <a:srgbClr val="FFFFFF"/>
                          </a:solidFill>
                          <a:latin typeface="Montserrat"/>
                        </a:defRPr>
                      </a:pPr>
                      <a:r>
                        <a:t>Consultas 2025</a:t>
                      </a:r>
                    </a:p>
                  </a:txBody>
                  <a:tcPr anchor="ctr">
                    <a:solidFill>
                      <a:srgbClr val="006455"/>
                    </a:solidFill>
                  </a:tcPr>
                </a:tc>
                <a:tc>
                  <a:txBody>
                    <a:bodyPr/>
                    <a:lstStyle/>
                    <a:p>
                      <a:pPr algn="ctr">
                        <a:defRPr sz="1000" b="1">
                          <a:solidFill>
                            <a:srgbClr val="FFFFFF"/>
                          </a:solidFill>
                          <a:latin typeface="Montserrat"/>
                        </a:defRPr>
                      </a:pPr>
                      <a:r>
                        <a:t>Incremento 2025 vs 2024</a:t>
                      </a:r>
                    </a:p>
                  </a:txBody>
                  <a:tcPr anchor="ctr">
                    <a:solidFill>
                      <a:srgbClr val="006455"/>
                    </a:solidFill>
                  </a:tcPr>
                </a:tc>
                <a:tc>
                  <a:txBody>
                    <a:bodyPr/>
                    <a:lstStyle/>
                    <a:p>
                      <a:pPr algn="ctr">
                        <a:defRPr sz="1000" b="1">
                          <a:solidFill>
                            <a:srgbClr val="FFFFFF"/>
                          </a:solidFill>
                          <a:latin typeface="Montserrat"/>
                        </a:defRPr>
                      </a:pPr>
                      <a:r>
                        <a:t>Avance 2026</a:t>
                      </a:r>
                    </a:p>
                  </a:txBody>
                  <a:tcPr anchor="ctr">
                    <a:solidFill>
                      <a:srgbClr val="9F2241"/>
                    </a:solidFill>
                  </a:tcPr>
                </a:tc>
                <a:tc>
                  <a:txBody>
                    <a:bodyPr/>
                    <a:lstStyle/>
                    <a:p>
                      <a:pPr algn="ctr">
                        <a:defRPr sz="1000" b="1">
                          <a:solidFill>
                            <a:srgbClr val="FFFFFF"/>
                          </a:solidFill>
                          <a:latin typeface="Montserrat"/>
                        </a:defRPr>
                      </a:pPr>
                      <a:r>
                        <a:t>Meta 2026</a:t>
                      </a:r>
                    </a:p>
                  </a:txBody>
                  <a:tcPr anchor="ctr">
                    <a:solidFill>
                      <a:srgbClr val="9F2241"/>
                    </a:solidFill>
                  </a:tcPr>
                </a:tc>
                <a:tc>
                  <a:txBody>
                    <a:bodyPr/>
                    <a:lstStyle/>
                    <a:p>
                      <a:pPr algn="ctr">
                        <a:defRPr sz="1000" b="1">
                          <a:solidFill>
                            <a:srgbClr val="FFFFFF"/>
                          </a:solidFill>
                          <a:latin typeface="Montserrat"/>
                        </a:defRPr>
                      </a:pPr>
                      <a:r>
                        <a:t>% avance anual</a:t>
                      </a:r>
                    </a:p>
                  </a:txBody>
                  <a:tcPr anchor="ctr">
                    <a:solidFill>
                      <a:srgbClr val="9F2241"/>
                    </a:solidFill>
                  </a:tcPr>
                </a:tc>
                <a:extLst>
                  <a:ext uri="{0D108BD9-81ED-4DB2-BD59-A6C34878D82A}">
                    <a16:rowId xmlns:a16="http://schemas.microsoft.com/office/drawing/2014/main" val="10000"/>
                  </a:ext>
                </a:extLst>
              </a:tr>
              <a:tr h="151200">
                <a:tc>
                  <a:txBody>
                    <a:bodyPr/>
                    <a:lstStyle/>
                    <a:p>
                      <a:pPr algn="l">
                        <a:defRPr sz="1000">
                          <a:latin typeface="Montserrat"/>
                        </a:defRPr>
                      </a:pPr>
                      <a:r>
                        <a:t>UMF 15 Villa Unión</a:t>
                      </a:r>
                    </a:p>
                  </a:txBody>
                  <a:tcPr marL="0" marR="0" marT="0" marB="0">
                    <a:solidFill>
                      <a:srgbClr val="FFFFFF"/>
                    </a:solidFill>
                  </a:tcPr>
                </a:tc>
                <a:tc>
                  <a:txBody>
                    <a:bodyPr/>
                    <a:lstStyle/>
                    <a:p>
                      <a:pPr algn="ctr">
                        <a:defRPr sz="1000">
                          <a:latin typeface="Montserrat"/>
                        </a:defRPr>
                      </a:pPr>
                      <a:r>
                        <a:t>12,467</a:t>
                      </a:r>
                    </a:p>
                  </a:txBody>
                  <a:tcPr marL="0" marR="0" marT="0" marB="0">
                    <a:solidFill>
                      <a:srgbClr val="FFFFFF"/>
                    </a:solidFill>
                  </a:tcPr>
                </a:tc>
                <a:tc>
                  <a:txBody>
                    <a:bodyPr/>
                    <a:lstStyle/>
                    <a:p>
                      <a:pPr algn="ctr">
                        <a:defRPr sz="1000">
                          <a:latin typeface="Montserrat"/>
                        </a:defRPr>
                      </a:pPr>
                      <a:r>
                        <a:t>-113</a:t>
                      </a:r>
                    </a:p>
                  </a:txBody>
                  <a:tcPr marL="0" marR="0" marT="0" marB="0">
                    <a:solidFill>
                      <a:srgbClr val="FFFFFF"/>
                    </a:solidFill>
                  </a:tcPr>
                </a:tc>
                <a:tc>
                  <a:txBody>
                    <a:bodyPr/>
                    <a:lstStyle/>
                    <a:p>
                      <a:pPr algn="ctr">
                        <a:defRPr sz="1000">
                          <a:latin typeface="Montserrat"/>
                        </a:defRPr>
                      </a:pPr>
                      <a:r>
                        <a:t>5,526</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42.5%</a:t>
                      </a:r>
                    </a:p>
                  </a:txBody>
                  <a:tcPr marL="0" marR="0" marT="0" marB="0">
                    <a:solidFill>
                      <a:srgbClr val="ECD3D9"/>
                    </a:solidFill>
                  </a:tcPr>
                </a:tc>
                <a:extLst>
                  <a:ext uri="{0D108BD9-81ED-4DB2-BD59-A6C34878D82A}">
                    <a16:rowId xmlns:a16="http://schemas.microsoft.com/office/drawing/2014/main" val="10001"/>
                  </a:ext>
                </a:extLst>
              </a:tr>
              <a:tr h="151200">
                <a:tc>
                  <a:txBody>
                    <a:bodyPr/>
                    <a:lstStyle/>
                    <a:p>
                      <a:pPr algn="l">
                        <a:defRPr sz="1000">
                          <a:latin typeface="Montserrat"/>
                        </a:defRPr>
                      </a:pPr>
                      <a:r>
                        <a:t>UMF 4 Arteaga</a:t>
                      </a:r>
                    </a:p>
                  </a:txBody>
                  <a:tcPr marL="0" marR="0" marT="0" marB="0">
                    <a:solidFill>
                      <a:srgbClr val="EFEFEF"/>
                    </a:solidFill>
                  </a:tcPr>
                </a:tc>
                <a:tc>
                  <a:txBody>
                    <a:bodyPr/>
                    <a:lstStyle/>
                    <a:p>
                      <a:pPr algn="ctr">
                        <a:defRPr sz="1000">
                          <a:latin typeface="Montserrat"/>
                        </a:defRPr>
                      </a:pPr>
                      <a:r>
                        <a:t>23,227</a:t>
                      </a:r>
                    </a:p>
                  </a:txBody>
                  <a:tcPr marL="0" marR="0" marT="0" marB="0">
                    <a:solidFill>
                      <a:srgbClr val="EFEFEF"/>
                    </a:solidFill>
                  </a:tcPr>
                </a:tc>
                <a:tc>
                  <a:txBody>
                    <a:bodyPr/>
                    <a:lstStyle/>
                    <a:p>
                      <a:pPr algn="ctr">
                        <a:defRPr sz="1000">
                          <a:latin typeface="Montserrat"/>
                        </a:defRPr>
                      </a:pPr>
                      <a:r>
                        <a:t>3,410</a:t>
                      </a:r>
                    </a:p>
                  </a:txBody>
                  <a:tcPr marL="0" marR="0" marT="0" marB="0">
                    <a:solidFill>
                      <a:srgbClr val="EFEFEF"/>
                    </a:solidFill>
                  </a:tcPr>
                </a:tc>
                <a:tc>
                  <a:txBody>
                    <a:bodyPr/>
                    <a:lstStyle/>
                    <a:p>
                      <a:pPr algn="ctr">
                        <a:defRPr sz="1000">
                          <a:latin typeface="Montserrat"/>
                        </a:defRPr>
                      </a:pPr>
                      <a:r>
                        <a:t>11,555</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46.1%</a:t>
                      </a:r>
                    </a:p>
                  </a:txBody>
                  <a:tcPr marL="0" marR="0" marT="0" marB="0">
                    <a:solidFill>
                      <a:srgbClr val="ECD3D9"/>
                    </a:solidFill>
                  </a:tcPr>
                </a:tc>
                <a:extLst>
                  <a:ext uri="{0D108BD9-81ED-4DB2-BD59-A6C34878D82A}">
                    <a16:rowId xmlns:a16="http://schemas.microsoft.com/office/drawing/2014/main" val="10002"/>
                  </a:ext>
                </a:extLst>
              </a:tr>
              <a:tr h="151200">
                <a:tc>
                  <a:txBody>
                    <a:bodyPr/>
                    <a:lstStyle/>
                    <a:p>
                      <a:pPr algn="l">
                        <a:defRPr sz="1000">
                          <a:latin typeface="Montserrat"/>
                        </a:defRPr>
                      </a:pPr>
                      <a:r>
                        <a:t>UMF 14 Zaragoza</a:t>
                      </a:r>
                    </a:p>
                  </a:txBody>
                  <a:tcPr marL="0" marR="0" marT="0" marB="0">
                    <a:solidFill>
                      <a:srgbClr val="FFFFFF"/>
                    </a:solidFill>
                  </a:tcPr>
                </a:tc>
                <a:tc>
                  <a:txBody>
                    <a:bodyPr/>
                    <a:lstStyle/>
                    <a:p>
                      <a:pPr algn="ctr">
                        <a:defRPr sz="1000">
                          <a:latin typeface="Montserrat"/>
                        </a:defRPr>
                      </a:pPr>
                      <a:r>
                        <a:t>23,155</a:t>
                      </a:r>
                    </a:p>
                  </a:txBody>
                  <a:tcPr marL="0" marR="0" marT="0" marB="0">
                    <a:solidFill>
                      <a:srgbClr val="FFFFFF"/>
                    </a:solidFill>
                  </a:tcPr>
                </a:tc>
                <a:tc>
                  <a:txBody>
                    <a:bodyPr/>
                    <a:lstStyle/>
                    <a:p>
                      <a:pPr algn="ctr">
                        <a:defRPr sz="1000">
                          <a:latin typeface="Montserrat"/>
                        </a:defRPr>
                      </a:pPr>
                      <a:r>
                        <a:t>443</a:t>
                      </a:r>
                    </a:p>
                  </a:txBody>
                  <a:tcPr marL="0" marR="0" marT="0" marB="0">
                    <a:solidFill>
                      <a:srgbClr val="FFFFFF"/>
                    </a:solidFill>
                  </a:tcPr>
                </a:tc>
                <a:tc>
                  <a:txBody>
                    <a:bodyPr/>
                    <a:lstStyle/>
                    <a:p>
                      <a:pPr algn="ctr">
                        <a:defRPr sz="1000">
                          <a:latin typeface="Montserrat"/>
                        </a:defRPr>
                      </a:pPr>
                      <a:r>
                        <a:t>8,818</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35.2%</a:t>
                      </a:r>
                    </a:p>
                  </a:txBody>
                  <a:tcPr marL="0" marR="0" marT="0" marB="0">
                    <a:solidFill>
                      <a:srgbClr val="ECD3D9"/>
                    </a:solidFill>
                  </a:tcPr>
                </a:tc>
                <a:extLst>
                  <a:ext uri="{0D108BD9-81ED-4DB2-BD59-A6C34878D82A}">
                    <a16:rowId xmlns:a16="http://schemas.microsoft.com/office/drawing/2014/main" val="10003"/>
                  </a:ext>
                </a:extLst>
              </a:tr>
              <a:tr h="151200">
                <a:tc>
                  <a:txBody>
                    <a:bodyPr/>
                    <a:lstStyle/>
                    <a:p>
                      <a:pPr algn="l">
                        <a:defRPr sz="1000">
                          <a:latin typeface="Montserrat"/>
                        </a:defRPr>
                      </a:pPr>
                      <a:r>
                        <a:t>UMF 10 S. Buenaventura</a:t>
                      </a:r>
                    </a:p>
                  </a:txBody>
                  <a:tcPr marL="0" marR="0" marT="0" marB="0">
                    <a:solidFill>
                      <a:srgbClr val="EFEFEF"/>
                    </a:solidFill>
                  </a:tcPr>
                </a:tc>
                <a:tc>
                  <a:txBody>
                    <a:bodyPr/>
                    <a:lstStyle/>
                    <a:p>
                      <a:pPr algn="ctr">
                        <a:defRPr sz="1000">
                          <a:latin typeface="Montserrat"/>
                        </a:defRPr>
                      </a:pPr>
                      <a:r>
                        <a:t>36,469</a:t>
                      </a:r>
                    </a:p>
                  </a:txBody>
                  <a:tcPr marL="0" marR="0" marT="0" marB="0">
                    <a:solidFill>
                      <a:srgbClr val="EFEFEF"/>
                    </a:solidFill>
                  </a:tcPr>
                </a:tc>
                <a:tc>
                  <a:txBody>
                    <a:bodyPr/>
                    <a:lstStyle/>
                    <a:p>
                      <a:pPr algn="ctr">
                        <a:defRPr sz="1000">
                          <a:latin typeface="Montserrat"/>
                        </a:defRPr>
                      </a:pPr>
                      <a:r>
                        <a:t>263</a:t>
                      </a:r>
                    </a:p>
                  </a:txBody>
                  <a:tcPr marL="0" marR="0" marT="0" marB="0">
                    <a:solidFill>
                      <a:srgbClr val="EFEFEF"/>
                    </a:solidFill>
                  </a:tcPr>
                </a:tc>
                <a:tc>
                  <a:txBody>
                    <a:bodyPr/>
                    <a:lstStyle/>
                    <a:p>
                      <a:pPr algn="ctr">
                        <a:defRPr sz="1000">
                          <a:latin typeface="Montserrat"/>
                        </a:defRPr>
                      </a:pPr>
                      <a:r>
                        <a:t>16,332</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43.5%</a:t>
                      </a:r>
                    </a:p>
                  </a:txBody>
                  <a:tcPr marL="0" marR="0" marT="0" marB="0">
                    <a:solidFill>
                      <a:srgbClr val="ECD3D9"/>
                    </a:solidFill>
                  </a:tcPr>
                </a:tc>
                <a:extLst>
                  <a:ext uri="{0D108BD9-81ED-4DB2-BD59-A6C34878D82A}">
                    <a16:rowId xmlns:a16="http://schemas.microsoft.com/office/drawing/2014/main" val="10004"/>
                  </a:ext>
                </a:extLst>
              </a:tr>
              <a:tr h="151200">
                <a:tc>
                  <a:txBody>
                    <a:bodyPr/>
                    <a:lstStyle/>
                    <a:p>
                      <a:pPr algn="l">
                        <a:defRPr sz="1000">
                          <a:latin typeface="Montserrat"/>
                        </a:defRPr>
                      </a:pPr>
                      <a:r>
                        <a:t>UMF 9 Villa Frontera</a:t>
                      </a:r>
                    </a:p>
                  </a:txBody>
                  <a:tcPr marL="0" marR="0" marT="0" marB="0">
                    <a:solidFill>
                      <a:srgbClr val="FFFFFF"/>
                    </a:solidFill>
                  </a:tcPr>
                </a:tc>
                <a:tc>
                  <a:txBody>
                    <a:bodyPr/>
                    <a:lstStyle/>
                    <a:p>
                      <a:pPr algn="ctr">
                        <a:defRPr sz="1000">
                          <a:latin typeface="Montserrat"/>
                        </a:defRPr>
                      </a:pPr>
                      <a:r>
                        <a:t>125,025</a:t>
                      </a:r>
                    </a:p>
                  </a:txBody>
                  <a:tcPr marL="0" marR="0" marT="0" marB="0">
                    <a:solidFill>
                      <a:srgbClr val="FFFFFF"/>
                    </a:solidFill>
                  </a:tcPr>
                </a:tc>
                <a:tc>
                  <a:txBody>
                    <a:bodyPr/>
                    <a:lstStyle/>
                    <a:p>
                      <a:pPr algn="ctr">
                        <a:defRPr sz="1000">
                          <a:latin typeface="Montserrat"/>
                        </a:defRPr>
                      </a:pPr>
                      <a:r>
                        <a:t>-5,274</a:t>
                      </a:r>
                    </a:p>
                  </a:txBody>
                  <a:tcPr marL="0" marR="0" marT="0" marB="0">
                    <a:solidFill>
                      <a:srgbClr val="FFFFFF"/>
                    </a:solidFill>
                  </a:tcPr>
                </a:tc>
                <a:tc>
                  <a:txBody>
                    <a:bodyPr/>
                    <a:lstStyle/>
                    <a:p>
                      <a:pPr algn="ctr">
                        <a:defRPr sz="1000">
                          <a:latin typeface="Montserrat"/>
                        </a:defRPr>
                      </a:pPr>
                      <a:r>
                        <a:t>56,272</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44.9%</a:t>
                      </a:r>
                    </a:p>
                  </a:txBody>
                  <a:tcPr marL="0" marR="0" marT="0" marB="0">
                    <a:solidFill>
                      <a:srgbClr val="ECD3D9"/>
                    </a:solidFill>
                  </a:tcPr>
                </a:tc>
                <a:extLst>
                  <a:ext uri="{0D108BD9-81ED-4DB2-BD59-A6C34878D82A}">
                    <a16:rowId xmlns:a16="http://schemas.microsoft.com/office/drawing/2014/main" val="10005"/>
                  </a:ext>
                </a:extLst>
              </a:tr>
              <a:tr h="151200">
                <a:tc>
                  <a:txBody>
                    <a:bodyPr/>
                    <a:lstStyle/>
                    <a:p>
                      <a:pPr algn="l">
                        <a:defRPr sz="1000">
                          <a:latin typeface="Montserrat"/>
                        </a:defRPr>
                      </a:pPr>
                      <a:r>
                        <a:t>UMF 31 Barroteran</a:t>
                      </a:r>
                    </a:p>
                  </a:txBody>
                  <a:tcPr marL="0" marR="0" marT="0" marB="0">
                    <a:solidFill>
                      <a:srgbClr val="EFEFEF"/>
                    </a:solidFill>
                  </a:tcPr>
                </a:tc>
                <a:tc>
                  <a:txBody>
                    <a:bodyPr/>
                    <a:lstStyle/>
                    <a:p>
                      <a:pPr algn="ctr">
                        <a:defRPr sz="1000">
                          <a:latin typeface="Montserrat"/>
                        </a:defRPr>
                      </a:pPr>
                      <a:r>
                        <a:t>34,345</a:t>
                      </a:r>
                    </a:p>
                  </a:txBody>
                  <a:tcPr marL="0" marR="0" marT="0" marB="0">
                    <a:solidFill>
                      <a:srgbClr val="EFEFEF"/>
                    </a:solidFill>
                  </a:tcPr>
                </a:tc>
                <a:tc>
                  <a:txBody>
                    <a:bodyPr/>
                    <a:lstStyle/>
                    <a:p>
                      <a:pPr algn="ctr">
                        <a:defRPr sz="1000">
                          <a:latin typeface="Montserrat"/>
                        </a:defRPr>
                      </a:pPr>
                      <a:r>
                        <a:t>3</a:t>
                      </a:r>
                    </a:p>
                  </a:txBody>
                  <a:tcPr marL="0" marR="0" marT="0" marB="0">
                    <a:solidFill>
                      <a:srgbClr val="EFEFEF"/>
                    </a:solidFill>
                  </a:tcPr>
                </a:tc>
                <a:tc>
                  <a:txBody>
                    <a:bodyPr/>
                    <a:lstStyle/>
                    <a:p>
                      <a:pPr algn="ctr">
                        <a:defRPr sz="1000">
                          <a:latin typeface="Montserrat"/>
                        </a:defRPr>
                      </a:pPr>
                      <a:r>
                        <a:t>16,987</a:t>
                      </a:r>
                    </a:p>
                  </a:txBody>
                  <a:tcPr marL="0" marR="0" marT="0" marB="0">
                    <a:solidFill>
                      <a:srgbClr val="ECD3D9"/>
                    </a:solidFill>
                  </a:tcPr>
                </a:tc>
                <a:tc>
                  <a:txBody>
                    <a:bodyPr/>
                    <a:lstStyle/>
                    <a:p>
                      <a:pPr algn="ctr">
                        <a:defRPr sz="1000">
                          <a:latin typeface="Montserrat"/>
                        </a:defRPr>
                      </a:pPr>
                      <a:r>
                        <a:t>40,716</a:t>
                      </a:r>
                    </a:p>
                  </a:txBody>
                  <a:tcPr marL="0" marR="0" marT="0" marB="0">
                    <a:solidFill>
                      <a:srgbClr val="ECD3D9"/>
                    </a:solidFill>
                  </a:tcPr>
                </a:tc>
                <a:tc>
                  <a:txBody>
                    <a:bodyPr/>
                    <a:lstStyle/>
                    <a:p>
                      <a:pPr algn="ctr">
                        <a:defRPr sz="1000">
                          <a:latin typeface="Montserrat"/>
                        </a:defRPr>
                      </a:pPr>
                      <a:r>
                        <a:t>41.7%</a:t>
                      </a:r>
                    </a:p>
                  </a:txBody>
                  <a:tcPr marL="0" marR="0" marT="0" marB="0">
                    <a:solidFill>
                      <a:srgbClr val="ECD3D9"/>
                    </a:solidFill>
                  </a:tcPr>
                </a:tc>
                <a:extLst>
                  <a:ext uri="{0D108BD9-81ED-4DB2-BD59-A6C34878D82A}">
                    <a16:rowId xmlns:a16="http://schemas.microsoft.com/office/drawing/2014/main" val="10006"/>
                  </a:ext>
                </a:extLst>
              </a:tr>
              <a:tr h="151200">
                <a:tc>
                  <a:txBody>
                    <a:bodyPr/>
                    <a:lstStyle/>
                    <a:p>
                      <a:pPr algn="l">
                        <a:defRPr sz="1000">
                          <a:latin typeface="Montserrat"/>
                        </a:defRPr>
                      </a:pPr>
                      <a:r>
                        <a:t>UMF 26 Agujita</a:t>
                      </a:r>
                    </a:p>
                  </a:txBody>
                  <a:tcPr marL="0" marR="0" marT="0" marB="0">
                    <a:solidFill>
                      <a:srgbClr val="FFFFFF"/>
                    </a:solidFill>
                  </a:tcPr>
                </a:tc>
                <a:tc>
                  <a:txBody>
                    <a:bodyPr/>
                    <a:lstStyle/>
                    <a:p>
                      <a:pPr algn="ctr">
                        <a:defRPr sz="1000">
                          <a:latin typeface="Montserrat"/>
                        </a:defRPr>
                      </a:pPr>
                      <a:r>
                        <a:t>25,109</a:t>
                      </a:r>
                    </a:p>
                  </a:txBody>
                  <a:tcPr marL="0" marR="0" marT="0" marB="0">
                    <a:solidFill>
                      <a:srgbClr val="FFFFFF"/>
                    </a:solidFill>
                  </a:tcPr>
                </a:tc>
                <a:tc>
                  <a:txBody>
                    <a:bodyPr/>
                    <a:lstStyle/>
                    <a:p>
                      <a:pPr algn="ctr">
                        <a:defRPr sz="1000">
                          <a:latin typeface="Montserrat"/>
                        </a:defRPr>
                      </a:pPr>
                      <a:r>
                        <a:t>1,132</a:t>
                      </a:r>
                    </a:p>
                  </a:txBody>
                  <a:tcPr marL="0" marR="0" marT="0" marB="0">
                    <a:solidFill>
                      <a:srgbClr val="FFFFFF"/>
                    </a:solidFill>
                  </a:tcPr>
                </a:tc>
                <a:tc>
                  <a:txBody>
                    <a:bodyPr/>
                    <a:lstStyle/>
                    <a:p>
                      <a:pPr algn="ctr">
                        <a:defRPr sz="1000">
                          <a:latin typeface="Montserrat"/>
                        </a:defRPr>
                      </a:pPr>
                      <a:r>
                        <a:t>10,897</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43.5%</a:t>
                      </a:r>
                    </a:p>
                  </a:txBody>
                  <a:tcPr marL="0" marR="0" marT="0" marB="0">
                    <a:solidFill>
                      <a:srgbClr val="ECD3D9"/>
                    </a:solidFill>
                  </a:tcPr>
                </a:tc>
                <a:extLst>
                  <a:ext uri="{0D108BD9-81ED-4DB2-BD59-A6C34878D82A}">
                    <a16:rowId xmlns:a16="http://schemas.microsoft.com/office/drawing/2014/main" val="10007"/>
                  </a:ext>
                </a:extLst>
              </a:tr>
              <a:tr h="151200">
                <a:tc>
                  <a:txBody>
                    <a:bodyPr/>
                    <a:lstStyle/>
                    <a:p>
                      <a:pPr algn="l">
                        <a:defRPr sz="1000">
                          <a:latin typeface="Montserrat"/>
                        </a:defRPr>
                      </a:pPr>
                      <a:r>
                        <a:t>UMF 32 San José Aura</a:t>
                      </a:r>
                    </a:p>
                  </a:txBody>
                  <a:tcPr marL="0" marR="0" marT="0" marB="0">
                    <a:solidFill>
                      <a:srgbClr val="EFEFEF"/>
                    </a:solidFill>
                  </a:tcPr>
                </a:tc>
                <a:tc>
                  <a:txBody>
                    <a:bodyPr/>
                    <a:lstStyle/>
                    <a:p>
                      <a:pPr algn="ctr">
                        <a:defRPr sz="1000">
                          <a:latin typeface="Montserrat"/>
                        </a:defRPr>
                      </a:pPr>
                      <a:r>
                        <a:t>11,086</a:t>
                      </a:r>
                    </a:p>
                  </a:txBody>
                  <a:tcPr marL="0" marR="0" marT="0" marB="0">
                    <a:solidFill>
                      <a:srgbClr val="EFEFEF"/>
                    </a:solidFill>
                  </a:tcPr>
                </a:tc>
                <a:tc>
                  <a:txBody>
                    <a:bodyPr/>
                    <a:lstStyle/>
                    <a:p>
                      <a:pPr algn="ctr">
                        <a:defRPr sz="1000">
                          <a:latin typeface="Montserrat"/>
                        </a:defRPr>
                      </a:pPr>
                      <a:r>
                        <a:t>5,421</a:t>
                      </a:r>
                    </a:p>
                  </a:txBody>
                  <a:tcPr marL="0" marR="0" marT="0" marB="0">
                    <a:solidFill>
                      <a:srgbClr val="EFEFEF"/>
                    </a:solidFill>
                  </a:tcPr>
                </a:tc>
                <a:tc>
                  <a:txBody>
                    <a:bodyPr/>
                    <a:lstStyle/>
                    <a:p>
                      <a:pPr algn="ctr">
                        <a:defRPr sz="1000">
                          <a:latin typeface="Montserrat"/>
                        </a:defRPr>
                      </a:pPr>
                      <a:r>
                        <a:t>5,502</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45.9%</a:t>
                      </a:r>
                    </a:p>
                  </a:txBody>
                  <a:tcPr marL="0" marR="0" marT="0" marB="0">
                    <a:solidFill>
                      <a:srgbClr val="ECD3D9"/>
                    </a:solidFill>
                  </a:tcPr>
                </a:tc>
                <a:extLst>
                  <a:ext uri="{0D108BD9-81ED-4DB2-BD59-A6C34878D82A}">
                    <a16:rowId xmlns:a16="http://schemas.microsoft.com/office/drawing/2014/main" val="10008"/>
                  </a:ext>
                </a:extLst>
              </a:tr>
              <a:tr h="151200">
                <a:tc>
                  <a:txBody>
                    <a:bodyPr/>
                    <a:lstStyle/>
                    <a:p>
                      <a:pPr algn="l">
                        <a:defRPr sz="1000">
                          <a:latin typeface="Montserrat"/>
                        </a:defRPr>
                      </a:pPr>
                      <a:r>
                        <a:t>UMF 28 Rancherías</a:t>
                      </a:r>
                    </a:p>
                  </a:txBody>
                  <a:tcPr marL="0" marR="0" marT="0" marB="0">
                    <a:solidFill>
                      <a:srgbClr val="FFFFFF"/>
                    </a:solidFill>
                  </a:tcPr>
                </a:tc>
                <a:tc>
                  <a:txBody>
                    <a:bodyPr/>
                    <a:lstStyle/>
                    <a:p>
                      <a:pPr algn="ctr">
                        <a:defRPr sz="1000">
                          <a:latin typeface="Montserrat"/>
                        </a:defRPr>
                      </a:pPr>
                      <a:r>
                        <a:t>3,808</a:t>
                      </a:r>
                    </a:p>
                  </a:txBody>
                  <a:tcPr marL="0" marR="0" marT="0" marB="0">
                    <a:solidFill>
                      <a:srgbClr val="FFFFFF"/>
                    </a:solidFill>
                  </a:tcPr>
                </a:tc>
                <a:tc>
                  <a:txBody>
                    <a:bodyPr/>
                    <a:lstStyle/>
                    <a:p>
                      <a:pPr algn="ctr">
                        <a:defRPr sz="1000">
                          <a:latin typeface="Montserrat"/>
                        </a:defRPr>
                      </a:pPr>
                      <a:r>
                        <a:t>311</a:t>
                      </a:r>
                    </a:p>
                  </a:txBody>
                  <a:tcPr marL="0" marR="0" marT="0" marB="0">
                    <a:solidFill>
                      <a:srgbClr val="FFFFFF"/>
                    </a:solidFill>
                  </a:tcPr>
                </a:tc>
                <a:tc>
                  <a:txBody>
                    <a:bodyPr/>
                    <a:lstStyle/>
                    <a:p>
                      <a:pPr algn="ctr">
                        <a:defRPr sz="1000">
                          <a:latin typeface="Montserrat"/>
                        </a:defRPr>
                      </a:pPr>
                      <a:r>
                        <a:t>2,138</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42.8%</a:t>
                      </a:r>
                    </a:p>
                  </a:txBody>
                  <a:tcPr marL="0" marR="0" marT="0" marB="0">
                    <a:solidFill>
                      <a:srgbClr val="ECD3D9"/>
                    </a:solidFill>
                  </a:tcPr>
                </a:tc>
                <a:extLst>
                  <a:ext uri="{0D108BD9-81ED-4DB2-BD59-A6C34878D82A}">
                    <a16:rowId xmlns:a16="http://schemas.microsoft.com/office/drawing/2014/main" val="10009"/>
                  </a:ext>
                </a:extLst>
              </a:tr>
              <a:tr h="151200">
                <a:tc>
                  <a:txBody>
                    <a:bodyPr/>
                    <a:lstStyle/>
                    <a:p>
                      <a:pPr algn="l">
                        <a:defRPr sz="1000">
                          <a:latin typeface="Montserrat"/>
                        </a:defRPr>
                      </a:pPr>
                      <a:r>
                        <a:t>UMF 50 Cuatro Ciénegas</a:t>
                      </a:r>
                    </a:p>
                  </a:txBody>
                  <a:tcPr marL="0" marR="0" marT="0" marB="0">
                    <a:solidFill>
                      <a:srgbClr val="EFEFEF"/>
                    </a:solidFill>
                  </a:tcPr>
                </a:tc>
                <a:tc>
                  <a:txBody>
                    <a:bodyPr/>
                    <a:lstStyle/>
                    <a:p>
                      <a:pPr algn="ctr">
                        <a:defRPr sz="1000">
                          <a:latin typeface="Montserrat"/>
                        </a:defRPr>
                      </a:pPr>
                      <a:r>
                        <a:t>12,280</a:t>
                      </a:r>
                    </a:p>
                  </a:txBody>
                  <a:tcPr marL="0" marR="0" marT="0" marB="0">
                    <a:solidFill>
                      <a:srgbClr val="EFEFEF"/>
                    </a:solidFill>
                  </a:tcPr>
                </a:tc>
                <a:tc>
                  <a:txBody>
                    <a:bodyPr/>
                    <a:lstStyle/>
                    <a:p>
                      <a:pPr algn="ctr">
                        <a:defRPr sz="1000">
                          <a:latin typeface="Montserrat"/>
                        </a:defRPr>
                      </a:pPr>
                      <a:r>
                        <a:t>-751</a:t>
                      </a:r>
                    </a:p>
                  </a:txBody>
                  <a:tcPr marL="0" marR="0" marT="0" marB="0">
                    <a:solidFill>
                      <a:srgbClr val="EFEFEF"/>
                    </a:solidFill>
                  </a:tcPr>
                </a:tc>
                <a:tc>
                  <a:txBody>
                    <a:bodyPr/>
                    <a:lstStyle/>
                    <a:p>
                      <a:pPr algn="ctr">
                        <a:defRPr sz="1000">
                          <a:latin typeface="Montserrat"/>
                        </a:defRPr>
                      </a:pPr>
                      <a:r>
                        <a:t>5,323</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40.9%</a:t>
                      </a:r>
                    </a:p>
                  </a:txBody>
                  <a:tcPr marL="0" marR="0" marT="0" marB="0">
                    <a:solidFill>
                      <a:srgbClr val="ECD3D9"/>
                    </a:solidFill>
                  </a:tcPr>
                </a:tc>
                <a:extLst>
                  <a:ext uri="{0D108BD9-81ED-4DB2-BD59-A6C34878D82A}">
                    <a16:rowId xmlns:a16="http://schemas.microsoft.com/office/drawing/2014/main" val="10010"/>
                  </a:ext>
                </a:extLst>
              </a:tr>
              <a:tr h="151200">
                <a:tc>
                  <a:txBody>
                    <a:bodyPr/>
                    <a:lstStyle/>
                    <a:p>
                      <a:pPr algn="l">
                        <a:defRPr sz="1000">
                          <a:latin typeface="Montserrat"/>
                        </a:defRPr>
                      </a:pPr>
                      <a:r>
                        <a:t>UMF 3 Ramos Arizpe</a:t>
                      </a:r>
                    </a:p>
                  </a:txBody>
                  <a:tcPr marL="0" marR="0" marT="0" marB="0">
                    <a:solidFill>
                      <a:srgbClr val="FFFFFF"/>
                    </a:solidFill>
                  </a:tcPr>
                </a:tc>
                <a:tc>
                  <a:txBody>
                    <a:bodyPr/>
                    <a:lstStyle/>
                    <a:p>
                      <a:pPr algn="ctr">
                        <a:defRPr sz="1000">
                          <a:latin typeface="Montserrat"/>
                        </a:defRPr>
                      </a:pPr>
                      <a:r>
                        <a:t>56,002</a:t>
                      </a:r>
                    </a:p>
                  </a:txBody>
                  <a:tcPr marL="0" marR="0" marT="0" marB="0">
                    <a:solidFill>
                      <a:srgbClr val="FFFFFF"/>
                    </a:solidFill>
                  </a:tcPr>
                </a:tc>
                <a:tc>
                  <a:txBody>
                    <a:bodyPr/>
                    <a:lstStyle/>
                    <a:p>
                      <a:pPr algn="ctr">
                        <a:defRPr sz="1000">
                          <a:latin typeface="Montserrat"/>
                        </a:defRPr>
                      </a:pPr>
                      <a:r>
                        <a:t>8,723</a:t>
                      </a:r>
                    </a:p>
                  </a:txBody>
                  <a:tcPr marL="0" marR="0" marT="0" marB="0">
                    <a:solidFill>
                      <a:srgbClr val="FFFFFF"/>
                    </a:solidFill>
                  </a:tcPr>
                </a:tc>
                <a:tc>
                  <a:txBody>
                    <a:bodyPr/>
                    <a:lstStyle/>
                    <a:p>
                      <a:pPr algn="ctr">
                        <a:defRPr sz="1000">
                          <a:latin typeface="Montserrat"/>
                        </a:defRPr>
                      </a:pPr>
                      <a:r>
                        <a:t>28,819</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46.0%</a:t>
                      </a:r>
                    </a:p>
                  </a:txBody>
                  <a:tcPr marL="0" marR="0" marT="0" marB="0">
                    <a:solidFill>
                      <a:srgbClr val="ECD3D9"/>
                    </a:solidFill>
                  </a:tcPr>
                </a:tc>
                <a:extLst>
                  <a:ext uri="{0D108BD9-81ED-4DB2-BD59-A6C34878D82A}">
                    <a16:rowId xmlns:a16="http://schemas.microsoft.com/office/drawing/2014/main" val="10011"/>
                  </a:ext>
                </a:extLst>
              </a:tr>
              <a:tr h="151200">
                <a:tc>
                  <a:txBody>
                    <a:bodyPr/>
                    <a:lstStyle/>
                    <a:p>
                      <a:pPr algn="l">
                        <a:defRPr sz="1000">
                          <a:latin typeface="Montserrat"/>
                        </a:defRPr>
                      </a:pPr>
                      <a:r>
                        <a:t>UMF 25 Melchor Muz</a:t>
                      </a:r>
                    </a:p>
                  </a:txBody>
                  <a:tcPr marL="0" marR="0" marT="0" marB="0">
                    <a:solidFill>
                      <a:srgbClr val="EFEFEF"/>
                    </a:solidFill>
                  </a:tcPr>
                </a:tc>
                <a:tc>
                  <a:txBody>
                    <a:bodyPr/>
                    <a:lstStyle/>
                    <a:p>
                      <a:pPr algn="ctr">
                        <a:defRPr sz="1000">
                          <a:latin typeface="Montserrat"/>
                        </a:defRPr>
                      </a:pPr>
                      <a:r>
                        <a:t>50,797</a:t>
                      </a:r>
                    </a:p>
                  </a:txBody>
                  <a:tcPr marL="0" marR="0" marT="0" marB="0">
                    <a:solidFill>
                      <a:srgbClr val="EFEFEF"/>
                    </a:solidFill>
                  </a:tcPr>
                </a:tc>
                <a:tc>
                  <a:txBody>
                    <a:bodyPr/>
                    <a:lstStyle/>
                    <a:p>
                      <a:pPr algn="ctr">
                        <a:defRPr sz="1000">
                          <a:latin typeface="Montserrat"/>
                        </a:defRPr>
                      </a:pPr>
                      <a:r>
                        <a:t>-4,674</a:t>
                      </a:r>
                    </a:p>
                  </a:txBody>
                  <a:tcPr marL="0" marR="0" marT="0" marB="0">
                    <a:solidFill>
                      <a:srgbClr val="EFEFEF"/>
                    </a:solidFill>
                  </a:tcPr>
                </a:tc>
                <a:tc>
                  <a:txBody>
                    <a:bodyPr/>
                    <a:lstStyle/>
                    <a:p>
                      <a:pPr algn="ctr">
                        <a:defRPr sz="1000">
                          <a:latin typeface="Montserrat"/>
                        </a:defRPr>
                      </a:pPr>
                      <a:r>
                        <a:t>23,410</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37.4%</a:t>
                      </a:r>
                    </a:p>
                  </a:txBody>
                  <a:tcPr marL="0" marR="0" marT="0" marB="0">
                    <a:solidFill>
                      <a:srgbClr val="ECD3D9"/>
                    </a:solidFill>
                  </a:tcPr>
                </a:tc>
                <a:extLst>
                  <a:ext uri="{0D108BD9-81ED-4DB2-BD59-A6C34878D82A}">
                    <a16:rowId xmlns:a16="http://schemas.microsoft.com/office/drawing/2014/main" val="10012"/>
                  </a:ext>
                </a:extLst>
              </a:tr>
              <a:tr h="151200">
                <a:tc>
                  <a:txBody>
                    <a:bodyPr/>
                    <a:lstStyle/>
                    <a:p>
                      <a:pPr algn="l">
                        <a:defRPr sz="1000">
                          <a:latin typeface="Montserrat"/>
                        </a:defRPr>
                      </a:pPr>
                      <a:r>
                        <a:t>UMF 23 Sabinas</a:t>
                      </a:r>
                    </a:p>
                  </a:txBody>
                  <a:tcPr marL="0" marR="0" marT="0" marB="0">
                    <a:solidFill>
                      <a:srgbClr val="FFFFFF"/>
                    </a:solidFill>
                  </a:tcPr>
                </a:tc>
                <a:tc>
                  <a:txBody>
                    <a:bodyPr/>
                    <a:lstStyle/>
                    <a:p>
                      <a:pPr algn="ctr">
                        <a:defRPr sz="1000">
                          <a:latin typeface="Montserrat"/>
                        </a:defRPr>
                      </a:pPr>
                      <a:r>
                        <a:t>75,158</a:t>
                      </a:r>
                    </a:p>
                  </a:txBody>
                  <a:tcPr marL="0" marR="0" marT="0" marB="0">
                    <a:solidFill>
                      <a:srgbClr val="FFFFFF"/>
                    </a:solidFill>
                  </a:tcPr>
                </a:tc>
                <a:tc>
                  <a:txBody>
                    <a:bodyPr/>
                    <a:lstStyle/>
                    <a:p>
                      <a:pPr algn="ctr">
                        <a:defRPr sz="1000">
                          <a:latin typeface="Montserrat"/>
                        </a:defRPr>
                      </a:pPr>
                      <a:r>
                        <a:t>7,325</a:t>
                      </a:r>
                    </a:p>
                  </a:txBody>
                  <a:tcPr marL="0" marR="0" marT="0" marB="0">
                    <a:solidFill>
                      <a:srgbClr val="FFFFFF"/>
                    </a:solidFill>
                  </a:tcPr>
                </a:tc>
                <a:tc>
                  <a:txBody>
                    <a:bodyPr/>
                    <a:lstStyle/>
                    <a:p>
                      <a:pPr algn="ctr">
                        <a:defRPr sz="1000">
                          <a:latin typeface="Montserrat"/>
                        </a:defRPr>
                      </a:pPr>
                      <a:r>
                        <a:t>33,619</a:t>
                      </a:r>
                    </a:p>
                  </a:txBody>
                  <a:tcPr marL="0" marR="0" marT="0" marB="0">
                    <a:solidFill>
                      <a:srgbClr val="ECD3D9"/>
                    </a:solidFill>
                  </a:tcPr>
                </a:tc>
                <a:tc>
                  <a:txBody>
                    <a:bodyPr/>
                    <a:lstStyle/>
                    <a:p>
                      <a:pPr algn="ctr">
                        <a:defRPr sz="1000">
                          <a:latin typeface="Montserrat"/>
                        </a:defRPr>
                      </a:pPr>
                      <a:r>
                        <a:t>75,168</a:t>
                      </a:r>
                    </a:p>
                  </a:txBody>
                  <a:tcPr marL="0" marR="0" marT="0" marB="0">
                    <a:solidFill>
                      <a:srgbClr val="ECD3D9"/>
                    </a:solidFill>
                  </a:tcPr>
                </a:tc>
                <a:tc>
                  <a:txBody>
                    <a:bodyPr/>
                    <a:lstStyle/>
                    <a:p>
                      <a:pPr algn="ctr">
                        <a:defRPr sz="1000">
                          <a:latin typeface="Montserrat"/>
                        </a:defRPr>
                      </a:pPr>
                      <a:r>
                        <a:t>44.7%</a:t>
                      </a:r>
                    </a:p>
                  </a:txBody>
                  <a:tcPr marL="0" marR="0" marT="0" marB="0">
                    <a:solidFill>
                      <a:srgbClr val="ECD3D9"/>
                    </a:solidFill>
                  </a:tcPr>
                </a:tc>
                <a:extLst>
                  <a:ext uri="{0D108BD9-81ED-4DB2-BD59-A6C34878D82A}">
                    <a16:rowId xmlns:a16="http://schemas.microsoft.com/office/drawing/2014/main" val="10013"/>
                  </a:ext>
                </a:extLst>
              </a:tr>
              <a:tr h="151200">
                <a:tc>
                  <a:txBody>
                    <a:bodyPr/>
                    <a:lstStyle/>
                    <a:p>
                      <a:pPr algn="l">
                        <a:defRPr sz="1000">
                          <a:latin typeface="Montserrat"/>
                        </a:defRPr>
                      </a:pPr>
                      <a:r>
                        <a:t>UMF 29 Esperanzas</a:t>
                      </a:r>
                    </a:p>
                  </a:txBody>
                  <a:tcPr marL="0" marR="0" marT="0" marB="0">
                    <a:solidFill>
                      <a:srgbClr val="EFEFEF"/>
                    </a:solidFill>
                  </a:tcPr>
                </a:tc>
                <a:tc>
                  <a:txBody>
                    <a:bodyPr/>
                    <a:lstStyle/>
                    <a:p>
                      <a:pPr algn="ctr">
                        <a:defRPr sz="1000">
                          <a:latin typeface="Montserrat"/>
                        </a:defRPr>
                      </a:pPr>
                      <a:r>
                        <a:t>11,128</a:t>
                      </a:r>
                    </a:p>
                  </a:txBody>
                  <a:tcPr marL="0" marR="0" marT="0" marB="0">
                    <a:solidFill>
                      <a:srgbClr val="EFEFEF"/>
                    </a:solidFill>
                  </a:tcPr>
                </a:tc>
                <a:tc>
                  <a:txBody>
                    <a:bodyPr/>
                    <a:lstStyle/>
                    <a:p>
                      <a:pPr algn="ctr">
                        <a:defRPr sz="1000">
                          <a:latin typeface="Montserrat"/>
                        </a:defRPr>
                      </a:pPr>
                      <a:r>
                        <a:t>3,746</a:t>
                      </a:r>
                    </a:p>
                  </a:txBody>
                  <a:tcPr marL="0" marR="0" marT="0" marB="0">
                    <a:solidFill>
                      <a:srgbClr val="EFEFEF"/>
                    </a:solidFill>
                  </a:tcPr>
                </a:tc>
                <a:tc>
                  <a:txBody>
                    <a:bodyPr/>
                    <a:lstStyle/>
                    <a:p>
                      <a:pPr algn="ctr">
                        <a:defRPr sz="1000">
                          <a:latin typeface="Montserrat"/>
                        </a:defRPr>
                      </a:pPr>
                      <a:r>
                        <a:t>5,620</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46.8%</a:t>
                      </a:r>
                    </a:p>
                  </a:txBody>
                  <a:tcPr marL="0" marR="0" marT="0" marB="0">
                    <a:solidFill>
                      <a:srgbClr val="ECD3D9"/>
                    </a:solidFill>
                  </a:tcPr>
                </a:tc>
                <a:extLst>
                  <a:ext uri="{0D108BD9-81ED-4DB2-BD59-A6C34878D82A}">
                    <a16:rowId xmlns:a16="http://schemas.microsoft.com/office/drawing/2014/main" val="10014"/>
                  </a:ext>
                </a:extLst>
              </a:tr>
              <a:tr h="151200">
                <a:tc>
                  <a:txBody>
                    <a:bodyPr/>
                    <a:lstStyle/>
                    <a:p>
                      <a:pPr algn="l">
                        <a:defRPr sz="1000">
                          <a:latin typeface="Montserrat"/>
                        </a:defRPr>
                      </a:pPr>
                      <a:r>
                        <a:t>UMRM 52 Ocampo</a:t>
                      </a:r>
                    </a:p>
                  </a:txBody>
                  <a:tcPr marL="0" marR="0" marT="0" marB="0">
                    <a:solidFill>
                      <a:srgbClr val="FFFFFF"/>
                    </a:solidFill>
                  </a:tcPr>
                </a:tc>
                <a:tc>
                  <a:txBody>
                    <a:bodyPr/>
                    <a:lstStyle/>
                    <a:p>
                      <a:pPr algn="ctr">
                        <a:defRPr sz="1000">
                          <a:latin typeface="Montserrat"/>
                        </a:defRPr>
                      </a:pPr>
                      <a:r>
                        <a:t>6,014</a:t>
                      </a:r>
                    </a:p>
                  </a:txBody>
                  <a:tcPr marL="0" marR="0" marT="0" marB="0">
                    <a:solidFill>
                      <a:srgbClr val="FFFFFF"/>
                    </a:solidFill>
                  </a:tcPr>
                </a:tc>
                <a:tc>
                  <a:txBody>
                    <a:bodyPr/>
                    <a:lstStyle/>
                    <a:p>
                      <a:pPr algn="ctr">
                        <a:defRPr sz="1000">
                          <a:latin typeface="Montserrat"/>
                        </a:defRPr>
                      </a:pPr>
                      <a:r>
                        <a:t>-57</a:t>
                      </a:r>
                    </a:p>
                  </a:txBody>
                  <a:tcPr marL="0" marR="0" marT="0" marB="0">
                    <a:solidFill>
                      <a:srgbClr val="FFFFFF"/>
                    </a:solidFill>
                  </a:tcPr>
                </a:tc>
                <a:tc>
                  <a:txBody>
                    <a:bodyPr/>
                    <a:lstStyle/>
                    <a:p>
                      <a:pPr algn="ctr">
                        <a:defRPr sz="1000">
                          <a:latin typeface="Montserrat"/>
                        </a:defRPr>
                      </a:pPr>
                      <a:r>
                        <a:t>2,789</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39.8%</a:t>
                      </a:r>
                    </a:p>
                  </a:txBody>
                  <a:tcPr marL="0" marR="0" marT="0" marB="0">
                    <a:solidFill>
                      <a:srgbClr val="ECD3D9"/>
                    </a:solidFill>
                  </a:tcPr>
                </a:tc>
                <a:extLst>
                  <a:ext uri="{0D108BD9-81ED-4DB2-BD59-A6C34878D82A}">
                    <a16:rowId xmlns:a16="http://schemas.microsoft.com/office/drawing/2014/main" val="10015"/>
                  </a:ext>
                </a:extLst>
              </a:tr>
              <a:tr h="151200">
                <a:tc>
                  <a:txBody>
                    <a:bodyPr/>
                    <a:lstStyle/>
                    <a:p>
                      <a:pPr algn="l">
                        <a:defRPr sz="1000">
                          <a:latin typeface="Montserrat"/>
                        </a:defRPr>
                      </a:pPr>
                      <a:r>
                        <a:t>UMF 62 Gral. Cepeda</a:t>
                      </a:r>
                    </a:p>
                  </a:txBody>
                  <a:tcPr marL="0" marR="0" marT="0" marB="0">
                    <a:solidFill>
                      <a:srgbClr val="EFEFEF"/>
                    </a:solidFill>
                  </a:tcPr>
                </a:tc>
                <a:tc>
                  <a:txBody>
                    <a:bodyPr/>
                    <a:lstStyle/>
                    <a:p>
                      <a:pPr algn="ctr">
                        <a:defRPr sz="1000">
                          <a:latin typeface="Montserrat"/>
                        </a:defRPr>
                      </a:pPr>
                      <a:r>
                        <a:t>12,100</a:t>
                      </a:r>
                    </a:p>
                  </a:txBody>
                  <a:tcPr marL="0" marR="0" marT="0" marB="0">
                    <a:solidFill>
                      <a:srgbClr val="EFEFEF"/>
                    </a:solidFill>
                  </a:tcPr>
                </a:tc>
                <a:tc>
                  <a:txBody>
                    <a:bodyPr/>
                    <a:lstStyle/>
                    <a:p>
                      <a:pPr algn="ctr">
                        <a:defRPr sz="1000">
                          <a:latin typeface="Montserrat"/>
                        </a:defRPr>
                      </a:pPr>
                      <a:r>
                        <a:t>1,567</a:t>
                      </a:r>
                    </a:p>
                  </a:txBody>
                  <a:tcPr marL="0" marR="0" marT="0" marB="0">
                    <a:solidFill>
                      <a:srgbClr val="EFEFEF"/>
                    </a:solidFill>
                  </a:tcPr>
                </a:tc>
                <a:tc>
                  <a:txBody>
                    <a:bodyPr/>
                    <a:lstStyle/>
                    <a:p>
                      <a:pPr algn="ctr">
                        <a:defRPr sz="1000">
                          <a:latin typeface="Montserrat"/>
                        </a:defRPr>
                      </a:pPr>
                      <a:r>
                        <a:t>5,193</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39.9%</a:t>
                      </a:r>
                    </a:p>
                  </a:txBody>
                  <a:tcPr marL="0" marR="0" marT="0" marB="0">
                    <a:solidFill>
                      <a:srgbClr val="ECD3D9"/>
                    </a:solidFill>
                  </a:tcPr>
                </a:tc>
                <a:extLst>
                  <a:ext uri="{0D108BD9-81ED-4DB2-BD59-A6C34878D82A}">
                    <a16:rowId xmlns:a16="http://schemas.microsoft.com/office/drawing/2014/main" val="10016"/>
                  </a:ext>
                </a:extLst>
              </a:tr>
              <a:tr h="151200">
                <a:tc>
                  <a:txBody>
                    <a:bodyPr/>
                    <a:lstStyle/>
                    <a:p>
                      <a:pPr algn="l">
                        <a:defRPr sz="1000">
                          <a:latin typeface="Montserrat"/>
                        </a:defRPr>
                      </a:pPr>
                      <a:r>
                        <a:t>UMF 60 Nava</a:t>
                      </a:r>
                    </a:p>
                  </a:txBody>
                  <a:tcPr marL="0" marR="0" marT="0" marB="0">
                    <a:solidFill>
                      <a:srgbClr val="FFFFFF"/>
                    </a:solidFill>
                  </a:tcPr>
                </a:tc>
                <a:tc>
                  <a:txBody>
                    <a:bodyPr/>
                    <a:lstStyle/>
                    <a:p>
                      <a:pPr algn="ctr">
                        <a:defRPr sz="1000">
                          <a:latin typeface="Montserrat"/>
                        </a:defRPr>
                      </a:pPr>
                      <a:r>
                        <a:t>42,656</a:t>
                      </a:r>
                    </a:p>
                  </a:txBody>
                  <a:tcPr marL="0" marR="0" marT="0" marB="0">
                    <a:solidFill>
                      <a:srgbClr val="FFFFFF"/>
                    </a:solidFill>
                  </a:tcPr>
                </a:tc>
                <a:tc>
                  <a:txBody>
                    <a:bodyPr/>
                    <a:lstStyle/>
                    <a:p>
                      <a:pPr algn="ctr">
                        <a:defRPr sz="1000">
                          <a:latin typeface="Montserrat"/>
                        </a:defRPr>
                      </a:pPr>
                      <a:r>
                        <a:t>2,051</a:t>
                      </a:r>
                    </a:p>
                  </a:txBody>
                  <a:tcPr marL="0" marR="0" marT="0" marB="0">
                    <a:solidFill>
                      <a:srgbClr val="FFFFFF"/>
                    </a:solidFill>
                  </a:tcPr>
                </a:tc>
                <a:tc>
                  <a:txBody>
                    <a:bodyPr/>
                    <a:lstStyle/>
                    <a:p>
                      <a:pPr algn="ctr">
                        <a:defRPr sz="1000">
                          <a:latin typeface="Montserrat"/>
                        </a:defRPr>
                      </a:pPr>
                      <a:r>
                        <a:t>22,616</a:t>
                      </a:r>
                    </a:p>
                  </a:txBody>
                  <a:tcPr marL="0" marR="0" marT="0" marB="0">
                    <a:solidFill>
                      <a:srgbClr val="ECD3D9"/>
                    </a:solidFill>
                  </a:tcPr>
                </a:tc>
                <a:tc>
                  <a:txBody>
                    <a:bodyPr/>
                    <a:lstStyle/>
                    <a:p>
                      <a:pPr algn="ctr">
                        <a:defRPr sz="1000">
                          <a:latin typeface="Montserrat"/>
                        </a:defRPr>
                      </a:pPr>
                      <a:r>
                        <a:t>65,772</a:t>
                      </a:r>
                    </a:p>
                  </a:txBody>
                  <a:tcPr marL="0" marR="0" marT="0" marB="0">
                    <a:solidFill>
                      <a:srgbClr val="ECD3D9"/>
                    </a:solidFill>
                  </a:tcPr>
                </a:tc>
                <a:tc>
                  <a:txBody>
                    <a:bodyPr/>
                    <a:lstStyle/>
                    <a:p>
                      <a:pPr algn="ctr">
                        <a:defRPr sz="1000">
                          <a:latin typeface="Montserrat"/>
                        </a:defRPr>
                      </a:pPr>
                      <a:r>
                        <a:t>34.4%</a:t>
                      </a:r>
                    </a:p>
                  </a:txBody>
                  <a:tcPr marL="0" marR="0" marT="0" marB="0">
                    <a:solidFill>
                      <a:srgbClr val="ECD3D9"/>
                    </a:solidFill>
                  </a:tcPr>
                </a:tc>
                <a:extLst>
                  <a:ext uri="{0D108BD9-81ED-4DB2-BD59-A6C34878D82A}">
                    <a16:rowId xmlns:a16="http://schemas.microsoft.com/office/drawing/2014/main" val="10017"/>
                  </a:ext>
                </a:extLst>
              </a:tr>
              <a:tr h="151200">
                <a:tc>
                  <a:txBody>
                    <a:bodyPr/>
                    <a:lstStyle/>
                    <a:p>
                      <a:pPr algn="l">
                        <a:defRPr sz="1000">
                          <a:latin typeface="Montserrat"/>
                        </a:defRPr>
                      </a:pPr>
                      <a:r>
                        <a:t>UMF 12 Allende</a:t>
                      </a:r>
                    </a:p>
                  </a:txBody>
                  <a:tcPr marL="0" marR="0" marT="0" marB="0">
                    <a:solidFill>
                      <a:srgbClr val="EFEFEF"/>
                    </a:solidFill>
                  </a:tcPr>
                </a:tc>
                <a:tc>
                  <a:txBody>
                    <a:bodyPr/>
                    <a:lstStyle/>
                    <a:p>
                      <a:pPr algn="ctr">
                        <a:defRPr sz="1000">
                          <a:latin typeface="Montserrat"/>
                        </a:defRPr>
                      </a:pPr>
                      <a:r>
                        <a:t>37,249</a:t>
                      </a:r>
                    </a:p>
                  </a:txBody>
                  <a:tcPr marL="0" marR="0" marT="0" marB="0">
                    <a:solidFill>
                      <a:srgbClr val="EFEFEF"/>
                    </a:solidFill>
                  </a:tcPr>
                </a:tc>
                <a:tc>
                  <a:txBody>
                    <a:bodyPr/>
                    <a:lstStyle/>
                    <a:p>
                      <a:pPr algn="ctr">
                        <a:defRPr sz="1000">
                          <a:latin typeface="Montserrat"/>
                        </a:defRPr>
                      </a:pPr>
                      <a:r>
                        <a:t>3,536</a:t>
                      </a:r>
                    </a:p>
                  </a:txBody>
                  <a:tcPr marL="0" marR="0" marT="0" marB="0">
                    <a:solidFill>
                      <a:srgbClr val="EFEFEF"/>
                    </a:solidFill>
                  </a:tcPr>
                </a:tc>
                <a:tc>
                  <a:txBody>
                    <a:bodyPr/>
                    <a:lstStyle/>
                    <a:p>
                      <a:pPr algn="ctr">
                        <a:defRPr sz="1000">
                          <a:latin typeface="Montserrat"/>
                        </a:defRPr>
                      </a:pPr>
                      <a:r>
                        <a:t>17,745</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47.2%</a:t>
                      </a:r>
                    </a:p>
                  </a:txBody>
                  <a:tcPr marL="0" marR="0" marT="0" marB="0">
                    <a:solidFill>
                      <a:srgbClr val="ECD3D9"/>
                    </a:solidFill>
                  </a:tcPr>
                </a:tc>
                <a:extLst>
                  <a:ext uri="{0D108BD9-81ED-4DB2-BD59-A6C34878D82A}">
                    <a16:rowId xmlns:a16="http://schemas.microsoft.com/office/drawing/2014/main" val="10018"/>
                  </a:ext>
                </a:extLst>
              </a:tr>
              <a:tr h="151200">
                <a:tc>
                  <a:txBody>
                    <a:bodyPr/>
                    <a:lstStyle/>
                    <a:p>
                      <a:pPr algn="l">
                        <a:defRPr sz="1000">
                          <a:latin typeface="Montserrat"/>
                        </a:defRPr>
                      </a:pPr>
                      <a:r>
                        <a:t>UMF 8 Castaños</a:t>
                      </a:r>
                    </a:p>
                  </a:txBody>
                  <a:tcPr marL="0" marR="0" marT="0" marB="0">
                    <a:solidFill>
                      <a:srgbClr val="FFFFFF"/>
                    </a:solidFill>
                  </a:tcPr>
                </a:tc>
                <a:tc>
                  <a:txBody>
                    <a:bodyPr/>
                    <a:lstStyle/>
                    <a:p>
                      <a:pPr algn="ctr">
                        <a:defRPr sz="1000">
                          <a:latin typeface="Montserrat"/>
                        </a:defRPr>
                      </a:pPr>
                      <a:r>
                        <a:t>61,537</a:t>
                      </a:r>
                    </a:p>
                  </a:txBody>
                  <a:tcPr marL="0" marR="0" marT="0" marB="0">
                    <a:solidFill>
                      <a:srgbClr val="FFFFFF"/>
                    </a:solidFill>
                  </a:tcPr>
                </a:tc>
                <a:tc>
                  <a:txBody>
                    <a:bodyPr/>
                    <a:lstStyle/>
                    <a:p>
                      <a:pPr algn="ctr">
                        <a:defRPr sz="1000">
                          <a:latin typeface="Montserrat"/>
                        </a:defRPr>
                      </a:pPr>
                      <a:r>
                        <a:t>-489</a:t>
                      </a:r>
                    </a:p>
                  </a:txBody>
                  <a:tcPr marL="0" marR="0" marT="0" marB="0">
                    <a:solidFill>
                      <a:srgbClr val="FFFFFF"/>
                    </a:solidFill>
                  </a:tcPr>
                </a:tc>
                <a:tc>
                  <a:txBody>
                    <a:bodyPr/>
                    <a:lstStyle/>
                    <a:p>
                      <a:pPr algn="ctr">
                        <a:defRPr sz="1000">
                          <a:latin typeface="Montserrat"/>
                        </a:defRPr>
                      </a:pPr>
                      <a:r>
                        <a:t>26,683</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42.6%</a:t>
                      </a:r>
                    </a:p>
                  </a:txBody>
                  <a:tcPr marL="0" marR="0" marT="0" marB="0">
                    <a:solidFill>
                      <a:srgbClr val="ECD3D9"/>
                    </a:solidFill>
                  </a:tcPr>
                </a:tc>
                <a:extLst>
                  <a:ext uri="{0D108BD9-81ED-4DB2-BD59-A6C34878D82A}">
                    <a16:rowId xmlns:a16="http://schemas.microsoft.com/office/drawing/2014/main" val="10019"/>
                  </a:ext>
                </a:extLst>
              </a:tr>
              <a:tr h="151200">
                <a:tc>
                  <a:txBody>
                    <a:bodyPr/>
                    <a:lstStyle/>
                    <a:p>
                      <a:pPr algn="l">
                        <a:defRPr sz="1000">
                          <a:latin typeface="Montserrat"/>
                        </a:defRPr>
                      </a:pPr>
                      <a:r>
                        <a:t>UMF 64 Morelos</a:t>
                      </a:r>
                    </a:p>
                  </a:txBody>
                  <a:tcPr marL="0" marR="0" marT="0" marB="0">
                    <a:solidFill>
                      <a:srgbClr val="EFEFEF"/>
                    </a:solidFill>
                  </a:tcPr>
                </a:tc>
                <a:tc>
                  <a:txBody>
                    <a:bodyPr/>
                    <a:lstStyle/>
                    <a:p>
                      <a:pPr algn="ctr">
                        <a:defRPr sz="1000">
                          <a:latin typeface="Montserrat"/>
                        </a:defRPr>
                      </a:pPr>
                      <a:r>
                        <a:t>13,266</a:t>
                      </a:r>
                    </a:p>
                  </a:txBody>
                  <a:tcPr marL="0" marR="0" marT="0" marB="0">
                    <a:solidFill>
                      <a:srgbClr val="EFEFEF"/>
                    </a:solidFill>
                  </a:tcPr>
                </a:tc>
                <a:tc>
                  <a:txBody>
                    <a:bodyPr/>
                    <a:lstStyle/>
                    <a:p>
                      <a:pPr algn="ctr">
                        <a:defRPr sz="1000">
                          <a:latin typeface="Montserrat"/>
                        </a:defRPr>
                      </a:pPr>
                      <a:r>
                        <a:t>-746</a:t>
                      </a:r>
                    </a:p>
                  </a:txBody>
                  <a:tcPr marL="0" marR="0" marT="0" marB="0">
                    <a:solidFill>
                      <a:srgbClr val="EFEFEF"/>
                    </a:solidFill>
                  </a:tcPr>
                </a:tc>
                <a:tc>
                  <a:txBody>
                    <a:bodyPr/>
                    <a:lstStyle/>
                    <a:p>
                      <a:pPr algn="ctr">
                        <a:defRPr sz="1000">
                          <a:latin typeface="Montserrat"/>
                        </a:defRPr>
                      </a:pPr>
                      <a:r>
                        <a:t>6,033</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46.4%</a:t>
                      </a:r>
                    </a:p>
                  </a:txBody>
                  <a:tcPr marL="0" marR="0" marT="0" marB="0">
                    <a:solidFill>
                      <a:srgbClr val="ECD3D9"/>
                    </a:solidFill>
                  </a:tcPr>
                </a:tc>
                <a:extLst>
                  <a:ext uri="{0D108BD9-81ED-4DB2-BD59-A6C34878D82A}">
                    <a16:rowId xmlns:a16="http://schemas.microsoft.com/office/drawing/2014/main" val="10020"/>
                  </a:ext>
                </a:extLst>
              </a:tr>
              <a:tr h="151200">
                <a:tc>
                  <a:txBody>
                    <a:bodyPr/>
                    <a:lstStyle/>
                    <a:p>
                      <a:pPr algn="l">
                        <a:defRPr sz="1000">
                          <a:latin typeface="Montserrat"/>
                        </a:defRPr>
                      </a:pPr>
                      <a:r>
                        <a:t>UMF 67 E. Hipólito</a:t>
                      </a:r>
                    </a:p>
                  </a:txBody>
                  <a:tcPr marL="0" marR="0" marT="0" marB="0">
                    <a:solidFill>
                      <a:srgbClr val="FFFFFF"/>
                    </a:solidFill>
                  </a:tcPr>
                </a:tc>
                <a:tc>
                  <a:txBody>
                    <a:bodyPr/>
                    <a:lstStyle/>
                    <a:p>
                      <a:pPr algn="ctr">
                        <a:defRPr sz="1000">
                          <a:latin typeface="Montserrat"/>
                        </a:defRPr>
                      </a:pPr>
                      <a:r>
                        <a:t>1,408</a:t>
                      </a:r>
                    </a:p>
                  </a:txBody>
                  <a:tcPr marL="0" marR="0" marT="0" marB="0">
                    <a:solidFill>
                      <a:srgbClr val="FFFFFF"/>
                    </a:solidFill>
                  </a:tcPr>
                </a:tc>
                <a:tc>
                  <a:txBody>
                    <a:bodyPr/>
                    <a:lstStyle/>
                    <a:p>
                      <a:pPr algn="ctr">
                        <a:defRPr sz="1000">
                          <a:latin typeface="Montserrat"/>
                        </a:defRPr>
                      </a:pPr>
                      <a:r>
                        <a:t>-1,449</a:t>
                      </a:r>
                    </a:p>
                  </a:txBody>
                  <a:tcPr marL="0" marR="0" marT="0" marB="0">
                    <a:solidFill>
                      <a:srgbClr val="FFFFFF"/>
                    </a:solidFill>
                  </a:tcPr>
                </a:tc>
                <a:tc>
                  <a:txBody>
                    <a:bodyPr/>
                    <a:lstStyle/>
                    <a:p>
                      <a:pPr algn="ctr">
                        <a:defRPr sz="1000">
                          <a:latin typeface="Montserrat"/>
                        </a:defRPr>
                      </a:pPr>
                      <a:r>
                        <a:t>962</a:t>
                      </a:r>
                    </a:p>
                  </a:txBody>
                  <a:tcPr marL="0" marR="0" marT="0" marB="0">
                    <a:solidFill>
                      <a:srgbClr val="ECD3D9"/>
                    </a:solidFill>
                  </a:tcPr>
                </a:tc>
                <a:tc>
                  <a:txBody>
                    <a:bodyPr/>
                    <a:lstStyle/>
                    <a:p>
                      <a:pPr algn="ctr">
                        <a:defRPr sz="1000">
                          <a:latin typeface="Montserrat"/>
                        </a:defRPr>
                      </a:pPr>
                      <a:r>
                        <a:t>3,000</a:t>
                      </a:r>
                    </a:p>
                  </a:txBody>
                  <a:tcPr marL="0" marR="0" marT="0" marB="0">
                    <a:solidFill>
                      <a:srgbClr val="ECD3D9"/>
                    </a:solidFill>
                  </a:tcPr>
                </a:tc>
                <a:tc>
                  <a:txBody>
                    <a:bodyPr/>
                    <a:lstStyle/>
                    <a:p>
                      <a:pPr algn="ctr">
                        <a:defRPr sz="1000">
                          <a:latin typeface="Montserrat"/>
                        </a:defRPr>
                      </a:pPr>
                      <a:r>
                        <a:t>32.1%</a:t>
                      </a:r>
                    </a:p>
                  </a:txBody>
                  <a:tcPr marL="0" marR="0" marT="0" marB="0">
                    <a:solidFill>
                      <a:srgbClr val="ECD3D9"/>
                    </a:solidFill>
                  </a:tcPr>
                </a:tc>
                <a:extLst>
                  <a:ext uri="{0D108BD9-81ED-4DB2-BD59-A6C34878D82A}">
                    <a16:rowId xmlns:a16="http://schemas.microsoft.com/office/drawing/2014/main" val="10021"/>
                  </a:ext>
                </a:extLst>
              </a:tr>
              <a:tr h="151200">
                <a:tc>
                  <a:txBody>
                    <a:bodyPr/>
                    <a:lstStyle/>
                    <a:p>
                      <a:pPr algn="l">
                        <a:defRPr sz="1000">
                          <a:latin typeface="Montserrat"/>
                        </a:defRPr>
                      </a:pPr>
                      <a:r>
                        <a:t>UMF 70 Saltillo</a:t>
                      </a:r>
                    </a:p>
                  </a:txBody>
                  <a:tcPr marL="0" marR="0" marT="0" marB="0">
                    <a:solidFill>
                      <a:srgbClr val="EFEFEF"/>
                    </a:solidFill>
                  </a:tcPr>
                </a:tc>
                <a:tc>
                  <a:txBody>
                    <a:bodyPr/>
                    <a:lstStyle/>
                    <a:p>
                      <a:pPr algn="ctr">
                        <a:defRPr sz="1000">
                          <a:latin typeface="Montserrat"/>
                        </a:defRPr>
                      </a:pPr>
                      <a:r>
                        <a:t>141,291</a:t>
                      </a:r>
                    </a:p>
                  </a:txBody>
                  <a:tcPr marL="0" marR="0" marT="0" marB="0">
                    <a:solidFill>
                      <a:srgbClr val="EFEFEF"/>
                    </a:solidFill>
                  </a:tcPr>
                </a:tc>
                <a:tc>
                  <a:txBody>
                    <a:bodyPr/>
                    <a:lstStyle/>
                    <a:p>
                      <a:pPr algn="ctr">
                        <a:defRPr sz="1000">
                          <a:latin typeface="Montserrat"/>
                        </a:defRPr>
                      </a:pPr>
                      <a:r>
                        <a:t>-750</a:t>
                      </a:r>
                    </a:p>
                  </a:txBody>
                  <a:tcPr marL="0" marR="0" marT="0" marB="0">
                    <a:solidFill>
                      <a:srgbClr val="EFEFEF"/>
                    </a:solidFill>
                  </a:tcPr>
                </a:tc>
                <a:tc>
                  <a:txBody>
                    <a:bodyPr/>
                    <a:lstStyle/>
                    <a:p>
                      <a:pPr algn="ctr">
                        <a:defRPr sz="1000">
                          <a:latin typeface="Montserrat"/>
                        </a:defRPr>
                      </a:pPr>
                      <a:r>
                        <a:t>67,228</a:t>
                      </a:r>
                    </a:p>
                  </a:txBody>
                  <a:tcPr marL="0" marR="0" marT="0" marB="0">
                    <a:solidFill>
                      <a:srgbClr val="ECD3D9"/>
                    </a:solidFill>
                  </a:tcPr>
                </a:tc>
                <a:tc>
                  <a:txBody>
                    <a:bodyPr/>
                    <a:lstStyle/>
                    <a:p>
                      <a:pPr algn="ctr">
                        <a:defRPr sz="1000">
                          <a:latin typeface="Montserrat"/>
                        </a:defRPr>
                      </a:pPr>
                      <a:r>
                        <a:t>137,808</a:t>
                      </a:r>
                    </a:p>
                  </a:txBody>
                  <a:tcPr marL="0" marR="0" marT="0" marB="0">
                    <a:solidFill>
                      <a:srgbClr val="ECD3D9"/>
                    </a:solidFill>
                  </a:tcPr>
                </a:tc>
                <a:tc>
                  <a:txBody>
                    <a:bodyPr/>
                    <a:lstStyle/>
                    <a:p>
                      <a:pPr algn="ctr">
                        <a:defRPr sz="1000">
                          <a:latin typeface="Montserrat"/>
                        </a:defRPr>
                      </a:pPr>
                      <a:r>
                        <a:t>48.8%</a:t>
                      </a:r>
                    </a:p>
                  </a:txBody>
                  <a:tcPr marL="0" marR="0" marT="0" marB="0">
                    <a:solidFill>
                      <a:srgbClr val="ECD3D9"/>
                    </a:solidFill>
                  </a:tcPr>
                </a:tc>
                <a:extLst>
                  <a:ext uri="{0D108BD9-81ED-4DB2-BD59-A6C34878D82A}">
                    <a16:rowId xmlns:a16="http://schemas.microsoft.com/office/drawing/2014/main" val="10022"/>
                  </a:ext>
                </a:extLst>
              </a:tr>
              <a:tr h="151200">
                <a:tc>
                  <a:txBody>
                    <a:bodyPr/>
                    <a:lstStyle/>
                    <a:p>
                      <a:pPr algn="l">
                        <a:defRPr sz="1000">
                          <a:latin typeface="Montserrat"/>
                        </a:defRPr>
                      </a:pPr>
                      <a:r>
                        <a:t>UMF 74 Nadadores</a:t>
                      </a:r>
                    </a:p>
                  </a:txBody>
                  <a:tcPr marL="0" marR="0" marT="0" marB="0">
                    <a:solidFill>
                      <a:srgbClr val="FFFFFF"/>
                    </a:solidFill>
                  </a:tcPr>
                </a:tc>
                <a:tc>
                  <a:txBody>
                    <a:bodyPr/>
                    <a:lstStyle/>
                    <a:p>
                      <a:pPr algn="ctr">
                        <a:defRPr sz="1000">
                          <a:latin typeface="Montserrat"/>
                        </a:defRPr>
                      </a:pPr>
                      <a:r>
                        <a:t>12,269</a:t>
                      </a:r>
                    </a:p>
                  </a:txBody>
                  <a:tcPr marL="0" marR="0" marT="0" marB="0">
                    <a:solidFill>
                      <a:srgbClr val="FFFFFF"/>
                    </a:solidFill>
                  </a:tcPr>
                </a:tc>
                <a:tc>
                  <a:txBody>
                    <a:bodyPr/>
                    <a:lstStyle/>
                    <a:p>
                      <a:pPr algn="ctr">
                        <a:defRPr sz="1000">
                          <a:latin typeface="Montserrat"/>
                        </a:defRPr>
                      </a:pPr>
                      <a:r>
                        <a:t>-1,121</a:t>
                      </a:r>
                    </a:p>
                  </a:txBody>
                  <a:tcPr marL="0" marR="0" marT="0" marB="0">
                    <a:solidFill>
                      <a:srgbClr val="FFFFFF"/>
                    </a:solidFill>
                  </a:tcPr>
                </a:tc>
                <a:tc>
                  <a:txBody>
                    <a:bodyPr/>
                    <a:lstStyle/>
                    <a:p>
                      <a:pPr algn="ctr">
                        <a:defRPr sz="1000">
                          <a:latin typeface="Montserrat"/>
                        </a:defRPr>
                      </a:pPr>
                      <a:r>
                        <a:t>6,054</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43.2%</a:t>
                      </a:r>
                    </a:p>
                  </a:txBody>
                  <a:tcPr marL="0" marR="0" marT="0" marB="0">
                    <a:solidFill>
                      <a:srgbClr val="ECD3D9"/>
                    </a:solidFill>
                  </a:tcPr>
                </a:tc>
                <a:extLst>
                  <a:ext uri="{0D108BD9-81ED-4DB2-BD59-A6C34878D82A}">
                    <a16:rowId xmlns:a16="http://schemas.microsoft.com/office/drawing/2014/main" val="10023"/>
                  </a:ext>
                </a:extLst>
              </a:tr>
              <a:tr h="151200">
                <a:tc>
                  <a:txBody>
                    <a:bodyPr/>
                    <a:lstStyle/>
                    <a:p>
                      <a:pPr algn="l">
                        <a:defRPr sz="1000">
                          <a:latin typeface="Montserrat"/>
                        </a:defRPr>
                      </a:pPr>
                      <a:r>
                        <a:t>UMF 61 Laguna del Rey</a:t>
                      </a:r>
                    </a:p>
                  </a:txBody>
                  <a:tcPr marL="0" marR="0" marT="0" marB="0">
                    <a:solidFill>
                      <a:srgbClr val="EFEFEF"/>
                    </a:solidFill>
                  </a:tcPr>
                </a:tc>
                <a:tc>
                  <a:txBody>
                    <a:bodyPr/>
                    <a:lstStyle/>
                    <a:p>
                      <a:pPr algn="ctr">
                        <a:defRPr sz="1000">
                          <a:latin typeface="Montserrat"/>
                        </a:defRPr>
                      </a:pPr>
                      <a:r>
                        <a:t>11,402</a:t>
                      </a:r>
                    </a:p>
                  </a:txBody>
                  <a:tcPr marL="0" marR="0" marT="0" marB="0">
                    <a:solidFill>
                      <a:srgbClr val="EFEFEF"/>
                    </a:solidFill>
                  </a:tcPr>
                </a:tc>
                <a:tc>
                  <a:txBody>
                    <a:bodyPr/>
                    <a:lstStyle/>
                    <a:p>
                      <a:pPr algn="ctr">
                        <a:defRPr sz="1000">
                          <a:latin typeface="Montserrat"/>
                        </a:defRPr>
                      </a:pPr>
                      <a:r>
                        <a:t>-94</a:t>
                      </a:r>
                    </a:p>
                  </a:txBody>
                  <a:tcPr marL="0" marR="0" marT="0" marB="0">
                    <a:solidFill>
                      <a:srgbClr val="EFEFEF"/>
                    </a:solidFill>
                  </a:tcPr>
                </a:tc>
                <a:tc>
                  <a:txBody>
                    <a:bodyPr/>
                    <a:lstStyle/>
                    <a:p>
                      <a:pPr algn="ctr">
                        <a:defRPr sz="1000">
                          <a:latin typeface="Montserrat"/>
                        </a:defRPr>
                      </a:pPr>
                      <a:r>
                        <a:t>5,070</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42.3%</a:t>
                      </a:r>
                    </a:p>
                  </a:txBody>
                  <a:tcPr marL="0" marR="0" marT="0" marB="0">
                    <a:solidFill>
                      <a:srgbClr val="ECD3D9"/>
                    </a:solidFill>
                  </a:tcPr>
                </a:tc>
                <a:extLst>
                  <a:ext uri="{0D108BD9-81ED-4DB2-BD59-A6C34878D82A}">
                    <a16:rowId xmlns:a16="http://schemas.microsoft.com/office/drawing/2014/main" val="10024"/>
                  </a:ext>
                </a:extLst>
              </a:tr>
              <a:tr h="151200">
                <a:tc>
                  <a:txBody>
                    <a:bodyPr/>
                    <a:lstStyle/>
                    <a:p>
                      <a:pPr algn="l">
                        <a:defRPr sz="1000">
                          <a:latin typeface="Montserrat"/>
                        </a:defRPr>
                      </a:pPr>
                      <a:r>
                        <a:t>UMF 80 Torreón</a:t>
                      </a:r>
                    </a:p>
                  </a:txBody>
                  <a:tcPr marL="0" marR="0" marT="0" marB="0">
                    <a:solidFill>
                      <a:srgbClr val="FFFFFF"/>
                    </a:solidFill>
                  </a:tcPr>
                </a:tc>
                <a:tc>
                  <a:txBody>
                    <a:bodyPr/>
                    <a:lstStyle/>
                    <a:p>
                      <a:pPr algn="ctr">
                        <a:defRPr sz="1000">
                          <a:latin typeface="Montserrat"/>
                        </a:defRPr>
                      </a:pPr>
                      <a:r>
                        <a:t>125,039</a:t>
                      </a:r>
                    </a:p>
                  </a:txBody>
                  <a:tcPr marL="0" marR="0" marT="0" marB="0">
                    <a:solidFill>
                      <a:srgbClr val="FFFFFF"/>
                    </a:solidFill>
                  </a:tcPr>
                </a:tc>
                <a:tc>
                  <a:txBody>
                    <a:bodyPr/>
                    <a:lstStyle/>
                    <a:p>
                      <a:pPr algn="ctr">
                        <a:defRPr sz="1000">
                          <a:latin typeface="Montserrat"/>
                        </a:defRPr>
                      </a:pPr>
                      <a:r>
                        <a:t>4,403</a:t>
                      </a:r>
                    </a:p>
                  </a:txBody>
                  <a:tcPr marL="0" marR="0" marT="0" marB="0">
                    <a:solidFill>
                      <a:srgbClr val="FFFFFF"/>
                    </a:solidFill>
                  </a:tcPr>
                </a:tc>
                <a:tc>
                  <a:txBody>
                    <a:bodyPr/>
                    <a:lstStyle/>
                    <a:p>
                      <a:pPr algn="ctr">
                        <a:defRPr sz="1000">
                          <a:latin typeface="Montserrat"/>
                        </a:defRPr>
                      </a:pPr>
                      <a:r>
                        <a:t>58,544</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46.7%</a:t>
                      </a:r>
                    </a:p>
                  </a:txBody>
                  <a:tcPr marL="0" marR="0" marT="0" marB="0">
                    <a:solidFill>
                      <a:srgbClr val="ECD3D9"/>
                    </a:solidFill>
                  </a:tcPr>
                </a:tc>
                <a:extLst>
                  <a:ext uri="{0D108BD9-81ED-4DB2-BD59-A6C34878D82A}">
                    <a16:rowId xmlns:a16="http://schemas.microsoft.com/office/drawing/2014/main" val="10025"/>
                  </a:ext>
                </a:extLst>
              </a:tr>
              <a:tr h="151200">
                <a:tc>
                  <a:txBody>
                    <a:bodyPr/>
                    <a:lstStyle/>
                    <a:p>
                      <a:pPr algn="l">
                        <a:defRPr sz="1000">
                          <a:latin typeface="Montserrat"/>
                        </a:defRPr>
                      </a:pPr>
                      <a:r>
                        <a:t>UMF 79 Piedras Negras</a:t>
                      </a:r>
                    </a:p>
                  </a:txBody>
                  <a:tcPr marL="0" marR="0" marT="0" marB="0">
                    <a:solidFill>
                      <a:srgbClr val="EFEFEF"/>
                    </a:solidFill>
                  </a:tcPr>
                </a:tc>
                <a:tc>
                  <a:txBody>
                    <a:bodyPr/>
                    <a:lstStyle/>
                    <a:p>
                      <a:pPr algn="ctr">
                        <a:defRPr sz="1000">
                          <a:latin typeface="Montserrat"/>
                        </a:defRPr>
                      </a:pPr>
                      <a:r>
                        <a:t>230,095</a:t>
                      </a:r>
                    </a:p>
                  </a:txBody>
                  <a:tcPr marL="0" marR="0" marT="0" marB="0">
                    <a:solidFill>
                      <a:srgbClr val="EFEFEF"/>
                    </a:solidFill>
                  </a:tcPr>
                </a:tc>
                <a:tc>
                  <a:txBody>
                    <a:bodyPr/>
                    <a:lstStyle/>
                    <a:p>
                      <a:pPr algn="ctr">
                        <a:defRPr sz="1000">
                          <a:latin typeface="Montserrat"/>
                        </a:defRPr>
                      </a:pPr>
                      <a:r>
                        <a:t>3,510</a:t>
                      </a:r>
                    </a:p>
                  </a:txBody>
                  <a:tcPr marL="0" marR="0" marT="0" marB="0">
                    <a:solidFill>
                      <a:srgbClr val="EFEFEF"/>
                    </a:solidFill>
                  </a:tcPr>
                </a:tc>
                <a:tc>
                  <a:txBody>
                    <a:bodyPr/>
                    <a:lstStyle/>
                    <a:p>
                      <a:pPr algn="ctr">
                        <a:defRPr sz="1000">
                          <a:latin typeface="Montserrat"/>
                        </a:defRPr>
                      </a:pPr>
                      <a:r>
                        <a:t>103,225</a:t>
                      </a:r>
                    </a:p>
                  </a:txBody>
                  <a:tcPr marL="0" marR="0" marT="0" marB="0">
                    <a:solidFill>
                      <a:srgbClr val="ECD3D9"/>
                    </a:solidFill>
                  </a:tcPr>
                </a:tc>
                <a:tc>
                  <a:txBody>
                    <a:bodyPr/>
                    <a:lstStyle/>
                    <a:p>
                      <a:pPr algn="ctr">
                        <a:defRPr sz="1000">
                          <a:latin typeface="Montserrat"/>
                        </a:defRPr>
                      </a:pPr>
                      <a:r>
                        <a:t>225,504</a:t>
                      </a:r>
                    </a:p>
                  </a:txBody>
                  <a:tcPr marL="0" marR="0" marT="0" marB="0">
                    <a:solidFill>
                      <a:srgbClr val="ECD3D9"/>
                    </a:solidFill>
                  </a:tcPr>
                </a:tc>
                <a:tc>
                  <a:txBody>
                    <a:bodyPr/>
                    <a:lstStyle/>
                    <a:p>
                      <a:pPr algn="ctr">
                        <a:defRPr sz="1000">
                          <a:latin typeface="Montserrat"/>
                        </a:defRPr>
                      </a:pPr>
                      <a:r>
                        <a:t>45.8%</a:t>
                      </a:r>
                    </a:p>
                  </a:txBody>
                  <a:tcPr marL="0" marR="0" marT="0" marB="0">
                    <a:solidFill>
                      <a:srgbClr val="ECD3D9"/>
                    </a:solidFill>
                  </a:tcPr>
                </a:tc>
                <a:extLst>
                  <a:ext uri="{0D108BD9-81ED-4DB2-BD59-A6C34878D82A}">
                    <a16:rowId xmlns:a16="http://schemas.microsoft.com/office/drawing/2014/main" val="10026"/>
                  </a:ext>
                </a:extLst>
              </a:tr>
              <a:tr h="151200">
                <a:tc>
                  <a:txBody>
                    <a:bodyPr/>
                    <a:lstStyle/>
                    <a:p>
                      <a:pPr algn="l">
                        <a:defRPr sz="1000">
                          <a:latin typeface="Montserrat"/>
                        </a:defRPr>
                      </a:pPr>
                      <a:r>
                        <a:t>UMF 81 Cd. Acuña</a:t>
                      </a:r>
                    </a:p>
                  </a:txBody>
                  <a:tcPr marL="0" marR="0" marT="0" marB="0">
                    <a:solidFill>
                      <a:srgbClr val="FFFFFF"/>
                    </a:solidFill>
                  </a:tcPr>
                </a:tc>
                <a:tc>
                  <a:txBody>
                    <a:bodyPr/>
                    <a:lstStyle/>
                    <a:p>
                      <a:pPr algn="ctr">
                        <a:defRPr sz="1000">
                          <a:latin typeface="Montserrat"/>
                        </a:defRPr>
                      </a:pPr>
                      <a:r>
                        <a:t>149,005</a:t>
                      </a:r>
                    </a:p>
                  </a:txBody>
                  <a:tcPr marL="0" marR="0" marT="0" marB="0">
                    <a:solidFill>
                      <a:srgbClr val="FFFFFF"/>
                    </a:solidFill>
                  </a:tcPr>
                </a:tc>
                <a:tc>
                  <a:txBody>
                    <a:bodyPr/>
                    <a:lstStyle/>
                    <a:p>
                      <a:pPr algn="ctr">
                        <a:defRPr sz="1000">
                          <a:latin typeface="Montserrat"/>
                        </a:defRPr>
                      </a:pPr>
                      <a:r>
                        <a:t>-3,040</a:t>
                      </a:r>
                    </a:p>
                  </a:txBody>
                  <a:tcPr marL="0" marR="0" marT="0" marB="0">
                    <a:solidFill>
                      <a:srgbClr val="FFFFFF"/>
                    </a:solidFill>
                  </a:tcPr>
                </a:tc>
                <a:tc>
                  <a:txBody>
                    <a:bodyPr/>
                    <a:lstStyle/>
                    <a:p>
                      <a:pPr algn="ctr">
                        <a:defRPr sz="1000">
                          <a:latin typeface="Montserrat"/>
                        </a:defRPr>
                      </a:pPr>
                      <a:r>
                        <a:t>68,785</a:t>
                      </a:r>
                    </a:p>
                  </a:txBody>
                  <a:tcPr marL="0" marR="0" marT="0" marB="0">
                    <a:solidFill>
                      <a:srgbClr val="ECD3D9"/>
                    </a:solidFill>
                  </a:tcPr>
                </a:tc>
                <a:tc>
                  <a:txBody>
                    <a:bodyPr/>
                    <a:lstStyle/>
                    <a:p>
                      <a:pPr algn="ctr">
                        <a:defRPr sz="1000">
                          <a:latin typeface="Montserrat"/>
                        </a:defRPr>
                      </a:pPr>
                      <a:r>
                        <a:t>150,336</a:t>
                      </a:r>
                    </a:p>
                  </a:txBody>
                  <a:tcPr marL="0" marR="0" marT="0" marB="0">
                    <a:solidFill>
                      <a:srgbClr val="ECD3D9"/>
                    </a:solidFill>
                  </a:tcPr>
                </a:tc>
                <a:tc>
                  <a:txBody>
                    <a:bodyPr/>
                    <a:lstStyle/>
                    <a:p>
                      <a:pPr algn="ctr">
                        <a:defRPr sz="1000">
                          <a:latin typeface="Montserrat"/>
                        </a:defRPr>
                      </a:pPr>
                      <a:r>
                        <a:t>45.8%</a:t>
                      </a:r>
                    </a:p>
                  </a:txBody>
                  <a:tcPr marL="0" marR="0" marT="0" marB="0">
                    <a:solidFill>
                      <a:srgbClr val="ECD3D9"/>
                    </a:solidFill>
                  </a:tcPr>
                </a:tc>
                <a:extLst>
                  <a:ext uri="{0D108BD9-81ED-4DB2-BD59-A6C34878D82A}">
                    <a16:rowId xmlns:a16="http://schemas.microsoft.com/office/drawing/2014/main" val="10027"/>
                  </a:ext>
                </a:extLst>
              </a:tr>
              <a:tr h="151200">
                <a:tc>
                  <a:txBody>
                    <a:bodyPr/>
                    <a:lstStyle/>
                    <a:p>
                      <a:pPr algn="l">
                        <a:defRPr sz="1000">
                          <a:latin typeface="Montserrat"/>
                        </a:defRPr>
                      </a:pPr>
                      <a:r>
                        <a:t>UMF 85 Roma</a:t>
                      </a:r>
                    </a:p>
                  </a:txBody>
                  <a:tcPr marL="0" marR="0" marT="0" marB="0">
                    <a:solidFill>
                      <a:srgbClr val="EFEFEF"/>
                    </a:solidFill>
                  </a:tcPr>
                </a:tc>
                <a:tc>
                  <a:txBody>
                    <a:bodyPr/>
                    <a:lstStyle/>
                    <a:p>
                      <a:pPr algn="ctr">
                        <a:defRPr sz="1000">
                          <a:latin typeface="Montserrat"/>
                        </a:defRPr>
                      </a:pPr>
                      <a:r>
                        <a:t>61,613</a:t>
                      </a:r>
                    </a:p>
                  </a:txBody>
                  <a:tcPr marL="0" marR="0" marT="0" marB="0">
                    <a:solidFill>
                      <a:srgbClr val="EFEFEF"/>
                    </a:solidFill>
                  </a:tcPr>
                </a:tc>
                <a:tc>
                  <a:txBody>
                    <a:bodyPr/>
                    <a:lstStyle/>
                    <a:p>
                      <a:pPr algn="ctr">
                        <a:defRPr sz="1000">
                          <a:latin typeface="Montserrat"/>
                        </a:defRPr>
                      </a:pPr>
                      <a:r>
                        <a:t>986</a:t>
                      </a:r>
                    </a:p>
                  </a:txBody>
                  <a:tcPr marL="0" marR="0" marT="0" marB="0">
                    <a:solidFill>
                      <a:srgbClr val="EFEFEF"/>
                    </a:solidFill>
                  </a:tcPr>
                </a:tc>
                <a:tc>
                  <a:txBody>
                    <a:bodyPr/>
                    <a:lstStyle/>
                    <a:p>
                      <a:pPr algn="ctr">
                        <a:defRPr sz="1000">
                          <a:latin typeface="Montserrat"/>
                        </a:defRPr>
                      </a:pPr>
                      <a:r>
                        <a:t>27,291</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43.6%</a:t>
                      </a:r>
                    </a:p>
                  </a:txBody>
                  <a:tcPr marL="0" marR="0" marT="0" marB="0">
                    <a:solidFill>
                      <a:srgbClr val="ECD3D9"/>
                    </a:solidFill>
                  </a:tcPr>
                </a:tc>
                <a:extLst>
                  <a:ext uri="{0D108BD9-81ED-4DB2-BD59-A6C34878D82A}">
                    <a16:rowId xmlns:a16="http://schemas.microsoft.com/office/drawing/2014/main" val="10028"/>
                  </a:ext>
                </a:extLst>
              </a:tr>
              <a:tr h="151200">
                <a:tc>
                  <a:txBody>
                    <a:bodyPr/>
                    <a:lstStyle/>
                    <a:p>
                      <a:pPr algn="l">
                        <a:defRPr sz="1000">
                          <a:latin typeface="Montserrat"/>
                        </a:defRPr>
                      </a:pPr>
                      <a:r>
                        <a:t>UMF 84 Monclova</a:t>
                      </a:r>
                    </a:p>
                  </a:txBody>
                  <a:tcPr marL="0" marR="0" marT="0" marB="0">
                    <a:solidFill>
                      <a:srgbClr val="FFFFFF"/>
                    </a:solidFill>
                  </a:tcPr>
                </a:tc>
                <a:tc>
                  <a:txBody>
                    <a:bodyPr/>
                    <a:lstStyle/>
                    <a:p>
                      <a:pPr algn="ctr">
                        <a:defRPr sz="1000">
                          <a:latin typeface="Montserrat"/>
                        </a:defRPr>
                      </a:pPr>
                      <a:r>
                        <a:t>66,235</a:t>
                      </a:r>
                    </a:p>
                  </a:txBody>
                  <a:tcPr marL="0" marR="0" marT="0" marB="0">
                    <a:solidFill>
                      <a:srgbClr val="FFFFFF"/>
                    </a:solidFill>
                  </a:tcPr>
                </a:tc>
                <a:tc>
                  <a:txBody>
                    <a:bodyPr/>
                    <a:lstStyle/>
                    <a:p>
                      <a:pPr algn="ctr">
                        <a:defRPr sz="1000">
                          <a:latin typeface="Montserrat"/>
                        </a:defRPr>
                      </a:pPr>
                      <a:r>
                        <a:t>-806</a:t>
                      </a:r>
                    </a:p>
                  </a:txBody>
                  <a:tcPr marL="0" marR="0" marT="0" marB="0">
                    <a:solidFill>
                      <a:srgbClr val="FFFFFF"/>
                    </a:solidFill>
                  </a:tcPr>
                </a:tc>
                <a:tc>
                  <a:txBody>
                    <a:bodyPr/>
                    <a:lstStyle/>
                    <a:p>
                      <a:pPr algn="ctr">
                        <a:defRPr sz="1000">
                          <a:latin typeface="Montserrat"/>
                        </a:defRPr>
                      </a:pPr>
                      <a:r>
                        <a:t>29,300</a:t>
                      </a:r>
                    </a:p>
                  </a:txBody>
                  <a:tcPr marL="0" marR="0" marT="0" marB="0">
                    <a:solidFill>
                      <a:srgbClr val="ECD3D9"/>
                    </a:solidFill>
                  </a:tcPr>
                </a:tc>
                <a:tc>
                  <a:txBody>
                    <a:bodyPr/>
                    <a:lstStyle/>
                    <a:p>
                      <a:pPr algn="ctr">
                        <a:defRPr sz="1000">
                          <a:latin typeface="Montserrat"/>
                        </a:defRPr>
                      </a:pPr>
                      <a:r>
                        <a:t>64,000</a:t>
                      </a:r>
                    </a:p>
                  </a:txBody>
                  <a:tcPr marL="0" marR="0" marT="0" marB="0">
                    <a:solidFill>
                      <a:srgbClr val="ECD3D9"/>
                    </a:solidFill>
                  </a:tcPr>
                </a:tc>
                <a:tc>
                  <a:txBody>
                    <a:bodyPr/>
                    <a:lstStyle/>
                    <a:p>
                      <a:pPr algn="ctr">
                        <a:defRPr sz="1000">
                          <a:latin typeface="Montserrat"/>
                        </a:defRPr>
                      </a:pPr>
                      <a:r>
                        <a:t>45.8%</a:t>
                      </a:r>
                    </a:p>
                  </a:txBody>
                  <a:tcPr marL="0" marR="0" marT="0" marB="0">
                    <a:solidFill>
                      <a:srgbClr val="ECD3D9"/>
                    </a:solidFill>
                  </a:tcPr>
                </a:tc>
                <a:extLst>
                  <a:ext uri="{0D108BD9-81ED-4DB2-BD59-A6C34878D82A}">
                    <a16:rowId xmlns:a16="http://schemas.microsoft.com/office/drawing/2014/main" val="10029"/>
                  </a:ext>
                </a:extLst>
              </a:tr>
              <a:tr h="151200">
                <a:tc>
                  <a:txBody>
                    <a:bodyPr/>
                    <a:lstStyle/>
                    <a:p>
                      <a:pPr algn="l">
                        <a:defRPr sz="1000">
                          <a:latin typeface="Montserrat"/>
                        </a:defRPr>
                      </a:pPr>
                      <a:r>
                        <a:t>UMF 87 INFONAVIT</a:t>
                      </a:r>
                    </a:p>
                  </a:txBody>
                  <a:tcPr marL="0" marR="0" marT="0" marB="0">
                    <a:solidFill>
                      <a:srgbClr val="EFEFEF"/>
                    </a:solidFill>
                  </a:tcPr>
                </a:tc>
                <a:tc>
                  <a:txBody>
                    <a:bodyPr/>
                    <a:lstStyle/>
                    <a:p>
                      <a:pPr algn="ctr">
                        <a:defRPr sz="1000">
                          <a:latin typeface="Montserrat"/>
                        </a:defRPr>
                      </a:pPr>
                      <a:r>
                        <a:t>96,093</a:t>
                      </a:r>
                    </a:p>
                  </a:txBody>
                  <a:tcPr marL="0" marR="0" marT="0" marB="0">
                    <a:solidFill>
                      <a:srgbClr val="EFEFEF"/>
                    </a:solidFill>
                  </a:tcPr>
                </a:tc>
                <a:tc>
                  <a:txBody>
                    <a:bodyPr/>
                    <a:lstStyle/>
                    <a:p>
                      <a:pPr algn="ctr">
                        <a:defRPr sz="1000">
                          <a:latin typeface="Montserrat"/>
                        </a:defRPr>
                      </a:pPr>
                      <a:r>
                        <a:t>-503</a:t>
                      </a:r>
                    </a:p>
                  </a:txBody>
                  <a:tcPr marL="0" marR="0" marT="0" marB="0">
                    <a:solidFill>
                      <a:srgbClr val="EFEFEF"/>
                    </a:solidFill>
                  </a:tcPr>
                </a:tc>
                <a:tc>
                  <a:txBody>
                    <a:bodyPr/>
                    <a:lstStyle/>
                    <a:p>
                      <a:pPr algn="ctr">
                        <a:defRPr sz="1000">
                          <a:latin typeface="Montserrat"/>
                        </a:defRPr>
                      </a:pPr>
                      <a:r>
                        <a:t>44,755</a:t>
                      </a:r>
                    </a:p>
                  </a:txBody>
                  <a:tcPr marL="0" marR="0" marT="0" marB="0">
                    <a:solidFill>
                      <a:srgbClr val="ECD3D9"/>
                    </a:solidFill>
                  </a:tcPr>
                </a:tc>
                <a:tc>
                  <a:txBody>
                    <a:bodyPr/>
                    <a:lstStyle/>
                    <a:p>
                      <a:pPr algn="ctr">
                        <a:defRPr sz="1000">
                          <a:latin typeface="Montserrat"/>
                        </a:defRPr>
                      </a:pPr>
                      <a:r>
                        <a:t>100,224</a:t>
                      </a:r>
                    </a:p>
                  </a:txBody>
                  <a:tcPr marL="0" marR="0" marT="0" marB="0">
                    <a:solidFill>
                      <a:srgbClr val="ECD3D9"/>
                    </a:solidFill>
                  </a:tcPr>
                </a:tc>
                <a:tc>
                  <a:txBody>
                    <a:bodyPr/>
                    <a:lstStyle/>
                    <a:p>
                      <a:pPr algn="ctr">
                        <a:defRPr sz="1000">
                          <a:latin typeface="Montserrat"/>
                        </a:defRPr>
                      </a:pPr>
                      <a:r>
                        <a:t>44.7%</a:t>
                      </a:r>
                    </a:p>
                  </a:txBody>
                  <a:tcPr marL="0" marR="0" marT="0" marB="0">
                    <a:solidFill>
                      <a:srgbClr val="ECD3D9"/>
                    </a:solidFill>
                  </a:tcPr>
                </a:tc>
                <a:extLst>
                  <a:ext uri="{0D108BD9-81ED-4DB2-BD59-A6C34878D82A}">
                    <a16:rowId xmlns:a16="http://schemas.microsoft.com/office/drawing/2014/main" val="10030"/>
                  </a:ext>
                </a:extLst>
              </a:tr>
              <a:tr h="151200">
                <a:tc>
                  <a:txBody>
                    <a:bodyPr/>
                    <a:lstStyle/>
                    <a:p>
                      <a:pPr algn="l">
                        <a:defRPr sz="1000">
                          <a:latin typeface="Montserrat"/>
                        </a:defRPr>
                      </a:pPr>
                      <a:r>
                        <a:t>UMF 91 Saltillo</a:t>
                      </a:r>
                    </a:p>
                  </a:txBody>
                  <a:tcPr marL="0" marR="0" marT="0" marB="0">
                    <a:solidFill>
                      <a:srgbClr val="FFFFFF"/>
                    </a:solidFill>
                  </a:tcPr>
                </a:tc>
                <a:tc>
                  <a:txBody>
                    <a:bodyPr/>
                    <a:lstStyle/>
                    <a:p>
                      <a:pPr algn="ctr">
                        <a:defRPr sz="1000">
                          <a:latin typeface="Montserrat"/>
                        </a:defRPr>
                      </a:pPr>
                      <a:r>
                        <a:t>123,242</a:t>
                      </a:r>
                    </a:p>
                  </a:txBody>
                  <a:tcPr marL="0" marR="0" marT="0" marB="0">
                    <a:solidFill>
                      <a:srgbClr val="FFFFFF"/>
                    </a:solidFill>
                  </a:tcPr>
                </a:tc>
                <a:tc>
                  <a:txBody>
                    <a:bodyPr/>
                    <a:lstStyle/>
                    <a:p>
                      <a:pPr algn="ctr">
                        <a:defRPr sz="1000">
                          <a:latin typeface="Montserrat"/>
                        </a:defRPr>
                      </a:pPr>
                      <a:r>
                        <a:t>6,239</a:t>
                      </a:r>
                    </a:p>
                  </a:txBody>
                  <a:tcPr marL="0" marR="0" marT="0" marB="0">
                    <a:solidFill>
                      <a:srgbClr val="FFFFFF"/>
                    </a:solidFill>
                  </a:tcPr>
                </a:tc>
                <a:tc>
                  <a:txBody>
                    <a:bodyPr/>
                    <a:lstStyle/>
                    <a:p>
                      <a:pPr algn="ctr">
                        <a:defRPr sz="1000">
                          <a:latin typeface="Montserrat"/>
                        </a:defRPr>
                      </a:pPr>
                      <a:r>
                        <a:t>57,058</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45.5%</a:t>
                      </a:r>
                    </a:p>
                  </a:txBody>
                  <a:tcPr marL="0" marR="0" marT="0" marB="0">
                    <a:solidFill>
                      <a:srgbClr val="ECD3D9"/>
                    </a:solidFill>
                  </a:tcPr>
                </a:tc>
                <a:extLst>
                  <a:ext uri="{0D108BD9-81ED-4DB2-BD59-A6C34878D82A}">
                    <a16:rowId xmlns:a16="http://schemas.microsoft.com/office/drawing/2014/main" val="10031"/>
                  </a:ext>
                </a:extLst>
              </a:tr>
              <a:tr h="151200">
                <a:tc>
                  <a:txBody>
                    <a:bodyPr/>
                    <a:lstStyle/>
                    <a:p>
                      <a:pPr algn="l">
                        <a:defRPr sz="1000">
                          <a:latin typeface="Montserrat"/>
                        </a:defRPr>
                      </a:pPr>
                      <a:r>
                        <a:t>UMF 93 La joya</a:t>
                      </a:r>
                    </a:p>
                  </a:txBody>
                  <a:tcPr marL="0" marR="0" marT="0" marB="0">
                    <a:solidFill>
                      <a:srgbClr val="EFEFEF"/>
                    </a:solidFill>
                  </a:tcPr>
                </a:tc>
                <a:tc>
                  <a:txBody>
                    <a:bodyPr/>
                    <a:lstStyle/>
                    <a:p>
                      <a:pPr algn="ctr">
                        <a:defRPr sz="1000">
                          <a:latin typeface="Montserrat"/>
                        </a:defRPr>
                      </a:pPr>
                      <a:r>
                        <a:t>75,709</a:t>
                      </a:r>
                    </a:p>
                  </a:txBody>
                  <a:tcPr marL="0" marR="0" marT="0" marB="0">
                    <a:solidFill>
                      <a:srgbClr val="EFEFEF"/>
                    </a:solidFill>
                  </a:tcPr>
                </a:tc>
                <a:tc>
                  <a:txBody>
                    <a:bodyPr/>
                    <a:lstStyle/>
                    <a:p>
                      <a:pPr algn="ctr">
                        <a:defRPr sz="1000">
                          <a:latin typeface="Montserrat"/>
                        </a:defRPr>
                      </a:pPr>
                      <a:r>
                        <a:t>75,709</a:t>
                      </a:r>
                    </a:p>
                  </a:txBody>
                  <a:tcPr marL="0" marR="0" marT="0" marB="0">
                    <a:solidFill>
                      <a:srgbClr val="EFEFEF"/>
                    </a:solidFill>
                  </a:tcPr>
                </a:tc>
                <a:tc>
                  <a:txBody>
                    <a:bodyPr/>
                    <a:lstStyle/>
                    <a:p>
                      <a:pPr algn="ctr">
                        <a:defRPr sz="1000">
                          <a:latin typeface="Montserrat"/>
                        </a:defRPr>
                      </a:pPr>
                      <a:r>
                        <a:t>55,915</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44.6%</a:t>
                      </a:r>
                    </a:p>
                  </a:txBody>
                  <a:tcPr marL="0" marR="0" marT="0" marB="0">
                    <a:solidFill>
                      <a:srgbClr val="ECD3D9"/>
                    </a:solidFill>
                  </a:tcPr>
                </a:tc>
                <a:extLst>
                  <a:ext uri="{0D108BD9-81ED-4DB2-BD59-A6C34878D82A}">
                    <a16:rowId xmlns:a16="http://schemas.microsoft.com/office/drawing/2014/main" val="10032"/>
                  </a:ext>
                </a:extLst>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1,766,279</a:t>
                      </a:r>
                    </a:p>
                  </a:txBody>
                  <a:tcPr marL="0" marR="0" marT="0" marB="0">
                    <a:solidFill>
                      <a:srgbClr val="D3E9E7"/>
                    </a:solidFill>
                  </a:tcPr>
                </a:tc>
                <a:tc>
                  <a:txBody>
                    <a:bodyPr/>
                    <a:lstStyle/>
                    <a:p>
                      <a:pPr algn="ctr">
                        <a:defRPr sz="1000" b="1">
                          <a:solidFill>
                            <a:srgbClr val="006556"/>
                          </a:solidFill>
                          <a:latin typeface="Montserrat"/>
                        </a:defRPr>
                      </a:pPr>
                      <a:r>
                        <a:t>108,911</a:t>
                      </a:r>
                    </a:p>
                  </a:txBody>
                  <a:tcPr marL="0" marR="0" marT="0" marB="0">
                    <a:solidFill>
                      <a:srgbClr val="D3E9E7"/>
                    </a:solidFill>
                  </a:tcPr>
                </a:tc>
                <a:tc>
                  <a:txBody>
                    <a:bodyPr/>
                    <a:lstStyle/>
                    <a:p>
                      <a:pPr algn="ctr">
                        <a:defRPr sz="1000" b="1">
                          <a:solidFill>
                            <a:srgbClr val="FFFFFF"/>
                          </a:solidFill>
                          <a:latin typeface="Montserrat"/>
                        </a:defRPr>
                      </a:pPr>
                      <a:r>
                        <a:t>836,064</a:t>
                      </a:r>
                    </a:p>
                  </a:txBody>
                  <a:tcPr marL="0" marR="0" marT="0" marB="0">
                    <a:solidFill>
                      <a:srgbClr val="9F2241"/>
                    </a:solidFill>
                  </a:tcPr>
                </a:tc>
                <a:tc>
                  <a:txBody>
                    <a:bodyPr/>
                    <a:lstStyle/>
                    <a:p>
                      <a:pPr algn="ctr">
                        <a:defRPr sz="1000" b="1">
                          <a:solidFill>
                            <a:srgbClr val="FFFFFF"/>
                          </a:solidFill>
                          <a:latin typeface="Montserrat"/>
                        </a:defRPr>
                      </a:pPr>
                      <a:r>
                        <a:t>1,878,544</a:t>
                      </a:r>
                    </a:p>
                  </a:txBody>
                  <a:tcPr marL="0" marR="0" marT="0" marB="0">
                    <a:solidFill>
                      <a:srgbClr val="9F2241"/>
                    </a:solidFill>
                  </a:tcPr>
                </a:tc>
                <a:tc>
                  <a:txBody>
                    <a:bodyPr/>
                    <a:lstStyle/>
                    <a:p>
                      <a:pPr algn="ctr">
                        <a:defRPr sz="1000" b="1">
                          <a:solidFill>
                            <a:srgbClr val="FFFFFF"/>
                          </a:solidFill>
                          <a:latin typeface="Montserrat"/>
                        </a:defRPr>
                      </a:pPr>
                      <a:r>
                        <a:t>44.5%</a:t>
                      </a:r>
                    </a:p>
                  </a:txBody>
                  <a:tcPr marL="0" marR="0" marT="0" marB="0">
                    <a:solidFill>
                      <a:srgbClr val="9F2241"/>
                    </a:solidFill>
                  </a:tcPr>
                </a:tc>
                <a:extLst>
                  <a:ext uri="{0D108BD9-81ED-4DB2-BD59-A6C34878D82A}">
                    <a16:rowId xmlns:a16="http://schemas.microsoft.com/office/drawing/2014/main" val="10033"/>
                  </a:ext>
                </a:extLst>
              </a:tr>
            </a:tbl>
          </a:graphicData>
        </a:graphic>
      </p:graphicFrame>
      <p:graphicFrame>
        <p:nvGraphicFramePr>
          <p:cNvPr id="9" name="Chart 8"/>
          <p:cNvGraphicFramePr>
            <a:graphicFrameLocks noGrp="1"/>
          </p:cNvGraphicFramePr>
          <p:nvPr>
            <p:extLst>
              <p:ext uri="{D42A27DB-BD31-4B8C-83A1-F6EECF244321}">
                <p14:modId xmlns:p14="http://schemas.microsoft.com/office/powerpoint/2010/main" val="2690113043"/>
              </p:ext>
            </p:extLst>
          </p:nvPr>
        </p:nvGraphicFramePr>
        <p:xfrm>
          <a:off x="4985516" y="7332341"/>
          <a:ext cx="1800000" cy="180000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9"/>
          <p:cNvSpPr txBox="1"/>
          <p:nvPr/>
        </p:nvSpPr>
        <p:spPr>
          <a:xfrm>
            <a:off x="4985516" y="8006400"/>
            <a:ext cx="1800000" cy="360000"/>
          </a:xfrm>
          <a:prstGeom prst="rect">
            <a:avLst/>
          </a:prstGeom>
          <a:noFill/>
        </p:spPr>
        <p:txBody>
          <a:bodyPr wrap="none">
            <a:spAutoFit/>
          </a:bodyPr>
          <a:lstStyle/>
          <a:p>
            <a:pPr algn="ctr"/>
            <a:r>
              <a:rPr sz="2400" b="1">
                <a:solidFill>
                  <a:srgbClr val="9F2241"/>
                </a:solidFill>
                <a:latin typeface="Montserrat"/>
              </a:rPr>
              <a:t>44.5%</a:t>
            </a:r>
          </a:p>
        </p:txBody>
      </p:sp>
      <p:sp>
        <p:nvSpPr>
          <p:cNvPr id="11" name="TextBox 10"/>
          <p:cNvSpPr txBox="1"/>
          <p:nvPr/>
        </p:nvSpPr>
        <p:spPr>
          <a:xfrm>
            <a:off x="3855600" y="735895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2" name="TextBox 11"/>
          <p:cNvSpPr txBox="1"/>
          <p:nvPr/>
        </p:nvSpPr>
        <p:spPr>
          <a:xfrm>
            <a:off x="730799" y="7552800"/>
            <a:ext cx="2854800" cy="1198800"/>
          </a:xfrm>
          <a:prstGeom prst="rect">
            <a:avLst/>
          </a:prstGeom>
          <a:noFill/>
        </p:spPr>
        <p:txBody>
          <a:bodyPr wrap="square">
            <a:spAutoFit/>
          </a:bodyPr>
          <a:lstStyle/>
          <a:p>
            <a:pPr algn="ctr">
              <a:defRPr sz="3600" b="1">
                <a:solidFill>
                  <a:srgbClr val="9F2241"/>
                </a:solidFill>
                <a:latin typeface="Montserrat"/>
              </a:defRPr>
            </a:pPr>
            <a:r>
              <a:t>1,878,544 </a:t>
            </a:r>
            <a:br/>
            <a:r>
              <a:t>Meta 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11" name="CuadroTexto 10">
            <a:extLst>
              <a:ext uri="{FF2B5EF4-FFF2-40B4-BE49-F238E27FC236}">
                <a16:creationId xmlns:a16="http://schemas.microsoft.com/office/drawing/2014/main" id="{F0DCF302-2907-56E8-606C-7F21E9D471F3}"/>
              </a:ext>
            </a:extLst>
          </p:cNvPr>
          <p:cNvSpPr txBox="1"/>
          <p:nvPr/>
        </p:nvSpPr>
        <p:spPr>
          <a:xfrm>
            <a:off x="4486577" y="4215760"/>
            <a:ext cx="3006672" cy="1015663"/>
          </a:xfrm>
          <a:prstGeom prst="rect">
            <a:avLst/>
          </a:prstGeom>
          <a:noFill/>
        </p:spPr>
        <p:txBody>
          <a:bodyPr wrap="square">
            <a:spAutoFit/>
          </a:bodyPr>
          <a:lstStyle/>
          <a:p>
            <a:pPr algn="ctr">
              <a:defRPr sz="2000" b="1">
                <a:solidFill>
                  <a:srgbClr val="5B0F00"/>
                </a:solidFill>
                <a:latin typeface="Montserrat"/>
              </a:defRPr>
            </a:pPr>
            <a:r>
              <a:rPr lang="es-MX"/>
              <a:t>Proyectos 2026</a:t>
            </a:r>
          </a:p>
          <a:p>
            <a:pPr algn="ctr">
              <a:defRPr sz="2000" b="1">
                <a:solidFill>
                  <a:srgbClr val="5B0F00"/>
                </a:solidFill>
                <a:latin typeface="Montserrat"/>
              </a:defRPr>
            </a:pPr>
            <a:r>
              <a:rPr lang="es-MX"/>
              <a:t>4 Nuevas UMTC con   8 consultorios</a:t>
            </a:r>
          </a:p>
        </p:txBody>
      </p:sp>
      <p:graphicFrame>
        <p:nvGraphicFramePr>
          <p:cNvPr id="12" name="Tabla 11">
            <a:extLst>
              <a:ext uri="{FF2B5EF4-FFF2-40B4-BE49-F238E27FC236}">
                <a16:creationId xmlns:a16="http://schemas.microsoft.com/office/drawing/2014/main" id="{C5698DFF-0C68-FECC-333B-331C3D3BDE3B}"/>
              </a:ext>
            </a:extLst>
          </p:cNvPr>
          <p:cNvGraphicFramePr>
            <a:graphicFrameLocks noGrp="1"/>
          </p:cNvGraphicFramePr>
          <p:nvPr>
            <p:extLst>
              <p:ext uri="{D42A27DB-BD31-4B8C-83A1-F6EECF244321}">
                <p14:modId xmlns:p14="http://schemas.microsoft.com/office/powerpoint/2010/main" val="1344784740"/>
              </p:ext>
            </p:extLst>
          </p:nvPr>
        </p:nvGraphicFramePr>
        <p:xfrm>
          <a:off x="4963570" y="5464700"/>
          <a:ext cx="2808830" cy="1308735"/>
        </p:xfrm>
        <a:graphic>
          <a:graphicData uri="http://schemas.openxmlformats.org/drawingml/2006/table">
            <a:tbl>
              <a:tblPr>
                <a:tableStyleId>{4F9E4E24-231D-441B-AD27-9C975659944D}</a:tableStyleId>
              </a:tblPr>
              <a:tblGrid>
                <a:gridCol w="2808830">
                  <a:extLst>
                    <a:ext uri="{9D8B030D-6E8A-4147-A177-3AD203B41FA5}">
                      <a16:colId xmlns:a16="http://schemas.microsoft.com/office/drawing/2014/main" val="3003209570"/>
                    </a:ext>
                  </a:extLst>
                </a:gridCol>
              </a:tblGrid>
              <a:tr h="213360">
                <a:tc>
                  <a:txBody>
                    <a:bodyPr/>
                    <a:lstStyle/>
                    <a:p>
                      <a:pPr marL="228600" indent="-228600" algn="l" fontAlgn="b">
                        <a:buFont typeface="+mj-lt"/>
                        <a:buAutoNum type="arabicParenR"/>
                      </a:pPr>
                      <a:r>
                        <a:rPr lang="es-MX" sz="1400" b="0" u="none" strike="noStrike">
                          <a:effectLst/>
                          <a:latin typeface="Montserrat" panose="00000500000000000000" pitchFamily="2" charset="0"/>
                        </a:rPr>
                        <a:t>UMF  3  Ramos Arizpe</a:t>
                      </a:r>
                    </a:p>
                    <a:p>
                      <a:pPr marL="228600" indent="-228600" algn="l" fontAlgn="b">
                        <a:buFont typeface="+mj-lt"/>
                        <a:buAutoNum type="arabicParenR"/>
                      </a:pPr>
                      <a:r>
                        <a:rPr lang="es-MX" sz="1400" b="0" i="0" u="none" strike="noStrike">
                          <a:solidFill>
                            <a:srgbClr val="000000"/>
                          </a:solidFill>
                          <a:effectLst/>
                          <a:latin typeface="Montserrat" panose="00000500000000000000" pitchFamily="2" charset="0"/>
                        </a:rPr>
                        <a:t>UMF 91 Saltillo</a:t>
                      </a:r>
                    </a:p>
                    <a:p>
                      <a:pPr marL="228600" indent="-228600" algn="l" fontAlgn="b">
                        <a:buFont typeface="+mj-lt"/>
                        <a:buAutoNum type="arabicParenR"/>
                      </a:pPr>
                      <a:r>
                        <a:rPr lang="es-MX" sz="1400" b="0" i="0" u="none" strike="noStrike">
                          <a:solidFill>
                            <a:srgbClr val="000000"/>
                          </a:solidFill>
                          <a:effectLst/>
                          <a:latin typeface="Montserrat" panose="00000500000000000000" pitchFamily="2" charset="0"/>
                        </a:rPr>
                        <a:t>UMF 81 Cd Acuña</a:t>
                      </a:r>
                    </a:p>
                    <a:p>
                      <a:pPr marL="228600" indent="-228600" algn="l" fontAlgn="b">
                        <a:buFont typeface="+mj-lt"/>
                        <a:buAutoNum type="arabicParenR"/>
                      </a:pPr>
                      <a:r>
                        <a:rPr lang="es-MX" sz="1400" b="0" i="0" u="none" strike="noStrike">
                          <a:solidFill>
                            <a:srgbClr val="000000"/>
                          </a:solidFill>
                          <a:effectLst/>
                          <a:latin typeface="Montserrat" panose="00000500000000000000" pitchFamily="2" charset="0"/>
                        </a:rPr>
                        <a:t>UMF 9 Villa Frontera</a:t>
                      </a:r>
                    </a:p>
                  </a:txBody>
                  <a:tcPr marL="9525" marR="9525" marT="9525" marB="0" anchor="b">
                    <a:lnL w="12700" cmpd="sng">
                      <a:noFill/>
                      <a:prstDash val="solid"/>
                    </a:lnL>
                    <a:lnR w="12700" cmpd="sng">
                      <a:noFill/>
                      <a:prstDash val="solid"/>
                    </a:lnR>
                    <a:lnT w="1270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293740564"/>
                  </a:ext>
                </a:extLst>
              </a:tr>
              <a:tr h="213360">
                <a:tc>
                  <a:txBody>
                    <a:bodyPr/>
                    <a:lstStyle/>
                    <a:p>
                      <a:pPr marL="0" indent="0" algn="l" fontAlgn="b">
                        <a:buFont typeface="+mj-lt"/>
                        <a:buNone/>
                      </a:pPr>
                      <a:endParaRPr lang="es-MX" sz="1400" b="0" i="0" u="none" strike="noStrike">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721794832"/>
                  </a:ext>
                </a:extLst>
              </a:tr>
              <a:tr h="213360">
                <a:tc>
                  <a:txBody>
                    <a:bodyPr/>
                    <a:lstStyle/>
                    <a:p>
                      <a:pPr marL="0" indent="0" algn="l" fontAlgn="b">
                        <a:buFont typeface="+mj-lt"/>
                        <a:buNone/>
                      </a:pPr>
                      <a:endParaRPr lang="es-MX" sz="1400" b="0" i="0" u="none" strike="noStrike">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893022568"/>
                  </a:ext>
                </a:extLst>
              </a:tr>
            </a:tbl>
          </a:graphicData>
        </a:graphic>
      </p:graphicFrame>
      <p:sp>
        <p:nvSpPr>
          <p:cNvPr id="13" name="TextBox 1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14" name="TextBox 13"/>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39 Unidades de Medicina Familiar</a:t>
            </a:r>
          </a:p>
        </p:txBody>
      </p:sp>
      <p:sp>
        <p:nvSpPr>
          <p:cNvPr id="15" name="TextBox 14"/>
          <p:cNvSpPr txBox="1"/>
          <p:nvPr/>
        </p:nvSpPr>
        <p:spPr>
          <a:xfrm>
            <a:off x="147600" y="1073189"/>
            <a:ext cx="7473600" cy="381600"/>
          </a:xfrm>
          <a:prstGeom prst="rect">
            <a:avLst/>
          </a:prstGeom>
          <a:noFill/>
        </p:spPr>
        <p:txBody>
          <a:bodyPr wrap="none">
            <a:spAutoFit/>
          </a:bodyPr>
          <a:lstStyle/>
          <a:p>
            <a:pPr algn="l">
              <a:defRPr sz="1600" b="1">
                <a:solidFill>
                  <a:srgbClr val="5B0F00"/>
                </a:solidFill>
                <a:latin typeface="Montserrat"/>
              </a:defRPr>
            </a:pPr>
            <a:r>
              <a:t>7 Unidades Médicas de tiempo completo (29 </a:t>
            </a:r>
            <a:r>
              <a:rPr err="1"/>
              <a:t>consultorios</a:t>
            </a:r>
            <a:r>
              <a:t>)</a:t>
            </a:r>
          </a:p>
        </p:txBody>
      </p:sp>
      <p:sp>
        <p:nvSpPr>
          <p:cNvPr id="16" name="TextBox 15"/>
          <p:cNvSpPr txBox="1"/>
          <p:nvPr/>
        </p:nvSpPr>
        <p:spPr>
          <a:xfrm>
            <a:off x="118800" y="1593389"/>
            <a:ext cx="7473600" cy="288000"/>
          </a:xfrm>
          <a:prstGeom prst="rect">
            <a:avLst/>
          </a:prstGeom>
          <a:noFill/>
        </p:spPr>
        <p:txBody>
          <a:bodyPr wrap="none">
            <a:spAutoFit/>
          </a:bodyPr>
          <a:lstStyle/>
          <a:p>
            <a:pPr algn="l">
              <a:defRPr sz="1800" b="1">
                <a:solidFill>
                  <a:srgbClr val="009193"/>
                </a:solidFill>
                <a:latin typeface="Montserrat"/>
              </a:defRPr>
            </a:pPr>
            <a:r>
              <a:rPr err="1"/>
              <a:t>Productividad</a:t>
            </a:r>
            <a:r>
              <a:t> de </a:t>
            </a:r>
            <a:r>
              <a:rPr err="1"/>
              <a:t>consultas</a:t>
            </a:r>
            <a:r>
              <a:t> de </a:t>
            </a:r>
            <a:r>
              <a:rPr err="1"/>
              <a:t>medicina</a:t>
            </a:r>
            <a:r>
              <a:t> familiar 2025-2026</a:t>
            </a:r>
          </a:p>
        </p:txBody>
      </p:sp>
      <p:cxnSp>
        <p:nvCxnSpPr>
          <p:cNvPr id="17" name="Connector 16"/>
          <p:cNvCxnSpPr/>
          <p:nvPr/>
        </p:nvCxnSpPr>
        <p:spPr>
          <a:xfrm>
            <a:off x="118800" y="1424094"/>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47600" y="9532800"/>
            <a:ext cx="7473600" cy="399600"/>
          </a:xfrm>
          <a:prstGeom prst="rect">
            <a:avLst/>
          </a:prstGeom>
          <a:noFill/>
        </p:spPr>
        <p:txBody>
          <a:bodyPr wrap="square" lIns="0" tIns="0" rIns="0" bIns="0">
            <a:spAutoFit/>
          </a:bodyPr>
          <a:lstStyle/>
          <a:p>
            <a:pPr algn="l">
              <a:defRPr sz="800">
                <a:solidFill>
                  <a:srgbClr val="FFFFFF"/>
                </a:solidFill>
                <a:latin typeface="Montserrat"/>
              </a:defRPr>
            </a:pPr>
            <a:r>
              <a:t>En el año 2025 no incluye información de HR y UMR.</a:t>
            </a:r>
            <a:br/>
            <a:r>
              <a:t>No incluye Unidades Auxiliares de Medicina Familiar, ni hospitales con servicio de medicina familiar.</a:t>
            </a:r>
            <a:br/>
            <a:r>
              <a:t>El año de proceso inicia del 26 de diciembre del año anterior al 25 de diciembre del año en curso: 2025 (del 26 de Dic de 2024 al 25 de Dic de 2025).</a:t>
            </a:r>
            <a:br/>
            <a:r>
              <a:t>Corte de información: Semana 24, 7 junio 2026</a:t>
            </a:r>
          </a:p>
        </p:txBody>
      </p:sp>
      <p:sp>
        <p:nvSpPr>
          <p:cNvPr id="19" name="TextBox 18"/>
          <p:cNvSpPr txBox="1"/>
          <p:nvPr/>
        </p:nvSpPr>
        <p:spPr>
          <a:xfrm>
            <a:off x="2241000" y="4595332"/>
            <a:ext cx="1810800" cy="1569600"/>
          </a:xfrm>
          <a:prstGeom prst="rect">
            <a:avLst/>
          </a:prstGeom>
          <a:noFill/>
        </p:spPr>
        <p:txBody>
          <a:bodyPr wrap="square">
            <a:spAutoFit/>
          </a:bodyPr>
          <a:lstStyle/>
          <a:p>
            <a:pPr algn="l">
              <a:defRPr sz="1600" b="1">
                <a:solidFill>
                  <a:srgbClr val="000000"/>
                </a:solidFill>
                <a:latin typeface="Montserrat"/>
              </a:defRPr>
            </a:pPr>
            <a:r>
              <a:t>de las </a:t>
            </a:r>
            <a:r>
              <a:rPr err="1"/>
              <a:t>consultas</a:t>
            </a:r>
            <a:r>
              <a:t> en 2025 </a:t>
            </a:r>
            <a:r>
              <a:rPr err="1"/>
              <a:t>fueron</a:t>
            </a:r>
            <a:r>
              <a:t> en fin de </a:t>
            </a:r>
            <a:r>
              <a:rPr err="1"/>
              <a:t>semana</a:t>
            </a:r>
            <a:r>
              <a:t> (145,548 </a:t>
            </a:r>
            <a:r>
              <a:rPr err="1"/>
              <a:t>consultas</a:t>
            </a:r>
            <a:r>
              <a:t>)</a:t>
            </a:r>
          </a:p>
        </p:txBody>
      </p:sp>
      <p:graphicFrame>
        <p:nvGraphicFramePr>
          <p:cNvPr id="20" name="Table 19"/>
          <p:cNvGraphicFramePr>
            <a:graphicFrameLocks noGrp="1"/>
          </p:cNvGraphicFramePr>
          <p:nvPr>
            <p:extLst>
              <p:ext uri="{D42A27DB-BD31-4B8C-83A1-F6EECF244321}">
                <p14:modId xmlns:p14="http://schemas.microsoft.com/office/powerpoint/2010/main" val="445016835"/>
              </p:ext>
            </p:extLst>
          </p:nvPr>
        </p:nvGraphicFramePr>
        <p:xfrm>
          <a:off x="147601" y="2041589"/>
          <a:ext cx="7473599" cy="1615440"/>
        </p:xfrm>
        <a:graphic>
          <a:graphicData uri="http://schemas.openxmlformats.org/drawingml/2006/table">
            <a:tbl>
              <a:tblPr firstRow="1" bandRow="1">
                <a:tableStyleId>{5C22544A-7EE6-4342-B048-85BDC9FD1C3A}</a:tableStyleId>
              </a:tblPr>
              <a:tblGrid>
                <a:gridCol w="1681200">
                  <a:extLst>
                    <a:ext uri="{9D8B030D-6E8A-4147-A177-3AD203B41FA5}">
                      <a16:colId xmlns:a16="http://schemas.microsoft.com/office/drawing/2014/main" val="20000"/>
                    </a:ext>
                  </a:extLst>
                </a:gridCol>
                <a:gridCol w="1206000">
                  <a:extLst>
                    <a:ext uri="{9D8B030D-6E8A-4147-A177-3AD203B41FA5}">
                      <a16:colId xmlns:a16="http://schemas.microsoft.com/office/drawing/2014/main" val="20001"/>
                    </a:ext>
                  </a:extLst>
                </a:gridCol>
                <a:gridCol w="1216800">
                  <a:extLst>
                    <a:ext uri="{9D8B030D-6E8A-4147-A177-3AD203B41FA5}">
                      <a16:colId xmlns:a16="http://schemas.microsoft.com/office/drawing/2014/main" val="20002"/>
                    </a:ext>
                  </a:extLst>
                </a:gridCol>
                <a:gridCol w="1256400">
                  <a:extLst>
                    <a:ext uri="{9D8B030D-6E8A-4147-A177-3AD203B41FA5}">
                      <a16:colId xmlns:a16="http://schemas.microsoft.com/office/drawing/2014/main" val="20003"/>
                    </a:ext>
                  </a:extLst>
                </a:gridCol>
                <a:gridCol w="827999">
                  <a:extLst>
                    <a:ext uri="{9D8B030D-6E8A-4147-A177-3AD203B41FA5}">
                      <a16:colId xmlns:a16="http://schemas.microsoft.com/office/drawing/2014/main" val="20004"/>
                    </a:ext>
                  </a:extLst>
                </a:gridCol>
                <a:gridCol w="1285200">
                  <a:extLst>
                    <a:ext uri="{9D8B030D-6E8A-4147-A177-3AD203B41FA5}">
                      <a16:colId xmlns:a16="http://schemas.microsoft.com/office/drawing/2014/main" val="20005"/>
                    </a:ext>
                  </a:extLst>
                </a:gridCol>
              </a:tblGrid>
              <a:tr h="151200">
                <a:tc>
                  <a:txBody>
                    <a:bodyPr/>
                    <a:lstStyle/>
                    <a:p>
                      <a:pPr algn="ctr">
                        <a:defRPr sz="1000" b="1">
                          <a:solidFill>
                            <a:srgbClr val="FFFFFF"/>
                          </a:solidFill>
                          <a:latin typeface="Montserrat"/>
                        </a:defRPr>
                      </a:pPr>
                      <a:r>
                        <a:t>Unidad</a:t>
                      </a:r>
                    </a:p>
                  </a:txBody>
                  <a:tcPr anchor="ctr">
                    <a:solidFill>
                      <a:srgbClr val="006455"/>
                    </a:solidFill>
                  </a:tcPr>
                </a:tc>
                <a:tc>
                  <a:txBody>
                    <a:bodyPr/>
                    <a:lstStyle/>
                    <a:p>
                      <a:pPr algn="ctr">
                        <a:defRPr sz="1000" b="1">
                          <a:solidFill>
                            <a:srgbClr val="FFFFFF"/>
                          </a:solidFill>
                          <a:latin typeface="Montserrat"/>
                        </a:defRPr>
                      </a:pPr>
                      <a:r>
                        <a:t>2025</a:t>
                      </a:r>
                    </a:p>
                  </a:txBody>
                  <a:tcPr anchor="ctr">
                    <a:solidFill>
                      <a:srgbClr val="006455"/>
                    </a:solidFill>
                  </a:tcPr>
                </a:tc>
                <a:tc>
                  <a:txBody>
                    <a:bodyPr/>
                    <a:lstStyle/>
                    <a:p>
                      <a:pPr algn="ctr">
                        <a:defRPr sz="1000" b="1">
                          <a:solidFill>
                            <a:srgbClr val="FFFFFF"/>
                          </a:solidFill>
                          <a:latin typeface="Montserrat"/>
                        </a:defRPr>
                      </a:pPr>
                      <a:r>
                        <a:t>Incremento 2024 vs 2025</a:t>
                      </a:r>
                    </a:p>
                  </a:txBody>
                  <a:tcPr anchor="ctr">
                    <a:solidFill>
                      <a:srgbClr val="006455"/>
                    </a:solidFill>
                  </a:tcPr>
                </a:tc>
                <a:tc>
                  <a:txBody>
                    <a:bodyPr/>
                    <a:lstStyle/>
                    <a:p>
                      <a:pPr algn="ctr">
                        <a:defRPr sz="1000" b="1">
                          <a:solidFill>
                            <a:srgbClr val="FFFFFF"/>
                          </a:solidFill>
                          <a:latin typeface="Montserrat"/>
                        </a:defRPr>
                      </a:pPr>
                      <a:r>
                        <a:t>Avance 2026</a:t>
                      </a:r>
                    </a:p>
                  </a:txBody>
                  <a:tcPr anchor="ctr">
                    <a:solidFill>
                      <a:srgbClr val="9F2241"/>
                    </a:solidFill>
                  </a:tcPr>
                </a:tc>
                <a:tc>
                  <a:txBody>
                    <a:bodyPr/>
                    <a:lstStyle/>
                    <a:p>
                      <a:pPr algn="ctr">
                        <a:defRPr sz="1000" b="1">
                          <a:solidFill>
                            <a:srgbClr val="FFFFFF"/>
                          </a:solidFill>
                          <a:latin typeface="Montserrat"/>
                        </a:defRPr>
                      </a:pPr>
                      <a:r>
                        <a:t>Meta 2026</a:t>
                      </a:r>
                    </a:p>
                  </a:txBody>
                  <a:tcPr anchor="ctr">
                    <a:solidFill>
                      <a:srgbClr val="9F2241"/>
                    </a:solidFill>
                  </a:tcPr>
                </a:tc>
                <a:tc>
                  <a:txBody>
                    <a:bodyPr/>
                    <a:lstStyle/>
                    <a:p>
                      <a:pPr algn="ctr">
                        <a:defRPr sz="1000" b="1">
                          <a:solidFill>
                            <a:srgbClr val="FFFFFF"/>
                          </a:solidFill>
                          <a:latin typeface="Montserrat"/>
                        </a:defRPr>
                      </a:pPr>
                      <a:r>
                        <a:t>% avance anual</a:t>
                      </a:r>
                    </a:p>
                  </a:txBody>
                  <a:tcPr anchor="ctr">
                    <a:solidFill>
                      <a:srgbClr val="9F2241"/>
                    </a:solidFill>
                  </a:tcPr>
                </a:tc>
                <a:extLst>
                  <a:ext uri="{0D108BD9-81ED-4DB2-BD59-A6C34878D82A}">
                    <a16:rowId xmlns:a16="http://schemas.microsoft.com/office/drawing/2014/main" val="10000"/>
                  </a:ext>
                </a:extLst>
              </a:tr>
              <a:tr h="151200">
                <a:tc>
                  <a:txBody>
                    <a:bodyPr/>
                    <a:lstStyle/>
                    <a:p>
                      <a:pPr algn="l">
                        <a:defRPr sz="1000">
                          <a:solidFill>
                            <a:srgbClr val="000000"/>
                          </a:solidFill>
                          <a:latin typeface="Montserrat"/>
                        </a:defRPr>
                      </a:pPr>
                      <a:r>
                        <a:t>UMF 66 Torreón</a:t>
                      </a:r>
                    </a:p>
                  </a:txBody>
                  <a:tcPr marL="0" marR="0" marT="0" marB="0">
                    <a:solidFill>
                      <a:srgbClr val="FFFFFF"/>
                    </a:solidFill>
                  </a:tcPr>
                </a:tc>
                <a:tc>
                  <a:txBody>
                    <a:bodyPr/>
                    <a:lstStyle/>
                    <a:p>
                      <a:pPr algn="ctr">
                        <a:defRPr sz="1000">
                          <a:solidFill>
                            <a:srgbClr val="000000"/>
                          </a:solidFill>
                          <a:latin typeface="Montserrat"/>
                        </a:defRPr>
                      </a:pPr>
                      <a:r>
                        <a:t>290,295</a:t>
                      </a:r>
                    </a:p>
                  </a:txBody>
                  <a:tcPr marL="0" marR="0" marT="0" marB="0">
                    <a:solidFill>
                      <a:srgbClr val="FFFFFF"/>
                    </a:solidFill>
                  </a:tcPr>
                </a:tc>
                <a:tc>
                  <a:txBody>
                    <a:bodyPr/>
                    <a:lstStyle/>
                    <a:p>
                      <a:pPr algn="ctr">
                        <a:defRPr sz="1000">
                          <a:solidFill>
                            <a:srgbClr val="000000"/>
                          </a:solidFill>
                          <a:latin typeface="Montserrat"/>
                        </a:defRPr>
                      </a:pPr>
                      <a:r>
                        <a:t>-3,877</a:t>
                      </a:r>
                    </a:p>
                  </a:txBody>
                  <a:tcPr marL="0" marR="0" marT="0" marB="0">
                    <a:solidFill>
                      <a:srgbClr val="FFFFFF"/>
                    </a:solidFill>
                  </a:tcPr>
                </a:tc>
                <a:tc>
                  <a:txBody>
                    <a:bodyPr/>
                    <a:lstStyle/>
                    <a:p>
                      <a:pPr algn="ctr">
                        <a:defRPr sz="1000">
                          <a:solidFill>
                            <a:srgbClr val="000000"/>
                          </a:solidFill>
                          <a:latin typeface="Montserrat"/>
                        </a:defRPr>
                      </a:pPr>
                      <a:r>
                        <a:t>131,477</a:t>
                      </a:r>
                    </a:p>
                  </a:txBody>
                  <a:tcPr marL="0" marR="0" marT="0" marB="0">
                    <a:solidFill>
                      <a:srgbClr val="ECD3D9"/>
                    </a:solidFill>
                  </a:tcPr>
                </a:tc>
                <a:tc>
                  <a:txBody>
                    <a:bodyPr/>
                    <a:lstStyle/>
                    <a:p>
                      <a:pPr algn="ctr">
                        <a:defRPr sz="1000">
                          <a:solidFill>
                            <a:srgbClr val="000000"/>
                          </a:solidFill>
                          <a:latin typeface="Montserrat"/>
                        </a:defRPr>
                      </a:pPr>
                      <a:r>
                        <a:t>282,000</a:t>
                      </a:r>
                    </a:p>
                  </a:txBody>
                  <a:tcPr marL="0" marR="0" marT="0" marB="0">
                    <a:solidFill>
                      <a:srgbClr val="ECD3D9"/>
                    </a:solidFill>
                  </a:tcPr>
                </a:tc>
                <a:tc>
                  <a:txBody>
                    <a:bodyPr/>
                    <a:lstStyle/>
                    <a:p>
                      <a:pPr algn="ctr">
                        <a:defRPr sz="1000">
                          <a:solidFill>
                            <a:srgbClr val="000000"/>
                          </a:solidFill>
                          <a:latin typeface="Montserrat"/>
                        </a:defRPr>
                      </a:pPr>
                      <a:r>
                        <a:t>46.6%</a:t>
                      </a:r>
                    </a:p>
                  </a:txBody>
                  <a:tcPr marL="0" marR="0" marT="0" marB="0">
                    <a:solidFill>
                      <a:srgbClr val="ECD3D9"/>
                    </a:solidFill>
                  </a:tcPr>
                </a:tc>
                <a:extLst>
                  <a:ext uri="{0D108BD9-81ED-4DB2-BD59-A6C34878D82A}">
                    <a16:rowId xmlns:a16="http://schemas.microsoft.com/office/drawing/2014/main" val="10001"/>
                  </a:ext>
                </a:extLst>
              </a:tr>
              <a:tr h="151200">
                <a:tc>
                  <a:txBody>
                    <a:bodyPr/>
                    <a:lstStyle/>
                    <a:p>
                      <a:pPr algn="l">
                        <a:defRPr sz="1000">
                          <a:solidFill>
                            <a:srgbClr val="000000"/>
                          </a:solidFill>
                          <a:latin typeface="Montserrat"/>
                        </a:defRPr>
                      </a:pPr>
                      <a:r>
                        <a:t>UMF 83 Matamoros</a:t>
                      </a:r>
                    </a:p>
                  </a:txBody>
                  <a:tcPr marL="0" marR="0" marT="0" marB="0">
                    <a:solidFill>
                      <a:srgbClr val="EFEFEF"/>
                    </a:solidFill>
                  </a:tcPr>
                </a:tc>
                <a:tc>
                  <a:txBody>
                    <a:bodyPr/>
                    <a:lstStyle/>
                    <a:p>
                      <a:pPr algn="ctr">
                        <a:defRPr sz="1000">
                          <a:solidFill>
                            <a:srgbClr val="000000"/>
                          </a:solidFill>
                          <a:latin typeface="Montserrat"/>
                        </a:defRPr>
                      </a:pPr>
                      <a:r>
                        <a:t>87,581</a:t>
                      </a:r>
                    </a:p>
                  </a:txBody>
                  <a:tcPr marL="0" marR="0" marT="0" marB="0">
                    <a:solidFill>
                      <a:srgbClr val="EFEFEF"/>
                    </a:solidFill>
                  </a:tcPr>
                </a:tc>
                <a:tc>
                  <a:txBody>
                    <a:bodyPr/>
                    <a:lstStyle/>
                    <a:p>
                      <a:pPr algn="ctr">
                        <a:defRPr sz="1000">
                          <a:solidFill>
                            <a:srgbClr val="000000"/>
                          </a:solidFill>
                          <a:latin typeface="Montserrat"/>
                        </a:defRPr>
                      </a:pPr>
                      <a:r>
                        <a:t>6,242</a:t>
                      </a:r>
                    </a:p>
                  </a:txBody>
                  <a:tcPr marL="0" marR="0" marT="0" marB="0">
                    <a:solidFill>
                      <a:srgbClr val="EFEFEF"/>
                    </a:solidFill>
                  </a:tcPr>
                </a:tc>
                <a:tc>
                  <a:txBody>
                    <a:bodyPr/>
                    <a:lstStyle/>
                    <a:p>
                      <a:pPr algn="ctr">
                        <a:defRPr sz="1000">
                          <a:solidFill>
                            <a:srgbClr val="000000"/>
                          </a:solidFill>
                          <a:latin typeface="Montserrat"/>
                        </a:defRPr>
                      </a:pPr>
                      <a:r>
                        <a:t>39,955</a:t>
                      </a:r>
                    </a:p>
                  </a:txBody>
                  <a:tcPr marL="0" marR="0" marT="0" marB="0">
                    <a:solidFill>
                      <a:srgbClr val="ECD3D9"/>
                    </a:solidFill>
                  </a:tcPr>
                </a:tc>
                <a:tc>
                  <a:txBody>
                    <a:bodyPr/>
                    <a:lstStyle/>
                    <a:p>
                      <a:pPr algn="ctr">
                        <a:defRPr sz="1000">
                          <a:solidFill>
                            <a:srgbClr val="000000"/>
                          </a:solidFill>
                          <a:latin typeface="Montserrat"/>
                        </a:defRPr>
                      </a:pPr>
                      <a:r>
                        <a:t>85,000</a:t>
                      </a:r>
                    </a:p>
                  </a:txBody>
                  <a:tcPr marL="0" marR="0" marT="0" marB="0">
                    <a:solidFill>
                      <a:srgbClr val="ECD3D9"/>
                    </a:solidFill>
                  </a:tcPr>
                </a:tc>
                <a:tc>
                  <a:txBody>
                    <a:bodyPr/>
                    <a:lstStyle/>
                    <a:p>
                      <a:pPr algn="ctr">
                        <a:defRPr sz="1000">
                          <a:solidFill>
                            <a:srgbClr val="000000"/>
                          </a:solidFill>
                          <a:latin typeface="Montserrat"/>
                        </a:defRPr>
                      </a:pPr>
                      <a:r>
                        <a:t>47.0%</a:t>
                      </a:r>
                    </a:p>
                  </a:txBody>
                  <a:tcPr marL="0" marR="0" marT="0" marB="0">
                    <a:solidFill>
                      <a:srgbClr val="ECD3D9"/>
                    </a:solidFill>
                  </a:tcPr>
                </a:tc>
                <a:extLst>
                  <a:ext uri="{0D108BD9-81ED-4DB2-BD59-A6C34878D82A}">
                    <a16:rowId xmlns:a16="http://schemas.microsoft.com/office/drawing/2014/main" val="10002"/>
                  </a:ext>
                </a:extLst>
              </a:tr>
              <a:tr h="151200">
                <a:tc>
                  <a:txBody>
                    <a:bodyPr/>
                    <a:lstStyle/>
                    <a:p>
                      <a:pPr algn="l">
                        <a:defRPr sz="1000">
                          <a:solidFill>
                            <a:srgbClr val="000000"/>
                          </a:solidFill>
                          <a:latin typeface="Montserrat"/>
                        </a:defRPr>
                      </a:pPr>
                      <a:r>
                        <a:t>UMF 73 Saltillo</a:t>
                      </a:r>
                    </a:p>
                  </a:txBody>
                  <a:tcPr marL="0" marR="0" marT="0" marB="0">
                    <a:solidFill>
                      <a:srgbClr val="FFFFFF"/>
                    </a:solidFill>
                  </a:tcPr>
                </a:tc>
                <a:tc>
                  <a:txBody>
                    <a:bodyPr/>
                    <a:lstStyle/>
                    <a:p>
                      <a:pPr algn="ctr">
                        <a:defRPr sz="1000">
                          <a:solidFill>
                            <a:srgbClr val="000000"/>
                          </a:solidFill>
                          <a:latin typeface="Montserrat"/>
                        </a:defRPr>
                      </a:pPr>
                      <a:r>
                        <a:t>266,269</a:t>
                      </a:r>
                    </a:p>
                  </a:txBody>
                  <a:tcPr marL="0" marR="0" marT="0" marB="0">
                    <a:solidFill>
                      <a:srgbClr val="FFFFFF"/>
                    </a:solidFill>
                  </a:tcPr>
                </a:tc>
                <a:tc>
                  <a:txBody>
                    <a:bodyPr/>
                    <a:lstStyle/>
                    <a:p>
                      <a:pPr algn="ctr">
                        <a:defRPr sz="1000">
                          <a:solidFill>
                            <a:srgbClr val="000000"/>
                          </a:solidFill>
                          <a:latin typeface="Montserrat"/>
                        </a:defRPr>
                      </a:pPr>
                      <a:r>
                        <a:t>10,561</a:t>
                      </a:r>
                    </a:p>
                  </a:txBody>
                  <a:tcPr marL="0" marR="0" marT="0" marB="0">
                    <a:solidFill>
                      <a:srgbClr val="FFFFFF"/>
                    </a:solidFill>
                  </a:tcPr>
                </a:tc>
                <a:tc>
                  <a:txBody>
                    <a:bodyPr/>
                    <a:lstStyle/>
                    <a:p>
                      <a:pPr algn="ctr">
                        <a:defRPr sz="1000">
                          <a:solidFill>
                            <a:srgbClr val="000000"/>
                          </a:solidFill>
                          <a:latin typeface="Montserrat"/>
                        </a:defRPr>
                      </a:pPr>
                      <a:r>
                        <a:t>124,956</a:t>
                      </a:r>
                    </a:p>
                  </a:txBody>
                  <a:tcPr marL="0" marR="0" marT="0" marB="0">
                    <a:solidFill>
                      <a:srgbClr val="ECD3D9"/>
                    </a:solidFill>
                  </a:tcPr>
                </a:tc>
                <a:tc>
                  <a:txBody>
                    <a:bodyPr/>
                    <a:lstStyle/>
                    <a:p>
                      <a:pPr algn="ctr">
                        <a:defRPr sz="1000">
                          <a:solidFill>
                            <a:srgbClr val="000000"/>
                          </a:solidFill>
                          <a:latin typeface="Montserrat"/>
                        </a:defRPr>
                      </a:pPr>
                      <a:r>
                        <a:t>275,520</a:t>
                      </a:r>
                    </a:p>
                  </a:txBody>
                  <a:tcPr marL="0" marR="0" marT="0" marB="0">
                    <a:solidFill>
                      <a:srgbClr val="ECD3D9"/>
                    </a:solidFill>
                  </a:tcPr>
                </a:tc>
                <a:tc>
                  <a:txBody>
                    <a:bodyPr/>
                    <a:lstStyle/>
                    <a:p>
                      <a:pPr algn="ctr">
                        <a:defRPr sz="1000">
                          <a:solidFill>
                            <a:srgbClr val="000000"/>
                          </a:solidFill>
                          <a:latin typeface="Montserrat"/>
                        </a:defRPr>
                      </a:pPr>
                      <a:r>
                        <a:t>45.4%</a:t>
                      </a:r>
                    </a:p>
                  </a:txBody>
                  <a:tcPr marL="0" marR="0" marT="0" marB="0">
                    <a:solidFill>
                      <a:srgbClr val="ECD3D9"/>
                    </a:solidFill>
                  </a:tcPr>
                </a:tc>
                <a:extLst>
                  <a:ext uri="{0D108BD9-81ED-4DB2-BD59-A6C34878D82A}">
                    <a16:rowId xmlns:a16="http://schemas.microsoft.com/office/drawing/2014/main" val="10003"/>
                  </a:ext>
                </a:extLst>
              </a:tr>
              <a:tr h="151200">
                <a:tc>
                  <a:txBody>
                    <a:bodyPr/>
                    <a:lstStyle/>
                    <a:p>
                      <a:pPr algn="l">
                        <a:defRPr sz="1000">
                          <a:solidFill>
                            <a:srgbClr val="000000"/>
                          </a:solidFill>
                          <a:latin typeface="Montserrat"/>
                        </a:defRPr>
                      </a:pPr>
                      <a:r>
                        <a:t>UMF 82 Urdiñola</a:t>
                      </a:r>
                    </a:p>
                  </a:txBody>
                  <a:tcPr marL="0" marR="0" marT="0" marB="0">
                    <a:solidFill>
                      <a:srgbClr val="EFEFEF"/>
                    </a:solidFill>
                  </a:tcPr>
                </a:tc>
                <a:tc>
                  <a:txBody>
                    <a:bodyPr/>
                    <a:lstStyle/>
                    <a:p>
                      <a:pPr algn="ctr">
                        <a:defRPr sz="1000">
                          <a:solidFill>
                            <a:srgbClr val="000000"/>
                          </a:solidFill>
                          <a:latin typeface="Montserrat"/>
                        </a:defRPr>
                      </a:pPr>
                      <a:r>
                        <a:t>276,484</a:t>
                      </a:r>
                    </a:p>
                  </a:txBody>
                  <a:tcPr marL="0" marR="0" marT="0" marB="0">
                    <a:solidFill>
                      <a:srgbClr val="EFEFEF"/>
                    </a:solidFill>
                  </a:tcPr>
                </a:tc>
                <a:tc>
                  <a:txBody>
                    <a:bodyPr/>
                    <a:lstStyle/>
                    <a:p>
                      <a:pPr algn="ctr">
                        <a:defRPr sz="1000">
                          <a:solidFill>
                            <a:srgbClr val="000000"/>
                          </a:solidFill>
                          <a:latin typeface="Montserrat"/>
                        </a:defRPr>
                      </a:pPr>
                      <a:r>
                        <a:t>15,242</a:t>
                      </a:r>
                    </a:p>
                  </a:txBody>
                  <a:tcPr marL="0" marR="0" marT="0" marB="0">
                    <a:solidFill>
                      <a:srgbClr val="EFEFEF"/>
                    </a:solidFill>
                  </a:tcPr>
                </a:tc>
                <a:tc>
                  <a:txBody>
                    <a:bodyPr/>
                    <a:lstStyle/>
                    <a:p>
                      <a:pPr algn="ctr">
                        <a:defRPr sz="1000">
                          <a:solidFill>
                            <a:srgbClr val="000000"/>
                          </a:solidFill>
                          <a:latin typeface="Montserrat"/>
                        </a:defRPr>
                      </a:pPr>
                      <a:r>
                        <a:t>130,672</a:t>
                      </a:r>
                    </a:p>
                  </a:txBody>
                  <a:tcPr marL="0" marR="0" marT="0" marB="0">
                    <a:solidFill>
                      <a:srgbClr val="ECD3D9"/>
                    </a:solidFill>
                  </a:tcPr>
                </a:tc>
                <a:tc>
                  <a:txBody>
                    <a:bodyPr/>
                    <a:lstStyle/>
                    <a:p>
                      <a:pPr algn="ctr">
                        <a:defRPr sz="1000">
                          <a:solidFill>
                            <a:srgbClr val="000000"/>
                          </a:solidFill>
                          <a:latin typeface="Montserrat"/>
                        </a:defRPr>
                      </a:pPr>
                      <a:r>
                        <a:t>275,520</a:t>
                      </a:r>
                    </a:p>
                  </a:txBody>
                  <a:tcPr marL="0" marR="0" marT="0" marB="0">
                    <a:solidFill>
                      <a:srgbClr val="ECD3D9"/>
                    </a:solidFill>
                  </a:tcPr>
                </a:tc>
                <a:tc>
                  <a:txBody>
                    <a:bodyPr/>
                    <a:lstStyle/>
                    <a:p>
                      <a:pPr algn="ctr">
                        <a:defRPr sz="1000">
                          <a:solidFill>
                            <a:srgbClr val="000000"/>
                          </a:solidFill>
                          <a:latin typeface="Montserrat"/>
                        </a:defRPr>
                      </a:pPr>
                      <a:r>
                        <a:t>47.4%</a:t>
                      </a:r>
                    </a:p>
                  </a:txBody>
                  <a:tcPr marL="0" marR="0" marT="0" marB="0">
                    <a:solidFill>
                      <a:srgbClr val="ECD3D9"/>
                    </a:solidFill>
                  </a:tcPr>
                </a:tc>
                <a:extLst>
                  <a:ext uri="{0D108BD9-81ED-4DB2-BD59-A6C34878D82A}">
                    <a16:rowId xmlns:a16="http://schemas.microsoft.com/office/drawing/2014/main" val="10004"/>
                  </a:ext>
                </a:extLst>
              </a:tr>
              <a:tr h="151200">
                <a:tc>
                  <a:txBody>
                    <a:bodyPr/>
                    <a:lstStyle/>
                    <a:p>
                      <a:pPr algn="l">
                        <a:defRPr sz="1000">
                          <a:solidFill>
                            <a:srgbClr val="000000"/>
                          </a:solidFill>
                          <a:latin typeface="Montserrat"/>
                        </a:defRPr>
                      </a:pPr>
                      <a:r>
                        <a:t>UMF 86 Monclova</a:t>
                      </a:r>
                    </a:p>
                  </a:txBody>
                  <a:tcPr marL="0" marR="0" marT="0" marB="0">
                    <a:solidFill>
                      <a:srgbClr val="FFFFFF"/>
                    </a:solidFill>
                  </a:tcPr>
                </a:tc>
                <a:tc>
                  <a:txBody>
                    <a:bodyPr/>
                    <a:lstStyle/>
                    <a:p>
                      <a:pPr algn="ctr">
                        <a:defRPr sz="1000">
                          <a:solidFill>
                            <a:srgbClr val="000000"/>
                          </a:solidFill>
                          <a:latin typeface="Montserrat"/>
                        </a:defRPr>
                      </a:pPr>
                      <a:r>
                        <a:t>73,239</a:t>
                      </a:r>
                    </a:p>
                  </a:txBody>
                  <a:tcPr marL="0" marR="0" marT="0" marB="0">
                    <a:solidFill>
                      <a:srgbClr val="FFFFFF"/>
                    </a:solidFill>
                  </a:tcPr>
                </a:tc>
                <a:tc>
                  <a:txBody>
                    <a:bodyPr/>
                    <a:lstStyle/>
                    <a:p>
                      <a:pPr algn="ctr">
                        <a:defRPr sz="1000">
                          <a:solidFill>
                            <a:srgbClr val="000000"/>
                          </a:solidFill>
                          <a:latin typeface="Montserrat"/>
                        </a:defRPr>
                      </a:pPr>
                      <a:r>
                        <a:t>10,059</a:t>
                      </a:r>
                    </a:p>
                  </a:txBody>
                  <a:tcPr marL="0" marR="0" marT="0" marB="0">
                    <a:solidFill>
                      <a:srgbClr val="FFFFFF"/>
                    </a:solidFill>
                  </a:tcPr>
                </a:tc>
                <a:tc>
                  <a:txBody>
                    <a:bodyPr/>
                    <a:lstStyle/>
                    <a:p>
                      <a:pPr algn="ctr">
                        <a:defRPr sz="1000">
                          <a:solidFill>
                            <a:srgbClr val="000000"/>
                          </a:solidFill>
                          <a:latin typeface="Montserrat"/>
                        </a:defRPr>
                      </a:pPr>
                      <a:r>
                        <a:t>33,191</a:t>
                      </a:r>
                    </a:p>
                  </a:txBody>
                  <a:tcPr marL="0" marR="0" marT="0" marB="0">
                    <a:solidFill>
                      <a:srgbClr val="ECD3D9"/>
                    </a:solidFill>
                  </a:tcPr>
                </a:tc>
                <a:tc>
                  <a:txBody>
                    <a:bodyPr/>
                    <a:lstStyle/>
                    <a:p>
                      <a:pPr algn="ctr">
                        <a:defRPr sz="1000">
                          <a:solidFill>
                            <a:srgbClr val="000000"/>
                          </a:solidFill>
                          <a:latin typeface="Montserrat"/>
                        </a:defRPr>
                      </a:pPr>
                      <a:r>
                        <a:t>71,000</a:t>
                      </a:r>
                    </a:p>
                  </a:txBody>
                  <a:tcPr marL="0" marR="0" marT="0" marB="0">
                    <a:solidFill>
                      <a:srgbClr val="ECD3D9"/>
                    </a:solidFill>
                  </a:tcPr>
                </a:tc>
                <a:tc>
                  <a:txBody>
                    <a:bodyPr/>
                    <a:lstStyle/>
                    <a:p>
                      <a:pPr algn="ctr">
                        <a:defRPr sz="1000">
                          <a:solidFill>
                            <a:srgbClr val="000000"/>
                          </a:solidFill>
                          <a:latin typeface="Montserrat"/>
                        </a:defRPr>
                      </a:pPr>
                      <a:r>
                        <a:t>46.7%</a:t>
                      </a:r>
                    </a:p>
                  </a:txBody>
                  <a:tcPr marL="0" marR="0" marT="0" marB="0">
                    <a:solidFill>
                      <a:srgbClr val="ECD3D9"/>
                    </a:solidFill>
                  </a:tcPr>
                </a:tc>
                <a:extLst>
                  <a:ext uri="{0D108BD9-81ED-4DB2-BD59-A6C34878D82A}">
                    <a16:rowId xmlns:a16="http://schemas.microsoft.com/office/drawing/2014/main" val="10005"/>
                  </a:ext>
                </a:extLst>
              </a:tr>
              <a:tr h="151200">
                <a:tc>
                  <a:txBody>
                    <a:bodyPr/>
                    <a:lstStyle/>
                    <a:p>
                      <a:pPr algn="l">
                        <a:defRPr sz="1000">
                          <a:solidFill>
                            <a:srgbClr val="000000"/>
                          </a:solidFill>
                          <a:latin typeface="Montserrat"/>
                        </a:defRPr>
                      </a:pPr>
                      <a:r>
                        <a:t>UMF 88 Ramos Arizpe</a:t>
                      </a:r>
                    </a:p>
                  </a:txBody>
                  <a:tcPr marL="0" marR="0" marT="0" marB="0">
                    <a:solidFill>
                      <a:srgbClr val="EFEFEF"/>
                    </a:solidFill>
                  </a:tcPr>
                </a:tc>
                <a:tc>
                  <a:txBody>
                    <a:bodyPr/>
                    <a:lstStyle/>
                    <a:p>
                      <a:pPr algn="ctr">
                        <a:defRPr sz="1000">
                          <a:solidFill>
                            <a:srgbClr val="000000"/>
                          </a:solidFill>
                          <a:latin typeface="Montserrat"/>
                        </a:defRPr>
                      </a:pPr>
                      <a:r>
                        <a:t>75,639</a:t>
                      </a:r>
                    </a:p>
                  </a:txBody>
                  <a:tcPr marL="0" marR="0" marT="0" marB="0">
                    <a:solidFill>
                      <a:srgbClr val="EFEFEF"/>
                    </a:solidFill>
                  </a:tcPr>
                </a:tc>
                <a:tc>
                  <a:txBody>
                    <a:bodyPr/>
                    <a:lstStyle/>
                    <a:p>
                      <a:pPr algn="ctr">
                        <a:defRPr sz="1000">
                          <a:solidFill>
                            <a:srgbClr val="000000"/>
                          </a:solidFill>
                          <a:latin typeface="Montserrat"/>
                        </a:defRPr>
                      </a:pPr>
                      <a:r>
                        <a:t>9,269</a:t>
                      </a:r>
                    </a:p>
                  </a:txBody>
                  <a:tcPr marL="0" marR="0" marT="0" marB="0">
                    <a:solidFill>
                      <a:srgbClr val="EFEFEF"/>
                    </a:solidFill>
                  </a:tcPr>
                </a:tc>
                <a:tc>
                  <a:txBody>
                    <a:bodyPr/>
                    <a:lstStyle/>
                    <a:p>
                      <a:pPr algn="ctr">
                        <a:defRPr sz="1000">
                          <a:solidFill>
                            <a:srgbClr val="000000"/>
                          </a:solidFill>
                          <a:latin typeface="Montserrat"/>
                        </a:defRPr>
                      </a:pPr>
                      <a:r>
                        <a:t>34,970</a:t>
                      </a:r>
                    </a:p>
                  </a:txBody>
                  <a:tcPr marL="0" marR="0" marT="0" marB="0">
                    <a:solidFill>
                      <a:srgbClr val="ECD3D9"/>
                    </a:solidFill>
                  </a:tcPr>
                </a:tc>
                <a:tc>
                  <a:txBody>
                    <a:bodyPr/>
                    <a:lstStyle/>
                    <a:p>
                      <a:pPr algn="ctr">
                        <a:defRPr sz="1000">
                          <a:solidFill>
                            <a:srgbClr val="000000"/>
                          </a:solidFill>
                          <a:latin typeface="Montserrat"/>
                        </a:defRPr>
                      </a:pPr>
                      <a:r>
                        <a:t>74,000</a:t>
                      </a:r>
                    </a:p>
                  </a:txBody>
                  <a:tcPr marL="0" marR="0" marT="0" marB="0">
                    <a:solidFill>
                      <a:srgbClr val="ECD3D9"/>
                    </a:solidFill>
                  </a:tcPr>
                </a:tc>
                <a:tc>
                  <a:txBody>
                    <a:bodyPr/>
                    <a:lstStyle/>
                    <a:p>
                      <a:pPr algn="ctr">
                        <a:defRPr sz="1000">
                          <a:solidFill>
                            <a:srgbClr val="000000"/>
                          </a:solidFill>
                          <a:latin typeface="Montserrat"/>
                        </a:defRPr>
                      </a:pPr>
                      <a:r>
                        <a:t>47.3%</a:t>
                      </a:r>
                    </a:p>
                  </a:txBody>
                  <a:tcPr marL="0" marR="0" marT="0" marB="0">
                    <a:solidFill>
                      <a:srgbClr val="ECD3D9"/>
                    </a:solidFill>
                  </a:tcPr>
                </a:tc>
                <a:extLst>
                  <a:ext uri="{0D108BD9-81ED-4DB2-BD59-A6C34878D82A}">
                    <a16:rowId xmlns:a16="http://schemas.microsoft.com/office/drawing/2014/main" val="10006"/>
                  </a:ext>
                </a:extLst>
              </a:tr>
              <a:tr h="151200">
                <a:tc>
                  <a:txBody>
                    <a:bodyPr/>
                    <a:lstStyle/>
                    <a:p>
                      <a:pPr algn="l">
                        <a:defRPr sz="1000">
                          <a:solidFill>
                            <a:srgbClr val="000000"/>
                          </a:solidFill>
                          <a:latin typeface="Montserrat"/>
                        </a:defRPr>
                      </a:pPr>
                      <a:r>
                        <a:t>UMF-UMAA 89 Saltillo</a:t>
                      </a:r>
                    </a:p>
                  </a:txBody>
                  <a:tcPr marL="0" marR="0" marT="0" marB="0">
                    <a:solidFill>
                      <a:srgbClr val="FFFFFF"/>
                    </a:solidFill>
                  </a:tcPr>
                </a:tc>
                <a:tc>
                  <a:txBody>
                    <a:bodyPr/>
                    <a:lstStyle/>
                    <a:p>
                      <a:pPr algn="ctr">
                        <a:defRPr sz="1000">
                          <a:solidFill>
                            <a:srgbClr val="000000"/>
                          </a:solidFill>
                          <a:latin typeface="Montserrat"/>
                        </a:defRPr>
                      </a:pPr>
                      <a:r>
                        <a:t>147,891</a:t>
                      </a:r>
                    </a:p>
                  </a:txBody>
                  <a:tcPr marL="0" marR="0" marT="0" marB="0">
                    <a:solidFill>
                      <a:srgbClr val="FFFFFF"/>
                    </a:solidFill>
                  </a:tcPr>
                </a:tc>
                <a:tc>
                  <a:txBody>
                    <a:bodyPr/>
                    <a:lstStyle/>
                    <a:p>
                      <a:pPr algn="ctr">
                        <a:defRPr sz="1000">
                          <a:solidFill>
                            <a:srgbClr val="000000"/>
                          </a:solidFill>
                          <a:latin typeface="Montserrat"/>
                        </a:defRPr>
                      </a:pPr>
                      <a:r>
                        <a:t>6,915</a:t>
                      </a:r>
                    </a:p>
                  </a:txBody>
                  <a:tcPr marL="0" marR="0" marT="0" marB="0">
                    <a:solidFill>
                      <a:srgbClr val="FFFFFF"/>
                    </a:solidFill>
                  </a:tcPr>
                </a:tc>
                <a:tc>
                  <a:txBody>
                    <a:bodyPr/>
                    <a:lstStyle/>
                    <a:p>
                      <a:pPr algn="ctr">
                        <a:defRPr sz="1000">
                          <a:solidFill>
                            <a:srgbClr val="000000"/>
                          </a:solidFill>
                          <a:latin typeface="Montserrat"/>
                        </a:defRPr>
                      </a:pPr>
                      <a:r>
                        <a:t>72,219</a:t>
                      </a:r>
                    </a:p>
                  </a:txBody>
                  <a:tcPr marL="0" marR="0" marT="0" marB="0">
                    <a:solidFill>
                      <a:srgbClr val="ECD3D9"/>
                    </a:solidFill>
                  </a:tcPr>
                </a:tc>
                <a:tc>
                  <a:txBody>
                    <a:bodyPr/>
                    <a:lstStyle/>
                    <a:p>
                      <a:pPr algn="ctr">
                        <a:defRPr sz="1000">
                          <a:solidFill>
                            <a:srgbClr val="000000"/>
                          </a:solidFill>
                          <a:latin typeface="Montserrat"/>
                        </a:defRPr>
                      </a:pPr>
                      <a:r>
                        <a:t>144,000</a:t>
                      </a:r>
                    </a:p>
                  </a:txBody>
                  <a:tcPr marL="0" marR="0" marT="0" marB="0">
                    <a:solidFill>
                      <a:srgbClr val="ECD3D9"/>
                    </a:solidFill>
                  </a:tcPr>
                </a:tc>
                <a:tc>
                  <a:txBody>
                    <a:bodyPr/>
                    <a:lstStyle/>
                    <a:p>
                      <a:pPr algn="ctr">
                        <a:defRPr sz="1000">
                          <a:solidFill>
                            <a:srgbClr val="000000"/>
                          </a:solidFill>
                          <a:latin typeface="Montserrat"/>
                        </a:defRPr>
                      </a:pPr>
                      <a:r>
                        <a:t>50.2%</a:t>
                      </a:r>
                    </a:p>
                  </a:txBody>
                  <a:tcPr marL="0" marR="0" marT="0" marB="0">
                    <a:solidFill>
                      <a:srgbClr val="ECD3D9"/>
                    </a:solidFill>
                  </a:tcPr>
                </a:tc>
                <a:extLst>
                  <a:ext uri="{0D108BD9-81ED-4DB2-BD59-A6C34878D82A}">
                    <a16:rowId xmlns:a16="http://schemas.microsoft.com/office/drawing/2014/main" val="10007"/>
                  </a:ext>
                </a:extLst>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1,217,398</a:t>
                      </a:r>
                    </a:p>
                  </a:txBody>
                  <a:tcPr marL="0" marR="0" marT="0" marB="0">
                    <a:solidFill>
                      <a:srgbClr val="D3E9E7"/>
                    </a:solidFill>
                  </a:tcPr>
                </a:tc>
                <a:tc>
                  <a:txBody>
                    <a:bodyPr/>
                    <a:lstStyle/>
                    <a:p>
                      <a:pPr algn="ctr">
                        <a:defRPr sz="1000" b="1">
                          <a:solidFill>
                            <a:srgbClr val="006556"/>
                          </a:solidFill>
                          <a:latin typeface="Montserrat"/>
                        </a:defRPr>
                      </a:pPr>
                      <a:r>
                        <a:t>54,411</a:t>
                      </a:r>
                    </a:p>
                  </a:txBody>
                  <a:tcPr marL="0" marR="0" marT="0" marB="0">
                    <a:solidFill>
                      <a:srgbClr val="D3E9E7"/>
                    </a:solidFill>
                  </a:tcPr>
                </a:tc>
                <a:tc>
                  <a:txBody>
                    <a:bodyPr/>
                    <a:lstStyle/>
                    <a:p>
                      <a:pPr algn="ctr">
                        <a:defRPr sz="1000" b="1">
                          <a:solidFill>
                            <a:srgbClr val="FFFFFF"/>
                          </a:solidFill>
                          <a:latin typeface="Montserrat"/>
                        </a:defRPr>
                      </a:pPr>
                      <a:r>
                        <a:t>567,440</a:t>
                      </a:r>
                    </a:p>
                  </a:txBody>
                  <a:tcPr marL="0" marR="0" marT="0" marB="0">
                    <a:solidFill>
                      <a:srgbClr val="9F2241"/>
                    </a:solidFill>
                  </a:tcPr>
                </a:tc>
                <a:tc>
                  <a:txBody>
                    <a:bodyPr/>
                    <a:lstStyle/>
                    <a:p>
                      <a:pPr algn="ctr">
                        <a:defRPr sz="1000" b="1">
                          <a:solidFill>
                            <a:srgbClr val="FFFFFF"/>
                          </a:solidFill>
                          <a:latin typeface="Montserrat"/>
                        </a:defRPr>
                      </a:pPr>
                      <a:r>
                        <a:t>1,207,040</a:t>
                      </a:r>
                    </a:p>
                  </a:txBody>
                  <a:tcPr marL="0" marR="0" marT="0" marB="0">
                    <a:solidFill>
                      <a:srgbClr val="9F2241"/>
                    </a:solidFill>
                  </a:tcPr>
                </a:tc>
                <a:tc>
                  <a:txBody>
                    <a:bodyPr/>
                    <a:lstStyle/>
                    <a:p>
                      <a:pPr algn="ctr">
                        <a:defRPr sz="1000" b="1">
                          <a:solidFill>
                            <a:srgbClr val="FFFFFF"/>
                          </a:solidFill>
                          <a:latin typeface="Montserrat"/>
                        </a:defRPr>
                      </a:pPr>
                      <a:r>
                        <a:t>47.0%</a:t>
                      </a:r>
                    </a:p>
                  </a:txBody>
                  <a:tcPr marL="0" marR="0" marT="0" marB="0">
                    <a:solidFill>
                      <a:srgbClr val="9F2241"/>
                    </a:solidFill>
                  </a:tcPr>
                </a:tc>
                <a:extLst>
                  <a:ext uri="{0D108BD9-81ED-4DB2-BD59-A6C34878D82A}">
                    <a16:rowId xmlns:a16="http://schemas.microsoft.com/office/drawing/2014/main" val="10008"/>
                  </a:ext>
                </a:extLst>
              </a:tr>
            </a:tbl>
          </a:graphicData>
        </a:graphic>
      </p:graphicFrame>
      <p:graphicFrame>
        <p:nvGraphicFramePr>
          <p:cNvPr id="21" name="Chart 20"/>
          <p:cNvGraphicFramePr>
            <a:graphicFrameLocks noGrp="1"/>
          </p:cNvGraphicFramePr>
          <p:nvPr>
            <p:extLst>
              <p:ext uri="{D42A27DB-BD31-4B8C-83A1-F6EECF244321}">
                <p14:modId xmlns:p14="http://schemas.microsoft.com/office/powerpoint/2010/main" val="2595724576"/>
              </p:ext>
            </p:extLst>
          </p:nvPr>
        </p:nvGraphicFramePr>
        <p:xfrm>
          <a:off x="-30290" y="4348753"/>
          <a:ext cx="2093400" cy="1957508"/>
        </p:xfrm>
        <a:graphic>
          <a:graphicData uri="http://schemas.openxmlformats.org/drawingml/2006/chart">
            <c:chart xmlns:c="http://schemas.openxmlformats.org/drawingml/2006/chart" xmlns:r="http://schemas.openxmlformats.org/officeDocument/2006/relationships" r:id="rId4"/>
          </a:graphicData>
        </a:graphic>
      </p:graphicFrame>
      <p:sp>
        <p:nvSpPr>
          <p:cNvPr id="22" name="TextBox 21"/>
          <p:cNvSpPr txBox="1"/>
          <p:nvPr/>
        </p:nvSpPr>
        <p:spPr>
          <a:xfrm>
            <a:off x="147600" y="5249257"/>
            <a:ext cx="1674000" cy="430887"/>
          </a:xfrm>
          <a:prstGeom prst="rect">
            <a:avLst/>
          </a:prstGeom>
          <a:noFill/>
        </p:spPr>
        <p:txBody>
          <a:bodyPr wrap="square">
            <a:spAutoFit/>
          </a:bodyPr>
          <a:lstStyle/>
          <a:p>
            <a:pPr algn="ctr"/>
            <a:r>
              <a:rPr sz="2200" b="1">
                <a:solidFill>
                  <a:srgbClr val="9F2241"/>
                </a:solidFill>
                <a:latin typeface="Montserrat"/>
              </a:rPr>
              <a:t>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1926873012"/>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980000"/>
                          </a:solidFill>
                          <a:latin typeface="Montserrat"/>
                          <a:ea typeface="Montserrat"/>
                          <a:cs typeface="Montserrat"/>
                          <a:sym typeface="Montserrat"/>
                        </a:rPr>
                        <a:t>Consultas de especialidad 2026</a:t>
                      </a:r>
                      <a:endParaRPr sz="2100" b="1" u="none" strike="noStrike" cap="none">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9572400"/>
            <a:ext cx="7473600" cy="399600"/>
          </a:xfrm>
          <a:prstGeom prst="rect">
            <a:avLst/>
          </a:prstGeom>
          <a:noFill/>
        </p:spPr>
        <p:txBody>
          <a:bodyPr wrap="square" lIns="0" tIns="0" rIns="0" bIns="0">
            <a:spAutoFit/>
          </a:bodyPr>
          <a:lstStyle/>
          <a:p>
            <a:pPr algn="l">
              <a:defRPr sz="800">
                <a:solidFill>
                  <a:srgbClr val="FFFFFF"/>
                </a:solidFill>
                <a:latin typeface="Montserrat"/>
              </a:defRPr>
            </a:pPr>
            <a:r>
              <a:t>No incluye la productividad de especialidad generada en UMF ni en HR. En el año 2025 no incluye información de HR y UMR.</a:t>
            </a:r>
            <a:br/>
            <a:r>
              <a:t>El año de proceso inicia del 26 de diciembre del año anterior al 25 de diciembre del año en curso:2025 (del 26 de dic de 2024 al 25 de dic de 2025). Corte de información: Semana: 24, 7 junio 2026</a:t>
            </a:r>
          </a:p>
        </p:txBody>
      </p:sp>
      <p:graphicFrame>
        <p:nvGraphicFramePr>
          <p:cNvPr id="236" name="Table 235"/>
          <p:cNvGraphicFramePr>
            <a:graphicFrameLocks noGrp="1"/>
          </p:cNvGraphicFramePr>
          <p:nvPr>
            <p:extLst>
              <p:ext uri="{D42A27DB-BD31-4B8C-83A1-F6EECF244321}">
                <p14:modId xmlns:p14="http://schemas.microsoft.com/office/powerpoint/2010/main" val="586301996"/>
              </p:ext>
            </p:extLst>
          </p:nvPr>
        </p:nvGraphicFramePr>
        <p:xfrm>
          <a:off x="144000" y="1494000"/>
          <a:ext cx="7455598" cy="4916160"/>
        </p:xfrm>
        <a:graphic>
          <a:graphicData uri="http://schemas.openxmlformats.org/drawingml/2006/table">
            <a:tbl>
              <a:tblPr firstRow="1" bandRow="1">
                <a:tableStyleId>{5C22544A-7EE6-4342-B048-85BDC9FD1C3A}</a:tableStyleId>
              </a:tblPr>
              <a:tblGrid>
                <a:gridCol w="2033012">
                  <a:extLst>
                    <a:ext uri="{9D8B030D-6E8A-4147-A177-3AD203B41FA5}">
                      <a16:colId xmlns:a16="http://schemas.microsoft.com/office/drawing/2014/main" val="20000"/>
                    </a:ext>
                  </a:extLst>
                </a:gridCol>
                <a:gridCol w="888529">
                  <a:extLst>
                    <a:ext uri="{9D8B030D-6E8A-4147-A177-3AD203B41FA5}">
                      <a16:colId xmlns:a16="http://schemas.microsoft.com/office/drawing/2014/main" val="20001"/>
                    </a:ext>
                  </a:extLst>
                </a:gridCol>
                <a:gridCol w="1133514">
                  <a:extLst>
                    <a:ext uri="{9D8B030D-6E8A-4147-A177-3AD203B41FA5}">
                      <a16:colId xmlns:a16="http://schemas.microsoft.com/office/drawing/2014/main" val="20002"/>
                    </a:ext>
                  </a:extLst>
                </a:gridCol>
                <a:gridCol w="1133514">
                  <a:extLst>
                    <a:ext uri="{9D8B030D-6E8A-4147-A177-3AD203B41FA5}">
                      <a16:colId xmlns:a16="http://schemas.microsoft.com/office/drawing/2014/main" val="20003"/>
                    </a:ext>
                  </a:extLst>
                </a:gridCol>
                <a:gridCol w="1001881">
                  <a:extLst>
                    <a:ext uri="{9D8B030D-6E8A-4147-A177-3AD203B41FA5}">
                      <a16:colId xmlns:a16="http://schemas.microsoft.com/office/drawing/2014/main" val="20004"/>
                    </a:ext>
                  </a:extLst>
                </a:gridCol>
                <a:gridCol w="1265148">
                  <a:extLst>
                    <a:ext uri="{9D8B030D-6E8A-4147-A177-3AD203B41FA5}">
                      <a16:colId xmlns:a16="http://schemas.microsoft.com/office/drawing/2014/main" val="20005"/>
                    </a:ext>
                  </a:extLst>
                </a:gridCol>
              </a:tblGrid>
              <a:tr h="284400">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2025</a:t>
                      </a:r>
                    </a:p>
                  </a:txBody>
                  <a:tcPr anchor="ctr">
                    <a:solidFill>
                      <a:srgbClr val="006455"/>
                    </a:solidFill>
                  </a:tcPr>
                </a:tc>
                <a:tc>
                  <a:txBody>
                    <a:bodyPr/>
                    <a:lstStyle/>
                    <a:p>
                      <a:pPr algn="ctr">
                        <a:defRPr sz="900" b="1">
                          <a:solidFill>
                            <a:srgbClr val="FFFFFF"/>
                          </a:solidFill>
                          <a:latin typeface="Montserrat"/>
                        </a:defRPr>
                      </a:pPr>
                      <a:r>
                        <a:t>Incremento 2025 vs 2024</a:t>
                      </a:r>
                    </a:p>
                  </a:txBody>
                  <a:tcPr anchor="ctr">
                    <a:solidFill>
                      <a:srgbClr val="006455"/>
                    </a:solidFill>
                  </a:tcPr>
                </a:tc>
                <a:tc>
                  <a:txBody>
                    <a:bodyPr/>
                    <a:lstStyle/>
                    <a:p>
                      <a:pPr algn="ctr">
                        <a:defRPr sz="900" b="1">
                          <a:solidFill>
                            <a:srgbClr val="FFFFFF"/>
                          </a:solidFill>
                          <a:latin typeface="Montserrat"/>
                        </a:defRPr>
                      </a:pPr>
                      <a:r>
                        <a:t>Avance 2026</a:t>
                      </a:r>
                    </a:p>
                  </a:txBody>
                  <a:tcPr anchor="ctr">
                    <a:solidFill>
                      <a:srgbClr val="980000"/>
                    </a:solidFill>
                  </a:tcPr>
                </a:tc>
                <a:tc>
                  <a:txBody>
                    <a:bodyPr/>
                    <a:lstStyle/>
                    <a:p>
                      <a:pPr algn="ctr">
                        <a:defRPr sz="900" b="1">
                          <a:solidFill>
                            <a:srgbClr val="FFFFFF"/>
                          </a:solidFill>
                          <a:latin typeface="Montserrat"/>
                        </a:defRPr>
                      </a:pPr>
                      <a:r>
                        <a:t>Meta 2026</a:t>
                      </a:r>
                    </a:p>
                  </a:txBody>
                  <a:tcPr anchor="ctr">
                    <a:solidFill>
                      <a:srgbClr val="980000"/>
                    </a:solidFill>
                  </a:tcPr>
                </a:tc>
                <a:tc>
                  <a:txBody>
                    <a:bodyPr/>
                    <a:lstStyle/>
                    <a:p>
                      <a:pPr algn="ctr">
                        <a:defRPr sz="900" b="1">
                          <a:solidFill>
                            <a:srgbClr val="FFFFFF"/>
                          </a:solidFill>
                          <a:latin typeface="Montserrat"/>
                        </a:defRPr>
                      </a:pPr>
                      <a:r>
                        <a:t>% Cumplimiento de la meta</a:t>
                      </a:r>
                    </a:p>
                  </a:txBody>
                  <a:tcPr anchor="ctr">
                    <a:solidFill>
                      <a:srgbClr val="980000"/>
                    </a:solidFill>
                  </a:tcPr>
                </a:tc>
                <a:extLst>
                  <a:ext uri="{0D108BD9-81ED-4DB2-BD59-A6C34878D82A}">
                    <a16:rowId xmlns:a16="http://schemas.microsoft.com/office/drawing/2014/main" val="10000"/>
                  </a:ext>
                </a:extLst>
              </a:tr>
              <a:tr h="284400">
                <a:tc>
                  <a:txBody>
                    <a:bodyPr/>
                    <a:lstStyle/>
                    <a:p>
                      <a:pPr algn="l">
                        <a:defRPr sz="1000">
                          <a:latin typeface="Montserrat"/>
                        </a:defRPr>
                      </a:pPr>
                      <a:r>
                        <a:t>UMAA 90 Torreón (Aut)</a:t>
                      </a:r>
                    </a:p>
                  </a:txBody>
                  <a:tcPr>
                    <a:solidFill>
                      <a:srgbClr val="FFFFFF"/>
                    </a:solidFill>
                  </a:tcPr>
                </a:tc>
                <a:tc>
                  <a:txBody>
                    <a:bodyPr/>
                    <a:lstStyle/>
                    <a:p>
                      <a:pPr algn="ctr">
                        <a:defRPr sz="1000">
                          <a:latin typeface="Montserrat"/>
                        </a:defRPr>
                      </a:pPr>
                      <a:r>
                        <a:t>60,312</a:t>
                      </a:r>
                    </a:p>
                  </a:txBody>
                  <a:tcPr>
                    <a:solidFill>
                      <a:srgbClr val="FFFFFF"/>
                    </a:solidFill>
                  </a:tcPr>
                </a:tc>
                <a:tc>
                  <a:txBody>
                    <a:bodyPr/>
                    <a:lstStyle/>
                    <a:p>
                      <a:pPr algn="ctr">
                        <a:defRPr sz="1000">
                          <a:latin typeface="Montserrat"/>
                        </a:defRPr>
                      </a:pPr>
                      <a:r>
                        <a:t>41,094</a:t>
                      </a:r>
                    </a:p>
                  </a:txBody>
                  <a:tcPr>
                    <a:solidFill>
                      <a:srgbClr val="FFFFFF"/>
                    </a:solidFill>
                  </a:tcPr>
                </a:tc>
                <a:tc>
                  <a:txBody>
                    <a:bodyPr/>
                    <a:lstStyle/>
                    <a:p>
                      <a:pPr algn="ctr">
                        <a:defRPr sz="1000">
                          <a:latin typeface="Montserrat"/>
                        </a:defRPr>
                      </a:pPr>
                      <a:r>
                        <a:t>34,591</a:t>
                      </a:r>
                    </a:p>
                  </a:txBody>
                  <a:tcPr>
                    <a:solidFill>
                      <a:srgbClr val="ECD3D9"/>
                    </a:solidFill>
                  </a:tcPr>
                </a:tc>
                <a:tc>
                  <a:txBody>
                    <a:bodyPr/>
                    <a:lstStyle/>
                    <a:p>
                      <a:pPr algn="ctr">
                        <a:defRPr sz="1000">
                          <a:latin typeface="Montserrat"/>
                        </a:defRPr>
                      </a:pPr>
                      <a:r>
                        <a:t>65,700</a:t>
                      </a:r>
                    </a:p>
                  </a:txBody>
                  <a:tcPr>
                    <a:solidFill>
                      <a:srgbClr val="ECD3D9"/>
                    </a:solidFill>
                  </a:tcPr>
                </a:tc>
                <a:tc>
                  <a:txBody>
                    <a:bodyPr/>
                    <a:lstStyle/>
                    <a:p>
                      <a:pPr algn="ctr">
                        <a:defRPr sz="1000">
                          <a:latin typeface="Montserrat"/>
                        </a:defRPr>
                      </a:pPr>
                      <a:r>
                        <a:t>52.6%</a:t>
                      </a:r>
                    </a:p>
                  </a:txBody>
                  <a:tcPr>
                    <a:solidFill>
                      <a:srgbClr val="ECD3D9"/>
                    </a:solidFill>
                  </a:tcPr>
                </a:tc>
                <a:extLst>
                  <a:ext uri="{0D108BD9-81ED-4DB2-BD59-A6C34878D82A}">
                    <a16:rowId xmlns:a16="http://schemas.microsoft.com/office/drawing/2014/main" val="10001"/>
                  </a:ext>
                </a:extLst>
              </a:tr>
              <a:tr h="284400">
                <a:tc>
                  <a:txBody>
                    <a:bodyPr/>
                    <a:lstStyle/>
                    <a:p>
                      <a:pPr algn="l">
                        <a:defRPr sz="1000">
                          <a:latin typeface="Montserrat"/>
                        </a:defRPr>
                      </a:pPr>
                      <a:r>
                        <a:t>HGZMF 16 Torreón</a:t>
                      </a:r>
                    </a:p>
                  </a:txBody>
                  <a:tcPr>
                    <a:solidFill>
                      <a:srgbClr val="EFEFEF"/>
                    </a:solidFill>
                  </a:tcPr>
                </a:tc>
                <a:tc>
                  <a:txBody>
                    <a:bodyPr/>
                    <a:lstStyle/>
                    <a:p>
                      <a:pPr algn="ctr">
                        <a:defRPr sz="1000">
                          <a:latin typeface="Montserrat"/>
                        </a:defRPr>
                      </a:pPr>
                      <a:r>
                        <a:t>160,839</a:t>
                      </a:r>
                    </a:p>
                  </a:txBody>
                  <a:tcPr>
                    <a:solidFill>
                      <a:srgbClr val="EFEFEF"/>
                    </a:solidFill>
                  </a:tcPr>
                </a:tc>
                <a:tc>
                  <a:txBody>
                    <a:bodyPr/>
                    <a:lstStyle/>
                    <a:p>
                      <a:pPr algn="ctr">
                        <a:defRPr sz="1000">
                          <a:latin typeface="Montserrat"/>
                        </a:defRPr>
                      </a:pPr>
                      <a:r>
                        <a:t>15,273</a:t>
                      </a:r>
                    </a:p>
                  </a:txBody>
                  <a:tcPr>
                    <a:solidFill>
                      <a:srgbClr val="EFEFEF"/>
                    </a:solidFill>
                  </a:tcPr>
                </a:tc>
                <a:tc>
                  <a:txBody>
                    <a:bodyPr/>
                    <a:lstStyle/>
                    <a:p>
                      <a:pPr algn="ctr">
                        <a:defRPr sz="1000">
                          <a:latin typeface="Montserrat"/>
                        </a:defRPr>
                      </a:pPr>
                      <a:r>
                        <a:t>79,136</a:t>
                      </a:r>
                    </a:p>
                  </a:txBody>
                  <a:tcPr>
                    <a:solidFill>
                      <a:srgbClr val="ECD3D9"/>
                    </a:solidFill>
                  </a:tcPr>
                </a:tc>
                <a:tc>
                  <a:txBody>
                    <a:bodyPr/>
                    <a:lstStyle/>
                    <a:p>
                      <a:pPr algn="ctr">
                        <a:defRPr sz="1000">
                          <a:latin typeface="Montserrat"/>
                        </a:defRPr>
                      </a:pPr>
                      <a:r>
                        <a:t>164,250</a:t>
                      </a:r>
                    </a:p>
                  </a:txBody>
                  <a:tcPr>
                    <a:solidFill>
                      <a:srgbClr val="ECD3D9"/>
                    </a:solidFill>
                  </a:tcPr>
                </a:tc>
                <a:tc>
                  <a:txBody>
                    <a:bodyPr/>
                    <a:lstStyle/>
                    <a:p>
                      <a:pPr algn="ctr">
                        <a:defRPr sz="1000">
                          <a:latin typeface="Montserrat"/>
                        </a:defRPr>
                      </a:pPr>
                      <a:r>
                        <a:t>48.2%</a:t>
                      </a:r>
                    </a:p>
                  </a:txBody>
                  <a:tcPr>
                    <a:solidFill>
                      <a:srgbClr val="ECD3D9"/>
                    </a:solidFill>
                  </a:tcPr>
                </a:tc>
                <a:extLst>
                  <a:ext uri="{0D108BD9-81ED-4DB2-BD59-A6C34878D82A}">
                    <a16:rowId xmlns:a16="http://schemas.microsoft.com/office/drawing/2014/main" val="10002"/>
                  </a:ext>
                </a:extLst>
              </a:tr>
              <a:tr h="284400">
                <a:tc>
                  <a:txBody>
                    <a:bodyPr/>
                    <a:lstStyle/>
                    <a:p>
                      <a:pPr algn="l">
                        <a:defRPr sz="1000">
                          <a:latin typeface="Montserrat"/>
                        </a:defRPr>
                      </a:pPr>
                      <a:r>
                        <a:t>HGZMF 24 Nueva Rosita</a:t>
                      </a:r>
                    </a:p>
                  </a:txBody>
                  <a:tcPr>
                    <a:solidFill>
                      <a:srgbClr val="FFFFFF"/>
                    </a:solidFill>
                  </a:tcPr>
                </a:tc>
                <a:tc>
                  <a:txBody>
                    <a:bodyPr/>
                    <a:lstStyle/>
                    <a:p>
                      <a:pPr algn="ctr">
                        <a:defRPr sz="1000">
                          <a:latin typeface="Montserrat"/>
                        </a:defRPr>
                      </a:pPr>
                      <a:r>
                        <a:t>50,888</a:t>
                      </a:r>
                    </a:p>
                  </a:txBody>
                  <a:tcPr>
                    <a:solidFill>
                      <a:srgbClr val="FFFFFF"/>
                    </a:solidFill>
                  </a:tcPr>
                </a:tc>
                <a:tc>
                  <a:txBody>
                    <a:bodyPr/>
                    <a:lstStyle/>
                    <a:p>
                      <a:pPr algn="ctr">
                        <a:defRPr sz="1000">
                          <a:latin typeface="Montserrat"/>
                        </a:defRPr>
                      </a:pPr>
                      <a:r>
                        <a:t>22,362</a:t>
                      </a:r>
                    </a:p>
                  </a:txBody>
                  <a:tcPr>
                    <a:solidFill>
                      <a:srgbClr val="FFFFFF"/>
                    </a:solidFill>
                  </a:tcPr>
                </a:tc>
                <a:tc>
                  <a:txBody>
                    <a:bodyPr/>
                    <a:lstStyle/>
                    <a:p>
                      <a:pPr algn="ctr">
                        <a:defRPr sz="1000">
                          <a:latin typeface="Montserrat"/>
                        </a:defRPr>
                      </a:pPr>
                      <a:r>
                        <a:t>27,909</a:t>
                      </a:r>
                    </a:p>
                  </a:txBody>
                  <a:tcPr>
                    <a:solidFill>
                      <a:srgbClr val="ECD3D9"/>
                    </a:solidFill>
                  </a:tcPr>
                </a:tc>
                <a:tc>
                  <a:txBody>
                    <a:bodyPr/>
                    <a:lstStyle/>
                    <a:p>
                      <a:pPr algn="ctr">
                        <a:defRPr sz="1000">
                          <a:latin typeface="Montserrat"/>
                        </a:defRPr>
                      </a:pPr>
                      <a:r>
                        <a:t>59,130</a:t>
                      </a:r>
                    </a:p>
                  </a:txBody>
                  <a:tcPr>
                    <a:solidFill>
                      <a:srgbClr val="ECD3D9"/>
                    </a:solidFill>
                  </a:tcPr>
                </a:tc>
                <a:tc>
                  <a:txBody>
                    <a:bodyPr/>
                    <a:lstStyle/>
                    <a:p>
                      <a:pPr algn="ctr">
                        <a:defRPr sz="1000">
                          <a:latin typeface="Montserrat"/>
                        </a:defRPr>
                      </a:pPr>
                      <a:r>
                        <a:t>47.2%</a:t>
                      </a:r>
                    </a:p>
                  </a:txBody>
                  <a:tcPr>
                    <a:solidFill>
                      <a:srgbClr val="ECD3D9"/>
                    </a:solidFill>
                  </a:tcPr>
                </a:tc>
                <a:extLst>
                  <a:ext uri="{0D108BD9-81ED-4DB2-BD59-A6C34878D82A}">
                    <a16:rowId xmlns:a16="http://schemas.microsoft.com/office/drawing/2014/main" val="10003"/>
                  </a:ext>
                </a:extLst>
              </a:tr>
              <a:tr h="284400">
                <a:tc>
                  <a:txBody>
                    <a:bodyPr/>
                    <a:lstStyle/>
                    <a:p>
                      <a:pPr algn="l">
                        <a:defRPr sz="1000">
                          <a:latin typeface="Montserrat"/>
                        </a:defRPr>
                      </a:pPr>
                      <a:r>
                        <a:t>HGZMF 18 Torreón</a:t>
                      </a:r>
                    </a:p>
                  </a:txBody>
                  <a:tcPr>
                    <a:solidFill>
                      <a:srgbClr val="EFEFEF"/>
                    </a:solidFill>
                  </a:tcPr>
                </a:tc>
                <a:tc>
                  <a:txBody>
                    <a:bodyPr/>
                    <a:lstStyle/>
                    <a:p>
                      <a:pPr algn="ctr">
                        <a:defRPr sz="1000">
                          <a:latin typeface="Montserrat"/>
                        </a:defRPr>
                      </a:pPr>
                      <a:r>
                        <a:t>28,194</a:t>
                      </a:r>
                    </a:p>
                  </a:txBody>
                  <a:tcPr>
                    <a:solidFill>
                      <a:srgbClr val="EFEFEF"/>
                    </a:solidFill>
                  </a:tcPr>
                </a:tc>
                <a:tc>
                  <a:txBody>
                    <a:bodyPr/>
                    <a:lstStyle/>
                    <a:p>
                      <a:pPr algn="ctr">
                        <a:defRPr sz="1000">
                          <a:latin typeface="Montserrat"/>
                        </a:defRPr>
                      </a:pPr>
                      <a:r>
                        <a:t>10,310</a:t>
                      </a:r>
                    </a:p>
                  </a:txBody>
                  <a:tcPr>
                    <a:solidFill>
                      <a:srgbClr val="EFEFEF"/>
                    </a:solidFill>
                  </a:tcPr>
                </a:tc>
                <a:tc>
                  <a:txBody>
                    <a:bodyPr/>
                    <a:lstStyle/>
                    <a:p>
                      <a:pPr algn="ctr">
                        <a:defRPr sz="1000">
                          <a:latin typeface="Montserrat"/>
                        </a:defRPr>
                      </a:pPr>
                      <a:r>
                        <a:t>15,069</a:t>
                      </a:r>
                    </a:p>
                  </a:txBody>
                  <a:tcPr>
                    <a:solidFill>
                      <a:srgbClr val="ECD3D9"/>
                    </a:solidFill>
                  </a:tcPr>
                </a:tc>
                <a:tc>
                  <a:txBody>
                    <a:bodyPr/>
                    <a:lstStyle/>
                    <a:p>
                      <a:pPr algn="ctr">
                        <a:defRPr sz="1000">
                          <a:latin typeface="Montserrat"/>
                        </a:defRPr>
                      </a:pPr>
                      <a:r>
                        <a:t>32,850</a:t>
                      </a:r>
                    </a:p>
                  </a:txBody>
                  <a:tcPr>
                    <a:solidFill>
                      <a:srgbClr val="ECD3D9"/>
                    </a:solidFill>
                  </a:tcPr>
                </a:tc>
                <a:tc>
                  <a:txBody>
                    <a:bodyPr/>
                    <a:lstStyle/>
                    <a:p>
                      <a:pPr algn="ctr">
                        <a:defRPr sz="1000">
                          <a:latin typeface="Montserrat"/>
                        </a:defRPr>
                      </a:pPr>
                      <a:r>
                        <a:t>45.9%</a:t>
                      </a:r>
                    </a:p>
                  </a:txBody>
                  <a:tcPr>
                    <a:solidFill>
                      <a:srgbClr val="ECD3D9"/>
                    </a:solidFill>
                  </a:tcPr>
                </a:tc>
                <a:extLst>
                  <a:ext uri="{0D108BD9-81ED-4DB2-BD59-A6C34878D82A}">
                    <a16:rowId xmlns:a16="http://schemas.microsoft.com/office/drawing/2014/main" val="10004"/>
                  </a:ext>
                </a:extLst>
              </a:tr>
              <a:tr h="284400">
                <a:tc>
                  <a:txBody>
                    <a:bodyPr/>
                    <a:lstStyle/>
                    <a:p>
                      <a:pPr algn="l">
                        <a:defRPr sz="1000">
                          <a:latin typeface="Montserrat"/>
                        </a:defRPr>
                      </a:pPr>
                      <a:r>
                        <a:t>HGSMF 27 Palau</a:t>
                      </a:r>
                    </a:p>
                  </a:txBody>
                  <a:tcPr>
                    <a:solidFill>
                      <a:srgbClr val="FFFFFF"/>
                    </a:solidFill>
                  </a:tcPr>
                </a:tc>
                <a:tc>
                  <a:txBody>
                    <a:bodyPr/>
                    <a:lstStyle/>
                    <a:p>
                      <a:pPr algn="ctr">
                        <a:defRPr sz="1000">
                          <a:latin typeface="Montserrat"/>
                        </a:defRPr>
                      </a:pPr>
                      <a:r>
                        <a:t>12,444</a:t>
                      </a:r>
                    </a:p>
                  </a:txBody>
                  <a:tcPr>
                    <a:solidFill>
                      <a:srgbClr val="FFFFFF"/>
                    </a:solidFill>
                  </a:tcPr>
                </a:tc>
                <a:tc>
                  <a:txBody>
                    <a:bodyPr/>
                    <a:lstStyle/>
                    <a:p>
                      <a:pPr algn="ctr">
                        <a:defRPr sz="1000">
                          <a:latin typeface="Montserrat"/>
                        </a:defRPr>
                      </a:pPr>
                      <a:r>
                        <a:t>5,051</a:t>
                      </a:r>
                    </a:p>
                  </a:txBody>
                  <a:tcPr>
                    <a:solidFill>
                      <a:srgbClr val="FFFFFF"/>
                    </a:solidFill>
                  </a:tcPr>
                </a:tc>
                <a:tc>
                  <a:txBody>
                    <a:bodyPr/>
                    <a:lstStyle/>
                    <a:p>
                      <a:pPr algn="ctr">
                        <a:defRPr sz="1000">
                          <a:latin typeface="Montserrat"/>
                        </a:defRPr>
                      </a:pPr>
                      <a:r>
                        <a:t>8,967</a:t>
                      </a:r>
                    </a:p>
                  </a:txBody>
                  <a:tcPr>
                    <a:solidFill>
                      <a:srgbClr val="ECD3D9"/>
                    </a:solidFill>
                  </a:tcPr>
                </a:tc>
                <a:tc>
                  <a:txBody>
                    <a:bodyPr/>
                    <a:lstStyle/>
                    <a:p>
                      <a:pPr algn="ctr">
                        <a:defRPr sz="1000">
                          <a:latin typeface="Montserrat"/>
                        </a:defRPr>
                      </a:pPr>
                      <a:r>
                        <a:t>19,710</a:t>
                      </a:r>
                    </a:p>
                  </a:txBody>
                  <a:tcPr>
                    <a:solidFill>
                      <a:srgbClr val="ECD3D9"/>
                    </a:solidFill>
                  </a:tcPr>
                </a:tc>
                <a:tc>
                  <a:txBody>
                    <a:bodyPr/>
                    <a:lstStyle/>
                    <a:p>
                      <a:pPr algn="ctr">
                        <a:defRPr sz="1000">
                          <a:latin typeface="Montserrat"/>
                        </a:defRPr>
                      </a:pPr>
                      <a:r>
                        <a:t>45.5%</a:t>
                      </a:r>
                    </a:p>
                  </a:txBody>
                  <a:tcPr>
                    <a:solidFill>
                      <a:srgbClr val="ECD3D9"/>
                    </a:solidFill>
                  </a:tcPr>
                </a:tc>
                <a:extLst>
                  <a:ext uri="{0D108BD9-81ED-4DB2-BD59-A6C34878D82A}">
                    <a16:rowId xmlns:a16="http://schemas.microsoft.com/office/drawing/2014/main" val="10005"/>
                  </a:ext>
                </a:extLst>
              </a:tr>
              <a:tr h="284400">
                <a:tc>
                  <a:txBody>
                    <a:bodyPr/>
                    <a:lstStyle/>
                    <a:p>
                      <a:pPr algn="l">
                        <a:defRPr sz="1000">
                          <a:latin typeface="Montserrat"/>
                        </a:defRPr>
                      </a:pPr>
                      <a:r>
                        <a:t>HGZ 11 Piedras Negras</a:t>
                      </a:r>
                    </a:p>
                  </a:txBody>
                  <a:tcPr>
                    <a:solidFill>
                      <a:srgbClr val="EFEFEF"/>
                    </a:solidFill>
                  </a:tcPr>
                </a:tc>
                <a:tc>
                  <a:txBody>
                    <a:bodyPr/>
                    <a:lstStyle/>
                    <a:p>
                      <a:pPr algn="ctr">
                        <a:defRPr sz="1000">
                          <a:latin typeface="Montserrat"/>
                        </a:defRPr>
                      </a:pPr>
                      <a:r>
                        <a:t>88,151</a:t>
                      </a:r>
                    </a:p>
                  </a:txBody>
                  <a:tcPr>
                    <a:solidFill>
                      <a:srgbClr val="EFEFEF"/>
                    </a:solidFill>
                  </a:tcPr>
                </a:tc>
                <a:tc>
                  <a:txBody>
                    <a:bodyPr/>
                    <a:lstStyle/>
                    <a:p>
                      <a:pPr algn="ctr">
                        <a:defRPr sz="1000">
                          <a:latin typeface="Montserrat"/>
                        </a:defRPr>
                      </a:pPr>
                      <a:r>
                        <a:t>32,547</a:t>
                      </a:r>
                    </a:p>
                  </a:txBody>
                  <a:tcPr>
                    <a:solidFill>
                      <a:srgbClr val="EFEFEF"/>
                    </a:solidFill>
                  </a:tcPr>
                </a:tc>
                <a:tc>
                  <a:txBody>
                    <a:bodyPr/>
                    <a:lstStyle/>
                    <a:p>
                      <a:pPr algn="ctr">
                        <a:defRPr sz="1000">
                          <a:latin typeface="Montserrat"/>
                        </a:defRPr>
                      </a:pPr>
                      <a:r>
                        <a:t>44,638</a:t>
                      </a:r>
                    </a:p>
                  </a:txBody>
                  <a:tcPr>
                    <a:solidFill>
                      <a:srgbClr val="ECD3D9"/>
                    </a:solidFill>
                  </a:tcPr>
                </a:tc>
                <a:tc>
                  <a:txBody>
                    <a:bodyPr/>
                    <a:lstStyle/>
                    <a:p>
                      <a:pPr algn="ctr">
                        <a:defRPr sz="1000">
                          <a:latin typeface="Montserrat"/>
                        </a:defRPr>
                      </a:pPr>
                      <a:r>
                        <a:t>98,550</a:t>
                      </a:r>
                    </a:p>
                  </a:txBody>
                  <a:tcPr>
                    <a:solidFill>
                      <a:srgbClr val="ECD3D9"/>
                    </a:solidFill>
                  </a:tcPr>
                </a:tc>
                <a:tc>
                  <a:txBody>
                    <a:bodyPr/>
                    <a:lstStyle/>
                    <a:p>
                      <a:pPr algn="ctr">
                        <a:defRPr sz="1000">
                          <a:latin typeface="Montserrat"/>
                        </a:defRPr>
                      </a:pPr>
                      <a:r>
                        <a:t>45.3%</a:t>
                      </a:r>
                    </a:p>
                  </a:txBody>
                  <a:tcPr>
                    <a:solidFill>
                      <a:srgbClr val="ECD3D9"/>
                    </a:solidFill>
                  </a:tcPr>
                </a:tc>
                <a:extLst>
                  <a:ext uri="{0D108BD9-81ED-4DB2-BD59-A6C34878D82A}">
                    <a16:rowId xmlns:a16="http://schemas.microsoft.com/office/drawing/2014/main" val="10006"/>
                  </a:ext>
                </a:extLst>
              </a:tr>
              <a:tr h="284400">
                <a:tc>
                  <a:txBody>
                    <a:bodyPr/>
                    <a:lstStyle/>
                    <a:p>
                      <a:pPr algn="l">
                        <a:defRPr sz="1000">
                          <a:latin typeface="Montserrat"/>
                        </a:defRPr>
                      </a:pPr>
                      <a:r>
                        <a:t>HGZ 92 Coahuila</a:t>
                      </a:r>
                    </a:p>
                  </a:txBody>
                  <a:tcPr>
                    <a:solidFill>
                      <a:srgbClr val="FFFFFF"/>
                    </a:solidFill>
                  </a:tcPr>
                </a:tc>
                <a:tc>
                  <a:txBody>
                    <a:bodyPr/>
                    <a:lstStyle/>
                    <a:p>
                      <a:pPr algn="ctr">
                        <a:defRPr sz="1000">
                          <a:latin typeface="Montserrat"/>
                        </a:defRPr>
                      </a:pPr>
                      <a:r>
                        <a:t>74,259</a:t>
                      </a:r>
                    </a:p>
                  </a:txBody>
                  <a:tcPr>
                    <a:solidFill>
                      <a:srgbClr val="FFFFFF"/>
                    </a:solidFill>
                  </a:tcPr>
                </a:tc>
                <a:tc>
                  <a:txBody>
                    <a:bodyPr/>
                    <a:lstStyle/>
                    <a:p>
                      <a:pPr algn="ctr">
                        <a:defRPr sz="1000">
                          <a:latin typeface="Montserrat"/>
                        </a:defRPr>
                      </a:pPr>
                      <a:r>
                        <a:t>33,878</a:t>
                      </a:r>
                    </a:p>
                  </a:txBody>
                  <a:tcPr>
                    <a:solidFill>
                      <a:srgbClr val="FFFFFF"/>
                    </a:solidFill>
                  </a:tcPr>
                </a:tc>
                <a:tc>
                  <a:txBody>
                    <a:bodyPr/>
                    <a:lstStyle/>
                    <a:p>
                      <a:pPr algn="ctr">
                        <a:defRPr sz="1000">
                          <a:latin typeface="Montserrat"/>
                        </a:defRPr>
                      </a:pPr>
                      <a:r>
                        <a:t>54,042</a:t>
                      </a:r>
                    </a:p>
                  </a:txBody>
                  <a:tcPr>
                    <a:solidFill>
                      <a:srgbClr val="ECD3D9"/>
                    </a:solidFill>
                  </a:tcPr>
                </a:tc>
                <a:tc>
                  <a:txBody>
                    <a:bodyPr/>
                    <a:lstStyle/>
                    <a:p>
                      <a:pPr algn="ctr">
                        <a:defRPr sz="1000">
                          <a:latin typeface="Montserrat"/>
                        </a:defRPr>
                      </a:pPr>
                      <a:r>
                        <a:t>130,305</a:t>
                      </a:r>
                    </a:p>
                  </a:txBody>
                  <a:tcPr>
                    <a:solidFill>
                      <a:srgbClr val="ECD3D9"/>
                    </a:solidFill>
                  </a:tcPr>
                </a:tc>
                <a:tc>
                  <a:txBody>
                    <a:bodyPr/>
                    <a:lstStyle/>
                    <a:p>
                      <a:pPr algn="ctr">
                        <a:defRPr sz="1000">
                          <a:latin typeface="Montserrat"/>
                        </a:defRPr>
                      </a:pPr>
                      <a:r>
                        <a:t>41.5%</a:t>
                      </a:r>
                    </a:p>
                  </a:txBody>
                  <a:tcPr>
                    <a:solidFill>
                      <a:srgbClr val="ECD3D9"/>
                    </a:solidFill>
                  </a:tcPr>
                </a:tc>
                <a:extLst>
                  <a:ext uri="{0D108BD9-81ED-4DB2-BD59-A6C34878D82A}">
                    <a16:rowId xmlns:a16="http://schemas.microsoft.com/office/drawing/2014/main" val="10007"/>
                  </a:ext>
                </a:extLst>
              </a:tr>
              <a:tr h="284400">
                <a:tc>
                  <a:txBody>
                    <a:bodyPr/>
                    <a:lstStyle/>
                    <a:p>
                      <a:pPr algn="l">
                        <a:defRPr sz="1000">
                          <a:latin typeface="Montserrat"/>
                        </a:defRPr>
                      </a:pPr>
                      <a:r>
                        <a:t>HGZ 1 Saltillo</a:t>
                      </a:r>
                    </a:p>
                  </a:txBody>
                  <a:tcPr>
                    <a:solidFill>
                      <a:srgbClr val="EFEFEF"/>
                    </a:solidFill>
                  </a:tcPr>
                </a:tc>
                <a:tc>
                  <a:txBody>
                    <a:bodyPr/>
                    <a:lstStyle/>
                    <a:p>
                      <a:pPr algn="ctr">
                        <a:defRPr sz="1000">
                          <a:latin typeface="Montserrat"/>
                        </a:defRPr>
                      </a:pPr>
                      <a:r>
                        <a:t>74,336</a:t>
                      </a:r>
                    </a:p>
                  </a:txBody>
                  <a:tcPr>
                    <a:solidFill>
                      <a:srgbClr val="EFEFEF"/>
                    </a:solidFill>
                  </a:tcPr>
                </a:tc>
                <a:tc>
                  <a:txBody>
                    <a:bodyPr/>
                    <a:lstStyle/>
                    <a:p>
                      <a:pPr algn="ctr">
                        <a:defRPr sz="1000">
                          <a:latin typeface="Montserrat"/>
                        </a:defRPr>
                      </a:pPr>
                      <a:r>
                        <a:t>12,453</a:t>
                      </a:r>
                    </a:p>
                  </a:txBody>
                  <a:tcPr>
                    <a:solidFill>
                      <a:srgbClr val="EFEFEF"/>
                    </a:solidFill>
                  </a:tcPr>
                </a:tc>
                <a:tc>
                  <a:txBody>
                    <a:bodyPr/>
                    <a:lstStyle/>
                    <a:p>
                      <a:pPr algn="ctr">
                        <a:defRPr sz="1000">
                          <a:latin typeface="Montserrat"/>
                        </a:defRPr>
                      </a:pPr>
                      <a:r>
                        <a:t>32,075</a:t>
                      </a:r>
                    </a:p>
                  </a:txBody>
                  <a:tcPr>
                    <a:solidFill>
                      <a:srgbClr val="ECD3D9"/>
                    </a:solidFill>
                  </a:tcPr>
                </a:tc>
                <a:tc>
                  <a:txBody>
                    <a:bodyPr/>
                    <a:lstStyle/>
                    <a:p>
                      <a:pPr algn="ctr">
                        <a:defRPr sz="1000">
                          <a:latin typeface="Montserrat"/>
                        </a:defRPr>
                      </a:pPr>
                      <a:r>
                        <a:t>78,840</a:t>
                      </a:r>
                    </a:p>
                  </a:txBody>
                  <a:tcPr>
                    <a:solidFill>
                      <a:srgbClr val="ECD3D9"/>
                    </a:solidFill>
                  </a:tcPr>
                </a:tc>
                <a:tc>
                  <a:txBody>
                    <a:bodyPr/>
                    <a:lstStyle/>
                    <a:p>
                      <a:pPr algn="ctr">
                        <a:defRPr sz="1000">
                          <a:latin typeface="Montserrat"/>
                        </a:defRPr>
                      </a:pPr>
                      <a:r>
                        <a:t>40.7%</a:t>
                      </a:r>
                    </a:p>
                  </a:txBody>
                  <a:tcPr>
                    <a:solidFill>
                      <a:srgbClr val="ECD3D9"/>
                    </a:solidFill>
                  </a:tcPr>
                </a:tc>
                <a:extLst>
                  <a:ext uri="{0D108BD9-81ED-4DB2-BD59-A6C34878D82A}">
                    <a16:rowId xmlns:a16="http://schemas.microsoft.com/office/drawing/2014/main" val="10008"/>
                  </a:ext>
                </a:extLst>
              </a:tr>
              <a:tr h="284400">
                <a:tc>
                  <a:txBody>
                    <a:bodyPr/>
                    <a:lstStyle/>
                    <a:p>
                      <a:pPr algn="l">
                        <a:defRPr sz="1000">
                          <a:latin typeface="Montserrat"/>
                        </a:defRPr>
                      </a:pPr>
                      <a:r>
                        <a:t>HGZMF 7 Monclova</a:t>
                      </a:r>
                    </a:p>
                  </a:txBody>
                  <a:tcPr>
                    <a:solidFill>
                      <a:srgbClr val="FFFFFF"/>
                    </a:solidFill>
                  </a:tcPr>
                </a:tc>
                <a:tc>
                  <a:txBody>
                    <a:bodyPr/>
                    <a:lstStyle/>
                    <a:p>
                      <a:pPr algn="ctr">
                        <a:defRPr sz="1000">
                          <a:latin typeface="Montserrat"/>
                        </a:defRPr>
                      </a:pPr>
                      <a:r>
                        <a:t>166,052</a:t>
                      </a:r>
                    </a:p>
                  </a:txBody>
                  <a:tcPr>
                    <a:solidFill>
                      <a:srgbClr val="FFFFFF"/>
                    </a:solidFill>
                  </a:tcPr>
                </a:tc>
                <a:tc>
                  <a:txBody>
                    <a:bodyPr/>
                    <a:lstStyle/>
                    <a:p>
                      <a:pPr algn="ctr">
                        <a:defRPr sz="1000">
                          <a:latin typeface="Montserrat"/>
                        </a:defRPr>
                      </a:pPr>
                      <a:r>
                        <a:t>24,166</a:t>
                      </a:r>
                    </a:p>
                  </a:txBody>
                  <a:tcPr>
                    <a:solidFill>
                      <a:srgbClr val="FFFFFF"/>
                    </a:solidFill>
                  </a:tcPr>
                </a:tc>
                <a:tc>
                  <a:txBody>
                    <a:bodyPr/>
                    <a:lstStyle/>
                    <a:p>
                      <a:pPr algn="ctr">
                        <a:defRPr sz="1000">
                          <a:latin typeface="Montserrat"/>
                        </a:defRPr>
                      </a:pPr>
                      <a:r>
                        <a:t>67,948</a:t>
                      </a:r>
                    </a:p>
                  </a:txBody>
                  <a:tcPr>
                    <a:solidFill>
                      <a:srgbClr val="ECD3D9"/>
                    </a:solidFill>
                  </a:tcPr>
                </a:tc>
                <a:tc>
                  <a:txBody>
                    <a:bodyPr/>
                    <a:lstStyle/>
                    <a:p>
                      <a:pPr algn="ctr">
                        <a:defRPr sz="1000">
                          <a:latin typeface="Montserrat"/>
                        </a:defRPr>
                      </a:pPr>
                      <a:r>
                        <a:t>170,820</a:t>
                      </a:r>
                    </a:p>
                  </a:txBody>
                  <a:tcPr>
                    <a:solidFill>
                      <a:srgbClr val="ECD3D9"/>
                    </a:solidFill>
                  </a:tcPr>
                </a:tc>
                <a:tc>
                  <a:txBody>
                    <a:bodyPr/>
                    <a:lstStyle/>
                    <a:p>
                      <a:pPr algn="ctr">
                        <a:defRPr sz="1000">
                          <a:latin typeface="Montserrat"/>
                        </a:defRPr>
                      </a:pPr>
                      <a:r>
                        <a:t>39.8%</a:t>
                      </a:r>
                    </a:p>
                  </a:txBody>
                  <a:tcPr>
                    <a:solidFill>
                      <a:srgbClr val="ECD3D9"/>
                    </a:solidFill>
                  </a:tcPr>
                </a:tc>
                <a:extLst>
                  <a:ext uri="{0D108BD9-81ED-4DB2-BD59-A6C34878D82A}">
                    <a16:rowId xmlns:a16="http://schemas.microsoft.com/office/drawing/2014/main" val="10009"/>
                  </a:ext>
                </a:extLst>
              </a:tr>
              <a:tr h="284400">
                <a:tc>
                  <a:txBody>
                    <a:bodyPr/>
                    <a:lstStyle/>
                    <a:p>
                      <a:pPr algn="l">
                        <a:defRPr sz="1000">
                          <a:latin typeface="Montserrat"/>
                        </a:defRPr>
                      </a:pPr>
                      <a:r>
                        <a:t>HGZMF 2 Saltillo</a:t>
                      </a:r>
                    </a:p>
                  </a:txBody>
                  <a:tcPr>
                    <a:solidFill>
                      <a:srgbClr val="EFEFEF"/>
                    </a:solidFill>
                  </a:tcPr>
                </a:tc>
                <a:tc>
                  <a:txBody>
                    <a:bodyPr/>
                    <a:lstStyle/>
                    <a:p>
                      <a:pPr algn="ctr">
                        <a:defRPr sz="1000">
                          <a:latin typeface="Montserrat"/>
                        </a:defRPr>
                      </a:pPr>
                      <a:r>
                        <a:t>141,359</a:t>
                      </a:r>
                    </a:p>
                  </a:txBody>
                  <a:tcPr>
                    <a:solidFill>
                      <a:srgbClr val="EFEFEF"/>
                    </a:solidFill>
                  </a:tcPr>
                </a:tc>
                <a:tc>
                  <a:txBody>
                    <a:bodyPr/>
                    <a:lstStyle/>
                    <a:p>
                      <a:pPr algn="ctr">
                        <a:defRPr sz="1000">
                          <a:latin typeface="Montserrat"/>
                        </a:defRPr>
                      </a:pPr>
                      <a:r>
                        <a:t>29,060</a:t>
                      </a:r>
                    </a:p>
                  </a:txBody>
                  <a:tcPr>
                    <a:solidFill>
                      <a:srgbClr val="EFEFEF"/>
                    </a:solidFill>
                  </a:tcPr>
                </a:tc>
                <a:tc>
                  <a:txBody>
                    <a:bodyPr/>
                    <a:lstStyle/>
                    <a:p>
                      <a:pPr algn="ctr">
                        <a:defRPr sz="1000">
                          <a:latin typeface="Montserrat"/>
                        </a:defRPr>
                      </a:pPr>
                      <a:r>
                        <a:t>56,758</a:t>
                      </a:r>
                    </a:p>
                  </a:txBody>
                  <a:tcPr>
                    <a:solidFill>
                      <a:srgbClr val="ECD3D9"/>
                    </a:solidFill>
                  </a:tcPr>
                </a:tc>
                <a:tc>
                  <a:txBody>
                    <a:bodyPr/>
                    <a:lstStyle/>
                    <a:p>
                      <a:pPr algn="ctr">
                        <a:defRPr sz="1000">
                          <a:latin typeface="Montserrat"/>
                        </a:defRPr>
                      </a:pPr>
                      <a:r>
                        <a:t>144,540</a:t>
                      </a:r>
                    </a:p>
                  </a:txBody>
                  <a:tcPr>
                    <a:solidFill>
                      <a:srgbClr val="ECD3D9"/>
                    </a:solidFill>
                  </a:tcPr>
                </a:tc>
                <a:tc>
                  <a:txBody>
                    <a:bodyPr/>
                    <a:lstStyle/>
                    <a:p>
                      <a:pPr algn="ctr">
                        <a:defRPr sz="1000">
                          <a:latin typeface="Montserrat"/>
                        </a:defRPr>
                      </a:pPr>
                      <a:r>
                        <a:t>39.3%</a:t>
                      </a:r>
                    </a:p>
                  </a:txBody>
                  <a:tcPr>
                    <a:solidFill>
                      <a:srgbClr val="ECD3D9"/>
                    </a:solidFill>
                  </a:tcPr>
                </a:tc>
                <a:extLst>
                  <a:ext uri="{0D108BD9-81ED-4DB2-BD59-A6C34878D82A}">
                    <a16:rowId xmlns:a16="http://schemas.microsoft.com/office/drawing/2014/main" val="10010"/>
                  </a:ext>
                </a:extLst>
              </a:tr>
              <a:tr h="284400">
                <a:tc>
                  <a:txBody>
                    <a:bodyPr/>
                    <a:lstStyle/>
                    <a:p>
                      <a:pPr algn="l">
                        <a:defRPr sz="1000">
                          <a:latin typeface="Montserrat"/>
                        </a:defRPr>
                      </a:pPr>
                      <a:r>
                        <a:t>HGS 13 Cd. Acuña</a:t>
                      </a:r>
                    </a:p>
                  </a:txBody>
                  <a:tcPr>
                    <a:solidFill>
                      <a:srgbClr val="FFFFFF"/>
                    </a:solidFill>
                  </a:tcPr>
                </a:tc>
                <a:tc>
                  <a:txBody>
                    <a:bodyPr/>
                    <a:lstStyle/>
                    <a:p>
                      <a:pPr algn="ctr">
                        <a:defRPr sz="1000">
                          <a:latin typeface="Montserrat"/>
                        </a:defRPr>
                      </a:pPr>
                      <a:r>
                        <a:t>15,964</a:t>
                      </a:r>
                    </a:p>
                  </a:txBody>
                  <a:tcPr>
                    <a:solidFill>
                      <a:srgbClr val="FFFFFF"/>
                    </a:solidFill>
                  </a:tcPr>
                </a:tc>
                <a:tc>
                  <a:txBody>
                    <a:bodyPr/>
                    <a:lstStyle/>
                    <a:p>
                      <a:pPr algn="ctr">
                        <a:defRPr sz="1000">
                          <a:latin typeface="Montserrat"/>
                        </a:defRPr>
                      </a:pPr>
                      <a:r>
                        <a:t>5,567</a:t>
                      </a:r>
                    </a:p>
                  </a:txBody>
                  <a:tcPr>
                    <a:solidFill>
                      <a:srgbClr val="FFFFFF"/>
                    </a:solidFill>
                  </a:tcPr>
                </a:tc>
                <a:tc>
                  <a:txBody>
                    <a:bodyPr/>
                    <a:lstStyle/>
                    <a:p>
                      <a:pPr algn="ctr">
                        <a:defRPr sz="1000">
                          <a:latin typeface="Montserrat"/>
                        </a:defRPr>
                      </a:pPr>
                      <a:r>
                        <a:t>11,196</a:t>
                      </a:r>
                    </a:p>
                  </a:txBody>
                  <a:tcPr>
                    <a:solidFill>
                      <a:srgbClr val="ECD3D9"/>
                    </a:solidFill>
                  </a:tcPr>
                </a:tc>
                <a:tc>
                  <a:txBody>
                    <a:bodyPr/>
                    <a:lstStyle/>
                    <a:p>
                      <a:pPr algn="ctr">
                        <a:defRPr sz="1000">
                          <a:latin typeface="Montserrat"/>
                        </a:defRPr>
                      </a:pPr>
                      <a:r>
                        <a:t>29,200</a:t>
                      </a:r>
                    </a:p>
                  </a:txBody>
                  <a:tcPr>
                    <a:solidFill>
                      <a:srgbClr val="ECD3D9"/>
                    </a:solidFill>
                  </a:tcPr>
                </a:tc>
                <a:tc>
                  <a:txBody>
                    <a:bodyPr/>
                    <a:lstStyle/>
                    <a:p>
                      <a:pPr algn="ctr">
                        <a:defRPr sz="1000">
                          <a:latin typeface="Montserrat"/>
                        </a:defRPr>
                      </a:pPr>
                      <a:r>
                        <a:t>38.3%</a:t>
                      </a:r>
                    </a:p>
                  </a:txBody>
                  <a:tcPr>
                    <a:solidFill>
                      <a:srgbClr val="ECD3D9"/>
                    </a:solidFill>
                  </a:tcPr>
                </a:tc>
                <a:extLst>
                  <a:ext uri="{0D108BD9-81ED-4DB2-BD59-A6C34878D82A}">
                    <a16:rowId xmlns:a16="http://schemas.microsoft.com/office/drawing/2014/main" val="10011"/>
                  </a:ext>
                </a:extLst>
              </a:tr>
              <a:tr h="284400">
                <a:tc>
                  <a:txBody>
                    <a:bodyPr/>
                    <a:lstStyle/>
                    <a:p>
                      <a:pPr algn="l">
                        <a:defRPr sz="1000">
                          <a:latin typeface="Montserrat"/>
                        </a:defRPr>
                      </a:pPr>
                      <a:r>
                        <a:t>HGSMF 20 Fco. I. Madero</a:t>
                      </a:r>
                    </a:p>
                  </a:txBody>
                  <a:tcPr>
                    <a:solidFill>
                      <a:srgbClr val="EFEFEF"/>
                    </a:solidFill>
                  </a:tcPr>
                </a:tc>
                <a:tc>
                  <a:txBody>
                    <a:bodyPr/>
                    <a:lstStyle/>
                    <a:p>
                      <a:pPr algn="ctr">
                        <a:defRPr sz="1000">
                          <a:latin typeface="Montserrat"/>
                        </a:defRPr>
                      </a:pPr>
                      <a:r>
                        <a:t>9,818</a:t>
                      </a:r>
                    </a:p>
                  </a:txBody>
                  <a:tcPr>
                    <a:solidFill>
                      <a:srgbClr val="EFEFEF"/>
                    </a:solidFill>
                  </a:tcPr>
                </a:tc>
                <a:tc>
                  <a:txBody>
                    <a:bodyPr/>
                    <a:lstStyle/>
                    <a:p>
                      <a:pPr algn="ctr">
                        <a:defRPr sz="1000">
                          <a:latin typeface="Montserrat"/>
                        </a:defRPr>
                      </a:pPr>
                      <a:r>
                        <a:t>2,301</a:t>
                      </a:r>
                    </a:p>
                  </a:txBody>
                  <a:tcPr>
                    <a:solidFill>
                      <a:srgbClr val="EFEFEF"/>
                    </a:solidFill>
                  </a:tcPr>
                </a:tc>
                <a:tc>
                  <a:txBody>
                    <a:bodyPr/>
                    <a:lstStyle/>
                    <a:p>
                      <a:pPr algn="ctr">
                        <a:defRPr sz="1000">
                          <a:latin typeface="Montserrat"/>
                        </a:defRPr>
                      </a:pPr>
                      <a:r>
                        <a:t>5,013</a:t>
                      </a:r>
                    </a:p>
                  </a:txBody>
                  <a:tcPr>
                    <a:solidFill>
                      <a:srgbClr val="ECD3D9"/>
                    </a:solidFill>
                  </a:tcPr>
                </a:tc>
                <a:tc>
                  <a:txBody>
                    <a:bodyPr/>
                    <a:lstStyle/>
                    <a:p>
                      <a:pPr algn="ctr">
                        <a:defRPr sz="1000">
                          <a:latin typeface="Montserrat"/>
                        </a:defRPr>
                      </a:pPr>
                      <a:r>
                        <a:t>13,140</a:t>
                      </a:r>
                    </a:p>
                  </a:txBody>
                  <a:tcPr>
                    <a:solidFill>
                      <a:srgbClr val="ECD3D9"/>
                    </a:solidFill>
                  </a:tcPr>
                </a:tc>
                <a:tc>
                  <a:txBody>
                    <a:bodyPr/>
                    <a:lstStyle/>
                    <a:p>
                      <a:pPr algn="ctr">
                        <a:defRPr sz="1000">
                          <a:latin typeface="Montserrat"/>
                        </a:defRPr>
                      </a:pPr>
                      <a:r>
                        <a:t>38.1%</a:t>
                      </a:r>
                    </a:p>
                  </a:txBody>
                  <a:tcPr>
                    <a:solidFill>
                      <a:srgbClr val="ECD3D9"/>
                    </a:solidFill>
                  </a:tcPr>
                </a:tc>
                <a:extLst>
                  <a:ext uri="{0D108BD9-81ED-4DB2-BD59-A6C34878D82A}">
                    <a16:rowId xmlns:a16="http://schemas.microsoft.com/office/drawing/2014/main" val="10012"/>
                  </a:ext>
                </a:extLst>
              </a:tr>
              <a:tr h="284400">
                <a:tc>
                  <a:txBody>
                    <a:bodyPr/>
                    <a:lstStyle/>
                    <a:p>
                      <a:pPr algn="l">
                        <a:defRPr sz="1000">
                          <a:latin typeface="Montserrat"/>
                        </a:defRPr>
                      </a:pPr>
                      <a:r>
                        <a:t>UMAA 89 Saltillo</a:t>
                      </a:r>
                    </a:p>
                  </a:txBody>
                  <a:tcPr>
                    <a:solidFill>
                      <a:srgbClr val="FFFFFF"/>
                    </a:solidFill>
                  </a:tcPr>
                </a:tc>
                <a:tc>
                  <a:txBody>
                    <a:bodyPr/>
                    <a:lstStyle/>
                    <a:p>
                      <a:pPr algn="ctr">
                        <a:defRPr sz="1000">
                          <a:latin typeface="Montserrat"/>
                        </a:defRPr>
                      </a:pPr>
                      <a:r>
                        <a:t>45,645</a:t>
                      </a:r>
                    </a:p>
                  </a:txBody>
                  <a:tcPr>
                    <a:solidFill>
                      <a:srgbClr val="FFFFFF"/>
                    </a:solidFill>
                  </a:tcPr>
                </a:tc>
                <a:tc>
                  <a:txBody>
                    <a:bodyPr/>
                    <a:lstStyle/>
                    <a:p>
                      <a:pPr algn="ctr">
                        <a:defRPr sz="1000">
                          <a:latin typeface="Montserrat"/>
                        </a:defRPr>
                      </a:pPr>
                      <a:r>
                        <a:t>19,711</a:t>
                      </a:r>
                    </a:p>
                  </a:txBody>
                  <a:tcPr>
                    <a:solidFill>
                      <a:srgbClr val="FFFFFF"/>
                    </a:solidFill>
                  </a:tcPr>
                </a:tc>
                <a:tc>
                  <a:txBody>
                    <a:bodyPr/>
                    <a:lstStyle/>
                    <a:p>
                      <a:pPr algn="ctr">
                        <a:defRPr sz="1000">
                          <a:latin typeface="Montserrat"/>
                        </a:defRPr>
                      </a:pPr>
                      <a:r>
                        <a:t>18,817</a:t>
                      </a:r>
                    </a:p>
                  </a:txBody>
                  <a:tcPr>
                    <a:solidFill>
                      <a:srgbClr val="ECD3D9"/>
                    </a:solidFill>
                  </a:tcPr>
                </a:tc>
                <a:tc>
                  <a:txBody>
                    <a:bodyPr/>
                    <a:lstStyle/>
                    <a:p>
                      <a:pPr algn="ctr">
                        <a:defRPr sz="1000">
                          <a:latin typeface="Montserrat"/>
                        </a:defRPr>
                      </a:pPr>
                      <a:r>
                        <a:t>52,560</a:t>
                      </a:r>
                    </a:p>
                  </a:txBody>
                  <a:tcPr>
                    <a:solidFill>
                      <a:srgbClr val="ECD3D9"/>
                    </a:solidFill>
                  </a:tcPr>
                </a:tc>
                <a:tc>
                  <a:txBody>
                    <a:bodyPr/>
                    <a:lstStyle/>
                    <a:p>
                      <a:pPr algn="ctr">
                        <a:defRPr sz="1000">
                          <a:latin typeface="Montserrat"/>
                        </a:defRPr>
                      </a:pPr>
                      <a:r>
                        <a:t>35.8%</a:t>
                      </a:r>
                    </a:p>
                  </a:txBody>
                  <a:tcPr>
                    <a:solidFill>
                      <a:srgbClr val="ECD3D9"/>
                    </a:solidFill>
                  </a:tcPr>
                </a:tc>
                <a:extLst>
                  <a:ext uri="{0D108BD9-81ED-4DB2-BD59-A6C34878D82A}">
                    <a16:rowId xmlns:a16="http://schemas.microsoft.com/office/drawing/2014/main" val="10013"/>
                  </a:ext>
                </a:extLst>
              </a:tr>
              <a:tr h="284400">
                <a:tc>
                  <a:txBody>
                    <a:bodyPr/>
                    <a:lstStyle/>
                    <a:p>
                      <a:pPr algn="l">
                        <a:defRPr sz="1000">
                          <a:latin typeface="Montserrat"/>
                        </a:defRPr>
                      </a:pPr>
                      <a:r>
                        <a:t>HGSMF 21 S. Pedro Colonias</a:t>
                      </a:r>
                    </a:p>
                  </a:txBody>
                  <a:tcPr>
                    <a:solidFill>
                      <a:srgbClr val="EFEFEF"/>
                    </a:solidFill>
                  </a:tcPr>
                </a:tc>
                <a:tc>
                  <a:txBody>
                    <a:bodyPr/>
                    <a:lstStyle/>
                    <a:p>
                      <a:pPr algn="ctr">
                        <a:defRPr sz="1000">
                          <a:latin typeface="Montserrat"/>
                        </a:defRPr>
                      </a:pPr>
                      <a:r>
                        <a:t>12,728</a:t>
                      </a:r>
                    </a:p>
                  </a:txBody>
                  <a:tcPr>
                    <a:solidFill>
                      <a:srgbClr val="EFEFEF"/>
                    </a:solidFill>
                  </a:tcPr>
                </a:tc>
                <a:tc>
                  <a:txBody>
                    <a:bodyPr/>
                    <a:lstStyle/>
                    <a:p>
                      <a:pPr algn="ctr">
                        <a:defRPr sz="1000">
                          <a:latin typeface="Montserrat"/>
                        </a:defRPr>
                      </a:pPr>
                      <a:r>
                        <a:t>6,860</a:t>
                      </a:r>
                    </a:p>
                  </a:txBody>
                  <a:tcPr>
                    <a:solidFill>
                      <a:srgbClr val="EFEFEF"/>
                    </a:solidFill>
                  </a:tcPr>
                </a:tc>
                <a:tc>
                  <a:txBody>
                    <a:bodyPr/>
                    <a:lstStyle/>
                    <a:p>
                      <a:pPr algn="ctr">
                        <a:defRPr sz="1000">
                          <a:latin typeface="Montserrat"/>
                        </a:defRPr>
                      </a:pPr>
                      <a:r>
                        <a:t>6,585</a:t>
                      </a:r>
                    </a:p>
                  </a:txBody>
                  <a:tcPr>
                    <a:solidFill>
                      <a:srgbClr val="ECD3D9"/>
                    </a:solidFill>
                  </a:tcPr>
                </a:tc>
                <a:tc>
                  <a:txBody>
                    <a:bodyPr/>
                    <a:lstStyle/>
                    <a:p>
                      <a:pPr algn="ctr">
                        <a:defRPr sz="1000">
                          <a:latin typeface="Montserrat"/>
                        </a:defRPr>
                      </a:pPr>
                      <a:r>
                        <a:t>19,710</a:t>
                      </a:r>
                    </a:p>
                  </a:txBody>
                  <a:tcPr>
                    <a:solidFill>
                      <a:srgbClr val="ECD3D9"/>
                    </a:solidFill>
                  </a:tcPr>
                </a:tc>
                <a:tc>
                  <a:txBody>
                    <a:bodyPr/>
                    <a:lstStyle/>
                    <a:p>
                      <a:pPr algn="ctr">
                        <a:defRPr sz="1000">
                          <a:latin typeface="Montserrat"/>
                        </a:defRPr>
                      </a:pPr>
                      <a:r>
                        <a:t>33.4%</a:t>
                      </a:r>
                    </a:p>
                  </a:txBody>
                  <a:tcPr>
                    <a:solidFill>
                      <a:srgbClr val="ECD3D9"/>
                    </a:solidFill>
                  </a:tcPr>
                </a:tc>
                <a:extLst>
                  <a:ext uri="{0D108BD9-81ED-4DB2-BD59-A6C34878D82A}">
                    <a16:rowId xmlns:a16="http://schemas.microsoft.com/office/drawing/2014/main" val="10014"/>
                  </a:ext>
                </a:extLst>
              </a:tr>
              <a:tr h="284400">
                <a:tc>
                  <a:txBody>
                    <a:bodyPr/>
                    <a:lstStyle/>
                    <a:p>
                      <a:pPr algn="l">
                        <a:defRPr sz="1000">
                          <a:latin typeface="Montserrat"/>
                        </a:defRPr>
                      </a:pPr>
                      <a:r>
                        <a:t>HGSMF 6 Parras</a:t>
                      </a:r>
                    </a:p>
                  </a:txBody>
                  <a:tcPr>
                    <a:solidFill>
                      <a:srgbClr val="FFFFFF"/>
                    </a:solidFill>
                  </a:tcPr>
                </a:tc>
                <a:tc>
                  <a:txBody>
                    <a:bodyPr/>
                    <a:lstStyle/>
                    <a:p>
                      <a:pPr algn="ctr">
                        <a:defRPr sz="1000">
                          <a:latin typeface="Montserrat"/>
                        </a:defRPr>
                      </a:pPr>
                      <a:r>
                        <a:t>6,753</a:t>
                      </a:r>
                    </a:p>
                  </a:txBody>
                  <a:tcPr>
                    <a:solidFill>
                      <a:srgbClr val="FFFFFF"/>
                    </a:solidFill>
                  </a:tcPr>
                </a:tc>
                <a:tc>
                  <a:txBody>
                    <a:bodyPr/>
                    <a:lstStyle/>
                    <a:p>
                      <a:pPr algn="ctr">
                        <a:defRPr sz="1000">
                          <a:latin typeface="Montserrat"/>
                        </a:defRPr>
                      </a:pPr>
                      <a:r>
                        <a:t>1,497</a:t>
                      </a:r>
                    </a:p>
                  </a:txBody>
                  <a:tcPr>
                    <a:solidFill>
                      <a:srgbClr val="FFFFFF"/>
                    </a:solidFill>
                  </a:tcPr>
                </a:tc>
                <a:tc>
                  <a:txBody>
                    <a:bodyPr/>
                    <a:lstStyle/>
                    <a:p>
                      <a:pPr algn="ctr">
                        <a:defRPr sz="1000">
                          <a:latin typeface="Montserrat"/>
                        </a:defRPr>
                      </a:pPr>
                      <a:r>
                        <a:t>3,891</a:t>
                      </a:r>
                    </a:p>
                  </a:txBody>
                  <a:tcPr>
                    <a:solidFill>
                      <a:srgbClr val="ECD3D9"/>
                    </a:solidFill>
                  </a:tcPr>
                </a:tc>
                <a:tc>
                  <a:txBody>
                    <a:bodyPr/>
                    <a:lstStyle/>
                    <a:p>
                      <a:pPr algn="ctr">
                        <a:defRPr sz="1000">
                          <a:latin typeface="Montserrat"/>
                        </a:defRPr>
                      </a:pPr>
                      <a:r>
                        <a:t>11,680</a:t>
                      </a:r>
                    </a:p>
                  </a:txBody>
                  <a:tcPr>
                    <a:solidFill>
                      <a:srgbClr val="ECD3D9"/>
                    </a:solidFill>
                  </a:tcPr>
                </a:tc>
                <a:tc>
                  <a:txBody>
                    <a:bodyPr/>
                    <a:lstStyle/>
                    <a:p>
                      <a:pPr algn="ctr">
                        <a:defRPr sz="1000">
                          <a:latin typeface="Montserrat"/>
                        </a:defRPr>
                      </a:pPr>
                      <a:r>
                        <a:t>33.3%</a:t>
                      </a:r>
                    </a:p>
                  </a:txBody>
                  <a:tcPr>
                    <a:solidFill>
                      <a:srgbClr val="ECD3D9"/>
                    </a:solidFill>
                  </a:tcPr>
                </a:tc>
                <a:extLst>
                  <a:ext uri="{0D108BD9-81ED-4DB2-BD59-A6C34878D82A}">
                    <a16:rowId xmlns:a16="http://schemas.microsoft.com/office/drawing/2014/main" val="10015"/>
                  </a:ext>
                </a:extLst>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947,742</a:t>
                      </a:r>
                    </a:p>
                  </a:txBody>
                  <a:tcPr>
                    <a:solidFill>
                      <a:srgbClr val="D3E9E7"/>
                    </a:solidFill>
                  </a:tcPr>
                </a:tc>
                <a:tc>
                  <a:txBody>
                    <a:bodyPr/>
                    <a:lstStyle/>
                    <a:p>
                      <a:pPr algn="ctr">
                        <a:defRPr sz="1000" b="1">
                          <a:solidFill>
                            <a:srgbClr val="006556"/>
                          </a:solidFill>
                          <a:latin typeface="Montserrat"/>
                        </a:defRPr>
                      </a:pPr>
                      <a:r>
                        <a:t>262,130</a:t>
                      </a:r>
                    </a:p>
                  </a:txBody>
                  <a:tcPr>
                    <a:solidFill>
                      <a:srgbClr val="D3E9E7"/>
                    </a:solidFill>
                  </a:tcPr>
                </a:tc>
                <a:tc>
                  <a:txBody>
                    <a:bodyPr/>
                    <a:lstStyle/>
                    <a:p>
                      <a:pPr algn="ctr">
                        <a:defRPr sz="1000" b="1">
                          <a:solidFill>
                            <a:srgbClr val="FFFFFF"/>
                          </a:solidFill>
                          <a:latin typeface="Montserrat"/>
                        </a:defRPr>
                      </a:pPr>
                      <a:r>
                        <a:t>466,635</a:t>
                      </a:r>
                    </a:p>
                  </a:txBody>
                  <a:tcPr>
                    <a:solidFill>
                      <a:srgbClr val="9F2241"/>
                    </a:solidFill>
                  </a:tcPr>
                </a:tc>
                <a:tc>
                  <a:txBody>
                    <a:bodyPr/>
                    <a:lstStyle/>
                    <a:p>
                      <a:pPr algn="ctr">
                        <a:defRPr sz="1000" b="1">
                          <a:solidFill>
                            <a:srgbClr val="FFFFFF"/>
                          </a:solidFill>
                          <a:latin typeface="Montserrat"/>
                        </a:defRPr>
                      </a:pPr>
                      <a:r>
                        <a:t>1,090,985</a:t>
                      </a:r>
                    </a:p>
                  </a:txBody>
                  <a:tcPr>
                    <a:solidFill>
                      <a:srgbClr val="9F2241"/>
                    </a:solidFill>
                  </a:tcPr>
                </a:tc>
                <a:tc>
                  <a:txBody>
                    <a:bodyPr/>
                    <a:lstStyle/>
                    <a:p>
                      <a:pPr algn="ctr">
                        <a:defRPr sz="1000" b="1">
                          <a:solidFill>
                            <a:srgbClr val="FFFFFF"/>
                          </a:solidFill>
                          <a:latin typeface="Montserrat"/>
                        </a:defRPr>
                      </a:pPr>
                      <a:r>
                        <a:t>42.8%</a:t>
                      </a:r>
                    </a:p>
                  </a:txBody>
                  <a:tcPr>
                    <a:solidFill>
                      <a:srgbClr val="9F2241"/>
                    </a:solidFill>
                  </a:tcPr>
                </a:tc>
                <a:extLst>
                  <a:ext uri="{0D108BD9-81ED-4DB2-BD59-A6C34878D82A}">
                    <a16:rowId xmlns:a16="http://schemas.microsoft.com/office/drawing/2014/main" val="10016"/>
                  </a:ext>
                </a:extLst>
              </a:tr>
            </a:tbl>
          </a:graphicData>
        </a:graphic>
      </p:graphicFrame>
      <p:graphicFrame>
        <p:nvGraphicFramePr>
          <p:cNvPr id="237" name="Table 236"/>
          <p:cNvGraphicFramePr>
            <a:graphicFrameLocks noGrp="1"/>
          </p:cNvGraphicFramePr>
          <p:nvPr>
            <p:extLst>
              <p:ext uri="{D42A27DB-BD31-4B8C-83A1-F6EECF244321}">
                <p14:modId xmlns:p14="http://schemas.microsoft.com/office/powerpoint/2010/main" val="3290764053"/>
              </p:ext>
            </p:extLst>
          </p:nvPr>
        </p:nvGraphicFramePr>
        <p:xfrm>
          <a:off x="144000" y="6390000"/>
          <a:ext cx="7484400" cy="1218960"/>
        </p:xfrm>
        <a:graphic>
          <a:graphicData uri="http://schemas.openxmlformats.org/drawingml/2006/table">
            <a:tbl>
              <a:tblPr firstRow="1" bandRow="1">
                <a:tableStyleId>{5C22544A-7EE6-4342-B048-85BDC9FD1C3A}</a:tableStyleId>
              </a:tblPr>
              <a:tblGrid>
                <a:gridCol w="2040866">
                  <a:extLst>
                    <a:ext uri="{9D8B030D-6E8A-4147-A177-3AD203B41FA5}">
                      <a16:colId xmlns:a16="http://schemas.microsoft.com/office/drawing/2014/main" val="20000"/>
                    </a:ext>
                  </a:extLst>
                </a:gridCol>
                <a:gridCol w="891961">
                  <a:extLst>
                    <a:ext uri="{9D8B030D-6E8A-4147-A177-3AD203B41FA5}">
                      <a16:colId xmlns:a16="http://schemas.microsoft.com/office/drawing/2014/main" val="20001"/>
                    </a:ext>
                  </a:extLst>
                </a:gridCol>
                <a:gridCol w="1137893">
                  <a:extLst>
                    <a:ext uri="{9D8B030D-6E8A-4147-A177-3AD203B41FA5}">
                      <a16:colId xmlns:a16="http://schemas.microsoft.com/office/drawing/2014/main" val="20002"/>
                    </a:ext>
                  </a:extLst>
                </a:gridCol>
                <a:gridCol w="1137893">
                  <a:extLst>
                    <a:ext uri="{9D8B030D-6E8A-4147-A177-3AD203B41FA5}">
                      <a16:colId xmlns:a16="http://schemas.microsoft.com/office/drawing/2014/main" val="20003"/>
                    </a:ext>
                  </a:extLst>
                </a:gridCol>
                <a:gridCol w="1005751">
                  <a:extLst>
                    <a:ext uri="{9D8B030D-6E8A-4147-A177-3AD203B41FA5}">
                      <a16:colId xmlns:a16="http://schemas.microsoft.com/office/drawing/2014/main" val="20004"/>
                    </a:ext>
                  </a:extLst>
                </a:gridCol>
                <a:gridCol w="1270036">
                  <a:extLst>
                    <a:ext uri="{9D8B030D-6E8A-4147-A177-3AD203B41FA5}">
                      <a16:colId xmlns:a16="http://schemas.microsoft.com/office/drawing/2014/main" val="20005"/>
                    </a:ext>
                  </a:extLst>
                </a:gridCol>
              </a:tblGrid>
              <a:tr h="284400">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2025</a:t>
                      </a:r>
                    </a:p>
                  </a:txBody>
                  <a:tcPr anchor="ctr">
                    <a:solidFill>
                      <a:srgbClr val="006455"/>
                    </a:solidFill>
                  </a:tcPr>
                </a:tc>
                <a:tc>
                  <a:txBody>
                    <a:bodyPr/>
                    <a:lstStyle/>
                    <a:p>
                      <a:pPr algn="ctr">
                        <a:defRPr sz="900" b="1">
                          <a:solidFill>
                            <a:srgbClr val="FFFFFF"/>
                          </a:solidFill>
                          <a:latin typeface="Montserrat"/>
                        </a:defRPr>
                      </a:pPr>
                      <a:r>
                        <a:t>Incremento 2025 vs 2024</a:t>
                      </a:r>
                    </a:p>
                  </a:txBody>
                  <a:tcPr anchor="ctr">
                    <a:solidFill>
                      <a:srgbClr val="006455"/>
                    </a:solidFill>
                  </a:tcPr>
                </a:tc>
                <a:tc>
                  <a:txBody>
                    <a:bodyPr/>
                    <a:lstStyle/>
                    <a:p>
                      <a:pPr algn="ctr">
                        <a:defRPr sz="900" b="1">
                          <a:solidFill>
                            <a:srgbClr val="FFFFFF"/>
                          </a:solidFill>
                          <a:latin typeface="Montserrat"/>
                        </a:defRPr>
                      </a:pPr>
                      <a:r>
                        <a:t>Avance 2026</a:t>
                      </a:r>
                    </a:p>
                  </a:txBody>
                  <a:tcPr anchor="ctr">
                    <a:solidFill>
                      <a:srgbClr val="980000"/>
                    </a:solidFill>
                  </a:tcPr>
                </a:tc>
                <a:tc>
                  <a:txBody>
                    <a:bodyPr/>
                    <a:lstStyle/>
                    <a:p>
                      <a:pPr algn="ctr">
                        <a:defRPr sz="900" b="1">
                          <a:solidFill>
                            <a:srgbClr val="FFFFFF"/>
                          </a:solidFill>
                          <a:latin typeface="Montserrat"/>
                        </a:defRPr>
                      </a:pPr>
                      <a:r>
                        <a:t>Meta 2026</a:t>
                      </a:r>
                    </a:p>
                  </a:txBody>
                  <a:tcPr anchor="ctr">
                    <a:solidFill>
                      <a:srgbClr val="980000"/>
                    </a:solidFill>
                  </a:tcPr>
                </a:tc>
                <a:tc>
                  <a:txBody>
                    <a:bodyPr/>
                    <a:lstStyle/>
                    <a:p>
                      <a:pPr algn="ctr">
                        <a:defRPr sz="900" b="1">
                          <a:solidFill>
                            <a:srgbClr val="FFFFFF"/>
                          </a:solidFill>
                          <a:latin typeface="Montserrat"/>
                        </a:defRPr>
                      </a:pPr>
                      <a:r>
                        <a:t>% </a:t>
                      </a:r>
                      <a:r>
                        <a:rPr err="1"/>
                        <a:t>Cumplimiento</a:t>
                      </a:r>
                      <a:r>
                        <a:t> de la meta</a:t>
                      </a:r>
                    </a:p>
                  </a:txBody>
                  <a:tcPr anchor="ctr">
                    <a:solidFill>
                      <a:srgbClr val="980000"/>
                    </a:solidFill>
                  </a:tcPr>
                </a:tc>
                <a:extLst>
                  <a:ext uri="{0D108BD9-81ED-4DB2-BD59-A6C34878D82A}">
                    <a16:rowId xmlns:a16="http://schemas.microsoft.com/office/drawing/2014/main" val="10000"/>
                  </a:ext>
                </a:extLst>
              </a:tr>
              <a:tr h="284400">
                <a:tc>
                  <a:txBody>
                    <a:bodyPr/>
                    <a:lstStyle/>
                    <a:p>
                      <a:pPr algn="l">
                        <a:defRPr sz="1000">
                          <a:latin typeface="Montserrat"/>
                        </a:defRPr>
                      </a:pPr>
                      <a:r>
                        <a:t>HES 71 Torreón</a:t>
                      </a:r>
                    </a:p>
                  </a:txBody>
                  <a:tcPr>
                    <a:solidFill>
                      <a:srgbClr val="FFFFFF"/>
                    </a:solidFill>
                  </a:tcPr>
                </a:tc>
                <a:tc>
                  <a:txBody>
                    <a:bodyPr/>
                    <a:lstStyle/>
                    <a:p>
                      <a:pPr algn="ctr">
                        <a:defRPr sz="1000">
                          <a:latin typeface="Montserrat"/>
                        </a:defRPr>
                      </a:pPr>
                      <a:r>
                        <a:t>242,025</a:t>
                      </a:r>
                    </a:p>
                  </a:txBody>
                  <a:tcPr>
                    <a:solidFill>
                      <a:srgbClr val="FFFFFF"/>
                    </a:solidFill>
                  </a:tcPr>
                </a:tc>
                <a:tc>
                  <a:txBody>
                    <a:bodyPr/>
                    <a:lstStyle/>
                    <a:p>
                      <a:pPr algn="ctr">
                        <a:defRPr sz="1000">
                          <a:latin typeface="Montserrat"/>
                        </a:defRPr>
                      </a:pPr>
                      <a:r>
                        <a:t>31,970</a:t>
                      </a:r>
                    </a:p>
                  </a:txBody>
                  <a:tcPr>
                    <a:solidFill>
                      <a:srgbClr val="FFFFFF"/>
                    </a:solidFill>
                  </a:tcPr>
                </a:tc>
                <a:tc>
                  <a:txBody>
                    <a:bodyPr/>
                    <a:lstStyle/>
                    <a:p>
                      <a:pPr algn="ctr">
                        <a:defRPr sz="1000">
                          <a:latin typeface="Montserrat"/>
                        </a:defRPr>
                      </a:pPr>
                      <a:r>
                        <a:t>112,538</a:t>
                      </a:r>
                    </a:p>
                  </a:txBody>
                  <a:tcPr>
                    <a:solidFill>
                      <a:srgbClr val="ECD3D9"/>
                    </a:solidFill>
                  </a:tcPr>
                </a:tc>
                <a:tc>
                  <a:txBody>
                    <a:bodyPr/>
                    <a:lstStyle/>
                    <a:p>
                      <a:pPr algn="ctr">
                        <a:defRPr sz="1000">
                          <a:latin typeface="Montserrat"/>
                        </a:defRPr>
                      </a:pPr>
                      <a:r>
                        <a:t>315,360</a:t>
                      </a:r>
                    </a:p>
                  </a:txBody>
                  <a:tcPr>
                    <a:solidFill>
                      <a:srgbClr val="ECD3D9"/>
                    </a:solidFill>
                  </a:tcPr>
                </a:tc>
                <a:tc>
                  <a:txBody>
                    <a:bodyPr/>
                    <a:lstStyle/>
                    <a:p>
                      <a:pPr algn="ctr">
                        <a:defRPr sz="1000">
                          <a:latin typeface="Montserrat"/>
                        </a:defRPr>
                      </a:pPr>
                      <a:r>
                        <a:t>35.7%</a:t>
                      </a:r>
                    </a:p>
                  </a:txBody>
                  <a:tcPr>
                    <a:solidFill>
                      <a:srgbClr val="ECD3D9"/>
                    </a:solidFill>
                  </a:tcPr>
                </a:tc>
                <a:extLst>
                  <a:ext uri="{0D108BD9-81ED-4DB2-BD59-A6C34878D82A}">
                    <a16:rowId xmlns:a16="http://schemas.microsoft.com/office/drawing/2014/main" val="10001"/>
                  </a:ext>
                </a:extLst>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242,025</a:t>
                      </a:r>
                    </a:p>
                  </a:txBody>
                  <a:tcPr>
                    <a:solidFill>
                      <a:srgbClr val="D3E9E7"/>
                    </a:solidFill>
                  </a:tcPr>
                </a:tc>
                <a:tc>
                  <a:txBody>
                    <a:bodyPr/>
                    <a:lstStyle/>
                    <a:p>
                      <a:pPr algn="ctr">
                        <a:defRPr sz="1000" b="1">
                          <a:solidFill>
                            <a:srgbClr val="006556"/>
                          </a:solidFill>
                          <a:latin typeface="Montserrat"/>
                        </a:defRPr>
                      </a:pPr>
                      <a:r>
                        <a:t>31,970</a:t>
                      </a:r>
                    </a:p>
                  </a:txBody>
                  <a:tcPr>
                    <a:solidFill>
                      <a:srgbClr val="D3E9E7"/>
                    </a:solidFill>
                  </a:tcPr>
                </a:tc>
                <a:tc>
                  <a:txBody>
                    <a:bodyPr/>
                    <a:lstStyle/>
                    <a:p>
                      <a:pPr algn="ctr">
                        <a:defRPr sz="1000" b="1">
                          <a:solidFill>
                            <a:srgbClr val="FFFFFF"/>
                          </a:solidFill>
                          <a:latin typeface="Montserrat"/>
                        </a:defRPr>
                      </a:pPr>
                      <a:r>
                        <a:t>112,538</a:t>
                      </a:r>
                    </a:p>
                  </a:txBody>
                  <a:tcPr>
                    <a:solidFill>
                      <a:srgbClr val="9F2241"/>
                    </a:solidFill>
                  </a:tcPr>
                </a:tc>
                <a:tc>
                  <a:txBody>
                    <a:bodyPr/>
                    <a:lstStyle/>
                    <a:p>
                      <a:pPr algn="ctr">
                        <a:defRPr sz="1000" b="1">
                          <a:solidFill>
                            <a:srgbClr val="FFFFFF"/>
                          </a:solidFill>
                          <a:latin typeface="Montserrat"/>
                        </a:defRPr>
                      </a:pPr>
                      <a:r>
                        <a:t>315,360</a:t>
                      </a:r>
                    </a:p>
                  </a:txBody>
                  <a:tcPr>
                    <a:solidFill>
                      <a:srgbClr val="9F2241"/>
                    </a:solidFill>
                  </a:tcPr>
                </a:tc>
                <a:tc>
                  <a:txBody>
                    <a:bodyPr/>
                    <a:lstStyle/>
                    <a:p>
                      <a:pPr algn="ctr">
                        <a:defRPr sz="1000" b="1">
                          <a:solidFill>
                            <a:srgbClr val="FFFFFF"/>
                          </a:solidFill>
                          <a:latin typeface="Montserrat"/>
                        </a:defRPr>
                      </a:pPr>
                      <a:r>
                        <a:t>35.7%</a:t>
                      </a:r>
                    </a:p>
                  </a:txBody>
                  <a:tcPr>
                    <a:solidFill>
                      <a:srgbClr val="9F2241"/>
                    </a:solidFill>
                  </a:tcPr>
                </a:tc>
                <a:extLst>
                  <a:ext uri="{0D108BD9-81ED-4DB2-BD59-A6C34878D82A}">
                    <a16:rowId xmlns:a16="http://schemas.microsoft.com/office/drawing/2014/main" val="10002"/>
                  </a:ext>
                </a:extLst>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1,189,767</a:t>
                      </a:r>
                    </a:p>
                  </a:txBody>
                  <a:tcPr>
                    <a:solidFill>
                      <a:srgbClr val="D3E9E7"/>
                    </a:solidFill>
                  </a:tcPr>
                </a:tc>
                <a:tc>
                  <a:txBody>
                    <a:bodyPr/>
                    <a:lstStyle/>
                    <a:p>
                      <a:pPr algn="ctr">
                        <a:defRPr sz="1000" b="1">
                          <a:solidFill>
                            <a:srgbClr val="006556"/>
                          </a:solidFill>
                          <a:latin typeface="Montserrat"/>
                        </a:defRPr>
                      </a:pPr>
                      <a:r>
                        <a:t>294,100</a:t>
                      </a:r>
                    </a:p>
                  </a:txBody>
                  <a:tcPr>
                    <a:solidFill>
                      <a:srgbClr val="D3E9E7"/>
                    </a:solidFill>
                  </a:tcPr>
                </a:tc>
                <a:tc>
                  <a:txBody>
                    <a:bodyPr/>
                    <a:lstStyle/>
                    <a:p>
                      <a:pPr algn="ctr">
                        <a:defRPr sz="1000" b="1">
                          <a:solidFill>
                            <a:srgbClr val="FFFFFF"/>
                          </a:solidFill>
                          <a:latin typeface="Montserrat"/>
                        </a:defRPr>
                      </a:pPr>
                      <a:r>
                        <a:t>579,173</a:t>
                      </a:r>
                    </a:p>
                  </a:txBody>
                  <a:tcPr>
                    <a:solidFill>
                      <a:srgbClr val="9F2241"/>
                    </a:solidFill>
                  </a:tcPr>
                </a:tc>
                <a:tc>
                  <a:txBody>
                    <a:bodyPr/>
                    <a:lstStyle/>
                    <a:p>
                      <a:pPr algn="ctr">
                        <a:defRPr sz="1000" b="1">
                          <a:solidFill>
                            <a:srgbClr val="FFFFFF"/>
                          </a:solidFill>
                          <a:latin typeface="Montserrat"/>
                        </a:defRPr>
                      </a:pPr>
                      <a:r>
                        <a:t>1,406,345</a:t>
                      </a:r>
                    </a:p>
                  </a:txBody>
                  <a:tcPr>
                    <a:solidFill>
                      <a:srgbClr val="9F2241"/>
                    </a:solidFill>
                  </a:tcPr>
                </a:tc>
                <a:tc>
                  <a:txBody>
                    <a:bodyPr/>
                    <a:lstStyle/>
                    <a:p>
                      <a:pPr algn="ctr">
                        <a:defRPr sz="1000" b="1">
                          <a:solidFill>
                            <a:srgbClr val="FFFFFF"/>
                          </a:solidFill>
                          <a:latin typeface="Montserrat"/>
                        </a:defRPr>
                      </a:pPr>
                      <a:r>
                        <a:t>41.2%</a:t>
                      </a:r>
                    </a:p>
                  </a:txBody>
                  <a:tcPr>
                    <a:solidFill>
                      <a:srgbClr val="9F2241"/>
                    </a:solidFill>
                  </a:tcPr>
                </a:tc>
                <a:extLst>
                  <a:ext uri="{0D108BD9-81ED-4DB2-BD59-A6C34878D82A}">
                    <a16:rowId xmlns:a16="http://schemas.microsoft.com/office/drawing/2014/main" val="10003"/>
                  </a:ext>
                </a:extLst>
              </a:tr>
            </a:tbl>
          </a:graphicData>
        </a:graphic>
      </p:graphicFrame>
      <p:graphicFrame>
        <p:nvGraphicFramePr>
          <p:cNvPr id="238" name="Chart 237"/>
          <p:cNvGraphicFramePr>
            <a:graphicFrameLocks noGrp="1"/>
          </p:cNvGraphicFramePr>
          <p:nvPr>
            <p:extLst>
              <p:ext uri="{D42A27DB-BD31-4B8C-83A1-F6EECF244321}">
                <p14:modId xmlns:p14="http://schemas.microsoft.com/office/powerpoint/2010/main" val="2764609830"/>
              </p:ext>
            </p:extLst>
          </p:nvPr>
        </p:nvGraphicFramePr>
        <p:xfrm>
          <a:off x="5244180" y="7608960"/>
          <a:ext cx="1800000" cy="1800000"/>
        </p:xfrm>
        <a:graphic>
          <a:graphicData uri="http://schemas.openxmlformats.org/drawingml/2006/chart">
            <c:chart xmlns:c="http://schemas.openxmlformats.org/drawingml/2006/chart" xmlns:r="http://schemas.openxmlformats.org/officeDocument/2006/relationships" r:id="rId4"/>
          </a:graphicData>
        </a:graphic>
      </p:graphicFrame>
      <p:sp>
        <p:nvSpPr>
          <p:cNvPr id="239" name="TextBox 238"/>
          <p:cNvSpPr txBox="1"/>
          <p:nvPr/>
        </p:nvSpPr>
        <p:spPr>
          <a:xfrm>
            <a:off x="5244180" y="8282069"/>
            <a:ext cx="1800000" cy="360000"/>
          </a:xfrm>
          <a:prstGeom prst="rect">
            <a:avLst/>
          </a:prstGeom>
          <a:noFill/>
        </p:spPr>
        <p:txBody>
          <a:bodyPr wrap="none">
            <a:spAutoFit/>
          </a:bodyPr>
          <a:lstStyle/>
          <a:p>
            <a:pPr algn="ctr"/>
            <a:r>
              <a:rPr sz="2400" b="1">
                <a:solidFill>
                  <a:srgbClr val="9F2241"/>
                </a:solidFill>
                <a:latin typeface="Montserrat"/>
              </a:rPr>
              <a:t>41.2%</a:t>
            </a:r>
          </a:p>
        </p:txBody>
      </p:sp>
      <p:sp>
        <p:nvSpPr>
          <p:cNvPr id="240" name="TextBox 239"/>
          <p:cNvSpPr txBox="1"/>
          <p:nvPr/>
        </p:nvSpPr>
        <p:spPr>
          <a:xfrm>
            <a:off x="3884400" y="7812405"/>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1" name="TextBox 240"/>
          <p:cNvSpPr txBox="1"/>
          <p:nvPr/>
        </p:nvSpPr>
        <p:spPr>
          <a:xfrm>
            <a:off x="445380" y="7750800"/>
            <a:ext cx="2854800" cy="1198800"/>
          </a:xfrm>
          <a:prstGeom prst="rect">
            <a:avLst/>
          </a:prstGeom>
          <a:noFill/>
        </p:spPr>
        <p:txBody>
          <a:bodyPr wrap="square">
            <a:spAutoFit/>
          </a:bodyPr>
          <a:lstStyle/>
          <a:p>
            <a:pPr algn="ctr">
              <a:defRPr sz="3600" b="1">
                <a:solidFill>
                  <a:srgbClr val="9F2241"/>
                </a:solidFill>
                <a:latin typeface="Montserrat"/>
              </a:defRPr>
            </a:pPr>
            <a:r>
              <a:t>1,406,345 </a:t>
            </a:r>
            <a:br>
              <a:rPr/>
            </a:br>
            <a:r>
              <a:t>Meta 2026</a:t>
            </a:r>
          </a:p>
        </p:txBody>
      </p:sp>
    </p:spTree>
    <p:extLst>
      <p:ext uri="{BB962C8B-B14F-4D97-AF65-F5344CB8AC3E}">
        <p14:creationId xmlns:p14="http://schemas.microsoft.com/office/powerpoint/2010/main" val="5407164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1275952746"/>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980000"/>
                          </a:solidFill>
                          <a:latin typeface="Montserrat"/>
                          <a:ea typeface="Montserrat"/>
                          <a:cs typeface="Montserrat"/>
                          <a:sym typeface="Montserrat"/>
                        </a:rPr>
                        <a:t>Cirugías 2026</a:t>
                      </a:r>
                      <a:endParaRPr sz="2100" b="1" u="none" strike="noStrike" cap="none">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232" name="TextBox 231"/>
          <p:cNvSpPr txBox="1"/>
          <p:nvPr/>
        </p:nvSpPr>
        <p:spPr>
          <a:xfrm>
            <a:off x="147600" y="9561600"/>
            <a:ext cx="7473600" cy="399600"/>
          </a:xfrm>
          <a:prstGeom prst="rect">
            <a:avLst/>
          </a:prstGeom>
          <a:noFill/>
        </p:spPr>
        <p:txBody>
          <a:bodyPr wrap="square" lIns="0" tIns="0" rIns="0" bIns="0">
            <a:spAutoFit/>
          </a:bodyPr>
          <a:lstStyle/>
          <a:p>
            <a:pPr algn="l">
              <a:defRPr sz="800">
                <a:solidFill>
                  <a:srgbClr val="FFFFFF"/>
                </a:solidFill>
                <a:latin typeface="Montserrat"/>
              </a:defRPr>
            </a:pPr>
            <a:r>
              <a:t>No </a:t>
            </a:r>
            <a:r>
              <a:rPr err="1"/>
              <a:t>incluye</a:t>
            </a:r>
            <a:r>
              <a:t> las </a:t>
            </a:r>
            <a:r>
              <a:rPr err="1"/>
              <a:t>cirugías</a:t>
            </a:r>
            <a:r>
              <a:t> </a:t>
            </a:r>
            <a:r>
              <a:rPr err="1"/>
              <a:t>realizadas</a:t>
            </a:r>
            <a:r>
              <a:t> en HR.</a:t>
            </a:r>
            <a:br>
              <a:rPr/>
            </a:br>
            <a:r>
              <a:rPr err="1"/>
              <a:t>Sólo</a:t>
            </a:r>
            <a:r>
              <a:t> se </a:t>
            </a:r>
            <a:r>
              <a:rPr err="1"/>
              <a:t>consideran</a:t>
            </a:r>
            <a:r>
              <a:t> </a:t>
            </a:r>
            <a:r>
              <a:rPr err="1"/>
              <a:t>cirugías</a:t>
            </a:r>
            <a:r>
              <a:t> </a:t>
            </a:r>
            <a:r>
              <a:rPr err="1"/>
              <a:t>principales</a:t>
            </a:r>
            <a:r>
              <a:t>.</a:t>
            </a:r>
            <a:br>
              <a:rPr/>
            </a:br>
            <a:r>
              <a:t>Corte de información: Semana: 24, 7 </a:t>
            </a:r>
            <a:r>
              <a:rPr err="1"/>
              <a:t>junio</a:t>
            </a:r>
            <a:r>
              <a:t> 2026</a:t>
            </a:r>
          </a:p>
        </p:txBody>
      </p:sp>
      <p:graphicFrame>
        <p:nvGraphicFramePr>
          <p:cNvPr id="233" name="Table 232"/>
          <p:cNvGraphicFramePr>
            <a:graphicFrameLocks noGrp="1"/>
          </p:cNvGraphicFramePr>
          <p:nvPr/>
        </p:nvGraphicFramePr>
        <p:xfrm>
          <a:off x="144000" y="1137600"/>
          <a:ext cx="7340399" cy="4916160"/>
        </p:xfrm>
        <a:graphic>
          <a:graphicData uri="http://schemas.openxmlformats.org/drawingml/2006/table">
            <a:tbl>
              <a:tblPr firstRow="1" bandRow="1">
                <a:tableStyleId>{5C22544A-7EE6-4342-B048-85BDC9FD1C3A}</a:tableStyleId>
              </a:tblPr>
              <a:tblGrid>
                <a:gridCol w="2001599">
                  <a:extLst>
                    <a:ext uri="{9D8B030D-6E8A-4147-A177-3AD203B41FA5}">
                      <a16:colId xmlns:a16="http://schemas.microsoft.com/office/drawing/2014/main" val="20000"/>
                    </a:ext>
                  </a:extLst>
                </a:gridCol>
                <a:gridCol w="874800">
                  <a:extLst>
                    <a:ext uri="{9D8B030D-6E8A-4147-A177-3AD203B41FA5}">
                      <a16:colId xmlns:a16="http://schemas.microsoft.com/office/drawing/2014/main" val="20001"/>
                    </a:ext>
                  </a:extLst>
                </a:gridCol>
                <a:gridCol w="1116000">
                  <a:extLst>
                    <a:ext uri="{9D8B030D-6E8A-4147-A177-3AD203B41FA5}">
                      <a16:colId xmlns:a16="http://schemas.microsoft.com/office/drawing/2014/main" val="20002"/>
                    </a:ext>
                  </a:extLst>
                </a:gridCol>
                <a:gridCol w="1116000">
                  <a:extLst>
                    <a:ext uri="{9D8B030D-6E8A-4147-A177-3AD203B41FA5}">
                      <a16:colId xmlns:a16="http://schemas.microsoft.com/office/drawing/2014/main" val="20003"/>
                    </a:ext>
                  </a:extLst>
                </a:gridCol>
                <a:gridCol w="986400">
                  <a:extLst>
                    <a:ext uri="{9D8B030D-6E8A-4147-A177-3AD203B41FA5}">
                      <a16:colId xmlns:a16="http://schemas.microsoft.com/office/drawing/2014/main" val="20004"/>
                    </a:ext>
                  </a:extLst>
                </a:gridCol>
                <a:gridCol w="1245600">
                  <a:extLst>
                    <a:ext uri="{9D8B030D-6E8A-4147-A177-3AD203B41FA5}">
                      <a16:colId xmlns:a16="http://schemas.microsoft.com/office/drawing/2014/main" val="20005"/>
                    </a:ext>
                  </a:extLst>
                </a:gridCol>
              </a:tblGrid>
              <a:tr h="284400">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2025</a:t>
                      </a:r>
                    </a:p>
                  </a:txBody>
                  <a:tcPr anchor="ctr">
                    <a:solidFill>
                      <a:srgbClr val="006455"/>
                    </a:solidFill>
                  </a:tcPr>
                </a:tc>
                <a:tc>
                  <a:txBody>
                    <a:bodyPr/>
                    <a:lstStyle/>
                    <a:p>
                      <a:pPr algn="ctr">
                        <a:defRPr sz="900" b="1">
                          <a:solidFill>
                            <a:srgbClr val="FFFFFF"/>
                          </a:solidFill>
                          <a:latin typeface="Montserrat"/>
                        </a:defRPr>
                      </a:pPr>
                      <a:r>
                        <a:t>Incremento 2025 vs 2024</a:t>
                      </a:r>
                    </a:p>
                  </a:txBody>
                  <a:tcPr anchor="ctr">
                    <a:solidFill>
                      <a:srgbClr val="006455"/>
                    </a:solidFill>
                  </a:tcPr>
                </a:tc>
                <a:tc>
                  <a:txBody>
                    <a:bodyPr/>
                    <a:lstStyle/>
                    <a:p>
                      <a:pPr algn="ctr">
                        <a:defRPr sz="900" b="1">
                          <a:solidFill>
                            <a:srgbClr val="FFFFFF"/>
                          </a:solidFill>
                          <a:latin typeface="Montserrat"/>
                        </a:defRPr>
                      </a:pPr>
                      <a:r>
                        <a:t>Avance 2026</a:t>
                      </a:r>
                    </a:p>
                  </a:txBody>
                  <a:tcPr anchor="ctr">
                    <a:solidFill>
                      <a:srgbClr val="980000"/>
                    </a:solidFill>
                  </a:tcPr>
                </a:tc>
                <a:tc>
                  <a:txBody>
                    <a:bodyPr/>
                    <a:lstStyle/>
                    <a:p>
                      <a:pPr algn="ctr">
                        <a:defRPr sz="900" b="1">
                          <a:solidFill>
                            <a:srgbClr val="FFFFFF"/>
                          </a:solidFill>
                          <a:latin typeface="Montserrat"/>
                        </a:defRPr>
                      </a:pPr>
                      <a:r>
                        <a:t>Meta 2026</a:t>
                      </a:r>
                    </a:p>
                  </a:txBody>
                  <a:tcPr anchor="ctr">
                    <a:solidFill>
                      <a:srgbClr val="980000"/>
                    </a:solidFill>
                  </a:tcPr>
                </a:tc>
                <a:tc>
                  <a:txBody>
                    <a:bodyPr/>
                    <a:lstStyle/>
                    <a:p>
                      <a:pPr algn="ctr">
                        <a:defRPr sz="900" b="1">
                          <a:solidFill>
                            <a:srgbClr val="FFFFFF"/>
                          </a:solidFill>
                          <a:latin typeface="Montserrat"/>
                        </a:defRPr>
                      </a:pPr>
                      <a:r>
                        <a:t>% Cumplimiento de la meta</a:t>
                      </a:r>
                    </a:p>
                  </a:txBody>
                  <a:tcPr anchor="ctr">
                    <a:solidFill>
                      <a:srgbClr val="980000"/>
                    </a:solidFill>
                  </a:tcPr>
                </a:tc>
                <a:extLst>
                  <a:ext uri="{0D108BD9-81ED-4DB2-BD59-A6C34878D82A}">
                    <a16:rowId xmlns:a16="http://schemas.microsoft.com/office/drawing/2014/main" val="10000"/>
                  </a:ext>
                </a:extLst>
              </a:tr>
              <a:tr h="284400">
                <a:tc>
                  <a:txBody>
                    <a:bodyPr/>
                    <a:lstStyle/>
                    <a:p>
                      <a:pPr algn="l">
                        <a:defRPr sz="1000">
                          <a:latin typeface="Montserrat"/>
                        </a:defRPr>
                      </a:pPr>
                      <a:r>
                        <a:t>HGSMF 6 Parras</a:t>
                      </a:r>
                    </a:p>
                  </a:txBody>
                  <a:tcPr>
                    <a:solidFill>
                      <a:srgbClr val="FFFFFF"/>
                    </a:solidFill>
                  </a:tcPr>
                </a:tc>
                <a:tc>
                  <a:txBody>
                    <a:bodyPr/>
                    <a:lstStyle/>
                    <a:p>
                      <a:pPr algn="ctr">
                        <a:defRPr sz="1000">
                          <a:latin typeface="Montserrat"/>
                        </a:defRPr>
                      </a:pPr>
                      <a:r>
                        <a:t>1,020</a:t>
                      </a:r>
                    </a:p>
                  </a:txBody>
                  <a:tcPr>
                    <a:solidFill>
                      <a:srgbClr val="FFFFFF"/>
                    </a:solidFill>
                  </a:tcPr>
                </a:tc>
                <a:tc>
                  <a:txBody>
                    <a:bodyPr/>
                    <a:lstStyle/>
                    <a:p>
                      <a:pPr algn="ctr">
                        <a:defRPr sz="1000">
                          <a:latin typeface="Montserrat"/>
                        </a:defRPr>
                      </a:pPr>
                      <a:r>
                        <a:t>570</a:t>
                      </a:r>
                    </a:p>
                  </a:txBody>
                  <a:tcPr>
                    <a:solidFill>
                      <a:srgbClr val="FFFFFF"/>
                    </a:solidFill>
                  </a:tcPr>
                </a:tc>
                <a:tc>
                  <a:txBody>
                    <a:bodyPr/>
                    <a:lstStyle/>
                    <a:p>
                      <a:pPr algn="ctr">
                        <a:defRPr sz="1000">
                          <a:latin typeface="Montserrat"/>
                        </a:defRPr>
                      </a:pPr>
                      <a:r>
                        <a:t>678</a:t>
                      </a:r>
                    </a:p>
                  </a:txBody>
                  <a:tcPr>
                    <a:solidFill>
                      <a:srgbClr val="ECD3D9"/>
                    </a:solidFill>
                  </a:tcPr>
                </a:tc>
                <a:tc>
                  <a:txBody>
                    <a:bodyPr/>
                    <a:lstStyle/>
                    <a:p>
                      <a:pPr algn="ctr">
                        <a:defRPr sz="1000">
                          <a:latin typeface="Montserrat"/>
                        </a:defRPr>
                      </a:pPr>
                      <a:r>
                        <a:t>1,254</a:t>
                      </a:r>
                    </a:p>
                  </a:txBody>
                  <a:tcPr>
                    <a:solidFill>
                      <a:srgbClr val="ECD3D9"/>
                    </a:solidFill>
                  </a:tcPr>
                </a:tc>
                <a:tc>
                  <a:txBody>
                    <a:bodyPr/>
                    <a:lstStyle/>
                    <a:p>
                      <a:pPr algn="ctr">
                        <a:defRPr sz="1000">
                          <a:latin typeface="Montserrat"/>
                        </a:defRPr>
                      </a:pPr>
                      <a:r>
                        <a:t>54.1%</a:t>
                      </a:r>
                    </a:p>
                  </a:txBody>
                  <a:tcPr>
                    <a:solidFill>
                      <a:srgbClr val="ECD3D9"/>
                    </a:solidFill>
                  </a:tcPr>
                </a:tc>
                <a:extLst>
                  <a:ext uri="{0D108BD9-81ED-4DB2-BD59-A6C34878D82A}">
                    <a16:rowId xmlns:a16="http://schemas.microsoft.com/office/drawing/2014/main" val="10001"/>
                  </a:ext>
                </a:extLst>
              </a:tr>
              <a:tr h="284400">
                <a:tc>
                  <a:txBody>
                    <a:bodyPr/>
                    <a:lstStyle/>
                    <a:p>
                      <a:pPr algn="l">
                        <a:defRPr sz="1000">
                          <a:latin typeface="Montserrat"/>
                        </a:defRPr>
                      </a:pPr>
                      <a:r>
                        <a:t>UMAA 90 Torreón (Aut)</a:t>
                      </a:r>
                    </a:p>
                  </a:txBody>
                  <a:tcPr>
                    <a:solidFill>
                      <a:srgbClr val="EFEFEF"/>
                    </a:solidFill>
                  </a:tcPr>
                </a:tc>
                <a:tc>
                  <a:txBody>
                    <a:bodyPr/>
                    <a:lstStyle/>
                    <a:p>
                      <a:pPr algn="ctr">
                        <a:defRPr sz="1000">
                          <a:latin typeface="Montserrat"/>
                        </a:defRPr>
                      </a:pPr>
                      <a:r>
                        <a:t>7,359</a:t>
                      </a:r>
                    </a:p>
                  </a:txBody>
                  <a:tcPr>
                    <a:solidFill>
                      <a:srgbClr val="EFEFEF"/>
                    </a:solidFill>
                  </a:tcPr>
                </a:tc>
                <a:tc>
                  <a:txBody>
                    <a:bodyPr/>
                    <a:lstStyle/>
                    <a:p>
                      <a:pPr algn="ctr">
                        <a:defRPr sz="1000">
                          <a:latin typeface="Montserrat"/>
                        </a:defRPr>
                      </a:pPr>
                      <a:r>
                        <a:t>1,635</a:t>
                      </a:r>
                    </a:p>
                  </a:txBody>
                  <a:tcPr>
                    <a:solidFill>
                      <a:srgbClr val="EFEFEF"/>
                    </a:solidFill>
                  </a:tcPr>
                </a:tc>
                <a:tc>
                  <a:txBody>
                    <a:bodyPr/>
                    <a:lstStyle/>
                    <a:p>
                      <a:pPr algn="ctr">
                        <a:defRPr sz="1000">
                          <a:latin typeface="Montserrat"/>
                        </a:defRPr>
                      </a:pPr>
                      <a:r>
                        <a:t>3,746</a:t>
                      </a:r>
                    </a:p>
                  </a:txBody>
                  <a:tcPr>
                    <a:solidFill>
                      <a:srgbClr val="ECD3D9"/>
                    </a:solidFill>
                  </a:tcPr>
                </a:tc>
                <a:tc>
                  <a:txBody>
                    <a:bodyPr/>
                    <a:lstStyle/>
                    <a:p>
                      <a:pPr algn="ctr">
                        <a:defRPr sz="1000">
                          <a:latin typeface="Montserrat"/>
                        </a:defRPr>
                      </a:pPr>
                      <a:r>
                        <a:t>7,308</a:t>
                      </a:r>
                    </a:p>
                  </a:txBody>
                  <a:tcPr>
                    <a:solidFill>
                      <a:srgbClr val="ECD3D9"/>
                    </a:solidFill>
                  </a:tcPr>
                </a:tc>
                <a:tc>
                  <a:txBody>
                    <a:bodyPr/>
                    <a:lstStyle/>
                    <a:p>
                      <a:pPr algn="ctr">
                        <a:defRPr sz="1000">
                          <a:latin typeface="Montserrat"/>
                        </a:defRPr>
                      </a:pPr>
                      <a:r>
                        <a:t>51.3%</a:t>
                      </a:r>
                    </a:p>
                  </a:txBody>
                  <a:tcPr>
                    <a:solidFill>
                      <a:srgbClr val="ECD3D9"/>
                    </a:solidFill>
                  </a:tcPr>
                </a:tc>
                <a:extLst>
                  <a:ext uri="{0D108BD9-81ED-4DB2-BD59-A6C34878D82A}">
                    <a16:rowId xmlns:a16="http://schemas.microsoft.com/office/drawing/2014/main" val="10002"/>
                  </a:ext>
                </a:extLst>
              </a:tr>
              <a:tr h="284400">
                <a:tc>
                  <a:txBody>
                    <a:bodyPr/>
                    <a:lstStyle/>
                    <a:p>
                      <a:pPr algn="l">
                        <a:defRPr sz="1000">
                          <a:latin typeface="Montserrat"/>
                        </a:defRPr>
                      </a:pPr>
                      <a:r>
                        <a:t>HGSMF 27 Palau</a:t>
                      </a:r>
                    </a:p>
                  </a:txBody>
                  <a:tcPr>
                    <a:solidFill>
                      <a:srgbClr val="FFFFFF"/>
                    </a:solidFill>
                  </a:tcPr>
                </a:tc>
                <a:tc>
                  <a:txBody>
                    <a:bodyPr/>
                    <a:lstStyle/>
                    <a:p>
                      <a:pPr algn="ctr">
                        <a:defRPr sz="1000">
                          <a:latin typeface="Montserrat"/>
                        </a:defRPr>
                      </a:pPr>
                      <a:r>
                        <a:t>1,815</a:t>
                      </a:r>
                    </a:p>
                  </a:txBody>
                  <a:tcPr>
                    <a:solidFill>
                      <a:srgbClr val="FFFFFF"/>
                    </a:solidFill>
                  </a:tcPr>
                </a:tc>
                <a:tc>
                  <a:txBody>
                    <a:bodyPr/>
                    <a:lstStyle/>
                    <a:p>
                      <a:pPr algn="ctr">
                        <a:defRPr sz="1000">
                          <a:latin typeface="Montserrat"/>
                        </a:defRPr>
                      </a:pPr>
                      <a:r>
                        <a:t>1,184</a:t>
                      </a:r>
                    </a:p>
                  </a:txBody>
                  <a:tcPr>
                    <a:solidFill>
                      <a:srgbClr val="FFFFFF"/>
                    </a:solidFill>
                  </a:tcPr>
                </a:tc>
                <a:tc>
                  <a:txBody>
                    <a:bodyPr/>
                    <a:lstStyle/>
                    <a:p>
                      <a:pPr algn="ctr">
                        <a:defRPr sz="1000">
                          <a:latin typeface="Montserrat"/>
                        </a:defRPr>
                      </a:pPr>
                      <a:r>
                        <a:t>1,262</a:t>
                      </a:r>
                    </a:p>
                  </a:txBody>
                  <a:tcPr>
                    <a:solidFill>
                      <a:srgbClr val="ECD3D9"/>
                    </a:solidFill>
                  </a:tcPr>
                </a:tc>
                <a:tc>
                  <a:txBody>
                    <a:bodyPr/>
                    <a:lstStyle/>
                    <a:p>
                      <a:pPr algn="ctr">
                        <a:defRPr sz="1000">
                          <a:latin typeface="Montserrat"/>
                        </a:defRPr>
                      </a:pPr>
                      <a:r>
                        <a:t>2,508</a:t>
                      </a:r>
                    </a:p>
                  </a:txBody>
                  <a:tcPr>
                    <a:solidFill>
                      <a:srgbClr val="ECD3D9"/>
                    </a:solidFill>
                  </a:tcPr>
                </a:tc>
                <a:tc>
                  <a:txBody>
                    <a:bodyPr/>
                    <a:lstStyle/>
                    <a:p>
                      <a:pPr algn="ctr">
                        <a:defRPr sz="1000">
                          <a:latin typeface="Montserrat"/>
                        </a:defRPr>
                      </a:pPr>
                      <a:r>
                        <a:t>50.3%</a:t>
                      </a:r>
                    </a:p>
                  </a:txBody>
                  <a:tcPr>
                    <a:solidFill>
                      <a:srgbClr val="ECD3D9"/>
                    </a:solidFill>
                  </a:tcPr>
                </a:tc>
                <a:extLst>
                  <a:ext uri="{0D108BD9-81ED-4DB2-BD59-A6C34878D82A}">
                    <a16:rowId xmlns:a16="http://schemas.microsoft.com/office/drawing/2014/main" val="10003"/>
                  </a:ext>
                </a:extLst>
              </a:tr>
              <a:tr h="284400">
                <a:tc>
                  <a:txBody>
                    <a:bodyPr/>
                    <a:lstStyle/>
                    <a:p>
                      <a:pPr algn="l">
                        <a:defRPr sz="1000">
                          <a:latin typeface="Montserrat"/>
                        </a:defRPr>
                      </a:pPr>
                      <a:r>
                        <a:t>HGZMF 2 Saltillo</a:t>
                      </a:r>
                    </a:p>
                  </a:txBody>
                  <a:tcPr>
                    <a:solidFill>
                      <a:srgbClr val="EFEFEF"/>
                    </a:solidFill>
                  </a:tcPr>
                </a:tc>
                <a:tc>
                  <a:txBody>
                    <a:bodyPr/>
                    <a:lstStyle/>
                    <a:p>
                      <a:pPr algn="ctr">
                        <a:defRPr sz="1000">
                          <a:latin typeface="Montserrat"/>
                        </a:defRPr>
                      </a:pPr>
                      <a:r>
                        <a:t>5,470</a:t>
                      </a:r>
                    </a:p>
                  </a:txBody>
                  <a:tcPr>
                    <a:solidFill>
                      <a:srgbClr val="EFEFEF"/>
                    </a:solidFill>
                  </a:tcPr>
                </a:tc>
                <a:tc>
                  <a:txBody>
                    <a:bodyPr/>
                    <a:lstStyle/>
                    <a:p>
                      <a:pPr algn="ctr">
                        <a:defRPr sz="1000">
                          <a:latin typeface="Montserrat"/>
                        </a:defRPr>
                      </a:pPr>
                      <a:r>
                        <a:t>1,157</a:t>
                      </a:r>
                    </a:p>
                  </a:txBody>
                  <a:tcPr>
                    <a:solidFill>
                      <a:srgbClr val="EFEFEF"/>
                    </a:solidFill>
                  </a:tcPr>
                </a:tc>
                <a:tc>
                  <a:txBody>
                    <a:bodyPr/>
                    <a:lstStyle/>
                    <a:p>
                      <a:pPr algn="ctr">
                        <a:defRPr sz="1000">
                          <a:latin typeface="Montserrat"/>
                        </a:defRPr>
                      </a:pPr>
                      <a:r>
                        <a:t>2,778</a:t>
                      </a:r>
                    </a:p>
                  </a:txBody>
                  <a:tcPr>
                    <a:solidFill>
                      <a:srgbClr val="ECD3D9"/>
                    </a:solidFill>
                  </a:tcPr>
                </a:tc>
                <a:tc>
                  <a:txBody>
                    <a:bodyPr/>
                    <a:lstStyle/>
                    <a:p>
                      <a:pPr algn="ctr">
                        <a:defRPr sz="1000">
                          <a:latin typeface="Montserrat"/>
                        </a:defRPr>
                      </a:pPr>
                      <a:r>
                        <a:t>5,856</a:t>
                      </a:r>
                    </a:p>
                  </a:txBody>
                  <a:tcPr>
                    <a:solidFill>
                      <a:srgbClr val="ECD3D9"/>
                    </a:solidFill>
                  </a:tcPr>
                </a:tc>
                <a:tc>
                  <a:txBody>
                    <a:bodyPr/>
                    <a:lstStyle/>
                    <a:p>
                      <a:pPr algn="ctr">
                        <a:defRPr sz="1000">
                          <a:latin typeface="Montserrat"/>
                        </a:defRPr>
                      </a:pPr>
                      <a:r>
                        <a:t>47.4%</a:t>
                      </a:r>
                    </a:p>
                  </a:txBody>
                  <a:tcPr>
                    <a:solidFill>
                      <a:srgbClr val="ECD3D9"/>
                    </a:solidFill>
                  </a:tcPr>
                </a:tc>
                <a:extLst>
                  <a:ext uri="{0D108BD9-81ED-4DB2-BD59-A6C34878D82A}">
                    <a16:rowId xmlns:a16="http://schemas.microsoft.com/office/drawing/2014/main" val="10004"/>
                  </a:ext>
                </a:extLst>
              </a:tr>
              <a:tr h="284400">
                <a:tc>
                  <a:txBody>
                    <a:bodyPr/>
                    <a:lstStyle/>
                    <a:p>
                      <a:pPr algn="l">
                        <a:defRPr sz="1000">
                          <a:latin typeface="Montserrat"/>
                        </a:defRPr>
                      </a:pPr>
                      <a:r>
                        <a:t>HGS 13 Cd. Acuña</a:t>
                      </a:r>
                    </a:p>
                  </a:txBody>
                  <a:tcPr>
                    <a:solidFill>
                      <a:srgbClr val="FFFFFF"/>
                    </a:solidFill>
                  </a:tcPr>
                </a:tc>
                <a:tc>
                  <a:txBody>
                    <a:bodyPr/>
                    <a:lstStyle/>
                    <a:p>
                      <a:pPr algn="ctr">
                        <a:defRPr sz="1000">
                          <a:latin typeface="Montserrat"/>
                        </a:defRPr>
                      </a:pPr>
                      <a:r>
                        <a:t>2,291</a:t>
                      </a:r>
                    </a:p>
                  </a:txBody>
                  <a:tcPr>
                    <a:solidFill>
                      <a:srgbClr val="FFFFFF"/>
                    </a:solidFill>
                  </a:tcPr>
                </a:tc>
                <a:tc>
                  <a:txBody>
                    <a:bodyPr/>
                    <a:lstStyle/>
                    <a:p>
                      <a:pPr algn="ctr">
                        <a:defRPr sz="1000">
                          <a:latin typeface="Montserrat"/>
                        </a:defRPr>
                      </a:pPr>
                      <a:r>
                        <a:t>995</a:t>
                      </a:r>
                    </a:p>
                  </a:txBody>
                  <a:tcPr>
                    <a:solidFill>
                      <a:srgbClr val="FFFFFF"/>
                    </a:solidFill>
                  </a:tcPr>
                </a:tc>
                <a:tc>
                  <a:txBody>
                    <a:bodyPr/>
                    <a:lstStyle/>
                    <a:p>
                      <a:pPr algn="ctr">
                        <a:defRPr sz="1000">
                          <a:latin typeface="Montserrat"/>
                        </a:defRPr>
                      </a:pPr>
                      <a:r>
                        <a:t>1,736</a:t>
                      </a:r>
                    </a:p>
                  </a:txBody>
                  <a:tcPr>
                    <a:solidFill>
                      <a:srgbClr val="ECD3D9"/>
                    </a:solidFill>
                  </a:tcPr>
                </a:tc>
                <a:tc>
                  <a:txBody>
                    <a:bodyPr/>
                    <a:lstStyle/>
                    <a:p>
                      <a:pPr algn="ctr">
                        <a:defRPr sz="1000">
                          <a:latin typeface="Montserrat"/>
                        </a:defRPr>
                      </a:pPr>
                      <a:r>
                        <a:t>3,762</a:t>
                      </a:r>
                    </a:p>
                  </a:txBody>
                  <a:tcPr>
                    <a:solidFill>
                      <a:srgbClr val="ECD3D9"/>
                    </a:solidFill>
                  </a:tcPr>
                </a:tc>
                <a:tc>
                  <a:txBody>
                    <a:bodyPr/>
                    <a:lstStyle/>
                    <a:p>
                      <a:pPr algn="ctr">
                        <a:defRPr sz="1000">
                          <a:latin typeface="Montserrat"/>
                        </a:defRPr>
                      </a:pPr>
                      <a:r>
                        <a:t>46.1%</a:t>
                      </a:r>
                    </a:p>
                  </a:txBody>
                  <a:tcPr>
                    <a:solidFill>
                      <a:srgbClr val="ECD3D9"/>
                    </a:solidFill>
                  </a:tcPr>
                </a:tc>
                <a:extLst>
                  <a:ext uri="{0D108BD9-81ED-4DB2-BD59-A6C34878D82A}">
                    <a16:rowId xmlns:a16="http://schemas.microsoft.com/office/drawing/2014/main" val="10005"/>
                  </a:ext>
                </a:extLst>
              </a:tr>
              <a:tr h="284400">
                <a:tc>
                  <a:txBody>
                    <a:bodyPr/>
                    <a:lstStyle/>
                    <a:p>
                      <a:pPr algn="l">
                        <a:defRPr sz="1000">
                          <a:latin typeface="Montserrat"/>
                        </a:defRPr>
                      </a:pPr>
                      <a:r>
                        <a:t>HGSMF 21 S. Pedro Colonias</a:t>
                      </a:r>
                    </a:p>
                  </a:txBody>
                  <a:tcPr>
                    <a:solidFill>
                      <a:srgbClr val="EFEFEF"/>
                    </a:solidFill>
                  </a:tcPr>
                </a:tc>
                <a:tc>
                  <a:txBody>
                    <a:bodyPr/>
                    <a:lstStyle/>
                    <a:p>
                      <a:pPr algn="ctr">
                        <a:defRPr sz="1000">
                          <a:latin typeface="Montserrat"/>
                        </a:defRPr>
                      </a:pPr>
                      <a:r>
                        <a:t>2,027</a:t>
                      </a:r>
                    </a:p>
                  </a:txBody>
                  <a:tcPr>
                    <a:solidFill>
                      <a:srgbClr val="EFEFEF"/>
                    </a:solidFill>
                  </a:tcPr>
                </a:tc>
                <a:tc>
                  <a:txBody>
                    <a:bodyPr/>
                    <a:lstStyle/>
                    <a:p>
                      <a:pPr algn="ctr">
                        <a:defRPr sz="1000">
                          <a:latin typeface="Montserrat"/>
                        </a:defRPr>
                      </a:pPr>
                      <a:r>
                        <a:t>1,503</a:t>
                      </a:r>
                    </a:p>
                  </a:txBody>
                  <a:tcPr>
                    <a:solidFill>
                      <a:srgbClr val="EFEFEF"/>
                    </a:solidFill>
                  </a:tcPr>
                </a:tc>
                <a:tc>
                  <a:txBody>
                    <a:bodyPr/>
                    <a:lstStyle/>
                    <a:p>
                      <a:pPr algn="ctr">
                        <a:defRPr sz="1000">
                          <a:latin typeface="Montserrat"/>
                        </a:defRPr>
                      </a:pPr>
                      <a:r>
                        <a:t>829</a:t>
                      </a:r>
                    </a:p>
                  </a:txBody>
                  <a:tcPr>
                    <a:solidFill>
                      <a:srgbClr val="ECD3D9"/>
                    </a:solidFill>
                  </a:tcPr>
                </a:tc>
                <a:tc>
                  <a:txBody>
                    <a:bodyPr/>
                    <a:lstStyle/>
                    <a:p>
                      <a:pPr algn="ctr">
                        <a:defRPr sz="1000">
                          <a:latin typeface="Montserrat"/>
                        </a:defRPr>
                      </a:pPr>
                      <a:r>
                        <a:t>1,830</a:t>
                      </a:r>
                    </a:p>
                  </a:txBody>
                  <a:tcPr>
                    <a:solidFill>
                      <a:srgbClr val="ECD3D9"/>
                    </a:solidFill>
                  </a:tcPr>
                </a:tc>
                <a:tc>
                  <a:txBody>
                    <a:bodyPr/>
                    <a:lstStyle/>
                    <a:p>
                      <a:pPr algn="ctr">
                        <a:defRPr sz="1000">
                          <a:latin typeface="Montserrat"/>
                        </a:defRPr>
                      </a:pPr>
                      <a:r>
                        <a:t>45.3%</a:t>
                      </a:r>
                    </a:p>
                  </a:txBody>
                  <a:tcPr>
                    <a:solidFill>
                      <a:srgbClr val="ECD3D9"/>
                    </a:solidFill>
                  </a:tcPr>
                </a:tc>
                <a:extLst>
                  <a:ext uri="{0D108BD9-81ED-4DB2-BD59-A6C34878D82A}">
                    <a16:rowId xmlns:a16="http://schemas.microsoft.com/office/drawing/2014/main" val="10006"/>
                  </a:ext>
                </a:extLst>
              </a:tr>
              <a:tr h="284400">
                <a:tc>
                  <a:txBody>
                    <a:bodyPr/>
                    <a:lstStyle/>
                    <a:p>
                      <a:pPr algn="l">
                        <a:defRPr sz="1000">
                          <a:latin typeface="Montserrat"/>
                        </a:defRPr>
                      </a:pPr>
                      <a:r>
                        <a:t>UMAA 89 Saltillo</a:t>
                      </a:r>
                    </a:p>
                  </a:txBody>
                  <a:tcPr>
                    <a:solidFill>
                      <a:srgbClr val="FFFFFF"/>
                    </a:solidFill>
                  </a:tcPr>
                </a:tc>
                <a:tc>
                  <a:txBody>
                    <a:bodyPr/>
                    <a:lstStyle/>
                    <a:p>
                      <a:pPr algn="ctr">
                        <a:defRPr sz="1000">
                          <a:latin typeface="Montserrat"/>
                        </a:defRPr>
                      </a:pPr>
                      <a:r>
                        <a:t>6,041</a:t>
                      </a:r>
                    </a:p>
                  </a:txBody>
                  <a:tcPr>
                    <a:solidFill>
                      <a:srgbClr val="FFFFFF"/>
                    </a:solidFill>
                  </a:tcPr>
                </a:tc>
                <a:tc>
                  <a:txBody>
                    <a:bodyPr/>
                    <a:lstStyle/>
                    <a:p>
                      <a:pPr algn="ctr">
                        <a:defRPr sz="1000">
                          <a:latin typeface="Montserrat"/>
                        </a:defRPr>
                      </a:pPr>
                      <a:r>
                        <a:t>1,512</a:t>
                      </a:r>
                    </a:p>
                  </a:txBody>
                  <a:tcPr>
                    <a:solidFill>
                      <a:srgbClr val="FFFFFF"/>
                    </a:solidFill>
                  </a:tcPr>
                </a:tc>
                <a:tc>
                  <a:txBody>
                    <a:bodyPr/>
                    <a:lstStyle/>
                    <a:p>
                      <a:pPr algn="ctr">
                        <a:defRPr sz="1000">
                          <a:latin typeface="Montserrat"/>
                        </a:defRPr>
                      </a:pPr>
                      <a:r>
                        <a:t>3,178</a:t>
                      </a:r>
                    </a:p>
                  </a:txBody>
                  <a:tcPr>
                    <a:solidFill>
                      <a:srgbClr val="ECD3D9"/>
                    </a:solidFill>
                  </a:tcPr>
                </a:tc>
                <a:tc>
                  <a:txBody>
                    <a:bodyPr/>
                    <a:lstStyle/>
                    <a:p>
                      <a:pPr algn="ctr">
                        <a:defRPr sz="1000">
                          <a:latin typeface="Montserrat"/>
                        </a:defRPr>
                      </a:pPr>
                      <a:r>
                        <a:t>7,308</a:t>
                      </a:r>
                    </a:p>
                  </a:txBody>
                  <a:tcPr>
                    <a:solidFill>
                      <a:srgbClr val="ECD3D9"/>
                    </a:solidFill>
                  </a:tcPr>
                </a:tc>
                <a:tc>
                  <a:txBody>
                    <a:bodyPr/>
                    <a:lstStyle/>
                    <a:p>
                      <a:pPr algn="ctr">
                        <a:defRPr sz="1000">
                          <a:latin typeface="Montserrat"/>
                        </a:defRPr>
                      </a:pPr>
                      <a:r>
                        <a:t>43.5%</a:t>
                      </a:r>
                    </a:p>
                  </a:txBody>
                  <a:tcPr>
                    <a:solidFill>
                      <a:srgbClr val="ECD3D9"/>
                    </a:solidFill>
                  </a:tcPr>
                </a:tc>
                <a:extLst>
                  <a:ext uri="{0D108BD9-81ED-4DB2-BD59-A6C34878D82A}">
                    <a16:rowId xmlns:a16="http://schemas.microsoft.com/office/drawing/2014/main" val="10007"/>
                  </a:ext>
                </a:extLst>
              </a:tr>
              <a:tr h="284400">
                <a:tc>
                  <a:txBody>
                    <a:bodyPr/>
                    <a:lstStyle/>
                    <a:p>
                      <a:pPr algn="l">
                        <a:defRPr sz="1000">
                          <a:latin typeface="Montserrat"/>
                        </a:defRPr>
                      </a:pPr>
                      <a:r>
                        <a:t>HGZMF 24 Nueva Rosita</a:t>
                      </a:r>
                    </a:p>
                  </a:txBody>
                  <a:tcPr>
                    <a:solidFill>
                      <a:srgbClr val="EFEFEF"/>
                    </a:solidFill>
                  </a:tcPr>
                </a:tc>
                <a:tc>
                  <a:txBody>
                    <a:bodyPr/>
                    <a:lstStyle/>
                    <a:p>
                      <a:pPr algn="ctr">
                        <a:defRPr sz="1000">
                          <a:latin typeface="Montserrat"/>
                        </a:defRPr>
                      </a:pPr>
                      <a:r>
                        <a:t>3,207</a:t>
                      </a:r>
                    </a:p>
                  </a:txBody>
                  <a:tcPr>
                    <a:solidFill>
                      <a:srgbClr val="EFEFEF"/>
                    </a:solidFill>
                  </a:tcPr>
                </a:tc>
                <a:tc>
                  <a:txBody>
                    <a:bodyPr/>
                    <a:lstStyle/>
                    <a:p>
                      <a:pPr algn="ctr">
                        <a:defRPr sz="1000">
                          <a:latin typeface="Montserrat"/>
                        </a:defRPr>
                      </a:pPr>
                      <a:r>
                        <a:t>1,375</a:t>
                      </a:r>
                    </a:p>
                  </a:txBody>
                  <a:tcPr>
                    <a:solidFill>
                      <a:srgbClr val="EFEFEF"/>
                    </a:solidFill>
                  </a:tcPr>
                </a:tc>
                <a:tc>
                  <a:txBody>
                    <a:bodyPr/>
                    <a:lstStyle/>
                    <a:p>
                      <a:pPr algn="ctr">
                        <a:defRPr sz="1000">
                          <a:latin typeface="Montserrat"/>
                        </a:defRPr>
                      </a:pPr>
                      <a:r>
                        <a:t>1,728</a:t>
                      </a:r>
                    </a:p>
                  </a:txBody>
                  <a:tcPr>
                    <a:solidFill>
                      <a:srgbClr val="ECD3D9"/>
                    </a:solidFill>
                  </a:tcPr>
                </a:tc>
                <a:tc>
                  <a:txBody>
                    <a:bodyPr/>
                    <a:lstStyle/>
                    <a:p>
                      <a:pPr algn="ctr">
                        <a:defRPr sz="1000">
                          <a:latin typeface="Montserrat"/>
                        </a:defRPr>
                      </a:pPr>
                      <a:r>
                        <a:t>4,077</a:t>
                      </a:r>
                    </a:p>
                  </a:txBody>
                  <a:tcPr>
                    <a:solidFill>
                      <a:srgbClr val="ECD3D9"/>
                    </a:solidFill>
                  </a:tcPr>
                </a:tc>
                <a:tc>
                  <a:txBody>
                    <a:bodyPr/>
                    <a:lstStyle/>
                    <a:p>
                      <a:pPr algn="ctr">
                        <a:defRPr sz="1000">
                          <a:latin typeface="Montserrat"/>
                        </a:defRPr>
                      </a:pPr>
                      <a:r>
                        <a:t>42.4%</a:t>
                      </a:r>
                    </a:p>
                  </a:txBody>
                  <a:tcPr>
                    <a:solidFill>
                      <a:srgbClr val="ECD3D9"/>
                    </a:solidFill>
                  </a:tcPr>
                </a:tc>
                <a:extLst>
                  <a:ext uri="{0D108BD9-81ED-4DB2-BD59-A6C34878D82A}">
                    <a16:rowId xmlns:a16="http://schemas.microsoft.com/office/drawing/2014/main" val="10008"/>
                  </a:ext>
                </a:extLst>
              </a:tr>
              <a:tr h="284400">
                <a:tc>
                  <a:txBody>
                    <a:bodyPr/>
                    <a:lstStyle/>
                    <a:p>
                      <a:pPr algn="l">
                        <a:defRPr sz="1000">
                          <a:latin typeface="Montserrat"/>
                        </a:defRPr>
                      </a:pPr>
                      <a:r>
                        <a:t>HGZMF 18 Torreón</a:t>
                      </a:r>
                    </a:p>
                  </a:txBody>
                  <a:tcPr>
                    <a:solidFill>
                      <a:srgbClr val="FFFFFF"/>
                    </a:solidFill>
                  </a:tcPr>
                </a:tc>
                <a:tc>
                  <a:txBody>
                    <a:bodyPr/>
                    <a:lstStyle/>
                    <a:p>
                      <a:pPr algn="ctr">
                        <a:defRPr sz="1000">
                          <a:latin typeface="Montserrat"/>
                        </a:defRPr>
                      </a:pPr>
                      <a:r>
                        <a:t>2,927</a:t>
                      </a:r>
                    </a:p>
                  </a:txBody>
                  <a:tcPr>
                    <a:solidFill>
                      <a:srgbClr val="FFFFFF"/>
                    </a:solidFill>
                  </a:tcPr>
                </a:tc>
                <a:tc>
                  <a:txBody>
                    <a:bodyPr/>
                    <a:lstStyle/>
                    <a:p>
                      <a:pPr algn="ctr">
                        <a:defRPr sz="1000">
                          <a:latin typeface="Montserrat"/>
                        </a:defRPr>
                      </a:pPr>
                      <a:r>
                        <a:t>528</a:t>
                      </a:r>
                    </a:p>
                  </a:txBody>
                  <a:tcPr>
                    <a:solidFill>
                      <a:srgbClr val="FFFFFF"/>
                    </a:solidFill>
                  </a:tcPr>
                </a:tc>
                <a:tc>
                  <a:txBody>
                    <a:bodyPr/>
                    <a:lstStyle/>
                    <a:p>
                      <a:pPr algn="ctr">
                        <a:defRPr sz="1000">
                          <a:latin typeface="Montserrat"/>
                        </a:defRPr>
                      </a:pPr>
                      <a:r>
                        <a:t>1,704</a:t>
                      </a:r>
                    </a:p>
                  </a:txBody>
                  <a:tcPr>
                    <a:solidFill>
                      <a:srgbClr val="ECD3D9"/>
                    </a:solidFill>
                  </a:tcPr>
                </a:tc>
                <a:tc>
                  <a:txBody>
                    <a:bodyPr/>
                    <a:lstStyle/>
                    <a:p>
                      <a:pPr algn="ctr">
                        <a:defRPr sz="1000">
                          <a:latin typeface="Montserrat"/>
                        </a:defRPr>
                      </a:pPr>
                      <a:r>
                        <a:t>4,077</a:t>
                      </a:r>
                    </a:p>
                  </a:txBody>
                  <a:tcPr>
                    <a:solidFill>
                      <a:srgbClr val="ECD3D9"/>
                    </a:solidFill>
                  </a:tcPr>
                </a:tc>
                <a:tc>
                  <a:txBody>
                    <a:bodyPr/>
                    <a:lstStyle/>
                    <a:p>
                      <a:pPr algn="ctr">
                        <a:defRPr sz="1000">
                          <a:latin typeface="Montserrat"/>
                        </a:defRPr>
                      </a:pPr>
                      <a:r>
                        <a:t>41.8%</a:t>
                      </a:r>
                    </a:p>
                  </a:txBody>
                  <a:tcPr>
                    <a:solidFill>
                      <a:srgbClr val="ECD3D9"/>
                    </a:solidFill>
                  </a:tcPr>
                </a:tc>
                <a:extLst>
                  <a:ext uri="{0D108BD9-81ED-4DB2-BD59-A6C34878D82A}">
                    <a16:rowId xmlns:a16="http://schemas.microsoft.com/office/drawing/2014/main" val="10009"/>
                  </a:ext>
                </a:extLst>
              </a:tr>
              <a:tr h="284400">
                <a:tc>
                  <a:txBody>
                    <a:bodyPr/>
                    <a:lstStyle/>
                    <a:p>
                      <a:pPr algn="l">
                        <a:defRPr sz="1000">
                          <a:latin typeface="Montserrat"/>
                        </a:defRPr>
                      </a:pPr>
                      <a:r>
                        <a:t>HGZMF 16 Torreón</a:t>
                      </a:r>
                    </a:p>
                  </a:txBody>
                  <a:tcPr>
                    <a:solidFill>
                      <a:srgbClr val="EFEFEF"/>
                    </a:solidFill>
                  </a:tcPr>
                </a:tc>
                <a:tc>
                  <a:txBody>
                    <a:bodyPr/>
                    <a:lstStyle/>
                    <a:p>
                      <a:pPr algn="ctr">
                        <a:defRPr sz="1000">
                          <a:latin typeface="Montserrat"/>
                        </a:defRPr>
                      </a:pPr>
                      <a:r>
                        <a:t>10,223</a:t>
                      </a:r>
                    </a:p>
                  </a:txBody>
                  <a:tcPr>
                    <a:solidFill>
                      <a:srgbClr val="EFEFEF"/>
                    </a:solidFill>
                  </a:tcPr>
                </a:tc>
                <a:tc>
                  <a:txBody>
                    <a:bodyPr/>
                    <a:lstStyle/>
                    <a:p>
                      <a:pPr algn="ctr">
                        <a:defRPr sz="1000">
                          <a:latin typeface="Montserrat"/>
                        </a:defRPr>
                      </a:pPr>
                      <a:r>
                        <a:t>465</a:t>
                      </a:r>
                    </a:p>
                  </a:txBody>
                  <a:tcPr>
                    <a:solidFill>
                      <a:srgbClr val="EFEFEF"/>
                    </a:solidFill>
                  </a:tcPr>
                </a:tc>
                <a:tc>
                  <a:txBody>
                    <a:bodyPr/>
                    <a:lstStyle/>
                    <a:p>
                      <a:pPr algn="ctr">
                        <a:defRPr sz="1000">
                          <a:latin typeface="Montserrat"/>
                        </a:defRPr>
                      </a:pPr>
                      <a:r>
                        <a:t>4,713</a:t>
                      </a:r>
                    </a:p>
                  </a:txBody>
                  <a:tcPr>
                    <a:solidFill>
                      <a:srgbClr val="ECD3D9"/>
                    </a:solidFill>
                  </a:tcPr>
                </a:tc>
                <a:tc>
                  <a:txBody>
                    <a:bodyPr/>
                    <a:lstStyle/>
                    <a:p>
                      <a:pPr algn="ctr">
                        <a:defRPr sz="1000">
                          <a:latin typeface="Montserrat"/>
                        </a:defRPr>
                      </a:pPr>
                      <a:r>
                        <a:t>11,712</a:t>
                      </a:r>
                    </a:p>
                  </a:txBody>
                  <a:tcPr>
                    <a:solidFill>
                      <a:srgbClr val="ECD3D9"/>
                    </a:solidFill>
                  </a:tcPr>
                </a:tc>
                <a:tc>
                  <a:txBody>
                    <a:bodyPr/>
                    <a:lstStyle/>
                    <a:p>
                      <a:pPr algn="ctr">
                        <a:defRPr sz="1000">
                          <a:latin typeface="Montserrat"/>
                        </a:defRPr>
                      </a:pPr>
                      <a:r>
                        <a:t>40.2%</a:t>
                      </a:r>
                    </a:p>
                  </a:txBody>
                  <a:tcPr>
                    <a:solidFill>
                      <a:srgbClr val="ECD3D9"/>
                    </a:solidFill>
                  </a:tcPr>
                </a:tc>
                <a:extLst>
                  <a:ext uri="{0D108BD9-81ED-4DB2-BD59-A6C34878D82A}">
                    <a16:rowId xmlns:a16="http://schemas.microsoft.com/office/drawing/2014/main" val="10010"/>
                  </a:ext>
                </a:extLst>
              </a:tr>
              <a:tr h="284400">
                <a:tc>
                  <a:txBody>
                    <a:bodyPr/>
                    <a:lstStyle/>
                    <a:p>
                      <a:pPr algn="l">
                        <a:defRPr sz="1000">
                          <a:latin typeface="Montserrat"/>
                        </a:defRPr>
                      </a:pPr>
                      <a:r>
                        <a:t>HGZ 1 Saltillo</a:t>
                      </a:r>
                    </a:p>
                  </a:txBody>
                  <a:tcPr>
                    <a:solidFill>
                      <a:srgbClr val="FFFFFF"/>
                    </a:solidFill>
                  </a:tcPr>
                </a:tc>
                <a:tc>
                  <a:txBody>
                    <a:bodyPr/>
                    <a:lstStyle/>
                    <a:p>
                      <a:pPr algn="ctr">
                        <a:defRPr sz="1000">
                          <a:latin typeface="Montserrat"/>
                        </a:defRPr>
                      </a:pPr>
                      <a:r>
                        <a:t>8,321</a:t>
                      </a:r>
                    </a:p>
                  </a:txBody>
                  <a:tcPr>
                    <a:solidFill>
                      <a:srgbClr val="FFFFFF"/>
                    </a:solidFill>
                  </a:tcPr>
                </a:tc>
                <a:tc>
                  <a:txBody>
                    <a:bodyPr/>
                    <a:lstStyle/>
                    <a:p>
                      <a:pPr algn="ctr">
                        <a:defRPr sz="1000">
                          <a:latin typeface="Montserrat"/>
                        </a:defRPr>
                      </a:pPr>
                      <a:r>
                        <a:t>366</a:t>
                      </a:r>
                    </a:p>
                  </a:txBody>
                  <a:tcPr>
                    <a:solidFill>
                      <a:srgbClr val="FFFFFF"/>
                    </a:solidFill>
                  </a:tcPr>
                </a:tc>
                <a:tc>
                  <a:txBody>
                    <a:bodyPr/>
                    <a:lstStyle/>
                    <a:p>
                      <a:pPr algn="ctr">
                        <a:defRPr sz="1000">
                          <a:latin typeface="Montserrat"/>
                        </a:defRPr>
                      </a:pPr>
                      <a:r>
                        <a:t>4,116</a:t>
                      </a:r>
                    </a:p>
                  </a:txBody>
                  <a:tcPr>
                    <a:solidFill>
                      <a:srgbClr val="ECD3D9"/>
                    </a:solidFill>
                  </a:tcPr>
                </a:tc>
                <a:tc>
                  <a:txBody>
                    <a:bodyPr/>
                    <a:lstStyle/>
                    <a:p>
                      <a:pPr algn="ctr">
                        <a:defRPr sz="1000">
                          <a:latin typeface="Montserrat"/>
                        </a:defRPr>
                      </a:pPr>
                      <a:r>
                        <a:t>10,248</a:t>
                      </a:r>
                    </a:p>
                  </a:txBody>
                  <a:tcPr>
                    <a:solidFill>
                      <a:srgbClr val="ECD3D9"/>
                    </a:solidFill>
                  </a:tcPr>
                </a:tc>
                <a:tc>
                  <a:txBody>
                    <a:bodyPr/>
                    <a:lstStyle/>
                    <a:p>
                      <a:pPr algn="ctr">
                        <a:defRPr sz="1000">
                          <a:latin typeface="Montserrat"/>
                        </a:defRPr>
                      </a:pPr>
                      <a:r>
                        <a:t>40.2%</a:t>
                      </a:r>
                    </a:p>
                  </a:txBody>
                  <a:tcPr>
                    <a:solidFill>
                      <a:srgbClr val="ECD3D9"/>
                    </a:solidFill>
                  </a:tcPr>
                </a:tc>
                <a:extLst>
                  <a:ext uri="{0D108BD9-81ED-4DB2-BD59-A6C34878D82A}">
                    <a16:rowId xmlns:a16="http://schemas.microsoft.com/office/drawing/2014/main" val="10011"/>
                  </a:ext>
                </a:extLst>
              </a:tr>
              <a:tr h="284400">
                <a:tc>
                  <a:txBody>
                    <a:bodyPr/>
                    <a:lstStyle/>
                    <a:p>
                      <a:pPr algn="l">
                        <a:defRPr sz="1000">
                          <a:latin typeface="Montserrat"/>
                        </a:defRPr>
                      </a:pPr>
                      <a:r>
                        <a:t>HGZ 11 Piedras Negras</a:t>
                      </a:r>
                    </a:p>
                  </a:txBody>
                  <a:tcPr>
                    <a:solidFill>
                      <a:srgbClr val="EFEFEF"/>
                    </a:solidFill>
                  </a:tcPr>
                </a:tc>
                <a:tc>
                  <a:txBody>
                    <a:bodyPr/>
                    <a:lstStyle/>
                    <a:p>
                      <a:pPr algn="ctr">
                        <a:defRPr sz="1000">
                          <a:latin typeface="Montserrat"/>
                        </a:defRPr>
                      </a:pPr>
                      <a:r>
                        <a:t>4,558</a:t>
                      </a:r>
                    </a:p>
                  </a:txBody>
                  <a:tcPr>
                    <a:solidFill>
                      <a:srgbClr val="EFEFEF"/>
                    </a:solidFill>
                  </a:tcPr>
                </a:tc>
                <a:tc>
                  <a:txBody>
                    <a:bodyPr/>
                    <a:lstStyle/>
                    <a:p>
                      <a:pPr algn="ctr">
                        <a:defRPr sz="1000">
                          <a:latin typeface="Montserrat"/>
                        </a:defRPr>
                      </a:pPr>
                      <a:r>
                        <a:t>1,319</a:t>
                      </a:r>
                    </a:p>
                  </a:txBody>
                  <a:tcPr>
                    <a:solidFill>
                      <a:srgbClr val="EFEFEF"/>
                    </a:solidFill>
                  </a:tcPr>
                </a:tc>
                <a:tc>
                  <a:txBody>
                    <a:bodyPr/>
                    <a:lstStyle/>
                    <a:p>
                      <a:pPr algn="ctr">
                        <a:defRPr sz="1000">
                          <a:latin typeface="Montserrat"/>
                        </a:defRPr>
                      </a:pPr>
                      <a:r>
                        <a:t>2,700</a:t>
                      </a:r>
                    </a:p>
                  </a:txBody>
                  <a:tcPr>
                    <a:solidFill>
                      <a:srgbClr val="ECD3D9"/>
                    </a:solidFill>
                  </a:tcPr>
                </a:tc>
                <a:tc>
                  <a:txBody>
                    <a:bodyPr/>
                    <a:lstStyle/>
                    <a:p>
                      <a:pPr algn="ctr">
                        <a:defRPr sz="1000">
                          <a:latin typeface="Montserrat"/>
                        </a:defRPr>
                      </a:pPr>
                      <a:r>
                        <a:t>6,795</a:t>
                      </a:r>
                    </a:p>
                  </a:txBody>
                  <a:tcPr>
                    <a:solidFill>
                      <a:srgbClr val="ECD3D9"/>
                    </a:solidFill>
                  </a:tcPr>
                </a:tc>
                <a:tc>
                  <a:txBody>
                    <a:bodyPr/>
                    <a:lstStyle/>
                    <a:p>
                      <a:pPr algn="ctr">
                        <a:defRPr sz="1000">
                          <a:latin typeface="Montserrat"/>
                        </a:defRPr>
                      </a:pPr>
                      <a:r>
                        <a:t>39.7%</a:t>
                      </a:r>
                    </a:p>
                  </a:txBody>
                  <a:tcPr>
                    <a:solidFill>
                      <a:srgbClr val="ECD3D9"/>
                    </a:solidFill>
                  </a:tcPr>
                </a:tc>
                <a:extLst>
                  <a:ext uri="{0D108BD9-81ED-4DB2-BD59-A6C34878D82A}">
                    <a16:rowId xmlns:a16="http://schemas.microsoft.com/office/drawing/2014/main" val="10012"/>
                  </a:ext>
                </a:extLst>
              </a:tr>
              <a:tr h="284400">
                <a:tc>
                  <a:txBody>
                    <a:bodyPr/>
                    <a:lstStyle/>
                    <a:p>
                      <a:pPr algn="l">
                        <a:defRPr sz="1000">
                          <a:latin typeface="Montserrat"/>
                        </a:defRPr>
                      </a:pPr>
                      <a:r>
                        <a:t>HGZ 92 Coahuila</a:t>
                      </a:r>
                    </a:p>
                  </a:txBody>
                  <a:tcPr>
                    <a:solidFill>
                      <a:srgbClr val="FFFFFF"/>
                    </a:solidFill>
                  </a:tcPr>
                </a:tc>
                <a:tc>
                  <a:txBody>
                    <a:bodyPr/>
                    <a:lstStyle/>
                    <a:p>
                      <a:pPr algn="ctr">
                        <a:defRPr sz="1000">
                          <a:latin typeface="Montserrat"/>
                        </a:defRPr>
                      </a:pPr>
                      <a:r>
                        <a:t>3,839</a:t>
                      </a:r>
                    </a:p>
                  </a:txBody>
                  <a:tcPr>
                    <a:solidFill>
                      <a:srgbClr val="FFFFFF"/>
                    </a:solidFill>
                  </a:tcPr>
                </a:tc>
                <a:tc>
                  <a:txBody>
                    <a:bodyPr/>
                    <a:lstStyle/>
                    <a:p>
                      <a:pPr algn="ctr">
                        <a:defRPr sz="1000">
                          <a:latin typeface="Montserrat"/>
                        </a:defRPr>
                      </a:pPr>
                      <a:r>
                        <a:t>1,458</a:t>
                      </a:r>
                    </a:p>
                  </a:txBody>
                  <a:tcPr>
                    <a:solidFill>
                      <a:srgbClr val="FFFFFF"/>
                    </a:solidFill>
                  </a:tcPr>
                </a:tc>
                <a:tc>
                  <a:txBody>
                    <a:bodyPr/>
                    <a:lstStyle/>
                    <a:p>
                      <a:pPr algn="ctr">
                        <a:defRPr sz="1000">
                          <a:latin typeface="Montserrat"/>
                        </a:defRPr>
                      </a:pPr>
                      <a:r>
                        <a:t>1,610</a:t>
                      </a:r>
                    </a:p>
                  </a:txBody>
                  <a:tcPr>
                    <a:solidFill>
                      <a:srgbClr val="ECD3D9"/>
                    </a:solidFill>
                  </a:tcPr>
                </a:tc>
                <a:tc>
                  <a:txBody>
                    <a:bodyPr/>
                    <a:lstStyle/>
                    <a:p>
                      <a:pPr algn="ctr">
                        <a:defRPr sz="1000">
                          <a:latin typeface="Montserrat"/>
                        </a:defRPr>
                      </a:pPr>
                      <a:r>
                        <a:t>4,182</a:t>
                      </a:r>
                    </a:p>
                  </a:txBody>
                  <a:tcPr>
                    <a:solidFill>
                      <a:srgbClr val="ECD3D9"/>
                    </a:solidFill>
                  </a:tcPr>
                </a:tc>
                <a:tc>
                  <a:txBody>
                    <a:bodyPr/>
                    <a:lstStyle/>
                    <a:p>
                      <a:pPr algn="ctr">
                        <a:defRPr sz="1000">
                          <a:latin typeface="Montserrat"/>
                        </a:defRPr>
                      </a:pPr>
                      <a:r>
                        <a:t>38.5%</a:t>
                      </a:r>
                    </a:p>
                  </a:txBody>
                  <a:tcPr>
                    <a:solidFill>
                      <a:srgbClr val="ECD3D9"/>
                    </a:solidFill>
                  </a:tcPr>
                </a:tc>
                <a:extLst>
                  <a:ext uri="{0D108BD9-81ED-4DB2-BD59-A6C34878D82A}">
                    <a16:rowId xmlns:a16="http://schemas.microsoft.com/office/drawing/2014/main" val="10013"/>
                  </a:ext>
                </a:extLst>
              </a:tr>
              <a:tr h="284400">
                <a:tc>
                  <a:txBody>
                    <a:bodyPr/>
                    <a:lstStyle/>
                    <a:p>
                      <a:pPr algn="l">
                        <a:defRPr sz="1000">
                          <a:latin typeface="Montserrat"/>
                        </a:defRPr>
                      </a:pPr>
                      <a:r>
                        <a:t>HGSMF 20 Fco. I. Madero</a:t>
                      </a:r>
                    </a:p>
                  </a:txBody>
                  <a:tcPr>
                    <a:solidFill>
                      <a:srgbClr val="EFEFEF"/>
                    </a:solidFill>
                  </a:tcPr>
                </a:tc>
                <a:tc>
                  <a:txBody>
                    <a:bodyPr/>
                    <a:lstStyle/>
                    <a:p>
                      <a:pPr algn="ctr">
                        <a:defRPr sz="1000">
                          <a:latin typeface="Montserrat"/>
                        </a:defRPr>
                      </a:pPr>
                      <a:r>
                        <a:t>2,270</a:t>
                      </a:r>
                    </a:p>
                  </a:txBody>
                  <a:tcPr>
                    <a:solidFill>
                      <a:srgbClr val="EFEFEF"/>
                    </a:solidFill>
                  </a:tcPr>
                </a:tc>
                <a:tc>
                  <a:txBody>
                    <a:bodyPr/>
                    <a:lstStyle/>
                    <a:p>
                      <a:pPr algn="ctr">
                        <a:defRPr sz="1000">
                          <a:latin typeface="Montserrat"/>
                        </a:defRPr>
                      </a:pPr>
                      <a:r>
                        <a:t>1,915</a:t>
                      </a:r>
                    </a:p>
                  </a:txBody>
                  <a:tcPr>
                    <a:solidFill>
                      <a:srgbClr val="EFEFEF"/>
                    </a:solidFill>
                  </a:tcPr>
                </a:tc>
                <a:tc>
                  <a:txBody>
                    <a:bodyPr/>
                    <a:lstStyle/>
                    <a:p>
                      <a:pPr algn="ctr">
                        <a:defRPr sz="1000">
                          <a:latin typeface="Montserrat"/>
                        </a:defRPr>
                      </a:pPr>
                      <a:r>
                        <a:t>1,340</a:t>
                      </a:r>
                    </a:p>
                  </a:txBody>
                  <a:tcPr>
                    <a:solidFill>
                      <a:srgbClr val="ECD3D9"/>
                    </a:solidFill>
                  </a:tcPr>
                </a:tc>
                <a:tc>
                  <a:txBody>
                    <a:bodyPr/>
                    <a:lstStyle/>
                    <a:p>
                      <a:pPr algn="ctr">
                        <a:defRPr sz="1000">
                          <a:latin typeface="Montserrat"/>
                        </a:defRPr>
                      </a:pPr>
                      <a:r>
                        <a:t>3,762</a:t>
                      </a:r>
                    </a:p>
                  </a:txBody>
                  <a:tcPr>
                    <a:solidFill>
                      <a:srgbClr val="ECD3D9"/>
                    </a:solidFill>
                  </a:tcPr>
                </a:tc>
                <a:tc>
                  <a:txBody>
                    <a:bodyPr/>
                    <a:lstStyle/>
                    <a:p>
                      <a:pPr algn="ctr">
                        <a:defRPr sz="1000">
                          <a:latin typeface="Montserrat"/>
                        </a:defRPr>
                      </a:pPr>
                      <a:r>
                        <a:t>35.6%</a:t>
                      </a:r>
                    </a:p>
                  </a:txBody>
                  <a:tcPr>
                    <a:solidFill>
                      <a:srgbClr val="ECD3D9"/>
                    </a:solidFill>
                  </a:tcPr>
                </a:tc>
                <a:extLst>
                  <a:ext uri="{0D108BD9-81ED-4DB2-BD59-A6C34878D82A}">
                    <a16:rowId xmlns:a16="http://schemas.microsoft.com/office/drawing/2014/main" val="10014"/>
                  </a:ext>
                </a:extLst>
              </a:tr>
              <a:tr h="284400">
                <a:tc>
                  <a:txBody>
                    <a:bodyPr/>
                    <a:lstStyle/>
                    <a:p>
                      <a:pPr algn="l">
                        <a:defRPr sz="1000">
                          <a:latin typeface="Montserrat"/>
                        </a:defRPr>
                      </a:pPr>
                      <a:r>
                        <a:t>HGZMF 7 Monclova</a:t>
                      </a:r>
                    </a:p>
                  </a:txBody>
                  <a:tcPr>
                    <a:solidFill>
                      <a:srgbClr val="FFFFFF"/>
                    </a:solidFill>
                  </a:tcPr>
                </a:tc>
                <a:tc>
                  <a:txBody>
                    <a:bodyPr/>
                    <a:lstStyle/>
                    <a:p>
                      <a:pPr algn="ctr">
                        <a:defRPr sz="1000">
                          <a:latin typeface="Montserrat"/>
                        </a:defRPr>
                      </a:pPr>
                      <a:r>
                        <a:t>8,932</a:t>
                      </a:r>
                    </a:p>
                  </a:txBody>
                  <a:tcPr>
                    <a:solidFill>
                      <a:srgbClr val="FFFFFF"/>
                    </a:solidFill>
                  </a:tcPr>
                </a:tc>
                <a:tc>
                  <a:txBody>
                    <a:bodyPr/>
                    <a:lstStyle/>
                    <a:p>
                      <a:pPr algn="ctr">
                        <a:defRPr sz="1000">
                          <a:latin typeface="Montserrat"/>
                        </a:defRPr>
                      </a:pPr>
                      <a:r>
                        <a:t>1,691</a:t>
                      </a:r>
                    </a:p>
                  </a:txBody>
                  <a:tcPr>
                    <a:solidFill>
                      <a:srgbClr val="FFFFFF"/>
                    </a:solidFill>
                  </a:tcPr>
                </a:tc>
                <a:tc>
                  <a:txBody>
                    <a:bodyPr/>
                    <a:lstStyle/>
                    <a:p>
                      <a:pPr algn="ctr">
                        <a:defRPr sz="1000">
                          <a:latin typeface="Montserrat"/>
                        </a:defRPr>
                      </a:pPr>
                      <a:r>
                        <a:t>2,827</a:t>
                      </a:r>
                    </a:p>
                  </a:txBody>
                  <a:tcPr>
                    <a:solidFill>
                      <a:srgbClr val="ECD3D9"/>
                    </a:solidFill>
                  </a:tcPr>
                </a:tc>
                <a:tc>
                  <a:txBody>
                    <a:bodyPr/>
                    <a:lstStyle/>
                    <a:p>
                      <a:pPr algn="ctr">
                        <a:defRPr sz="1000">
                          <a:latin typeface="Montserrat"/>
                        </a:defRPr>
                      </a:pPr>
                      <a:r>
                        <a:t>10,613</a:t>
                      </a:r>
                    </a:p>
                  </a:txBody>
                  <a:tcPr>
                    <a:solidFill>
                      <a:srgbClr val="ECD3D9"/>
                    </a:solidFill>
                  </a:tcPr>
                </a:tc>
                <a:tc>
                  <a:txBody>
                    <a:bodyPr/>
                    <a:lstStyle/>
                    <a:p>
                      <a:pPr algn="ctr">
                        <a:defRPr sz="1000">
                          <a:latin typeface="Montserrat"/>
                        </a:defRPr>
                      </a:pPr>
                      <a:r>
                        <a:t>26.6%</a:t>
                      </a:r>
                    </a:p>
                  </a:txBody>
                  <a:tcPr>
                    <a:solidFill>
                      <a:srgbClr val="ECD3D9"/>
                    </a:solidFill>
                  </a:tcPr>
                </a:tc>
                <a:extLst>
                  <a:ext uri="{0D108BD9-81ED-4DB2-BD59-A6C34878D82A}">
                    <a16:rowId xmlns:a16="http://schemas.microsoft.com/office/drawing/2014/main" val="10015"/>
                  </a:ext>
                </a:extLst>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70,300</a:t>
                      </a:r>
                    </a:p>
                  </a:txBody>
                  <a:tcPr>
                    <a:solidFill>
                      <a:srgbClr val="D3E9E7"/>
                    </a:solidFill>
                  </a:tcPr>
                </a:tc>
                <a:tc>
                  <a:txBody>
                    <a:bodyPr/>
                    <a:lstStyle/>
                    <a:p>
                      <a:pPr algn="ctr">
                        <a:defRPr sz="1000" b="1">
                          <a:solidFill>
                            <a:srgbClr val="006556"/>
                          </a:solidFill>
                          <a:latin typeface="Montserrat"/>
                        </a:defRPr>
                      </a:pPr>
                      <a:r>
                        <a:t>17,673</a:t>
                      </a:r>
                    </a:p>
                  </a:txBody>
                  <a:tcPr>
                    <a:solidFill>
                      <a:srgbClr val="D3E9E7"/>
                    </a:solidFill>
                  </a:tcPr>
                </a:tc>
                <a:tc>
                  <a:txBody>
                    <a:bodyPr/>
                    <a:lstStyle/>
                    <a:p>
                      <a:pPr algn="ctr">
                        <a:defRPr sz="1000" b="1">
                          <a:solidFill>
                            <a:srgbClr val="FFFFFF"/>
                          </a:solidFill>
                          <a:latin typeface="Montserrat"/>
                        </a:defRPr>
                      </a:pPr>
                      <a:r>
                        <a:t>34,945</a:t>
                      </a:r>
                    </a:p>
                  </a:txBody>
                  <a:tcPr>
                    <a:solidFill>
                      <a:srgbClr val="9F2241"/>
                    </a:solidFill>
                  </a:tcPr>
                </a:tc>
                <a:tc>
                  <a:txBody>
                    <a:bodyPr/>
                    <a:lstStyle/>
                    <a:p>
                      <a:pPr algn="ctr">
                        <a:defRPr sz="1000" b="1">
                          <a:solidFill>
                            <a:srgbClr val="FFFFFF"/>
                          </a:solidFill>
                          <a:latin typeface="Montserrat"/>
                        </a:defRPr>
                      </a:pPr>
                      <a:r>
                        <a:t>85,292</a:t>
                      </a:r>
                    </a:p>
                  </a:txBody>
                  <a:tcPr>
                    <a:solidFill>
                      <a:srgbClr val="9F2241"/>
                    </a:solidFill>
                  </a:tcPr>
                </a:tc>
                <a:tc>
                  <a:txBody>
                    <a:bodyPr/>
                    <a:lstStyle/>
                    <a:p>
                      <a:pPr algn="ctr">
                        <a:defRPr sz="1000" b="1">
                          <a:solidFill>
                            <a:srgbClr val="FFFFFF"/>
                          </a:solidFill>
                          <a:latin typeface="Montserrat"/>
                        </a:defRPr>
                      </a:pPr>
                      <a:r>
                        <a:t>41.0%</a:t>
                      </a:r>
                    </a:p>
                  </a:txBody>
                  <a:tcPr>
                    <a:solidFill>
                      <a:srgbClr val="9F2241"/>
                    </a:solidFill>
                  </a:tcPr>
                </a:tc>
                <a:extLst>
                  <a:ext uri="{0D108BD9-81ED-4DB2-BD59-A6C34878D82A}">
                    <a16:rowId xmlns:a16="http://schemas.microsoft.com/office/drawing/2014/main" val="10016"/>
                  </a:ext>
                </a:extLst>
              </a:tr>
            </a:tbl>
          </a:graphicData>
        </a:graphic>
      </p:graphicFrame>
      <p:graphicFrame>
        <p:nvGraphicFramePr>
          <p:cNvPr id="234" name="Table 233"/>
          <p:cNvGraphicFramePr>
            <a:graphicFrameLocks noGrp="1"/>
          </p:cNvGraphicFramePr>
          <p:nvPr/>
        </p:nvGraphicFramePr>
        <p:xfrm>
          <a:off x="144000" y="6033600"/>
          <a:ext cx="7340399" cy="1218960"/>
        </p:xfrm>
        <a:graphic>
          <a:graphicData uri="http://schemas.openxmlformats.org/drawingml/2006/table">
            <a:tbl>
              <a:tblPr firstRow="1" bandRow="1">
                <a:tableStyleId>{5C22544A-7EE6-4342-B048-85BDC9FD1C3A}</a:tableStyleId>
              </a:tblPr>
              <a:tblGrid>
                <a:gridCol w="2001599">
                  <a:extLst>
                    <a:ext uri="{9D8B030D-6E8A-4147-A177-3AD203B41FA5}">
                      <a16:colId xmlns:a16="http://schemas.microsoft.com/office/drawing/2014/main" val="20000"/>
                    </a:ext>
                  </a:extLst>
                </a:gridCol>
                <a:gridCol w="874800">
                  <a:extLst>
                    <a:ext uri="{9D8B030D-6E8A-4147-A177-3AD203B41FA5}">
                      <a16:colId xmlns:a16="http://schemas.microsoft.com/office/drawing/2014/main" val="20001"/>
                    </a:ext>
                  </a:extLst>
                </a:gridCol>
                <a:gridCol w="1116000">
                  <a:extLst>
                    <a:ext uri="{9D8B030D-6E8A-4147-A177-3AD203B41FA5}">
                      <a16:colId xmlns:a16="http://schemas.microsoft.com/office/drawing/2014/main" val="20002"/>
                    </a:ext>
                  </a:extLst>
                </a:gridCol>
                <a:gridCol w="1116000">
                  <a:extLst>
                    <a:ext uri="{9D8B030D-6E8A-4147-A177-3AD203B41FA5}">
                      <a16:colId xmlns:a16="http://schemas.microsoft.com/office/drawing/2014/main" val="20003"/>
                    </a:ext>
                  </a:extLst>
                </a:gridCol>
                <a:gridCol w="986400">
                  <a:extLst>
                    <a:ext uri="{9D8B030D-6E8A-4147-A177-3AD203B41FA5}">
                      <a16:colId xmlns:a16="http://schemas.microsoft.com/office/drawing/2014/main" val="20004"/>
                    </a:ext>
                  </a:extLst>
                </a:gridCol>
                <a:gridCol w="1245600">
                  <a:extLst>
                    <a:ext uri="{9D8B030D-6E8A-4147-A177-3AD203B41FA5}">
                      <a16:colId xmlns:a16="http://schemas.microsoft.com/office/drawing/2014/main" val="20005"/>
                    </a:ext>
                  </a:extLst>
                </a:gridCol>
              </a:tblGrid>
              <a:tr h="284400">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2025</a:t>
                      </a:r>
                    </a:p>
                  </a:txBody>
                  <a:tcPr anchor="ctr">
                    <a:solidFill>
                      <a:srgbClr val="006455"/>
                    </a:solidFill>
                  </a:tcPr>
                </a:tc>
                <a:tc>
                  <a:txBody>
                    <a:bodyPr/>
                    <a:lstStyle/>
                    <a:p>
                      <a:pPr algn="ctr">
                        <a:defRPr sz="900" b="1">
                          <a:solidFill>
                            <a:srgbClr val="FFFFFF"/>
                          </a:solidFill>
                          <a:latin typeface="Montserrat"/>
                        </a:defRPr>
                      </a:pPr>
                      <a:r>
                        <a:t>Incremento 2025 vs 2024</a:t>
                      </a:r>
                    </a:p>
                  </a:txBody>
                  <a:tcPr anchor="ctr">
                    <a:solidFill>
                      <a:srgbClr val="006455"/>
                    </a:solidFill>
                  </a:tcPr>
                </a:tc>
                <a:tc>
                  <a:txBody>
                    <a:bodyPr/>
                    <a:lstStyle/>
                    <a:p>
                      <a:pPr algn="ctr">
                        <a:defRPr sz="900" b="1">
                          <a:solidFill>
                            <a:srgbClr val="FFFFFF"/>
                          </a:solidFill>
                          <a:latin typeface="Montserrat"/>
                        </a:defRPr>
                      </a:pPr>
                      <a:r>
                        <a:t>Avance 2026</a:t>
                      </a:r>
                    </a:p>
                  </a:txBody>
                  <a:tcPr anchor="ctr">
                    <a:solidFill>
                      <a:srgbClr val="980000"/>
                    </a:solidFill>
                  </a:tcPr>
                </a:tc>
                <a:tc>
                  <a:txBody>
                    <a:bodyPr/>
                    <a:lstStyle/>
                    <a:p>
                      <a:pPr algn="ctr">
                        <a:defRPr sz="900" b="1">
                          <a:solidFill>
                            <a:srgbClr val="FFFFFF"/>
                          </a:solidFill>
                          <a:latin typeface="Montserrat"/>
                        </a:defRPr>
                      </a:pPr>
                      <a:r>
                        <a:t>Meta 2026</a:t>
                      </a:r>
                    </a:p>
                  </a:txBody>
                  <a:tcPr anchor="ctr">
                    <a:solidFill>
                      <a:srgbClr val="980000"/>
                    </a:solidFill>
                  </a:tcPr>
                </a:tc>
                <a:tc>
                  <a:txBody>
                    <a:bodyPr/>
                    <a:lstStyle/>
                    <a:p>
                      <a:pPr algn="ctr">
                        <a:defRPr sz="900" b="1">
                          <a:solidFill>
                            <a:srgbClr val="FFFFFF"/>
                          </a:solidFill>
                          <a:latin typeface="Montserrat"/>
                        </a:defRPr>
                      </a:pPr>
                      <a:r>
                        <a:t>% Cumplimiento de la meta</a:t>
                      </a:r>
                    </a:p>
                  </a:txBody>
                  <a:tcPr anchor="ctr">
                    <a:solidFill>
                      <a:srgbClr val="980000"/>
                    </a:solidFill>
                  </a:tcPr>
                </a:tc>
                <a:extLst>
                  <a:ext uri="{0D108BD9-81ED-4DB2-BD59-A6C34878D82A}">
                    <a16:rowId xmlns:a16="http://schemas.microsoft.com/office/drawing/2014/main" val="10000"/>
                  </a:ext>
                </a:extLst>
              </a:tr>
              <a:tr h="284400">
                <a:tc>
                  <a:txBody>
                    <a:bodyPr/>
                    <a:lstStyle/>
                    <a:p>
                      <a:pPr algn="l">
                        <a:defRPr sz="1000">
                          <a:latin typeface="Montserrat"/>
                        </a:defRPr>
                      </a:pPr>
                      <a:r>
                        <a:t>HES 71 Torreón</a:t>
                      </a:r>
                    </a:p>
                  </a:txBody>
                  <a:tcPr>
                    <a:solidFill>
                      <a:srgbClr val="FFFFFF"/>
                    </a:solidFill>
                  </a:tcPr>
                </a:tc>
                <a:tc>
                  <a:txBody>
                    <a:bodyPr/>
                    <a:lstStyle/>
                    <a:p>
                      <a:pPr algn="ctr">
                        <a:defRPr sz="1000">
                          <a:latin typeface="Montserrat"/>
                        </a:defRPr>
                      </a:pPr>
                      <a:r>
                        <a:t>15,392</a:t>
                      </a:r>
                    </a:p>
                  </a:txBody>
                  <a:tcPr>
                    <a:solidFill>
                      <a:srgbClr val="FFFFFF"/>
                    </a:solidFill>
                  </a:tcPr>
                </a:tc>
                <a:tc>
                  <a:txBody>
                    <a:bodyPr/>
                    <a:lstStyle/>
                    <a:p>
                      <a:pPr algn="ctr">
                        <a:defRPr sz="1000">
                          <a:latin typeface="Montserrat"/>
                        </a:defRPr>
                      </a:pPr>
                      <a:r>
                        <a:t>4,927</a:t>
                      </a:r>
                    </a:p>
                  </a:txBody>
                  <a:tcPr>
                    <a:solidFill>
                      <a:srgbClr val="FFFFFF"/>
                    </a:solidFill>
                  </a:tcPr>
                </a:tc>
                <a:tc>
                  <a:txBody>
                    <a:bodyPr/>
                    <a:lstStyle/>
                    <a:p>
                      <a:pPr algn="ctr">
                        <a:defRPr sz="1000">
                          <a:latin typeface="Montserrat"/>
                        </a:defRPr>
                      </a:pPr>
                      <a:r>
                        <a:t>8,935</a:t>
                      </a:r>
                    </a:p>
                  </a:txBody>
                  <a:tcPr>
                    <a:solidFill>
                      <a:srgbClr val="ECD3D9"/>
                    </a:solidFill>
                  </a:tcPr>
                </a:tc>
                <a:tc>
                  <a:txBody>
                    <a:bodyPr/>
                    <a:lstStyle/>
                    <a:p>
                      <a:pPr algn="ctr">
                        <a:defRPr sz="1000">
                          <a:latin typeface="Montserrat"/>
                        </a:defRPr>
                      </a:pPr>
                      <a:r>
                        <a:t>17,250</a:t>
                      </a:r>
                    </a:p>
                  </a:txBody>
                  <a:tcPr>
                    <a:solidFill>
                      <a:srgbClr val="ECD3D9"/>
                    </a:solidFill>
                  </a:tcPr>
                </a:tc>
                <a:tc>
                  <a:txBody>
                    <a:bodyPr/>
                    <a:lstStyle/>
                    <a:p>
                      <a:pPr algn="ctr">
                        <a:defRPr sz="1000">
                          <a:latin typeface="Montserrat"/>
                        </a:defRPr>
                      </a:pPr>
                      <a:r>
                        <a:t>51.8%</a:t>
                      </a:r>
                    </a:p>
                  </a:txBody>
                  <a:tcPr>
                    <a:solidFill>
                      <a:srgbClr val="ECD3D9"/>
                    </a:solidFill>
                  </a:tcPr>
                </a:tc>
                <a:extLst>
                  <a:ext uri="{0D108BD9-81ED-4DB2-BD59-A6C34878D82A}">
                    <a16:rowId xmlns:a16="http://schemas.microsoft.com/office/drawing/2014/main" val="10001"/>
                  </a:ext>
                </a:extLst>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15,392</a:t>
                      </a:r>
                    </a:p>
                  </a:txBody>
                  <a:tcPr>
                    <a:solidFill>
                      <a:srgbClr val="D3E9E7"/>
                    </a:solidFill>
                  </a:tcPr>
                </a:tc>
                <a:tc>
                  <a:txBody>
                    <a:bodyPr/>
                    <a:lstStyle/>
                    <a:p>
                      <a:pPr algn="ctr">
                        <a:defRPr sz="1000" b="1">
                          <a:solidFill>
                            <a:srgbClr val="006556"/>
                          </a:solidFill>
                          <a:latin typeface="Montserrat"/>
                        </a:defRPr>
                      </a:pPr>
                      <a:r>
                        <a:t>4,927</a:t>
                      </a:r>
                    </a:p>
                  </a:txBody>
                  <a:tcPr>
                    <a:solidFill>
                      <a:srgbClr val="D3E9E7"/>
                    </a:solidFill>
                  </a:tcPr>
                </a:tc>
                <a:tc>
                  <a:txBody>
                    <a:bodyPr/>
                    <a:lstStyle/>
                    <a:p>
                      <a:pPr algn="ctr">
                        <a:defRPr sz="1000" b="1">
                          <a:solidFill>
                            <a:srgbClr val="FFFFFF"/>
                          </a:solidFill>
                          <a:latin typeface="Montserrat"/>
                        </a:defRPr>
                      </a:pPr>
                      <a:r>
                        <a:t>8,935</a:t>
                      </a:r>
                    </a:p>
                  </a:txBody>
                  <a:tcPr>
                    <a:solidFill>
                      <a:srgbClr val="9F2241"/>
                    </a:solidFill>
                  </a:tcPr>
                </a:tc>
                <a:tc>
                  <a:txBody>
                    <a:bodyPr/>
                    <a:lstStyle/>
                    <a:p>
                      <a:pPr algn="ctr">
                        <a:defRPr sz="1000" b="1">
                          <a:solidFill>
                            <a:srgbClr val="FFFFFF"/>
                          </a:solidFill>
                          <a:latin typeface="Montserrat"/>
                        </a:defRPr>
                      </a:pPr>
                      <a:r>
                        <a:t>17,250</a:t>
                      </a:r>
                    </a:p>
                  </a:txBody>
                  <a:tcPr>
                    <a:solidFill>
                      <a:srgbClr val="9F2241"/>
                    </a:solidFill>
                  </a:tcPr>
                </a:tc>
                <a:tc>
                  <a:txBody>
                    <a:bodyPr/>
                    <a:lstStyle/>
                    <a:p>
                      <a:pPr algn="ctr">
                        <a:defRPr sz="1000" b="1">
                          <a:solidFill>
                            <a:srgbClr val="FFFFFF"/>
                          </a:solidFill>
                          <a:latin typeface="Montserrat"/>
                        </a:defRPr>
                      </a:pPr>
                      <a:r>
                        <a:t>51.8%</a:t>
                      </a:r>
                    </a:p>
                  </a:txBody>
                  <a:tcPr>
                    <a:solidFill>
                      <a:srgbClr val="9F2241"/>
                    </a:solidFill>
                  </a:tcPr>
                </a:tc>
                <a:extLst>
                  <a:ext uri="{0D108BD9-81ED-4DB2-BD59-A6C34878D82A}">
                    <a16:rowId xmlns:a16="http://schemas.microsoft.com/office/drawing/2014/main" val="10002"/>
                  </a:ext>
                </a:extLst>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85,692</a:t>
                      </a:r>
                    </a:p>
                  </a:txBody>
                  <a:tcPr>
                    <a:solidFill>
                      <a:srgbClr val="D3E9E7"/>
                    </a:solidFill>
                  </a:tcPr>
                </a:tc>
                <a:tc>
                  <a:txBody>
                    <a:bodyPr/>
                    <a:lstStyle/>
                    <a:p>
                      <a:pPr algn="ctr">
                        <a:defRPr sz="1000" b="1">
                          <a:solidFill>
                            <a:srgbClr val="006556"/>
                          </a:solidFill>
                          <a:latin typeface="Montserrat"/>
                        </a:defRPr>
                      </a:pPr>
                      <a:r>
                        <a:t>22,600</a:t>
                      </a:r>
                    </a:p>
                  </a:txBody>
                  <a:tcPr>
                    <a:solidFill>
                      <a:srgbClr val="D3E9E7"/>
                    </a:solidFill>
                  </a:tcPr>
                </a:tc>
                <a:tc>
                  <a:txBody>
                    <a:bodyPr/>
                    <a:lstStyle/>
                    <a:p>
                      <a:pPr algn="ctr">
                        <a:defRPr sz="1000" b="1">
                          <a:solidFill>
                            <a:srgbClr val="FFFFFF"/>
                          </a:solidFill>
                          <a:latin typeface="Montserrat"/>
                        </a:defRPr>
                      </a:pPr>
                      <a:r>
                        <a:t>43,880</a:t>
                      </a:r>
                    </a:p>
                  </a:txBody>
                  <a:tcPr>
                    <a:solidFill>
                      <a:srgbClr val="9F2241"/>
                    </a:solidFill>
                  </a:tcPr>
                </a:tc>
                <a:tc>
                  <a:txBody>
                    <a:bodyPr/>
                    <a:lstStyle/>
                    <a:p>
                      <a:pPr algn="ctr">
                        <a:defRPr sz="1000" b="1">
                          <a:solidFill>
                            <a:srgbClr val="FFFFFF"/>
                          </a:solidFill>
                          <a:latin typeface="Montserrat"/>
                        </a:defRPr>
                      </a:pPr>
                      <a:r>
                        <a:t>102,542</a:t>
                      </a:r>
                    </a:p>
                  </a:txBody>
                  <a:tcPr>
                    <a:solidFill>
                      <a:srgbClr val="9F2241"/>
                    </a:solidFill>
                  </a:tcPr>
                </a:tc>
                <a:tc>
                  <a:txBody>
                    <a:bodyPr/>
                    <a:lstStyle/>
                    <a:p>
                      <a:pPr algn="ctr">
                        <a:defRPr sz="1000" b="1">
                          <a:solidFill>
                            <a:srgbClr val="FFFFFF"/>
                          </a:solidFill>
                          <a:latin typeface="Montserrat"/>
                        </a:defRPr>
                      </a:pPr>
                      <a:r>
                        <a:t>42.8%</a:t>
                      </a:r>
                    </a:p>
                  </a:txBody>
                  <a:tcPr>
                    <a:solidFill>
                      <a:srgbClr val="9F2241"/>
                    </a:solidFill>
                  </a:tcPr>
                </a:tc>
                <a:extLst>
                  <a:ext uri="{0D108BD9-81ED-4DB2-BD59-A6C34878D82A}">
                    <a16:rowId xmlns:a16="http://schemas.microsoft.com/office/drawing/2014/main" val="10003"/>
                  </a:ext>
                </a:extLst>
              </a:tr>
            </a:tbl>
          </a:graphicData>
        </a:graphic>
      </p:graphicFrame>
      <p:graphicFrame>
        <p:nvGraphicFramePr>
          <p:cNvPr id="235" name="Chart 234"/>
          <p:cNvGraphicFramePr>
            <a:graphicFrameLocks noGrp="1"/>
          </p:cNvGraphicFramePr>
          <p:nvPr>
            <p:extLst>
              <p:ext uri="{D42A27DB-BD31-4B8C-83A1-F6EECF244321}">
                <p14:modId xmlns:p14="http://schemas.microsoft.com/office/powerpoint/2010/main" val="3392948353"/>
              </p:ext>
            </p:extLst>
          </p:nvPr>
        </p:nvGraphicFramePr>
        <p:xfrm>
          <a:off x="5312419" y="7320911"/>
          <a:ext cx="1800000" cy="1800000"/>
        </p:xfrm>
        <a:graphic>
          <a:graphicData uri="http://schemas.openxmlformats.org/drawingml/2006/chart">
            <c:chart xmlns:c="http://schemas.openxmlformats.org/drawingml/2006/chart" xmlns:r="http://schemas.openxmlformats.org/officeDocument/2006/relationships" r:id="rId4"/>
          </a:graphicData>
        </a:graphic>
      </p:graphicFrame>
      <p:sp>
        <p:nvSpPr>
          <p:cNvPr id="236" name="TextBox 235"/>
          <p:cNvSpPr txBox="1"/>
          <p:nvPr/>
        </p:nvSpPr>
        <p:spPr>
          <a:xfrm>
            <a:off x="5312419" y="8055127"/>
            <a:ext cx="1800000" cy="360000"/>
          </a:xfrm>
          <a:prstGeom prst="rect">
            <a:avLst/>
          </a:prstGeom>
          <a:noFill/>
        </p:spPr>
        <p:txBody>
          <a:bodyPr wrap="none">
            <a:spAutoFit/>
          </a:bodyPr>
          <a:lstStyle/>
          <a:p>
            <a:pPr algn="ctr"/>
            <a:r>
              <a:rPr sz="2400" b="1">
                <a:solidFill>
                  <a:srgbClr val="9F2241"/>
                </a:solidFill>
                <a:latin typeface="Montserrat"/>
              </a:rPr>
              <a:t>42.8%</a:t>
            </a:r>
          </a:p>
        </p:txBody>
      </p:sp>
      <p:sp>
        <p:nvSpPr>
          <p:cNvPr id="237" name="TextBox 236"/>
          <p:cNvSpPr txBox="1"/>
          <p:nvPr/>
        </p:nvSpPr>
        <p:spPr>
          <a:xfrm>
            <a:off x="4051800" y="7596465"/>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38" name="TextBox 237"/>
          <p:cNvSpPr txBox="1"/>
          <p:nvPr/>
        </p:nvSpPr>
        <p:spPr>
          <a:xfrm>
            <a:off x="865801" y="7560233"/>
            <a:ext cx="2854800" cy="1198800"/>
          </a:xfrm>
          <a:prstGeom prst="rect">
            <a:avLst/>
          </a:prstGeom>
          <a:noFill/>
        </p:spPr>
        <p:txBody>
          <a:bodyPr wrap="square">
            <a:spAutoFit/>
          </a:bodyPr>
          <a:lstStyle/>
          <a:p>
            <a:pPr algn="ctr">
              <a:defRPr sz="3600" b="1">
                <a:solidFill>
                  <a:srgbClr val="9F2241"/>
                </a:solidFill>
                <a:latin typeface="Montserrat"/>
              </a:defRPr>
            </a:pPr>
            <a:r>
              <a:t>102,542 </a:t>
            </a:r>
            <a:br>
              <a:rPr/>
            </a:br>
            <a:r>
              <a:t>Meta 2026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437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208 en Hospitales, 2 en sede, 113 en UMF y 114 sustitutos</a:t>
            </a:r>
          </a:p>
        </p:txBody>
      </p:sp>
      <p:sp>
        <p:nvSpPr>
          <p:cNvPr id="5" name="TextBox 4"/>
          <p:cNvSpPr txBox="1"/>
          <p:nvPr/>
        </p:nvSpPr>
        <p:spPr>
          <a:xfrm>
            <a:off x="360000" y="1419945"/>
            <a:ext cx="3567002" cy="400110"/>
          </a:xfrm>
          <a:prstGeom prst="rect">
            <a:avLst/>
          </a:prstGeom>
          <a:noFill/>
        </p:spPr>
        <p:txBody>
          <a:bodyPr wrap="none" anchor="ctr">
            <a:spAutoFit/>
          </a:bodyPr>
          <a:lstStyle/>
          <a:p>
            <a:pPr algn="l">
              <a:defRPr sz="2000" b="1">
                <a:solidFill>
                  <a:srgbClr val="BC955C"/>
                </a:solidFill>
                <a:latin typeface="Montserrat"/>
              </a:defRPr>
            </a:pPr>
            <a:r>
              <a:t>208 en </a:t>
            </a:r>
            <a:r>
              <a:rPr err="1"/>
              <a:t>Hospitales</a:t>
            </a:r>
            <a:r>
              <a:rPr lang="es-MX"/>
              <a:t> (1 de 5)</a:t>
            </a:r>
            <a:endParaRP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1415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5">
                  <a:txBody>
                    <a:bodyPr/>
                    <a:lstStyle/>
                    <a:p>
                      <a:pPr algn="ctr">
                        <a:defRPr sz="800" b="1">
                          <a:solidFill>
                            <a:srgbClr val="000000"/>
                          </a:solidFill>
                          <a:latin typeface="Montserrat"/>
                        </a:defRPr>
                      </a:pPr>
                      <a:r>
                        <a:t>Hospital General de Subzona 13</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extLst>
                  <a:ext uri="{0D108BD9-81ED-4DB2-BD59-A6C34878D82A}">
                    <a16:rowId xmlns:a16="http://schemas.microsoft.com/office/drawing/2014/main" val="10001"/>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extLst>
                  <a:ext uri="{0D108BD9-81ED-4DB2-BD59-A6C34878D82A}">
                    <a16:rowId xmlns:a16="http://schemas.microsoft.com/office/drawing/2014/main" val="10002"/>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4">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11</a:t>
                      </a:r>
                    </a:p>
                  </a:txBody>
                  <a:tcPr>
                    <a:solidFill>
                      <a:srgbClr val="D3E9E7"/>
                    </a:solidFill>
                  </a:tcPr>
                </a:tc>
                <a:extLst>
                  <a:ext uri="{0D108BD9-81ED-4DB2-BD59-A6C34878D82A}">
                    <a16:rowId xmlns:a16="http://schemas.microsoft.com/office/drawing/2014/main" val="10005"/>
                  </a:ext>
                </a:extLst>
              </a:tr>
            </a:tbl>
          </a:graphicData>
        </a:graphic>
      </p:graphicFrame>
      <p:graphicFrame>
        <p:nvGraphicFramePr>
          <p:cNvPr id="8" name="Table 7"/>
          <p:cNvGraphicFramePr>
            <a:graphicFrameLocks noGrp="1"/>
          </p:cNvGraphicFramePr>
          <p:nvPr/>
        </p:nvGraphicFramePr>
        <p:xfrm>
          <a:off x="3960000" y="1908000"/>
          <a:ext cx="3456000" cy="79511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Hospital General de Subzona C/MF 20</a:t>
                      </a:r>
                    </a:p>
                  </a:txBody>
                  <a:tcPr anchor="ctr">
                    <a:no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690000492"/>
              </p:ext>
            </p:extLst>
          </p:nvPr>
        </p:nvGraphicFramePr>
        <p:xfrm>
          <a:off x="360000" y="3364666"/>
          <a:ext cx="3456000" cy="1080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4">
                  <a:txBody>
                    <a:bodyPr/>
                    <a:lstStyle/>
                    <a:p>
                      <a:pPr algn="ctr">
                        <a:defRPr sz="800" b="1">
                          <a:solidFill>
                            <a:srgbClr val="000000"/>
                          </a:solidFill>
                          <a:latin typeface="Montserrat"/>
                        </a:defRPr>
                      </a:pPr>
                      <a:r>
                        <a:t>Hospital General de Subzona C/MF 21</a:t>
                      </a:r>
                    </a:p>
                  </a:txBody>
                  <a:tcPr anchor="ctr">
                    <a:noFill/>
                  </a:tcPr>
                </a:tc>
                <a:tc>
                  <a:txBody>
                    <a:bodyPr/>
                    <a:lstStyle/>
                    <a:p>
                      <a:pPr algn="ctr">
                        <a:defRPr sz="800" b="0">
                          <a:solidFill>
                            <a:srgbClr val="000000"/>
                          </a:solidFill>
                          <a:latin typeface="Montserrat"/>
                        </a:defRPr>
                      </a:pPr>
                      <a:r>
                        <a:rPr err="1"/>
                        <a:t>Anestesiología</a:t>
                      </a:r>
                      <a:endParaRP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extLst>
                  <a:ext uri="{0D108BD9-81ED-4DB2-BD59-A6C34878D82A}">
                    <a16:rowId xmlns:a16="http://schemas.microsoft.com/office/drawing/2014/main" val="10004"/>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390307682"/>
              </p:ext>
            </p:extLst>
          </p:nvPr>
        </p:nvGraphicFramePr>
        <p:xfrm>
          <a:off x="3960000" y="2724875"/>
          <a:ext cx="3456000" cy="1728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7">
                  <a:txBody>
                    <a:bodyPr/>
                    <a:lstStyle/>
                    <a:p>
                      <a:pPr algn="ctr">
                        <a:defRPr sz="800" b="1">
                          <a:solidFill>
                            <a:srgbClr val="000000"/>
                          </a:solidFill>
                          <a:latin typeface="Montserrat"/>
                        </a:defRPr>
                      </a:pPr>
                      <a:r>
                        <a:t>Hospital General de Subzona C/MF 27</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8</a:t>
                      </a:r>
                    </a:p>
                  </a:txBody>
                  <a:tcPr>
                    <a:solidFill>
                      <a:srgbClr val="D3E9E7"/>
                    </a:solidFill>
                  </a:tcPr>
                </a:tc>
                <a:extLst>
                  <a:ext uri="{0D108BD9-81ED-4DB2-BD59-A6C34878D82A}">
                    <a16:rowId xmlns:a16="http://schemas.microsoft.com/office/drawing/2014/main" val="10007"/>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2293494569"/>
              </p:ext>
            </p:extLst>
          </p:nvPr>
        </p:nvGraphicFramePr>
        <p:xfrm>
          <a:off x="360000" y="4486052"/>
          <a:ext cx="3456000" cy="1080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4">
                  <a:txBody>
                    <a:bodyPr/>
                    <a:lstStyle/>
                    <a:p>
                      <a:pPr algn="ctr">
                        <a:defRPr sz="800" b="1">
                          <a:solidFill>
                            <a:srgbClr val="000000"/>
                          </a:solidFill>
                          <a:latin typeface="Montserrat"/>
                        </a:defRPr>
                      </a:pPr>
                      <a:r>
                        <a:t>Hospital General de Subzona C/MF 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extLst>
                  <a:ext uri="{0D108BD9-81ED-4DB2-BD59-A6C34878D82A}">
                    <a16:rowId xmlns:a16="http://schemas.microsoft.com/office/drawing/2014/main" val="10004"/>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287440297"/>
              </p:ext>
            </p:extLst>
          </p:nvPr>
        </p:nvGraphicFramePr>
        <p:xfrm>
          <a:off x="3960000" y="4411156"/>
          <a:ext cx="3456000" cy="1631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6">
                  <a:txBody>
                    <a:bodyPr/>
                    <a:lstStyle/>
                    <a:p>
                      <a:pPr algn="ctr">
                        <a:defRPr sz="800" b="1">
                          <a:solidFill>
                            <a:srgbClr val="000000"/>
                          </a:solidFill>
                          <a:latin typeface="Montserrat"/>
                        </a:defRPr>
                      </a:pPr>
                      <a:r>
                        <a:t>Hospital General de Zona 1</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Imagenología </a:t>
                      </a:r>
                      <a:r>
                        <a:rPr err="1"/>
                        <a:t>Diagnóstico</a:t>
                      </a:r>
                      <a:r>
                        <a:t>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11</a:t>
                      </a:r>
                    </a:p>
                  </a:txBody>
                  <a:tcPr>
                    <a:solidFill>
                      <a:srgbClr val="D3E9E7"/>
                    </a:solidFill>
                  </a:tcPr>
                </a:tc>
                <a:extLst>
                  <a:ext uri="{0D108BD9-81ED-4DB2-BD59-A6C34878D82A}">
                    <a16:rowId xmlns:a16="http://schemas.microsoft.com/office/drawing/2014/main" val="10006"/>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919066844"/>
              </p:ext>
            </p:extLst>
          </p:nvPr>
        </p:nvGraphicFramePr>
        <p:xfrm>
          <a:off x="360000" y="5607438"/>
          <a:ext cx="3456000" cy="2279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9">
                  <a:txBody>
                    <a:bodyPr/>
                    <a:lstStyle/>
                    <a:p>
                      <a:pPr algn="ctr">
                        <a:defRPr sz="800" b="1">
                          <a:solidFill>
                            <a:srgbClr val="000000"/>
                          </a:solidFill>
                          <a:latin typeface="Montserrat"/>
                        </a:defRPr>
                      </a:pPr>
                      <a:r>
                        <a:t>Hospital General de Zona 11</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rPr err="1"/>
                        <a:t>Ginecología</a:t>
                      </a:r>
                      <a:r>
                        <a:t> y </a:t>
                      </a:r>
                      <a:r>
                        <a:rPr err="1"/>
                        <a:t>Obstetricia</a:t>
                      </a:r>
                      <a:endParaRP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Infectología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Reumatología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8"/>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extLst>
                  <a:ext uri="{0D108BD9-81ED-4DB2-BD59-A6C34878D82A}">
                    <a16:rowId xmlns:a16="http://schemas.microsoft.com/office/drawing/2014/main" val="10009"/>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263957842"/>
              </p:ext>
            </p:extLst>
          </p:nvPr>
        </p:nvGraphicFramePr>
        <p:xfrm>
          <a:off x="3960000" y="6045334"/>
          <a:ext cx="3456000" cy="25908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173358">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173358">
                <a:tc rowSpan="10">
                  <a:txBody>
                    <a:bodyPr/>
                    <a:lstStyle/>
                    <a:p>
                      <a:pPr algn="ctr">
                        <a:defRPr sz="800" b="1">
                          <a:solidFill>
                            <a:srgbClr val="000000"/>
                          </a:solidFill>
                          <a:latin typeface="Montserrat"/>
                        </a:defRPr>
                      </a:pPr>
                      <a:r>
                        <a:t>Hospital General de Zona 92</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extLst>
                  <a:ext uri="{0D108BD9-81ED-4DB2-BD59-A6C34878D82A}">
                    <a16:rowId xmlns:a16="http://schemas.microsoft.com/office/drawing/2014/main" val="10001"/>
                  </a:ext>
                </a:extLst>
              </a:tr>
              <a:tr h="173358">
                <a:tc vMerge="1">
                  <a:txBody>
                    <a:bodyPr/>
                    <a:lstStyle/>
                    <a:p>
                      <a:endParaRPr/>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extLst>
                  <a:ext uri="{0D108BD9-81ED-4DB2-BD59-A6C34878D82A}">
                    <a16:rowId xmlns:a16="http://schemas.microsoft.com/office/drawing/2014/main" val="10002"/>
                  </a:ext>
                </a:extLst>
              </a:tr>
              <a:tr h="272420">
                <a:tc vMerge="1">
                  <a:txBody>
                    <a:bodyPr/>
                    <a:lstStyle/>
                    <a:p>
                      <a:endParaRPr/>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173358">
                <a:tc vMerge="1">
                  <a:txBody>
                    <a:bodyPr/>
                    <a:lstStyle/>
                    <a:p>
                      <a:endParaRPr/>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extLst>
                  <a:ext uri="{0D108BD9-81ED-4DB2-BD59-A6C34878D82A}">
                    <a16:rowId xmlns:a16="http://schemas.microsoft.com/office/drawing/2014/main" val="10004"/>
                  </a:ext>
                </a:extLst>
              </a:tr>
              <a:tr h="173358">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extLst>
                  <a:ext uri="{0D108BD9-81ED-4DB2-BD59-A6C34878D82A}">
                    <a16:rowId xmlns:a16="http://schemas.microsoft.com/office/drawing/2014/main" val="10005"/>
                  </a:ext>
                </a:extLst>
              </a:tr>
              <a:tr h="27242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extLst>
                  <a:ext uri="{0D108BD9-81ED-4DB2-BD59-A6C34878D82A}">
                    <a16:rowId xmlns:a16="http://schemas.microsoft.com/office/drawing/2014/main" val="10006"/>
                  </a:ext>
                </a:extLst>
              </a:tr>
              <a:tr h="173358">
                <a:tc vMerge="1">
                  <a:txBody>
                    <a:bodyPr/>
                    <a:lstStyle/>
                    <a:p>
                      <a:endParaRPr/>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7"/>
                  </a:ext>
                </a:extLst>
              </a:tr>
              <a:tr h="173358">
                <a:tc vMerge="1">
                  <a:txBody>
                    <a:bodyPr/>
                    <a:lstStyle/>
                    <a:p>
                      <a:endParaRPr/>
                    </a:p>
                  </a:txBody>
                  <a:tcPr>
                    <a:solidFill>
                      <a:srgbClr val="F0F0F0"/>
                    </a:solidFill>
                  </a:tcPr>
                </a:tc>
                <a:tc>
                  <a:txBody>
                    <a:bodyPr/>
                    <a:lstStyle/>
                    <a:p>
                      <a:pPr algn="ctr">
                        <a:defRPr sz="800" b="0">
                          <a:solidFill>
                            <a:srgbClr val="000000"/>
                          </a:solidFill>
                          <a:latin typeface="Montserrat"/>
                        </a:defRPr>
                      </a:pPr>
                      <a:r>
                        <a:t>Psiquiatría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8"/>
                  </a:ext>
                </a:extLst>
              </a:tr>
              <a:tr h="173358">
                <a:tc vMerge="1">
                  <a:txBody>
                    <a:bodyPr/>
                    <a:lstStyle/>
                    <a:p>
                      <a:endParaRPr/>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extLst>
                  <a:ext uri="{0D108BD9-81ED-4DB2-BD59-A6C34878D82A}">
                    <a16:rowId xmlns:a16="http://schemas.microsoft.com/office/drawing/2014/main" val="10009"/>
                  </a:ext>
                </a:extLst>
              </a:tr>
              <a:tr h="173358">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25</a:t>
                      </a:r>
                    </a:p>
                  </a:txBody>
                  <a:tcPr>
                    <a:solidFill>
                      <a:srgbClr val="D3E9E7"/>
                    </a:solidFill>
                  </a:tcPr>
                </a:tc>
                <a:extLst>
                  <a:ext uri="{0D108BD9-81ED-4DB2-BD59-A6C34878D82A}">
                    <a16:rowId xmlns:a16="http://schemas.microsoft.com/office/drawing/2014/main" val="10010"/>
                  </a:ext>
                </a:extLst>
              </a:tr>
            </a:tbl>
          </a:graphicData>
        </a:graphic>
      </p:graphicFrame>
      <p:graphicFrame>
        <p:nvGraphicFramePr>
          <p:cNvPr id="15" name="Table 6">
            <a:extLst>
              <a:ext uri="{FF2B5EF4-FFF2-40B4-BE49-F238E27FC236}">
                <a16:creationId xmlns:a16="http://schemas.microsoft.com/office/drawing/2014/main" id="{1B0ADF4F-09E8-4F79-E92D-D0594A4449CF}"/>
              </a:ext>
            </a:extLst>
          </p:cNvPr>
          <p:cNvGraphicFramePr>
            <a:graphicFrameLocks noGrp="1"/>
          </p:cNvGraphicFramePr>
          <p:nvPr>
            <p:extLst>
              <p:ext uri="{D42A27DB-BD31-4B8C-83A1-F6EECF244321}">
                <p14:modId xmlns:p14="http://schemas.microsoft.com/office/powerpoint/2010/main" val="3539677174"/>
              </p:ext>
            </p:extLst>
          </p:nvPr>
        </p:nvGraphicFramePr>
        <p:xfrm>
          <a:off x="360000" y="7886718"/>
          <a:ext cx="3456000" cy="1415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5">
                  <a:txBody>
                    <a:bodyPr/>
                    <a:lstStyle/>
                    <a:p>
                      <a:pPr algn="ctr">
                        <a:defRPr sz="800" b="1">
                          <a:solidFill>
                            <a:srgbClr val="000000"/>
                          </a:solidFill>
                          <a:latin typeface="Montserrat"/>
                        </a:defRPr>
                      </a:pPr>
                      <a:r>
                        <a:t>Hospital General de Zona C/MF 16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2"/>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extLst>
                  <a:ext uri="{0D108BD9-81ED-4DB2-BD59-A6C34878D82A}">
                    <a16:rowId xmlns:a16="http://schemas.microsoft.com/office/drawing/2014/main" val="10003"/>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4">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8</a:t>
                      </a:r>
                    </a:p>
                  </a:txBody>
                  <a:tcPr>
                    <a:solidFill>
                      <a:srgbClr val="D3E9E7"/>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3910259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437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5" name="TextBox 4"/>
          <p:cNvSpPr txBox="1"/>
          <p:nvPr/>
        </p:nvSpPr>
        <p:spPr>
          <a:xfrm>
            <a:off x="360000" y="1081545"/>
            <a:ext cx="3616696" cy="400110"/>
          </a:xfrm>
          <a:prstGeom prst="rect">
            <a:avLst/>
          </a:prstGeom>
          <a:noFill/>
        </p:spPr>
        <p:txBody>
          <a:bodyPr wrap="none" anchor="ctr">
            <a:spAutoFit/>
          </a:bodyPr>
          <a:lstStyle/>
          <a:p>
            <a:pPr>
              <a:defRPr sz="2000" b="1">
                <a:solidFill>
                  <a:srgbClr val="BC955C"/>
                </a:solidFill>
                <a:latin typeface="Montserrat"/>
              </a:defRPr>
            </a:pPr>
            <a:r>
              <a:t>208 en </a:t>
            </a:r>
            <a:r>
              <a:rPr err="1"/>
              <a:t>Hospitales</a:t>
            </a:r>
            <a:r>
              <a:t> </a:t>
            </a:r>
            <a:r>
              <a:rPr lang="es-MX"/>
              <a:t>(2 de 5)</a:t>
            </a:r>
            <a:endParaRP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extLst>
              <p:ext uri="{D42A27DB-BD31-4B8C-83A1-F6EECF244321}">
                <p14:modId xmlns:p14="http://schemas.microsoft.com/office/powerpoint/2010/main" val="1190919968"/>
              </p:ext>
            </p:extLst>
          </p:nvPr>
        </p:nvGraphicFramePr>
        <p:xfrm>
          <a:off x="3960000" y="1542304"/>
          <a:ext cx="3636000" cy="1493520"/>
        </p:xfrm>
        <a:graphic>
          <a:graphicData uri="http://schemas.openxmlformats.org/drawingml/2006/table">
            <a:tbl>
              <a:tblPr firstRow="1" bandRow="1">
                <a:tableStyleId>{5C22544A-7EE6-4342-B048-85BDC9FD1C3A}</a:tableStyleId>
              </a:tblPr>
              <a:tblGrid>
                <a:gridCol w="996112">
                  <a:extLst>
                    <a:ext uri="{9D8B030D-6E8A-4147-A177-3AD203B41FA5}">
                      <a16:colId xmlns:a16="http://schemas.microsoft.com/office/drawing/2014/main" val="20000"/>
                    </a:ext>
                  </a:extLst>
                </a:gridCol>
                <a:gridCol w="1969500">
                  <a:extLst>
                    <a:ext uri="{9D8B030D-6E8A-4147-A177-3AD203B41FA5}">
                      <a16:colId xmlns:a16="http://schemas.microsoft.com/office/drawing/2014/main" val="20001"/>
                    </a:ext>
                  </a:extLst>
                </a:gridCol>
                <a:gridCol w="670388">
                  <a:extLst>
                    <a:ext uri="{9D8B030D-6E8A-4147-A177-3AD203B41FA5}">
                      <a16:colId xmlns:a16="http://schemas.microsoft.com/office/drawing/2014/main" val="20002"/>
                    </a:ext>
                  </a:extLst>
                </a:gridCol>
              </a:tblGrid>
              <a:tr h="195428">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195428">
                <a:tc rowSpan="6">
                  <a:txBody>
                    <a:bodyPr/>
                    <a:lstStyle/>
                    <a:p>
                      <a:pPr algn="ctr">
                        <a:defRPr sz="800" b="1">
                          <a:solidFill>
                            <a:srgbClr val="000000"/>
                          </a:solidFill>
                          <a:latin typeface="Montserrat"/>
                        </a:defRPr>
                      </a:pPr>
                      <a:r>
                        <a:t>Hospital General de Zona C/MF 18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195428">
                <a:tc vMerge="1">
                  <a:txBody>
                    <a:bodyPr/>
                    <a:lstStyle/>
                    <a:p>
                      <a:endParaRPr/>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195428">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195428">
                <a:tc vMerge="1">
                  <a:txBody>
                    <a:bodyPr/>
                    <a:lstStyle/>
                    <a:p>
                      <a:endParaRPr/>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195428">
                <a:tc vMerge="1">
                  <a:txBody>
                    <a:bodyPr/>
                    <a:lstStyle/>
                    <a:p>
                      <a:endParaRPr/>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5"/>
                  </a:ext>
                </a:extLst>
              </a:tr>
              <a:tr h="195428">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extLst>
                  <a:ext uri="{0D108BD9-81ED-4DB2-BD59-A6C34878D82A}">
                    <a16:rowId xmlns:a16="http://schemas.microsoft.com/office/drawing/2014/main" val="10006"/>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093473452"/>
              </p:ext>
            </p:extLst>
          </p:nvPr>
        </p:nvGraphicFramePr>
        <p:xfrm>
          <a:off x="324000" y="1569600"/>
          <a:ext cx="3456000" cy="301752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185371">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185371">
                <a:tc rowSpan="12">
                  <a:txBody>
                    <a:bodyPr/>
                    <a:lstStyle/>
                    <a:p>
                      <a:pPr algn="ctr">
                        <a:defRPr sz="800" b="1">
                          <a:solidFill>
                            <a:srgbClr val="000000"/>
                          </a:solidFill>
                          <a:latin typeface="Montserrat"/>
                        </a:defRPr>
                      </a:pPr>
                      <a:r>
                        <a:t>Hospital General de Zona C/MF 2</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185371">
                <a:tc vMerge="1">
                  <a:txBody>
                    <a:bodyPr/>
                    <a:lstStyle/>
                    <a:p>
                      <a:endParaRPr/>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185371">
                <a:tc vMerge="1">
                  <a:txBody>
                    <a:bodyPr/>
                    <a:lstStyle/>
                    <a:p>
                      <a:endParaRPr/>
                    </a:p>
                  </a:txBody>
                  <a:tcPr>
                    <a:solidFill>
                      <a:srgbClr val="FFFFFF"/>
                    </a:solidFill>
                  </a:tcPr>
                </a:tc>
                <a:tc>
                  <a:txBody>
                    <a:bodyPr/>
                    <a:lstStyle/>
                    <a:p>
                      <a:pPr algn="ctr">
                        <a:defRPr sz="800" b="0">
                          <a:solidFill>
                            <a:srgbClr val="000000"/>
                          </a:solidFill>
                          <a:latin typeface="Montserrat"/>
                        </a:defRPr>
                      </a:pPr>
                      <a:r>
                        <a:t>Gastroenterología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185371">
                <a:tc vMerge="1">
                  <a:txBody>
                    <a:bodyPr/>
                    <a:lstStyle/>
                    <a:p>
                      <a:endParaRPr/>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4"/>
                  </a:ext>
                </a:extLst>
              </a:tr>
              <a:tr h="185371">
                <a:tc vMerge="1">
                  <a:txBody>
                    <a:bodyPr/>
                    <a:lstStyle/>
                    <a:p>
                      <a:endParaRPr/>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5"/>
                  </a:ext>
                </a:extLst>
              </a:tr>
              <a:tr h="185371">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6"/>
                  </a:ext>
                </a:extLst>
              </a:tr>
              <a:tr h="287738">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extLst>
                  <a:ext uri="{0D108BD9-81ED-4DB2-BD59-A6C34878D82A}">
                    <a16:rowId xmlns:a16="http://schemas.microsoft.com/office/drawing/2014/main" val="10007"/>
                  </a:ext>
                </a:extLst>
              </a:tr>
              <a:tr h="287738">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8"/>
                  </a:ext>
                </a:extLst>
              </a:tr>
              <a:tr h="185371">
                <a:tc vMerge="1">
                  <a:txBody>
                    <a:bodyPr/>
                    <a:lstStyle/>
                    <a:p>
                      <a:endParaRPr/>
                    </a:p>
                  </a:txBody>
                  <a:tcPr>
                    <a:solidFill>
                      <a:srgbClr val="FFFFFF"/>
                    </a:solidFill>
                  </a:tcPr>
                </a:tc>
                <a:tc>
                  <a:txBody>
                    <a:bodyPr/>
                    <a:lstStyle/>
                    <a:p>
                      <a:pPr algn="ctr">
                        <a:defRPr sz="800" b="0">
                          <a:solidFill>
                            <a:srgbClr val="000000"/>
                          </a:solidFill>
                          <a:latin typeface="Montserrat"/>
                        </a:defRPr>
                      </a:pPr>
                      <a:r>
                        <a:t>Neurocirugía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9"/>
                  </a:ext>
                </a:extLst>
              </a:tr>
              <a:tr h="185371">
                <a:tc vMerge="1">
                  <a:txBody>
                    <a:bodyPr/>
                    <a:lstStyle/>
                    <a:p>
                      <a:endParaRPr/>
                    </a:p>
                  </a:txBody>
                  <a:tcPr>
                    <a:solidFill>
                      <a:srgbClr val="F0F0F0"/>
                    </a:solidFill>
                  </a:tcPr>
                </a:tc>
                <a:tc>
                  <a:txBody>
                    <a:bodyPr/>
                    <a:lstStyle/>
                    <a:p>
                      <a:pPr algn="ctr">
                        <a:defRPr sz="800" b="0">
                          <a:solidFill>
                            <a:srgbClr val="000000"/>
                          </a:solidFill>
                          <a:latin typeface="Montserrat"/>
                        </a:defRPr>
                      </a:pPr>
                      <a:r>
                        <a:t>Neurología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10"/>
                  </a:ext>
                </a:extLst>
              </a:tr>
              <a:tr h="185371">
                <a:tc vMerge="1">
                  <a:txBody>
                    <a:bodyPr/>
                    <a:lstStyle/>
                    <a:p>
                      <a:endParaRPr/>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11"/>
                  </a:ext>
                </a:extLst>
              </a:tr>
              <a:tr h="18537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16</a:t>
                      </a:r>
                    </a:p>
                  </a:txBody>
                  <a:tcPr>
                    <a:solidFill>
                      <a:srgbClr val="D3E9E7"/>
                    </a:solidFill>
                  </a:tcPr>
                </a:tc>
                <a:extLst>
                  <a:ext uri="{0D108BD9-81ED-4DB2-BD59-A6C34878D82A}">
                    <a16:rowId xmlns:a16="http://schemas.microsoft.com/office/drawing/2014/main" val="10012"/>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1300066220"/>
              </p:ext>
            </p:extLst>
          </p:nvPr>
        </p:nvGraphicFramePr>
        <p:xfrm>
          <a:off x="3960000" y="3037416"/>
          <a:ext cx="3636000" cy="2538671"/>
        </p:xfrm>
        <a:graphic>
          <a:graphicData uri="http://schemas.openxmlformats.org/drawingml/2006/table">
            <a:tbl>
              <a:tblPr firstRow="1" bandRow="1">
                <a:tableStyleId>{5C22544A-7EE6-4342-B048-85BDC9FD1C3A}</a:tableStyleId>
              </a:tblPr>
              <a:tblGrid>
                <a:gridCol w="996112">
                  <a:extLst>
                    <a:ext uri="{9D8B030D-6E8A-4147-A177-3AD203B41FA5}">
                      <a16:colId xmlns:a16="http://schemas.microsoft.com/office/drawing/2014/main" val="20000"/>
                    </a:ext>
                  </a:extLst>
                </a:gridCol>
                <a:gridCol w="1969500">
                  <a:extLst>
                    <a:ext uri="{9D8B030D-6E8A-4147-A177-3AD203B41FA5}">
                      <a16:colId xmlns:a16="http://schemas.microsoft.com/office/drawing/2014/main" val="20001"/>
                    </a:ext>
                  </a:extLst>
                </a:gridCol>
                <a:gridCol w="670388">
                  <a:extLst>
                    <a:ext uri="{9D8B030D-6E8A-4147-A177-3AD203B41FA5}">
                      <a16:colId xmlns:a16="http://schemas.microsoft.com/office/drawing/2014/main" val="20002"/>
                    </a:ext>
                  </a:extLst>
                </a:gridCol>
              </a:tblGrid>
              <a:tr h="206418">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06418">
                <a:tc rowSpan="10">
                  <a:txBody>
                    <a:bodyPr/>
                    <a:lstStyle/>
                    <a:p>
                      <a:pPr algn="ctr">
                        <a:defRPr sz="800" b="1">
                          <a:solidFill>
                            <a:srgbClr val="000000"/>
                          </a:solidFill>
                          <a:latin typeface="Montserrat"/>
                        </a:defRPr>
                      </a:pPr>
                      <a:r>
                        <a:t>Hospital General de Zona C/MF 24</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extLst>
                  <a:ext uri="{0D108BD9-81ED-4DB2-BD59-A6C34878D82A}">
                    <a16:rowId xmlns:a16="http://schemas.microsoft.com/office/drawing/2014/main" val="10001"/>
                  </a:ext>
                </a:extLst>
              </a:tr>
              <a:tr h="206418">
                <a:tc vMerge="1">
                  <a:txBody>
                    <a:bodyPr/>
                    <a:lstStyle/>
                    <a:p>
                      <a:endParaRPr/>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2"/>
                  </a:ext>
                </a:extLst>
              </a:tr>
              <a:tr h="206418">
                <a:tc vMerge="1">
                  <a:txBody>
                    <a:bodyPr/>
                    <a:lstStyle/>
                    <a:p>
                      <a:endParaRPr/>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06418">
                <a:tc vMerge="1">
                  <a:txBody>
                    <a:bodyPr/>
                    <a:lstStyle/>
                    <a:p>
                      <a:endParaRPr/>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extLst>
                  <a:ext uri="{0D108BD9-81ED-4DB2-BD59-A6C34878D82A}">
                    <a16:rowId xmlns:a16="http://schemas.microsoft.com/office/drawing/2014/main" val="10004"/>
                  </a:ext>
                </a:extLst>
              </a:tr>
              <a:tr h="32437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5"/>
                  </a:ext>
                </a:extLst>
              </a:tr>
              <a:tr h="283151">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6"/>
                  </a:ext>
                </a:extLst>
              </a:tr>
              <a:tr h="206418">
                <a:tc vMerge="1">
                  <a:txBody>
                    <a:bodyPr/>
                    <a:lstStyle/>
                    <a:p>
                      <a:endParaRPr/>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7"/>
                  </a:ext>
                </a:extLst>
              </a:tr>
              <a:tr h="206418">
                <a:tc vMerge="1">
                  <a:txBody>
                    <a:bodyPr/>
                    <a:lstStyle/>
                    <a:p>
                      <a:endParaRPr/>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8"/>
                  </a:ext>
                </a:extLst>
              </a:tr>
              <a:tr h="206418">
                <a:tc vMerge="1">
                  <a:txBody>
                    <a:bodyPr/>
                    <a:lstStyle/>
                    <a:p>
                      <a:endParaRPr/>
                    </a:p>
                  </a:txBody>
                  <a:tcPr>
                    <a:solidFill>
                      <a:srgbClr val="FFFFFF"/>
                    </a:solidFill>
                  </a:tcPr>
                </a:tc>
                <a:tc>
                  <a:txBody>
                    <a:bodyPr/>
                    <a:lstStyle/>
                    <a:p>
                      <a:pPr algn="ctr">
                        <a:defRPr sz="800" b="0">
                          <a:solidFill>
                            <a:srgbClr val="000000"/>
                          </a:solidFill>
                          <a:latin typeface="Montserrat"/>
                        </a:defRPr>
                      </a:pPr>
                      <a:r>
                        <a:t>Servicios de Sangre</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9"/>
                  </a:ext>
                </a:extLst>
              </a:tr>
              <a:tr h="206418">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15</a:t>
                      </a:r>
                    </a:p>
                  </a:txBody>
                  <a:tcPr>
                    <a:solidFill>
                      <a:srgbClr val="D3E9E7"/>
                    </a:solidFill>
                  </a:tcPr>
                </a:tc>
                <a:extLst>
                  <a:ext uri="{0D108BD9-81ED-4DB2-BD59-A6C34878D82A}">
                    <a16:rowId xmlns:a16="http://schemas.microsoft.com/office/drawing/2014/main" val="10010"/>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2011566815"/>
              </p:ext>
            </p:extLst>
          </p:nvPr>
        </p:nvGraphicFramePr>
        <p:xfrm>
          <a:off x="324000" y="4587120"/>
          <a:ext cx="3456000" cy="237744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1621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162100">
                <a:tc rowSpan="9">
                  <a:txBody>
                    <a:bodyPr/>
                    <a:lstStyle/>
                    <a:p>
                      <a:pPr algn="ctr">
                        <a:defRPr sz="800" b="1">
                          <a:solidFill>
                            <a:srgbClr val="000000"/>
                          </a:solidFill>
                          <a:latin typeface="Montserrat"/>
                        </a:defRPr>
                      </a:pPr>
                      <a:r>
                        <a:t>Hospital General de Zona C/MF 7</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51615">
                <a:tc vMerge="1">
                  <a:txBody>
                    <a:bodyPr/>
                    <a:lstStyle/>
                    <a:p>
                      <a:endParaRPr/>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1621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3"/>
                  </a:ext>
                </a:extLst>
              </a:tr>
              <a:tr h="1621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4"/>
                  </a:ext>
                </a:extLst>
              </a:tr>
              <a:tr h="1621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extLst>
                  <a:ext uri="{0D108BD9-81ED-4DB2-BD59-A6C34878D82A}">
                    <a16:rowId xmlns:a16="http://schemas.microsoft.com/office/drawing/2014/main" val="10005"/>
                  </a:ext>
                </a:extLst>
              </a:tr>
              <a:tr h="251615">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6"/>
                  </a:ext>
                </a:extLst>
              </a:tr>
              <a:tr h="162100">
                <a:tc vMerge="1">
                  <a:txBody>
                    <a:bodyPr/>
                    <a:lstStyle/>
                    <a:p>
                      <a:endParaRPr/>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7"/>
                  </a:ext>
                </a:extLst>
              </a:tr>
              <a:tr h="162100">
                <a:tc vMerge="1">
                  <a:txBody>
                    <a:bodyPr/>
                    <a:lstStyle/>
                    <a:p>
                      <a:endParaRPr/>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8"/>
                  </a:ext>
                </a:extLst>
              </a:tr>
              <a:tr h="1621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14</a:t>
                      </a:r>
                    </a:p>
                  </a:txBody>
                  <a:tcPr>
                    <a:solidFill>
                      <a:srgbClr val="D3E9E7"/>
                    </a:solidFill>
                  </a:tcPr>
                </a:tc>
                <a:extLst>
                  <a:ext uri="{0D108BD9-81ED-4DB2-BD59-A6C34878D82A}">
                    <a16:rowId xmlns:a16="http://schemas.microsoft.com/office/drawing/2014/main" val="10009"/>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2992362598"/>
              </p:ext>
            </p:extLst>
          </p:nvPr>
        </p:nvGraphicFramePr>
        <p:xfrm>
          <a:off x="324000" y="6964560"/>
          <a:ext cx="3456000" cy="2160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9">
                  <a:txBody>
                    <a:bodyPr/>
                    <a:lstStyle/>
                    <a:p>
                      <a:pPr algn="ctr">
                        <a:defRPr sz="800" b="1">
                          <a:solidFill>
                            <a:srgbClr val="000000"/>
                          </a:solidFill>
                          <a:latin typeface="Montserrat"/>
                        </a:defRPr>
                      </a:pPr>
                      <a:r>
                        <a:t>Hospital Rural Matamoros</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7</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rPr err="1"/>
                        <a:t>Pediatría</a:t>
                      </a:r>
                      <a:endParaRP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extLst>
                  <a:ext uri="{0D108BD9-81ED-4DB2-BD59-A6C34878D82A}">
                    <a16:rowId xmlns:a16="http://schemas.microsoft.com/office/drawing/2014/main" val="10008"/>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34</a:t>
                      </a:r>
                    </a:p>
                  </a:txBody>
                  <a:tcPr>
                    <a:solidFill>
                      <a:srgbClr val="D3E9E7"/>
                    </a:solidFill>
                  </a:tcPr>
                </a:tc>
                <a:extLst>
                  <a:ext uri="{0D108BD9-81ED-4DB2-BD59-A6C34878D82A}">
                    <a16:rowId xmlns:a16="http://schemas.microsoft.com/office/drawing/2014/main" val="10009"/>
                  </a:ext>
                </a:extLst>
              </a:tr>
            </a:tbl>
          </a:graphicData>
        </a:graphic>
      </p:graphicFrame>
      <p:graphicFrame>
        <p:nvGraphicFramePr>
          <p:cNvPr id="13" name="Table 6">
            <a:extLst>
              <a:ext uri="{FF2B5EF4-FFF2-40B4-BE49-F238E27FC236}">
                <a16:creationId xmlns:a16="http://schemas.microsoft.com/office/drawing/2014/main" id="{CB54143C-F53F-C8B6-32E5-EC8AD8308EB1}"/>
              </a:ext>
            </a:extLst>
          </p:cNvPr>
          <p:cNvGraphicFramePr>
            <a:graphicFrameLocks noGrp="1"/>
          </p:cNvGraphicFramePr>
          <p:nvPr>
            <p:extLst>
              <p:ext uri="{D42A27DB-BD31-4B8C-83A1-F6EECF244321}">
                <p14:modId xmlns:p14="http://schemas.microsoft.com/office/powerpoint/2010/main" val="3926116687"/>
              </p:ext>
            </p:extLst>
          </p:nvPr>
        </p:nvGraphicFramePr>
        <p:xfrm>
          <a:off x="3976696" y="5576087"/>
          <a:ext cx="3636000" cy="1920240"/>
        </p:xfrm>
        <a:graphic>
          <a:graphicData uri="http://schemas.openxmlformats.org/drawingml/2006/table">
            <a:tbl>
              <a:tblPr firstRow="1" bandRow="1">
                <a:tableStyleId>{5C22544A-7EE6-4342-B048-85BDC9FD1C3A}</a:tableStyleId>
              </a:tblPr>
              <a:tblGrid>
                <a:gridCol w="996112">
                  <a:extLst>
                    <a:ext uri="{9D8B030D-6E8A-4147-A177-3AD203B41FA5}">
                      <a16:colId xmlns:a16="http://schemas.microsoft.com/office/drawing/2014/main" val="20000"/>
                    </a:ext>
                  </a:extLst>
                </a:gridCol>
                <a:gridCol w="1969500">
                  <a:extLst>
                    <a:ext uri="{9D8B030D-6E8A-4147-A177-3AD203B41FA5}">
                      <a16:colId xmlns:a16="http://schemas.microsoft.com/office/drawing/2014/main" val="20001"/>
                    </a:ext>
                  </a:extLst>
                </a:gridCol>
                <a:gridCol w="670388">
                  <a:extLst>
                    <a:ext uri="{9D8B030D-6E8A-4147-A177-3AD203B41FA5}">
                      <a16:colId xmlns:a16="http://schemas.microsoft.com/office/drawing/2014/main" val="20002"/>
                    </a:ext>
                  </a:extLst>
                </a:gridCol>
              </a:tblGrid>
              <a:tr h="20109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01090">
                <a:tc rowSpan="8">
                  <a:txBody>
                    <a:bodyPr/>
                    <a:lstStyle/>
                    <a:p>
                      <a:pPr algn="ctr">
                        <a:defRPr sz="800" b="1">
                          <a:solidFill>
                            <a:srgbClr val="000000"/>
                          </a:solidFill>
                          <a:latin typeface="Montserrat"/>
                        </a:defRPr>
                      </a:pPr>
                      <a:r>
                        <a:t>Hospital Rural Ramos Arizpe</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extLst>
                  <a:ext uri="{0D108BD9-81ED-4DB2-BD59-A6C34878D82A}">
                    <a16:rowId xmlns:a16="http://schemas.microsoft.com/office/drawing/2014/main" val="10001"/>
                  </a:ext>
                </a:extLst>
              </a:tr>
              <a:tr h="201090">
                <a:tc vMerge="1">
                  <a:txBody>
                    <a:bodyPr/>
                    <a:lstStyle/>
                    <a:p>
                      <a:endParaRPr/>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extLst>
                  <a:ext uri="{0D108BD9-81ED-4DB2-BD59-A6C34878D82A}">
                    <a16:rowId xmlns:a16="http://schemas.microsoft.com/office/drawing/2014/main" val="10002"/>
                  </a:ext>
                </a:extLst>
              </a:tr>
              <a:tr h="201090">
                <a:tc vMerge="1">
                  <a:txBody>
                    <a:bodyPr/>
                    <a:lstStyle/>
                    <a:p>
                      <a:endParaRPr/>
                    </a:p>
                  </a:txBody>
                  <a:tcPr>
                    <a:solidFill>
                      <a:srgbClr val="FFFFFF"/>
                    </a:solidFill>
                  </a:tcPr>
                </a:tc>
                <a:tc>
                  <a:txBody>
                    <a:bodyPr/>
                    <a:lstStyle/>
                    <a:p>
                      <a:pPr algn="ctr">
                        <a:defRPr sz="800" b="0">
                          <a:solidFill>
                            <a:srgbClr val="000000"/>
                          </a:solidFill>
                          <a:latin typeface="Montserrat"/>
                        </a:defRPr>
                      </a:pPr>
                      <a:r>
                        <a:rPr err="1"/>
                        <a:t>Ginecología</a:t>
                      </a:r>
                      <a:r>
                        <a:t> y </a:t>
                      </a:r>
                      <a:r>
                        <a:rPr err="1"/>
                        <a:t>Obstetricia</a:t>
                      </a:r>
                      <a:endParaRPr/>
                    </a:p>
                  </a:txBody>
                  <a:tcPr>
                    <a:solidFill>
                      <a:srgbClr val="FFFFFF"/>
                    </a:solidFill>
                  </a:tcPr>
                </a:tc>
                <a:tc>
                  <a:txBody>
                    <a:bodyPr/>
                    <a:lstStyle/>
                    <a:p>
                      <a:pPr algn="ctr">
                        <a:defRPr sz="800" b="0">
                          <a:solidFill>
                            <a:srgbClr val="000000"/>
                          </a:solidFill>
                          <a:latin typeface="Montserrat"/>
                        </a:defRPr>
                      </a:pPr>
                      <a:r>
                        <a:t>9</a:t>
                      </a:r>
                    </a:p>
                  </a:txBody>
                  <a:tcPr>
                    <a:solidFill>
                      <a:srgbClr val="FFFFFF"/>
                    </a:solidFill>
                  </a:tcPr>
                </a:tc>
                <a:extLst>
                  <a:ext uri="{0D108BD9-81ED-4DB2-BD59-A6C34878D82A}">
                    <a16:rowId xmlns:a16="http://schemas.microsoft.com/office/drawing/2014/main" val="10003"/>
                  </a:ext>
                </a:extLst>
              </a:tr>
              <a:tr h="20109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4"/>
                  </a:ext>
                </a:extLst>
              </a:tr>
              <a:tr h="20109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a:t>
                      </a:r>
                      <a:r>
                        <a:rPr err="1"/>
                        <a:t>Urgencias</a:t>
                      </a:r>
                      <a:endParaRP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extLst>
                  <a:ext uri="{0D108BD9-81ED-4DB2-BD59-A6C34878D82A}">
                    <a16:rowId xmlns:a16="http://schemas.microsoft.com/office/drawing/2014/main" val="10005"/>
                  </a:ext>
                </a:extLst>
              </a:tr>
              <a:tr h="201090">
                <a:tc vMerge="1">
                  <a:txBody>
                    <a:bodyPr/>
                    <a:lstStyle/>
                    <a:p>
                      <a:endParaRPr/>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6"/>
                  </a:ext>
                </a:extLst>
              </a:tr>
              <a:tr h="201090">
                <a:tc vMerge="1">
                  <a:txBody>
                    <a:bodyPr/>
                    <a:lstStyle/>
                    <a:p>
                      <a:endParaRPr/>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7"/>
                  </a:ext>
                </a:extLst>
              </a:tr>
              <a:tr h="20109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30</a:t>
                      </a:r>
                    </a:p>
                  </a:txBody>
                  <a:tcPr>
                    <a:solidFill>
                      <a:srgbClr val="D3E9E7"/>
                    </a:solidFill>
                  </a:tcPr>
                </a:tc>
                <a:extLst>
                  <a:ext uri="{0D108BD9-81ED-4DB2-BD59-A6C34878D82A}">
                    <a16:rowId xmlns:a16="http://schemas.microsoft.com/office/drawing/2014/main" val="10008"/>
                  </a:ext>
                </a:extLst>
              </a:tr>
            </a:tbl>
          </a:graphicData>
        </a:graphic>
      </p:graphicFrame>
      <p:graphicFrame>
        <p:nvGraphicFramePr>
          <p:cNvPr id="14" name="Table 8"/>
          <p:cNvGraphicFramePr>
            <a:graphicFrameLocks noGrp="1"/>
          </p:cNvGraphicFramePr>
          <p:nvPr>
            <p:extLst>
              <p:ext uri="{D42A27DB-BD31-4B8C-83A1-F6EECF244321}">
                <p14:modId xmlns:p14="http://schemas.microsoft.com/office/powerpoint/2010/main" val="449214406"/>
              </p:ext>
            </p:extLst>
          </p:nvPr>
        </p:nvGraphicFramePr>
        <p:xfrm>
          <a:off x="4010856" y="7496327"/>
          <a:ext cx="3585144" cy="1927563"/>
        </p:xfrm>
        <a:graphic>
          <a:graphicData uri="http://schemas.openxmlformats.org/drawingml/2006/table">
            <a:tbl>
              <a:tblPr firstRow="1" bandRow="1">
                <a:tableStyleId>{5C22544A-7EE6-4342-B048-85BDC9FD1C3A}</a:tableStyleId>
              </a:tblPr>
              <a:tblGrid>
                <a:gridCol w="982180">
                  <a:extLst>
                    <a:ext uri="{9D8B030D-6E8A-4147-A177-3AD203B41FA5}">
                      <a16:colId xmlns:a16="http://schemas.microsoft.com/office/drawing/2014/main" val="20000"/>
                    </a:ext>
                  </a:extLst>
                </a:gridCol>
                <a:gridCol w="1941953">
                  <a:extLst>
                    <a:ext uri="{9D8B030D-6E8A-4147-A177-3AD203B41FA5}">
                      <a16:colId xmlns:a16="http://schemas.microsoft.com/office/drawing/2014/main" val="20001"/>
                    </a:ext>
                  </a:extLst>
                </a:gridCol>
                <a:gridCol w="661011">
                  <a:extLst>
                    <a:ext uri="{9D8B030D-6E8A-4147-A177-3AD203B41FA5}">
                      <a16:colId xmlns:a16="http://schemas.microsoft.com/office/drawing/2014/main" val="20002"/>
                    </a:ext>
                  </a:extLst>
                </a:gridCol>
              </a:tblGrid>
              <a:tr h="212393">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2393">
                <a:tc rowSpan="7">
                  <a:txBody>
                    <a:bodyPr/>
                    <a:lstStyle/>
                    <a:p>
                      <a:pPr algn="ctr">
                        <a:defRPr sz="800" b="1">
                          <a:solidFill>
                            <a:srgbClr val="000000"/>
                          </a:solidFill>
                          <a:latin typeface="Montserrat"/>
                        </a:defRPr>
                      </a:pPr>
                      <a:r>
                        <a:t>Hospital de Especialidades 71</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extLst>
                  <a:ext uri="{0D108BD9-81ED-4DB2-BD59-A6C34878D82A}">
                    <a16:rowId xmlns:a16="http://schemas.microsoft.com/office/drawing/2014/main" val="10001"/>
                  </a:ext>
                </a:extLst>
              </a:tr>
              <a:tr h="212393">
                <a:tc vMerge="1">
                  <a:txBody>
                    <a:bodyPr/>
                    <a:lstStyle/>
                    <a:p>
                      <a:endParaRPr/>
                    </a:p>
                  </a:txBody>
                  <a:tcPr>
                    <a:solidFill>
                      <a:srgbClr val="F0F0F0"/>
                    </a:solidFill>
                  </a:tcPr>
                </a:tc>
                <a:tc>
                  <a:txBody>
                    <a:bodyPr/>
                    <a:lstStyle/>
                    <a:p>
                      <a:pPr algn="ctr">
                        <a:defRPr sz="800" b="0">
                          <a:solidFill>
                            <a:srgbClr val="000000"/>
                          </a:solidFill>
                          <a:latin typeface="Montserrat"/>
                        </a:defRPr>
                      </a:pPr>
                      <a:r>
                        <a:t>Cirugía Plástica y Reconstructiva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2393">
                <a:tc vMerge="1">
                  <a:txBody>
                    <a:bodyPr/>
                    <a:lstStyle/>
                    <a:p>
                      <a:endParaRPr/>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33376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Nuclear e Imagenología Molecular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4"/>
                  </a:ext>
                </a:extLst>
              </a:tr>
              <a:tr h="212393">
                <a:tc vMerge="1">
                  <a:txBody>
                    <a:bodyPr/>
                    <a:lstStyle/>
                    <a:p>
                      <a:endParaRPr/>
                    </a:p>
                  </a:txBody>
                  <a:tcPr>
                    <a:solidFill>
                      <a:srgbClr val="FFFFFF"/>
                    </a:solidFill>
                  </a:tcPr>
                </a:tc>
                <a:tc>
                  <a:txBody>
                    <a:bodyPr/>
                    <a:lstStyle/>
                    <a:p>
                      <a:pPr algn="ctr">
                        <a:defRPr sz="800" b="0">
                          <a:solidFill>
                            <a:srgbClr val="000000"/>
                          </a:solidFill>
                          <a:latin typeface="Montserrat"/>
                        </a:defRPr>
                      </a:pPr>
                      <a:r>
                        <a:rPr err="1"/>
                        <a:t>Servicios</a:t>
                      </a:r>
                      <a:r>
                        <a:t> de Sangre</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5"/>
                  </a:ext>
                </a:extLst>
              </a:tr>
              <a:tr h="312123">
                <a:tc vMerge="1">
                  <a:txBody>
                    <a:bodyPr/>
                    <a:lstStyle/>
                    <a:p>
                      <a:endParaRPr/>
                    </a:p>
                  </a:txBody>
                  <a:tcPr>
                    <a:solidFill>
                      <a:srgbClr val="F0F0F0"/>
                    </a:solidFill>
                  </a:tcPr>
                </a:tc>
                <a:tc>
                  <a:txBody>
                    <a:bodyPr/>
                    <a:lstStyle/>
                    <a:p>
                      <a:pPr algn="ctr">
                        <a:defRPr sz="800" b="0">
                          <a:solidFill>
                            <a:srgbClr val="000000"/>
                          </a:solidFill>
                          <a:latin typeface="Montserrat"/>
                        </a:defRPr>
                      </a:pPr>
                      <a:r>
                        <a:rPr err="1"/>
                        <a:t>Terapia</a:t>
                      </a:r>
                      <a:r>
                        <a:t> Endovascular </a:t>
                      </a:r>
                      <a:r>
                        <a:rPr err="1"/>
                        <a:t>Neurológica</a:t>
                      </a:r>
                      <a:endParaRPr/>
                    </a:p>
                  </a:txBody>
                  <a:tcPr>
                    <a:solidFill>
                      <a:srgbClr val="F0F0F0"/>
                    </a:solidFill>
                  </a:tcPr>
                </a:tc>
                <a:tc>
                  <a:txBody>
                    <a:bodyPr/>
                    <a:lstStyle/>
                    <a:p>
                      <a:pPr algn="ctr">
                        <a:defRPr sz="800" b="0">
                          <a:solidFill>
                            <a:srgbClr val="000000"/>
                          </a:solidFill>
                          <a:latin typeface="Montserrat"/>
                        </a:defRPr>
                      </a:pPr>
                      <a:r>
                        <a:rPr lang="es-MX"/>
                        <a:t>2</a:t>
                      </a:r>
                      <a:endParaRPr/>
                    </a:p>
                  </a:txBody>
                  <a:tcPr>
                    <a:solidFill>
                      <a:srgbClr val="F0F0F0"/>
                    </a:solidFill>
                  </a:tcPr>
                </a:tc>
                <a:extLst>
                  <a:ext uri="{0D108BD9-81ED-4DB2-BD59-A6C34878D82A}">
                    <a16:rowId xmlns:a16="http://schemas.microsoft.com/office/drawing/2014/main" val="10006"/>
                  </a:ext>
                </a:extLst>
              </a:tr>
              <a:tr h="212393">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r>
                        <a:rPr lang="es-MX"/>
                        <a:t>3</a:t>
                      </a:r>
                      <a:endParaRPr/>
                    </a:p>
                  </a:txBody>
                  <a:tcPr>
                    <a:solidFill>
                      <a:srgbClr val="D3E9E7"/>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437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5" name="TextBox 4"/>
          <p:cNvSpPr txBox="1"/>
          <p:nvPr/>
        </p:nvSpPr>
        <p:spPr>
          <a:xfrm>
            <a:off x="360000" y="1081545"/>
            <a:ext cx="3618298" cy="400110"/>
          </a:xfrm>
          <a:prstGeom prst="rect">
            <a:avLst/>
          </a:prstGeom>
          <a:noFill/>
        </p:spPr>
        <p:txBody>
          <a:bodyPr wrap="none" anchor="ctr">
            <a:spAutoFit/>
          </a:bodyPr>
          <a:lstStyle/>
          <a:p>
            <a:pPr>
              <a:defRPr sz="2000" b="1">
                <a:solidFill>
                  <a:srgbClr val="BC955C"/>
                </a:solidFill>
                <a:latin typeface="Montserrat"/>
              </a:defRPr>
            </a:pPr>
            <a:r>
              <a:t>208 en </a:t>
            </a:r>
            <a:r>
              <a:rPr err="1"/>
              <a:t>Hospitales</a:t>
            </a:r>
            <a:r>
              <a:t> </a:t>
            </a:r>
            <a:r>
              <a:rPr lang="es-MX"/>
              <a:t>(3 de 5)</a:t>
            </a:r>
            <a:endParaRP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extLst>
              <p:ext uri="{D42A27DB-BD31-4B8C-83A1-F6EECF244321}">
                <p14:modId xmlns:p14="http://schemas.microsoft.com/office/powerpoint/2010/main" val="431301188"/>
              </p:ext>
            </p:extLst>
          </p:nvPr>
        </p:nvGraphicFramePr>
        <p:xfrm>
          <a:off x="2232000" y="1547330"/>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Hospital Rural San Buenaventura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466200" y="2823959"/>
            <a:ext cx="6840000" cy="360000"/>
          </a:xfrm>
          <a:prstGeom prst="rect">
            <a:avLst/>
          </a:prstGeom>
          <a:noFill/>
        </p:spPr>
        <p:txBody>
          <a:bodyPr wrap="none" anchor="ctr">
            <a:spAutoFit/>
          </a:bodyPr>
          <a:lstStyle/>
          <a:p>
            <a:pPr algn="l">
              <a:defRPr sz="2000" b="1">
                <a:solidFill>
                  <a:srgbClr val="BC955C"/>
                </a:solidFill>
                <a:latin typeface="Montserrat"/>
              </a:defRPr>
            </a:pPr>
            <a:r>
              <a:t>2 </a:t>
            </a:r>
            <a:r>
              <a:rPr err="1"/>
              <a:t>Sede</a:t>
            </a:r>
            <a:r>
              <a:t> </a:t>
            </a:r>
            <a:r>
              <a:rPr err="1"/>
              <a:t>delegacional</a:t>
            </a:r>
            <a:endParaRPr/>
          </a:p>
        </p:txBody>
      </p:sp>
      <p:cxnSp>
        <p:nvCxnSpPr>
          <p:cNvPr id="12" name="Connector 11"/>
          <p:cNvCxnSpPr/>
          <p:nvPr/>
        </p:nvCxnSpPr>
        <p:spPr>
          <a:xfrm>
            <a:off x="396000" y="318685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extLst>
              <p:ext uri="{D42A27DB-BD31-4B8C-83A1-F6EECF244321}">
                <p14:modId xmlns:p14="http://schemas.microsoft.com/office/powerpoint/2010/main" val="702202218"/>
              </p:ext>
            </p:extLst>
          </p:nvPr>
        </p:nvGraphicFramePr>
        <p:xfrm>
          <a:off x="1847606" y="3283579"/>
          <a:ext cx="3456000" cy="6479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Sede Delegación</a:t>
                      </a:r>
                    </a:p>
                  </a:txBody>
                  <a:tcPr anchor="ctr">
                    <a:noFill/>
                  </a:tcPr>
                </a:tc>
                <a:tc>
                  <a:txBody>
                    <a:bodyPr/>
                    <a:lstStyle/>
                    <a:p>
                      <a:pPr algn="ctr">
                        <a:defRPr sz="800" b="0">
                          <a:solidFill>
                            <a:srgbClr val="000000"/>
                          </a:solidFill>
                          <a:latin typeface="Montserrat"/>
                        </a:defRPr>
                      </a:pPr>
                      <a:r>
                        <a:t>Medicina de </a:t>
                      </a:r>
                      <a:r>
                        <a:rPr err="1"/>
                        <a:t>Urgencias</a:t>
                      </a:r>
                      <a:endParaRP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4" name="Table 5"/>
          <p:cNvGraphicFramePr>
            <a:graphicFrameLocks noGrp="1"/>
          </p:cNvGraphicFramePr>
          <p:nvPr>
            <p:extLst>
              <p:ext uri="{D42A27DB-BD31-4B8C-83A1-F6EECF244321}">
                <p14:modId xmlns:p14="http://schemas.microsoft.com/office/powerpoint/2010/main" val="3060882038"/>
              </p:ext>
            </p:extLst>
          </p:nvPr>
        </p:nvGraphicFramePr>
        <p:xfrm>
          <a:off x="240421" y="5029200"/>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Puesto de Fábrica 72 UMF 61</a:t>
                      </a:r>
                    </a:p>
                  </a:txBody>
                  <a:tcPr anchor="ctr">
                    <a:noFill/>
                  </a:tcPr>
                </a:tc>
                <a:tc>
                  <a:txBody>
                    <a:bodyPr/>
                    <a:lstStyle/>
                    <a:p>
                      <a:pPr algn="ctr">
                        <a:defRPr sz="800" b="0">
                          <a:solidFill>
                            <a:srgbClr val="000000"/>
                          </a:solidFill>
                          <a:latin typeface="Montserrat"/>
                        </a:defRPr>
                      </a:pPr>
                      <a:r>
                        <a:t>Medicina de </a:t>
                      </a:r>
                      <a:r>
                        <a:rPr err="1"/>
                        <a:t>Urgencias</a:t>
                      </a:r>
                      <a:endParaRP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5" name="Table 6"/>
          <p:cNvGraphicFramePr>
            <a:graphicFrameLocks noGrp="1"/>
          </p:cNvGraphicFramePr>
          <p:nvPr>
            <p:extLst>
              <p:ext uri="{D42A27DB-BD31-4B8C-83A1-F6EECF244321}">
                <p14:modId xmlns:p14="http://schemas.microsoft.com/office/powerpoint/2010/main" val="203316003"/>
              </p:ext>
            </p:extLst>
          </p:nvPr>
        </p:nvGraphicFramePr>
        <p:xfrm>
          <a:off x="3960000" y="5002999"/>
          <a:ext cx="3456000" cy="86136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0997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12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extLst>
                  <a:ext uri="{0D108BD9-81ED-4DB2-BD59-A6C34878D82A}">
                    <a16:rowId xmlns:a16="http://schemas.microsoft.com/office/drawing/2014/main" val="10003"/>
                  </a:ext>
                </a:extLst>
              </a:tr>
            </a:tbl>
          </a:graphicData>
        </a:graphic>
      </p:graphicFrame>
      <p:graphicFrame>
        <p:nvGraphicFramePr>
          <p:cNvPr id="16" name="Table 7"/>
          <p:cNvGraphicFramePr>
            <a:graphicFrameLocks noGrp="1"/>
          </p:cNvGraphicFramePr>
          <p:nvPr>
            <p:extLst>
              <p:ext uri="{D42A27DB-BD31-4B8C-83A1-F6EECF244321}">
                <p14:modId xmlns:p14="http://schemas.microsoft.com/office/powerpoint/2010/main" val="222088383"/>
              </p:ext>
            </p:extLst>
          </p:nvPr>
        </p:nvGraphicFramePr>
        <p:xfrm>
          <a:off x="253800" y="5730780"/>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14</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7" name="Table 8"/>
          <p:cNvGraphicFramePr>
            <a:graphicFrameLocks noGrp="1"/>
          </p:cNvGraphicFramePr>
          <p:nvPr>
            <p:extLst>
              <p:ext uri="{D42A27DB-BD31-4B8C-83A1-F6EECF244321}">
                <p14:modId xmlns:p14="http://schemas.microsoft.com/office/powerpoint/2010/main" val="2680594895"/>
              </p:ext>
            </p:extLst>
          </p:nvPr>
        </p:nvGraphicFramePr>
        <p:xfrm>
          <a:off x="3960000" y="5864359"/>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23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extLst>
                  <a:ext uri="{0D108BD9-81ED-4DB2-BD59-A6C34878D82A}">
                    <a16:rowId xmlns:a16="http://schemas.microsoft.com/office/drawing/2014/main" val="10003"/>
                  </a:ext>
                </a:extLst>
              </a:tr>
            </a:tbl>
          </a:graphicData>
        </a:graphic>
      </p:graphicFrame>
      <p:graphicFrame>
        <p:nvGraphicFramePr>
          <p:cNvPr id="18" name="Table 9"/>
          <p:cNvGraphicFramePr>
            <a:graphicFrameLocks noGrp="1"/>
          </p:cNvGraphicFramePr>
          <p:nvPr>
            <p:extLst>
              <p:ext uri="{D42A27DB-BD31-4B8C-83A1-F6EECF244321}">
                <p14:modId xmlns:p14="http://schemas.microsoft.com/office/powerpoint/2010/main" val="458152086"/>
              </p:ext>
            </p:extLst>
          </p:nvPr>
        </p:nvGraphicFramePr>
        <p:xfrm>
          <a:off x="260436" y="6443952"/>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25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9" name="Table 10"/>
          <p:cNvGraphicFramePr>
            <a:graphicFrameLocks noGrp="1"/>
          </p:cNvGraphicFramePr>
          <p:nvPr>
            <p:extLst>
              <p:ext uri="{D42A27DB-BD31-4B8C-83A1-F6EECF244321}">
                <p14:modId xmlns:p14="http://schemas.microsoft.com/office/powerpoint/2010/main" val="2646678876"/>
              </p:ext>
            </p:extLst>
          </p:nvPr>
        </p:nvGraphicFramePr>
        <p:xfrm>
          <a:off x="3973648" y="6753560"/>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20" name="Table 11"/>
          <p:cNvGraphicFramePr>
            <a:graphicFrameLocks noGrp="1"/>
          </p:cNvGraphicFramePr>
          <p:nvPr>
            <p:extLst>
              <p:ext uri="{D42A27DB-BD31-4B8C-83A1-F6EECF244321}">
                <p14:modId xmlns:p14="http://schemas.microsoft.com/office/powerpoint/2010/main" val="830505691"/>
              </p:ext>
            </p:extLst>
          </p:nvPr>
        </p:nvGraphicFramePr>
        <p:xfrm>
          <a:off x="260436" y="7157124"/>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31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21" name="Table 12"/>
          <p:cNvGraphicFramePr>
            <a:graphicFrameLocks noGrp="1"/>
          </p:cNvGraphicFramePr>
          <p:nvPr>
            <p:extLst>
              <p:ext uri="{D42A27DB-BD31-4B8C-83A1-F6EECF244321}">
                <p14:modId xmlns:p14="http://schemas.microsoft.com/office/powerpoint/2010/main" val="1555753866"/>
              </p:ext>
            </p:extLst>
          </p:nvPr>
        </p:nvGraphicFramePr>
        <p:xfrm>
          <a:off x="3992669" y="7449865"/>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4</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22" name="Table 13"/>
          <p:cNvGraphicFramePr>
            <a:graphicFrameLocks noGrp="1"/>
          </p:cNvGraphicFramePr>
          <p:nvPr>
            <p:extLst>
              <p:ext uri="{D42A27DB-BD31-4B8C-83A1-F6EECF244321}">
                <p14:modId xmlns:p14="http://schemas.microsoft.com/office/powerpoint/2010/main" val="1528124638"/>
              </p:ext>
            </p:extLst>
          </p:nvPr>
        </p:nvGraphicFramePr>
        <p:xfrm>
          <a:off x="260436" y="7870296"/>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50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23" name="Table 14"/>
          <p:cNvGraphicFramePr>
            <a:graphicFrameLocks noGrp="1"/>
          </p:cNvGraphicFramePr>
          <p:nvPr>
            <p:extLst>
              <p:ext uri="{D42A27DB-BD31-4B8C-83A1-F6EECF244321}">
                <p14:modId xmlns:p14="http://schemas.microsoft.com/office/powerpoint/2010/main" val="2893217769"/>
              </p:ext>
            </p:extLst>
          </p:nvPr>
        </p:nvGraphicFramePr>
        <p:xfrm>
          <a:off x="3973648" y="8140211"/>
          <a:ext cx="3456000" cy="983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60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extLst>
                  <a:ext uri="{0D108BD9-81ED-4DB2-BD59-A6C34878D82A}">
                    <a16:rowId xmlns:a16="http://schemas.microsoft.com/office/drawing/2014/main" val="10003"/>
                  </a:ext>
                </a:extLst>
              </a:tr>
            </a:tbl>
          </a:graphicData>
        </a:graphic>
      </p:graphicFrame>
      <p:sp>
        <p:nvSpPr>
          <p:cNvPr id="24" name="TextBox 2"/>
          <p:cNvSpPr txBox="1"/>
          <p:nvPr/>
        </p:nvSpPr>
        <p:spPr>
          <a:xfrm>
            <a:off x="-106200" y="4069797"/>
            <a:ext cx="7772400" cy="309600"/>
          </a:xfrm>
          <a:prstGeom prst="rect">
            <a:avLst/>
          </a:prstGeom>
          <a:noFill/>
        </p:spPr>
        <p:txBody>
          <a:bodyPr wrap="none">
            <a:spAutoFit/>
          </a:bodyPr>
          <a:lstStyle/>
          <a:p>
            <a:pPr algn="ctr">
              <a:defRPr sz="2000" b="1">
                <a:solidFill>
                  <a:srgbClr val="9F2241"/>
                </a:solidFill>
                <a:latin typeface="Montserrat"/>
              </a:defRPr>
            </a:pPr>
            <a:r>
              <a:t>437 total especialistas </a:t>
            </a:r>
            <a:r>
              <a:rPr err="1"/>
              <a:t>contratados</a:t>
            </a:r>
            <a:r>
              <a:t> en el draft 2026</a:t>
            </a:r>
          </a:p>
        </p:txBody>
      </p:sp>
      <p:sp>
        <p:nvSpPr>
          <p:cNvPr id="25" name="TextBox 3"/>
          <p:cNvSpPr txBox="1"/>
          <p:nvPr/>
        </p:nvSpPr>
        <p:spPr>
          <a:xfrm>
            <a:off x="253800" y="4487397"/>
            <a:ext cx="6840000" cy="360000"/>
          </a:xfrm>
          <a:prstGeom prst="rect">
            <a:avLst/>
          </a:prstGeom>
          <a:noFill/>
        </p:spPr>
        <p:txBody>
          <a:bodyPr wrap="none" anchor="ctr">
            <a:spAutoFit/>
          </a:bodyPr>
          <a:lstStyle/>
          <a:p>
            <a:pPr algn="l">
              <a:defRPr sz="2000" b="1">
                <a:solidFill>
                  <a:srgbClr val="BC955C"/>
                </a:solidFill>
                <a:latin typeface="Montserrat"/>
              </a:defRPr>
            </a:pPr>
            <a:r>
              <a:t>113 en Unidades de Medicina Familiar</a:t>
            </a:r>
          </a:p>
        </p:txBody>
      </p:sp>
      <p:cxnSp>
        <p:nvCxnSpPr>
          <p:cNvPr id="26" name="Connector 4"/>
          <p:cNvCxnSpPr/>
          <p:nvPr/>
        </p:nvCxnSpPr>
        <p:spPr>
          <a:xfrm>
            <a:off x="253800" y="4883397"/>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27" name="Table 15"/>
          <p:cNvGraphicFramePr>
            <a:graphicFrameLocks noGrp="1"/>
          </p:cNvGraphicFramePr>
          <p:nvPr>
            <p:extLst>
              <p:ext uri="{D42A27DB-BD31-4B8C-83A1-F6EECF244321}">
                <p14:modId xmlns:p14="http://schemas.microsoft.com/office/powerpoint/2010/main" val="2650137125"/>
              </p:ext>
            </p:extLst>
          </p:nvPr>
        </p:nvGraphicFramePr>
        <p:xfrm>
          <a:off x="253800" y="8583468"/>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62</a:t>
                      </a:r>
                    </a:p>
                  </a:txBody>
                  <a:tcPr anchor="ctr">
                    <a:noFill/>
                  </a:tcPr>
                </a:tc>
                <a:tc>
                  <a:txBody>
                    <a:bodyPr/>
                    <a:lstStyle/>
                    <a:p>
                      <a:pPr algn="ctr">
                        <a:defRPr sz="800" b="0">
                          <a:solidFill>
                            <a:srgbClr val="000000"/>
                          </a:solidFill>
                          <a:latin typeface="Montserrat"/>
                        </a:defRPr>
                      </a:pPr>
                      <a:r>
                        <a:t>Medicina de </a:t>
                      </a:r>
                      <a:r>
                        <a:rPr err="1"/>
                        <a:t>Urgencias</a:t>
                      </a:r>
                      <a:endParaRP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106200" y="717270"/>
            <a:ext cx="7772400" cy="309600"/>
          </a:xfrm>
          <a:prstGeom prst="rect">
            <a:avLst/>
          </a:prstGeom>
          <a:noFill/>
        </p:spPr>
        <p:txBody>
          <a:bodyPr wrap="none">
            <a:spAutoFit/>
          </a:bodyPr>
          <a:lstStyle/>
          <a:p>
            <a:pPr algn="ctr">
              <a:defRPr sz="2000" b="1">
                <a:solidFill>
                  <a:srgbClr val="9F2241"/>
                </a:solidFill>
                <a:latin typeface="Montserrat"/>
              </a:defRPr>
            </a:pPr>
            <a:r>
              <a:t>437 total especialistas </a:t>
            </a:r>
            <a:r>
              <a:rPr err="1"/>
              <a:t>contratados</a:t>
            </a:r>
            <a:r>
              <a:t>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5" name="TextBox 4"/>
          <p:cNvSpPr txBox="1"/>
          <p:nvPr/>
        </p:nvSpPr>
        <p:spPr>
          <a:xfrm>
            <a:off x="360000" y="1138653"/>
            <a:ext cx="6236003" cy="400110"/>
          </a:xfrm>
          <a:prstGeom prst="rect">
            <a:avLst/>
          </a:prstGeom>
          <a:noFill/>
        </p:spPr>
        <p:txBody>
          <a:bodyPr wrap="none" anchor="ctr">
            <a:spAutoFit/>
          </a:bodyPr>
          <a:lstStyle/>
          <a:p>
            <a:pPr>
              <a:defRPr sz="2000" b="1">
                <a:solidFill>
                  <a:srgbClr val="BC955C"/>
                </a:solidFill>
                <a:latin typeface="Montserrat"/>
              </a:defRPr>
            </a:pPr>
            <a:r>
              <a:t>113 en Unidades de Medicina Familiar </a:t>
            </a:r>
            <a:r>
              <a:rPr lang="es-MX"/>
              <a:t>(4 de 5)</a:t>
            </a:r>
            <a:endParaRPr/>
          </a:p>
        </p:txBody>
      </p:sp>
      <p:cxnSp>
        <p:nvCxnSpPr>
          <p:cNvPr id="6" name="Connector 5"/>
          <p:cNvCxnSpPr/>
          <p:nvPr/>
        </p:nvCxnSpPr>
        <p:spPr>
          <a:xfrm>
            <a:off x="360000" y="1533583"/>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extLst>
              <p:ext uri="{D42A27DB-BD31-4B8C-83A1-F6EECF244321}">
                <p14:modId xmlns:p14="http://schemas.microsoft.com/office/powerpoint/2010/main" val="3922792314"/>
              </p:ext>
            </p:extLst>
          </p:nvPr>
        </p:nvGraphicFramePr>
        <p:xfrm>
          <a:off x="292030" y="3704413"/>
          <a:ext cx="3456000" cy="983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79</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extLst>
                  <a:ext uri="{0D108BD9-81ED-4DB2-BD59-A6C34878D82A}">
                    <a16:rowId xmlns:a16="http://schemas.microsoft.com/office/drawing/2014/main" val="10003"/>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737844518"/>
              </p:ext>
            </p:extLst>
          </p:nvPr>
        </p:nvGraphicFramePr>
        <p:xfrm>
          <a:off x="286200" y="2802525"/>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extLst>
                  <a:ext uri="{0D108BD9-81ED-4DB2-BD59-A6C34878D82A}">
                    <a16:rowId xmlns:a16="http://schemas.microsoft.com/office/drawing/2014/main" val="10003"/>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450072163"/>
              </p:ext>
            </p:extLst>
          </p:nvPr>
        </p:nvGraphicFramePr>
        <p:xfrm>
          <a:off x="292030" y="4723694"/>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80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3802274447"/>
              </p:ext>
            </p:extLst>
          </p:nvPr>
        </p:nvGraphicFramePr>
        <p:xfrm>
          <a:off x="3886200" y="3498996"/>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81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extLst>
                  <a:ext uri="{0D108BD9-81ED-4DB2-BD59-A6C34878D82A}">
                    <a16:rowId xmlns:a16="http://schemas.microsoft.com/office/drawing/2014/main" val="10003"/>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3639234447"/>
              </p:ext>
            </p:extLst>
          </p:nvPr>
        </p:nvGraphicFramePr>
        <p:xfrm>
          <a:off x="292030" y="5396893"/>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rPr err="1"/>
                        <a:t>Especialidad</a:t>
                      </a:r>
                      <a:endParaRP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82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a:t>
                      </a:r>
                      <a:r>
                        <a:rPr err="1"/>
                        <a:t>Urgencias</a:t>
                      </a:r>
                      <a:endParaRP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11</a:t>
                      </a:r>
                    </a:p>
                  </a:txBody>
                  <a:tcPr>
                    <a:solidFill>
                      <a:srgbClr val="D3E9E7"/>
                    </a:solidFill>
                  </a:tcPr>
                </a:tc>
                <a:extLst>
                  <a:ext uri="{0D108BD9-81ED-4DB2-BD59-A6C34878D82A}">
                    <a16:rowId xmlns:a16="http://schemas.microsoft.com/office/drawing/2014/main" val="10003"/>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233016091"/>
              </p:ext>
            </p:extLst>
          </p:nvPr>
        </p:nvGraphicFramePr>
        <p:xfrm>
          <a:off x="3886200" y="4363377"/>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83</a:t>
                      </a:r>
                    </a:p>
                  </a:txBody>
                  <a:tcPr anchor="ctr">
                    <a:noFill/>
                  </a:tcPr>
                </a:tc>
                <a:tc>
                  <a:txBody>
                    <a:bodyPr/>
                    <a:lstStyle/>
                    <a:p>
                      <a:pPr algn="ctr">
                        <a:defRPr sz="800" b="0">
                          <a:solidFill>
                            <a:srgbClr val="000000"/>
                          </a:solidFill>
                          <a:latin typeface="Montserrat"/>
                        </a:defRPr>
                      </a:pPr>
                      <a:r>
                        <a:t>Medicina de </a:t>
                      </a:r>
                      <a:r>
                        <a:rPr err="1"/>
                        <a:t>Urgencias</a:t>
                      </a:r>
                      <a:endParaRP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3543639067"/>
              </p:ext>
            </p:extLst>
          </p:nvPr>
        </p:nvGraphicFramePr>
        <p:xfrm>
          <a:off x="292030" y="6278893"/>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84</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796152255"/>
              </p:ext>
            </p:extLst>
          </p:nvPr>
        </p:nvGraphicFramePr>
        <p:xfrm>
          <a:off x="3886200" y="5036957"/>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86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extLst>
                  <a:ext uri="{0D108BD9-81ED-4DB2-BD59-A6C34878D82A}">
                    <a16:rowId xmlns:a16="http://schemas.microsoft.com/office/drawing/2014/main" val="10003"/>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3882434655"/>
              </p:ext>
            </p:extLst>
          </p:nvPr>
        </p:nvGraphicFramePr>
        <p:xfrm>
          <a:off x="292030" y="6988093"/>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87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2629764166"/>
              </p:ext>
            </p:extLst>
          </p:nvPr>
        </p:nvGraphicFramePr>
        <p:xfrm>
          <a:off x="3886200" y="5901338"/>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88</a:t>
                      </a:r>
                    </a:p>
                  </a:txBody>
                  <a:tcPr anchor="ctr">
                    <a:noFill/>
                  </a:tcPr>
                </a:tc>
                <a:tc>
                  <a:txBody>
                    <a:bodyPr/>
                    <a:lstStyle/>
                    <a:p>
                      <a:pPr algn="ctr">
                        <a:defRPr sz="800" b="0">
                          <a:solidFill>
                            <a:srgbClr val="000000"/>
                          </a:solidFill>
                          <a:latin typeface="Montserrat"/>
                        </a:defRPr>
                      </a:pPr>
                      <a:r>
                        <a:t>Medicina de </a:t>
                      </a:r>
                      <a:r>
                        <a:rPr err="1"/>
                        <a:t>Urgencias</a:t>
                      </a:r>
                      <a:endParaRP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1488515216"/>
              </p:ext>
            </p:extLst>
          </p:nvPr>
        </p:nvGraphicFramePr>
        <p:xfrm>
          <a:off x="292030" y="7697293"/>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9</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8" name="Table 17"/>
          <p:cNvGraphicFramePr>
            <a:graphicFrameLocks noGrp="1"/>
          </p:cNvGraphicFramePr>
          <p:nvPr>
            <p:extLst>
              <p:ext uri="{D42A27DB-BD31-4B8C-83A1-F6EECF244321}">
                <p14:modId xmlns:p14="http://schemas.microsoft.com/office/powerpoint/2010/main" val="4099561412"/>
              </p:ext>
            </p:extLst>
          </p:nvPr>
        </p:nvGraphicFramePr>
        <p:xfrm>
          <a:off x="3886200" y="6574918"/>
          <a:ext cx="3456000" cy="983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91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extLst>
                  <a:ext uri="{0D108BD9-81ED-4DB2-BD59-A6C34878D82A}">
                    <a16:rowId xmlns:a16="http://schemas.microsoft.com/office/drawing/2014/main" val="10003"/>
                  </a:ext>
                </a:extLst>
              </a:tr>
            </a:tbl>
          </a:graphicData>
        </a:graphic>
      </p:graphicFrame>
      <p:graphicFrame>
        <p:nvGraphicFramePr>
          <p:cNvPr id="19" name="Table 18"/>
          <p:cNvGraphicFramePr>
            <a:graphicFrameLocks noGrp="1"/>
          </p:cNvGraphicFramePr>
          <p:nvPr>
            <p:extLst>
              <p:ext uri="{D42A27DB-BD31-4B8C-83A1-F6EECF244321}">
                <p14:modId xmlns:p14="http://schemas.microsoft.com/office/powerpoint/2010/main" val="3730090977"/>
              </p:ext>
            </p:extLst>
          </p:nvPr>
        </p:nvGraphicFramePr>
        <p:xfrm>
          <a:off x="292030" y="8406493"/>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93</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357652392"/>
              </p:ext>
            </p:extLst>
          </p:nvPr>
        </p:nvGraphicFramePr>
        <p:xfrm>
          <a:off x="3886200" y="7558198"/>
          <a:ext cx="3456000" cy="1080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4">
                  <a:txBody>
                    <a:bodyPr/>
                    <a:lstStyle/>
                    <a:p>
                      <a:pPr algn="ctr">
                        <a:defRPr sz="800" b="1">
                          <a:solidFill>
                            <a:srgbClr val="000000"/>
                          </a:solidFill>
                          <a:latin typeface="Montserrat"/>
                        </a:defRPr>
                      </a:pPr>
                      <a:r>
                        <a:t>Unidad de Medicina Familiar C/UMAA 89</a:t>
                      </a:r>
                    </a:p>
                  </a:txBody>
                  <a:tcPr anchor="ctr">
                    <a:noFill/>
                  </a:tcPr>
                </a:tc>
                <a:tc>
                  <a:txBody>
                    <a:bodyPr/>
                    <a:lstStyle/>
                    <a:p>
                      <a:pPr algn="ctr">
                        <a:defRPr sz="800" b="0">
                          <a:solidFill>
                            <a:srgbClr val="000000"/>
                          </a:solidFill>
                          <a:latin typeface="Montserrat"/>
                        </a:defRPr>
                      </a:pPr>
                      <a:r>
                        <a:t>Endoscopia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extLst>
                  <a:ext uri="{0D108BD9-81ED-4DB2-BD59-A6C34878D82A}">
                    <a16:rowId xmlns:a16="http://schemas.microsoft.com/office/drawing/2014/main" val="10004"/>
                  </a:ext>
                </a:extLst>
              </a:tr>
            </a:tbl>
          </a:graphicData>
        </a:graphic>
      </p:graphicFrame>
      <p:graphicFrame>
        <p:nvGraphicFramePr>
          <p:cNvPr id="21" name="Table 16"/>
          <p:cNvGraphicFramePr>
            <a:graphicFrameLocks noGrp="1"/>
          </p:cNvGraphicFramePr>
          <p:nvPr>
            <p:extLst>
              <p:ext uri="{D42A27DB-BD31-4B8C-83A1-F6EECF244321}">
                <p14:modId xmlns:p14="http://schemas.microsoft.com/office/powerpoint/2010/main" val="3534243900"/>
              </p:ext>
            </p:extLst>
          </p:nvPr>
        </p:nvGraphicFramePr>
        <p:xfrm>
          <a:off x="286200" y="1900637"/>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66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extLst>
                  <a:ext uri="{0D108BD9-81ED-4DB2-BD59-A6C34878D82A}">
                    <a16:rowId xmlns:a16="http://schemas.microsoft.com/office/drawing/2014/main" val="10003"/>
                  </a:ext>
                </a:extLst>
              </a:tr>
            </a:tbl>
          </a:graphicData>
        </a:graphic>
      </p:graphicFrame>
      <p:graphicFrame>
        <p:nvGraphicFramePr>
          <p:cNvPr id="22" name="Table 17"/>
          <p:cNvGraphicFramePr>
            <a:graphicFrameLocks noGrp="1"/>
          </p:cNvGraphicFramePr>
          <p:nvPr>
            <p:extLst>
              <p:ext uri="{D42A27DB-BD31-4B8C-83A1-F6EECF244321}">
                <p14:modId xmlns:p14="http://schemas.microsoft.com/office/powerpoint/2010/main" val="1369621100"/>
              </p:ext>
            </p:extLst>
          </p:nvPr>
        </p:nvGraphicFramePr>
        <p:xfrm>
          <a:off x="3886200" y="2825797"/>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70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23" name="Table 18"/>
          <p:cNvGraphicFramePr>
            <a:graphicFrameLocks noGrp="1"/>
          </p:cNvGraphicFramePr>
          <p:nvPr>
            <p:extLst>
              <p:ext uri="{D42A27DB-BD31-4B8C-83A1-F6EECF244321}">
                <p14:modId xmlns:p14="http://schemas.microsoft.com/office/powerpoint/2010/main" val="2585329505"/>
              </p:ext>
            </p:extLst>
          </p:nvPr>
        </p:nvGraphicFramePr>
        <p:xfrm>
          <a:off x="3886200" y="1917769"/>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73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12</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13</a:t>
                      </a:r>
                    </a:p>
                  </a:txBody>
                  <a:tcPr>
                    <a:solidFill>
                      <a:srgbClr val="D3E9E7"/>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437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5" name="TextBox 4"/>
          <p:cNvSpPr txBox="1"/>
          <p:nvPr/>
        </p:nvSpPr>
        <p:spPr>
          <a:xfrm>
            <a:off x="360000" y="1081545"/>
            <a:ext cx="6160661" cy="400110"/>
          </a:xfrm>
          <a:prstGeom prst="rect">
            <a:avLst/>
          </a:prstGeom>
          <a:noFill/>
        </p:spPr>
        <p:txBody>
          <a:bodyPr wrap="none" anchor="ctr">
            <a:spAutoFit/>
          </a:bodyPr>
          <a:lstStyle/>
          <a:p>
            <a:pPr>
              <a:defRPr sz="2000" b="1">
                <a:solidFill>
                  <a:srgbClr val="BC955C"/>
                </a:solidFill>
                <a:latin typeface="Montserrat"/>
              </a:defRPr>
            </a:pPr>
            <a:r>
              <a:t>113 en Unidades de Medicina Familiar </a:t>
            </a:r>
            <a:r>
              <a:rPr lang="es-MX"/>
              <a:t>(5 de 5)</a:t>
            </a:r>
            <a:endParaRP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extLst>
              <p:ext uri="{D42A27DB-BD31-4B8C-83A1-F6EECF244321}">
                <p14:modId xmlns:p14="http://schemas.microsoft.com/office/powerpoint/2010/main" val="360428098"/>
              </p:ext>
            </p:extLst>
          </p:nvPr>
        </p:nvGraphicFramePr>
        <p:xfrm>
          <a:off x="360000" y="1745639"/>
          <a:ext cx="3456000" cy="91704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No. 94 "Santa Bárbara"</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extLst>
                  <a:ext uri="{0D108BD9-81ED-4DB2-BD59-A6C34878D82A}">
                    <a16:rowId xmlns:a16="http://schemas.microsoft.com/office/drawing/2014/main" val="10003"/>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617722362"/>
              </p:ext>
            </p:extLst>
          </p:nvPr>
        </p:nvGraphicFramePr>
        <p:xfrm>
          <a:off x="3956400" y="1729199"/>
          <a:ext cx="3456000" cy="175056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6">
                  <a:txBody>
                    <a:bodyPr/>
                    <a:lstStyle/>
                    <a:p>
                      <a:pPr algn="ctr">
                        <a:defRPr sz="800" b="1">
                          <a:solidFill>
                            <a:srgbClr val="000000"/>
                          </a:solidFill>
                          <a:latin typeface="Montserrat"/>
                        </a:defRPr>
                      </a:pPr>
                      <a:r>
                        <a:t>Unidad de Medicina Familiar No. 95 "El Cortijo"</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7</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14</a:t>
                      </a:r>
                    </a:p>
                  </a:txBody>
                  <a:tcPr>
                    <a:solidFill>
                      <a:srgbClr val="D3E9E7"/>
                    </a:solidFill>
                  </a:tcPr>
                </a:tc>
                <a:extLst>
                  <a:ext uri="{0D108BD9-81ED-4DB2-BD59-A6C34878D82A}">
                    <a16:rowId xmlns:a16="http://schemas.microsoft.com/office/drawing/2014/main" val="10006"/>
                  </a:ext>
                </a:extLst>
              </a:tr>
            </a:tbl>
          </a:graphicData>
        </a:graphic>
      </p:graphicFrame>
      <p:sp>
        <p:nvSpPr>
          <p:cNvPr id="9" name="TextBox 8"/>
          <p:cNvSpPr txBox="1"/>
          <p:nvPr/>
        </p:nvSpPr>
        <p:spPr>
          <a:xfrm>
            <a:off x="360000" y="3657599"/>
            <a:ext cx="6840000" cy="360000"/>
          </a:xfrm>
          <a:prstGeom prst="rect">
            <a:avLst/>
          </a:prstGeom>
          <a:noFill/>
        </p:spPr>
        <p:txBody>
          <a:bodyPr wrap="none" anchor="ctr">
            <a:spAutoFit/>
          </a:bodyPr>
          <a:lstStyle/>
          <a:p>
            <a:pPr algn="l">
              <a:defRPr sz="2000" b="1">
                <a:solidFill>
                  <a:srgbClr val="BC955C"/>
                </a:solidFill>
                <a:latin typeface="Montserrat"/>
              </a:defRPr>
            </a:pPr>
            <a:r>
              <a:t>114 especialistas (sustitutos)</a:t>
            </a:r>
          </a:p>
        </p:txBody>
      </p:sp>
      <p:cxnSp>
        <p:nvCxnSpPr>
          <p:cNvPr id="10" name="Connector 9"/>
          <p:cNvCxnSpPr/>
          <p:nvPr/>
        </p:nvCxnSpPr>
        <p:spPr>
          <a:xfrm>
            <a:off x="360000" y="40535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nvGraphicFramePr>
        <p:xfrm>
          <a:off x="360000" y="4125599"/>
          <a:ext cx="3456000" cy="393312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15">
                  <a:txBody>
                    <a:bodyPr/>
                    <a:lstStyle/>
                    <a:p>
                      <a:pPr algn="ctr">
                        <a:defRPr sz="800" b="1">
                          <a:solidFill>
                            <a:srgbClr val="000000"/>
                          </a:solidFill>
                          <a:latin typeface="Montserrat"/>
                        </a:defRPr>
                      </a:pPr>
                      <a:r>
                        <a:t>Sustitución 8 (Parte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22</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Endocrinología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Genética Médica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15</a:t>
                      </a:r>
                    </a:p>
                  </a:txBody>
                  <a:tcPr>
                    <a:solidFill>
                      <a:srgbClr val="F0F0F0"/>
                    </a:solidFill>
                  </a:tcPr>
                </a:tc>
                <a:extLst>
                  <a:ext uri="{0D108BD9-81ED-4DB2-BD59-A6C34878D82A}">
                    <a16:rowId xmlns:a16="http://schemas.microsoft.com/office/drawing/2014/main" val="10008"/>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9"/>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extLst>
                  <a:ext uri="{0D108BD9-81ED-4DB2-BD59-A6C34878D82A}">
                    <a16:rowId xmlns:a16="http://schemas.microsoft.com/office/drawing/2014/main" val="10010"/>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1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20</a:t>
                      </a:r>
                    </a:p>
                  </a:txBody>
                  <a:tcPr>
                    <a:solidFill>
                      <a:srgbClr val="F0F0F0"/>
                    </a:solidFill>
                  </a:tcPr>
                </a:tc>
                <a:extLst>
                  <a:ext uri="{0D108BD9-81ED-4DB2-BD59-A6C34878D82A}">
                    <a16:rowId xmlns:a16="http://schemas.microsoft.com/office/drawing/2014/main" val="1001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del Enfermo Pediátrico en Estado Crítico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1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1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extLst>
                  <a:ext uri="{0D108BD9-81ED-4DB2-BD59-A6C34878D82A}">
                    <a16:rowId xmlns:a16="http://schemas.microsoft.com/office/drawing/2014/main" val="10015"/>
                  </a:ext>
                </a:extLst>
              </a:tr>
            </a:tbl>
          </a:graphicData>
        </a:graphic>
      </p:graphicFrame>
      <p:graphicFrame>
        <p:nvGraphicFramePr>
          <p:cNvPr id="12" name="Table 11"/>
          <p:cNvGraphicFramePr>
            <a:graphicFrameLocks noGrp="1"/>
          </p:cNvGraphicFramePr>
          <p:nvPr/>
        </p:nvGraphicFramePr>
        <p:xfrm>
          <a:off x="3960000" y="4125599"/>
          <a:ext cx="3456000" cy="2160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9">
                  <a:txBody>
                    <a:bodyPr/>
                    <a:lstStyle/>
                    <a:p>
                      <a:pPr algn="ctr">
                        <a:defRPr sz="800" b="1">
                          <a:solidFill>
                            <a:srgbClr val="000000"/>
                          </a:solidFill>
                          <a:latin typeface="Montserrat"/>
                        </a:defRPr>
                      </a:pPr>
                      <a:r>
                        <a:t>Sustitución 8 (Parte 2)</a:t>
                      </a:r>
                    </a:p>
                  </a:txBody>
                  <a:tcPr anchor="ctr">
                    <a:no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Neurocirugía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Patología Clínica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9</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Reumatología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8"/>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114</a:t>
                      </a:r>
                    </a:p>
                  </a:txBody>
                  <a:tcPr>
                    <a:solidFill>
                      <a:srgbClr val="D3E9E7"/>
                    </a:solidFill>
                  </a:tcPr>
                </a:tc>
                <a:extLst>
                  <a:ext uri="{0D108BD9-81ED-4DB2-BD59-A6C34878D82A}">
                    <a16:rowId xmlns:a16="http://schemas.microsoft.com/office/drawing/2014/main" val="10009"/>
                  </a:ext>
                </a:extLst>
              </a:tr>
            </a:tbl>
          </a:graphicData>
        </a:graphic>
      </p:graphicFrame>
      <p:sp>
        <p:nvSpPr>
          <p:cNvPr id="13" name="TextBox 12"/>
          <p:cNvSpPr txBox="1"/>
          <p:nvPr/>
        </p:nvSpPr>
        <p:spPr>
          <a:xfrm>
            <a:off x="270000" y="9201598"/>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083045"/>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4">
            <a:extLst>
              <a:ext uri="{FF2B5EF4-FFF2-40B4-BE49-F238E27FC236}">
                <a16:creationId xmlns:a16="http://schemas.microsoft.com/office/drawing/2014/main" id="{2133685E-10C7-A83D-70D7-853419CFC8A0}"/>
              </a:ext>
            </a:extLst>
          </p:cNvPr>
          <p:cNvGraphicFramePr>
            <a:graphicFrameLocks noGrp="1"/>
          </p:cNvGraphicFramePr>
          <p:nvPr>
            <p:extLst>
              <p:ext uri="{D42A27DB-BD31-4B8C-83A1-F6EECF244321}">
                <p14:modId xmlns:p14="http://schemas.microsoft.com/office/powerpoint/2010/main" val="2883930727"/>
              </p:ext>
            </p:extLst>
          </p:nvPr>
        </p:nvGraphicFramePr>
        <p:xfrm>
          <a:off x="1132443" y="1167841"/>
          <a:ext cx="5023820" cy="8166960"/>
        </p:xfrm>
        <a:graphic>
          <a:graphicData uri="http://schemas.openxmlformats.org/drawingml/2006/table">
            <a:tbl>
              <a:tblPr firstRow="1" bandRow="1">
                <a:tableStyleId>{5C22544A-7EE6-4342-B048-85BDC9FD1C3A}</a:tableStyleId>
              </a:tblPr>
              <a:tblGrid>
                <a:gridCol w="3032797">
                  <a:extLst>
                    <a:ext uri="{9D8B030D-6E8A-4147-A177-3AD203B41FA5}">
                      <a16:colId xmlns:a16="http://schemas.microsoft.com/office/drawing/2014/main" val="20000"/>
                    </a:ext>
                  </a:extLst>
                </a:gridCol>
                <a:gridCol w="827256">
                  <a:extLst>
                    <a:ext uri="{9D8B030D-6E8A-4147-A177-3AD203B41FA5}">
                      <a16:colId xmlns:a16="http://schemas.microsoft.com/office/drawing/2014/main" val="20001"/>
                    </a:ext>
                  </a:extLst>
                </a:gridCol>
                <a:gridCol w="1163767">
                  <a:extLst>
                    <a:ext uri="{9D8B030D-6E8A-4147-A177-3AD203B41FA5}">
                      <a16:colId xmlns:a16="http://schemas.microsoft.com/office/drawing/2014/main" val="20002"/>
                    </a:ext>
                  </a:extLst>
                </a:gridCol>
              </a:tblGrid>
              <a:tr h="147129">
                <a:tc>
                  <a:txBody>
                    <a:bodyPr/>
                    <a:lstStyle/>
                    <a:p>
                      <a:pPr algn="ctr">
                        <a:defRPr sz="1100" b="1">
                          <a:solidFill>
                            <a:srgbClr val="FFFFFF"/>
                          </a:solidFill>
                          <a:latin typeface="Montserrat"/>
                        </a:defRPr>
                      </a:pPr>
                      <a:r>
                        <a:rPr sz="900"/>
                        <a:t>Especialidad</a:t>
                      </a:r>
                    </a:p>
                  </a:txBody>
                  <a:tcPr marL="14400" marR="14400" marT="14400" marB="14400">
                    <a:lnL w="12700" cap="flat" cmpd="sng" algn="ctr">
                      <a:solidFill>
                        <a:schemeClr val="bg1">
                          <a:lumMod val="95000"/>
                        </a:schemeClr>
                      </a:solidFill>
                      <a:prstDash val="solid"/>
                      <a:round/>
                      <a:headEnd type="none" w="med" len="med"/>
                      <a:tailEnd type="none" w="med" len="med"/>
                    </a:lnL>
                    <a:lnT w="12700" cap="flat" cmpd="sng" algn="ctr">
                      <a:solidFill>
                        <a:schemeClr val="bg1">
                          <a:lumMod val="95000"/>
                        </a:schemeClr>
                      </a:solidFill>
                      <a:prstDash val="solid"/>
                      <a:round/>
                      <a:headEnd type="none" w="med" len="med"/>
                      <a:tailEnd type="none" w="med" len="med"/>
                    </a:lnT>
                    <a:solidFill>
                      <a:srgbClr val="006455"/>
                    </a:solidFill>
                  </a:tcPr>
                </a:tc>
                <a:tc>
                  <a:txBody>
                    <a:bodyPr/>
                    <a:lstStyle/>
                    <a:p>
                      <a:pPr algn="ctr">
                        <a:defRPr sz="1100" b="1">
                          <a:solidFill>
                            <a:srgbClr val="FFFFFF"/>
                          </a:solidFill>
                          <a:latin typeface="Montserrat"/>
                        </a:defRPr>
                      </a:pPr>
                      <a:r>
                        <a:rPr sz="900"/>
                        <a:t>Número</a:t>
                      </a:r>
                    </a:p>
                  </a:txBody>
                  <a:tcPr marL="14400" marR="14400" marT="14400" marB="14400">
                    <a:lnT w="12700" cap="flat" cmpd="sng" algn="ctr">
                      <a:solidFill>
                        <a:schemeClr val="bg1">
                          <a:lumMod val="95000"/>
                        </a:schemeClr>
                      </a:solidFill>
                      <a:prstDash val="solid"/>
                      <a:round/>
                      <a:headEnd type="none" w="med" len="med"/>
                      <a:tailEnd type="none" w="med" len="med"/>
                    </a:lnT>
                    <a:solidFill>
                      <a:srgbClr val="006455"/>
                    </a:solidFill>
                  </a:tcPr>
                </a:tc>
                <a:tc>
                  <a:txBody>
                    <a:bodyPr/>
                    <a:lstStyle/>
                    <a:p>
                      <a:pPr algn="ctr">
                        <a:defRPr sz="1100" b="1">
                          <a:solidFill>
                            <a:srgbClr val="FFFFFF"/>
                          </a:solidFill>
                          <a:latin typeface="Montserrat"/>
                        </a:defRPr>
                      </a:pPr>
                      <a:r>
                        <a:rPr sz="900"/>
                        <a:t>% Acumulado</a:t>
                      </a:r>
                    </a:p>
                  </a:txBody>
                  <a:tcPr marL="14400" marR="14400" marT="14400" marB="14400">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solidFill>
                      <a:srgbClr val="006455"/>
                    </a:solidFill>
                  </a:tcPr>
                </a:tc>
                <a:extLst>
                  <a:ext uri="{0D108BD9-81ED-4DB2-BD59-A6C34878D82A}">
                    <a16:rowId xmlns:a16="http://schemas.microsoft.com/office/drawing/2014/main" val="10000"/>
                  </a:ext>
                </a:extLst>
              </a:tr>
              <a:tr h="202661">
                <a:tc>
                  <a:txBody>
                    <a:bodyPr/>
                    <a:lstStyle/>
                    <a:p>
                      <a:pPr algn="l">
                        <a:defRPr sz="1100" b="0">
                          <a:solidFill>
                            <a:srgbClr val="000000"/>
                          </a:solidFill>
                          <a:latin typeface="Montserrat"/>
                        </a:defRPr>
                      </a:pPr>
                      <a:r>
                        <a:rPr sz="900"/>
                        <a:t>Medicina Familiar</a:t>
                      </a:r>
                    </a:p>
                  </a:txBody>
                  <a:tcPr marL="45720" marR="45720">
                    <a:lnL w="12700" cap="flat" cmpd="sng" algn="ctr">
                      <a:solidFill>
                        <a:schemeClr val="bg1">
                          <a:lumMod val="95000"/>
                        </a:schemeClr>
                      </a:solidFill>
                      <a:prstDash val="solid"/>
                      <a:round/>
                      <a:headEnd type="none" w="med" len="med"/>
                      <a:tailEnd type="none" w="med" len="med"/>
                    </a:lnL>
                    <a:solidFill>
                      <a:srgbClr val="FFFFFF"/>
                    </a:solidFill>
                  </a:tcPr>
                </a:tc>
                <a:tc>
                  <a:txBody>
                    <a:bodyPr/>
                    <a:lstStyle/>
                    <a:p>
                      <a:pPr algn="ctr">
                        <a:defRPr sz="1100" b="0">
                          <a:solidFill>
                            <a:srgbClr val="000000"/>
                          </a:solidFill>
                          <a:latin typeface="Montserrat"/>
                        </a:defRPr>
                      </a:pPr>
                      <a:r>
                        <a:rPr sz="900"/>
                        <a:t>92</a:t>
                      </a:r>
                    </a:p>
                  </a:txBody>
                  <a:tcPr marL="45720" marR="45720">
                    <a:solidFill>
                      <a:srgbClr val="FFFFFF"/>
                    </a:solidFill>
                  </a:tcPr>
                </a:tc>
                <a:tc>
                  <a:txBody>
                    <a:bodyPr/>
                    <a:lstStyle/>
                    <a:p>
                      <a:pPr algn="ctr">
                        <a:defRPr sz="1100" b="1">
                          <a:solidFill>
                            <a:srgbClr val="000000"/>
                          </a:solidFill>
                          <a:latin typeface="Montserrat"/>
                        </a:defRPr>
                      </a:pPr>
                      <a:r>
                        <a:rPr sz="900"/>
                        <a:t>21.0%</a:t>
                      </a:r>
                    </a:p>
                  </a:txBody>
                  <a:tcPr marL="45720" marR="45720">
                    <a:lnR w="12700" cap="flat" cmpd="sng" algn="ctr">
                      <a:solidFill>
                        <a:schemeClr val="bg1">
                          <a:lumMod val="9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1"/>
                  </a:ext>
                </a:extLst>
              </a:tr>
              <a:tr h="202661">
                <a:tc>
                  <a:txBody>
                    <a:bodyPr/>
                    <a:lstStyle/>
                    <a:p>
                      <a:pPr algn="l">
                        <a:defRPr sz="1100" b="0">
                          <a:solidFill>
                            <a:srgbClr val="000000"/>
                          </a:solidFill>
                          <a:latin typeface="Montserrat"/>
                        </a:defRPr>
                      </a:pPr>
                      <a:r>
                        <a:rPr sz="900"/>
                        <a:t>Medicina de Urgencias</a:t>
                      </a:r>
                    </a:p>
                  </a:txBody>
                  <a:tcPr marL="45720" marR="45720">
                    <a:lnL w="12700" cap="flat" cmpd="sng" algn="ctr">
                      <a:solidFill>
                        <a:schemeClr val="bg1">
                          <a:lumMod val="95000"/>
                        </a:schemeClr>
                      </a:solidFill>
                      <a:prstDash val="solid"/>
                      <a:round/>
                      <a:headEnd type="none" w="med" len="med"/>
                      <a:tailEnd type="none" w="med" len="med"/>
                    </a:lnL>
                    <a:solidFill>
                      <a:srgbClr val="D9D9D9"/>
                    </a:solidFill>
                  </a:tcPr>
                </a:tc>
                <a:tc>
                  <a:txBody>
                    <a:bodyPr/>
                    <a:lstStyle/>
                    <a:p>
                      <a:pPr algn="ctr">
                        <a:defRPr sz="1100" b="0">
                          <a:solidFill>
                            <a:srgbClr val="000000"/>
                          </a:solidFill>
                          <a:latin typeface="Montserrat"/>
                        </a:defRPr>
                      </a:pPr>
                      <a:r>
                        <a:rPr sz="900"/>
                        <a:t>80</a:t>
                      </a:r>
                    </a:p>
                  </a:txBody>
                  <a:tcPr marL="45720" marR="45720">
                    <a:solidFill>
                      <a:srgbClr val="D9D9D9"/>
                    </a:solidFill>
                  </a:tcPr>
                </a:tc>
                <a:tc>
                  <a:txBody>
                    <a:bodyPr/>
                    <a:lstStyle/>
                    <a:p>
                      <a:pPr algn="ctr">
                        <a:defRPr sz="1100" b="1">
                          <a:solidFill>
                            <a:srgbClr val="000000"/>
                          </a:solidFill>
                          <a:latin typeface="Montserrat"/>
                        </a:defRPr>
                      </a:pPr>
                      <a:r>
                        <a:rPr sz="900"/>
                        <a:t>39.3%</a:t>
                      </a:r>
                    </a:p>
                  </a:txBody>
                  <a:tcPr marL="45720" marR="45720">
                    <a:lnR w="12700" cap="flat" cmpd="sng" algn="ctr">
                      <a:solidFill>
                        <a:schemeClr val="bg1">
                          <a:lumMod val="95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02"/>
                  </a:ext>
                </a:extLst>
              </a:tr>
              <a:tr h="202661">
                <a:tc>
                  <a:txBody>
                    <a:bodyPr/>
                    <a:lstStyle/>
                    <a:p>
                      <a:pPr algn="l">
                        <a:defRPr sz="1100" b="0">
                          <a:solidFill>
                            <a:srgbClr val="000000"/>
                          </a:solidFill>
                          <a:latin typeface="Montserrat"/>
                        </a:defRPr>
                      </a:pPr>
                      <a:r>
                        <a:rPr sz="900"/>
                        <a:t>Anestesiología</a:t>
                      </a:r>
                    </a:p>
                  </a:txBody>
                  <a:tcPr marL="45720" marR="45720">
                    <a:lnL w="12700" cap="flat" cmpd="sng" algn="ctr">
                      <a:solidFill>
                        <a:schemeClr val="bg1">
                          <a:lumMod val="95000"/>
                        </a:schemeClr>
                      </a:solidFill>
                      <a:prstDash val="solid"/>
                      <a:round/>
                      <a:headEnd type="none" w="med" len="med"/>
                      <a:tailEnd type="none" w="med" len="med"/>
                    </a:lnL>
                    <a:solidFill>
                      <a:srgbClr val="FFFFFF"/>
                    </a:solidFill>
                  </a:tcPr>
                </a:tc>
                <a:tc>
                  <a:txBody>
                    <a:bodyPr/>
                    <a:lstStyle/>
                    <a:p>
                      <a:pPr algn="ctr">
                        <a:defRPr sz="1100" b="0">
                          <a:solidFill>
                            <a:srgbClr val="000000"/>
                          </a:solidFill>
                          <a:latin typeface="Montserrat"/>
                        </a:defRPr>
                      </a:pPr>
                      <a:r>
                        <a:rPr sz="900"/>
                        <a:t>45</a:t>
                      </a:r>
                    </a:p>
                  </a:txBody>
                  <a:tcPr marL="45720" marR="45720">
                    <a:solidFill>
                      <a:srgbClr val="FFFFFF"/>
                    </a:solidFill>
                  </a:tcPr>
                </a:tc>
                <a:tc>
                  <a:txBody>
                    <a:bodyPr/>
                    <a:lstStyle/>
                    <a:p>
                      <a:pPr algn="ctr">
                        <a:defRPr sz="1100" b="1">
                          <a:solidFill>
                            <a:srgbClr val="000000"/>
                          </a:solidFill>
                          <a:latin typeface="Montserrat"/>
                        </a:defRPr>
                      </a:pPr>
                      <a:r>
                        <a:rPr sz="900"/>
                        <a:t>49.6%</a:t>
                      </a:r>
                    </a:p>
                  </a:txBody>
                  <a:tcPr marL="45720" marR="45720">
                    <a:lnR w="12700" cap="flat" cmpd="sng" algn="ctr">
                      <a:solidFill>
                        <a:schemeClr val="bg1">
                          <a:lumMod val="9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3"/>
                  </a:ext>
                </a:extLst>
              </a:tr>
              <a:tr h="202661">
                <a:tc>
                  <a:txBody>
                    <a:bodyPr/>
                    <a:lstStyle/>
                    <a:p>
                      <a:pPr algn="l">
                        <a:defRPr sz="1100" b="0">
                          <a:solidFill>
                            <a:srgbClr val="000000"/>
                          </a:solidFill>
                          <a:latin typeface="Montserrat"/>
                        </a:defRPr>
                      </a:pPr>
                      <a:r>
                        <a:rPr sz="900"/>
                        <a:t>Ginecología y Obstetricia</a:t>
                      </a:r>
                    </a:p>
                  </a:txBody>
                  <a:tcPr marL="45720" marR="45720">
                    <a:lnL w="12700" cap="flat" cmpd="sng" algn="ctr">
                      <a:solidFill>
                        <a:schemeClr val="bg1">
                          <a:lumMod val="95000"/>
                        </a:schemeClr>
                      </a:solidFill>
                      <a:prstDash val="solid"/>
                      <a:round/>
                      <a:headEnd type="none" w="med" len="med"/>
                      <a:tailEnd type="none" w="med" len="med"/>
                    </a:lnL>
                    <a:solidFill>
                      <a:srgbClr val="D9D9D9"/>
                    </a:solidFill>
                  </a:tcPr>
                </a:tc>
                <a:tc>
                  <a:txBody>
                    <a:bodyPr/>
                    <a:lstStyle/>
                    <a:p>
                      <a:pPr algn="ctr">
                        <a:defRPr sz="1100" b="0">
                          <a:solidFill>
                            <a:srgbClr val="000000"/>
                          </a:solidFill>
                          <a:latin typeface="Montserrat"/>
                        </a:defRPr>
                      </a:pPr>
                      <a:r>
                        <a:rPr sz="900"/>
                        <a:t>38</a:t>
                      </a:r>
                    </a:p>
                  </a:txBody>
                  <a:tcPr marL="45720" marR="45720">
                    <a:solidFill>
                      <a:srgbClr val="D9D9D9"/>
                    </a:solidFill>
                  </a:tcPr>
                </a:tc>
                <a:tc>
                  <a:txBody>
                    <a:bodyPr/>
                    <a:lstStyle/>
                    <a:p>
                      <a:pPr algn="ctr">
                        <a:defRPr sz="1100" b="1">
                          <a:solidFill>
                            <a:srgbClr val="000000"/>
                          </a:solidFill>
                          <a:latin typeface="Montserrat"/>
                        </a:defRPr>
                      </a:pPr>
                      <a:r>
                        <a:rPr sz="900"/>
                        <a:t>58.3%</a:t>
                      </a:r>
                    </a:p>
                  </a:txBody>
                  <a:tcPr marL="45720" marR="45720">
                    <a:lnR w="12700" cap="flat" cmpd="sng" algn="ctr">
                      <a:solidFill>
                        <a:schemeClr val="bg1">
                          <a:lumMod val="95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04"/>
                  </a:ext>
                </a:extLst>
              </a:tr>
              <a:tr h="202661">
                <a:tc>
                  <a:txBody>
                    <a:bodyPr/>
                    <a:lstStyle/>
                    <a:p>
                      <a:pPr algn="l">
                        <a:defRPr sz="1100" b="0">
                          <a:solidFill>
                            <a:srgbClr val="000000"/>
                          </a:solidFill>
                          <a:latin typeface="Montserrat"/>
                        </a:defRPr>
                      </a:pPr>
                      <a:r>
                        <a:rPr sz="900"/>
                        <a:t>Cirugía General</a:t>
                      </a:r>
                    </a:p>
                  </a:txBody>
                  <a:tcPr marL="45720" marR="45720">
                    <a:lnL w="12700" cap="flat" cmpd="sng" algn="ctr">
                      <a:solidFill>
                        <a:schemeClr val="bg1">
                          <a:lumMod val="95000"/>
                        </a:schemeClr>
                      </a:solidFill>
                      <a:prstDash val="solid"/>
                      <a:round/>
                      <a:headEnd type="none" w="med" len="med"/>
                      <a:tailEnd type="none" w="med" len="med"/>
                    </a:lnL>
                    <a:solidFill>
                      <a:srgbClr val="FFFFFF"/>
                    </a:solidFill>
                  </a:tcPr>
                </a:tc>
                <a:tc>
                  <a:txBody>
                    <a:bodyPr/>
                    <a:lstStyle/>
                    <a:p>
                      <a:pPr algn="ctr">
                        <a:defRPr sz="1100" b="0">
                          <a:solidFill>
                            <a:srgbClr val="000000"/>
                          </a:solidFill>
                          <a:latin typeface="Montserrat"/>
                        </a:defRPr>
                      </a:pPr>
                      <a:r>
                        <a:rPr sz="900"/>
                        <a:t>28</a:t>
                      </a:r>
                    </a:p>
                  </a:txBody>
                  <a:tcPr marL="45720" marR="45720">
                    <a:solidFill>
                      <a:srgbClr val="FFFFFF"/>
                    </a:solidFill>
                  </a:tcPr>
                </a:tc>
                <a:tc>
                  <a:txBody>
                    <a:bodyPr/>
                    <a:lstStyle/>
                    <a:p>
                      <a:pPr algn="ctr">
                        <a:defRPr sz="1100" b="1">
                          <a:solidFill>
                            <a:srgbClr val="000000"/>
                          </a:solidFill>
                          <a:latin typeface="Montserrat"/>
                        </a:defRPr>
                      </a:pPr>
                      <a:r>
                        <a:rPr sz="900"/>
                        <a:t>64.7%</a:t>
                      </a:r>
                    </a:p>
                  </a:txBody>
                  <a:tcPr marL="45720" marR="45720">
                    <a:lnR w="12700" cap="flat" cmpd="sng" algn="ctr">
                      <a:solidFill>
                        <a:schemeClr val="bg1">
                          <a:lumMod val="9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5"/>
                  </a:ext>
                </a:extLst>
              </a:tr>
              <a:tr h="202661">
                <a:tc>
                  <a:txBody>
                    <a:bodyPr/>
                    <a:lstStyle/>
                    <a:p>
                      <a:pPr algn="l">
                        <a:defRPr sz="1100" b="0">
                          <a:solidFill>
                            <a:srgbClr val="000000"/>
                          </a:solidFill>
                          <a:latin typeface="Montserrat"/>
                        </a:defRPr>
                      </a:pPr>
                      <a:r>
                        <a:rPr sz="900"/>
                        <a:t>Medicina Interna</a:t>
                      </a:r>
                    </a:p>
                  </a:txBody>
                  <a:tcPr marL="45720" marR="45720">
                    <a:lnL w="12700" cap="flat" cmpd="sng" algn="ctr">
                      <a:solidFill>
                        <a:schemeClr val="bg1">
                          <a:lumMod val="95000"/>
                        </a:schemeClr>
                      </a:solidFill>
                      <a:prstDash val="solid"/>
                      <a:round/>
                      <a:headEnd type="none" w="med" len="med"/>
                      <a:tailEnd type="none" w="med" len="med"/>
                    </a:lnL>
                    <a:solidFill>
                      <a:srgbClr val="D9D9D9"/>
                    </a:solidFill>
                  </a:tcPr>
                </a:tc>
                <a:tc>
                  <a:txBody>
                    <a:bodyPr/>
                    <a:lstStyle/>
                    <a:p>
                      <a:pPr algn="ctr">
                        <a:defRPr sz="1100" b="0">
                          <a:solidFill>
                            <a:srgbClr val="000000"/>
                          </a:solidFill>
                          <a:latin typeface="Montserrat"/>
                        </a:defRPr>
                      </a:pPr>
                      <a:r>
                        <a:rPr sz="900"/>
                        <a:t>25</a:t>
                      </a:r>
                    </a:p>
                  </a:txBody>
                  <a:tcPr marL="45720" marR="45720">
                    <a:solidFill>
                      <a:srgbClr val="D9D9D9"/>
                    </a:solidFill>
                  </a:tcPr>
                </a:tc>
                <a:tc>
                  <a:txBody>
                    <a:bodyPr/>
                    <a:lstStyle/>
                    <a:p>
                      <a:pPr algn="ctr">
                        <a:defRPr sz="1100" b="1">
                          <a:solidFill>
                            <a:srgbClr val="000000"/>
                          </a:solidFill>
                          <a:latin typeface="Montserrat"/>
                        </a:defRPr>
                      </a:pPr>
                      <a:r>
                        <a:rPr sz="900"/>
                        <a:t>70.4%</a:t>
                      </a:r>
                    </a:p>
                  </a:txBody>
                  <a:tcPr marL="45720" marR="45720">
                    <a:lnR w="12700" cap="flat" cmpd="sng" algn="ctr">
                      <a:solidFill>
                        <a:schemeClr val="bg1">
                          <a:lumMod val="95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06"/>
                  </a:ext>
                </a:extLst>
              </a:tr>
              <a:tr h="202661">
                <a:tc>
                  <a:txBody>
                    <a:bodyPr/>
                    <a:lstStyle/>
                    <a:p>
                      <a:pPr algn="l">
                        <a:defRPr sz="1100" b="0">
                          <a:solidFill>
                            <a:srgbClr val="000000"/>
                          </a:solidFill>
                          <a:latin typeface="Montserrat"/>
                        </a:defRPr>
                      </a:pPr>
                      <a:r>
                        <a:rPr sz="900"/>
                        <a:t>Pediatría</a:t>
                      </a:r>
                    </a:p>
                  </a:txBody>
                  <a:tcPr marL="45720" marR="45720">
                    <a:lnL w="12700" cap="flat" cmpd="sng" algn="ctr">
                      <a:solidFill>
                        <a:schemeClr val="bg1">
                          <a:lumMod val="95000"/>
                        </a:schemeClr>
                      </a:solidFill>
                      <a:prstDash val="solid"/>
                      <a:round/>
                      <a:headEnd type="none" w="med" len="med"/>
                      <a:tailEnd type="none" w="med" len="med"/>
                    </a:lnL>
                    <a:solidFill>
                      <a:srgbClr val="FFFFFF"/>
                    </a:solidFill>
                  </a:tcPr>
                </a:tc>
                <a:tc>
                  <a:txBody>
                    <a:bodyPr/>
                    <a:lstStyle/>
                    <a:p>
                      <a:pPr algn="ctr">
                        <a:defRPr sz="1100" b="0">
                          <a:solidFill>
                            <a:srgbClr val="000000"/>
                          </a:solidFill>
                          <a:latin typeface="Montserrat"/>
                        </a:defRPr>
                      </a:pPr>
                      <a:r>
                        <a:rPr sz="900"/>
                        <a:t>22</a:t>
                      </a:r>
                    </a:p>
                  </a:txBody>
                  <a:tcPr marL="45720" marR="45720">
                    <a:solidFill>
                      <a:srgbClr val="FFFFFF"/>
                    </a:solidFill>
                  </a:tcPr>
                </a:tc>
                <a:tc>
                  <a:txBody>
                    <a:bodyPr/>
                    <a:lstStyle/>
                    <a:p>
                      <a:pPr algn="ctr">
                        <a:defRPr sz="1100" b="1">
                          <a:solidFill>
                            <a:srgbClr val="000000"/>
                          </a:solidFill>
                          <a:latin typeface="Montserrat"/>
                        </a:defRPr>
                      </a:pPr>
                      <a:r>
                        <a:rPr sz="900"/>
                        <a:t>75.5%</a:t>
                      </a:r>
                    </a:p>
                  </a:txBody>
                  <a:tcPr marL="45720" marR="45720">
                    <a:lnR w="12700" cap="flat" cmpd="sng" algn="ctr">
                      <a:solidFill>
                        <a:schemeClr val="bg1">
                          <a:lumMod val="9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7"/>
                  </a:ext>
                </a:extLst>
              </a:tr>
              <a:tr h="202661">
                <a:tc>
                  <a:txBody>
                    <a:bodyPr/>
                    <a:lstStyle/>
                    <a:p>
                      <a:pPr algn="l">
                        <a:defRPr sz="1100" b="0">
                          <a:solidFill>
                            <a:srgbClr val="000000"/>
                          </a:solidFill>
                          <a:latin typeface="Montserrat"/>
                        </a:defRPr>
                      </a:pPr>
                      <a:r>
                        <a:rPr sz="900"/>
                        <a:t>Traumatología y Ortopedia</a:t>
                      </a:r>
                    </a:p>
                  </a:txBody>
                  <a:tcPr marL="45720" marR="45720">
                    <a:lnL w="12700" cap="flat" cmpd="sng" algn="ctr">
                      <a:solidFill>
                        <a:schemeClr val="bg1">
                          <a:lumMod val="95000"/>
                        </a:schemeClr>
                      </a:solidFill>
                      <a:prstDash val="solid"/>
                      <a:round/>
                      <a:headEnd type="none" w="med" len="med"/>
                      <a:tailEnd type="none" w="med" len="med"/>
                    </a:lnL>
                    <a:solidFill>
                      <a:srgbClr val="D9D9D9"/>
                    </a:solidFill>
                  </a:tcPr>
                </a:tc>
                <a:tc>
                  <a:txBody>
                    <a:bodyPr/>
                    <a:lstStyle/>
                    <a:p>
                      <a:pPr algn="ctr">
                        <a:defRPr sz="1100" b="0">
                          <a:solidFill>
                            <a:srgbClr val="000000"/>
                          </a:solidFill>
                          <a:latin typeface="Montserrat"/>
                        </a:defRPr>
                      </a:pPr>
                      <a:r>
                        <a:rPr sz="900"/>
                        <a:t>20</a:t>
                      </a:r>
                    </a:p>
                  </a:txBody>
                  <a:tcPr marL="45720" marR="45720">
                    <a:solidFill>
                      <a:srgbClr val="D9D9D9"/>
                    </a:solidFill>
                  </a:tcPr>
                </a:tc>
                <a:tc>
                  <a:txBody>
                    <a:bodyPr/>
                    <a:lstStyle/>
                    <a:p>
                      <a:pPr algn="ctr">
                        <a:defRPr sz="1100" b="1">
                          <a:solidFill>
                            <a:srgbClr val="000000"/>
                          </a:solidFill>
                          <a:latin typeface="Montserrat"/>
                        </a:defRPr>
                      </a:pPr>
                      <a:r>
                        <a:rPr sz="900"/>
                        <a:t>80.0%</a:t>
                      </a:r>
                    </a:p>
                  </a:txBody>
                  <a:tcPr marL="45720" marR="45720">
                    <a:lnR w="12700" cap="flat" cmpd="sng" algn="ctr">
                      <a:solidFill>
                        <a:schemeClr val="bg1">
                          <a:lumMod val="95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08"/>
                  </a:ext>
                </a:extLst>
              </a:tr>
              <a:tr h="202661">
                <a:tc>
                  <a:txBody>
                    <a:bodyPr/>
                    <a:lstStyle/>
                    <a:p>
                      <a:pPr algn="l">
                        <a:defRPr sz="1100" b="0">
                          <a:solidFill>
                            <a:srgbClr val="000000"/>
                          </a:solidFill>
                          <a:latin typeface="Montserrat"/>
                        </a:defRPr>
                      </a:pPr>
                      <a:r>
                        <a:rPr sz="900"/>
                        <a:t>Medicina del Trabajo y Ambiental</a:t>
                      </a:r>
                    </a:p>
                  </a:txBody>
                  <a:tcPr marL="45720" marR="45720">
                    <a:lnL w="12700" cap="flat" cmpd="sng" algn="ctr">
                      <a:solidFill>
                        <a:schemeClr val="bg1">
                          <a:lumMod val="95000"/>
                        </a:schemeClr>
                      </a:solidFill>
                      <a:prstDash val="solid"/>
                      <a:round/>
                      <a:headEnd type="none" w="med" len="med"/>
                      <a:tailEnd type="none" w="med" len="med"/>
                    </a:lnL>
                    <a:solidFill>
                      <a:srgbClr val="FFFFFF"/>
                    </a:solidFill>
                  </a:tcPr>
                </a:tc>
                <a:tc>
                  <a:txBody>
                    <a:bodyPr/>
                    <a:lstStyle/>
                    <a:p>
                      <a:pPr algn="ctr">
                        <a:defRPr sz="1100" b="0">
                          <a:solidFill>
                            <a:srgbClr val="000000"/>
                          </a:solidFill>
                          <a:latin typeface="Montserrat"/>
                        </a:defRPr>
                      </a:pPr>
                      <a:r>
                        <a:rPr sz="900"/>
                        <a:t>14</a:t>
                      </a:r>
                    </a:p>
                  </a:txBody>
                  <a:tcPr marL="45720" marR="45720">
                    <a:solidFill>
                      <a:srgbClr val="FFFFFF"/>
                    </a:solidFill>
                  </a:tcPr>
                </a:tc>
                <a:tc>
                  <a:txBody>
                    <a:bodyPr/>
                    <a:lstStyle/>
                    <a:p>
                      <a:pPr algn="ctr">
                        <a:defRPr sz="1100" b="1">
                          <a:solidFill>
                            <a:srgbClr val="000000"/>
                          </a:solidFill>
                          <a:latin typeface="Montserrat"/>
                        </a:defRPr>
                      </a:pPr>
                      <a:r>
                        <a:rPr sz="900"/>
                        <a:t>83.2%</a:t>
                      </a:r>
                    </a:p>
                  </a:txBody>
                  <a:tcPr marL="45720" marR="45720">
                    <a:lnR w="12700" cap="flat" cmpd="sng" algn="ctr">
                      <a:solidFill>
                        <a:schemeClr val="bg1">
                          <a:lumMod val="9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9"/>
                  </a:ext>
                </a:extLst>
              </a:tr>
              <a:tr h="202661">
                <a:tc>
                  <a:txBody>
                    <a:bodyPr/>
                    <a:lstStyle/>
                    <a:p>
                      <a:pPr algn="l">
                        <a:defRPr sz="1100" b="0">
                          <a:solidFill>
                            <a:srgbClr val="000000"/>
                          </a:solidFill>
                          <a:latin typeface="Montserrat"/>
                        </a:defRPr>
                      </a:pPr>
                      <a:r>
                        <a:rPr sz="900"/>
                        <a:t>Medicina del Enfermo en Estado </a:t>
                      </a:r>
                      <a:r>
                        <a:rPr sz="900" err="1"/>
                        <a:t>Crítico</a:t>
                      </a:r>
                      <a:endParaRPr sz="900"/>
                    </a:p>
                  </a:txBody>
                  <a:tcPr marL="45720" marR="45720">
                    <a:lnL w="12700" cap="flat" cmpd="sng" algn="ctr">
                      <a:solidFill>
                        <a:schemeClr val="bg1">
                          <a:lumMod val="95000"/>
                        </a:schemeClr>
                      </a:solidFill>
                      <a:prstDash val="solid"/>
                      <a:round/>
                      <a:headEnd type="none" w="med" len="med"/>
                      <a:tailEnd type="none" w="med" len="med"/>
                    </a:lnL>
                    <a:solidFill>
                      <a:srgbClr val="D9D9D9"/>
                    </a:solidFill>
                  </a:tcPr>
                </a:tc>
                <a:tc>
                  <a:txBody>
                    <a:bodyPr/>
                    <a:lstStyle/>
                    <a:p>
                      <a:pPr algn="ctr">
                        <a:defRPr sz="1100" b="0">
                          <a:solidFill>
                            <a:srgbClr val="000000"/>
                          </a:solidFill>
                          <a:latin typeface="Montserrat"/>
                        </a:defRPr>
                      </a:pPr>
                      <a:r>
                        <a:rPr sz="900"/>
                        <a:t>12</a:t>
                      </a:r>
                    </a:p>
                  </a:txBody>
                  <a:tcPr marL="45720" marR="45720">
                    <a:solidFill>
                      <a:srgbClr val="D9D9D9"/>
                    </a:solidFill>
                  </a:tcPr>
                </a:tc>
                <a:tc>
                  <a:txBody>
                    <a:bodyPr/>
                    <a:lstStyle/>
                    <a:p>
                      <a:pPr algn="ctr">
                        <a:defRPr sz="1100" b="1">
                          <a:solidFill>
                            <a:srgbClr val="000000"/>
                          </a:solidFill>
                          <a:latin typeface="Montserrat"/>
                        </a:defRPr>
                      </a:pPr>
                      <a:r>
                        <a:rPr sz="900"/>
                        <a:t>86.0%</a:t>
                      </a:r>
                    </a:p>
                  </a:txBody>
                  <a:tcPr marL="45720" marR="45720">
                    <a:lnR w="12700" cap="flat" cmpd="sng" algn="ctr">
                      <a:solidFill>
                        <a:schemeClr val="bg1">
                          <a:lumMod val="95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10"/>
                  </a:ext>
                </a:extLst>
              </a:tr>
              <a:tr h="202661">
                <a:tc>
                  <a:txBody>
                    <a:bodyPr/>
                    <a:lstStyle/>
                    <a:p>
                      <a:pPr algn="l">
                        <a:defRPr sz="1100" b="0">
                          <a:solidFill>
                            <a:srgbClr val="000000"/>
                          </a:solidFill>
                          <a:latin typeface="Montserrat"/>
                        </a:defRPr>
                      </a:pPr>
                      <a:r>
                        <a:rPr sz="900"/>
                        <a:t>Cardiología</a:t>
                      </a:r>
                    </a:p>
                  </a:txBody>
                  <a:tcPr marL="45720" marR="45720">
                    <a:lnL w="12700" cap="flat" cmpd="sng" algn="ctr">
                      <a:solidFill>
                        <a:schemeClr val="bg1">
                          <a:lumMod val="95000"/>
                        </a:schemeClr>
                      </a:solidFill>
                      <a:prstDash val="solid"/>
                      <a:round/>
                      <a:headEnd type="none" w="med" len="med"/>
                      <a:tailEnd type="none" w="med" len="med"/>
                    </a:lnL>
                    <a:solidFill>
                      <a:srgbClr val="FFFFFF"/>
                    </a:solidFill>
                  </a:tcPr>
                </a:tc>
                <a:tc>
                  <a:txBody>
                    <a:bodyPr/>
                    <a:lstStyle/>
                    <a:p>
                      <a:pPr algn="ctr">
                        <a:defRPr sz="1100" b="0">
                          <a:solidFill>
                            <a:srgbClr val="000000"/>
                          </a:solidFill>
                          <a:latin typeface="Montserrat"/>
                        </a:defRPr>
                      </a:pPr>
                      <a:r>
                        <a:rPr sz="900"/>
                        <a:t>8</a:t>
                      </a:r>
                    </a:p>
                  </a:txBody>
                  <a:tcPr marL="45720" marR="45720">
                    <a:solidFill>
                      <a:srgbClr val="FFFFFF"/>
                    </a:solidFill>
                  </a:tcPr>
                </a:tc>
                <a:tc>
                  <a:txBody>
                    <a:bodyPr/>
                    <a:lstStyle/>
                    <a:p>
                      <a:pPr algn="ctr">
                        <a:defRPr sz="1100" b="1">
                          <a:solidFill>
                            <a:srgbClr val="000000"/>
                          </a:solidFill>
                          <a:latin typeface="Montserrat"/>
                        </a:defRPr>
                      </a:pPr>
                      <a:r>
                        <a:rPr sz="900"/>
                        <a:t>87.8%</a:t>
                      </a:r>
                    </a:p>
                  </a:txBody>
                  <a:tcPr marL="45720" marR="45720">
                    <a:lnR w="12700" cap="flat" cmpd="sng" algn="ctr">
                      <a:solidFill>
                        <a:schemeClr val="bg1">
                          <a:lumMod val="9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11"/>
                  </a:ext>
                </a:extLst>
              </a:tr>
              <a:tr h="202661">
                <a:tc>
                  <a:txBody>
                    <a:bodyPr/>
                    <a:lstStyle/>
                    <a:p>
                      <a:pPr algn="l">
                        <a:defRPr sz="1100" b="0">
                          <a:solidFill>
                            <a:srgbClr val="000000"/>
                          </a:solidFill>
                          <a:latin typeface="Montserrat"/>
                        </a:defRPr>
                      </a:pPr>
                      <a:r>
                        <a:rPr sz="900"/>
                        <a:t>Imagenología Diagnóstico y Terapéutica</a:t>
                      </a:r>
                    </a:p>
                  </a:txBody>
                  <a:tcPr marL="45720" marR="45720">
                    <a:lnL w="12700" cap="flat" cmpd="sng" algn="ctr">
                      <a:solidFill>
                        <a:schemeClr val="bg1">
                          <a:lumMod val="95000"/>
                        </a:schemeClr>
                      </a:solidFill>
                      <a:prstDash val="solid"/>
                      <a:round/>
                      <a:headEnd type="none" w="med" len="med"/>
                      <a:tailEnd type="none" w="med" len="med"/>
                    </a:lnL>
                    <a:solidFill>
                      <a:srgbClr val="D9D9D9"/>
                    </a:solidFill>
                  </a:tcPr>
                </a:tc>
                <a:tc>
                  <a:txBody>
                    <a:bodyPr/>
                    <a:lstStyle/>
                    <a:p>
                      <a:pPr algn="ctr">
                        <a:defRPr sz="1100" b="0">
                          <a:solidFill>
                            <a:srgbClr val="000000"/>
                          </a:solidFill>
                          <a:latin typeface="Montserrat"/>
                        </a:defRPr>
                      </a:pPr>
                      <a:r>
                        <a:rPr sz="900"/>
                        <a:t>8</a:t>
                      </a:r>
                    </a:p>
                  </a:txBody>
                  <a:tcPr marL="45720" marR="45720">
                    <a:solidFill>
                      <a:srgbClr val="D9D9D9"/>
                    </a:solidFill>
                  </a:tcPr>
                </a:tc>
                <a:tc>
                  <a:txBody>
                    <a:bodyPr/>
                    <a:lstStyle/>
                    <a:p>
                      <a:pPr algn="ctr">
                        <a:defRPr sz="1100" b="1">
                          <a:solidFill>
                            <a:srgbClr val="000000"/>
                          </a:solidFill>
                          <a:latin typeface="Montserrat"/>
                        </a:defRPr>
                      </a:pPr>
                      <a:r>
                        <a:rPr sz="900"/>
                        <a:t>89.7%</a:t>
                      </a:r>
                    </a:p>
                  </a:txBody>
                  <a:tcPr marL="45720" marR="45720">
                    <a:lnR w="12700" cap="flat" cmpd="sng" algn="ctr">
                      <a:solidFill>
                        <a:schemeClr val="bg1">
                          <a:lumMod val="95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12"/>
                  </a:ext>
                </a:extLst>
              </a:tr>
              <a:tr h="202661">
                <a:tc>
                  <a:txBody>
                    <a:bodyPr/>
                    <a:lstStyle/>
                    <a:p>
                      <a:pPr algn="l">
                        <a:defRPr sz="1100" b="0">
                          <a:solidFill>
                            <a:srgbClr val="000000"/>
                          </a:solidFill>
                          <a:latin typeface="Montserrat"/>
                        </a:defRPr>
                      </a:pPr>
                      <a:r>
                        <a:rPr sz="900" err="1"/>
                        <a:t>Geriatría</a:t>
                      </a:r>
                      <a:endParaRPr sz="900"/>
                    </a:p>
                  </a:txBody>
                  <a:tcPr marL="45720" marR="45720">
                    <a:lnL w="12700" cap="flat" cmpd="sng" algn="ctr">
                      <a:solidFill>
                        <a:schemeClr val="bg1">
                          <a:lumMod val="95000"/>
                        </a:schemeClr>
                      </a:solidFill>
                      <a:prstDash val="solid"/>
                      <a:round/>
                      <a:headEnd type="none" w="med" len="med"/>
                      <a:tailEnd type="none" w="med" len="med"/>
                    </a:lnL>
                    <a:solidFill>
                      <a:srgbClr val="FFFFFF"/>
                    </a:solidFill>
                  </a:tcPr>
                </a:tc>
                <a:tc>
                  <a:txBody>
                    <a:bodyPr/>
                    <a:lstStyle/>
                    <a:p>
                      <a:pPr algn="ctr">
                        <a:defRPr sz="1100" b="0">
                          <a:solidFill>
                            <a:srgbClr val="000000"/>
                          </a:solidFill>
                          <a:latin typeface="Montserrat"/>
                        </a:defRPr>
                      </a:pPr>
                      <a:r>
                        <a:rPr sz="900"/>
                        <a:t>5</a:t>
                      </a:r>
                    </a:p>
                  </a:txBody>
                  <a:tcPr marL="45720" marR="45720">
                    <a:solidFill>
                      <a:srgbClr val="FFFFFF"/>
                    </a:solidFill>
                  </a:tcPr>
                </a:tc>
                <a:tc>
                  <a:txBody>
                    <a:bodyPr/>
                    <a:lstStyle/>
                    <a:p>
                      <a:pPr algn="ctr">
                        <a:defRPr sz="1100" b="1">
                          <a:solidFill>
                            <a:srgbClr val="000000"/>
                          </a:solidFill>
                          <a:latin typeface="Montserrat"/>
                        </a:defRPr>
                      </a:pPr>
                      <a:r>
                        <a:rPr sz="900"/>
                        <a:t>90.8%</a:t>
                      </a:r>
                    </a:p>
                  </a:txBody>
                  <a:tcPr marL="45720" marR="45720">
                    <a:lnR w="12700" cap="flat" cmpd="sng" algn="ctr">
                      <a:solidFill>
                        <a:schemeClr val="bg1">
                          <a:lumMod val="9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13"/>
                  </a:ext>
                </a:extLst>
              </a:tr>
              <a:tr h="202661">
                <a:tc>
                  <a:txBody>
                    <a:bodyPr/>
                    <a:lstStyle/>
                    <a:p>
                      <a:pPr algn="l">
                        <a:defRPr sz="1100" b="0">
                          <a:solidFill>
                            <a:srgbClr val="000000"/>
                          </a:solidFill>
                          <a:latin typeface="Montserrat"/>
                        </a:defRPr>
                      </a:pPr>
                      <a:r>
                        <a:rPr sz="900"/>
                        <a:t>Nefrología</a:t>
                      </a:r>
                    </a:p>
                  </a:txBody>
                  <a:tcPr marL="45720" marR="45720">
                    <a:lnL w="12700" cap="flat" cmpd="sng" algn="ctr">
                      <a:solidFill>
                        <a:schemeClr val="bg1">
                          <a:lumMod val="95000"/>
                        </a:schemeClr>
                      </a:solidFill>
                      <a:prstDash val="solid"/>
                      <a:round/>
                      <a:headEnd type="none" w="med" len="med"/>
                      <a:tailEnd type="none" w="med" len="med"/>
                    </a:lnL>
                    <a:solidFill>
                      <a:srgbClr val="D9D9D9"/>
                    </a:solidFill>
                  </a:tcPr>
                </a:tc>
                <a:tc>
                  <a:txBody>
                    <a:bodyPr/>
                    <a:lstStyle/>
                    <a:p>
                      <a:pPr algn="ctr">
                        <a:defRPr sz="1100" b="0">
                          <a:solidFill>
                            <a:srgbClr val="000000"/>
                          </a:solidFill>
                          <a:latin typeface="Montserrat"/>
                        </a:defRPr>
                      </a:pPr>
                      <a:r>
                        <a:rPr sz="900"/>
                        <a:t>5</a:t>
                      </a:r>
                    </a:p>
                  </a:txBody>
                  <a:tcPr marL="45720" marR="45720">
                    <a:solidFill>
                      <a:srgbClr val="D9D9D9"/>
                    </a:solidFill>
                  </a:tcPr>
                </a:tc>
                <a:tc>
                  <a:txBody>
                    <a:bodyPr/>
                    <a:lstStyle/>
                    <a:p>
                      <a:pPr algn="ctr">
                        <a:defRPr sz="1100" b="1">
                          <a:solidFill>
                            <a:srgbClr val="000000"/>
                          </a:solidFill>
                          <a:latin typeface="Montserrat"/>
                        </a:defRPr>
                      </a:pPr>
                      <a:r>
                        <a:rPr sz="900"/>
                        <a:t>91.9%</a:t>
                      </a:r>
                    </a:p>
                  </a:txBody>
                  <a:tcPr marL="45720" marR="45720">
                    <a:lnR w="12700" cap="flat" cmpd="sng" algn="ctr">
                      <a:solidFill>
                        <a:schemeClr val="bg1">
                          <a:lumMod val="95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14"/>
                  </a:ext>
                </a:extLst>
              </a:tr>
              <a:tr h="202661">
                <a:tc>
                  <a:txBody>
                    <a:bodyPr/>
                    <a:lstStyle/>
                    <a:p>
                      <a:pPr algn="l">
                        <a:defRPr sz="1100" b="0">
                          <a:solidFill>
                            <a:srgbClr val="000000"/>
                          </a:solidFill>
                          <a:latin typeface="Montserrat"/>
                        </a:defRPr>
                      </a:pPr>
                      <a:r>
                        <a:rPr sz="900" err="1"/>
                        <a:t>Oftalmología</a:t>
                      </a:r>
                      <a:endParaRPr sz="900"/>
                    </a:p>
                  </a:txBody>
                  <a:tcPr marL="45720" marR="45720">
                    <a:lnL w="12700" cap="flat" cmpd="sng" algn="ctr">
                      <a:solidFill>
                        <a:schemeClr val="bg1">
                          <a:lumMod val="95000"/>
                        </a:schemeClr>
                      </a:solidFill>
                      <a:prstDash val="solid"/>
                      <a:round/>
                      <a:headEnd type="none" w="med" len="med"/>
                      <a:tailEnd type="none" w="med" len="med"/>
                    </a:lnL>
                    <a:solidFill>
                      <a:srgbClr val="FFFFFF"/>
                    </a:solidFill>
                  </a:tcPr>
                </a:tc>
                <a:tc>
                  <a:txBody>
                    <a:bodyPr/>
                    <a:lstStyle/>
                    <a:p>
                      <a:pPr algn="ctr">
                        <a:defRPr sz="1100" b="0">
                          <a:solidFill>
                            <a:srgbClr val="000000"/>
                          </a:solidFill>
                          <a:latin typeface="Montserrat"/>
                        </a:defRPr>
                      </a:pPr>
                      <a:r>
                        <a:rPr sz="900"/>
                        <a:t>4</a:t>
                      </a:r>
                    </a:p>
                  </a:txBody>
                  <a:tcPr marL="45720" marR="45720">
                    <a:solidFill>
                      <a:srgbClr val="FFFFFF"/>
                    </a:solidFill>
                  </a:tcPr>
                </a:tc>
                <a:tc>
                  <a:txBody>
                    <a:bodyPr/>
                    <a:lstStyle/>
                    <a:p>
                      <a:pPr algn="ctr">
                        <a:defRPr sz="1100" b="1">
                          <a:solidFill>
                            <a:srgbClr val="000000"/>
                          </a:solidFill>
                          <a:latin typeface="Montserrat"/>
                        </a:defRPr>
                      </a:pPr>
                      <a:r>
                        <a:rPr sz="900"/>
                        <a:t>92.9%</a:t>
                      </a:r>
                    </a:p>
                  </a:txBody>
                  <a:tcPr marL="45720" marR="45720">
                    <a:lnR w="12700" cap="flat" cmpd="sng" algn="ctr">
                      <a:solidFill>
                        <a:schemeClr val="bg1">
                          <a:lumMod val="9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15"/>
                  </a:ext>
                </a:extLst>
              </a:tr>
              <a:tr h="202661">
                <a:tc>
                  <a:txBody>
                    <a:bodyPr/>
                    <a:lstStyle/>
                    <a:p>
                      <a:pPr algn="l">
                        <a:defRPr sz="1100" b="0">
                          <a:solidFill>
                            <a:srgbClr val="000000"/>
                          </a:solidFill>
                          <a:latin typeface="Montserrat"/>
                        </a:defRPr>
                      </a:pPr>
                      <a:r>
                        <a:rPr sz="900"/>
                        <a:t>Neurocirugía</a:t>
                      </a:r>
                    </a:p>
                  </a:txBody>
                  <a:tcPr marL="45720" marR="45720">
                    <a:lnL w="12700" cap="flat" cmpd="sng" algn="ctr">
                      <a:solidFill>
                        <a:schemeClr val="bg1">
                          <a:lumMod val="95000"/>
                        </a:schemeClr>
                      </a:solidFill>
                      <a:prstDash val="solid"/>
                      <a:round/>
                      <a:headEnd type="none" w="med" len="med"/>
                      <a:tailEnd type="none" w="med" len="med"/>
                    </a:lnL>
                    <a:solidFill>
                      <a:srgbClr val="D9D9D9"/>
                    </a:solidFill>
                  </a:tcPr>
                </a:tc>
                <a:tc>
                  <a:txBody>
                    <a:bodyPr/>
                    <a:lstStyle/>
                    <a:p>
                      <a:pPr algn="ctr">
                        <a:defRPr sz="1100" b="0">
                          <a:solidFill>
                            <a:srgbClr val="000000"/>
                          </a:solidFill>
                          <a:latin typeface="Montserrat"/>
                        </a:defRPr>
                      </a:pPr>
                      <a:r>
                        <a:rPr sz="900"/>
                        <a:t>3</a:t>
                      </a:r>
                    </a:p>
                  </a:txBody>
                  <a:tcPr marL="45720" marR="45720">
                    <a:solidFill>
                      <a:srgbClr val="D9D9D9"/>
                    </a:solidFill>
                  </a:tcPr>
                </a:tc>
                <a:tc>
                  <a:txBody>
                    <a:bodyPr/>
                    <a:lstStyle/>
                    <a:p>
                      <a:pPr algn="ctr">
                        <a:defRPr sz="1100" b="1">
                          <a:solidFill>
                            <a:srgbClr val="000000"/>
                          </a:solidFill>
                          <a:latin typeface="Montserrat"/>
                        </a:defRPr>
                      </a:pPr>
                      <a:r>
                        <a:rPr sz="900"/>
                        <a:t>93.5%</a:t>
                      </a:r>
                    </a:p>
                  </a:txBody>
                  <a:tcPr marL="45720" marR="45720">
                    <a:lnR w="12700" cap="flat" cmpd="sng" algn="ctr">
                      <a:solidFill>
                        <a:schemeClr val="bg1">
                          <a:lumMod val="95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16"/>
                  </a:ext>
                </a:extLst>
              </a:tr>
              <a:tr h="202661">
                <a:tc>
                  <a:txBody>
                    <a:bodyPr/>
                    <a:lstStyle/>
                    <a:p>
                      <a:pPr algn="l">
                        <a:defRPr sz="1100" b="0">
                          <a:solidFill>
                            <a:srgbClr val="000000"/>
                          </a:solidFill>
                          <a:latin typeface="Montserrat"/>
                        </a:defRPr>
                      </a:pPr>
                      <a:r>
                        <a:rPr sz="900"/>
                        <a:t>Endocrinología</a:t>
                      </a:r>
                    </a:p>
                  </a:txBody>
                  <a:tcPr marL="45720" marR="45720">
                    <a:lnL w="12700" cap="flat" cmpd="sng" algn="ctr">
                      <a:solidFill>
                        <a:schemeClr val="bg1">
                          <a:lumMod val="95000"/>
                        </a:schemeClr>
                      </a:solidFill>
                      <a:prstDash val="solid"/>
                      <a:round/>
                      <a:headEnd type="none" w="med" len="med"/>
                      <a:tailEnd type="none" w="med" len="med"/>
                    </a:lnL>
                    <a:solidFill>
                      <a:srgbClr val="FFFFFF"/>
                    </a:solidFill>
                  </a:tcPr>
                </a:tc>
                <a:tc>
                  <a:txBody>
                    <a:bodyPr/>
                    <a:lstStyle/>
                    <a:p>
                      <a:pPr algn="ctr">
                        <a:defRPr sz="1100" b="0">
                          <a:solidFill>
                            <a:srgbClr val="000000"/>
                          </a:solidFill>
                          <a:latin typeface="Montserrat"/>
                        </a:defRPr>
                      </a:pPr>
                      <a:r>
                        <a:rPr sz="900"/>
                        <a:t>3</a:t>
                      </a:r>
                    </a:p>
                  </a:txBody>
                  <a:tcPr marL="45720" marR="45720">
                    <a:solidFill>
                      <a:srgbClr val="FFFFFF"/>
                    </a:solidFill>
                  </a:tcPr>
                </a:tc>
                <a:tc>
                  <a:txBody>
                    <a:bodyPr/>
                    <a:lstStyle/>
                    <a:p>
                      <a:pPr algn="ctr">
                        <a:defRPr sz="1100" b="1">
                          <a:solidFill>
                            <a:srgbClr val="000000"/>
                          </a:solidFill>
                          <a:latin typeface="Montserrat"/>
                        </a:defRPr>
                      </a:pPr>
                      <a:r>
                        <a:rPr sz="900"/>
                        <a:t>94.2%</a:t>
                      </a:r>
                    </a:p>
                  </a:txBody>
                  <a:tcPr marL="45720" marR="45720">
                    <a:lnR w="12700" cap="flat" cmpd="sng" algn="ctr">
                      <a:solidFill>
                        <a:schemeClr val="bg1">
                          <a:lumMod val="9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17"/>
                  </a:ext>
                </a:extLst>
              </a:tr>
              <a:tr h="202661">
                <a:tc>
                  <a:txBody>
                    <a:bodyPr/>
                    <a:lstStyle/>
                    <a:p>
                      <a:pPr algn="l">
                        <a:defRPr sz="1100" b="0">
                          <a:solidFill>
                            <a:srgbClr val="000000"/>
                          </a:solidFill>
                          <a:latin typeface="Montserrat"/>
                        </a:defRPr>
                      </a:pPr>
                      <a:r>
                        <a:rPr sz="900"/>
                        <a:t>Terapia Endovascular Neurológica</a:t>
                      </a:r>
                    </a:p>
                  </a:txBody>
                  <a:tcPr marL="45720" marR="45720">
                    <a:lnL w="12700" cap="flat" cmpd="sng" algn="ctr">
                      <a:solidFill>
                        <a:schemeClr val="bg1">
                          <a:lumMod val="95000"/>
                        </a:schemeClr>
                      </a:solidFill>
                      <a:prstDash val="solid"/>
                      <a:round/>
                      <a:headEnd type="none" w="med" len="med"/>
                      <a:tailEnd type="none" w="med" len="med"/>
                    </a:lnL>
                    <a:solidFill>
                      <a:srgbClr val="D9D9D9"/>
                    </a:solidFill>
                  </a:tcPr>
                </a:tc>
                <a:tc>
                  <a:txBody>
                    <a:bodyPr/>
                    <a:lstStyle/>
                    <a:p>
                      <a:pPr algn="ctr">
                        <a:defRPr sz="1100" b="0">
                          <a:solidFill>
                            <a:srgbClr val="000000"/>
                          </a:solidFill>
                          <a:latin typeface="Montserrat"/>
                        </a:defRPr>
                      </a:pPr>
                      <a:r>
                        <a:rPr sz="900"/>
                        <a:t>2</a:t>
                      </a:r>
                    </a:p>
                  </a:txBody>
                  <a:tcPr marL="45720" marR="45720">
                    <a:solidFill>
                      <a:srgbClr val="D9D9D9"/>
                    </a:solidFill>
                  </a:tcPr>
                </a:tc>
                <a:tc>
                  <a:txBody>
                    <a:bodyPr/>
                    <a:lstStyle/>
                    <a:p>
                      <a:pPr algn="ctr">
                        <a:defRPr sz="1100" b="1">
                          <a:solidFill>
                            <a:srgbClr val="000000"/>
                          </a:solidFill>
                          <a:latin typeface="Montserrat"/>
                        </a:defRPr>
                      </a:pPr>
                      <a:r>
                        <a:rPr sz="900"/>
                        <a:t>94.7%</a:t>
                      </a:r>
                    </a:p>
                  </a:txBody>
                  <a:tcPr marL="45720" marR="45720">
                    <a:lnR w="12700" cap="flat" cmpd="sng" algn="ctr">
                      <a:solidFill>
                        <a:schemeClr val="bg1">
                          <a:lumMod val="95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18"/>
                  </a:ext>
                </a:extLst>
              </a:tr>
              <a:tr h="202661">
                <a:tc>
                  <a:txBody>
                    <a:bodyPr/>
                    <a:lstStyle/>
                    <a:p>
                      <a:pPr algn="l">
                        <a:defRPr sz="1100" b="0">
                          <a:solidFill>
                            <a:srgbClr val="000000"/>
                          </a:solidFill>
                          <a:latin typeface="Montserrat"/>
                        </a:defRPr>
                      </a:pPr>
                      <a:r>
                        <a:rPr sz="900"/>
                        <a:t>Urología</a:t>
                      </a:r>
                    </a:p>
                  </a:txBody>
                  <a:tcPr marL="45720" marR="45720">
                    <a:lnL w="12700" cap="flat" cmpd="sng" algn="ctr">
                      <a:solidFill>
                        <a:schemeClr val="bg1">
                          <a:lumMod val="95000"/>
                        </a:schemeClr>
                      </a:solidFill>
                      <a:prstDash val="solid"/>
                      <a:round/>
                      <a:headEnd type="none" w="med" len="med"/>
                      <a:tailEnd type="none" w="med" len="med"/>
                    </a:lnL>
                    <a:solidFill>
                      <a:srgbClr val="FFFFFF"/>
                    </a:solidFill>
                  </a:tcPr>
                </a:tc>
                <a:tc>
                  <a:txBody>
                    <a:bodyPr/>
                    <a:lstStyle/>
                    <a:p>
                      <a:pPr algn="ctr">
                        <a:defRPr sz="1100" b="0">
                          <a:solidFill>
                            <a:srgbClr val="000000"/>
                          </a:solidFill>
                          <a:latin typeface="Montserrat"/>
                        </a:defRPr>
                      </a:pPr>
                      <a:r>
                        <a:rPr sz="900"/>
                        <a:t>2</a:t>
                      </a:r>
                    </a:p>
                  </a:txBody>
                  <a:tcPr marL="45720" marR="45720">
                    <a:solidFill>
                      <a:srgbClr val="FFFFFF"/>
                    </a:solidFill>
                  </a:tcPr>
                </a:tc>
                <a:tc>
                  <a:txBody>
                    <a:bodyPr/>
                    <a:lstStyle/>
                    <a:p>
                      <a:pPr algn="ctr">
                        <a:defRPr sz="1100" b="1">
                          <a:solidFill>
                            <a:srgbClr val="000000"/>
                          </a:solidFill>
                          <a:latin typeface="Montserrat"/>
                        </a:defRPr>
                      </a:pPr>
                      <a:r>
                        <a:rPr sz="900"/>
                        <a:t>95.1%</a:t>
                      </a:r>
                    </a:p>
                  </a:txBody>
                  <a:tcPr marL="45720" marR="45720">
                    <a:lnR w="12700" cap="flat" cmpd="sng" algn="ctr">
                      <a:solidFill>
                        <a:schemeClr val="bg1">
                          <a:lumMod val="9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19"/>
                  </a:ext>
                </a:extLst>
              </a:tr>
              <a:tr h="202661">
                <a:tc>
                  <a:txBody>
                    <a:bodyPr/>
                    <a:lstStyle/>
                    <a:p>
                      <a:pPr algn="l">
                        <a:defRPr sz="1100" b="0">
                          <a:solidFill>
                            <a:srgbClr val="000000"/>
                          </a:solidFill>
                          <a:latin typeface="Montserrat"/>
                        </a:defRPr>
                      </a:pPr>
                      <a:r>
                        <a:rPr sz="900"/>
                        <a:t>Servicios de Sangre</a:t>
                      </a:r>
                    </a:p>
                  </a:txBody>
                  <a:tcPr marL="45720" marR="45720">
                    <a:lnL w="12700" cap="flat" cmpd="sng" algn="ctr">
                      <a:solidFill>
                        <a:schemeClr val="bg1">
                          <a:lumMod val="95000"/>
                        </a:schemeClr>
                      </a:solidFill>
                      <a:prstDash val="solid"/>
                      <a:round/>
                      <a:headEnd type="none" w="med" len="med"/>
                      <a:tailEnd type="none" w="med" len="med"/>
                    </a:lnL>
                    <a:solidFill>
                      <a:srgbClr val="D9D9D9"/>
                    </a:solidFill>
                  </a:tcPr>
                </a:tc>
                <a:tc>
                  <a:txBody>
                    <a:bodyPr/>
                    <a:lstStyle/>
                    <a:p>
                      <a:pPr algn="ctr">
                        <a:defRPr sz="1100" b="0">
                          <a:solidFill>
                            <a:srgbClr val="000000"/>
                          </a:solidFill>
                          <a:latin typeface="Montserrat"/>
                        </a:defRPr>
                      </a:pPr>
                      <a:r>
                        <a:rPr sz="900"/>
                        <a:t>2</a:t>
                      </a:r>
                    </a:p>
                  </a:txBody>
                  <a:tcPr marL="45720" marR="45720">
                    <a:solidFill>
                      <a:srgbClr val="D9D9D9"/>
                    </a:solidFill>
                  </a:tcPr>
                </a:tc>
                <a:tc>
                  <a:txBody>
                    <a:bodyPr/>
                    <a:lstStyle/>
                    <a:p>
                      <a:pPr algn="ctr">
                        <a:defRPr sz="1100" b="1">
                          <a:solidFill>
                            <a:srgbClr val="000000"/>
                          </a:solidFill>
                          <a:latin typeface="Montserrat"/>
                        </a:defRPr>
                      </a:pPr>
                      <a:r>
                        <a:rPr sz="900"/>
                        <a:t>95.6%</a:t>
                      </a:r>
                    </a:p>
                  </a:txBody>
                  <a:tcPr marL="45720" marR="45720">
                    <a:lnR w="12700" cap="flat" cmpd="sng" algn="ctr">
                      <a:solidFill>
                        <a:schemeClr val="bg1">
                          <a:lumMod val="95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20"/>
                  </a:ext>
                </a:extLst>
              </a:tr>
              <a:tr h="202661">
                <a:tc>
                  <a:txBody>
                    <a:bodyPr/>
                    <a:lstStyle/>
                    <a:p>
                      <a:pPr algn="l">
                        <a:defRPr sz="1100" b="0">
                          <a:solidFill>
                            <a:srgbClr val="000000"/>
                          </a:solidFill>
                          <a:latin typeface="Montserrat"/>
                        </a:defRPr>
                      </a:pPr>
                      <a:r>
                        <a:rPr sz="900" err="1"/>
                        <a:t>Reumatología</a:t>
                      </a:r>
                      <a:endParaRPr sz="900"/>
                    </a:p>
                  </a:txBody>
                  <a:tcPr marL="45720" marR="45720">
                    <a:lnL w="12700" cap="flat" cmpd="sng" algn="ctr">
                      <a:solidFill>
                        <a:schemeClr val="bg1">
                          <a:lumMod val="95000"/>
                        </a:schemeClr>
                      </a:solidFill>
                      <a:prstDash val="solid"/>
                      <a:round/>
                      <a:headEnd type="none" w="med" len="med"/>
                      <a:tailEnd type="none" w="med" len="med"/>
                    </a:lnL>
                    <a:solidFill>
                      <a:srgbClr val="FFFFFF"/>
                    </a:solidFill>
                  </a:tcPr>
                </a:tc>
                <a:tc>
                  <a:txBody>
                    <a:bodyPr/>
                    <a:lstStyle/>
                    <a:p>
                      <a:pPr algn="ctr">
                        <a:defRPr sz="1100" b="0">
                          <a:solidFill>
                            <a:srgbClr val="000000"/>
                          </a:solidFill>
                          <a:latin typeface="Montserrat"/>
                        </a:defRPr>
                      </a:pPr>
                      <a:r>
                        <a:rPr sz="900"/>
                        <a:t>2</a:t>
                      </a:r>
                    </a:p>
                  </a:txBody>
                  <a:tcPr marL="45720" marR="45720">
                    <a:solidFill>
                      <a:srgbClr val="FFFFFF"/>
                    </a:solidFill>
                  </a:tcPr>
                </a:tc>
                <a:tc>
                  <a:txBody>
                    <a:bodyPr/>
                    <a:lstStyle/>
                    <a:p>
                      <a:pPr algn="ctr">
                        <a:defRPr sz="1100" b="1">
                          <a:solidFill>
                            <a:srgbClr val="000000"/>
                          </a:solidFill>
                          <a:latin typeface="Montserrat"/>
                        </a:defRPr>
                      </a:pPr>
                      <a:r>
                        <a:rPr sz="900"/>
                        <a:t>96.1%</a:t>
                      </a:r>
                    </a:p>
                  </a:txBody>
                  <a:tcPr marL="45720" marR="45720">
                    <a:lnR w="12700" cap="flat" cmpd="sng" algn="ctr">
                      <a:solidFill>
                        <a:schemeClr val="bg1">
                          <a:lumMod val="9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21"/>
                  </a:ext>
                </a:extLst>
              </a:tr>
              <a:tr h="202661">
                <a:tc>
                  <a:txBody>
                    <a:bodyPr/>
                    <a:lstStyle/>
                    <a:p>
                      <a:pPr algn="l">
                        <a:defRPr sz="1100" b="0">
                          <a:solidFill>
                            <a:srgbClr val="000000"/>
                          </a:solidFill>
                          <a:latin typeface="Montserrat"/>
                        </a:defRPr>
                      </a:pPr>
                      <a:r>
                        <a:rPr sz="900"/>
                        <a:t>Psiquiatría</a:t>
                      </a:r>
                    </a:p>
                  </a:txBody>
                  <a:tcPr marL="45720" marR="45720">
                    <a:lnL w="12700" cap="flat" cmpd="sng" algn="ctr">
                      <a:solidFill>
                        <a:schemeClr val="bg1">
                          <a:lumMod val="95000"/>
                        </a:schemeClr>
                      </a:solidFill>
                      <a:prstDash val="solid"/>
                      <a:round/>
                      <a:headEnd type="none" w="med" len="med"/>
                      <a:tailEnd type="none" w="med" len="med"/>
                    </a:lnL>
                    <a:solidFill>
                      <a:srgbClr val="D9D9D9"/>
                    </a:solidFill>
                  </a:tcPr>
                </a:tc>
                <a:tc>
                  <a:txBody>
                    <a:bodyPr/>
                    <a:lstStyle/>
                    <a:p>
                      <a:pPr algn="ctr">
                        <a:defRPr sz="1100" b="0">
                          <a:solidFill>
                            <a:srgbClr val="000000"/>
                          </a:solidFill>
                          <a:latin typeface="Montserrat"/>
                        </a:defRPr>
                      </a:pPr>
                      <a:r>
                        <a:rPr sz="900"/>
                        <a:t>2</a:t>
                      </a:r>
                    </a:p>
                  </a:txBody>
                  <a:tcPr marL="45720" marR="45720">
                    <a:solidFill>
                      <a:srgbClr val="D9D9D9"/>
                    </a:solidFill>
                  </a:tcPr>
                </a:tc>
                <a:tc>
                  <a:txBody>
                    <a:bodyPr/>
                    <a:lstStyle/>
                    <a:p>
                      <a:pPr algn="ctr">
                        <a:defRPr sz="1100" b="1">
                          <a:solidFill>
                            <a:srgbClr val="000000"/>
                          </a:solidFill>
                          <a:latin typeface="Montserrat"/>
                        </a:defRPr>
                      </a:pPr>
                      <a:r>
                        <a:rPr sz="900"/>
                        <a:t>96.5%</a:t>
                      </a:r>
                    </a:p>
                  </a:txBody>
                  <a:tcPr marL="45720" marR="45720">
                    <a:lnR w="12700" cap="flat" cmpd="sng" algn="ctr">
                      <a:solidFill>
                        <a:schemeClr val="bg1">
                          <a:lumMod val="95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22"/>
                  </a:ext>
                </a:extLst>
              </a:tr>
              <a:tr h="202661">
                <a:tc>
                  <a:txBody>
                    <a:bodyPr/>
                    <a:lstStyle/>
                    <a:p>
                      <a:pPr algn="l">
                        <a:defRPr sz="1100" b="0">
                          <a:solidFill>
                            <a:srgbClr val="000000"/>
                          </a:solidFill>
                          <a:latin typeface="Montserrat"/>
                        </a:defRPr>
                      </a:pPr>
                      <a:r>
                        <a:rPr sz="900"/>
                        <a:t>Hematología</a:t>
                      </a:r>
                    </a:p>
                  </a:txBody>
                  <a:tcPr marL="45720" marR="45720">
                    <a:lnL w="12700" cap="flat" cmpd="sng" algn="ctr">
                      <a:solidFill>
                        <a:schemeClr val="bg1">
                          <a:lumMod val="95000"/>
                        </a:schemeClr>
                      </a:solidFill>
                      <a:prstDash val="solid"/>
                      <a:round/>
                      <a:headEnd type="none" w="med" len="med"/>
                      <a:tailEnd type="none" w="med" len="med"/>
                    </a:lnL>
                    <a:solidFill>
                      <a:srgbClr val="FFFFFF"/>
                    </a:solidFill>
                  </a:tcPr>
                </a:tc>
                <a:tc>
                  <a:txBody>
                    <a:bodyPr/>
                    <a:lstStyle/>
                    <a:p>
                      <a:pPr algn="ctr">
                        <a:defRPr sz="1100" b="0">
                          <a:solidFill>
                            <a:srgbClr val="000000"/>
                          </a:solidFill>
                          <a:latin typeface="Montserrat"/>
                        </a:defRPr>
                      </a:pPr>
                      <a:r>
                        <a:rPr sz="900"/>
                        <a:t>2</a:t>
                      </a:r>
                    </a:p>
                  </a:txBody>
                  <a:tcPr marL="45720" marR="45720">
                    <a:solidFill>
                      <a:srgbClr val="FFFFFF"/>
                    </a:solidFill>
                  </a:tcPr>
                </a:tc>
                <a:tc>
                  <a:txBody>
                    <a:bodyPr/>
                    <a:lstStyle/>
                    <a:p>
                      <a:pPr algn="ctr">
                        <a:defRPr sz="1100" b="1">
                          <a:solidFill>
                            <a:srgbClr val="000000"/>
                          </a:solidFill>
                          <a:latin typeface="Montserrat"/>
                        </a:defRPr>
                      </a:pPr>
                      <a:r>
                        <a:rPr sz="900"/>
                        <a:t>97.0%</a:t>
                      </a:r>
                    </a:p>
                  </a:txBody>
                  <a:tcPr marL="45720" marR="45720">
                    <a:lnR w="12700" cap="flat" cmpd="sng" algn="ctr">
                      <a:solidFill>
                        <a:schemeClr val="bg1">
                          <a:lumMod val="9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23"/>
                  </a:ext>
                </a:extLst>
              </a:tr>
              <a:tr h="202661">
                <a:tc>
                  <a:txBody>
                    <a:bodyPr/>
                    <a:lstStyle/>
                    <a:p>
                      <a:pPr algn="l">
                        <a:defRPr sz="1100" b="0">
                          <a:solidFill>
                            <a:srgbClr val="000000"/>
                          </a:solidFill>
                          <a:latin typeface="Montserrat"/>
                        </a:defRPr>
                      </a:pPr>
                      <a:r>
                        <a:rPr sz="900"/>
                        <a:t>Medicina de Rehabilitación</a:t>
                      </a:r>
                    </a:p>
                  </a:txBody>
                  <a:tcPr marL="45720" marR="45720">
                    <a:lnL w="12700" cap="flat" cmpd="sng" algn="ctr">
                      <a:solidFill>
                        <a:schemeClr val="bg1">
                          <a:lumMod val="95000"/>
                        </a:schemeClr>
                      </a:solidFill>
                      <a:prstDash val="solid"/>
                      <a:round/>
                      <a:headEnd type="none" w="med" len="med"/>
                      <a:tailEnd type="none" w="med" len="med"/>
                    </a:lnL>
                    <a:solidFill>
                      <a:srgbClr val="D9D9D9"/>
                    </a:solidFill>
                  </a:tcPr>
                </a:tc>
                <a:tc>
                  <a:txBody>
                    <a:bodyPr/>
                    <a:lstStyle/>
                    <a:p>
                      <a:pPr algn="ctr">
                        <a:defRPr sz="1100" b="0">
                          <a:solidFill>
                            <a:srgbClr val="000000"/>
                          </a:solidFill>
                          <a:latin typeface="Montserrat"/>
                        </a:defRPr>
                      </a:pPr>
                      <a:r>
                        <a:rPr sz="900"/>
                        <a:t>2</a:t>
                      </a:r>
                    </a:p>
                  </a:txBody>
                  <a:tcPr marL="45720" marR="45720">
                    <a:solidFill>
                      <a:srgbClr val="D9D9D9"/>
                    </a:solidFill>
                  </a:tcPr>
                </a:tc>
                <a:tc>
                  <a:txBody>
                    <a:bodyPr/>
                    <a:lstStyle/>
                    <a:p>
                      <a:pPr algn="ctr">
                        <a:defRPr sz="1100" b="1">
                          <a:solidFill>
                            <a:srgbClr val="000000"/>
                          </a:solidFill>
                          <a:latin typeface="Montserrat"/>
                        </a:defRPr>
                      </a:pPr>
                      <a:r>
                        <a:rPr sz="900"/>
                        <a:t>97.4%</a:t>
                      </a:r>
                    </a:p>
                  </a:txBody>
                  <a:tcPr marL="45720" marR="45720">
                    <a:lnR w="12700" cap="flat" cmpd="sng" algn="ctr">
                      <a:solidFill>
                        <a:schemeClr val="bg1">
                          <a:lumMod val="95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24"/>
                  </a:ext>
                </a:extLst>
              </a:tr>
              <a:tr h="202661">
                <a:tc>
                  <a:txBody>
                    <a:bodyPr/>
                    <a:lstStyle/>
                    <a:p>
                      <a:pPr algn="l">
                        <a:defRPr sz="1100" b="0">
                          <a:solidFill>
                            <a:srgbClr val="000000"/>
                          </a:solidFill>
                          <a:latin typeface="Montserrat"/>
                        </a:defRPr>
                      </a:pPr>
                      <a:r>
                        <a:rPr sz="900"/>
                        <a:t>Medicina Nuclear e Imagenología Molecular</a:t>
                      </a:r>
                    </a:p>
                  </a:txBody>
                  <a:tcPr marL="45720" marR="45720">
                    <a:lnL w="12700" cap="flat" cmpd="sng" algn="ctr">
                      <a:solidFill>
                        <a:schemeClr val="bg1">
                          <a:lumMod val="95000"/>
                        </a:schemeClr>
                      </a:solidFill>
                      <a:prstDash val="solid"/>
                      <a:round/>
                      <a:headEnd type="none" w="med" len="med"/>
                      <a:tailEnd type="none" w="med" len="med"/>
                    </a:lnL>
                    <a:solidFill>
                      <a:srgbClr val="FFFFFF"/>
                    </a:solidFill>
                  </a:tcPr>
                </a:tc>
                <a:tc>
                  <a:txBody>
                    <a:bodyPr/>
                    <a:lstStyle/>
                    <a:p>
                      <a:pPr algn="ctr">
                        <a:defRPr sz="1100" b="0">
                          <a:solidFill>
                            <a:srgbClr val="000000"/>
                          </a:solidFill>
                          <a:latin typeface="Montserrat"/>
                        </a:defRPr>
                      </a:pPr>
                      <a:r>
                        <a:rPr sz="900"/>
                        <a:t>2</a:t>
                      </a:r>
                    </a:p>
                  </a:txBody>
                  <a:tcPr marL="45720" marR="45720">
                    <a:solidFill>
                      <a:srgbClr val="FFFFFF"/>
                    </a:solidFill>
                  </a:tcPr>
                </a:tc>
                <a:tc>
                  <a:txBody>
                    <a:bodyPr/>
                    <a:lstStyle/>
                    <a:p>
                      <a:pPr algn="ctr">
                        <a:defRPr sz="1100" b="1">
                          <a:solidFill>
                            <a:srgbClr val="000000"/>
                          </a:solidFill>
                          <a:latin typeface="Montserrat"/>
                        </a:defRPr>
                      </a:pPr>
                      <a:r>
                        <a:rPr sz="900"/>
                        <a:t>97.9%</a:t>
                      </a:r>
                    </a:p>
                  </a:txBody>
                  <a:tcPr marL="45720" marR="45720">
                    <a:lnR w="12700" cap="flat" cmpd="sng" algn="ctr">
                      <a:solidFill>
                        <a:schemeClr val="bg1">
                          <a:lumMod val="9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25"/>
                  </a:ext>
                </a:extLst>
              </a:tr>
              <a:tr h="202661">
                <a:tc>
                  <a:txBody>
                    <a:bodyPr/>
                    <a:lstStyle/>
                    <a:p>
                      <a:pPr algn="l">
                        <a:defRPr sz="1100" b="0">
                          <a:solidFill>
                            <a:srgbClr val="000000"/>
                          </a:solidFill>
                          <a:latin typeface="Montserrat"/>
                        </a:defRPr>
                      </a:pPr>
                      <a:r>
                        <a:rPr sz="900" err="1"/>
                        <a:t>Anatomía</a:t>
                      </a:r>
                      <a:r>
                        <a:rPr sz="900"/>
                        <a:t> </a:t>
                      </a:r>
                      <a:r>
                        <a:rPr sz="900" err="1"/>
                        <a:t>Patológica</a:t>
                      </a:r>
                      <a:endParaRPr sz="900"/>
                    </a:p>
                  </a:txBody>
                  <a:tcPr marL="45720" marR="45720">
                    <a:lnL w="12700" cap="flat" cmpd="sng" algn="ctr">
                      <a:solidFill>
                        <a:schemeClr val="bg1">
                          <a:lumMod val="95000"/>
                        </a:schemeClr>
                      </a:solidFill>
                      <a:prstDash val="solid"/>
                      <a:round/>
                      <a:headEnd type="none" w="med" len="med"/>
                      <a:tailEnd type="none" w="med" len="med"/>
                    </a:lnL>
                    <a:solidFill>
                      <a:schemeClr val="bg2">
                        <a:lumMod val="20000"/>
                        <a:lumOff val="80000"/>
                      </a:schemeClr>
                    </a:solidFill>
                  </a:tcPr>
                </a:tc>
                <a:tc>
                  <a:txBody>
                    <a:bodyPr/>
                    <a:lstStyle/>
                    <a:p>
                      <a:pPr algn="ctr">
                        <a:defRPr sz="1100" b="0">
                          <a:solidFill>
                            <a:srgbClr val="000000"/>
                          </a:solidFill>
                          <a:latin typeface="Montserrat"/>
                        </a:defRPr>
                      </a:pPr>
                      <a:r>
                        <a:rPr sz="900"/>
                        <a:t>1</a:t>
                      </a:r>
                    </a:p>
                  </a:txBody>
                  <a:tcPr marL="45720" marR="45720">
                    <a:solidFill>
                      <a:schemeClr val="bg2">
                        <a:lumMod val="20000"/>
                        <a:lumOff val="80000"/>
                      </a:schemeClr>
                    </a:solidFill>
                  </a:tcPr>
                </a:tc>
                <a:tc>
                  <a:txBody>
                    <a:bodyPr/>
                    <a:lstStyle/>
                    <a:p>
                      <a:pPr algn="ctr">
                        <a:defRPr sz="1100" b="1">
                          <a:solidFill>
                            <a:srgbClr val="000000"/>
                          </a:solidFill>
                          <a:latin typeface="Montserrat"/>
                        </a:defRPr>
                      </a:pPr>
                      <a:r>
                        <a:rPr sz="900"/>
                        <a:t>98.1%</a:t>
                      </a:r>
                    </a:p>
                  </a:txBody>
                  <a:tcPr marL="45720" marR="45720">
                    <a:lnR w="12700" cap="flat" cmpd="sng" algn="ctr">
                      <a:solidFill>
                        <a:schemeClr val="bg1">
                          <a:lumMod val="95000"/>
                        </a:schemeClr>
                      </a:solidFill>
                      <a:prstDash val="solid"/>
                      <a:round/>
                      <a:headEnd type="none" w="med" len="med"/>
                      <a:tailEnd type="none" w="med" len="med"/>
                    </a:lnR>
                    <a:solidFill>
                      <a:schemeClr val="bg2">
                        <a:lumMod val="20000"/>
                        <a:lumOff val="80000"/>
                      </a:schemeClr>
                    </a:solidFill>
                  </a:tcPr>
                </a:tc>
                <a:extLst>
                  <a:ext uri="{0D108BD9-81ED-4DB2-BD59-A6C34878D82A}">
                    <a16:rowId xmlns:a16="http://schemas.microsoft.com/office/drawing/2014/main" val="3006120427"/>
                  </a:ext>
                </a:extLst>
              </a:tr>
              <a:tr h="202661">
                <a:tc>
                  <a:txBody>
                    <a:bodyPr/>
                    <a:lstStyle/>
                    <a:p>
                      <a:pPr algn="l">
                        <a:defRPr sz="1100" b="0">
                          <a:solidFill>
                            <a:srgbClr val="000000"/>
                          </a:solidFill>
                          <a:latin typeface="Montserrat"/>
                        </a:defRPr>
                      </a:pPr>
                      <a:r>
                        <a:rPr sz="900" err="1"/>
                        <a:t>Infectología</a:t>
                      </a:r>
                      <a:endParaRPr sz="900"/>
                    </a:p>
                  </a:txBody>
                  <a:tcPr marL="45720" marR="45720">
                    <a:lnL w="12700" cap="flat" cmpd="sng" algn="ctr">
                      <a:solidFill>
                        <a:schemeClr val="bg1">
                          <a:lumMod val="95000"/>
                        </a:schemeClr>
                      </a:solidFill>
                      <a:prstDash val="solid"/>
                      <a:round/>
                      <a:headEnd type="none" w="med" len="med"/>
                      <a:tailEnd type="none" w="med" len="med"/>
                    </a:lnL>
                    <a:solidFill>
                      <a:srgbClr val="FFFFFF"/>
                    </a:solidFill>
                  </a:tcPr>
                </a:tc>
                <a:tc>
                  <a:txBody>
                    <a:bodyPr/>
                    <a:lstStyle/>
                    <a:p>
                      <a:pPr algn="ctr">
                        <a:defRPr sz="1100" b="0">
                          <a:solidFill>
                            <a:srgbClr val="000000"/>
                          </a:solidFill>
                          <a:latin typeface="Montserrat"/>
                        </a:defRPr>
                      </a:pPr>
                      <a:r>
                        <a:rPr sz="900"/>
                        <a:t>1</a:t>
                      </a:r>
                    </a:p>
                  </a:txBody>
                  <a:tcPr marL="45720" marR="45720">
                    <a:solidFill>
                      <a:srgbClr val="FFFFFF"/>
                    </a:solidFill>
                  </a:tcPr>
                </a:tc>
                <a:tc>
                  <a:txBody>
                    <a:bodyPr/>
                    <a:lstStyle/>
                    <a:p>
                      <a:pPr algn="ctr">
                        <a:defRPr sz="1100" b="1">
                          <a:solidFill>
                            <a:srgbClr val="000000"/>
                          </a:solidFill>
                          <a:latin typeface="Montserrat"/>
                        </a:defRPr>
                      </a:pPr>
                      <a:r>
                        <a:rPr sz="900"/>
                        <a:t>98.3%</a:t>
                      </a:r>
                    </a:p>
                  </a:txBody>
                  <a:tcPr marL="45720" marR="45720">
                    <a:lnR w="12700" cap="flat" cmpd="sng" algn="ctr">
                      <a:solidFill>
                        <a:schemeClr val="bg1">
                          <a:lumMod val="9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824115669"/>
                  </a:ext>
                </a:extLst>
              </a:tr>
              <a:tr h="202661">
                <a:tc>
                  <a:txBody>
                    <a:bodyPr/>
                    <a:lstStyle/>
                    <a:p>
                      <a:pPr algn="l">
                        <a:defRPr sz="1100" b="0">
                          <a:solidFill>
                            <a:srgbClr val="000000"/>
                          </a:solidFill>
                          <a:latin typeface="Montserrat"/>
                        </a:defRPr>
                      </a:pPr>
                      <a:r>
                        <a:rPr sz="900" err="1"/>
                        <a:t>Endoscopia</a:t>
                      </a:r>
                      <a:endParaRPr sz="900"/>
                    </a:p>
                  </a:txBody>
                  <a:tcPr marL="45720" marR="45720">
                    <a:lnL w="12700" cap="flat" cmpd="sng" algn="ctr">
                      <a:solidFill>
                        <a:schemeClr val="bg1">
                          <a:lumMod val="95000"/>
                        </a:schemeClr>
                      </a:solidFill>
                      <a:prstDash val="solid"/>
                      <a:round/>
                      <a:headEnd type="none" w="med" len="med"/>
                      <a:tailEnd type="none" w="med" len="med"/>
                    </a:lnL>
                    <a:solidFill>
                      <a:schemeClr val="bg2">
                        <a:lumMod val="20000"/>
                        <a:lumOff val="80000"/>
                      </a:schemeClr>
                    </a:solidFill>
                  </a:tcPr>
                </a:tc>
                <a:tc>
                  <a:txBody>
                    <a:bodyPr/>
                    <a:lstStyle/>
                    <a:p>
                      <a:pPr algn="ctr">
                        <a:defRPr sz="1100" b="0">
                          <a:solidFill>
                            <a:srgbClr val="000000"/>
                          </a:solidFill>
                          <a:latin typeface="Montserrat"/>
                        </a:defRPr>
                      </a:pPr>
                      <a:r>
                        <a:rPr sz="900"/>
                        <a:t>1</a:t>
                      </a:r>
                    </a:p>
                  </a:txBody>
                  <a:tcPr marL="45720" marR="45720">
                    <a:solidFill>
                      <a:schemeClr val="bg2">
                        <a:lumMod val="20000"/>
                        <a:lumOff val="80000"/>
                      </a:schemeClr>
                    </a:solidFill>
                  </a:tcPr>
                </a:tc>
                <a:tc>
                  <a:txBody>
                    <a:bodyPr/>
                    <a:lstStyle/>
                    <a:p>
                      <a:pPr algn="ctr">
                        <a:defRPr sz="1100" b="1">
                          <a:solidFill>
                            <a:srgbClr val="000000"/>
                          </a:solidFill>
                          <a:latin typeface="Montserrat"/>
                        </a:defRPr>
                      </a:pPr>
                      <a:r>
                        <a:rPr sz="900"/>
                        <a:t>98.6%</a:t>
                      </a:r>
                    </a:p>
                  </a:txBody>
                  <a:tcPr marL="45720" marR="45720">
                    <a:lnR w="12700" cap="flat" cmpd="sng" algn="ctr">
                      <a:solidFill>
                        <a:schemeClr val="bg1">
                          <a:lumMod val="95000"/>
                        </a:schemeClr>
                      </a:solidFill>
                      <a:prstDash val="solid"/>
                      <a:round/>
                      <a:headEnd type="none" w="med" len="med"/>
                      <a:tailEnd type="none" w="med" len="med"/>
                    </a:lnR>
                    <a:solidFill>
                      <a:schemeClr val="bg2">
                        <a:lumMod val="20000"/>
                        <a:lumOff val="80000"/>
                      </a:schemeClr>
                    </a:solidFill>
                  </a:tcPr>
                </a:tc>
                <a:extLst>
                  <a:ext uri="{0D108BD9-81ED-4DB2-BD59-A6C34878D82A}">
                    <a16:rowId xmlns:a16="http://schemas.microsoft.com/office/drawing/2014/main" val="1082486990"/>
                  </a:ext>
                </a:extLst>
              </a:tr>
              <a:tr h="202661">
                <a:tc>
                  <a:txBody>
                    <a:bodyPr/>
                    <a:lstStyle/>
                    <a:p>
                      <a:pPr algn="l">
                        <a:defRPr sz="1100" b="0">
                          <a:solidFill>
                            <a:srgbClr val="000000"/>
                          </a:solidFill>
                          <a:latin typeface="Montserrat"/>
                        </a:defRPr>
                      </a:pPr>
                      <a:r>
                        <a:rPr sz="900" err="1"/>
                        <a:t>Gastroenterología</a:t>
                      </a:r>
                      <a:endParaRPr sz="900"/>
                    </a:p>
                  </a:txBody>
                  <a:tcPr marL="45720" marR="45720">
                    <a:lnL w="12700" cap="flat" cmpd="sng" algn="ctr">
                      <a:solidFill>
                        <a:schemeClr val="bg1">
                          <a:lumMod val="95000"/>
                        </a:schemeClr>
                      </a:solidFill>
                      <a:prstDash val="solid"/>
                      <a:round/>
                      <a:headEnd type="none" w="med" len="med"/>
                      <a:tailEnd type="none" w="med" len="med"/>
                    </a:lnL>
                    <a:solidFill>
                      <a:srgbClr val="FFFFFF"/>
                    </a:solidFill>
                  </a:tcPr>
                </a:tc>
                <a:tc>
                  <a:txBody>
                    <a:bodyPr/>
                    <a:lstStyle/>
                    <a:p>
                      <a:pPr algn="ctr">
                        <a:defRPr sz="1100" b="0">
                          <a:solidFill>
                            <a:srgbClr val="000000"/>
                          </a:solidFill>
                          <a:latin typeface="Montserrat"/>
                        </a:defRPr>
                      </a:pPr>
                      <a:r>
                        <a:rPr sz="900"/>
                        <a:t>1</a:t>
                      </a:r>
                    </a:p>
                  </a:txBody>
                  <a:tcPr marL="45720" marR="45720">
                    <a:solidFill>
                      <a:srgbClr val="FFFFFF"/>
                    </a:solidFill>
                  </a:tcPr>
                </a:tc>
                <a:tc>
                  <a:txBody>
                    <a:bodyPr/>
                    <a:lstStyle/>
                    <a:p>
                      <a:pPr algn="ctr">
                        <a:defRPr sz="1100" b="1">
                          <a:solidFill>
                            <a:srgbClr val="000000"/>
                          </a:solidFill>
                          <a:latin typeface="Montserrat"/>
                        </a:defRPr>
                      </a:pPr>
                      <a:r>
                        <a:rPr sz="900"/>
                        <a:t>98.8%</a:t>
                      </a:r>
                    </a:p>
                  </a:txBody>
                  <a:tcPr marL="45720" marR="45720">
                    <a:lnR w="12700" cap="flat" cmpd="sng" algn="ctr">
                      <a:solidFill>
                        <a:schemeClr val="bg1">
                          <a:lumMod val="9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2154916028"/>
                  </a:ext>
                </a:extLst>
              </a:tr>
              <a:tr h="202661">
                <a:tc>
                  <a:txBody>
                    <a:bodyPr/>
                    <a:lstStyle/>
                    <a:p>
                      <a:pPr algn="l">
                        <a:defRPr sz="1100" b="0">
                          <a:solidFill>
                            <a:srgbClr val="000000"/>
                          </a:solidFill>
                          <a:latin typeface="Montserrat"/>
                        </a:defRPr>
                      </a:pPr>
                      <a:r>
                        <a:rPr sz="900" err="1"/>
                        <a:t>Genética</a:t>
                      </a:r>
                      <a:r>
                        <a:rPr sz="900"/>
                        <a:t> Médica</a:t>
                      </a:r>
                    </a:p>
                  </a:txBody>
                  <a:tcPr marL="45720" marR="45720">
                    <a:lnL w="12700" cap="flat" cmpd="sng" algn="ctr">
                      <a:solidFill>
                        <a:schemeClr val="bg1">
                          <a:lumMod val="95000"/>
                        </a:schemeClr>
                      </a:solidFill>
                      <a:prstDash val="solid"/>
                      <a:round/>
                      <a:headEnd type="none" w="med" len="med"/>
                      <a:tailEnd type="none" w="med" len="med"/>
                    </a:lnL>
                    <a:solidFill>
                      <a:schemeClr val="bg2">
                        <a:lumMod val="20000"/>
                        <a:lumOff val="80000"/>
                      </a:schemeClr>
                    </a:solidFill>
                  </a:tcPr>
                </a:tc>
                <a:tc>
                  <a:txBody>
                    <a:bodyPr/>
                    <a:lstStyle/>
                    <a:p>
                      <a:pPr algn="ctr">
                        <a:defRPr sz="1100" b="0">
                          <a:solidFill>
                            <a:srgbClr val="000000"/>
                          </a:solidFill>
                          <a:latin typeface="Montserrat"/>
                        </a:defRPr>
                      </a:pPr>
                      <a:r>
                        <a:rPr sz="900"/>
                        <a:t>1</a:t>
                      </a:r>
                    </a:p>
                  </a:txBody>
                  <a:tcPr marL="45720" marR="45720">
                    <a:solidFill>
                      <a:schemeClr val="bg2">
                        <a:lumMod val="20000"/>
                        <a:lumOff val="80000"/>
                      </a:schemeClr>
                    </a:solidFill>
                  </a:tcPr>
                </a:tc>
                <a:tc>
                  <a:txBody>
                    <a:bodyPr/>
                    <a:lstStyle/>
                    <a:p>
                      <a:pPr algn="ctr">
                        <a:defRPr sz="1100" b="1">
                          <a:solidFill>
                            <a:srgbClr val="000000"/>
                          </a:solidFill>
                          <a:latin typeface="Montserrat"/>
                        </a:defRPr>
                      </a:pPr>
                      <a:r>
                        <a:rPr sz="900"/>
                        <a:t>99.0%</a:t>
                      </a:r>
                    </a:p>
                  </a:txBody>
                  <a:tcPr marL="45720" marR="45720">
                    <a:lnR w="12700" cap="flat" cmpd="sng" algn="ctr">
                      <a:solidFill>
                        <a:schemeClr val="bg1">
                          <a:lumMod val="95000"/>
                        </a:schemeClr>
                      </a:solidFill>
                      <a:prstDash val="solid"/>
                      <a:round/>
                      <a:headEnd type="none" w="med" len="med"/>
                      <a:tailEnd type="none" w="med" len="med"/>
                    </a:lnR>
                    <a:solidFill>
                      <a:schemeClr val="bg2">
                        <a:lumMod val="20000"/>
                        <a:lumOff val="80000"/>
                      </a:schemeClr>
                    </a:solidFill>
                  </a:tcPr>
                </a:tc>
                <a:extLst>
                  <a:ext uri="{0D108BD9-81ED-4DB2-BD59-A6C34878D82A}">
                    <a16:rowId xmlns:a16="http://schemas.microsoft.com/office/drawing/2014/main" val="2897699016"/>
                  </a:ext>
                </a:extLst>
              </a:tr>
              <a:tr h="202661">
                <a:tc>
                  <a:txBody>
                    <a:bodyPr/>
                    <a:lstStyle/>
                    <a:p>
                      <a:pPr algn="l">
                        <a:defRPr sz="1100" b="0">
                          <a:solidFill>
                            <a:srgbClr val="000000"/>
                          </a:solidFill>
                          <a:latin typeface="Montserrat"/>
                        </a:defRPr>
                      </a:pPr>
                      <a:r>
                        <a:rPr sz="900"/>
                        <a:t>Cirugía </a:t>
                      </a:r>
                      <a:r>
                        <a:rPr sz="900" err="1"/>
                        <a:t>Plástica</a:t>
                      </a:r>
                      <a:r>
                        <a:rPr sz="900"/>
                        <a:t> y </a:t>
                      </a:r>
                      <a:r>
                        <a:rPr sz="900" err="1"/>
                        <a:t>Reconstructiva</a:t>
                      </a:r>
                      <a:endParaRPr sz="900"/>
                    </a:p>
                  </a:txBody>
                  <a:tcPr marL="45720" marR="45720">
                    <a:lnL w="12700" cap="flat" cmpd="sng" algn="ctr">
                      <a:solidFill>
                        <a:schemeClr val="bg1">
                          <a:lumMod val="95000"/>
                        </a:schemeClr>
                      </a:solidFill>
                      <a:prstDash val="solid"/>
                      <a:round/>
                      <a:headEnd type="none" w="med" len="med"/>
                      <a:tailEnd type="none" w="med" len="med"/>
                    </a:lnL>
                    <a:solidFill>
                      <a:srgbClr val="FFFFFF"/>
                    </a:solidFill>
                  </a:tcPr>
                </a:tc>
                <a:tc>
                  <a:txBody>
                    <a:bodyPr/>
                    <a:lstStyle/>
                    <a:p>
                      <a:pPr algn="ctr">
                        <a:defRPr sz="1100" b="0">
                          <a:solidFill>
                            <a:srgbClr val="000000"/>
                          </a:solidFill>
                          <a:latin typeface="Montserrat"/>
                        </a:defRPr>
                      </a:pPr>
                      <a:r>
                        <a:rPr sz="900"/>
                        <a:t>1</a:t>
                      </a:r>
                    </a:p>
                  </a:txBody>
                  <a:tcPr marL="45720" marR="45720">
                    <a:solidFill>
                      <a:srgbClr val="FFFFFF"/>
                    </a:solidFill>
                  </a:tcPr>
                </a:tc>
                <a:tc>
                  <a:txBody>
                    <a:bodyPr/>
                    <a:lstStyle/>
                    <a:p>
                      <a:pPr algn="ctr">
                        <a:defRPr sz="1100" b="1">
                          <a:solidFill>
                            <a:srgbClr val="000000"/>
                          </a:solidFill>
                          <a:latin typeface="Montserrat"/>
                        </a:defRPr>
                      </a:pPr>
                      <a:r>
                        <a:rPr sz="900"/>
                        <a:t>99.3%</a:t>
                      </a:r>
                    </a:p>
                  </a:txBody>
                  <a:tcPr marL="45720" marR="45720">
                    <a:lnR w="12700" cap="flat" cmpd="sng" algn="ctr">
                      <a:solidFill>
                        <a:schemeClr val="bg1">
                          <a:lumMod val="9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3288126644"/>
                  </a:ext>
                </a:extLst>
              </a:tr>
              <a:tr h="202661">
                <a:tc>
                  <a:txBody>
                    <a:bodyPr/>
                    <a:lstStyle/>
                    <a:p>
                      <a:pPr algn="l">
                        <a:defRPr sz="1100" b="0">
                          <a:solidFill>
                            <a:srgbClr val="000000"/>
                          </a:solidFill>
                          <a:latin typeface="Montserrat"/>
                        </a:defRPr>
                      </a:pPr>
                      <a:r>
                        <a:rPr sz="900"/>
                        <a:t>Medicina del Enfermo </a:t>
                      </a:r>
                      <a:r>
                        <a:rPr sz="900" err="1"/>
                        <a:t>Pediátrico</a:t>
                      </a:r>
                      <a:r>
                        <a:rPr sz="900"/>
                        <a:t> en Estado </a:t>
                      </a:r>
                      <a:r>
                        <a:rPr sz="900" err="1"/>
                        <a:t>Crítico</a:t>
                      </a:r>
                      <a:endParaRPr sz="900"/>
                    </a:p>
                  </a:txBody>
                  <a:tcPr marL="45720" marR="45720">
                    <a:lnL w="12700" cap="flat" cmpd="sng" algn="ctr">
                      <a:solidFill>
                        <a:schemeClr val="bg1">
                          <a:lumMod val="95000"/>
                        </a:schemeClr>
                      </a:solidFill>
                      <a:prstDash val="solid"/>
                      <a:round/>
                      <a:headEnd type="none" w="med" len="med"/>
                      <a:tailEnd type="none" w="med" len="med"/>
                    </a:lnL>
                    <a:solidFill>
                      <a:schemeClr val="bg2">
                        <a:lumMod val="20000"/>
                        <a:lumOff val="80000"/>
                      </a:schemeClr>
                    </a:solidFill>
                  </a:tcPr>
                </a:tc>
                <a:tc>
                  <a:txBody>
                    <a:bodyPr/>
                    <a:lstStyle/>
                    <a:p>
                      <a:pPr algn="ctr">
                        <a:defRPr sz="1100" b="0">
                          <a:solidFill>
                            <a:srgbClr val="000000"/>
                          </a:solidFill>
                          <a:latin typeface="Montserrat"/>
                        </a:defRPr>
                      </a:pPr>
                      <a:r>
                        <a:rPr sz="900"/>
                        <a:t>1</a:t>
                      </a:r>
                    </a:p>
                  </a:txBody>
                  <a:tcPr marL="45720" marR="45720">
                    <a:solidFill>
                      <a:schemeClr val="bg2">
                        <a:lumMod val="20000"/>
                        <a:lumOff val="80000"/>
                      </a:schemeClr>
                    </a:solidFill>
                  </a:tcPr>
                </a:tc>
                <a:tc>
                  <a:txBody>
                    <a:bodyPr/>
                    <a:lstStyle/>
                    <a:p>
                      <a:pPr algn="ctr">
                        <a:defRPr sz="1100" b="1">
                          <a:solidFill>
                            <a:srgbClr val="000000"/>
                          </a:solidFill>
                          <a:latin typeface="Montserrat"/>
                        </a:defRPr>
                      </a:pPr>
                      <a:r>
                        <a:rPr sz="900"/>
                        <a:t>99.5%</a:t>
                      </a:r>
                    </a:p>
                  </a:txBody>
                  <a:tcPr marL="45720" marR="45720">
                    <a:lnR w="12700" cap="flat" cmpd="sng" algn="ctr">
                      <a:solidFill>
                        <a:schemeClr val="bg1">
                          <a:lumMod val="95000"/>
                        </a:schemeClr>
                      </a:solidFill>
                      <a:prstDash val="solid"/>
                      <a:round/>
                      <a:headEnd type="none" w="med" len="med"/>
                      <a:tailEnd type="none" w="med" len="med"/>
                    </a:lnR>
                    <a:solidFill>
                      <a:schemeClr val="bg2">
                        <a:lumMod val="20000"/>
                        <a:lumOff val="80000"/>
                      </a:schemeClr>
                    </a:solidFill>
                  </a:tcPr>
                </a:tc>
                <a:extLst>
                  <a:ext uri="{0D108BD9-81ED-4DB2-BD59-A6C34878D82A}">
                    <a16:rowId xmlns:a16="http://schemas.microsoft.com/office/drawing/2014/main" val="4180177567"/>
                  </a:ext>
                </a:extLst>
              </a:tr>
              <a:tr h="202661">
                <a:tc>
                  <a:txBody>
                    <a:bodyPr/>
                    <a:lstStyle/>
                    <a:p>
                      <a:pPr algn="l">
                        <a:defRPr sz="1100" b="0">
                          <a:solidFill>
                            <a:srgbClr val="000000"/>
                          </a:solidFill>
                          <a:latin typeface="Montserrat"/>
                        </a:defRPr>
                      </a:pPr>
                      <a:r>
                        <a:rPr sz="900" err="1"/>
                        <a:t>Neurología</a:t>
                      </a:r>
                      <a:endParaRPr sz="900"/>
                    </a:p>
                  </a:txBody>
                  <a:tcPr marL="45720" marR="45720">
                    <a:lnL w="12700" cap="flat" cmpd="sng" algn="ctr">
                      <a:solidFill>
                        <a:schemeClr val="bg1">
                          <a:lumMod val="95000"/>
                        </a:schemeClr>
                      </a:solidFill>
                      <a:prstDash val="solid"/>
                      <a:round/>
                      <a:headEnd type="none" w="med" len="med"/>
                      <a:tailEnd type="none" w="med" len="med"/>
                    </a:lnL>
                    <a:solidFill>
                      <a:srgbClr val="FFFFFF"/>
                    </a:solidFill>
                  </a:tcPr>
                </a:tc>
                <a:tc>
                  <a:txBody>
                    <a:bodyPr/>
                    <a:lstStyle/>
                    <a:p>
                      <a:pPr algn="ctr">
                        <a:defRPr sz="1100" b="0">
                          <a:solidFill>
                            <a:srgbClr val="000000"/>
                          </a:solidFill>
                          <a:latin typeface="Montserrat"/>
                        </a:defRPr>
                      </a:pPr>
                      <a:r>
                        <a:rPr sz="900"/>
                        <a:t>1</a:t>
                      </a:r>
                    </a:p>
                  </a:txBody>
                  <a:tcPr marL="45720" marR="45720">
                    <a:solidFill>
                      <a:srgbClr val="FFFFFF"/>
                    </a:solidFill>
                  </a:tcPr>
                </a:tc>
                <a:tc>
                  <a:txBody>
                    <a:bodyPr/>
                    <a:lstStyle/>
                    <a:p>
                      <a:pPr algn="ctr">
                        <a:defRPr sz="1100" b="1">
                          <a:solidFill>
                            <a:srgbClr val="000000"/>
                          </a:solidFill>
                          <a:latin typeface="Montserrat"/>
                        </a:defRPr>
                      </a:pPr>
                      <a:r>
                        <a:rPr sz="900"/>
                        <a:t>99.7%</a:t>
                      </a:r>
                    </a:p>
                  </a:txBody>
                  <a:tcPr marL="45720" marR="45720">
                    <a:lnR w="12700" cap="flat" cmpd="sng" algn="ctr">
                      <a:solidFill>
                        <a:schemeClr val="bg1">
                          <a:lumMod val="95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377589442"/>
                  </a:ext>
                </a:extLst>
              </a:tr>
              <a:tr h="202661">
                <a:tc>
                  <a:txBody>
                    <a:bodyPr/>
                    <a:lstStyle/>
                    <a:p>
                      <a:pPr algn="l">
                        <a:defRPr sz="1100" b="0">
                          <a:solidFill>
                            <a:srgbClr val="000000"/>
                          </a:solidFill>
                          <a:latin typeface="Montserrat"/>
                        </a:defRPr>
                      </a:pPr>
                      <a:r>
                        <a:rPr sz="900" err="1"/>
                        <a:t>Patología</a:t>
                      </a:r>
                      <a:r>
                        <a:rPr sz="900"/>
                        <a:t> Clínica</a:t>
                      </a:r>
                    </a:p>
                  </a:txBody>
                  <a:tcPr marL="45720" marR="45720">
                    <a:lnL w="12700" cap="flat" cmpd="sng" algn="ctr">
                      <a:solidFill>
                        <a:schemeClr val="bg1">
                          <a:lumMod val="95000"/>
                        </a:schemeClr>
                      </a:solidFill>
                      <a:prstDash val="solid"/>
                      <a:round/>
                      <a:headEnd type="none" w="med" len="med"/>
                      <a:tailEnd type="none" w="med" len="med"/>
                    </a:lnL>
                    <a:solidFill>
                      <a:schemeClr val="bg2">
                        <a:lumMod val="20000"/>
                        <a:lumOff val="80000"/>
                      </a:schemeClr>
                    </a:solidFill>
                  </a:tcPr>
                </a:tc>
                <a:tc>
                  <a:txBody>
                    <a:bodyPr/>
                    <a:lstStyle/>
                    <a:p>
                      <a:pPr algn="ctr">
                        <a:defRPr sz="1100" b="0">
                          <a:solidFill>
                            <a:srgbClr val="000000"/>
                          </a:solidFill>
                          <a:latin typeface="Montserrat"/>
                        </a:defRPr>
                      </a:pPr>
                      <a:r>
                        <a:rPr sz="900"/>
                        <a:t>1</a:t>
                      </a:r>
                    </a:p>
                  </a:txBody>
                  <a:tcPr marL="45720" marR="45720">
                    <a:solidFill>
                      <a:schemeClr val="bg2">
                        <a:lumMod val="20000"/>
                        <a:lumOff val="80000"/>
                      </a:schemeClr>
                    </a:solidFill>
                  </a:tcPr>
                </a:tc>
                <a:tc>
                  <a:txBody>
                    <a:bodyPr/>
                    <a:lstStyle/>
                    <a:p>
                      <a:pPr algn="ctr">
                        <a:defRPr sz="1100" b="1">
                          <a:solidFill>
                            <a:srgbClr val="000000"/>
                          </a:solidFill>
                          <a:latin typeface="Montserrat"/>
                        </a:defRPr>
                      </a:pPr>
                      <a:r>
                        <a:rPr sz="900"/>
                        <a:t>99.9%</a:t>
                      </a:r>
                    </a:p>
                  </a:txBody>
                  <a:tcPr marL="45720" marR="45720">
                    <a:lnR w="12700" cap="flat" cmpd="sng" algn="ctr">
                      <a:solidFill>
                        <a:schemeClr val="bg1">
                          <a:lumMod val="95000"/>
                        </a:schemeClr>
                      </a:solidFill>
                      <a:prstDash val="solid"/>
                      <a:round/>
                      <a:headEnd type="none" w="med" len="med"/>
                      <a:tailEnd type="none" w="med" len="med"/>
                    </a:lnR>
                    <a:solidFill>
                      <a:schemeClr val="bg2">
                        <a:lumMod val="20000"/>
                        <a:lumOff val="80000"/>
                      </a:schemeClr>
                    </a:solidFill>
                  </a:tcPr>
                </a:tc>
                <a:extLst>
                  <a:ext uri="{0D108BD9-81ED-4DB2-BD59-A6C34878D82A}">
                    <a16:rowId xmlns:a16="http://schemas.microsoft.com/office/drawing/2014/main" val="2512435005"/>
                  </a:ext>
                </a:extLst>
              </a:tr>
              <a:tr h="202661">
                <a:tc>
                  <a:txBody>
                    <a:bodyPr/>
                    <a:lstStyle/>
                    <a:p>
                      <a:pPr algn="l">
                        <a:defRPr sz="1100" b="1">
                          <a:solidFill>
                            <a:srgbClr val="006455"/>
                          </a:solidFill>
                          <a:latin typeface="Montserrat"/>
                        </a:defRPr>
                      </a:pPr>
                      <a:r>
                        <a:rPr sz="900"/>
                        <a:t>Total</a:t>
                      </a:r>
                    </a:p>
                  </a:txBody>
                  <a:tcPr marL="45720" marR="45720">
                    <a:lnL w="12700" cap="flat" cmpd="sng" algn="ctr">
                      <a:solidFill>
                        <a:schemeClr val="bg1">
                          <a:lumMod val="95000"/>
                        </a:schemeClr>
                      </a:solidFill>
                      <a:prstDash val="solid"/>
                      <a:round/>
                      <a:headEnd type="none" w="med" len="med"/>
                      <a:tailEnd type="none" w="med" len="med"/>
                    </a:lnL>
                    <a:lnB w="12700" cap="flat" cmpd="sng" algn="ctr">
                      <a:solidFill>
                        <a:schemeClr val="bg1">
                          <a:lumMod val="95000"/>
                        </a:schemeClr>
                      </a:solidFill>
                      <a:prstDash val="solid"/>
                      <a:round/>
                      <a:headEnd type="none" w="med" len="med"/>
                      <a:tailEnd type="none" w="med" len="med"/>
                    </a:lnB>
                    <a:solidFill>
                      <a:srgbClr val="D3E9E7"/>
                    </a:solidFill>
                  </a:tcPr>
                </a:tc>
                <a:tc>
                  <a:txBody>
                    <a:bodyPr/>
                    <a:lstStyle/>
                    <a:p>
                      <a:pPr algn="ctr">
                        <a:defRPr sz="1100" b="1">
                          <a:solidFill>
                            <a:srgbClr val="006455"/>
                          </a:solidFill>
                          <a:latin typeface="Montserrat"/>
                        </a:defRPr>
                      </a:pPr>
                      <a:r>
                        <a:rPr sz="900"/>
                        <a:t>437</a:t>
                      </a:r>
                    </a:p>
                  </a:txBody>
                  <a:tcPr marL="45720" marR="45720">
                    <a:lnB w="12700" cap="flat" cmpd="sng" algn="ctr">
                      <a:solidFill>
                        <a:schemeClr val="bg1">
                          <a:lumMod val="95000"/>
                        </a:schemeClr>
                      </a:solidFill>
                      <a:prstDash val="solid"/>
                      <a:round/>
                      <a:headEnd type="none" w="med" len="med"/>
                      <a:tailEnd type="none" w="med" len="med"/>
                    </a:lnB>
                    <a:solidFill>
                      <a:srgbClr val="D3E9E7"/>
                    </a:solidFill>
                  </a:tcPr>
                </a:tc>
                <a:tc>
                  <a:txBody>
                    <a:bodyPr/>
                    <a:lstStyle/>
                    <a:p>
                      <a:pPr algn="ctr">
                        <a:defRPr sz="1100" b="1">
                          <a:solidFill>
                            <a:srgbClr val="006455"/>
                          </a:solidFill>
                          <a:latin typeface="Montserrat"/>
                        </a:defRPr>
                      </a:pPr>
                      <a:r>
                        <a:rPr sz="900"/>
                        <a:t>100.0%</a:t>
                      </a:r>
                    </a:p>
                  </a:txBody>
                  <a:tcPr marL="45720" marR="45720">
                    <a:lnR w="12700" cap="flat" cmpd="sng" algn="ctr">
                      <a:solidFill>
                        <a:schemeClr val="bg1">
                          <a:lumMod val="95000"/>
                        </a:schemeClr>
                      </a:solidFill>
                      <a:prstDash val="solid"/>
                      <a:round/>
                      <a:headEnd type="none" w="med" len="med"/>
                      <a:tailEnd type="none" w="med" len="med"/>
                    </a:lnR>
                    <a:lnB w="12700" cap="flat" cmpd="sng" algn="ctr">
                      <a:solidFill>
                        <a:schemeClr val="bg1">
                          <a:lumMod val="95000"/>
                        </a:schemeClr>
                      </a:solidFill>
                      <a:prstDash val="solid"/>
                      <a:round/>
                      <a:headEnd type="none" w="med" len="med"/>
                      <a:tailEnd type="none" w="med" len="med"/>
                    </a:lnB>
                    <a:solidFill>
                      <a:srgbClr val="D3E9E7"/>
                    </a:solidFill>
                  </a:tcPr>
                </a:tc>
                <a:extLst>
                  <a:ext uri="{0D108BD9-81ED-4DB2-BD59-A6C34878D82A}">
                    <a16:rowId xmlns:a16="http://schemas.microsoft.com/office/drawing/2014/main" val="396324285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1A88FF10-1AA9-E6ED-75C5-CA6842A69D10}"/>
              </a:ext>
            </a:extLst>
          </p:cNvPr>
          <p:cNvGraphicFramePr/>
          <p:nvPr>
            <p:extLst>
              <p:ext uri="{D42A27DB-BD31-4B8C-83A1-F6EECF244321}">
                <p14:modId xmlns:p14="http://schemas.microsoft.com/office/powerpoint/2010/main" val="1183701183"/>
              </p:ext>
            </p:extLst>
          </p:nvPr>
        </p:nvGraphicFramePr>
        <p:xfrm>
          <a:off x="176400" y="732812"/>
          <a:ext cx="7485350" cy="749865"/>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749865">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Lista de espera por especialidad y por cirugía prioritaria 2026</a:t>
                      </a:r>
                      <a:endParaRPr sz="2100" b="1" u="none" strike="noStrike" cap="none">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COAHUILA</a:t>
            </a:r>
          </a:p>
        </p:txBody>
      </p:sp>
      <p:sp>
        <p:nvSpPr>
          <p:cNvPr id="4" name="TextBox 3"/>
          <p:cNvSpPr txBox="1"/>
          <p:nvPr/>
        </p:nvSpPr>
        <p:spPr>
          <a:xfrm>
            <a:off x="4126744" y="4158991"/>
            <a:ext cx="3535006" cy="123111"/>
          </a:xfrm>
          <a:prstGeom prst="rect">
            <a:avLst/>
          </a:prstGeom>
          <a:noFill/>
        </p:spPr>
        <p:txBody>
          <a:bodyPr wrap="square" lIns="0" tIns="0" rIns="0" bIns="0">
            <a:spAutoFit/>
          </a:bodyPr>
          <a:lstStyle/>
          <a:p>
            <a:pPr algn="l">
              <a:defRPr sz="800">
                <a:solidFill>
                  <a:srgbClr val="FFFFFF"/>
                </a:solidFill>
                <a:latin typeface="Montserrat"/>
              </a:defRPr>
            </a:pPr>
            <a:r>
              <a:rPr>
                <a:solidFill>
                  <a:schemeClr val="tx1"/>
                </a:solidFill>
              </a:rPr>
              <a:t>Corte de información: </a:t>
            </a:r>
            <a:r>
              <a:rPr err="1">
                <a:solidFill>
                  <a:schemeClr val="tx1"/>
                </a:solidFill>
              </a:rPr>
              <a:t>semana</a:t>
            </a:r>
            <a:r>
              <a:rPr>
                <a:solidFill>
                  <a:schemeClr val="tx1"/>
                </a:solidFill>
              </a:rPr>
              <a:t> 24, 7 </a:t>
            </a:r>
            <a:r>
              <a:rPr err="1">
                <a:solidFill>
                  <a:schemeClr val="tx1"/>
                </a:solidFill>
              </a:rPr>
              <a:t>junio</a:t>
            </a:r>
            <a:r>
              <a:rPr>
                <a:solidFill>
                  <a:schemeClr val="tx1"/>
                </a:solidFill>
              </a:rPr>
              <a:t> 2026</a:t>
            </a:r>
          </a:p>
        </p:txBody>
      </p:sp>
      <p:graphicFrame>
        <p:nvGraphicFramePr>
          <p:cNvPr id="5" name="Table 4"/>
          <p:cNvGraphicFramePr>
            <a:graphicFrameLocks noGrp="1"/>
          </p:cNvGraphicFramePr>
          <p:nvPr>
            <p:extLst>
              <p:ext uri="{D42A27DB-BD31-4B8C-83A1-F6EECF244321}">
                <p14:modId xmlns:p14="http://schemas.microsoft.com/office/powerpoint/2010/main" val="158501101"/>
              </p:ext>
            </p:extLst>
          </p:nvPr>
        </p:nvGraphicFramePr>
        <p:xfrm>
          <a:off x="172932" y="1641136"/>
          <a:ext cx="3639599" cy="3581400"/>
        </p:xfrm>
        <a:graphic>
          <a:graphicData uri="http://schemas.openxmlformats.org/drawingml/2006/table">
            <a:tbl>
              <a:tblPr firstRow="1" bandRow="1">
                <a:tableStyleId>{5C22544A-7EE6-4342-B048-85BDC9FD1C3A}</a:tableStyleId>
              </a:tblPr>
              <a:tblGrid>
                <a:gridCol w="1731599">
                  <a:extLst>
                    <a:ext uri="{9D8B030D-6E8A-4147-A177-3AD203B41FA5}">
                      <a16:colId xmlns:a16="http://schemas.microsoft.com/office/drawing/2014/main" val="20000"/>
                    </a:ext>
                  </a:extLst>
                </a:gridCol>
                <a:gridCol w="950400">
                  <a:extLst>
                    <a:ext uri="{9D8B030D-6E8A-4147-A177-3AD203B41FA5}">
                      <a16:colId xmlns:a16="http://schemas.microsoft.com/office/drawing/2014/main" val="20001"/>
                    </a:ext>
                  </a:extLst>
                </a:gridCol>
                <a:gridCol w="957600">
                  <a:extLst>
                    <a:ext uri="{9D8B030D-6E8A-4147-A177-3AD203B41FA5}">
                      <a16:colId xmlns:a16="http://schemas.microsoft.com/office/drawing/2014/main" val="20002"/>
                    </a:ext>
                  </a:extLst>
                </a:gridCol>
              </a:tblGrid>
              <a:tr h="216000">
                <a:tc>
                  <a:txBody>
                    <a:bodyPr/>
                    <a:lstStyle/>
                    <a:p>
                      <a:pPr algn="ctr">
                        <a:defRPr sz="1100" b="1">
                          <a:solidFill>
                            <a:srgbClr val="FFFFFF"/>
                          </a:solidFill>
                          <a:latin typeface="Montserrat"/>
                        </a:defRPr>
                      </a:pPr>
                      <a:r>
                        <a:rPr err="1"/>
                        <a:t>Especialidad</a:t>
                      </a:r>
                      <a:endParaRPr/>
                    </a:p>
                  </a:txBody>
                  <a:tcPr marL="14400" marR="14400" anchor="ctr">
                    <a:lnL w="12700" cap="flat" cmpd="sng" algn="ctr">
                      <a:solidFill>
                        <a:schemeClr val="bg2">
                          <a:lumMod val="20000"/>
                          <a:lumOff val="80000"/>
                        </a:schemeClr>
                      </a:solidFill>
                      <a:prstDash val="solid"/>
                      <a:round/>
                      <a:headEnd type="none" w="med" len="med"/>
                      <a:tailEnd type="none" w="med" len="med"/>
                    </a:lnL>
                    <a:lnT w="12700" cap="flat" cmpd="sng" algn="ctr">
                      <a:solidFill>
                        <a:schemeClr val="bg2">
                          <a:lumMod val="20000"/>
                          <a:lumOff val="80000"/>
                        </a:schemeClr>
                      </a:solidFill>
                      <a:prstDash val="solid"/>
                      <a:round/>
                      <a:headEnd type="none" w="med" len="med"/>
                      <a:tailEnd type="none" w="med" len="med"/>
                    </a:lnT>
                    <a:solidFill>
                      <a:srgbClr val="006455"/>
                    </a:solidFill>
                  </a:tcPr>
                </a:tc>
                <a:tc>
                  <a:txBody>
                    <a:bodyPr/>
                    <a:lstStyle/>
                    <a:p>
                      <a:pPr algn="ctr">
                        <a:defRPr sz="1100" b="1">
                          <a:solidFill>
                            <a:srgbClr val="FFFFFF"/>
                          </a:solidFill>
                          <a:latin typeface="Montserrat"/>
                        </a:defRPr>
                      </a:pPr>
                      <a:r>
                        <a:t>Total</a:t>
                      </a:r>
                    </a:p>
                  </a:txBody>
                  <a:tcPr marL="14400" marR="14400" anchor="ctr">
                    <a:lnT w="12700" cap="flat" cmpd="sng" algn="ctr">
                      <a:solidFill>
                        <a:schemeClr val="bg2">
                          <a:lumMod val="20000"/>
                          <a:lumOff val="80000"/>
                        </a:schemeClr>
                      </a:solidFill>
                      <a:prstDash val="solid"/>
                      <a:round/>
                      <a:headEnd type="none" w="med" len="med"/>
                      <a:tailEnd type="none" w="med" len="med"/>
                    </a:lnT>
                    <a:solidFill>
                      <a:srgbClr val="006455"/>
                    </a:solidFill>
                  </a:tcPr>
                </a:tc>
                <a:tc>
                  <a:txBody>
                    <a:bodyPr/>
                    <a:lstStyle/>
                    <a:p>
                      <a:pPr algn="ctr">
                        <a:defRPr sz="1100" b="1">
                          <a:solidFill>
                            <a:srgbClr val="FFFFFF"/>
                          </a:solidFill>
                          <a:latin typeface="Montserrat"/>
                        </a:defRPr>
                      </a:pPr>
                      <a:r>
                        <a:t>% acumulado total</a:t>
                      </a:r>
                    </a:p>
                  </a:txBody>
                  <a:tcPr marL="14400" marR="14400" anchor="ctr">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solidFill>
                      <a:srgbClr val="006455"/>
                    </a:solidFill>
                  </a:tcPr>
                </a:tc>
                <a:extLst>
                  <a:ext uri="{0D108BD9-81ED-4DB2-BD59-A6C34878D82A}">
                    <a16:rowId xmlns:a16="http://schemas.microsoft.com/office/drawing/2014/main" val="10000"/>
                  </a:ext>
                </a:extLst>
              </a:tr>
              <a:tr h="216000">
                <a:tc>
                  <a:txBody>
                    <a:bodyPr/>
                    <a:lstStyle/>
                    <a:p>
                      <a:pPr algn="l">
                        <a:defRPr sz="1000">
                          <a:latin typeface="Montserrat"/>
                        </a:defRPr>
                      </a:pPr>
                      <a:r>
                        <a:t>Cirugía General</a:t>
                      </a:r>
                    </a:p>
                  </a:txBody>
                  <a:tcPr anchor="ct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defRPr sz="1000">
                          <a:latin typeface="Montserrat"/>
                        </a:defRPr>
                      </a:pPr>
                      <a:r>
                        <a:t>2,561</a:t>
                      </a:r>
                    </a:p>
                  </a:txBody>
                  <a:tcPr anchor="ctr">
                    <a:solidFill>
                      <a:srgbClr val="FFFFFF"/>
                    </a:solidFill>
                  </a:tcPr>
                </a:tc>
                <a:tc>
                  <a:txBody>
                    <a:bodyPr/>
                    <a:lstStyle/>
                    <a:p>
                      <a:pPr algn="ctr">
                        <a:defRPr sz="1000">
                          <a:latin typeface="Montserrat"/>
                        </a:defRPr>
                      </a:pPr>
                      <a:r>
                        <a:t>28.5%</a:t>
                      </a:r>
                    </a:p>
                  </a:txBody>
                  <a:tcPr anchor="ct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1"/>
                  </a:ext>
                </a:extLst>
              </a:tr>
              <a:tr h="216000">
                <a:tc>
                  <a:txBody>
                    <a:bodyPr/>
                    <a:lstStyle/>
                    <a:p>
                      <a:pPr algn="l">
                        <a:defRPr sz="1000">
                          <a:latin typeface="Montserrat"/>
                        </a:defRPr>
                      </a:pPr>
                      <a:r>
                        <a:t>Traumatología y ortopedia</a:t>
                      </a:r>
                    </a:p>
                  </a:txBody>
                  <a:tcPr anchor="ctr">
                    <a:lnL w="12700" cap="flat" cmpd="sng" algn="ctr">
                      <a:solidFill>
                        <a:schemeClr val="bg2">
                          <a:lumMod val="20000"/>
                          <a:lumOff val="80000"/>
                        </a:schemeClr>
                      </a:solidFill>
                      <a:prstDash val="solid"/>
                      <a:round/>
                      <a:headEnd type="none" w="med" len="med"/>
                      <a:tailEnd type="none" w="med" len="med"/>
                    </a:lnL>
                    <a:solidFill>
                      <a:srgbClr val="D9D9D9"/>
                    </a:solidFill>
                  </a:tcPr>
                </a:tc>
                <a:tc>
                  <a:txBody>
                    <a:bodyPr/>
                    <a:lstStyle/>
                    <a:p>
                      <a:pPr algn="ctr">
                        <a:defRPr sz="1000">
                          <a:latin typeface="Montserrat"/>
                        </a:defRPr>
                      </a:pPr>
                      <a:r>
                        <a:t>2,437</a:t>
                      </a:r>
                    </a:p>
                  </a:txBody>
                  <a:tcPr anchor="ctr">
                    <a:solidFill>
                      <a:srgbClr val="D9D9D9"/>
                    </a:solidFill>
                  </a:tcPr>
                </a:tc>
                <a:tc>
                  <a:txBody>
                    <a:bodyPr/>
                    <a:lstStyle/>
                    <a:p>
                      <a:pPr algn="ctr">
                        <a:defRPr sz="1000">
                          <a:latin typeface="Montserrat"/>
                        </a:defRPr>
                      </a:pPr>
                      <a:r>
                        <a:t>55.5%</a:t>
                      </a:r>
                    </a:p>
                  </a:txBody>
                  <a:tcPr anchor="ctr">
                    <a:lnR w="12700" cap="flat" cmpd="sng" algn="ctr">
                      <a:solidFill>
                        <a:schemeClr val="bg2">
                          <a:lumMod val="20000"/>
                          <a:lumOff val="80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02"/>
                  </a:ext>
                </a:extLst>
              </a:tr>
              <a:tr h="216000">
                <a:tc>
                  <a:txBody>
                    <a:bodyPr/>
                    <a:lstStyle/>
                    <a:p>
                      <a:pPr algn="l">
                        <a:defRPr sz="1000">
                          <a:latin typeface="Montserrat"/>
                        </a:defRPr>
                      </a:pPr>
                      <a:r>
                        <a:t>Oftalmología</a:t>
                      </a:r>
                    </a:p>
                  </a:txBody>
                  <a:tcPr anchor="ct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defRPr sz="1000">
                          <a:latin typeface="Montserrat"/>
                        </a:defRPr>
                      </a:pPr>
                      <a:r>
                        <a:t>959</a:t>
                      </a:r>
                    </a:p>
                  </a:txBody>
                  <a:tcPr anchor="ctr">
                    <a:solidFill>
                      <a:srgbClr val="FFFFFF"/>
                    </a:solidFill>
                  </a:tcPr>
                </a:tc>
                <a:tc>
                  <a:txBody>
                    <a:bodyPr/>
                    <a:lstStyle/>
                    <a:p>
                      <a:pPr algn="ctr">
                        <a:defRPr sz="1000">
                          <a:latin typeface="Montserrat"/>
                        </a:defRPr>
                      </a:pPr>
                      <a:r>
                        <a:t>66.2%</a:t>
                      </a:r>
                    </a:p>
                  </a:txBody>
                  <a:tcPr anchor="ct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3"/>
                  </a:ext>
                </a:extLst>
              </a:tr>
              <a:tr h="216000">
                <a:tc>
                  <a:txBody>
                    <a:bodyPr/>
                    <a:lstStyle/>
                    <a:p>
                      <a:pPr algn="l">
                        <a:defRPr sz="1000">
                          <a:latin typeface="Montserrat"/>
                        </a:defRPr>
                      </a:pPr>
                      <a:r>
                        <a:t>Urología  </a:t>
                      </a:r>
                    </a:p>
                  </a:txBody>
                  <a:tcPr anchor="ctr">
                    <a:lnL w="12700" cap="flat" cmpd="sng" algn="ctr">
                      <a:solidFill>
                        <a:schemeClr val="bg2">
                          <a:lumMod val="20000"/>
                          <a:lumOff val="80000"/>
                        </a:schemeClr>
                      </a:solidFill>
                      <a:prstDash val="solid"/>
                      <a:round/>
                      <a:headEnd type="none" w="med" len="med"/>
                      <a:tailEnd type="none" w="med" len="med"/>
                    </a:lnL>
                    <a:solidFill>
                      <a:srgbClr val="D9D9D9"/>
                    </a:solidFill>
                  </a:tcPr>
                </a:tc>
                <a:tc>
                  <a:txBody>
                    <a:bodyPr/>
                    <a:lstStyle/>
                    <a:p>
                      <a:pPr algn="ctr">
                        <a:defRPr sz="1000">
                          <a:latin typeface="Montserrat"/>
                        </a:defRPr>
                      </a:pPr>
                      <a:r>
                        <a:t>627</a:t>
                      </a:r>
                    </a:p>
                  </a:txBody>
                  <a:tcPr anchor="ctr">
                    <a:solidFill>
                      <a:srgbClr val="D9D9D9"/>
                    </a:solidFill>
                  </a:tcPr>
                </a:tc>
                <a:tc>
                  <a:txBody>
                    <a:bodyPr/>
                    <a:lstStyle/>
                    <a:p>
                      <a:pPr algn="ctr">
                        <a:defRPr sz="1000">
                          <a:latin typeface="Montserrat"/>
                        </a:defRPr>
                      </a:pPr>
                      <a:r>
                        <a:t>73.2%</a:t>
                      </a:r>
                    </a:p>
                  </a:txBody>
                  <a:tcPr anchor="ctr">
                    <a:lnR w="12700" cap="flat" cmpd="sng" algn="ctr">
                      <a:solidFill>
                        <a:schemeClr val="bg2">
                          <a:lumMod val="20000"/>
                          <a:lumOff val="80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04"/>
                  </a:ext>
                </a:extLst>
              </a:tr>
              <a:tr h="216000">
                <a:tc>
                  <a:txBody>
                    <a:bodyPr/>
                    <a:lstStyle/>
                    <a:p>
                      <a:pPr algn="l">
                        <a:defRPr sz="1000">
                          <a:latin typeface="Montserrat"/>
                        </a:defRPr>
                      </a:pPr>
                      <a:r>
                        <a:t>Ginecología</a:t>
                      </a:r>
                    </a:p>
                  </a:txBody>
                  <a:tcPr anchor="ct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defRPr sz="1000">
                          <a:latin typeface="Montserrat"/>
                        </a:defRPr>
                      </a:pPr>
                      <a:r>
                        <a:t>493</a:t>
                      </a:r>
                    </a:p>
                  </a:txBody>
                  <a:tcPr anchor="ctr">
                    <a:solidFill>
                      <a:srgbClr val="FFFFFF"/>
                    </a:solidFill>
                  </a:tcPr>
                </a:tc>
                <a:tc>
                  <a:txBody>
                    <a:bodyPr/>
                    <a:lstStyle/>
                    <a:p>
                      <a:pPr algn="ctr">
                        <a:defRPr sz="1000">
                          <a:latin typeface="Montserrat"/>
                        </a:defRPr>
                      </a:pPr>
                      <a:r>
                        <a:t>78.7%</a:t>
                      </a:r>
                    </a:p>
                  </a:txBody>
                  <a:tcPr anchor="ct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5"/>
                  </a:ext>
                </a:extLst>
              </a:tr>
              <a:tr h="216000">
                <a:tc>
                  <a:txBody>
                    <a:bodyPr/>
                    <a:lstStyle/>
                    <a:p>
                      <a:pPr algn="l">
                        <a:defRPr sz="1000">
                          <a:latin typeface="Montserrat"/>
                        </a:defRPr>
                      </a:pPr>
                      <a:r>
                        <a:t>Obstetricia</a:t>
                      </a:r>
                    </a:p>
                  </a:txBody>
                  <a:tcPr anchor="ctr">
                    <a:lnL w="12700" cap="flat" cmpd="sng" algn="ctr">
                      <a:solidFill>
                        <a:schemeClr val="bg2">
                          <a:lumMod val="20000"/>
                          <a:lumOff val="80000"/>
                        </a:schemeClr>
                      </a:solidFill>
                      <a:prstDash val="solid"/>
                      <a:round/>
                      <a:headEnd type="none" w="med" len="med"/>
                      <a:tailEnd type="none" w="med" len="med"/>
                    </a:lnL>
                    <a:solidFill>
                      <a:srgbClr val="D9D9D9"/>
                    </a:solidFill>
                  </a:tcPr>
                </a:tc>
                <a:tc>
                  <a:txBody>
                    <a:bodyPr/>
                    <a:lstStyle/>
                    <a:p>
                      <a:pPr algn="ctr">
                        <a:defRPr sz="1000">
                          <a:latin typeface="Montserrat"/>
                        </a:defRPr>
                      </a:pPr>
                      <a:r>
                        <a:t>481</a:t>
                      </a:r>
                    </a:p>
                  </a:txBody>
                  <a:tcPr anchor="ctr">
                    <a:solidFill>
                      <a:srgbClr val="D9D9D9"/>
                    </a:solidFill>
                  </a:tcPr>
                </a:tc>
                <a:tc>
                  <a:txBody>
                    <a:bodyPr/>
                    <a:lstStyle/>
                    <a:p>
                      <a:pPr algn="ctr">
                        <a:defRPr sz="1000">
                          <a:latin typeface="Montserrat"/>
                        </a:defRPr>
                      </a:pPr>
                      <a:r>
                        <a:t>84.0%</a:t>
                      </a:r>
                    </a:p>
                  </a:txBody>
                  <a:tcPr anchor="ctr">
                    <a:lnR w="12700" cap="flat" cmpd="sng" algn="ctr">
                      <a:solidFill>
                        <a:schemeClr val="bg2">
                          <a:lumMod val="20000"/>
                          <a:lumOff val="80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06"/>
                  </a:ext>
                </a:extLst>
              </a:tr>
              <a:tr h="216000">
                <a:tc>
                  <a:txBody>
                    <a:bodyPr/>
                    <a:lstStyle/>
                    <a:p>
                      <a:pPr algn="l">
                        <a:defRPr sz="1000">
                          <a:latin typeface="Montserrat"/>
                        </a:defRPr>
                      </a:pPr>
                      <a:r>
                        <a:t>Cirugía oncológica</a:t>
                      </a:r>
                    </a:p>
                  </a:txBody>
                  <a:tcPr anchor="ct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defRPr sz="1000">
                          <a:latin typeface="Montserrat"/>
                        </a:defRPr>
                      </a:pPr>
                      <a:r>
                        <a:t>389</a:t>
                      </a:r>
                    </a:p>
                  </a:txBody>
                  <a:tcPr anchor="ctr">
                    <a:solidFill>
                      <a:srgbClr val="FFFFFF"/>
                    </a:solidFill>
                  </a:tcPr>
                </a:tc>
                <a:tc>
                  <a:txBody>
                    <a:bodyPr/>
                    <a:lstStyle/>
                    <a:p>
                      <a:pPr algn="ctr">
                        <a:defRPr sz="1000">
                          <a:latin typeface="Montserrat"/>
                        </a:defRPr>
                      </a:pPr>
                      <a:r>
                        <a:t>88.3%</a:t>
                      </a:r>
                    </a:p>
                  </a:txBody>
                  <a:tcPr anchor="ct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7"/>
                  </a:ext>
                </a:extLst>
              </a:tr>
              <a:tr h="216000">
                <a:tc>
                  <a:txBody>
                    <a:bodyPr/>
                    <a:lstStyle/>
                    <a:p>
                      <a:pPr algn="l">
                        <a:defRPr sz="1000">
                          <a:latin typeface="Montserrat"/>
                        </a:defRPr>
                      </a:pPr>
                      <a:r>
                        <a:t>Angiología y Cirugía Vascular</a:t>
                      </a:r>
                    </a:p>
                  </a:txBody>
                  <a:tcPr anchor="ctr">
                    <a:lnL w="12700" cap="flat" cmpd="sng" algn="ctr">
                      <a:solidFill>
                        <a:schemeClr val="bg2">
                          <a:lumMod val="20000"/>
                          <a:lumOff val="80000"/>
                        </a:schemeClr>
                      </a:solidFill>
                      <a:prstDash val="solid"/>
                      <a:round/>
                      <a:headEnd type="none" w="med" len="med"/>
                      <a:tailEnd type="none" w="med" len="med"/>
                    </a:lnL>
                    <a:solidFill>
                      <a:srgbClr val="D9D9D9"/>
                    </a:solidFill>
                  </a:tcPr>
                </a:tc>
                <a:tc>
                  <a:txBody>
                    <a:bodyPr/>
                    <a:lstStyle/>
                    <a:p>
                      <a:pPr algn="ctr">
                        <a:defRPr sz="1000">
                          <a:latin typeface="Montserrat"/>
                        </a:defRPr>
                      </a:pPr>
                      <a:r>
                        <a:t>364</a:t>
                      </a:r>
                    </a:p>
                  </a:txBody>
                  <a:tcPr anchor="ctr">
                    <a:solidFill>
                      <a:srgbClr val="D9D9D9"/>
                    </a:solidFill>
                  </a:tcPr>
                </a:tc>
                <a:tc>
                  <a:txBody>
                    <a:bodyPr/>
                    <a:lstStyle/>
                    <a:p>
                      <a:pPr algn="ctr">
                        <a:defRPr sz="1000">
                          <a:latin typeface="Montserrat"/>
                        </a:defRPr>
                      </a:pPr>
                      <a:r>
                        <a:t>92.4%</a:t>
                      </a:r>
                    </a:p>
                  </a:txBody>
                  <a:tcPr anchor="ctr">
                    <a:lnR w="12700" cap="flat" cmpd="sng" algn="ctr">
                      <a:solidFill>
                        <a:schemeClr val="bg2">
                          <a:lumMod val="20000"/>
                          <a:lumOff val="80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08"/>
                  </a:ext>
                </a:extLst>
              </a:tr>
              <a:tr h="216000">
                <a:tc>
                  <a:txBody>
                    <a:bodyPr/>
                    <a:lstStyle/>
                    <a:p>
                      <a:pPr algn="l">
                        <a:defRPr sz="1000">
                          <a:latin typeface="Montserrat"/>
                        </a:defRPr>
                      </a:pPr>
                      <a:r>
                        <a:t>Cirugía Cardiotorácica</a:t>
                      </a:r>
                    </a:p>
                  </a:txBody>
                  <a:tcPr anchor="ct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defRPr sz="1000">
                          <a:latin typeface="Montserrat"/>
                        </a:defRPr>
                      </a:pPr>
                      <a:r>
                        <a:t>347</a:t>
                      </a:r>
                    </a:p>
                  </a:txBody>
                  <a:tcPr anchor="ctr">
                    <a:solidFill>
                      <a:srgbClr val="FFFFFF"/>
                    </a:solidFill>
                  </a:tcPr>
                </a:tc>
                <a:tc>
                  <a:txBody>
                    <a:bodyPr/>
                    <a:lstStyle/>
                    <a:p>
                      <a:pPr algn="ctr">
                        <a:defRPr sz="1000">
                          <a:latin typeface="Montserrat"/>
                        </a:defRPr>
                      </a:pPr>
                      <a:r>
                        <a:t>96.2%</a:t>
                      </a:r>
                    </a:p>
                  </a:txBody>
                  <a:tcPr anchor="ct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9"/>
                  </a:ext>
                </a:extLst>
              </a:tr>
              <a:tr h="216000">
                <a:tc>
                  <a:txBody>
                    <a:bodyPr/>
                    <a:lstStyle/>
                    <a:p>
                      <a:pPr algn="l">
                        <a:defRPr sz="1000">
                          <a:latin typeface="Montserrat"/>
                        </a:defRPr>
                      </a:pPr>
                      <a:r>
                        <a:t>Otorrinolaringología</a:t>
                      </a:r>
                    </a:p>
                  </a:txBody>
                  <a:tcPr anchor="ctr">
                    <a:lnL w="12700" cap="flat" cmpd="sng" algn="ctr">
                      <a:solidFill>
                        <a:schemeClr val="bg2">
                          <a:lumMod val="20000"/>
                          <a:lumOff val="80000"/>
                        </a:schemeClr>
                      </a:solidFill>
                      <a:prstDash val="solid"/>
                      <a:round/>
                      <a:headEnd type="none" w="med" len="med"/>
                      <a:tailEnd type="none" w="med" len="med"/>
                    </a:lnL>
                    <a:solidFill>
                      <a:srgbClr val="D9D9D9"/>
                    </a:solidFill>
                  </a:tcPr>
                </a:tc>
                <a:tc>
                  <a:txBody>
                    <a:bodyPr/>
                    <a:lstStyle/>
                    <a:p>
                      <a:pPr algn="ctr">
                        <a:defRPr sz="1000">
                          <a:latin typeface="Montserrat"/>
                        </a:defRPr>
                      </a:pPr>
                      <a:r>
                        <a:t>340</a:t>
                      </a:r>
                    </a:p>
                  </a:txBody>
                  <a:tcPr anchor="ctr">
                    <a:solidFill>
                      <a:srgbClr val="D9D9D9"/>
                    </a:solidFill>
                  </a:tcPr>
                </a:tc>
                <a:tc>
                  <a:txBody>
                    <a:bodyPr/>
                    <a:lstStyle/>
                    <a:p>
                      <a:pPr algn="ctr">
                        <a:defRPr sz="1000">
                          <a:latin typeface="Montserrat"/>
                        </a:defRPr>
                      </a:pPr>
                      <a:r>
                        <a:t>100.0%</a:t>
                      </a:r>
                    </a:p>
                  </a:txBody>
                  <a:tcPr anchor="ctr">
                    <a:lnR w="12700" cap="flat" cmpd="sng" algn="ctr">
                      <a:solidFill>
                        <a:schemeClr val="bg2">
                          <a:lumMod val="20000"/>
                          <a:lumOff val="80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10"/>
                  </a:ext>
                </a:extLst>
              </a:tr>
              <a:tr h="216000">
                <a:tc>
                  <a:txBody>
                    <a:bodyPr/>
                    <a:lstStyle/>
                    <a:p>
                      <a:pPr algn="l">
                        <a:defRPr sz="1000" b="1">
                          <a:solidFill>
                            <a:srgbClr val="006455"/>
                          </a:solidFill>
                          <a:latin typeface="Montserrat"/>
                        </a:defRPr>
                      </a:pPr>
                      <a:r>
                        <a:t>Total</a:t>
                      </a:r>
                    </a:p>
                  </a:txBody>
                  <a:tcPr anchor="ctr">
                    <a:lnL w="12700" cap="flat" cmpd="sng" algn="ctr">
                      <a:solidFill>
                        <a:schemeClr val="bg2">
                          <a:lumMod val="20000"/>
                          <a:lumOff val="80000"/>
                        </a:schemeClr>
                      </a:solidFill>
                      <a:prstDash val="solid"/>
                      <a:round/>
                      <a:headEnd type="none" w="med" len="med"/>
                      <a:tailEnd type="none" w="med" len="med"/>
                    </a:lnL>
                    <a:lnB w="12700" cap="flat" cmpd="sng" algn="ctr">
                      <a:solidFill>
                        <a:schemeClr val="bg2">
                          <a:lumMod val="20000"/>
                          <a:lumOff val="80000"/>
                        </a:schemeClr>
                      </a:solidFill>
                      <a:prstDash val="solid"/>
                      <a:round/>
                      <a:headEnd type="none" w="med" len="med"/>
                      <a:tailEnd type="none" w="med" len="med"/>
                    </a:lnB>
                    <a:solidFill>
                      <a:srgbClr val="D3E9E7"/>
                    </a:solidFill>
                  </a:tcPr>
                </a:tc>
                <a:tc>
                  <a:txBody>
                    <a:bodyPr/>
                    <a:lstStyle/>
                    <a:p>
                      <a:pPr algn="ctr">
                        <a:defRPr sz="1000" b="1">
                          <a:solidFill>
                            <a:srgbClr val="006455"/>
                          </a:solidFill>
                          <a:latin typeface="Montserrat"/>
                        </a:defRPr>
                      </a:pPr>
                      <a:r>
                        <a:t>8,998</a:t>
                      </a:r>
                    </a:p>
                  </a:txBody>
                  <a:tcPr anchor="ctr">
                    <a:lnB w="12700" cap="flat" cmpd="sng" algn="ctr">
                      <a:solidFill>
                        <a:schemeClr val="bg2">
                          <a:lumMod val="20000"/>
                          <a:lumOff val="80000"/>
                        </a:schemeClr>
                      </a:solidFill>
                      <a:prstDash val="solid"/>
                      <a:round/>
                      <a:headEnd type="none" w="med" len="med"/>
                      <a:tailEnd type="none" w="med" len="med"/>
                    </a:lnB>
                    <a:solidFill>
                      <a:srgbClr val="D3E9E7"/>
                    </a:solidFill>
                  </a:tcPr>
                </a:tc>
                <a:tc>
                  <a:txBody>
                    <a:bodyPr/>
                    <a:lstStyle/>
                    <a:p>
                      <a:pPr algn="ctr">
                        <a:defRPr sz="1000" b="1">
                          <a:solidFill>
                            <a:srgbClr val="006455"/>
                          </a:solidFill>
                          <a:latin typeface="Montserrat"/>
                        </a:defRPr>
                      </a:pPr>
                      <a:r>
                        <a:t>100.0%</a:t>
                      </a:r>
                    </a:p>
                  </a:txBody>
                  <a:tcPr anchor="ctr">
                    <a:lnR w="12700" cap="flat" cmpd="sng" algn="ctr">
                      <a:solidFill>
                        <a:schemeClr val="bg2">
                          <a:lumMod val="20000"/>
                          <a:lumOff val="80000"/>
                        </a:schemeClr>
                      </a:solidFill>
                      <a:prstDash val="solid"/>
                      <a:round/>
                      <a:headEnd type="none" w="med" len="med"/>
                      <a:tailEnd type="none" w="med" len="med"/>
                    </a:lnR>
                    <a:lnB w="12700" cap="flat" cmpd="sng" algn="ctr">
                      <a:solidFill>
                        <a:schemeClr val="bg2">
                          <a:lumMod val="20000"/>
                          <a:lumOff val="80000"/>
                        </a:schemeClr>
                      </a:solidFill>
                      <a:prstDash val="solid"/>
                      <a:round/>
                      <a:headEnd type="none" w="med" len="med"/>
                      <a:tailEnd type="none" w="med" len="med"/>
                    </a:lnB>
                    <a:solidFill>
                      <a:srgbClr val="D3E9E7"/>
                    </a:solidFill>
                  </a:tcPr>
                </a:tc>
                <a:extLst>
                  <a:ext uri="{0D108BD9-81ED-4DB2-BD59-A6C34878D82A}">
                    <a16:rowId xmlns:a16="http://schemas.microsoft.com/office/drawing/2014/main" val="10011"/>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341118513"/>
              </p:ext>
            </p:extLst>
          </p:nvPr>
        </p:nvGraphicFramePr>
        <p:xfrm>
          <a:off x="3959871" y="1641136"/>
          <a:ext cx="3639599" cy="2362200"/>
        </p:xfrm>
        <a:graphic>
          <a:graphicData uri="http://schemas.openxmlformats.org/drawingml/2006/table">
            <a:tbl>
              <a:tblPr firstRow="1" bandRow="1">
                <a:tableStyleId>{5C22544A-7EE6-4342-B048-85BDC9FD1C3A}</a:tableStyleId>
              </a:tblPr>
              <a:tblGrid>
                <a:gridCol w="1738800">
                  <a:extLst>
                    <a:ext uri="{9D8B030D-6E8A-4147-A177-3AD203B41FA5}">
                      <a16:colId xmlns:a16="http://schemas.microsoft.com/office/drawing/2014/main" val="20000"/>
                    </a:ext>
                  </a:extLst>
                </a:gridCol>
                <a:gridCol w="1000799">
                  <a:extLst>
                    <a:ext uri="{9D8B030D-6E8A-4147-A177-3AD203B41FA5}">
                      <a16:colId xmlns:a16="http://schemas.microsoft.com/office/drawing/2014/main" val="20001"/>
                    </a:ext>
                  </a:extLst>
                </a:gridCol>
                <a:gridCol w="900000">
                  <a:extLst>
                    <a:ext uri="{9D8B030D-6E8A-4147-A177-3AD203B41FA5}">
                      <a16:colId xmlns:a16="http://schemas.microsoft.com/office/drawing/2014/main" val="20002"/>
                    </a:ext>
                  </a:extLst>
                </a:gridCol>
              </a:tblGrid>
              <a:tr h="216000">
                <a:tc>
                  <a:txBody>
                    <a:bodyPr/>
                    <a:lstStyle/>
                    <a:p>
                      <a:pPr algn="ctr">
                        <a:defRPr sz="1100" b="1">
                          <a:solidFill>
                            <a:srgbClr val="FFFFFF"/>
                          </a:solidFill>
                          <a:latin typeface="Montserrat"/>
                        </a:defRPr>
                      </a:pPr>
                      <a:r>
                        <a:t>Cirugía prioritaria</a:t>
                      </a:r>
                    </a:p>
                  </a:txBody>
                  <a:tcPr marL="14400" marR="14400" anchor="ctr">
                    <a:lnL w="12700" cap="flat" cmpd="sng" algn="ctr">
                      <a:solidFill>
                        <a:schemeClr val="bg2">
                          <a:lumMod val="20000"/>
                          <a:lumOff val="80000"/>
                        </a:schemeClr>
                      </a:solidFill>
                      <a:prstDash val="solid"/>
                      <a:round/>
                      <a:headEnd type="none" w="med" len="med"/>
                      <a:tailEnd type="none" w="med" len="med"/>
                    </a:lnL>
                    <a:lnT w="12700" cap="flat" cmpd="sng" algn="ctr">
                      <a:solidFill>
                        <a:schemeClr val="bg2">
                          <a:lumMod val="20000"/>
                          <a:lumOff val="80000"/>
                        </a:schemeClr>
                      </a:solidFill>
                      <a:prstDash val="solid"/>
                      <a:round/>
                      <a:headEnd type="none" w="med" len="med"/>
                      <a:tailEnd type="none" w="med" len="med"/>
                    </a:lnT>
                    <a:solidFill>
                      <a:srgbClr val="006455"/>
                    </a:solidFill>
                  </a:tcPr>
                </a:tc>
                <a:tc>
                  <a:txBody>
                    <a:bodyPr/>
                    <a:lstStyle/>
                    <a:p>
                      <a:pPr algn="ctr">
                        <a:defRPr sz="1100" b="1">
                          <a:solidFill>
                            <a:srgbClr val="FFFFFF"/>
                          </a:solidFill>
                          <a:latin typeface="Montserrat"/>
                        </a:defRPr>
                      </a:pPr>
                      <a:r>
                        <a:t>Total</a:t>
                      </a:r>
                    </a:p>
                  </a:txBody>
                  <a:tcPr marL="14400" marR="14400" anchor="ctr">
                    <a:lnT w="12700" cap="flat" cmpd="sng" algn="ctr">
                      <a:solidFill>
                        <a:schemeClr val="bg2">
                          <a:lumMod val="20000"/>
                          <a:lumOff val="80000"/>
                        </a:schemeClr>
                      </a:solidFill>
                      <a:prstDash val="solid"/>
                      <a:round/>
                      <a:headEnd type="none" w="med" len="med"/>
                      <a:tailEnd type="none" w="med" len="med"/>
                    </a:lnT>
                    <a:solidFill>
                      <a:srgbClr val="006455"/>
                    </a:solidFill>
                  </a:tcPr>
                </a:tc>
                <a:tc>
                  <a:txBody>
                    <a:bodyPr/>
                    <a:lstStyle/>
                    <a:p>
                      <a:pPr algn="ctr">
                        <a:defRPr sz="1100" b="1">
                          <a:solidFill>
                            <a:srgbClr val="FFFFFF"/>
                          </a:solidFill>
                          <a:latin typeface="Montserrat"/>
                        </a:defRPr>
                      </a:pPr>
                      <a:r>
                        <a:t>% del total</a:t>
                      </a:r>
                    </a:p>
                  </a:txBody>
                  <a:tcPr marL="14400" marR="14400" anchor="ctr">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solidFill>
                      <a:srgbClr val="006455"/>
                    </a:solidFill>
                  </a:tcPr>
                </a:tc>
                <a:extLst>
                  <a:ext uri="{0D108BD9-81ED-4DB2-BD59-A6C34878D82A}">
                    <a16:rowId xmlns:a16="http://schemas.microsoft.com/office/drawing/2014/main" val="10000"/>
                  </a:ext>
                </a:extLst>
              </a:tr>
              <a:tr h="216000">
                <a:tc>
                  <a:txBody>
                    <a:bodyPr/>
                    <a:lstStyle/>
                    <a:p>
                      <a:pPr algn="l">
                        <a:defRPr sz="1000">
                          <a:latin typeface="Montserrat"/>
                        </a:defRPr>
                      </a:pPr>
                      <a:r>
                        <a:t>Colecistectomías</a:t>
                      </a:r>
                    </a:p>
                  </a:txBody>
                  <a:tcPr anchor="ct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defRPr sz="1000">
                          <a:latin typeface="Montserrat"/>
                        </a:defRPr>
                      </a:pPr>
                      <a:r>
                        <a:t>516</a:t>
                      </a:r>
                    </a:p>
                  </a:txBody>
                  <a:tcPr anchor="ctr">
                    <a:solidFill>
                      <a:srgbClr val="FFFFFF"/>
                    </a:solidFill>
                  </a:tcPr>
                </a:tc>
                <a:tc>
                  <a:txBody>
                    <a:bodyPr/>
                    <a:lstStyle/>
                    <a:p>
                      <a:pPr algn="ctr">
                        <a:defRPr sz="1000">
                          <a:latin typeface="Montserrat"/>
                        </a:defRPr>
                      </a:pPr>
                      <a:r>
                        <a:t>27.6%</a:t>
                      </a:r>
                    </a:p>
                  </a:txBody>
                  <a:tcPr anchor="ct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1"/>
                  </a:ext>
                </a:extLst>
              </a:tr>
              <a:tr h="216000">
                <a:tc>
                  <a:txBody>
                    <a:bodyPr/>
                    <a:lstStyle/>
                    <a:p>
                      <a:pPr algn="l">
                        <a:defRPr sz="1000">
                          <a:latin typeface="Montserrat"/>
                        </a:defRPr>
                      </a:pPr>
                      <a:r>
                        <a:rPr err="1"/>
                        <a:t>Catarata</a:t>
                      </a:r>
                      <a:endParaRPr/>
                    </a:p>
                  </a:txBody>
                  <a:tcPr anchor="ctr">
                    <a:lnL w="12700" cap="flat" cmpd="sng" algn="ctr">
                      <a:solidFill>
                        <a:schemeClr val="bg2">
                          <a:lumMod val="20000"/>
                          <a:lumOff val="80000"/>
                        </a:schemeClr>
                      </a:solidFill>
                      <a:prstDash val="solid"/>
                      <a:round/>
                      <a:headEnd type="none" w="med" len="med"/>
                      <a:tailEnd type="none" w="med" len="med"/>
                    </a:lnL>
                    <a:solidFill>
                      <a:srgbClr val="D9D9D9"/>
                    </a:solidFill>
                  </a:tcPr>
                </a:tc>
                <a:tc>
                  <a:txBody>
                    <a:bodyPr/>
                    <a:lstStyle/>
                    <a:p>
                      <a:pPr algn="ctr">
                        <a:defRPr sz="1000">
                          <a:latin typeface="Montserrat"/>
                        </a:defRPr>
                      </a:pPr>
                      <a:r>
                        <a:t>406</a:t>
                      </a:r>
                    </a:p>
                  </a:txBody>
                  <a:tcPr anchor="ctr">
                    <a:solidFill>
                      <a:srgbClr val="D9D9D9"/>
                    </a:solidFill>
                  </a:tcPr>
                </a:tc>
                <a:tc>
                  <a:txBody>
                    <a:bodyPr/>
                    <a:lstStyle/>
                    <a:p>
                      <a:pPr algn="ctr">
                        <a:defRPr sz="1000">
                          <a:latin typeface="Montserrat"/>
                        </a:defRPr>
                      </a:pPr>
                      <a:r>
                        <a:t>49.4%</a:t>
                      </a:r>
                    </a:p>
                  </a:txBody>
                  <a:tcPr anchor="ctr">
                    <a:lnR w="12700" cap="flat" cmpd="sng" algn="ctr">
                      <a:solidFill>
                        <a:schemeClr val="bg2">
                          <a:lumMod val="20000"/>
                          <a:lumOff val="80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02"/>
                  </a:ext>
                </a:extLst>
              </a:tr>
              <a:tr h="216000">
                <a:tc>
                  <a:txBody>
                    <a:bodyPr/>
                    <a:lstStyle/>
                    <a:p>
                      <a:pPr algn="l">
                        <a:defRPr sz="1000">
                          <a:latin typeface="Montserrat"/>
                        </a:defRPr>
                      </a:pPr>
                      <a:r>
                        <a:t>Sustitución de rodilla</a:t>
                      </a:r>
                    </a:p>
                  </a:txBody>
                  <a:tcPr anchor="ct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defRPr sz="1000">
                          <a:latin typeface="Montserrat"/>
                        </a:defRPr>
                      </a:pPr>
                      <a:r>
                        <a:t>284</a:t>
                      </a:r>
                    </a:p>
                  </a:txBody>
                  <a:tcPr anchor="ctr">
                    <a:solidFill>
                      <a:srgbClr val="FFFFFF"/>
                    </a:solidFill>
                  </a:tcPr>
                </a:tc>
                <a:tc>
                  <a:txBody>
                    <a:bodyPr/>
                    <a:lstStyle/>
                    <a:p>
                      <a:pPr algn="ctr">
                        <a:defRPr sz="1000">
                          <a:latin typeface="Montserrat"/>
                        </a:defRPr>
                      </a:pPr>
                      <a:r>
                        <a:t>64.6%</a:t>
                      </a:r>
                    </a:p>
                  </a:txBody>
                  <a:tcPr anchor="ct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3"/>
                  </a:ext>
                </a:extLst>
              </a:tr>
              <a:tr h="216000">
                <a:tc>
                  <a:txBody>
                    <a:bodyPr/>
                    <a:lstStyle/>
                    <a:p>
                      <a:pPr algn="l">
                        <a:defRPr sz="1000">
                          <a:latin typeface="Montserrat"/>
                        </a:defRPr>
                      </a:pPr>
                      <a:r>
                        <a:t>Hernioplastías abdominales</a:t>
                      </a:r>
                    </a:p>
                  </a:txBody>
                  <a:tcPr anchor="ctr">
                    <a:lnL w="12700" cap="flat" cmpd="sng" algn="ctr">
                      <a:solidFill>
                        <a:schemeClr val="bg2">
                          <a:lumMod val="20000"/>
                          <a:lumOff val="80000"/>
                        </a:schemeClr>
                      </a:solidFill>
                      <a:prstDash val="solid"/>
                      <a:round/>
                      <a:headEnd type="none" w="med" len="med"/>
                      <a:tailEnd type="none" w="med" len="med"/>
                    </a:lnL>
                    <a:solidFill>
                      <a:srgbClr val="D9D9D9"/>
                    </a:solidFill>
                  </a:tcPr>
                </a:tc>
                <a:tc>
                  <a:txBody>
                    <a:bodyPr/>
                    <a:lstStyle/>
                    <a:p>
                      <a:pPr algn="ctr">
                        <a:defRPr sz="1000">
                          <a:latin typeface="Montserrat"/>
                        </a:defRPr>
                      </a:pPr>
                      <a:r>
                        <a:t>282</a:t>
                      </a:r>
                    </a:p>
                  </a:txBody>
                  <a:tcPr anchor="ctr">
                    <a:solidFill>
                      <a:srgbClr val="D9D9D9"/>
                    </a:solidFill>
                  </a:tcPr>
                </a:tc>
                <a:tc>
                  <a:txBody>
                    <a:bodyPr/>
                    <a:lstStyle/>
                    <a:p>
                      <a:pPr algn="ctr">
                        <a:defRPr sz="1000">
                          <a:latin typeface="Montserrat"/>
                        </a:defRPr>
                      </a:pPr>
                      <a:r>
                        <a:t>79.7%</a:t>
                      </a:r>
                    </a:p>
                  </a:txBody>
                  <a:tcPr anchor="ctr">
                    <a:lnR w="12700" cap="flat" cmpd="sng" algn="ctr">
                      <a:solidFill>
                        <a:schemeClr val="bg2">
                          <a:lumMod val="20000"/>
                          <a:lumOff val="80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04"/>
                  </a:ext>
                </a:extLst>
              </a:tr>
              <a:tr h="216000">
                <a:tc>
                  <a:txBody>
                    <a:bodyPr/>
                    <a:lstStyle/>
                    <a:p>
                      <a:pPr algn="l">
                        <a:defRPr sz="1000">
                          <a:latin typeface="Montserrat"/>
                        </a:defRPr>
                      </a:pPr>
                      <a:r>
                        <a:t>Histerectomías</a:t>
                      </a:r>
                    </a:p>
                  </a:txBody>
                  <a:tcPr anchor="ct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defRPr sz="1000">
                          <a:latin typeface="Montserrat"/>
                        </a:defRPr>
                      </a:pPr>
                      <a:r>
                        <a:t>144</a:t>
                      </a:r>
                    </a:p>
                  </a:txBody>
                  <a:tcPr anchor="ctr">
                    <a:solidFill>
                      <a:srgbClr val="FFFFFF"/>
                    </a:solidFill>
                  </a:tcPr>
                </a:tc>
                <a:tc>
                  <a:txBody>
                    <a:bodyPr/>
                    <a:lstStyle/>
                    <a:p>
                      <a:pPr algn="ctr">
                        <a:defRPr sz="1000">
                          <a:latin typeface="Montserrat"/>
                        </a:defRPr>
                      </a:pPr>
                      <a:r>
                        <a:t>87.4%</a:t>
                      </a:r>
                    </a:p>
                  </a:txBody>
                  <a:tcPr anchor="ct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5"/>
                  </a:ext>
                </a:extLst>
              </a:tr>
              <a:tr h="216000">
                <a:tc>
                  <a:txBody>
                    <a:bodyPr/>
                    <a:lstStyle/>
                    <a:p>
                      <a:pPr algn="l">
                        <a:defRPr sz="1000">
                          <a:latin typeface="Montserrat"/>
                        </a:defRPr>
                      </a:pPr>
                      <a:r>
                        <a:t>Sustitución de cadera</a:t>
                      </a:r>
                    </a:p>
                  </a:txBody>
                  <a:tcPr anchor="ctr">
                    <a:lnL w="12700" cap="flat" cmpd="sng" algn="ctr">
                      <a:solidFill>
                        <a:schemeClr val="bg2">
                          <a:lumMod val="20000"/>
                          <a:lumOff val="80000"/>
                        </a:schemeClr>
                      </a:solidFill>
                      <a:prstDash val="solid"/>
                      <a:round/>
                      <a:headEnd type="none" w="med" len="med"/>
                      <a:tailEnd type="none" w="med" len="med"/>
                    </a:lnL>
                    <a:solidFill>
                      <a:srgbClr val="D9D9D9"/>
                    </a:solidFill>
                  </a:tcPr>
                </a:tc>
                <a:tc>
                  <a:txBody>
                    <a:bodyPr/>
                    <a:lstStyle/>
                    <a:p>
                      <a:pPr algn="ctr">
                        <a:defRPr sz="1000">
                          <a:latin typeface="Montserrat"/>
                        </a:defRPr>
                      </a:pPr>
                      <a:r>
                        <a:t>132</a:t>
                      </a:r>
                    </a:p>
                  </a:txBody>
                  <a:tcPr anchor="ctr">
                    <a:solidFill>
                      <a:srgbClr val="D9D9D9"/>
                    </a:solidFill>
                  </a:tcPr>
                </a:tc>
                <a:tc>
                  <a:txBody>
                    <a:bodyPr/>
                    <a:lstStyle/>
                    <a:p>
                      <a:pPr algn="ctr">
                        <a:defRPr sz="1000">
                          <a:latin typeface="Montserrat"/>
                        </a:defRPr>
                      </a:pPr>
                      <a:r>
                        <a:t>94.4%</a:t>
                      </a:r>
                    </a:p>
                  </a:txBody>
                  <a:tcPr anchor="ctr">
                    <a:lnR w="12700" cap="flat" cmpd="sng" algn="ctr">
                      <a:solidFill>
                        <a:schemeClr val="bg2">
                          <a:lumMod val="20000"/>
                          <a:lumOff val="80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06"/>
                  </a:ext>
                </a:extLst>
              </a:tr>
              <a:tr h="216000">
                <a:tc>
                  <a:txBody>
                    <a:bodyPr/>
                    <a:lstStyle/>
                    <a:p>
                      <a:pPr algn="l">
                        <a:defRPr sz="1000">
                          <a:latin typeface="Montserrat"/>
                        </a:defRPr>
                      </a:pPr>
                      <a:r>
                        <a:t>Mastectomías</a:t>
                      </a:r>
                    </a:p>
                  </a:txBody>
                  <a:tcPr anchor="ct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defRPr sz="1000">
                          <a:latin typeface="Montserrat"/>
                        </a:defRPr>
                      </a:pPr>
                      <a:r>
                        <a:t>104</a:t>
                      </a:r>
                    </a:p>
                  </a:txBody>
                  <a:tcPr anchor="ctr">
                    <a:solidFill>
                      <a:srgbClr val="FFFFFF"/>
                    </a:solidFill>
                  </a:tcPr>
                </a:tc>
                <a:tc>
                  <a:txBody>
                    <a:bodyPr/>
                    <a:lstStyle/>
                    <a:p>
                      <a:pPr algn="ctr">
                        <a:defRPr sz="1000">
                          <a:latin typeface="Montserrat"/>
                        </a:defRPr>
                      </a:pPr>
                      <a:r>
                        <a:t>100.0%</a:t>
                      </a:r>
                    </a:p>
                  </a:txBody>
                  <a:tcPr anchor="ct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7"/>
                  </a:ext>
                </a:extLst>
              </a:tr>
              <a:tr h="216000">
                <a:tc>
                  <a:txBody>
                    <a:bodyPr/>
                    <a:lstStyle/>
                    <a:p>
                      <a:pPr algn="l">
                        <a:defRPr sz="1000" b="1">
                          <a:solidFill>
                            <a:srgbClr val="006455"/>
                          </a:solidFill>
                          <a:latin typeface="Montserrat"/>
                        </a:defRPr>
                      </a:pPr>
                      <a:r>
                        <a:t>Total</a:t>
                      </a:r>
                    </a:p>
                  </a:txBody>
                  <a:tcPr anchor="ctr">
                    <a:lnL w="12700" cap="flat" cmpd="sng" algn="ctr">
                      <a:solidFill>
                        <a:schemeClr val="bg2">
                          <a:lumMod val="20000"/>
                          <a:lumOff val="80000"/>
                        </a:schemeClr>
                      </a:solidFill>
                      <a:prstDash val="solid"/>
                      <a:round/>
                      <a:headEnd type="none" w="med" len="med"/>
                      <a:tailEnd type="none" w="med" len="med"/>
                    </a:lnL>
                    <a:lnB w="12700" cap="flat" cmpd="sng" algn="ctr">
                      <a:solidFill>
                        <a:schemeClr val="bg2">
                          <a:lumMod val="20000"/>
                          <a:lumOff val="80000"/>
                        </a:schemeClr>
                      </a:solidFill>
                      <a:prstDash val="solid"/>
                      <a:round/>
                      <a:headEnd type="none" w="med" len="med"/>
                      <a:tailEnd type="none" w="med" len="med"/>
                    </a:lnB>
                    <a:solidFill>
                      <a:srgbClr val="D3E9E7"/>
                    </a:solidFill>
                  </a:tcPr>
                </a:tc>
                <a:tc>
                  <a:txBody>
                    <a:bodyPr/>
                    <a:lstStyle/>
                    <a:p>
                      <a:pPr algn="ctr">
                        <a:defRPr sz="1000" b="1">
                          <a:solidFill>
                            <a:srgbClr val="006455"/>
                          </a:solidFill>
                          <a:latin typeface="Montserrat"/>
                        </a:defRPr>
                      </a:pPr>
                      <a:r>
                        <a:t>1,868</a:t>
                      </a:r>
                    </a:p>
                  </a:txBody>
                  <a:tcPr anchor="ctr">
                    <a:lnB w="12700" cap="flat" cmpd="sng" algn="ctr">
                      <a:solidFill>
                        <a:schemeClr val="bg2">
                          <a:lumMod val="20000"/>
                          <a:lumOff val="80000"/>
                        </a:schemeClr>
                      </a:solidFill>
                      <a:prstDash val="solid"/>
                      <a:round/>
                      <a:headEnd type="none" w="med" len="med"/>
                      <a:tailEnd type="none" w="med" len="med"/>
                    </a:lnB>
                    <a:solidFill>
                      <a:srgbClr val="D3E9E7"/>
                    </a:solidFill>
                  </a:tcPr>
                </a:tc>
                <a:tc>
                  <a:txBody>
                    <a:bodyPr/>
                    <a:lstStyle/>
                    <a:p>
                      <a:pPr algn="ctr">
                        <a:defRPr sz="1000" b="1">
                          <a:solidFill>
                            <a:srgbClr val="006455"/>
                          </a:solidFill>
                          <a:latin typeface="Montserrat"/>
                        </a:defRPr>
                      </a:pPr>
                      <a:r>
                        <a:t>100.0%</a:t>
                      </a:r>
                    </a:p>
                  </a:txBody>
                  <a:tcPr anchor="ctr">
                    <a:lnR w="12700" cap="flat" cmpd="sng" algn="ctr">
                      <a:solidFill>
                        <a:schemeClr val="bg2">
                          <a:lumMod val="20000"/>
                          <a:lumOff val="80000"/>
                        </a:schemeClr>
                      </a:solidFill>
                      <a:prstDash val="solid"/>
                      <a:round/>
                      <a:headEnd type="none" w="med" len="med"/>
                      <a:tailEnd type="none" w="med" len="med"/>
                    </a:lnR>
                    <a:lnB w="12700" cap="flat" cmpd="sng" algn="ctr">
                      <a:solidFill>
                        <a:schemeClr val="bg2">
                          <a:lumMod val="20000"/>
                          <a:lumOff val="80000"/>
                        </a:schemeClr>
                      </a:solidFill>
                      <a:prstDash val="solid"/>
                      <a:round/>
                      <a:headEnd type="none" w="med" len="med"/>
                      <a:tailEnd type="none" w="med" len="med"/>
                    </a:lnB>
                    <a:solidFill>
                      <a:srgbClr val="D3E9E7"/>
                    </a:solidFill>
                  </a:tcPr>
                </a:tc>
                <a:extLst>
                  <a:ext uri="{0D108BD9-81ED-4DB2-BD59-A6C34878D82A}">
                    <a16:rowId xmlns:a16="http://schemas.microsoft.com/office/drawing/2014/main" val="10008"/>
                  </a:ext>
                </a:extLst>
              </a:tr>
            </a:tbl>
          </a:graphicData>
        </a:graphic>
      </p:graphicFrame>
      <p:sp>
        <p:nvSpPr>
          <p:cNvPr id="7" name="TextBox 231">
            <a:extLst>
              <a:ext uri="{FF2B5EF4-FFF2-40B4-BE49-F238E27FC236}">
                <a16:creationId xmlns:a16="http://schemas.microsoft.com/office/drawing/2014/main" id="{798E2446-DBE4-53A1-BC29-8CB1CF757421}"/>
              </a:ext>
            </a:extLst>
          </p:cNvPr>
          <p:cNvSpPr txBox="1"/>
          <p:nvPr/>
        </p:nvSpPr>
        <p:spPr>
          <a:xfrm>
            <a:off x="343905" y="9609134"/>
            <a:ext cx="2120375" cy="123110"/>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defRPr sz="800">
                <a:solidFill>
                  <a:srgbClr val="000000"/>
                </a:solidFill>
                <a:latin typeface="Montserrat"/>
              </a:defRPr>
            </a:pPr>
            <a:r>
              <a:rPr>
                <a:solidFill>
                  <a:schemeClr val="bg1"/>
                </a:solidFill>
              </a:rPr>
              <a:t>Corte de información: </a:t>
            </a:r>
            <a:r>
              <a:rPr lang="es-MX">
                <a:solidFill>
                  <a:schemeClr val="bg1"/>
                </a:solidFill>
              </a:rPr>
              <a:t>18</a:t>
            </a:r>
            <a:r>
              <a:rPr>
                <a:solidFill>
                  <a:schemeClr val="bg1"/>
                </a:solidFill>
              </a:rPr>
              <a:t> </a:t>
            </a:r>
            <a:r>
              <a:rPr lang="es-MX">
                <a:solidFill>
                  <a:schemeClr val="bg1"/>
                </a:solidFill>
              </a:rPr>
              <a:t>junio</a:t>
            </a:r>
            <a:r>
              <a:rPr>
                <a:solidFill>
                  <a:schemeClr val="bg1"/>
                </a:solidFill>
              </a:rPr>
              <a:t> 2026</a:t>
            </a:r>
          </a:p>
        </p:txBody>
      </p:sp>
      <p:sp>
        <p:nvSpPr>
          <p:cNvPr id="8" name="TextBox 231">
            <a:extLst>
              <a:ext uri="{FF2B5EF4-FFF2-40B4-BE49-F238E27FC236}">
                <a16:creationId xmlns:a16="http://schemas.microsoft.com/office/drawing/2014/main" id="{BE86EB12-95EE-1BE0-B1A1-DE864E266AC1}"/>
              </a:ext>
            </a:extLst>
          </p:cNvPr>
          <p:cNvSpPr txBox="1"/>
          <p:nvPr/>
        </p:nvSpPr>
        <p:spPr>
          <a:xfrm>
            <a:off x="343905" y="9732244"/>
            <a:ext cx="3121331" cy="123111"/>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defRPr sz="800">
                <a:solidFill>
                  <a:srgbClr val="000000"/>
                </a:solidFill>
                <a:latin typeface="Montserrat"/>
              </a:defRPr>
            </a:pPr>
            <a:r>
              <a:rPr lang="es-MX">
                <a:solidFill>
                  <a:schemeClr val="bg1"/>
                </a:solidFill>
              </a:rPr>
              <a:t>En cada brigada participan 5 personas del IMSS.</a:t>
            </a:r>
            <a:endParaRPr>
              <a:solidFill>
                <a:schemeClr val="bg1"/>
              </a:solidFill>
            </a:endParaRPr>
          </a:p>
        </p:txBody>
      </p:sp>
      <p:sp>
        <p:nvSpPr>
          <p:cNvPr id="9" name="CuadroTexto 11">
            <a:extLst>
              <a:ext uri="{FF2B5EF4-FFF2-40B4-BE49-F238E27FC236}">
                <a16:creationId xmlns:a16="http://schemas.microsoft.com/office/drawing/2014/main" id="{4B417EE3-24BF-89D8-FCBB-F617812479EB}"/>
              </a:ext>
            </a:extLst>
          </p:cNvPr>
          <p:cNvSpPr txBox="1"/>
          <p:nvPr/>
        </p:nvSpPr>
        <p:spPr>
          <a:xfrm>
            <a:off x="623011" y="8464030"/>
            <a:ext cx="1841269"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800" b="1">
                <a:solidFill>
                  <a:srgbClr val="006556"/>
                </a:solidFill>
                <a:latin typeface="Montserrat"/>
                <a:ea typeface="Montserrat"/>
                <a:cs typeface="Montserrat"/>
              </a:rPr>
              <a:t>16,004</a:t>
            </a:r>
            <a:endParaRPr lang="en-US" sz="2800" b="1" i="0" u="none" strike="noStrike">
              <a:solidFill>
                <a:srgbClr val="006556"/>
              </a:solidFill>
              <a:latin typeface="Montserrat"/>
              <a:ea typeface="Montserrat"/>
              <a:cs typeface="Montserrat"/>
            </a:endParaRPr>
          </a:p>
          <a:p>
            <a:pPr algn="ctr"/>
            <a:r>
              <a:rPr lang="en-US" sz="1200" b="1" i="0" u="none" strike="noStrike" err="1">
                <a:solidFill>
                  <a:srgbClr val="434343"/>
                </a:solidFill>
                <a:latin typeface="Montserrat"/>
                <a:ea typeface="Montserrat"/>
                <a:cs typeface="Montserrat"/>
              </a:rPr>
              <a:t>Valoraciones</a:t>
            </a:r>
            <a:r>
              <a:rPr lang="en-US" sz="1200" b="1" i="0" u="none" strike="noStrike">
                <a:solidFill>
                  <a:srgbClr val="434343"/>
                </a:solidFill>
                <a:latin typeface="Montserrat"/>
                <a:ea typeface="Montserrat"/>
                <a:cs typeface="Montserrat"/>
              </a:rPr>
              <a:t> </a:t>
            </a:r>
            <a:br>
              <a:rPr lang="en-US" sz="1200" b="1">
                <a:latin typeface="Montserrat"/>
                <a:ea typeface="Montserrat"/>
                <a:cs typeface="Montserrat"/>
              </a:rPr>
            </a:br>
            <a:r>
              <a:rPr lang="en-US" sz="1200" b="1" i="0" u="none" strike="noStrike" err="1">
                <a:solidFill>
                  <a:srgbClr val="434343"/>
                </a:solidFill>
                <a:latin typeface="Montserrat"/>
                <a:ea typeface="Montserrat"/>
                <a:cs typeface="Montserrat"/>
              </a:rPr>
              <a:t>nutricionales</a:t>
            </a:r>
            <a:endParaRPr lang="en-US" sz="1200" b="1" i="0" u="none" strike="noStrike">
              <a:solidFill>
                <a:srgbClr val="434343"/>
              </a:solidFill>
              <a:latin typeface="Montserrat"/>
              <a:ea typeface="Montserrat"/>
              <a:cs typeface="Montserrat"/>
            </a:endParaRPr>
          </a:p>
        </p:txBody>
      </p:sp>
      <p:sp>
        <p:nvSpPr>
          <p:cNvPr id="10" name="CuadroTexto 12">
            <a:extLst>
              <a:ext uri="{FF2B5EF4-FFF2-40B4-BE49-F238E27FC236}">
                <a16:creationId xmlns:a16="http://schemas.microsoft.com/office/drawing/2014/main" id="{84546EE8-CAA7-60A6-F387-3B59F445423E}"/>
              </a:ext>
            </a:extLst>
          </p:cNvPr>
          <p:cNvSpPr txBox="1"/>
          <p:nvPr/>
        </p:nvSpPr>
        <p:spPr>
          <a:xfrm>
            <a:off x="3135321" y="8487860"/>
            <a:ext cx="1832957"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800" b="1">
                <a:solidFill>
                  <a:srgbClr val="006556"/>
                </a:solidFill>
                <a:latin typeface="Montserrat"/>
                <a:ea typeface="Montserrat"/>
                <a:cs typeface="Montserrat"/>
              </a:rPr>
              <a:t>17,045</a:t>
            </a:r>
            <a:endParaRPr lang="en-US" sz="2800" b="1" i="0" u="none" strike="noStrike">
              <a:solidFill>
                <a:srgbClr val="006556"/>
              </a:solidFill>
              <a:latin typeface="Montserrat"/>
              <a:ea typeface="Montserrat"/>
              <a:cs typeface="Montserrat"/>
            </a:endParaRPr>
          </a:p>
          <a:p>
            <a:pPr algn="ctr"/>
            <a:r>
              <a:rPr lang="en-US" sz="1200" b="1" i="0" u="none" strike="noStrike" err="1">
                <a:solidFill>
                  <a:srgbClr val="434343"/>
                </a:solidFill>
                <a:latin typeface="Montserrat"/>
                <a:ea typeface="Montserrat"/>
                <a:cs typeface="Montserrat"/>
              </a:rPr>
              <a:t>Valoraciones</a:t>
            </a:r>
            <a:r>
              <a:rPr lang="en-US" sz="1200" b="1" i="0" u="none" strike="noStrike">
                <a:solidFill>
                  <a:srgbClr val="434343"/>
                </a:solidFill>
                <a:latin typeface="Montserrat"/>
                <a:ea typeface="Montserrat"/>
                <a:cs typeface="Montserrat"/>
              </a:rPr>
              <a:t> </a:t>
            </a:r>
            <a:br>
              <a:rPr lang="en-US" sz="1200" b="1">
                <a:latin typeface="Montserrat"/>
                <a:ea typeface="Montserrat"/>
                <a:cs typeface="Montserrat"/>
              </a:rPr>
            </a:br>
            <a:r>
              <a:rPr lang="en-US" sz="1200" b="1" err="1">
                <a:solidFill>
                  <a:srgbClr val="434343"/>
                </a:solidFill>
                <a:latin typeface="Montserrat"/>
                <a:ea typeface="Montserrat"/>
                <a:cs typeface="Montserrat"/>
              </a:rPr>
              <a:t>bucales</a:t>
            </a:r>
            <a:endParaRPr lang="en-US" sz="1200" b="1" i="0" u="none" strike="noStrike">
              <a:solidFill>
                <a:srgbClr val="434343"/>
              </a:solidFill>
              <a:latin typeface="Montserrat"/>
              <a:ea typeface="Montserrat"/>
              <a:cs typeface="Montserrat"/>
            </a:endParaRPr>
          </a:p>
        </p:txBody>
      </p:sp>
      <p:sp>
        <p:nvSpPr>
          <p:cNvPr id="11" name="CuadroTexto 13">
            <a:extLst>
              <a:ext uri="{FF2B5EF4-FFF2-40B4-BE49-F238E27FC236}">
                <a16:creationId xmlns:a16="http://schemas.microsoft.com/office/drawing/2014/main" id="{FC442E3E-ACCB-D723-3A97-CCEA24E4BD48}"/>
              </a:ext>
            </a:extLst>
          </p:cNvPr>
          <p:cNvSpPr txBox="1"/>
          <p:nvPr/>
        </p:nvSpPr>
        <p:spPr>
          <a:xfrm>
            <a:off x="5500800" y="8370992"/>
            <a:ext cx="1841269" cy="70788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800" b="1">
                <a:solidFill>
                  <a:srgbClr val="006556"/>
                </a:solidFill>
                <a:latin typeface="Montserrat"/>
                <a:ea typeface="Montserrat"/>
                <a:cs typeface="Montserrat"/>
              </a:rPr>
              <a:t>3,139</a:t>
            </a:r>
            <a:endParaRPr lang="en-US" sz="2800" b="1" i="0" u="none" strike="noStrike">
              <a:solidFill>
                <a:srgbClr val="006556"/>
              </a:solidFill>
              <a:latin typeface="Montserrat"/>
              <a:ea typeface="Montserrat"/>
              <a:cs typeface="Montserrat"/>
            </a:endParaRPr>
          </a:p>
          <a:p>
            <a:pPr algn="ctr"/>
            <a:r>
              <a:rPr lang="en-US" sz="1200" b="1">
                <a:solidFill>
                  <a:srgbClr val="434343"/>
                </a:solidFill>
                <a:latin typeface="Montserrat"/>
                <a:ea typeface="Montserrat"/>
                <a:cs typeface="Montserrat"/>
              </a:rPr>
              <a:t>Salud visual</a:t>
            </a:r>
            <a:endParaRPr lang="en-US" sz="1200" b="1" i="0" u="none" strike="noStrike">
              <a:solidFill>
                <a:srgbClr val="434343"/>
              </a:solidFill>
              <a:latin typeface="Montserrat"/>
              <a:ea typeface="Montserrat"/>
              <a:cs typeface="Montserrat"/>
            </a:endParaRPr>
          </a:p>
        </p:txBody>
      </p:sp>
      <p:pic>
        <p:nvPicPr>
          <p:cNvPr id="12" name="Imagen 11" descr="Icono&#10;&#10;El contenido generado por IA puede ser incorrecto.">
            <a:extLst>
              <a:ext uri="{FF2B5EF4-FFF2-40B4-BE49-F238E27FC236}">
                <a16:creationId xmlns:a16="http://schemas.microsoft.com/office/drawing/2014/main" id="{21A08EB2-2A39-4622-5F69-BB0CBAE10775}"/>
              </a:ext>
            </a:extLst>
          </p:cNvPr>
          <p:cNvPicPr>
            <a:picLocks noChangeAspect="1"/>
          </p:cNvPicPr>
          <p:nvPr/>
        </p:nvPicPr>
        <p:blipFill>
          <a:blip r:embed="rId4"/>
          <a:stretch>
            <a:fillRect/>
          </a:stretch>
        </p:blipFill>
        <p:spPr>
          <a:xfrm>
            <a:off x="3634507" y="7832450"/>
            <a:ext cx="730135" cy="669175"/>
          </a:xfrm>
          <a:prstGeom prst="rect">
            <a:avLst/>
          </a:prstGeom>
        </p:spPr>
      </p:pic>
      <p:pic>
        <p:nvPicPr>
          <p:cNvPr id="13" name="Imagen 12" descr="Icono&#10;&#10;El contenido generado por IA puede ser incorrecto.">
            <a:extLst>
              <a:ext uri="{FF2B5EF4-FFF2-40B4-BE49-F238E27FC236}">
                <a16:creationId xmlns:a16="http://schemas.microsoft.com/office/drawing/2014/main" id="{973B1E68-0B65-AEDC-E97D-826D046FBC70}"/>
              </a:ext>
            </a:extLst>
          </p:cNvPr>
          <p:cNvPicPr>
            <a:picLocks noChangeAspect="1"/>
          </p:cNvPicPr>
          <p:nvPr/>
        </p:nvPicPr>
        <p:blipFill>
          <a:blip r:embed="rId5"/>
          <a:stretch>
            <a:fillRect/>
          </a:stretch>
        </p:blipFill>
        <p:spPr>
          <a:xfrm>
            <a:off x="5959211" y="7879048"/>
            <a:ext cx="924445" cy="491944"/>
          </a:xfrm>
          <a:prstGeom prst="rect">
            <a:avLst/>
          </a:prstGeom>
        </p:spPr>
      </p:pic>
      <p:pic>
        <p:nvPicPr>
          <p:cNvPr id="14" name="Imagen 13" descr="Icono&#10;&#10;El contenido generado por IA puede ser incorrecto.">
            <a:extLst>
              <a:ext uri="{FF2B5EF4-FFF2-40B4-BE49-F238E27FC236}">
                <a16:creationId xmlns:a16="http://schemas.microsoft.com/office/drawing/2014/main" id="{65DA7D5D-D563-F148-EEA4-106F1CE73058}"/>
              </a:ext>
            </a:extLst>
          </p:cNvPr>
          <p:cNvPicPr>
            <a:picLocks noChangeAspect="1"/>
          </p:cNvPicPr>
          <p:nvPr/>
        </p:nvPicPr>
        <p:blipFill>
          <a:blip r:embed="rId6"/>
          <a:stretch>
            <a:fillRect/>
          </a:stretch>
        </p:blipFill>
        <p:spPr>
          <a:xfrm>
            <a:off x="1239069" y="7832450"/>
            <a:ext cx="603366" cy="713510"/>
          </a:xfrm>
          <a:prstGeom prst="rect">
            <a:avLst/>
          </a:prstGeom>
        </p:spPr>
      </p:pic>
      <p:graphicFrame>
        <p:nvGraphicFramePr>
          <p:cNvPr id="15" name="Tabla 14">
            <a:extLst>
              <a:ext uri="{FF2B5EF4-FFF2-40B4-BE49-F238E27FC236}">
                <a16:creationId xmlns:a16="http://schemas.microsoft.com/office/drawing/2014/main" id="{A15DC46A-F244-DF02-EB08-FFD12716A602}"/>
              </a:ext>
            </a:extLst>
          </p:cNvPr>
          <p:cNvGraphicFramePr>
            <a:graphicFrameLocks noGrp="1"/>
          </p:cNvGraphicFramePr>
          <p:nvPr>
            <p:extLst>
              <p:ext uri="{D42A27DB-BD31-4B8C-83A1-F6EECF244321}">
                <p14:modId xmlns:p14="http://schemas.microsoft.com/office/powerpoint/2010/main" val="2738945731"/>
              </p:ext>
            </p:extLst>
          </p:nvPr>
        </p:nvGraphicFramePr>
        <p:xfrm>
          <a:off x="1814563" y="6850798"/>
          <a:ext cx="4474474" cy="803530"/>
        </p:xfrm>
        <a:graphic>
          <a:graphicData uri="http://schemas.openxmlformats.org/drawingml/2006/table">
            <a:tbl>
              <a:tblPr/>
              <a:tblGrid>
                <a:gridCol w="2201174">
                  <a:extLst>
                    <a:ext uri="{9D8B030D-6E8A-4147-A177-3AD203B41FA5}">
                      <a16:colId xmlns:a16="http://schemas.microsoft.com/office/drawing/2014/main" val="765469907"/>
                    </a:ext>
                  </a:extLst>
                </a:gridCol>
                <a:gridCol w="2273300">
                  <a:extLst>
                    <a:ext uri="{9D8B030D-6E8A-4147-A177-3AD203B41FA5}">
                      <a16:colId xmlns:a16="http://schemas.microsoft.com/office/drawing/2014/main" val="2502191586"/>
                    </a:ext>
                  </a:extLst>
                </a:gridCol>
              </a:tblGrid>
              <a:tr h="209550">
                <a:tc>
                  <a:txBody>
                    <a:bodyPr/>
                    <a:lstStyle/>
                    <a:p>
                      <a:pPr algn="ctr" fontAlgn="base">
                        <a:lnSpc>
                          <a:spcPts val="1650"/>
                        </a:lnSpc>
                        <a:buNone/>
                      </a:pPr>
                      <a:r>
                        <a:rPr lang="es-MX" sz="1400" b="1" i="0" u="none" strike="noStrike">
                          <a:solidFill>
                            <a:srgbClr val="FFFFFF"/>
                          </a:solidFill>
                          <a:effectLst/>
                          <a:latin typeface="Arial" panose="020B0604020202020204" pitchFamily="34" charset="0"/>
                        </a:rPr>
                        <a:t>Brigadas</a:t>
                      </a:r>
                      <a:r>
                        <a:rPr lang="en-US" sz="1400" b="1" i="0">
                          <a:solidFill>
                            <a:srgbClr val="FFFFFF"/>
                          </a:solidFill>
                          <a:effectLst/>
                          <a:latin typeface="Arial" panose="020B0604020202020204" pitchFamily="34" charset="0"/>
                        </a:rPr>
                        <a:t>​</a:t>
                      </a:r>
                      <a:endParaRPr lang="en-US" b="1" i="0">
                        <a:solidFill>
                          <a:srgbClr val="FFFFFF"/>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2041" cap="flat" cmpd="sng" algn="ctr">
                      <a:solidFill>
                        <a:srgbClr val="FFFFFF"/>
                      </a:solidFill>
                      <a:prstDash val="solid"/>
                      <a:round/>
                      <a:headEnd type="none" w="med" len="med"/>
                      <a:tailEnd type="none" w="med" len="med"/>
                    </a:lnB>
                    <a:solidFill>
                      <a:srgbClr val="006455"/>
                    </a:solidFill>
                  </a:tcPr>
                </a:tc>
                <a:tc>
                  <a:txBody>
                    <a:bodyPr/>
                    <a:lstStyle/>
                    <a:p>
                      <a:pPr algn="ctr" fontAlgn="base">
                        <a:lnSpc>
                          <a:spcPts val="1650"/>
                        </a:lnSpc>
                        <a:buNone/>
                      </a:pPr>
                      <a:r>
                        <a:rPr lang="es-MX" sz="1400" b="1" i="0" u="none" strike="noStrike">
                          <a:solidFill>
                            <a:srgbClr val="FFFFFF"/>
                          </a:solidFill>
                          <a:effectLst/>
                          <a:latin typeface="Arial" panose="020B0604020202020204" pitchFamily="34" charset="0"/>
                        </a:rPr>
                        <a:t>Personal de enfermería IMSS</a:t>
                      </a:r>
                      <a:r>
                        <a:rPr lang="en-US" sz="1400" b="1" i="0">
                          <a:solidFill>
                            <a:srgbClr val="FFFFFF"/>
                          </a:solidFill>
                          <a:effectLst/>
                          <a:latin typeface="Arial" panose="020B0604020202020204" pitchFamily="34" charset="0"/>
                        </a:rPr>
                        <a:t>​</a:t>
                      </a:r>
                      <a:endParaRPr lang="en-US" b="1" i="0">
                        <a:solidFill>
                          <a:srgbClr val="FFFFFF"/>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2041" cap="flat" cmpd="sng" algn="ctr">
                      <a:solidFill>
                        <a:srgbClr val="FFFFFF"/>
                      </a:solidFill>
                      <a:prstDash val="solid"/>
                      <a:round/>
                      <a:headEnd type="none" w="med" len="med"/>
                      <a:tailEnd type="none" w="med" len="med"/>
                    </a:lnB>
                    <a:solidFill>
                      <a:srgbClr val="006455"/>
                    </a:solidFill>
                  </a:tcPr>
                </a:tc>
                <a:extLst>
                  <a:ext uri="{0D108BD9-81ED-4DB2-BD59-A6C34878D82A}">
                    <a16:rowId xmlns:a16="http://schemas.microsoft.com/office/drawing/2014/main" val="2438942194"/>
                  </a:ext>
                </a:extLst>
              </a:tr>
              <a:tr h="209550">
                <a:tc>
                  <a:txBody>
                    <a:bodyPr/>
                    <a:lstStyle/>
                    <a:p>
                      <a:pPr algn="ctr" fontAlgn="base">
                        <a:lnSpc>
                          <a:spcPts val="1650"/>
                        </a:lnSpc>
                        <a:buNone/>
                      </a:pPr>
                      <a:r>
                        <a:rPr lang="es-MX" sz="1400" b="0" i="0" u="none" strike="noStrike">
                          <a:solidFill>
                            <a:srgbClr val="000000"/>
                          </a:solidFill>
                          <a:effectLst/>
                          <a:latin typeface="Arial" panose="020B0604020202020204" pitchFamily="34" charset="0"/>
                        </a:rPr>
                        <a:t>18</a:t>
                      </a:r>
                      <a:r>
                        <a:rPr lang="en-US" sz="1400" b="0" i="0">
                          <a:solidFill>
                            <a:srgbClr val="000000"/>
                          </a:solidFill>
                          <a:effectLst/>
                          <a:latin typeface="Arial" panose="020B0604020202020204" pitchFamily="34" charset="0"/>
                        </a:rPr>
                        <a:t>​</a:t>
                      </a:r>
                      <a:endParaRPr lang="en-US" b="0" i="0">
                        <a:solidFill>
                          <a:srgbClr val="000000"/>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2041"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9E7"/>
                    </a:solidFill>
                  </a:tcPr>
                </a:tc>
                <a:tc>
                  <a:txBody>
                    <a:bodyPr/>
                    <a:lstStyle/>
                    <a:p>
                      <a:pPr algn="ctr" fontAlgn="base">
                        <a:lnSpc>
                          <a:spcPts val="1650"/>
                        </a:lnSpc>
                        <a:buNone/>
                      </a:pPr>
                      <a:r>
                        <a:rPr lang="es-MX" sz="1400" b="0" i="0" u="none" strike="noStrike">
                          <a:solidFill>
                            <a:srgbClr val="000000"/>
                          </a:solidFill>
                          <a:effectLst/>
                          <a:latin typeface="Arial" panose="020B0604020202020204" pitchFamily="34" charset="0"/>
                        </a:rPr>
                        <a:t>90</a:t>
                      </a:r>
                      <a:r>
                        <a:rPr lang="en-US" sz="1400" b="0" i="0">
                          <a:solidFill>
                            <a:srgbClr val="000000"/>
                          </a:solidFill>
                          <a:effectLst/>
                          <a:latin typeface="Arial" panose="020B0604020202020204" pitchFamily="34" charset="0"/>
                        </a:rPr>
                        <a:t>​</a:t>
                      </a:r>
                      <a:endParaRPr lang="en-US" b="0" i="0">
                        <a:solidFill>
                          <a:srgbClr val="000000"/>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2041"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9E7"/>
                    </a:solidFill>
                  </a:tcPr>
                </a:tc>
                <a:extLst>
                  <a:ext uri="{0D108BD9-81ED-4DB2-BD59-A6C34878D82A}">
                    <a16:rowId xmlns:a16="http://schemas.microsoft.com/office/drawing/2014/main" val="2794338767"/>
                  </a:ext>
                </a:extLst>
              </a:tr>
            </a:tbl>
          </a:graphicData>
        </a:graphic>
      </p:graphicFrame>
      <p:graphicFrame>
        <p:nvGraphicFramePr>
          <p:cNvPr id="16" name="Tabla 15">
            <a:extLst>
              <a:ext uri="{FF2B5EF4-FFF2-40B4-BE49-F238E27FC236}">
                <a16:creationId xmlns:a16="http://schemas.microsoft.com/office/drawing/2014/main" id="{32A29464-1224-429B-6B38-02A741923CD7}"/>
              </a:ext>
            </a:extLst>
          </p:cNvPr>
          <p:cNvGraphicFramePr>
            <a:graphicFrameLocks noGrp="1"/>
          </p:cNvGraphicFramePr>
          <p:nvPr>
            <p:extLst>
              <p:ext uri="{D42A27DB-BD31-4B8C-83A1-F6EECF244321}">
                <p14:modId xmlns:p14="http://schemas.microsoft.com/office/powerpoint/2010/main" val="2774257020"/>
              </p:ext>
            </p:extLst>
          </p:nvPr>
        </p:nvGraphicFramePr>
        <p:xfrm>
          <a:off x="650231" y="5952119"/>
          <a:ext cx="6324600" cy="803530"/>
        </p:xfrm>
        <a:graphic>
          <a:graphicData uri="http://schemas.openxmlformats.org/drawingml/2006/table">
            <a:tbl>
              <a:tblPr/>
              <a:tblGrid>
                <a:gridCol w="2390775">
                  <a:extLst>
                    <a:ext uri="{9D8B030D-6E8A-4147-A177-3AD203B41FA5}">
                      <a16:colId xmlns:a16="http://schemas.microsoft.com/office/drawing/2014/main" val="73292301"/>
                    </a:ext>
                  </a:extLst>
                </a:gridCol>
                <a:gridCol w="1304925">
                  <a:extLst>
                    <a:ext uri="{9D8B030D-6E8A-4147-A177-3AD203B41FA5}">
                      <a16:colId xmlns:a16="http://schemas.microsoft.com/office/drawing/2014/main" val="577637455"/>
                    </a:ext>
                  </a:extLst>
                </a:gridCol>
                <a:gridCol w="1314450">
                  <a:extLst>
                    <a:ext uri="{9D8B030D-6E8A-4147-A177-3AD203B41FA5}">
                      <a16:colId xmlns:a16="http://schemas.microsoft.com/office/drawing/2014/main" val="62252850"/>
                    </a:ext>
                  </a:extLst>
                </a:gridCol>
                <a:gridCol w="1314450">
                  <a:extLst>
                    <a:ext uri="{9D8B030D-6E8A-4147-A177-3AD203B41FA5}">
                      <a16:colId xmlns:a16="http://schemas.microsoft.com/office/drawing/2014/main" val="1223949465"/>
                    </a:ext>
                  </a:extLst>
                </a:gridCol>
              </a:tblGrid>
              <a:tr h="209550">
                <a:tc>
                  <a:txBody>
                    <a:bodyPr/>
                    <a:lstStyle/>
                    <a:p>
                      <a:pPr algn="ctr" fontAlgn="base">
                        <a:lnSpc>
                          <a:spcPts val="1650"/>
                        </a:lnSpc>
                        <a:buNone/>
                      </a:pPr>
                      <a:r>
                        <a:rPr lang="es-MX" sz="1400" b="1" i="0" u="none" strike="noStrike">
                          <a:solidFill>
                            <a:srgbClr val="FFFFFF"/>
                          </a:solidFill>
                          <a:effectLst/>
                          <a:latin typeface="Arial" panose="020B0604020202020204" pitchFamily="34" charset="0"/>
                        </a:rPr>
                        <a:t>Total de Escuelas</a:t>
                      </a:r>
                      <a:r>
                        <a:rPr lang="en-US" sz="1400" b="1" i="0">
                          <a:solidFill>
                            <a:srgbClr val="FFFFFF"/>
                          </a:solidFill>
                          <a:effectLst/>
                          <a:latin typeface="Arial" panose="020B0604020202020204" pitchFamily="34" charset="0"/>
                        </a:rPr>
                        <a:t>​</a:t>
                      </a:r>
                      <a:endParaRPr lang="en-US" b="1" i="0">
                        <a:solidFill>
                          <a:srgbClr val="FFFFFF"/>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2041" cap="flat" cmpd="sng" algn="ctr">
                      <a:solidFill>
                        <a:srgbClr val="FFFFFF"/>
                      </a:solidFill>
                      <a:prstDash val="solid"/>
                      <a:round/>
                      <a:headEnd type="none" w="med" len="med"/>
                      <a:tailEnd type="none" w="med" len="med"/>
                    </a:lnB>
                    <a:solidFill>
                      <a:srgbClr val="006455"/>
                    </a:solidFill>
                  </a:tcPr>
                </a:tc>
                <a:tc>
                  <a:txBody>
                    <a:bodyPr/>
                    <a:lstStyle/>
                    <a:p>
                      <a:pPr algn="ctr" fontAlgn="base">
                        <a:lnSpc>
                          <a:spcPts val="1650"/>
                        </a:lnSpc>
                        <a:buNone/>
                      </a:pPr>
                      <a:r>
                        <a:rPr lang="es-MX" sz="1400" b="1" i="0" u="none" strike="noStrike">
                          <a:solidFill>
                            <a:srgbClr val="FFFFFF"/>
                          </a:solidFill>
                          <a:effectLst/>
                          <a:latin typeface="Arial" panose="020B0604020202020204" pitchFamily="34" charset="0"/>
                        </a:rPr>
                        <a:t>Escuelas visitadas</a:t>
                      </a:r>
                      <a:r>
                        <a:rPr lang="en-US" sz="1400" b="1" i="0">
                          <a:solidFill>
                            <a:srgbClr val="FFFFFF"/>
                          </a:solidFill>
                          <a:effectLst/>
                          <a:latin typeface="Arial" panose="020B0604020202020204" pitchFamily="34" charset="0"/>
                        </a:rPr>
                        <a:t>​</a:t>
                      </a:r>
                      <a:endParaRPr lang="en-US" b="1" i="0">
                        <a:solidFill>
                          <a:srgbClr val="FFFFFF"/>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2041" cap="flat" cmpd="sng" algn="ctr">
                      <a:solidFill>
                        <a:srgbClr val="FFFFFF"/>
                      </a:solidFill>
                      <a:prstDash val="solid"/>
                      <a:round/>
                      <a:headEnd type="none" w="med" len="med"/>
                      <a:tailEnd type="none" w="med" len="med"/>
                    </a:lnB>
                    <a:solidFill>
                      <a:srgbClr val="006455"/>
                    </a:solidFill>
                  </a:tcPr>
                </a:tc>
                <a:tc>
                  <a:txBody>
                    <a:bodyPr/>
                    <a:lstStyle/>
                    <a:p>
                      <a:pPr algn="ctr" fontAlgn="base">
                        <a:lnSpc>
                          <a:spcPts val="1650"/>
                        </a:lnSpc>
                        <a:buNone/>
                      </a:pPr>
                      <a:r>
                        <a:rPr lang="es-MX" sz="1400" b="1" i="0" u="none" strike="noStrike">
                          <a:solidFill>
                            <a:srgbClr val="FFFFFF"/>
                          </a:solidFill>
                          <a:effectLst/>
                          <a:latin typeface="Arial" panose="020B0604020202020204" pitchFamily="34" charset="0"/>
                        </a:rPr>
                        <a:t>Población </a:t>
                      </a:r>
                      <a:r>
                        <a:rPr lang="en-US" sz="1400" b="1" i="0">
                          <a:solidFill>
                            <a:srgbClr val="FFFFFF"/>
                          </a:solidFill>
                          <a:effectLst/>
                          <a:latin typeface="Arial" panose="020B0604020202020204" pitchFamily="34" charset="0"/>
                        </a:rPr>
                        <a:t>​</a:t>
                      </a:r>
                      <a:endParaRPr lang="en-US" b="1" i="0">
                        <a:solidFill>
                          <a:srgbClr val="FFFFFF"/>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2041" cap="flat" cmpd="sng" algn="ctr">
                      <a:solidFill>
                        <a:srgbClr val="FFFFFF"/>
                      </a:solidFill>
                      <a:prstDash val="solid"/>
                      <a:round/>
                      <a:headEnd type="none" w="med" len="med"/>
                      <a:tailEnd type="none" w="med" len="med"/>
                    </a:lnB>
                    <a:solidFill>
                      <a:srgbClr val="006455"/>
                    </a:solidFill>
                  </a:tcPr>
                </a:tc>
                <a:tc>
                  <a:txBody>
                    <a:bodyPr/>
                    <a:lstStyle/>
                    <a:p>
                      <a:pPr algn="ctr" fontAlgn="base">
                        <a:lnSpc>
                          <a:spcPts val="1650"/>
                        </a:lnSpc>
                        <a:buNone/>
                      </a:pPr>
                      <a:r>
                        <a:rPr lang="es-MX" sz="1400" b="1" i="0" u="none" strike="noStrike">
                          <a:solidFill>
                            <a:srgbClr val="FFFFFF"/>
                          </a:solidFill>
                          <a:effectLst/>
                          <a:latin typeface="Arial" panose="020B0604020202020204" pitchFamily="34" charset="0"/>
                        </a:rPr>
                        <a:t>Menores tamizados</a:t>
                      </a:r>
                      <a:r>
                        <a:rPr lang="en-US" sz="1400" b="1" i="0">
                          <a:solidFill>
                            <a:srgbClr val="FFFFFF"/>
                          </a:solidFill>
                          <a:effectLst/>
                          <a:latin typeface="Arial" panose="020B0604020202020204" pitchFamily="34" charset="0"/>
                        </a:rPr>
                        <a:t>​</a:t>
                      </a:r>
                      <a:endParaRPr lang="en-US" b="1" i="0">
                        <a:solidFill>
                          <a:srgbClr val="FFFFFF"/>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2041" cap="flat" cmpd="sng" algn="ctr">
                      <a:solidFill>
                        <a:srgbClr val="FFFFFF"/>
                      </a:solidFill>
                      <a:prstDash val="solid"/>
                      <a:round/>
                      <a:headEnd type="none" w="med" len="med"/>
                      <a:tailEnd type="none" w="med" len="med"/>
                    </a:lnB>
                    <a:solidFill>
                      <a:srgbClr val="006455"/>
                    </a:solidFill>
                  </a:tcPr>
                </a:tc>
                <a:extLst>
                  <a:ext uri="{0D108BD9-81ED-4DB2-BD59-A6C34878D82A}">
                    <a16:rowId xmlns:a16="http://schemas.microsoft.com/office/drawing/2014/main" val="1172981202"/>
                  </a:ext>
                </a:extLst>
              </a:tr>
              <a:tr h="209550">
                <a:tc>
                  <a:txBody>
                    <a:bodyPr/>
                    <a:lstStyle/>
                    <a:p>
                      <a:pPr algn="ctr" fontAlgn="base">
                        <a:lnSpc>
                          <a:spcPts val="1650"/>
                        </a:lnSpc>
                        <a:buNone/>
                      </a:pPr>
                      <a:r>
                        <a:rPr lang="es-MX" sz="1400" b="0" i="0" u="none" strike="noStrike">
                          <a:solidFill>
                            <a:srgbClr val="000000"/>
                          </a:solidFill>
                          <a:effectLst/>
                          <a:latin typeface="Arial" panose="020B0604020202020204" pitchFamily="34" charset="0"/>
                        </a:rPr>
                        <a:t>1,608</a:t>
                      </a:r>
                      <a:r>
                        <a:rPr lang="en-US" sz="1400" b="0" i="0">
                          <a:solidFill>
                            <a:srgbClr val="000000"/>
                          </a:solidFill>
                          <a:effectLst/>
                          <a:latin typeface="Arial" panose="020B0604020202020204" pitchFamily="34" charset="0"/>
                        </a:rPr>
                        <a:t>​</a:t>
                      </a:r>
                      <a:endParaRPr lang="en-US" b="0" i="0">
                        <a:solidFill>
                          <a:srgbClr val="000000"/>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2041"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9E7"/>
                    </a:solidFill>
                  </a:tcPr>
                </a:tc>
                <a:tc>
                  <a:txBody>
                    <a:bodyPr/>
                    <a:lstStyle/>
                    <a:p>
                      <a:pPr algn="ctr" fontAlgn="base">
                        <a:lnSpc>
                          <a:spcPts val="1650"/>
                        </a:lnSpc>
                        <a:buNone/>
                      </a:pPr>
                      <a:r>
                        <a:rPr lang="es-MX" sz="1400" b="0" i="0" u="none" strike="noStrike">
                          <a:solidFill>
                            <a:srgbClr val="000000"/>
                          </a:solidFill>
                          <a:effectLst/>
                          <a:latin typeface="Arial" panose="020B0604020202020204" pitchFamily="34" charset="0"/>
                        </a:rPr>
                        <a:t>1,463</a:t>
                      </a:r>
                      <a:r>
                        <a:rPr lang="en-US" sz="1400" b="0" i="0">
                          <a:solidFill>
                            <a:srgbClr val="000000"/>
                          </a:solidFill>
                          <a:effectLst/>
                          <a:latin typeface="Arial" panose="020B0604020202020204" pitchFamily="34" charset="0"/>
                        </a:rPr>
                        <a:t>​</a:t>
                      </a:r>
                      <a:endParaRPr lang="en-US" b="0" i="0">
                        <a:solidFill>
                          <a:srgbClr val="000000"/>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2041"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9E7"/>
                    </a:solidFill>
                  </a:tcPr>
                </a:tc>
                <a:tc>
                  <a:txBody>
                    <a:bodyPr/>
                    <a:lstStyle/>
                    <a:p>
                      <a:pPr algn="ctr" fontAlgn="base">
                        <a:lnSpc>
                          <a:spcPts val="1650"/>
                        </a:lnSpc>
                        <a:buNone/>
                      </a:pPr>
                      <a:r>
                        <a:rPr lang="es-MX" sz="1400" b="0" i="0" u="none" strike="noStrike">
                          <a:solidFill>
                            <a:srgbClr val="000000"/>
                          </a:solidFill>
                          <a:effectLst/>
                          <a:latin typeface="Arial" panose="020B0604020202020204" pitchFamily="34" charset="0"/>
                        </a:rPr>
                        <a:t>345,308</a:t>
                      </a:r>
                      <a:r>
                        <a:rPr lang="en-US" sz="1400" b="0" i="0">
                          <a:solidFill>
                            <a:srgbClr val="000000"/>
                          </a:solidFill>
                          <a:effectLst/>
                          <a:latin typeface="Arial" panose="020B0604020202020204" pitchFamily="34" charset="0"/>
                        </a:rPr>
                        <a:t>​</a:t>
                      </a:r>
                      <a:endParaRPr lang="en-US" b="0" i="0">
                        <a:solidFill>
                          <a:srgbClr val="000000"/>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2041"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9E7"/>
                    </a:solidFill>
                  </a:tcPr>
                </a:tc>
                <a:tc>
                  <a:txBody>
                    <a:bodyPr/>
                    <a:lstStyle/>
                    <a:p>
                      <a:pPr algn="ctr" fontAlgn="base">
                        <a:lnSpc>
                          <a:spcPts val="1650"/>
                        </a:lnSpc>
                        <a:buNone/>
                      </a:pPr>
                      <a:r>
                        <a:rPr lang="es-MX" sz="1400" b="0" i="0" u="none" strike="noStrike">
                          <a:solidFill>
                            <a:srgbClr val="000000"/>
                          </a:solidFill>
                          <a:effectLst/>
                          <a:latin typeface="Arial" panose="020B0604020202020204" pitchFamily="34" charset="0"/>
                        </a:rPr>
                        <a:t>197,768</a:t>
                      </a:r>
                      <a:r>
                        <a:rPr lang="en-US" sz="1400" b="0" i="0">
                          <a:solidFill>
                            <a:srgbClr val="000000"/>
                          </a:solidFill>
                          <a:effectLst/>
                          <a:latin typeface="Arial" panose="020B0604020202020204" pitchFamily="34" charset="0"/>
                        </a:rPr>
                        <a:t>​</a:t>
                      </a:r>
                      <a:endParaRPr lang="en-US" b="0" i="0">
                        <a:solidFill>
                          <a:srgbClr val="000000"/>
                        </a:solidFill>
                        <a:effectLst/>
                      </a:endParaRPr>
                    </a:p>
                  </a:txBody>
                  <a:tcPr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2041"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9E7"/>
                    </a:solidFill>
                  </a:tcPr>
                </a:tc>
                <a:extLst>
                  <a:ext uri="{0D108BD9-81ED-4DB2-BD59-A6C34878D82A}">
                    <a16:rowId xmlns:a16="http://schemas.microsoft.com/office/drawing/2014/main" val="1529163135"/>
                  </a:ext>
                </a:extLst>
              </a:tr>
            </a:tbl>
          </a:graphicData>
        </a:graphic>
      </p:graphicFrame>
      <p:sp>
        <p:nvSpPr>
          <p:cNvPr id="19" name="Rectangle 1">
            <a:extLst>
              <a:ext uri="{FF2B5EF4-FFF2-40B4-BE49-F238E27FC236}">
                <a16:creationId xmlns:a16="http://schemas.microsoft.com/office/drawing/2014/main" id="{5BB7C014-4BD7-3409-FB3D-7B282C4653E7}"/>
              </a:ext>
            </a:extLst>
          </p:cNvPr>
          <p:cNvSpPr>
            <a:spLocks noChangeArrowheads="1"/>
          </p:cNvSpPr>
          <p:nvPr/>
        </p:nvSpPr>
        <p:spPr bwMode="auto">
          <a:xfrm>
            <a:off x="249725" y="5673352"/>
            <a:ext cx="77724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s-MX" altLang="es-MX"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a:ln>
                <a:noFill/>
              </a:ln>
              <a:solidFill>
                <a:schemeClr val="tx1"/>
              </a:solidFill>
              <a:effectLst/>
              <a:latin typeface="Arial" panose="020B0604020202020204" pitchFamily="34" charset="0"/>
            </a:endParaRPr>
          </a:p>
        </p:txBody>
      </p:sp>
      <p:sp>
        <p:nvSpPr>
          <p:cNvPr id="21" name="CuadroTexto 20">
            <a:extLst>
              <a:ext uri="{FF2B5EF4-FFF2-40B4-BE49-F238E27FC236}">
                <a16:creationId xmlns:a16="http://schemas.microsoft.com/office/drawing/2014/main" id="{F3D9A22F-F757-65C4-6051-FFE8B6C42E04}"/>
              </a:ext>
            </a:extLst>
          </p:cNvPr>
          <p:cNvSpPr txBox="1"/>
          <p:nvPr/>
        </p:nvSpPr>
        <p:spPr>
          <a:xfrm>
            <a:off x="113375" y="5170447"/>
            <a:ext cx="3886200" cy="630942"/>
          </a:xfrm>
          <a:prstGeom prst="rect">
            <a:avLst/>
          </a:prstGeom>
          <a:noFill/>
        </p:spPr>
        <p:txBody>
          <a:bodyPr wrap="square">
            <a:spAutoFit/>
          </a:bodyPr>
          <a:lstStyle/>
          <a:p>
            <a:r>
              <a:rPr lang="es-MX"/>
              <a:t> </a:t>
            </a:r>
          </a:p>
          <a:p>
            <a:r>
              <a:rPr lang="es-MX" sz="2100" b="1">
                <a:solidFill>
                  <a:srgbClr val="BC955C"/>
                </a:solidFill>
                <a:latin typeface="Montserrat"/>
              </a:rPr>
              <a:t>Vive saludable, Vive feliz</a:t>
            </a:r>
            <a:r>
              <a:rPr lang="es-MX"/>
              <a:t>​</a:t>
            </a:r>
          </a:p>
        </p:txBody>
      </p:sp>
    </p:spTree>
    <p:extLst>
      <p:ext uri="{BB962C8B-B14F-4D97-AF65-F5344CB8AC3E}">
        <p14:creationId xmlns:p14="http://schemas.microsoft.com/office/powerpoint/2010/main" val="38056559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COAHUILA</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20,363	 Personal de Salud: 13,478</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+73.0%</a:t>
            </a:r>
          </a:p>
        </p:txBody>
      </p:sp>
      <p:graphicFrame>
        <p:nvGraphicFramePr>
          <p:cNvPr id="301" name="Table 300"/>
          <p:cNvGraphicFramePr>
            <a:graphicFrameLocks noGrp="1"/>
          </p:cNvGraphicFramePr>
          <p:nvPr>
            <p:extLst>
              <p:ext uri="{D42A27DB-BD31-4B8C-83A1-F6EECF244321}">
                <p14:modId xmlns:p14="http://schemas.microsoft.com/office/powerpoint/2010/main" val="3310212795"/>
              </p:ext>
            </p:extLst>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3745">
                <a:tc>
                  <a:txBody>
                    <a:bodyPr/>
                    <a:lstStyle/>
                    <a:p>
                      <a:pPr algn="ctr">
                        <a:defRPr sz="1300" b="1">
                          <a:solidFill>
                            <a:srgbClr val="A51E37"/>
                          </a:solidFill>
                          <a:latin typeface="Montserrat"/>
                        </a:defRPr>
                      </a:pPr>
                      <a:r>
                        <a:rPr sz="1500"/>
                        <a:t>2018</a:t>
                      </a:r>
                    </a:p>
                  </a:txBody>
                  <a:tcPr marL="0" marR="0" marT="0" marB="0">
                    <a:noFill/>
                  </a:tcPr>
                </a:tc>
                <a:tc>
                  <a:txBody>
                    <a:bodyPr/>
                    <a:lstStyle/>
                    <a:p>
                      <a:pPr algn="ctr">
                        <a:defRPr sz="1300" b="1">
                          <a:solidFill>
                            <a:srgbClr val="A51E37"/>
                          </a:solidFill>
                          <a:latin typeface="Montserrat"/>
                        </a:defRPr>
                      </a:pPr>
                      <a:r>
                        <a:rPr sz="1500"/>
                        <a:t>2026</a:t>
                      </a:r>
                    </a:p>
                  </a:txBody>
                  <a:tcPr marL="0" marR="0" marT="0" marB="0">
                    <a:noFill/>
                  </a:tcPr>
                </a:tc>
                <a:extLst>
                  <a:ext uri="{0D108BD9-81ED-4DB2-BD59-A6C34878D82A}">
                    <a16:rowId xmlns:a16="http://schemas.microsoft.com/office/drawing/2014/main" val="10000"/>
                  </a:ext>
                </a:extLst>
              </a:tr>
              <a:tr h="253746">
                <a:tc>
                  <a:txBody>
                    <a:bodyPr/>
                    <a:lstStyle/>
                    <a:p>
                      <a:pPr algn="ctr">
                        <a:defRPr sz="1500" b="1">
                          <a:solidFill>
                            <a:srgbClr val="004B41"/>
                          </a:solidFill>
                          <a:latin typeface="Montserrat"/>
                        </a:defRPr>
                      </a:pPr>
                      <a:r>
                        <a:t>148</a:t>
                      </a:r>
                    </a:p>
                  </a:txBody>
                  <a:tcPr marL="0" marR="0" marT="0" marB="0">
                    <a:noFill/>
                  </a:tcPr>
                </a:tc>
                <a:tc>
                  <a:txBody>
                    <a:bodyPr/>
                    <a:lstStyle/>
                    <a:p>
                      <a:pPr algn="ctr">
                        <a:defRPr sz="1500" b="1">
                          <a:solidFill>
                            <a:srgbClr val="B4975A"/>
                          </a:solidFill>
                          <a:latin typeface="Montserrat"/>
                        </a:defRPr>
                      </a:pPr>
                      <a:r>
                        <a:t>256</a:t>
                      </a:r>
                    </a:p>
                  </a:txBody>
                  <a:tcPr marL="0" marR="0" marT="0" marB="0">
                    <a:noFill/>
                  </a:tcPr>
                </a:tc>
                <a:extLst>
                  <a:ext uri="{0D108BD9-81ED-4DB2-BD59-A6C34878D82A}">
                    <a16:rowId xmlns:a16="http://schemas.microsoft.com/office/drawing/2014/main" val="10001"/>
                  </a:ext>
                </a:extLst>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+50.1%</a:t>
            </a:r>
          </a:p>
        </p:txBody>
      </p:sp>
      <p:graphicFrame>
        <p:nvGraphicFramePr>
          <p:cNvPr id="304" name="Table 303"/>
          <p:cNvGraphicFramePr>
            <a:graphicFrameLocks noGrp="1"/>
          </p:cNvGraphicFramePr>
          <p:nvPr>
            <p:extLst>
              <p:ext uri="{D42A27DB-BD31-4B8C-83A1-F6EECF244321}">
                <p14:modId xmlns:p14="http://schemas.microsoft.com/office/powerpoint/2010/main" val="414865925"/>
              </p:ext>
            </p:extLst>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8317">
                <a:tc>
                  <a:txBody>
                    <a:bodyPr/>
                    <a:lstStyle/>
                    <a:p>
                      <a:pPr algn="ctr">
                        <a:defRPr sz="1300" b="1">
                          <a:solidFill>
                            <a:srgbClr val="A51E37"/>
                          </a:solidFill>
                          <a:latin typeface="Montserrat"/>
                        </a:defRPr>
                      </a:pPr>
                      <a:r>
                        <a:rPr sz="1500"/>
                        <a:t>2018</a:t>
                      </a:r>
                    </a:p>
                  </a:txBody>
                  <a:tcPr marL="0" marR="0" marT="0" marB="0">
                    <a:noFill/>
                  </a:tcPr>
                </a:tc>
                <a:tc>
                  <a:txBody>
                    <a:bodyPr/>
                    <a:lstStyle/>
                    <a:p>
                      <a:pPr algn="ctr">
                        <a:defRPr sz="1300" b="1">
                          <a:solidFill>
                            <a:srgbClr val="A51E37"/>
                          </a:solidFill>
                          <a:latin typeface="Montserrat"/>
                        </a:defRPr>
                      </a:pPr>
                      <a:r>
                        <a:rPr sz="1500"/>
                        <a:t>2026</a:t>
                      </a:r>
                    </a:p>
                  </a:txBody>
                  <a:tcPr marL="0" marR="0" marT="0" marB="0">
                    <a:noFill/>
                  </a:tcPr>
                </a:tc>
                <a:extLst>
                  <a:ext uri="{0D108BD9-81ED-4DB2-BD59-A6C34878D82A}">
                    <a16:rowId xmlns:a16="http://schemas.microsoft.com/office/drawing/2014/main" val="10000"/>
                  </a:ext>
                </a:extLst>
              </a:tr>
              <a:tr h="258318">
                <a:tc>
                  <a:txBody>
                    <a:bodyPr/>
                    <a:lstStyle/>
                    <a:p>
                      <a:pPr algn="ctr">
                        <a:defRPr sz="1500" b="1">
                          <a:solidFill>
                            <a:srgbClr val="004B41"/>
                          </a:solidFill>
                          <a:latin typeface="Montserrat"/>
                        </a:defRPr>
                      </a:pPr>
                      <a:r>
                        <a:t>1,875</a:t>
                      </a:r>
                    </a:p>
                  </a:txBody>
                  <a:tcPr marL="0" marR="0" marT="0" marB="0">
                    <a:noFill/>
                  </a:tcPr>
                </a:tc>
                <a:tc>
                  <a:txBody>
                    <a:bodyPr/>
                    <a:lstStyle/>
                    <a:p>
                      <a:pPr algn="ctr">
                        <a:defRPr sz="1500" b="1">
                          <a:solidFill>
                            <a:srgbClr val="B4975A"/>
                          </a:solidFill>
                          <a:latin typeface="Montserrat"/>
                        </a:defRPr>
                      </a:pPr>
                      <a:r>
                        <a:t>2,814</a:t>
                      </a:r>
                    </a:p>
                  </a:txBody>
                  <a:tcPr marL="0" marR="0" marT="0" marB="0">
                    <a:noFill/>
                  </a:tcPr>
                </a:tc>
                <a:extLst>
                  <a:ext uri="{0D108BD9-81ED-4DB2-BD59-A6C34878D82A}">
                    <a16:rowId xmlns:a16="http://schemas.microsoft.com/office/drawing/2014/main" val="10001"/>
                  </a:ext>
                </a:extLst>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+16.0%</a:t>
            </a:r>
          </a:p>
        </p:txBody>
      </p:sp>
      <p:graphicFrame>
        <p:nvGraphicFramePr>
          <p:cNvPr id="307" name="Table 306"/>
          <p:cNvGraphicFramePr>
            <a:graphicFrameLocks noGrp="1"/>
          </p:cNvGraphicFramePr>
          <p:nvPr>
            <p:extLst>
              <p:ext uri="{D42A27DB-BD31-4B8C-83A1-F6EECF244321}">
                <p14:modId xmlns:p14="http://schemas.microsoft.com/office/powerpoint/2010/main" val="2154015509"/>
              </p:ext>
            </p:extLst>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67462">
                <a:tc>
                  <a:txBody>
                    <a:bodyPr/>
                    <a:lstStyle/>
                    <a:p>
                      <a:pPr algn="ctr">
                        <a:defRPr sz="1300" b="1">
                          <a:solidFill>
                            <a:srgbClr val="A51E37"/>
                          </a:solidFill>
                          <a:latin typeface="Montserrat"/>
                        </a:defRPr>
                      </a:pPr>
                      <a:r>
                        <a:rPr sz="1500"/>
                        <a:t>2018</a:t>
                      </a:r>
                    </a:p>
                  </a:txBody>
                  <a:tcPr marL="0" marR="0" marT="0" marB="0">
                    <a:noFill/>
                  </a:tcPr>
                </a:tc>
                <a:tc>
                  <a:txBody>
                    <a:bodyPr/>
                    <a:lstStyle/>
                    <a:p>
                      <a:pPr algn="ctr">
                        <a:defRPr sz="1300" b="1">
                          <a:solidFill>
                            <a:srgbClr val="A51E37"/>
                          </a:solidFill>
                          <a:latin typeface="Montserrat"/>
                        </a:defRPr>
                      </a:pPr>
                      <a:r>
                        <a:rPr sz="1500"/>
                        <a:t>2026</a:t>
                      </a:r>
                    </a:p>
                  </a:txBody>
                  <a:tcPr marL="0" marR="0" marT="0" marB="0">
                    <a:noFill/>
                  </a:tcPr>
                </a:tc>
                <a:extLst>
                  <a:ext uri="{0D108BD9-81ED-4DB2-BD59-A6C34878D82A}">
                    <a16:rowId xmlns:a16="http://schemas.microsoft.com/office/drawing/2014/main" val="10000"/>
                  </a:ext>
                </a:extLst>
              </a:tr>
              <a:tr h="267462">
                <a:tc>
                  <a:txBody>
                    <a:bodyPr/>
                    <a:lstStyle/>
                    <a:p>
                      <a:pPr algn="ctr">
                        <a:defRPr sz="1500" b="1">
                          <a:solidFill>
                            <a:srgbClr val="004B41"/>
                          </a:solidFill>
                          <a:latin typeface="Montserrat"/>
                        </a:defRPr>
                      </a:pPr>
                      <a:r>
                        <a:t>4,395</a:t>
                      </a:r>
                    </a:p>
                  </a:txBody>
                  <a:tcPr marL="0" marR="0" marT="0" marB="0">
                    <a:noFill/>
                  </a:tcPr>
                </a:tc>
                <a:tc>
                  <a:txBody>
                    <a:bodyPr/>
                    <a:lstStyle/>
                    <a:p>
                      <a:pPr algn="ctr">
                        <a:defRPr sz="1500" b="1">
                          <a:solidFill>
                            <a:srgbClr val="B4975A"/>
                          </a:solidFill>
                          <a:latin typeface="Montserrat"/>
                        </a:defRPr>
                      </a:pPr>
                      <a:r>
                        <a:t>5,099</a:t>
                      </a:r>
                    </a:p>
                  </a:txBody>
                  <a:tcPr marL="0" marR="0" marT="0" marB="0">
                    <a:noFill/>
                  </a:tcPr>
                </a:tc>
                <a:extLst>
                  <a:ext uri="{0D108BD9-81ED-4DB2-BD59-A6C34878D82A}">
                    <a16:rowId xmlns:a16="http://schemas.microsoft.com/office/drawing/2014/main" val="10001"/>
                  </a:ext>
                </a:extLst>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+16.6%</a:t>
            </a:r>
          </a:p>
        </p:txBody>
      </p:sp>
      <p:graphicFrame>
        <p:nvGraphicFramePr>
          <p:cNvPr id="310" name="Table 309"/>
          <p:cNvGraphicFramePr>
            <a:graphicFrameLocks noGrp="1"/>
          </p:cNvGraphicFramePr>
          <p:nvPr>
            <p:extLst>
              <p:ext uri="{D42A27DB-BD31-4B8C-83A1-F6EECF244321}">
                <p14:modId xmlns:p14="http://schemas.microsoft.com/office/powerpoint/2010/main" val="457398099"/>
              </p:ext>
            </p:extLst>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67462">
                <a:tc>
                  <a:txBody>
                    <a:bodyPr/>
                    <a:lstStyle/>
                    <a:p>
                      <a:pPr algn="ctr">
                        <a:defRPr sz="1300" b="1">
                          <a:solidFill>
                            <a:srgbClr val="A51E37"/>
                          </a:solidFill>
                          <a:latin typeface="Montserrat"/>
                        </a:defRPr>
                      </a:pPr>
                      <a:r>
                        <a:rPr sz="1500"/>
                        <a:t>2018</a:t>
                      </a:r>
                    </a:p>
                  </a:txBody>
                  <a:tcPr marL="0" marR="0" marT="0" marB="0">
                    <a:noFill/>
                  </a:tcPr>
                </a:tc>
                <a:tc>
                  <a:txBody>
                    <a:bodyPr/>
                    <a:lstStyle/>
                    <a:p>
                      <a:pPr algn="ctr">
                        <a:defRPr sz="1300" b="1">
                          <a:solidFill>
                            <a:srgbClr val="A51E37"/>
                          </a:solidFill>
                          <a:latin typeface="Montserrat"/>
                        </a:defRPr>
                      </a:pPr>
                      <a:r>
                        <a:rPr sz="1500"/>
                        <a:t>2026</a:t>
                      </a:r>
                    </a:p>
                  </a:txBody>
                  <a:tcPr marL="0" marR="0" marT="0" marB="0">
                    <a:noFill/>
                  </a:tcPr>
                </a:tc>
                <a:extLst>
                  <a:ext uri="{0D108BD9-81ED-4DB2-BD59-A6C34878D82A}">
                    <a16:rowId xmlns:a16="http://schemas.microsoft.com/office/drawing/2014/main" val="10000"/>
                  </a:ext>
                </a:extLst>
              </a:tr>
              <a:tr h="267462">
                <a:tc>
                  <a:txBody>
                    <a:bodyPr/>
                    <a:lstStyle/>
                    <a:p>
                      <a:pPr algn="ctr">
                        <a:defRPr sz="1500" b="1">
                          <a:solidFill>
                            <a:srgbClr val="004B41"/>
                          </a:solidFill>
                          <a:latin typeface="Montserrat"/>
                        </a:defRPr>
                      </a:pPr>
                      <a:r>
                        <a:t>2,974</a:t>
                      </a:r>
                    </a:p>
                  </a:txBody>
                  <a:tcPr marL="0" marR="0" marT="0" marB="0">
                    <a:noFill/>
                  </a:tcPr>
                </a:tc>
                <a:tc>
                  <a:txBody>
                    <a:bodyPr/>
                    <a:lstStyle/>
                    <a:p>
                      <a:pPr algn="ctr">
                        <a:defRPr sz="1500" b="1">
                          <a:solidFill>
                            <a:srgbClr val="B4975A"/>
                          </a:solidFill>
                          <a:latin typeface="Montserrat"/>
                        </a:defRPr>
                      </a:pPr>
                      <a:r>
                        <a:t>3,468</a:t>
                      </a:r>
                    </a:p>
                  </a:txBody>
                  <a:tcPr marL="0" marR="0" marT="0" marB="0">
                    <a:noFill/>
                  </a:tcPr>
                </a:tc>
                <a:extLst>
                  <a:ext uri="{0D108BD9-81ED-4DB2-BD59-A6C34878D82A}">
                    <a16:rowId xmlns:a16="http://schemas.microsoft.com/office/drawing/2014/main" val="10001"/>
                  </a:ext>
                </a:extLst>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+87.9%</a:t>
            </a:r>
          </a:p>
        </p:txBody>
      </p:sp>
      <p:graphicFrame>
        <p:nvGraphicFramePr>
          <p:cNvPr id="313" name="Table 312"/>
          <p:cNvGraphicFramePr>
            <a:graphicFrameLocks noGrp="1"/>
          </p:cNvGraphicFramePr>
          <p:nvPr>
            <p:extLst>
              <p:ext uri="{D42A27DB-BD31-4B8C-83A1-F6EECF244321}">
                <p14:modId xmlns:p14="http://schemas.microsoft.com/office/powerpoint/2010/main" val="1649284630"/>
              </p:ext>
            </p:extLst>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3745">
                <a:tc>
                  <a:txBody>
                    <a:bodyPr/>
                    <a:lstStyle/>
                    <a:p>
                      <a:pPr algn="ctr">
                        <a:defRPr sz="1300" b="1">
                          <a:solidFill>
                            <a:srgbClr val="A51E37"/>
                          </a:solidFill>
                          <a:latin typeface="Montserrat"/>
                        </a:defRPr>
                      </a:pPr>
                      <a:r>
                        <a:rPr sz="1500"/>
                        <a:t>2018</a:t>
                      </a:r>
                    </a:p>
                  </a:txBody>
                  <a:tcPr marL="0" marR="0" marT="0" marB="0">
                    <a:noFill/>
                  </a:tcPr>
                </a:tc>
                <a:tc>
                  <a:txBody>
                    <a:bodyPr/>
                    <a:lstStyle/>
                    <a:p>
                      <a:pPr algn="ctr">
                        <a:defRPr sz="1300" b="1">
                          <a:solidFill>
                            <a:srgbClr val="A51E37"/>
                          </a:solidFill>
                          <a:latin typeface="Montserrat"/>
                        </a:defRPr>
                      </a:pPr>
                      <a:r>
                        <a:rPr sz="1500"/>
                        <a:t>2026</a:t>
                      </a:r>
                    </a:p>
                  </a:txBody>
                  <a:tcPr marL="0" marR="0" marT="0" marB="0">
                    <a:noFill/>
                  </a:tcPr>
                </a:tc>
                <a:extLst>
                  <a:ext uri="{0D108BD9-81ED-4DB2-BD59-A6C34878D82A}">
                    <a16:rowId xmlns:a16="http://schemas.microsoft.com/office/drawing/2014/main" val="10000"/>
                  </a:ext>
                </a:extLst>
              </a:tr>
              <a:tr h="253746">
                <a:tc>
                  <a:txBody>
                    <a:bodyPr/>
                    <a:lstStyle/>
                    <a:p>
                      <a:pPr algn="ctr">
                        <a:defRPr sz="1500" b="1">
                          <a:solidFill>
                            <a:srgbClr val="004B41"/>
                          </a:solidFill>
                          <a:latin typeface="Montserrat"/>
                        </a:defRPr>
                      </a:pPr>
                      <a:r>
                        <a:t>552</a:t>
                      </a:r>
                    </a:p>
                  </a:txBody>
                  <a:tcPr marL="0" marR="0" marT="0" marB="0">
                    <a:noFill/>
                  </a:tcPr>
                </a:tc>
                <a:tc>
                  <a:txBody>
                    <a:bodyPr/>
                    <a:lstStyle/>
                    <a:p>
                      <a:pPr algn="ctr">
                        <a:defRPr sz="1500" b="1">
                          <a:solidFill>
                            <a:srgbClr val="B4975A"/>
                          </a:solidFill>
                          <a:latin typeface="Montserrat"/>
                        </a:defRPr>
                      </a:pPr>
                      <a:r>
                        <a:t>1,037</a:t>
                      </a:r>
                    </a:p>
                  </a:txBody>
                  <a:tcPr marL="0" marR="0" marT="0" marB="0">
                    <a:noFill/>
                  </a:tcPr>
                </a:tc>
                <a:extLst>
                  <a:ext uri="{0D108BD9-81ED-4DB2-BD59-A6C34878D82A}">
                    <a16:rowId xmlns:a16="http://schemas.microsoft.com/office/drawing/2014/main" val="10001"/>
                  </a:ext>
                </a:extLst>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-1.0%</a:t>
            </a:r>
          </a:p>
        </p:txBody>
      </p:sp>
      <p:graphicFrame>
        <p:nvGraphicFramePr>
          <p:cNvPr id="316" name="Table 315"/>
          <p:cNvGraphicFramePr>
            <a:graphicFrameLocks noGrp="1"/>
          </p:cNvGraphicFramePr>
          <p:nvPr>
            <p:extLst>
              <p:ext uri="{D42A27DB-BD31-4B8C-83A1-F6EECF244321}">
                <p14:modId xmlns:p14="http://schemas.microsoft.com/office/powerpoint/2010/main" val="2890273598"/>
              </p:ext>
            </p:extLst>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3745">
                <a:tc>
                  <a:txBody>
                    <a:bodyPr/>
                    <a:lstStyle/>
                    <a:p>
                      <a:pPr algn="ctr">
                        <a:defRPr sz="1300" b="1">
                          <a:solidFill>
                            <a:srgbClr val="A51E37"/>
                          </a:solidFill>
                          <a:latin typeface="Montserrat"/>
                        </a:defRPr>
                      </a:pPr>
                      <a:r>
                        <a:rPr sz="1500"/>
                        <a:t>2018</a:t>
                      </a:r>
                    </a:p>
                  </a:txBody>
                  <a:tcPr marL="0" marR="0" marT="0" marB="0">
                    <a:noFill/>
                  </a:tcPr>
                </a:tc>
                <a:tc>
                  <a:txBody>
                    <a:bodyPr/>
                    <a:lstStyle/>
                    <a:p>
                      <a:pPr algn="ctr">
                        <a:defRPr sz="1300" b="1">
                          <a:solidFill>
                            <a:srgbClr val="A51E37"/>
                          </a:solidFill>
                          <a:latin typeface="Montserrat"/>
                        </a:defRPr>
                      </a:pPr>
                      <a:r>
                        <a:rPr sz="1500"/>
                        <a:t>2026</a:t>
                      </a:r>
                    </a:p>
                  </a:txBody>
                  <a:tcPr marL="0" marR="0" marT="0" marB="0">
                    <a:noFill/>
                  </a:tcPr>
                </a:tc>
                <a:extLst>
                  <a:ext uri="{0D108BD9-81ED-4DB2-BD59-A6C34878D82A}">
                    <a16:rowId xmlns:a16="http://schemas.microsoft.com/office/drawing/2014/main" val="10000"/>
                  </a:ext>
                </a:extLst>
              </a:tr>
              <a:tr h="253746">
                <a:tc>
                  <a:txBody>
                    <a:bodyPr/>
                    <a:lstStyle/>
                    <a:p>
                      <a:pPr algn="ctr">
                        <a:defRPr sz="1500" b="1">
                          <a:solidFill>
                            <a:srgbClr val="004B41"/>
                          </a:solidFill>
                          <a:latin typeface="Montserrat"/>
                        </a:defRPr>
                      </a:pPr>
                      <a:r>
                        <a:t>812</a:t>
                      </a:r>
                    </a:p>
                  </a:txBody>
                  <a:tcPr marL="0" marR="0" marT="0" marB="0">
                    <a:noFill/>
                  </a:tcPr>
                </a:tc>
                <a:tc>
                  <a:txBody>
                    <a:bodyPr/>
                    <a:lstStyle/>
                    <a:p>
                      <a:pPr algn="ctr">
                        <a:defRPr sz="1500" b="1">
                          <a:solidFill>
                            <a:srgbClr val="B4975A"/>
                          </a:solidFill>
                          <a:latin typeface="Montserrat"/>
                        </a:defRPr>
                      </a:pPr>
                      <a:r>
                        <a:t>804</a:t>
                      </a:r>
                    </a:p>
                  </a:txBody>
                  <a:tcPr marL="0" marR="0" marT="0" marB="0">
                    <a:noFill/>
                  </a:tcPr>
                </a:tc>
                <a:extLst>
                  <a:ext uri="{0D108BD9-81ED-4DB2-BD59-A6C34878D82A}">
                    <a16:rowId xmlns:a16="http://schemas.microsoft.com/office/drawing/2014/main" val="10001"/>
                  </a:ext>
                </a:extLst>
              </a:tr>
            </a:tbl>
          </a:graphicData>
        </a:graphic>
      </p:graphicFrame>
      <p:graphicFrame>
        <p:nvGraphicFramePr>
          <p:cNvPr id="317" name="Table 316"/>
          <p:cNvGraphicFramePr>
            <a:graphicFrameLocks noGrp="1"/>
          </p:cNvGraphicFramePr>
          <p:nvPr>
            <p:extLst>
              <p:ext uri="{D42A27DB-BD31-4B8C-83A1-F6EECF244321}">
                <p14:modId xmlns:p14="http://schemas.microsoft.com/office/powerpoint/2010/main" val="1489771788"/>
              </p:ext>
            </p:extLst>
          </p:nvPr>
        </p:nvGraphicFramePr>
        <p:xfrm>
          <a:off x="4507200" y="5515200"/>
          <a:ext cx="2843784" cy="1353312"/>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877824">
                  <a:extLst>
                    <a:ext uri="{9D8B030D-6E8A-4147-A177-3AD203B41FA5}">
                      <a16:colId xmlns:a16="http://schemas.microsoft.com/office/drawing/2014/main" val="20001"/>
                    </a:ext>
                  </a:extLst>
                </a:gridCol>
              </a:tblGrid>
              <a:tr h="0">
                <a:tc>
                  <a:txBody>
                    <a:bodyPr/>
                    <a:lstStyle/>
                    <a:p>
                      <a:pPr algn="ctr">
                        <a:defRPr sz="900" b="1">
                          <a:solidFill>
                            <a:srgbClr val="FFFFFF"/>
                          </a:solidFill>
                          <a:latin typeface="Montserrat"/>
                        </a:defRPr>
                      </a:pPr>
                      <a:r>
                        <a:t>Top 5 Egresos 2025</a:t>
                      </a:r>
                    </a:p>
                  </a:txBody>
                  <a:tcPr marL="36576" marR="36576" marT="36576" marB="36576">
                    <a:lnL w="12700" cap="flat" cmpd="sng" algn="ctr">
                      <a:solidFill>
                        <a:schemeClr val="bg2">
                          <a:lumMod val="20000"/>
                          <a:lumOff val="80000"/>
                        </a:schemeClr>
                      </a:solidFill>
                      <a:prstDash val="solid"/>
                      <a:round/>
                      <a:headEnd type="none" w="med" len="med"/>
                      <a:tailEnd type="none" w="med" len="med"/>
                    </a:lnL>
                    <a:lnT w="12700" cap="flat" cmpd="sng" algn="ctr">
                      <a:solidFill>
                        <a:schemeClr val="bg2">
                          <a:lumMod val="20000"/>
                          <a:lumOff val="80000"/>
                        </a:schemeClr>
                      </a:solidFill>
                      <a:prstDash val="solid"/>
                      <a:round/>
                      <a:headEnd type="none" w="med" len="med"/>
                      <a:tailEnd type="none" w="med" len="med"/>
                    </a:lnT>
                    <a:solidFill>
                      <a:srgbClr val="006455"/>
                    </a:solidFill>
                  </a:tcPr>
                </a:tc>
                <a:tc>
                  <a:txBody>
                    <a:bodyPr/>
                    <a:lstStyle/>
                    <a:p>
                      <a:pPr algn="ctr">
                        <a:defRPr sz="900" b="1">
                          <a:solidFill>
                            <a:srgbClr val="FFFFFF"/>
                          </a:solidFill>
                          <a:latin typeface="Montserrat"/>
                        </a:defRPr>
                      </a:pPr>
                      <a:r>
                        <a:t>Cantidad</a:t>
                      </a:r>
                    </a:p>
                  </a:txBody>
                  <a:tcPr marL="36576" marR="36576" marT="36576" marB="36576">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solidFill>
                      <a:srgbClr val="006455"/>
                    </a:solidFill>
                  </a:tcPr>
                </a:tc>
                <a:extLst>
                  <a:ext uri="{0D108BD9-81ED-4DB2-BD59-A6C34878D82A}">
                    <a16:rowId xmlns:a16="http://schemas.microsoft.com/office/drawing/2014/main" val="10000"/>
                  </a:ext>
                </a:extLst>
              </a:tr>
              <a:tr h="0">
                <a:tc>
                  <a:txBody>
                    <a:bodyPr/>
                    <a:lstStyle/>
                    <a:p>
                      <a:pPr algn="l">
                        <a:defRPr sz="800">
                          <a:latin typeface="Montserrat"/>
                        </a:defRPr>
                      </a:pPr>
                      <a:r>
                        <a:rPr sz="900" err="1"/>
                        <a:t>Anestesiología</a:t>
                      </a:r>
                      <a:endParaRPr sz="900"/>
                    </a:p>
                  </a:txBody>
                  <a:tcPr marL="45720" marR="45720">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defRPr sz="800">
                          <a:latin typeface="Montserrat"/>
                        </a:defRPr>
                      </a:pPr>
                      <a:r>
                        <a:rPr sz="900"/>
                        <a:t>46</a:t>
                      </a:r>
                    </a:p>
                  </a:txBody>
                  <a:tcPr marL="45720" marR="45720">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1"/>
                  </a:ext>
                </a:extLst>
              </a:tr>
              <a:tr h="0">
                <a:tc>
                  <a:txBody>
                    <a:bodyPr/>
                    <a:lstStyle/>
                    <a:p>
                      <a:pPr algn="l">
                        <a:defRPr sz="800">
                          <a:latin typeface="Montserrat"/>
                        </a:defRPr>
                      </a:pPr>
                      <a:r>
                        <a:rPr sz="900"/>
                        <a:t>Medicina de </a:t>
                      </a:r>
                      <a:r>
                        <a:rPr sz="900" err="1"/>
                        <a:t>Urgencias</a:t>
                      </a:r>
                      <a:endParaRPr sz="900"/>
                    </a:p>
                  </a:txBody>
                  <a:tcPr marL="45720" marR="45720">
                    <a:lnL w="12700" cap="flat" cmpd="sng" algn="ctr">
                      <a:solidFill>
                        <a:schemeClr val="bg2">
                          <a:lumMod val="20000"/>
                          <a:lumOff val="80000"/>
                        </a:schemeClr>
                      </a:solidFill>
                      <a:prstDash val="solid"/>
                      <a:round/>
                      <a:headEnd type="none" w="med" len="med"/>
                      <a:tailEnd type="none" w="med" len="med"/>
                    </a:lnL>
                    <a:solidFill>
                      <a:srgbClr val="EFEFEF"/>
                    </a:solidFill>
                  </a:tcPr>
                </a:tc>
                <a:tc>
                  <a:txBody>
                    <a:bodyPr/>
                    <a:lstStyle/>
                    <a:p>
                      <a:pPr algn="ctr">
                        <a:defRPr sz="800">
                          <a:latin typeface="Montserrat"/>
                        </a:defRPr>
                      </a:pPr>
                      <a:r>
                        <a:rPr sz="900"/>
                        <a:t>29</a:t>
                      </a:r>
                    </a:p>
                  </a:txBody>
                  <a:tcPr marL="45720" marR="45720">
                    <a:lnR w="12700" cap="flat" cmpd="sng" algn="ctr">
                      <a:solidFill>
                        <a:schemeClr val="bg2">
                          <a:lumMod val="20000"/>
                          <a:lumOff val="80000"/>
                        </a:schemeClr>
                      </a:solidFill>
                      <a:prstDash val="solid"/>
                      <a:round/>
                      <a:headEnd type="none" w="med" len="med"/>
                      <a:tailEnd type="none" w="med" len="med"/>
                    </a:lnR>
                    <a:solidFill>
                      <a:srgbClr val="EFEFEF"/>
                    </a:solidFill>
                  </a:tcPr>
                </a:tc>
                <a:extLst>
                  <a:ext uri="{0D108BD9-81ED-4DB2-BD59-A6C34878D82A}">
                    <a16:rowId xmlns:a16="http://schemas.microsoft.com/office/drawing/2014/main" val="10002"/>
                  </a:ext>
                </a:extLst>
              </a:tr>
              <a:tr h="0">
                <a:tc>
                  <a:txBody>
                    <a:bodyPr/>
                    <a:lstStyle/>
                    <a:p>
                      <a:pPr algn="l">
                        <a:defRPr sz="800">
                          <a:latin typeface="Montserrat"/>
                        </a:defRPr>
                      </a:pPr>
                      <a:r>
                        <a:rPr sz="900"/>
                        <a:t>Medicina Familiar</a:t>
                      </a:r>
                    </a:p>
                  </a:txBody>
                  <a:tcPr marL="45720" marR="45720">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defRPr sz="800">
                          <a:latin typeface="Montserrat"/>
                        </a:defRPr>
                      </a:pPr>
                      <a:r>
                        <a:rPr sz="900"/>
                        <a:t>29</a:t>
                      </a:r>
                    </a:p>
                  </a:txBody>
                  <a:tcPr marL="45720" marR="45720">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3"/>
                  </a:ext>
                </a:extLst>
              </a:tr>
              <a:tr h="0">
                <a:tc>
                  <a:txBody>
                    <a:bodyPr/>
                    <a:lstStyle/>
                    <a:p>
                      <a:pPr algn="l">
                        <a:defRPr sz="800">
                          <a:latin typeface="Montserrat"/>
                        </a:defRPr>
                      </a:pPr>
                      <a:r>
                        <a:rPr sz="900"/>
                        <a:t>Traumatología y Ortopedia</a:t>
                      </a:r>
                    </a:p>
                  </a:txBody>
                  <a:tcPr marL="45720" marR="45720">
                    <a:lnL w="12700" cap="flat" cmpd="sng" algn="ctr">
                      <a:solidFill>
                        <a:schemeClr val="bg2">
                          <a:lumMod val="20000"/>
                          <a:lumOff val="80000"/>
                        </a:schemeClr>
                      </a:solidFill>
                      <a:prstDash val="solid"/>
                      <a:round/>
                      <a:headEnd type="none" w="med" len="med"/>
                      <a:tailEnd type="none" w="med" len="med"/>
                    </a:lnL>
                    <a:solidFill>
                      <a:srgbClr val="EFEFEF"/>
                    </a:solidFill>
                  </a:tcPr>
                </a:tc>
                <a:tc>
                  <a:txBody>
                    <a:bodyPr/>
                    <a:lstStyle/>
                    <a:p>
                      <a:pPr algn="ctr">
                        <a:defRPr sz="800">
                          <a:latin typeface="Montserrat"/>
                        </a:defRPr>
                      </a:pPr>
                      <a:r>
                        <a:rPr sz="900"/>
                        <a:t>27</a:t>
                      </a:r>
                    </a:p>
                  </a:txBody>
                  <a:tcPr marL="45720" marR="45720">
                    <a:lnR w="12700" cap="flat" cmpd="sng" algn="ctr">
                      <a:solidFill>
                        <a:schemeClr val="bg2">
                          <a:lumMod val="20000"/>
                          <a:lumOff val="80000"/>
                        </a:schemeClr>
                      </a:solidFill>
                      <a:prstDash val="solid"/>
                      <a:round/>
                      <a:headEnd type="none" w="med" len="med"/>
                      <a:tailEnd type="none" w="med" len="med"/>
                    </a:lnR>
                    <a:solidFill>
                      <a:srgbClr val="EFEFEF"/>
                    </a:solidFill>
                  </a:tcPr>
                </a:tc>
                <a:extLst>
                  <a:ext uri="{0D108BD9-81ED-4DB2-BD59-A6C34878D82A}">
                    <a16:rowId xmlns:a16="http://schemas.microsoft.com/office/drawing/2014/main" val="10004"/>
                  </a:ext>
                </a:extLst>
              </a:tr>
              <a:tr h="0">
                <a:tc>
                  <a:txBody>
                    <a:bodyPr/>
                    <a:lstStyle/>
                    <a:p>
                      <a:pPr algn="l">
                        <a:defRPr sz="800">
                          <a:latin typeface="Montserrat"/>
                        </a:defRPr>
                      </a:pPr>
                      <a:r>
                        <a:rPr sz="900"/>
                        <a:t>Cirugía General</a:t>
                      </a:r>
                    </a:p>
                  </a:txBody>
                  <a:tcPr marL="45720" marR="45720">
                    <a:lnL w="12700" cap="flat" cmpd="sng" algn="ctr">
                      <a:solidFill>
                        <a:schemeClr val="bg2">
                          <a:lumMod val="20000"/>
                          <a:lumOff val="80000"/>
                        </a:schemeClr>
                      </a:solidFill>
                      <a:prstDash val="solid"/>
                      <a:round/>
                      <a:headEnd type="none" w="med" len="med"/>
                      <a:tailEnd type="none" w="med" len="med"/>
                    </a:lnL>
                    <a:lnB w="12700" cap="flat" cmpd="sng" algn="ctr">
                      <a:solidFill>
                        <a:schemeClr val="bg2">
                          <a:lumMod val="20000"/>
                          <a:lumOff val="80000"/>
                        </a:schemeClr>
                      </a:solidFill>
                      <a:prstDash val="solid"/>
                      <a:round/>
                      <a:headEnd type="none" w="med" len="med"/>
                      <a:tailEnd type="none" w="med" len="med"/>
                    </a:lnB>
                    <a:solidFill>
                      <a:srgbClr val="FFFFFF"/>
                    </a:solidFill>
                  </a:tcPr>
                </a:tc>
                <a:tc>
                  <a:txBody>
                    <a:bodyPr/>
                    <a:lstStyle/>
                    <a:p>
                      <a:pPr algn="ctr">
                        <a:defRPr sz="800">
                          <a:latin typeface="Montserrat"/>
                        </a:defRPr>
                      </a:pPr>
                      <a:r>
                        <a:rPr sz="900"/>
                        <a:t>23</a:t>
                      </a:r>
                    </a:p>
                  </a:txBody>
                  <a:tcPr marL="45720" marR="45720">
                    <a:lnR w="12700" cap="flat" cmpd="sng" algn="ctr">
                      <a:solidFill>
                        <a:schemeClr val="bg2">
                          <a:lumMod val="20000"/>
                          <a:lumOff val="80000"/>
                        </a:schemeClr>
                      </a:solidFill>
                      <a:prstDash val="solid"/>
                      <a:round/>
                      <a:headEnd type="none" w="med" len="med"/>
                      <a:tailEnd type="none" w="med" len="med"/>
                    </a:lnR>
                    <a:lnB w="12700" cap="flat" cmpd="sng" algn="ctr">
                      <a:solidFill>
                        <a:schemeClr val="bg2">
                          <a:lumMod val="20000"/>
                          <a:lumOff val="80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318" name="Table 317"/>
          <p:cNvGraphicFramePr>
            <a:graphicFrameLocks noGrp="1"/>
          </p:cNvGraphicFramePr>
          <p:nvPr>
            <p:extLst>
              <p:ext uri="{D42A27DB-BD31-4B8C-83A1-F6EECF244321}">
                <p14:modId xmlns:p14="http://schemas.microsoft.com/office/powerpoint/2010/main" val="2752203435"/>
              </p:ext>
            </p:extLst>
          </p:nvPr>
        </p:nvGraphicFramePr>
        <p:xfrm>
          <a:off x="4507200" y="6850800"/>
          <a:ext cx="2843784" cy="1353312"/>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877824">
                  <a:extLst>
                    <a:ext uri="{9D8B030D-6E8A-4147-A177-3AD203B41FA5}">
                      <a16:colId xmlns:a16="http://schemas.microsoft.com/office/drawing/2014/main" val="20001"/>
                    </a:ext>
                  </a:extLst>
                </a:gridCol>
              </a:tblGrid>
              <a:tr h="0">
                <a:tc>
                  <a:txBody>
                    <a:bodyPr/>
                    <a:lstStyle/>
                    <a:p>
                      <a:pPr algn="ctr">
                        <a:defRPr sz="900" b="1">
                          <a:solidFill>
                            <a:srgbClr val="FFFFFF"/>
                          </a:solidFill>
                          <a:latin typeface="Montserrat"/>
                        </a:defRPr>
                      </a:pPr>
                      <a:r>
                        <a:t>Top 5 Egresos 2026</a:t>
                      </a:r>
                    </a:p>
                  </a:txBody>
                  <a:tcPr marL="36576" marR="36576" marT="36576" marB="36576">
                    <a:lnL w="12700" cap="flat" cmpd="sng" algn="ctr">
                      <a:solidFill>
                        <a:schemeClr val="bg2">
                          <a:lumMod val="20000"/>
                          <a:lumOff val="80000"/>
                        </a:schemeClr>
                      </a:solidFill>
                      <a:prstDash val="solid"/>
                      <a:round/>
                      <a:headEnd type="none" w="med" len="med"/>
                      <a:tailEnd type="none" w="med" len="med"/>
                    </a:lnL>
                    <a:lnT w="12700" cap="flat" cmpd="sng" algn="ctr">
                      <a:solidFill>
                        <a:schemeClr val="bg2">
                          <a:lumMod val="20000"/>
                          <a:lumOff val="80000"/>
                        </a:schemeClr>
                      </a:solidFill>
                      <a:prstDash val="solid"/>
                      <a:round/>
                      <a:headEnd type="none" w="med" len="med"/>
                      <a:tailEnd type="none" w="med" len="med"/>
                    </a:lnT>
                    <a:solidFill>
                      <a:srgbClr val="691C32"/>
                    </a:solidFill>
                  </a:tcPr>
                </a:tc>
                <a:tc>
                  <a:txBody>
                    <a:bodyPr/>
                    <a:lstStyle/>
                    <a:p>
                      <a:pPr algn="ctr">
                        <a:defRPr sz="900" b="1">
                          <a:solidFill>
                            <a:srgbClr val="FFFFFF"/>
                          </a:solidFill>
                          <a:latin typeface="Montserrat"/>
                        </a:defRPr>
                      </a:pPr>
                      <a:r>
                        <a:t>Cantidad</a:t>
                      </a:r>
                    </a:p>
                  </a:txBody>
                  <a:tcPr marL="36576" marR="36576" marT="36576" marB="36576">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solidFill>
                      <a:srgbClr val="691C32"/>
                    </a:solidFill>
                  </a:tcPr>
                </a:tc>
                <a:extLst>
                  <a:ext uri="{0D108BD9-81ED-4DB2-BD59-A6C34878D82A}">
                    <a16:rowId xmlns:a16="http://schemas.microsoft.com/office/drawing/2014/main" val="10000"/>
                  </a:ext>
                </a:extLst>
              </a:tr>
              <a:tr h="0">
                <a:tc>
                  <a:txBody>
                    <a:bodyPr/>
                    <a:lstStyle/>
                    <a:p>
                      <a:pPr algn="l">
                        <a:defRPr sz="800">
                          <a:latin typeface="Montserrat"/>
                        </a:defRPr>
                      </a:pPr>
                      <a:r>
                        <a:rPr sz="900" err="1"/>
                        <a:t>Anestesiología</a:t>
                      </a:r>
                      <a:endParaRPr sz="900"/>
                    </a:p>
                  </a:txBody>
                  <a:tcPr marL="45720" marR="45720">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defRPr sz="800">
                          <a:latin typeface="Montserrat"/>
                        </a:defRPr>
                      </a:pPr>
                      <a:r>
                        <a:rPr sz="900"/>
                        <a:t>40</a:t>
                      </a:r>
                    </a:p>
                  </a:txBody>
                  <a:tcPr marL="45720" marR="45720">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1"/>
                  </a:ext>
                </a:extLst>
              </a:tr>
              <a:tr h="0">
                <a:tc>
                  <a:txBody>
                    <a:bodyPr/>
                    <a:lstStyle/>
                    <a:p>
                      <a:pPr algn="l">
                        <a:defRPr sz="800">
                          <a:latin typeface="Montserrat"/>
                        </a:defRPr>
                      </a:pPr>
                      <a:r>
                        <a:rPr sz="900"/>
                        <a:t>Cirugía General</a:t>
                      </a:r>
                    </a:p>
                  </a:txBody>
                  <a:tcPr marL="45720" marR="45720">
                    <a:lnL w="12700" cap="flat" cmpd="sng" algn="ctr">
                      <a:solidFill>
                        <a:schemeClr val="bg2">
                          <a:lumMod val="20000"/>
                          <a:lumOff val="80000"/>
                        </a:schemeClr>
                      </a:solidFill>
                      <a:prstDash val="solid"/>
                      <a:round/>
                      <a:headEnd type="none" w="med" len="med"/>
                      <a:tailEnd type="none" w="med" len="med"/>
                    </a:lnL>
                    <a:solidFill>
                      <a:srgbClr val="EFEFEF"/>
                    </a:solidFill>
                  </a:tcPr>
                </a:tc>
                <a:tc>
                  <a:txBody>
                    <a:bodyPr/>
                    <a:lstStyle/>
                    <a:p>
                      <a:pPr algn="ctr">
                        <a:defRPr sz="800">
                          <a:latin typeface="Montserrat"/>
                        </a:defRPr>
                      </a:pPr>
                      <a:r>
                        <a:rPr sz="900"/>
                        <a:t>34</a:t>
                      </a:r>
                    </a:p>
                  </a:txBody>
                  <a:tcPr marL="45720" marR="45720">
                    <a:lnR w="12700" cap="flat" cmpd="sng" algn="ctr">
                      <a:solidFill>
                        <a:schemeClr val="bg2">
                          <a:lumMod val="20000"/>
                          <a:lumOff val="80000"/>
                        </a:schemeClr>
                      </a:solidFill>
                      <a:prstDash val="solid"/>
                      <a:round/>
                      <a:headEnd type="none" w="med" len="med"/>
                      <a:tailEnd type="none" w="med" len="med"/>
                    </a:lnR>
                    <a:solidFill>
                      <a:srgbClr val="EFEFEF"/>
                    </a:solidFill>
                  </a:tcPr>
                </a:tc>
                <a:extLst>
                  <a:ext uri="{0D108BD9-81ED-4DB2-BD59-A6C34878D82A}">
                    <a16:rowId xmlns:a16="http://schemas.microsoft.com/office/drawing/2014/main" val="10002"/>
                  </a:ext>
                </a:extLst>
              </a:tr>
              <a:tr h="0">
                <a:tc>
                  <a:txBody>
                    <a:bodyPr/>
                    <a:lstStyle/>
                    <a:p>
                      <a:pPr algn="l">
                        <a:defRPr sz="800">
                          <a:latin typeface="Montserrat"/>
                        </a:defRPr>
                      </a:pPr>
                      <a:r>
                        <a:rPr sz="900"/>
                        <a:t>Traumatología y Ortopedia</a:t>
                      </a:r>
                    </a:p>
                  </a:txBody>
                  <a:tcPr marL="45720" marR="45720">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defRPr sz="800">
                          <a:latin typeface="Montserrat"/>
                        </a:defRPr>
                      </a:pPr>
                      <a:r>
                        <a:rPr sz="900"/>
                        <a:t>32</a:t>
                      </a:r>
                    </a:p>
                  </a:txBody>
                  <a:tcPr marL="45720" marR="45720">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3"/>
                  </a:ext>
                </a:extLst>
              </a:tr>
              <a:tr h="0">
                <a:tc>
                  <a:txBody>
                    <a:bodyPr/>
                    <a:lstStyle/>
                    <a:p>
                      <a:pPr algn="l">
                        <a:defRPr sz="800">
                          <a:latin typeface="Montserrat"/>
                        </a:defRPr>
                      </a:pPr>
                      <a:r>
                        <a:rPr sz="900"/>
                        <a:t>Ginecología y Obstetricia</a:t>
                      </a:r>
                    </a:p>
                  </a:txBody>
                  <a:tcPr marL="45720" marR="45720">
                    <a:lnL w="12700" cap="flat" cmpd="sng" algn="ctr">
                      <a:solidFill>
                        <a:schemeClr val="bg2">
                          <a:lumMod val="20000"/>
                          <a:lumOff val="80000"/>
                        </a:schemeClr>
                      </a:solidFill>
                      <a:prstDash val="solid"/>
                      <a:round/>
                      <a:headEnd type="none" w="med" len="med"/>
                      <a:tailEnd type="none" w="med" len="med"/>
                    </a:lnL>
                    <a:solidFill>
                      <a:srgbClr val="EFEFEF"/>
                    </a:solidFill>
                  </a:tcPr>
                </a:tc>
                <a:tc>
                  <a:txBody>
                    <a:bodyPr/>
                    <a:lstStyle/>
                    <a:p>
                      <a:pPr algn="ctr">
                        <a:defRPr sz="800">
                          <a:latin typeface="Montserrat"/>
                        </a:defRPr>
                      </a:pPr>
                      <a:r>
                        <a:rPr sz="900"/>
                        <a:t>27</a:t>
                      </a:r>
                    </a:p>
                  </a:txBody>
                  <a:tcPr marL="45720" marR="45720">
                    <a:lnR w="12700" cap="flat" cmpd="sng" algn="ctr">
                      <a:solidFill>
                        <a:schemeClr val="bg2">
                          <a:lumMod val="20000"/>
                          <a:lumOff val="80000"/>
                        </a:schemeClr>
                      </a:solidFill>
                      <a:prstDash val="solid"/>
                      <a:round/>
                      <a:headEnd type="none" w="med" len="med"/>
                      <a:tailEnd type="none" w="med" len="med"/>
                    </a:lnR>
                    <a:solidFill>
                      <a:srgbClr val="EFEFEF"/>
                    </a:solidFill>
                  </a:tcPr>
                </a:tc>
                <a:extLst>
                  <a:ext uri="{0D108BD9-81ED-4DB2-BD59-A6C34878D82A}">
                    <a16:rowId xmlns:a16="http://schemas.microsoft.com/office/drawing/2014/main" val="10004"/>
                  </a:ext>
                </a:extLst>
              </a:tr>
              <a:tr h="0">
                <a:tc>
                  <a:txBody>
                    <a:bodyPr/>
                    <a:lstStyle/>
                    <a:p>
                      <a:pPr algn="l">
                        <a:defRPr sz="800">
                          <a:latin typeface="Montserrat"/>
                        </a:defRPr>
                      </a:pPr>
                      <a:r>
                        <a:rPr sz="900"/>
                        <a:t>Medicina de Urgencias</a:t>
                      </a:r>
                    </a:p>
                  </a:txBody>
                  <a:tcPr marL="45720" marR="45720">
                    <a:lnL w="12700" cap="flat" cmpd="sng" algn="ctr">
                      <a:solidFill>
                        <a:schemeClr val="bg2">
                          <a:lumMod val="20000"/>
                          <a:lumOff val="80000"/>
                        </a:schemeClr>
                      </a:solidFill>
                      <a:prstDash val="solid"/>
                      <a:round/>
                      <a:headEnd type="none" w="med" len="med"/>
                      <a:tailEnd type="none" w="med" len="med"/>
                    </a:lnL>
                    <a:lnB w="12700" cap="flat" cmpd="sng" algn="ctr">
                      <a:solidFill>
                        <a:schemeClr val="bg2">
                          <a:lumMod val="20000"/>
                          <a:lumOff val="80000"/>
                        </a:schemeClr>
                      </a:solidFill>
                      <a:prstDash val="solid"/>
                      <a:round/>
                      <a:headEnd type="none" w="med" len="med"/>
                      <a:tailEnd type="none" w="med" len="med"/>
                    </a:lnB>
                    <a:solidFill>
                      <a:srgbClr val="FFFFFF"/>
                    </a:solidFill>
                  </a:tcPr>
                </a:tc>
                <a:tc>
                  <a:txBody>
                    <a:bodyPr/>
                    <a:lstStyle/>
                    <a:p>
                      <a:pPr algn="ctr">
                        <a:defRPr sz="800">
                          <a:latin typeface="Montserrat"/>
                        </a:defRPr>
                      </a:pPr>
                      <a:r>
                        <a:rPr sz="900"/>
                        <a:t>22</a:t>
                      </a:r>
                    </a:p>
                  </a:txBody>
                  <a:tcPr marL="45720" marR="45720">
                    <a:lnR w="12700" cap="flat" cmpd="sng" algn="ctr">
                      <a:solidFill>
                        <a:schemeClr val="bg2">
                          <a:lumMod val="20000"/>
                          <a:lumOff val="80000"/>
                        </a:schemeClr>
                      </a:solidFill>
                      <a:prstDash val="solid"/>
                      <a:round/>
                      <a:headEnd type="none" w="med" len="med"/>
                      <a:tailEnd type="none" w="med" len="med"/>
                    </a:lnR>
                    <a:lnB w="12700" cap="flat" cmpd="sng" algn="ctr">
                      <a:solidFill>
                        <a:schemeClr val="bg2">
                          <a:lumMod val="20000"/>
                          <a:lumOff val="80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319" name="Table 318"/>
          <p:cNvGraphicFramePr>
            <a:graphicFrameLocks noGrp="1"/>
          </p:cNvGraphicFramePr>
          <p:nvPr>
            <p:extLst>
              <p:ext uri="{D42A27DB-BD31-4B8C-83A1-F6EECF244321}">
                <p14:modId xmlns:p14="http://schemas.microsoft.com/office/powerpoint/2010/main" val="3334505131"/>
              </p:ext>
            </p:extLst>
          </p:nvPr>
        </p:nvGraphicFramePr>
        <p:xfrm>
          <a:off x="1220724" y="8316440"/>
          <a:ext cx="5266944" cy="1127760"/>
        </p:xfrm>
        <a:graphic>
          <a:graphicData uri="http://schemas.openxmlformats.org/drawingml/2006/table">
            <a:tbl>
              <a:tblPr bandRow="1">
                <a:tableStyleId>{5C22544A-7EE6-4342-B048-85BDC9FD1C3A}</a:tableStyleId>
              </a:tblPr>
              <a:tblGrid>
                <a:gridCol w="3218688">
                  <a:extLst>
                    <a:ext uri="{9D8B030D-6E8A-4147-A177-3AD203B41FA5}">
                      <a16:colId xmlns:a16="http://schemas.microsoft.com/office/drawing/2014/main" val="20000"/>
                    </a:ext>
                  </a:extLst>
                </a:gridCol>
                <a:gridCol w="2048256">
                  <a:extLst>
                    <a:ext uri="{9D8B030D-6E8A-4147-A177-3AD203B41FA5}">
                      <a16:colId xmlns:a16="http://schemas.microsoft.com/office/drawing/2014/main" val="20001"/>
                    </a:ext>
                  </a:extLst>
                </a:gridCol>
              </a:tblGrid>
              <a:tr h="0">
                <a:tc>
                  <a:txBody>
                    <a:bodyPr/>
                    <a:lstStyle/>
                    <a:p>
                      <a:pPr algn="l">
                        <a:defRPr sz="1000" b="1">
                          <a:solidFill>
                            <a:srgbClr val="FFFFFF"/>
                          </a:solidFill>
                          <a:latin typeface="Montserrat"/>
                        </a:defRPr>
                      </a:pPr>
                      <a:r>
                        <a:t>Personal médico</a:t>
                      </a:r>
                    </a:p>
                  </a:txBody>
                  <a:tcPr marL="36576" marR="36576" marT="36576" marB="36576" anchor="ctr">
                    <a:lnL w="12700" cap="flat" cmpd="sng" algn="ctr">
                      <a:solidFill>
                        <a:schemeClr val="bg2">
                          <a:lumMod val="20000"/>
                          <a:lumOff val="80000"/>
                        </a:schemeClr>
                      </a:solidFill>
                      <a:prstDash val="solid"/>
                      <a:round/>
                      <a:headEnd type="none" w="med" len="med"/>
                      <a:tailEnd type="none" w="med" len="med"/>
                    </a:lnL>
                    <a:lnT w="12700" cap="flat" cmpd="sng" algn="ctr">
                      <a:solidFill>
                        <a:schemeClr val="bg2">
                          <a:lumMod val="20000"/>
                          <a:lumOff val="80000"/>
                        </a:schemeClr>
                      </a:solidFill>
                      <a:prstDash val="solid"/>
                      <a:round/>
                      <a:headEnd type="none" w="med" len="med"/>
                      <a:tailEnd type="none" w="med" len="med"/>
                    </a:lnT>
                    <a:solidFill>
                      <a:srgbClr val="006455"/>
                    </a:solidFill>
                  </a:tcPr>
                </a:tc>
                <a:tc>
                  <a:txBody>
                    <a:bodyPr/>
                    <a:lstStyle/>
                    <a:p>
                      <a:pPr algn="ctr">
                        <a:defRPr sz="1000" b="0">
                          <a:solidFill>
                            <a:srgbClr val="000000"/>
                          </a:solidFill>
                          <a:latin typeface="Montserrat"/>
                        </a:defRPr>
                      </a:pPr>
                      <a:r>
                        <a:t>272</a:t>
                      </a:r>
                    </a:p>
                  </a:txBody>
                  <a:tcPr marL="36576" marR="36576" marT="36576" marB="36576" anchor="ctr">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solidFill>
                      <a:srgbClr val="EFEFEF"/>
                    </a:solidFill>
                  </a:tcPr>
                </a:tc>
                <a:extLst>
                  <a:ext uri="{0D108BD9-81ED-4DB2-BD59-A6C34878D82A}">
                    <a16:rowId xmlns:a16="http://schemas.microsoft.com/office/drawing/2014/main" val="10000"/>
                  </a:ext>
                </a:extLst>
              </a:tr>
              <a:tr h="0">
                <a:tc>
                  <a:txBody>
                    <a:bodyPr/>
                    <a:lstStyle/>
                    <a:p>
                      <a:pPr algn="l">
                        <a:defRPr sz="1000" b="1">
                          <a:solidFill>
                            <a:srgbClr val="FFFFFF"/>
                          </a:solidFill>
                          <a:latin typeface="Montserrat"/>
                        </a:defRPr>
                      </a:pPr>
                      <a:r>
                        <a:t>Personal de Enfermería</a:t>
                      </a:r>
                    </a:p>
                  </a:txBody>
                  <a:tcPr marL="36576" marR="36576" marT="36576" marB="36576" anchor="ctr">
                    <a:lnL w="12700" cap="flat" cmpd="sng" algn="ctr">
                      <a:solidFill>
                        <a:schemeClr val="bg2">
                          <a:lumMod val="20000"/>
                          <a:lumOff val="80000"/>
                        </a:schemeClr>
                      </a:solidFill>
                      <a:prstDash val="solid"/>
                      <a:round/>
                      <a:headEnd type="none" w="med" len="med"/>
                      <a:tailEnd type="none" w="med" len="med"/>
                    </a:lnL>
                    <a:solidFill>
                      <a:srgbClr val="006455"/>
                    </a:solidFill>
                  </a:tcPr>
                </a:tc>
                <a:tc>
                  <a:txBody>
                    <a:bodyPr/>
                    <a:lstStyle/>
                    <a:p>
                      <a:pPr algn="ctr">
                        <a:defRPr sz="1000" b="0">
                          <a:solidFill>
                            <a:srgbClr val="000000"/>
                          </a:solidFill>
                          <a:latin typeface="Montserrat"/>
                        </a:defRPr>
                      </a:pPr>
                      <a:r>
                        <a:t>55</a:t>
                      </a:r>
                    </a:p>
                  </a:txBody>
                  <a:tcPr marL="36576" marR="36576" marT="36576" marB="36576" anchor="ct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1"/>
                  </a:ext>
                </a:extLst>
              </a:tr>
              <a:tr h="0">
                <a:tc>
                  <a:txBody>
                    <a:bodyPr/>
                    <a:lstStyle/>
                    <a:p>
                      <a:pPr algn="l">
                        <a:defRPr sz="1000" b="1">
                          <a:solidFill>
                            <a:srgbClr val="FFFFFF"/>
                          </a:solidFill>
                          <a:latin typeface="Montserrat"/>
                        </a:defRPr>
                      </a:pPr>
                      <a:r>
                        <a:t>Personal administrativos y básico</a:t>
                      </a:r>
                    </a:p>
                  </a:txBody>
                  <a:tcPr marL="36576" marR="36576" marT="36576" marB="36576" anchor="ctr">
                    <a:lnL w="12700" cap="flat" cmpd="sng" algn="ctr">
                      <a:solidFill>
                        <a:schemeClr val="bg2">
                          <a:lumMod val="20000"/>
                          <a:lumOff val="80000"/>
                        </a:schemeClr>
                      </a:solidFill>
                      <a:prstDash val="solid"/>
                      <a:round/>
                      <a:headEnd type="none" w="med" len="med"/>
                      <a:tailEnd type="none" w="med" len="med"/>
                    </a:lnL>
                    <a:solidFill>
                      <a:srgbClr val="006455"/>
                    </a:solidFill>
                  </a:tcPr>
                </a:tc>
                <a:tc>
                  <a:txBody>
                    <a:bodyPr/>
                    <a:lstStyle/>
                    <a:p>
                      <a:pPr algn="ctr">
                        <a:defRPr sz="1000" b="0">
                          <a:solidFill>
                            <a:srgbClr val="000000"/>
                          </a:solidFill>
                          <a:latin typeface="Montserrat"/>
                        </a:defRPr>
                      </a:pPr>
                      <a:r>
                        <a:t>171</a:t>
                      </a:r>
                    </a:p>
                  </a:txBody>
                  <a:tcPr marL="36576" marR="36576" marT="36576" marB="36576" anchor="ctr">
                    <a:lnR w="12700" cap="flat" cmpd="sng" algn="ctr">
                      <a:solidFill>
                        <a:schemeClr val="bg2">
                          <a:lumMod val="20000"/>
                          <a:lumOff val="80000"/>
                        </a:schemeClr>
                      </a:solidFill>
                      <a:prstDash val="solid"/>
                      <a:round/>
                      <a:headEnd type="none" w="med" len="med"/>
                      <a:tailEnd type="none" w="med" len="med"/>
                    </a:lnR>
                    <a:solidFill>
                      <a:srgbClr val="EFEFEF"/>
                    </a:solidFill>
                  </a:tcPr>
                </a:tc>
                <a:extLst>
                  <a:ext uri="{0D108BD9-81ED-4DB2-BD59-A6C34878D82A}">
                    <a16:rowId xmlns:a16="http://schemas.microsoft.com/office/drawing/2014/main" val="10002"/>
                  </a:ext>
                </a:extLst>
              </a:tr>
              <a:tr h="0">
                <a:tc>
                  <a:txBody>
                    <a:bodyPr/>
                    <a:lstStyle/>
                    <a:p>
                      <a:pPr algn="l">
                        <a:defRPr sz="1000" b="1">
                          <a:solidFill>
                            <a:srgbClr val="FFFFFF"/>
                          </a:solidFill>
                          <a:latin typeface="Montserrat"/>
                        </a:defRPr>
                      </a:pPr>
                      <a:r>
                        <a:t>Personal paramédico y técnico</a:t>
                      </a:r>
                    </a:p>
                  </a:txBody>
                  <a:tcPr marL="36576" marR="36576" marT="36576" marB="36576" anchor="ctr">
                    <a:lnL w="12700" cap="flat" cmpd="sng" algn="ctr">
                      <a:solidFill>
                        <a:schemeClr val="bg2">
                          <a:lumMod val="20000"/>
                          <a:lumOff val="80000"/>
                        </a:schemeClr>
                      </a:solidFill>
                      <a:prstDash val="solid"/>
                      <a:round/>
                      <a:headEnd type="none" w="med" len="med"/>
                      <a:tailEnd type="none" w="med" len="med"/>
                    </a:lnL>
                    <a:solidFill>
                      <a:srgbClr val="006455"/>
                    </a:solidFill>
                  </a:tcPr>
                </a:tc>
                <a:tc>
                  <a:txBody>
                    <a:bodyPr/>
                    <a:lstStyle/>
                    <a:p>
                      <a:pPr algn="ctr">
                        <a:defRPr sz="1000" b="0">
                          <a:solidFill>
                            <a:srgbClr val="000000"/>
                          </a:solidFill>
                          <a:latin typeface="Montserrat"/>
                        </a:defRPr>
                      </a:pPr>
                      <a:r>
                        <a:t>310</a:t>
                      </a:r>
                    </a:p>
                  </a:txBody>
                  <a:tcPr marL="36576" marR="36576" marT="36576" marB="36576" anchor="ct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3"/>
                  </a:ext>
                </a:extLst>
              </a:tr>
              <a:tr h="0">
                <a:tc>
                  <a:txBody>
                    <a:bodyPr/>
                    <a:lstStyle/>
                    <a:p>
                      <a:pPr algn="l">
                        <a:defRPr sz="1000" b="1">
                          <a:solidFill>
                            <a:srgbClr val="00515E"/>
                          </a:solidFill>
                          <a:latin typeface="Montserrat"/>
                        </a:defRPr>
                      </a:pPr>
                      <a:r>
                        <a:t>Total</a:t>
                      </a:r>
                    </a:p>
                  </a:txBody>
                  <a:tcPr marL="36576" marR="36576" marT="36576" marB="36576" anchor="ctr">
                    <a:lnL w="12700" cap="flat" cmpd="sng" algn="ctr">
                      <a:solidFill>
                        <a:schemeClr val="bg2">
                          <a:lumMod val="20000"/>
                          <a:lumOff val="80000"/>
                        </a:schemeClr>
                      </a:solidFill>
                      <a:prstDash val="solid"/>
                      <a:round/>
                      <a:headEnd type="none" w="med" len="med"/>
                      <a:tailEnd type="none" w="med" len="med"/>
                    </a:lnL>
                    <a:lnB w="12700" cap="flat" cmpd="sng" algn="ctr">
                      <a:solidFill>
                        <a:schemeClr val="bg2">
                          <a:lumMod val="20000"/>
                          <a:lumOff val="80000"/>
                        </a:schemeClr>
                      </a:solidFill>
                      <a:prstDash val="solid"/>
                      <a:round/>
                      <a:headEnd type="none" w="med" len="med"/>
                      <a:tailEnd type="none" w="med" len="med"/>
                    </a:lnB>
                    <a:solidFill>
                      <a:srgbClr val="D3E9E7"/>
                    </a:solidFill>
                  </a:tcPr>
                </a:tc>
                <a:tc>
                  <a:txBody>
                    <a:bodyPr/>
                    <a:lstStyle/>
                    <a:p>
                      <a:pPr algn="ctr">
                        <a:defRPr sz="1000" b="1">
                          <a:solidFill>
                            <a:srgbClr val="00515E"/>
                          </a:solidFill>
                          <a:latin typeface="Montserrat"/>
                        </a:defRPr>
                      </a:pPr>
                      <a:r>
                        <a:t>808</a:t>
                      </a:r>
                    </a:p>
                  </a:txBody>
                  <a:tcPr marL="36576" marR="36576" marT="36576" marB="36576" anchor="ctr">
                    <a:lnR w="12700" cap="flat" cmpd="sng" algn="ctr">
                      <a:solidFill>
                        <a:schemeClr val="bg2">
                          <a:lumMod val="20000"/>
                          <a:lumOff val="80000"/>
                        </a:schemeClr>
                      </a:solidFill>
                      <a:prstDash val="solid"/>
                      <a:round/>
                      <a:headEnd type="none" w="med" len="med"/>
                      <a:tailEnd type="none" w="med" len="med"/>
                    </a:lnR>
                    <a:lnB w="12700" cap="flat" cmpd="sng" algn="ctr">
                      <a:solidFill>
                        <a:schemeClr val="bg2">
                          <a:lumMod val="20000"/>
                          <a:lumOff val="80000"/>
                        </a:schemeClr>
                      </a:solidFill>
                      <a:prstDash val="solid"/>
                      <a:round/>
                      <a:headEnd type="none" w="med" len="med"/>
                      <a:tailEnd type="none" w="med" len="med"/>
                    </a:lnB>
                    <a:solidFill>
                      <a:srgbClr val="D3E9E7"/>
                    </a:solidFill>
                  </a:tcPr>
                </a:tc>
                <a:extLst>
                  <a:ext uri="{0D108BD9-81ED-4DB2-BD59-A6C34878D82A}">
                    <a16:rowId xmlns:a16="http://schemas.microsoft.com/office/drawing/2014/main" val="10004"/>
                  </a:ext>
                </a:extLst>
              </a:tr>
            </a:tbl>
          </a:graphicData>
        </a:graphic>
      </p:graphicFrame>
      <p:graphicFrame>
        <p:nvGraphicFramePr>
          <p:cNvPr id="320" name="Chart 319"/>
          <p:cNvGraphicFramePr>
            <a:graphicFrameLocks noGrp="1"/>
          </p:cNvGraphicFramePr>
          <p:nvPr>
            <p:extLst>
              <p:ext uri="{D42A27DB-BD31-4B8C-83A1-F6EECF244321}">
                <p14:modId xmlns:p14="http://schemas.microsoft.com/office/powerpoint/2010/main" val="2681350752"/>
              </p:ext>
            </p:extLst>
          </p:nvPr>
        </p:nvGraphicFramePr>
        <p:xfrm>
          <a:off x="320040" y="5404104"/>
          <a:ext cx="4047244" cy="2085472"/>
        </p:xfrm>
        <a:graphic>
          <a:graphicData uri="http://schemas.openxmlformats.org/drawingml/2006/chart">
            <c:chart xmlns:c="http://schemas.openxmlformats.org/drawingml/2006/chart" xmlns:r="http://schemas.openxmlformats.org/officeDocument/2006/relationships" r:id="rId10"/>
          </a:graphicData>
        </a:graphic>
      </p:graphicFrame>
      <p:sp>
        <p:nvSpPr>
          <p:cNvPr id="321" name="TextBox 320"/>
          <p:cNvSpPr txBox="1"/>
          <p:nvPr/>
        </p:nvSpPr>
        <p:spPr>
          <a:xfrm>
            <a:off x="324000" y="4888800"/>
            <a:ext cx="7286399" cy="331200"/>
          </a:xfrm>
          <a:prstGeom prst="rect">
            <a:avLst/>
          </a:prstGeom>
          <a:noFill/>
        </p:spPr>
        <p:txBody>
          <a:bodyPr wrap="square" lIns="0" tIns="0" rIns="0" bIns="0">
            <a:spAutoFit/>
          </a:bodyPr>
          <a:lstStyle/>
          <a:p>
            <a:pPr algn="l">
              <a:defRPr sz="900">
                <a:solidFill>
                  <a:srgbClr val="000000"/>
                </a:solidFill>
                <a:latin typeface="Montserrat"/>
              </a:defRPr>
            </a:pPr>
            <a:r>
              <a:t>Fuente: Dirección de Administración. Base SIAP comparativa del diciembre 2018 con el 15 de junio 2026.</a:t>
            </a:r>
          </a:p>
        </p:txBody>
      </p:sp>
      <p:sp>
        <p:nvSpPr>
          <p:cNvPr id="322" name="TextBox 321"/>
          <p:cNvSpPr txBox="1"/>
          <p:nvPr/>
        </p:nvSpPr>
        <p:spPr>
          <a:xfrm>
            <a:off x="244692" y="7525750"/>
            <a:ext cx="3888000" cy="370800"/>
          </a:xfrm>
          <a:prstGeom prst="rect">
            <a:avLst/>
          </a:prstGeom>
          <a:noFill/>
        </p:spPr>
        <p:txBody>
          <a:bodyPr wrap="square" lIns="0" tIns="0" rIns="0" bIns="0">
            <a:spAutoFit/>
          </a:bodyPr>
          <a:lstStyle/>
          <a:p>
            <a:pPr algn="l">
              <a:defRPr sz="800">
                <a:solidFill>
                  <a:srgbClr val="000000"/>
                </a:solidFill>
                <a:latin typeface="Montserrat"/>
              </a:defRPr>
            </a:pPr>
            <a:r>
              <a:t>Se </a:t>
            </a:r>
            <a:r>
              <a:rPr err="1"/>
              <a:t>muestra</a:t>
            </a:r>
            <a:r>
              <a:t> el total de </a:t>
            </a:r>
            <a:r>
              <a:rPr err="1"/>
              <a:t>egresos</a:t>
            </a:r>
            <a:r>
              <a:t> en la </a:t>
            </a:r>
            <a:r>
              <a:rPr err="1"/>
              <a:t>entidad</a:t>
            </a:r>
            <a:r>
              <a:t> y </a:t>
            </a:r>
            <a:r>
              <a:rPr err="1"/>
              <a:t>sólo</a:t>
            </a:r>
            <a:r>
              <a:t> las </a:t>
            </a:r>
            <a:r>
              <a:rPr err="1"/>
              <a:t>cinco</a:t>
            </a:r>
            <a:r>
              <a:t> </a:t>
            </a:r>
            <a:r>
              <a:rPr err="1"/>
              <a:t>especialidades</a:t>
            </a:r>
            <a:r>
              <a:t> con mayor </a:t>
            </a:r>
            <a:r>
              <a:rPr err="1"/>
              <a:t>egresos</a:t>
            </a:r>
            <a:r>
              <a:t> de </a:t>
            </a:r>
            <a:r>
              <a:rPr err="1"/>
              <a:t>cada</a:t>
            </a:r>
            <a:r>
              <a:t> </a:t>
            </a:r>
            <a:r>
              <a:rPr err="1"/>
              <a:t>año</a:t>
            </a:r>
            <a:r>
              <a:t>. Corte de información </a:t>
            </a:r>
            <a:r>
              <a:rPr err="1"/>
              <a:t>marzo</a:t>
            </a:r>
            <a:r>
              <a:t> 2026.</a:t>
            </a:r>
            <a:br>
              <a:rPr/>
            </a:br>
            <a:r>
              <a:t>Fuente: Dirección de </a:t>
            </a:r>
            <a:r>
              <a:rPr err="1"/>
              <a:t>Prestaciones</a:t>
            </a:r>
            <a:r>
              <a:t> Médicas.</a:t>
            </a:r>
          </a:p>
        </p:txBody>
      </p:sp>
      <p:sp>
        <p:nvSpPr>
          <p:cNvPr id="323" name="TextBox 322"/>
          <p:cNvSpPr txBox="1"/>
          <p:nvPr/>
        </p:nvSpPr>
        <p:spPr>
          <a:xfrm>
            <a:off x="598821" y="9596681"/>
            <a:ext cx="3273663" cy="276999"/>
          </a:xfrm>
          <a:prstGeom prst="rect">
            <a:avLst/>
          </a:prstGeom>
          <a:noFill/>
        </p:spPr>
        <p:txBody>
          <a:bodyPr wrap="square" lIns="0" tIns="0" rIns="0" bIns="0">
            <a:spAutoFit/>
          </a:bodyPr>
          <a:lstStyle/>
          <a:p>
            <a:pPr algn="l">
              <a:defRPr sz="800">
                <a:solidFill>
                  <a:srgbClr val="000000"/>
                </a:solidFill>
                <a:latin typeface="Montserrat"/>
              </a:defRPr>
            </a:pPr>
            <a:r>
              <a:rPr sz="900">
                <a:solidFill>
                  <a:schemeClr val="bg1"/>
                </a:solidFill>
              </a:rPr>
              <a:t>Fuente: Sistema de Información Operativa. Personal de base. Corte de información: mayo 2026.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a:solidFill>
                  <a:srgbClr val="980000"/>
                </a:solidFill>
                <a:latin typeface="Montserrat"/>
                <a:ea typeface="Montserrat"/>
                <a:cs typeface="Montserrat"/>
                <a:sym typeface="Montserrat"/>
              </a:rPr>
              <a:t>consultas diarias</a:t>
            </a:r>
            <a:endParaRPr sz="2000" b="0" i="0" u="none" strike="noStrike" cap="none">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Día típico</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17,183</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1,109</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246</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328</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5,074</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2,579</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33</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25,945</a:t>
            </a:r>
          </a:p>
        </p:txBody>
      </p:sp>
      <p:graphicFrame>
        <p:nvGraphicFramePr>
          <p:cNvPr id="344" name="Table 343"/>
          <p:cNvGraphicFramePr>
            <a:graphicFrameLocks noGrp="1"/>
          </p:cNvGraphicFramePr>
          <p:nvPr>
            <p:extLst>
              <p:ext uri="{D42A27DB-BD31-4B8C-83A1-F6EECF244321}">
                <p14:modId xmlns:p14="http://schemas.microsoft.com/office/powerpoint/2010/main" val="3309467386"/>
              </p:ext>
            </p:extLst>
          </p:nvPr>
        </p:nvGraphicFramePr>
        <p:xfrm>
          <a:off x="102600" y="1501806"/>
          <a:ext cx="7567200" cy="3842400"/>
        </p:xfrm>
        <a:graphic>
          <a:graphicData uri="http://schemas.openxmlformats.org/drawingml/2006/table">
            <a:tbl>
              <a:tblPr firstRow="1" bandRow="1">
                <a:tableStyleId>{5C22544A-7EE6-4342-B048-85BDC9FD1C3A}</a:tableStyleId>
              </a:tblPr>
              <a:tblGrid>
                <a:gridCol w="1472400">
                  <a:extLst>
                    <a:ext uri="{9D8B030D-6E8A-4147-A177-3AD203B41FA5}">
                      <a16:colId xmlns:a16="http://schemas.microsoft.com/office/drawing/2014/main" val="20000"/>
                    </a:ext>
                  </a:extLst>
                </a:gridCol>
                <a:gridCol w="1468800">
                  <a:extLst>
                    <a:ext uri="{9D8B030D-6E8A-4147-A177-3AD203B41FA5}">
                      <a16:colId xmlns:a16="http://schemas.microsoft.com/office/drawing/2014/main" val="20001"/>
                    </a:ext>
                  </a:extLst>
                </a:gridCol>
                <a:gridCol w="1479600">
                  <a:extLst>
                    <a:ext uri="{9D8B030D-6E8A-4147-A177-3AD203B41FA5}">
                      <a16:colId xmlns:a16="http://schemas.microsoft.com/office/drawing/2014/main" val="20002"/>
                    </a:ext>
                  </a:extLst>
                </a:gridCol>
                <a:gridCol w="1602000">
                  <a:extLst>
                    <a:ext uri="{9D8B030D-6E8A-4147-A177-3AD203B41FA5}">
                      <a16:colId xmlns:a16="http://schemas.microsoft.com/office/drawing/2014/main" val="20003"/>
                    </a:ext>
                  </a:extLst>
                </a:gridCol>
                <a:gridCol w="1544400">
                  <a:extLst>
                    <a:ext uri="{9D8B030D-6E8A-4147-A177-3AD203B41FA5}">
                      <a16:colId xmlns:a16="http://schemas.microsoft.com/office/drawing/2014/main" val="20004"/>
                    </a:ext>
                  </a:extLst>
                </a:gridCol>
              </a:tblGrid>
              <a:tr h="489600">
                <a:tc>
                  <a:txBody>
                    <a:bodyPr/>
                    <a:lstStyle/>
                    <a:p>
                      <a:pPr algn="ctr">
                        <a:defRPr sz="1000" b="1">
                          <a:solidFill>
                            <a:srgbClr val="FFFFFF"/>
                          </a:solidFill>
                          <a:latin typeface="Montserrat"/>
                        </a:defRPr>
                      </a:pPr>
                      <a:r>
                        <a:rPr sz="1050"/>
                        <a:t>Medicina Familiar</a:t>
                      </a:r>
                    </a:p>
                  </a:txBody>
                  <a:tcPr anchor="ctr">
                    <a:lnL w="12700" cap="flat" cmpd="sng" algn="ctr">
                      <a:solidFill>
                        <a:schemeClr val="bg2">
                          <a:lumMod val="20000"/>
                          <a:lumOff val="80000"/>
                        </a:schemeClr>
                      </a:solidFill>
                      <a:prstDash val="solid"/>
                      <a:round/>
                      <a:headEnd type="none" w="med" len="med"/>
                      <a:tailEnd type="none" w="med" len="med"/>
                    </a:lnL>
                    <a:lnT w="12700" cap="flat" cmpd="sng" algn="ctr">
                      <a:solidFill>
                        <a:schemeClr val="bg2">
                          <a:lumMod val="20000"/>
                          <a:lumOff val="80000"/>
                        </a:schemeClr>
                      </a:solidFill>
                      <a:prstDash val="solid"/>
                      <a:round/>
                      <a:headEnd type="none" w="med" len="med"/>
                      <a:tailEnd type="none" w="med" len="med"/>
                    </a:lnT>
                    <a:solidFill>
                      <a:srgbClr val="006455"/>
                    </a:solidFill>
                  </a:tcPr>
                </a:tc>
                <a:tc>
                  <a:txBody>
                    <a:bodyPr/>
                    <a:lstStyle/>
                    <a:p>
                      <a:pPr algn="ctr">
                        <a:defRPr sz="1000" b="1">
                          <a:solidFill>
                            <a:srgbClr val="FFFFFF"/>
                          </a:solidFill>
                          <a:latin typeface="Montserrat"/>
                        </a:defRPr>
                      </a:pPr>
                      <a:r>
                        <a:rPr sz="1050"/>
                        <a:t>Especialidades</a:t>
                      </a:r>
                    </a:p>
                  </a:txBody>
                  <a:tcPr anchor="ctr">
                    <a:lnT w="12700" cap="flat" cmpd="sng" algn="ctr">
                      <a:solidFill>
                        <a:schemeClr val="bg2">
                          <a:lumMod val="20000"/>
                          <a:lumOff val="80000"/>
                        </a:schemeClr>
                      </a:solidFill>
                      <a:prstDash val="solid"/>
                      <a:round/>
                      <a:headEnd type="none" w="med" len="med"/>
                      <a:tailEnd type="none" w="med" len="med"/>
                    </a:lnT>
                    <a:solidFill>
                      <a:srgbClr val="006455"/>
                    </a:solidFill>
                  </a:tcPr>
                </a:tc>
                <a:tc>
                  <a:txBody>
                    <a:bodyPr/>
                    <a:lstStyle/>
                    <a:p>
                      <a:pPr algn="ctr">
                        <a:defRPr sz="1000" b="1">
                          <a:solidFill>
                            <a:srgbClr val="FFFFFF"/>
                          </a:solidFill>
                          <a:latin typeface="Montserrat"/>
                        </a:defRPr>
                      </a:pPr>
                      <a:r>
                        <a:rPr sz="1050"/>
                        <a:t>Cirugías</a:t>
                      </a:r>
                    </a:p>
                  </a:txBody>
                  <a:tcPr anchor="ctr">
                    <a:lnT w="12700" cap="flat" cmpd="sng" algn="ctr">
                      <a:solidFill>
                        <a:schemeClr val="bg2">
                          <a:lumMod val="20000"/>
                          <a:lumOff val="80000"/>
                        </a:schemeClr>
                      </a:solidFill>
                      <a:prstDash val="solid"/>
                      <a:round/>
                      <a:headEnd type="none" w="med" len="med"/>
                      <a:tailEnd type="none" w="med" len="med"/>
                    </a:lnT>
                    <a:solidFill>
                      <a:srgbClr val="006455"/>
                    </a:solidFill>
                  </a:tcPr>
                </a:tc>
                <a:tc>
                  <a:txBody>
                    <a:bodyPr/>
                    <a:lstStyle/>
                    <a:p>
                      <a:pPr algn="ctr">
                        <a:defRPr sz="1000" b="1">
                          <a:solidFill>
                            <a:srgbClr val="FFFFFF"/>
                          </a:solidFill>
                          <a:latin typeface="Montserrat"/>
                        </a:defRPr>
                      </a:pPr>
                      <a:r>
                        <a:rPr sz="1050"/>
                        <a:t>Egresos</a:t>
                      </a:r>
                    </a:p>
                  </a:txBody>
                  <a:tcPr anchor="ctr">
                    <a:lnT w="12700" cap="flat" cmpd="sng" algn="ctr">
                      <a:solidFill>
                        <a:schemeClr val="bg2">
                          <a:lumMod val="20000"/>
                          <a:lumOff val="80000"/>
                        </a:schemeClr>
                      </a:solidFill>
                      <a:prstDash val="solid"/>
                      <a:round/>
                      <a:headEnd type="none" w="med" len="med"/>
                      <a:tailEnd type="none" w="med" len="med"/>
                    </a:lnT>
                    <a:solidFill>
                      <a:srgbClr val="006455"/>
                    </a:solidFill>
                  </a:tcPr>
                </a:tc>
                <a:tc>
                  <a:txBody>
                    <a:bodyPr/>
                    <a:lstStyle/>
                    <a:p>
                      <a:pPr algn="ctr">
                        <a:defRPr sz="1000" b="1">
                          <a:solidFill>
                            <a:srgbClr val="FFFFFF"/>
                          </a:solidFill>
                          <a:latin typeface="Montserrat"/>
                        </a:defRPr>
                      </a:pPr>
                      <a:r>
                        <a:rPr sz="1050"/>
                        <a:t>Defunciones</a:t>
                      </a:r>
                    </a:p>
                  </a:txBody>
                  <a:tcPr anchor="ctr">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solidFill>
                      <a:srgbClr val="006455"/>
                    </a:solidFill>
                  </a:tcPr>
                </a:tc>
                <a:extLst>
                  <a:ext uri="{0D108BD9-81ED-4DB2-BD59-A6C34878D82A}">
                    <a16:rowId xmlns:a16="http://schemas.microsoft.com/office/drawing/2014/main" val="10000"/>
                  </a:ext>
                </a:extLst>
              </a:tr>
              <a:tr h="489600">
                <a:tc>
                  <a:txBody>
                    <a:bodyPr/>
                    <a:lstStyle/>
                    <a:p>
                      <a:pPr algn="ctr"/>
                      <a:r>
                        <a:rPr sz="1000" b="0">
                          <a:latin typeface="Montserrat"/>
                        </a:rPr>
                        <a:t>Diabetes mellitus
(236,087)</a:t>
                      </a:r>
                    </a:p>
                  </a:txBody>
                  <a:tcP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r>
                        <a:rPr sz="1000" b="0">
                          <a:latin typeface="Montserrat"/>
                        </a:rPr>
                        <a:t>Tumores malignos
(28,287)</a:t>
                      </a:r>
                    </a:p>
                  </a:txBody>
                  <a:tcPr>
                    <a:solidFill>
                      <a:srgbClr val="FFFFFF"/>
                    </a:solidFill>
                  </a:tcPr>
                </a:tc>
                <a:tc>
                  <a:txBody>
                    <a:bodyPr/>
                    <a:lstStyle/>
                    <a:p>
                      <a:pPr algn="ctr"/>
                      <a:r>
                        <a:rPr sz="1000" b="0">
                          <a:latin typeface="Montserrat"/>
                        </a:rPr>
                        <a:t>Artropatias
(3,794)</a:t>
                      </a:r>
                    </a:p>
                  </a:txBody>
                  <a:tcPr>
                    <a:solidFill>
                      <a:srgbClr val="FFFFFF"/>
                    </a:solidFill>
                  </a:tcPr>
                </a:tc>
                <a:tc>
                  <a:txBody>
                    <a:bodyPr/>
                    <a:lstStyle/>
                    <a:p>
                      <a:pPr algn="ctr"/>
                      <a:r>
                        <a:rPr sz="1000" b="0">
                          <a:latin typeface="Montserrat"/>
                        </a:rPr>
                        <a:t>Embarazo, parto y puerperio
(6,278)</a:t>
                      </a:r>
                    </a:p>
                  </a:txBody>
                  <a:tcPr>
                    <a:solidFill>
                      <a:srgbClr val="FFFFFF"/>
                    </a:solidFill>
                  </a:tcPr>
                </a:tc>
                <a:tc>
                  <a:txBody>
                    <a:bodyPr/>
                    <a:lstStyle/>
                    <a:p>
                      <a:pPr algn="ctr"/>
                      <a:r>
                        <a:rPr sz="1000" b="0">
                          <a:latin typeface="Montserrat"/>
                        </a:rPr>
                        <a:t>Enfermedades del corazón
(467)</a:t>
                      </a:r>
                    </a:p>
                  </a:txBody>
                  <a:tcP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1"/>
                  </a:ext>
                </a:extLst>
              </a:tr>
              <a:tr h="489600">
                <a:tc>
                  <a:txBody>
                    <a:bodyPr/>
                    <a:lstStyle/>
                    <a:p>
                      <a:pPr algn="ctr"/>
                      <a:r>
                        <a:rPr sz="1000" b="0">
                          <a:latin typeface="Montserrat"/>
                        </a:rPr>
                        <a:t>Enfermedades del corazón
(217,484)</a:t>
                      </a:r>
                    </a:p>
                  </a:txBody>
                  <a:tcPr>
                    <a:lnL w="12700" cap="flat" cmpd="sng" algn="ctr">
                      <a:solidFill>
                        <a:schemeClr val="bg2">
                          <a:lumMod val="20000"/>
                          <a:lumOff val="80000"/>
                        </a:schemeClr>
                      </a:solidFill>
                      <a:prstDash val="solid"/>
                      <a:round/>
                      <a:headEnd type="none" w="med" len="med"/>
                      <a:tailEnd type="none" w="med" len="med"/>
                    </a:lnL>
                    <a:solidFill>
                      <a:srgbClr val="EFEFEF"/>
                    </a:solidFill>
                  </a:tcPr>
                </a:tc>
                <a:tc>
                  <a:txBody>
                    <a:bodyPr/>
                    <a:lstStyle/>
                    <a:p>
                      <a:pPr algn="ctr"/>
                      <a:r>
                        <a:rPr sz="1000" b="0" err="1">
                          <a:latin typeface="Montserrat"/>
                        </a:rPr>
                        <a:t>Traumatismos</a:t>
                      </a:r>
                      <a:r>
                        <a:rPr sz="1000" b="0">
                          <a:latin typeface="Montserrat"/>
                        </a:rPr>
                        <a:t> e </a:t>
                      </a:r>
                      <a:r>
                        <a:rPr sz="1000" b="0" err="1">
                          <a:latin typeface="Montserrat"/>
                        </a:rPr>
                        <a:t>intoxicaciones</a:t>
                      </a:r>
                      <a:r>
                        <a:rPr sz="1000" b="0">
                          <a:latin typeface="Montserrat"/>
                        </a:rPr>
                        <a:t>
(19,690)</a:t>
                      </a:r>
                    </a:p>
                  </a:txBody>
                  <a:tcPr>
                    <a:solidFill>
                      <a:srgbClr val="EFEFEF"/>
                    </a:solidFill>
                  </a:tcPr>
                </a:tc>
                <a:tc>
                  <a:txBody>
                    <a:bodyPr/>
                    <a:lstStyle/>
                    <a:p>
                      <a:pPr algn="ctr"/>
                      <a:r>
                        <a:rPr sz="1000" b="0">
                          <a:latin typeface="Montserrat"/>
                        </a:rPr>
                        <a:t>Traumatismos y envenenamientos
(2,541)</a:t>
                      </a:r>
                    </a:p>
                  </a:txBody>
                  <a:tcPr>
                    <a:solidFill>
                      <a:srgbClr val="EFEFEF"/>
                    </a:solidFill>
                  </a:tcPr>
                </a:tc>
                <a:tc>
                  <a:txBody>
                    <a:bodyPr/>
                    <a:lstStyle/>
                    <a:p>
                      <a:pPr algn="ctr"/>
                      <a:r>
                        <a:rPr sz="1000" b="0">
                          <a:latin typeface="Montserrat"/>
                        </a:rPr>
                        <a:t>Enfermedades y trastornos de las articulaciones
(4,531)</a:t>
                      </a:r>
                    </a:p>
                  </a:txBody>
                  <a:tcPr>
                    <a:solidFill>
                      <a:srgbClr val="EFEFEF"/>
                    </a:solidFill>
                  </a:tcPr>
                </a:tc>
                <a:tc>
                  <a:txBody>
                    <a:bodyPr/>
                    <a:lstStyle/>
                    <a:p>
                      <a:pPr algn="ctr"/>
                      <a:r>
                        <a:rPr sz="1000" b="0">
                          <a:latin typeface="Montserrat"/>
                        </a:rPr>
                        <a:t>Tumores malignos
(305)</a:t>
                      </a:r>
                    </a:p>
                  </a:txBody>
                  <a:tcPr>
                    <a:lnR w="12700" cap="flat" cmpd="sng" algn="ctr">
                      <a:solidFill>
                        <a:schemeClr val="bg2">
                          <a:lumMod val="20000"/>
                          <a:lumOff val="80000"/>
                        </a:schemeClr>
                      </a:solidFill>
                      <a:prstDash val="solid"/>
                      <a:round/>
                      <a:headEnd type="none" w="med" len="med"/>
                      <a:tailEnd type="none" w="med" len="med"/>
                    </a:lnR>
                    <a:solidFill>
                      <a:srgbClr val="EFEFEF"/>
                    </a:solidFill>
                  </a:tcPr>
                </a:tc>
                <a:extLst>
                  <a:ext uri="{0D108BD9-81ED-4DB2-BD59-A6C34878D82A}">
                    <a16:rowId xmlns:a16="http://schemas.microsoft.com/office/drawing/2014/main" val="10002"/>
                  </a:ext>
                </a:extLst>
              </a:tr>
              <a:tr h="489600">
                <a:tc>
                  <a:txBody>
                    <a:bodyPr/>
                    <a:lstStyle/>
                    <a:p>
                      <a:pPr algn="ctr"/>
                      <a:r>
                        <a:rPr sz="1000" b="0">
                          <a:latin typeface="Montserrat"/>
                        </a:rPr>
                        <a:t>Infecciones respiratorias agudas
(58,240)</a:t>
                      </a:r>
                    </a:p>
                  </a:txBody>
                  <a:tcP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r>
                        <a:rPr sz="1000" b="0">
                          <a:latin typeface="Montserrat"/>
                        </a:rPr>
                        <a:t>Enfermedades y trastornos de las articulaciones
(18,027)</a:t>
                      </a:r>
                    </a:p>
                  </a:txBody>
                  <a:tcPr>
                    <a:solidFill>
                      <a:srgbClr val="FFFFFF"/>
                    </a:solidFill>
                  </a:tcPr>
                </a:tc>
                <a:tc>
                  <a:txBody>
                    <a:bodyPr/>
                    <a:lstStyle/>
                    <a:p>
                      <a:pPr algn="ctr"/>
                      <a:r>
                        <a:rPr sz="1000" b="0">
                          <a:latin typeface="Montserrat"/>
                        </a:rPr>
                        <a:t>Los demás tumores benignos
(1,364)</a:t>
                      </a:r>
                    </a:p>
                  </a:txBody>
                  <a:tcPr>
                    <a:solidFill>
                      <a:srgbClr val="FFFFFF"/>
                    </a:solidFill>
                  </a:tcPr>
                </a:tc>
                <a:tc>
                  <a:txBody>
                    <a:bodyPr/>
                    <a:lstStyle/>
                    <a:p>
                      <a:pPr algn="ctr"/>
                      <a:r>
                        <a:rPr sz="1000" b="0">
                          <a:latin typeface="Montserrat"/>
                        </a:rPr>
                        <a:t>Traumatismos e intoxicaciones
(3,531)</a:t>
                      </a:r>
                    </a:p>
                  </a:txBody>
                  <a:tcPr>
                    <a:solidFill>
                      <a:srgbClr val="FFFFFF"/>
                    </a:solidFill>
                  </a:tcPr>
                </a:tc>
                <a:tc>
                  <a:txBody>
                    <a:bodyPr/>
                    <a:lstStyle/>
                    <a:p>
                      <a:pPr algn="ctr"/>
                      <a:r>
                        <a:rPr sz="1000" b="0">
                          <a:latin typeface="Montserrat"/>
                        </a:rPr>
                        <a:t>Neumonía e influenza
(287)</a:t>
                      </a:r>
                    </a:p>
                  </a:txBody>
                  <a:tcP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3"/>
                  </a:ext>
                </a:extLst>
              </a:tr>
              <a:tr h="489600">
                <a:tc>
                  <a:txBody>
                    <a:bodyPr/>
                    <a:lstStyle/>
                    <a:p>
                      <a:pPr algn="ctr"/>
                      <a:r>
                        <a:rPr lang="es-MX" sz="1000" b="0">
                          <a:latin typeface="Montserrat"/>
                        </a:rPr>
                        <a:t>T</a:t>
                      </a:r>
                      <a:r>
                        <a:rPr sz="1000" b="0" err="1">
                          <a:latin typeface="Montserrat"/>
                        </a:rPr>
                        <a:t>raumatismos</a:t>
                      </a:r>
                      <a:r>
                        <a:rPr sz="1000" b="0">
                          <a:latin typeface="Montserrat"/>
                        </a:rPr>
                        <a:t> e </a:t>
                      </a:r>
                      <a:r>
                        <a:rPr sz="1000" b="0" err="1">
                          <a:latin typeface="Montserrat"/>
                        </a:rPr>
                        <a:t>intoxicaciones</a:t>
                      </a:r>
                      <a:r>
                        <a:rPr sz="1000" b="0">
                          <a:latin typeface="Montserrat"/>
                        </a:rPr>
                        <a:t>
(36,295)</a:t>
                      </a:r>
                    </a:p>
                  </a:txBody>
                  <a:tcPr>
                    <a:lnL w="12700" cap="flat" cmpd="sng" algn="ctr">
                      <a:solidFill>
                        <a:schemeClr val="bg2">
                          <a:lumMod val="20000"/>
                          <a:lumOff val="80000"/>
                        </a:schemeClr>
                      </a:solidFill>
                      <a:prstDash val="solid"/>
                      <a:round/>
                      <a:headEnd type="none" w="med" len="med"/>
                      <a:tailEnd type="none" w="med" len="med"/>
                    </a:lnL>
                    <a:solidFill>
                      <a:srgbClr val="EFEFEF"/>
                    </a:solidFill>
                  </a:tcPr>
                </a:tc>
                <a:tc>
                  <a:txBody>
                    <a:bodyPr/>
                    <a:lstStyle/>
                    <a:p>
                      <a:pPr algn="ctr"/>
                      <a:r>
                        <a:rPr sz="1000" b="0">
                          <a:latin typeface="Montserrat"/>
                        </a:rPr>
                        <a:t>Enfermedades del corazón
(13,506)</a:t>
                      </a:r>
                    </a:p>
                  </a:txBody>
                  <a:tcPr>
                    <a:solidFill>
                      <a:srgbClr val="EFEFEF"/>
                    </a:solidFill>
                  </a:tcPr>
                </a:tc>
                <a:tc>
                  <a:txBody>
                    <a:bodyPr/>
                    <a:lstStyle/>
                    <a:p>
                      <a:pPr algn="ctr"/>
                      <a:r>
                        <a:rPr sz="1000" b="0">
                          <a:latin typeface="Montserrat"/>
                        </a:rPr>
                        <a:t>Enfermedades de la piel y del tejido subcutáneo
(1,292)</a:t>
                      </a:r>
                    </a:p>
                  </a:txBody>
                  <a:tcPr>
                    <a:solidFill>
                      <a:srgbClr val="EFEFEF"/>
                    </a:solidFill>
                  </a:tcPr>
                </a:tc>
                <a:tc>
                  <a:txBody>
                    <a:bodyPr/>
                    <a:lstStyle/>
                    <a:p>
                      <a:pPr algn="ctr"/>
                      <a:r>
                        <a:rPr sz="1000" b="0">
                          <a:latin typeface="Montserrat"/>
                        </a:rPr>
                        <a:t>Tumores malignos
(2,411)</a:t>
                      </a:r>
                    </a:p>
                  </a:txBody>
                  <a:tcPr>
                    <a:solidFill>
                      <a:srgbClr val="EFEFEF"/>
                    </a:solidFill>
                  </a:tcPr>
                </a:tc>
                <a:tc>
                  <a:txBody>
                    <a:bodyPr/>
                    <a:lstStyle/>
                    <a:p>
                      <a:pPr algn="ctr"/>
                      <a:r>
                        <a:rPr sz="1000" b="0">
                          <a:latin typeface="Montserrat"/>
                        </a:rPr>
                        <a:t>Diabetes mellitus
(259)</a:t>
                      </a:r>
                    </a:p>
                  </a:txBody>
                  <a:tcPr>
                    <a:lnR w="12700" cap="flat" cmpd="sng" algn="ctr">
                      <a:solidFill>
                        <a:schemeClr val="bg2">
                          <a:lumMod val="20000"/>
                          <a:lumOff val="80000"/>
                        </a:schemeClr>
                      </a:solidFill>
                      <a:prstDash val="solid"/>
                      <a:round/>
                      <a:headEnd type="none" w="med" len="med"/>
                      <a:tailEnd type="none" w="med" len="med"/>
                    </a:lnR>
                    <a:solidFill>
                      <a:srgbClr val="EFEFEF"/>
                    </a:solidFill>
                  </a:tcPr>
                </a:tc>
                <a:extLst>
                  <a:ext uri="{0D108BD9-81ED-4DB2-BD59-A6C34878D82A}">
                    <a16:rowId xmlns:a16="http://schemas.microsoft.com/office/drawing/2014/main" val="10004"/>
                  </a:ext>
                </a:extLst>
              </a:tr>
              <a:tr h="489600">
                <a:tc>
                  <a:txBody>
                    <a:bodyPr/>
                    <a:lstStyle/>
                    <a:p>
                      <a:pPr algn="ctr"/>
                      <a:r>
                        <a:rPr sz="1000" b="0">
                          <a:latin typeface="Montserrat"/>
                        </a:rPr>
                        <a:t>Enfermedades y trastornos de las articulaciones
(34,547)</a:t>
                      </a:r>
                    </a:p>
                  </a:txBody>
                  <a:tcPr>
                    <a:lnL w="12700" cap="flat" cmpd="sng" algn="ctr">
                      <a:solidFill>
                        <a:schemeClr val="bg2">
                          <a:lumMod val="20000"/>
                          <a:lumOff val="80000"/>
                        </a:schemeClr>
                      </a:solidFill>
                      <a:prstDash val="solid"/>
                      <a:round/>
                      <a:headEnd type="none" w="med" len="med"/>
                      <a:tailEnd type="none" w="med" len="med"/>
                    </a:lnL>
                    <a:lnB w="12700" cap="flat" cmpd="sng" algn="ctr">
                      <a:solidFill>
                        <a:schemeClr val="bg2">
                          <a:lumMod val="20000"/>
                          <a:lumOff val="80000"/>
                        </a:schemeClr>
                      </a:solidFill>
                      <a:prstDash val="solid"/>
                      <a:round/>
                      <a:headEnd type="none" w="med" len="med"/>
                      <a:tailEnd type="none" w="med" len="med"/>
                    </a:lnB>
                    <a:solidFill>
                      <a:srgbClr val="FFFFFF"/>
                    </a:solidFill>
                  </a:tcPr>
                </a:tc>
                <a:tc>
                  <a:txBody>
                    <a:bodyPr/>
                    <a:lstStyle/>
                    <a:p>
                      <a:pPr algn="ctr"/>
                      <a:r>
                        <a:rPr sz="1000" b="0">
                          <a:latin typeface="Montserrat"/>
                        </a:rPr>
                        <a:t>Problemas y enfermedades de la columna vertebral
(13,249)</a:t>
                      </a:r>
                    </a:p>
                  </a:txBody>
                  <a:tcPr>
                    <a:lnB w="12700" cap="flat" cmpd="sng" algn="ctr">
                      <a:solidFill>
                        <a:schemeClr val="bg2">
                          <a:lumMod val="20000"/>
                          <a:lumOff val="80000"/>
                        </a:schemeClr>
                      </a:solidFill>
                      <a:prstDash val="solid"/>
                      <a:round/>
                      <a:headEnd type="none" w="med" len="med"/>
                      <a:tailEnd type="none" w="med" len="med"/>
                    </a:lnB>
                    <a:solidFill>
                      <a:srgbClr val="FFFFFF"/>
                    </a:solidFill>
                  </a:tcPr>
                </a:tc>
                <a:tc>
                  <a:txBody>
                    <a:bodyPr/>
                    <a:lstStyle/>
                    <a:p>
                      <a:pPr algn="ctr"/>
                      <a:r>
                        <a:rPr sz="1000" b="0">
                          <a:latin typeface="Montserrat"/>
                        </a:rPr>
                        <a:t>Cesárea
(1,141)</a:t>
                      </a:r>
                    </a:p>
                  </a:txBody>
                  <a:tcPr>
                    <a:lnB w="12700" cap="flat" cmpd="sng" algn="ctr">
                      <a:solidFill>
                        <a:schemeClr val="bg2">
                          <a:lumMod val="20000"/>
                          <a:lumOff val="80000"/>
                        </a:schemeClr>
                      </a:solidFill>
                      <a:prstDash val="solid"/>
                      <a:round/>
                      <a:headEnd type="none" w="med" len="med"/>
                      <a:tailEnd type="none" w="med" len="med"/>
                    </a:lnB>
                    <a:solidFill>
                      <a:srgbClr val="FFFFFF"/>
                    </a:solidFill>
                  </a:tcPr>
                </a:tc>
                <a:tc>
                  <a:txBody>
                    <a:bodyPr/>
                    <a:lstStyle/>
                    <a:p>
                      <a:pPr algn="ctr"/>
                      <a:r>
                        <a:rPr sz="1000" b="0">
                          <a:latin typeface="Montserrat"/>
                        </a:rPr>
                        <a:t>Enfermedades del corazón
(2,388)</a:t>
                      </a:r>
                    </a:p>
                  </a:txBody>
                  <a:tcPr>
                    <a:lnB w="12700" cap="flat" cmpd="sng" algn="ctr">
                      <a:solidFill>
                        <a:schemeClr val="bg2">
                          <a:lumMod val="20000"/>
                          <a:lumOff val="80000"/>
                        </a:schemeClr>
                      </a:solidFill>
                      <a:prstDash val="solid"/>
                      <a:round/>
                      <a:headEnd type="none" w="med" len="med"/>
                      <a:tailEnd type="none" w="med" len="med"/>
                    </a:lnB>
                    <a:solidFill>
                      <a:srgbClr val="FFFFFF"/>
                    </a:solidFill>
                  </a:tcPr>
                </a:tc>
                <a:tc>
                  <a:txBody>
                    <a:bodyPr/>
                    <a:lstStyle/>
                    <a:p>
                      <a:pPr algn="ctr"/>
                      <a:r>
                        <a:rPr sz="1000" b="0" err="1">
                          <a:latin typeface="Montserrat"/>
                        </a:rPr>
                        <a:t>Insuficiencia</a:t>
                      </a:r>
                      <a:r>
                        <a:rPr sz="1000" b="0">
                          <a:latin typeface="Montserrat"/>
                        </a:rPr>
                        <a:t> renal
(180)</a:t>
                      </a:r>
                    </a:p>
                  </a:txBody>
                  <a:tcPr>
                    <a:lnR w="12700" cap="flat" cmpd="sng" algn="ctr">
                      <a:solidFill>
                        <a:schemeClr val="bg2">
                          <a:lumMod val="20000"/>
                          <a:lumOff val="80000"/>
                        </a:schemeClr>
                      </a:solidFill>
                      <a:prstDash val="solid"/>
                      <a:round/>
                      <a:headEnd type="none" w="med" len="med"/>
                      <a:tailEnd type="none" w="med" len="med"/>
                    </a:lnR>
                    <a:lnB w="12700" cap="flat" cmpd="sng" algn="ctr">
                      <a:solidFill>
                        <a:schemeClr val="bg2">
                          <a:lumMod val="20000"/>
                          <a:lumOff val="80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345" name="TextBox 344"/>
          <p:cNvSpPr txBox="1"/>
          <p:nvPr/>
        </p:nvSpPr>
        <p:spPr>
          <a:xfrm>
            <a:off x="219600" y="5461471"/>
            <a:ext cx="7000066" cy="432000"/>
          </a:xfrm>
          <a:prstGeom prst="rect">
            <a:avLst/>
          </a:prstGeom>
          <a:noFill/>
        </p:spPr>
        <p:txBody>
          <a:bodyPr wrap="square" lIns="0" tIns="0" rIns="0" bIns="0">
            <a:spAutoFit/>
          </a:bodyPr>
          <a:lstStyle/>
          <a:p>
            <a:pPr algn="l">
              <a:defRPr sz="700">
                <a:solidFill>
                  <a:srgbClr val="000000"/>
                </a:solidFill>
                <a:latin typeface="Montserrat"/>
              </a:defRPr>
            </a:pPr>
            <a:r>
              <a:t>El </a:t>
            </a:r>
            <a:r>
              <a:rPr err="1"/>
              <a:t>número</a:t>
            </a:r>
            <a:r>
              <a:t> de </a:t>
            </a:r>
            <a:r>
              <a:rPr err="1"/>
              <a:t>casos</a:t>
            </a:r>
            <a:r>
              <a:t> se </a:t>
            </a:r>
            <a:r>
              <a:rPr err="1"/>
              <a:t>presentan</a:t>
            </a:r>
            <a:r>
              <a:t> entre </a:t>
            </a:r>
            <a:r>
              <a:rPr err="1"/>
              <a:t>paréntesis</a:t>
            </a:r>
            <a:r>
              <a:t>.</a:t>
            </a:r>
            <a:br>
              <a:rPr/>
            </a:br>
            <a:r>
              <a:t>Fuente: IMSS/DPM/División de Información en Salud/</a:t>
            </a:r>
            <a:r>
              <a:rPr err="1"/>
              <a:t>Motivos</a:t>
            </a:r>
            <a:r>
              <a:t> de Consulta Externa (SUI27).</a:t>
            </a:r>
            <a:br>
              <a:rPr/>
            </a:br>
            <a:r>
              <a:t>Sistema de información Médico </a:t>
            </a:r>
            <a:r>
              <a:rPr err="1"/>
              <a:t>Operativo</a:t>
            </a:r>
            <a:r>
              <a:t> Central (SIMOC).</a:t>
            </a:r>
            <a:br>
              <a:rPr/>
            </a:br>
            <a:r>
              <a:rPr err="1"/>
              <a:t>Periodo</a:t>
            </a:r>
            <a:r>
              <a:t>: enero-</a:t>
            </a:r>
            <a:r>
              <a:rPr err="1"/>
              <a:t>diciembre</a:t>
            </a:r>
            <a:r>
              <a:t> 2025</a:t>
            </a:r>
          </a:p>
        </p:txBody>
      </p:sp>
      <p:sp>
        <p:nvSpPr>
          <p:cNvPr id="346" name="TextBox 345"/>
          <p:cNvSpPr txBox="1"/>
          <p:nvPr/>
        </p:nvSpPr>
        <p:spPr>
          <a:xfrm>
            <a:off x="145197" y="9694729"/>
            <a:ext cx="4244400" cy="107722"/>
          </a:xfrm>
          <a:prstGeom prst="rect">
            <a:avLst/>
          </a:prstGeom>
          <a:noFill/>
        </p:spPr>
        <p:txBody>
          <a:bodyPr wrap="square" lIns="0" tIns="0" rIns="0" bIns="0">
            <a:spAutoFit/>
          </a:bodyPr>
          <a:lstStyle/>
          <a:p>
            <a:pPr algn="l">
              <a:defRPr sz="700">
                <a:solidFill>
                  <a:srgbClr val="000000"/>
                </a:solidFill>
                <a:latin typeface="Montserrat"/>
              </a:defRPr>
            </a:pPr>
            <a:r>
              <a:rPr>
                <a:solidFill>
                  <a:schemeClr val="bg1"/>
                </a:solidFill>
              </a:rPr>
              <a:t>Corte de información: </a:t>
            </a:r>
            <a:r>
              <a:rPr err="1">
                <a:solidFill>
                  <a:schemeClr val="bg1"/>
                </a:solidFill>
              </a:rPr>
              <a:t>marzo</a:t>
            </a:r>
            <a:r>
              <a:rPr>
                <a:solidFill>
                  <a:schemeClr val="bg1"/>
                </a:solidFill>
              </a:rPr>
              <a:t> 2026</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COAHUILA</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mayo de cada año</a:t>
            </a:r>
          </a:p>
        </p:txBody>
      </p:sp>
      <p:pic>
        <p:nvPicPr>
          <p:cNvPr id="6" name="Picture 5" descr="image.png"/>
          <p:cNvPicPr>
            <a:picLocks noChangeAspect="1"/>
          </p:cNvPicPr>
          <p:nvPr/>
        </p:nvPicPr>
        <p:blipFill>
          <a:blip r:embed="rId4"/>
          <a:stretch>
            <a:fillRect/>
          </a:stretch>
        </p:blipFill>
        <p:spPr>
          <a:xfrm>
            <a:off x="122399" y="1717198"/>
            <a:ext cx="7650001" cy="4180681"/>
          </a:xfrm>
          <a:prstGeom prst="rect">
            <a:avLst/>
          </a:prstGeom>
        </p:spPr>
      </p:pic>
      <p:sp>
        <p:nvSpPr>
          <p:cNvPr id="7" name="TextBox 6"/>
          <p:cNvSpPr txBox="1"/>
          <p:nvPr/>
        </p:nvSpPr>
        <p:spPr>
          <a:xfrm>
            <a:off x="457200" y="5786277"/>
            <a:ext cx="6550191" cy="215444"/>
          </a:xfrm>
          <a:prstGeom prst="rect">
            <a:avLst/>
          </a:prstGeom>
          <a:noFill/>
        </p:spPr>
        <p:txBody>
          <a:bodyPr wrap="none">
            <a:spAutoFit/>
          </a:bodyPr>
          <a:lstStyle/>
          <a:p>
            <a:pPr algn="l">
              <a:defRPr sz="800" b="0">
                <a:solidFill>
                  <a:srgbClr val="FFFFFF"/>
                </a:solidFill>
                <a:latin typeface="Montserrat"/>
              </a:defRPr>
            </a:pPr>
            <a:r>
              <a:rPr>
                <a:solidFill>
                  <a:schemeClr val="tx1"/>
                </a:solidFill>
              </a:rPr>
              <a:t>Fuente: Portal de Control de Abasto. En 2026, se </a:t>
            </a:r>
            <a:r>
              <a:rPr err="1">
                <a:solidFill>
                  <a:schemeClr val="tx1"/>
                </a:solidFill>
              </a:rPr>
              <a:t>muestra</a:t>
            </a:r>
            <a:r>
              <a:rPr>
                <a:solidFill>
                  <a:schemeClr val="tx1"/>
                </a:solidFill>
              </a:rPr>
              <a:t> lo </a:t>
            </a:r>
            <a:r>
              <a:rPr err="1">
                <a:solidFill>
                  <a:schemeClr val="tx1"/>
                </a:solidFill>
              </a:rPr>
              <a:t>correspondiente</a:t>
            </a:r>
            <a:r>
              <a:rPr>
                <a:solidFill>
                  <a:schemeClr val="tx1"/>
                </a:solidFill>
              </a:rPr>
              <a:t> al </a:t>
            </a:r>
            <a:r>
              <a:rPr err="1">
                <a:solidFill>
                  <a:schemeClr val="tx1"/>
                </a:solidFill>
              </a:rPr>
              <a:t>periodo</a:t>
            </a:r>
            <a:r>
              <a:rPr>
                <a:solidFill>
                  <a:schemeClr val="tx1"/>
                </a:solidFill>
              </a:rPr>
              <a:t> del 1 de enero al 31 de mayo de 2026.</a:t>
            </a:r>
          </a:p>
        </p:txBody>
      </p:sp>
      <p:sp>
        <p:nvSpPr>
          <p:cNvPr id="8" name="TextBox 7"/>
          <p:cNvSpPr txBox="1"/>
          <p:nvPr/>
        </p:nvSpPr>
        <p:spPr>
          <a:xfrm>
            <a:off x="274320" y="6324714"/>
            <a:ext cx="4572000" cy="365760"/>
          </a:xfrm>
          <a:prstGeom prst="rect">
            <a:avLst/>
          </a:prstGeom>
          <a:noFill/>
        </p:spPr>
        <p:txBody>
          <a:bodyPr wrap="none">
            <a:spAutoFit/>
          </a:bodyPr>
          <a:lstStyle/>
          <a:p>
            <a:pPr algn="l">
              <a:defRPr sz="2000" b="0">
                <a:solidFill>
                  <a:srgbClr val="BC955C"/>
                </a:solidFill>
                <a:latin typeface="Montserrat"/>
              </a:defRPr>
            </a:pPr>
            <a:r>
              <a:rPr err="1"/>
              <a:t>Recetas</a:t>
            </a:r>
            <a:r>
              <a:t> </a:t>
            </a:r>
            <a:r>
              <a:rPr err="1"/>
              <a:t>manuales</a:t>
            </a:r>
            <a:r>
              <a:t> y </a:t>
            </a:r>
            <a:r>
              <a:rPr err="1"/>
              <a:t>electrónicas</a:t>
            </a:r>
            <a:endParaRPr/>
          </a:p>
        </p:txBody>
      </p:sp>
      <p:cxnSp>
        <p:nvCxnSpPr>
          <p:cNvPr id="9" name="Connector 8"/>
          <p:cNvCxnSpPr/>
          <p:nvPr/>
        </p:nvCxnSpPr>
        <p:spPr>
          <a:xfrm>
            <a:off x="274320" y="6855271"/>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extLst>
              <p:ext uri="{D42A27DB-BD31-4B8C-83A1-F6EECF244321}">
                <p14:modId xmlns:p14="http://schemas.microsoft.com/office/powerpoint/2010/main" val="285255592"/>
              </p:ext>
            </p:extLst>
          </p:nvPr>
        </p:nvGraphicFramePr>
        <p:xfrm>
          <a:off x="457200" y="7184866"/>
          <a:ext cx="6858000" cy="1036320"/>
        </p:xfrm>
        <a:graphic>
          <a:graphicData uri="http://schemas.openxmlformats.org/drawingml/2006/table">
            <a:tbl>
              <a:tblPr firstRow="1" bandRow="1">
                <a:tableStyleId>{5C22544A-7EE6-4342-B048-85BDC9FD1C3A}</a:tableStyleId>
              </a:tblPr>
              <a:tblGrid>
                <a:gridCol w="17145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err="1">
                          <a:solidFill>
                            <a:srgbClr val="FFFFFF"/>
                          </a:solidFill>
                          <a:latin typeface="Montserrat"/>
                        </a:rPr>
                        <a:t>Electrónicas</a:t>
                      </a:r>
                      <a:endParaRPr sz="1100" b="1">
                        <a:solidFill>
                          <a:srgbClr val="FFFFFF"/>
                        </a:solidFill>
                        <a:latin typeface="Montserrat"/>
                      </a:endParaRP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extLst>
                  <a:ext uri="{0D108BD9-81ED-4DB2-BD59-A6C34878D82A}">
                    <a16:rowId xmlns:a16="http://schemas.microsoft.com/office/drawing/2014/main" val="10000"/>
                  </a:ext>
                </a:extLst>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313,136</a:t>
                      </a:r>
                    </a:p>
                  </a:txBody>
                  <a:tcPr>
                    <a:solidFill>
                      <a:srgbClr val="FFFFFF"/>
                    </a:solidFill>
                  </a:tcPr>
                </a:tc>
                <a:tc>
                  <a:txBody>
                    <a:bodyPr/>
                    <a:lstStyle/>
                    <a:p>
                      <a:pPr algn="ctr"/>
                      <a:r>
                        <a:rPr sz="1100" b="0">
                          <a:solidFill>
                            <a:srgbClr val="434343"/>
                          </a:solidFill>
                          <a:latin typeface="Montserrat"/>
                        </a:rPr>
                        <a:t>3,441,642</a:t>
                      </a:r>
                    </a:p>
                  </a:txBody>
                  <a:tcPr>
                    <a:solidFill>
                      <a:srgbClr val="FFFFFF"/>
                    </a:solidFill>
                  </a:tcPr>
                </a:tc>
                <a:tc>
                  <a:txBody>
                    <a:bodyPr/>
                    <a:lstStyle/>
                    <a:p>
                      <a:pPr algn="ctr"/>
                      <a:r>
                        <a:rPr sz="1100" b="0">
                          <a:solidFill>
                            <a:srgbClr val="434343"/>
                          </a:solidFill>
                          <a:latin typeface="Montserrat"/>
                        </a:rPr>
                        <a:t>91.7%</a:t>
                      </a:r>
                    </a:p>
                  </a:txBody>
                  <a:tcPr>
                    <a:solidFill>
                      <a:srgbClr val="FFFFFF"/>
                    </a:solidFill>
                  </a:tcPr>
                </a:tc>
                <a:extLst>
                  <a:ext uri="{0D108BD9-81ED-4DB2-BD59-A6C34878D82A}">
                    <a16:rowId xmlns:a16="http://schemas.microsoft.com/office/drawing/2014/main" val="10001"/>
                  </a:ext>
                </a:extLst>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395,243</a:t>
                      </a:r>
                    </a:p>
                  </a:txBody>
                  <a:tcPr>
                    <a:solidFill>
                      <a:srgbClr val="D9D9D9"/>
                    </a:solidFill>
                  </a:tcPr>
                </a:tc>
                <a:tc>
                  <a:txBody>
                    <a:bodyPr/>
                    <a:lstStyle/>
                    <a:p>
                      <a:pPr algn="ctr"/>
                      <a:r>
                        <a:rPr sz="1100" b="1">
                          <a:solidFill>
                            <a:srgbClr val="006455"/>
                          </a:solidFill>
                          <a:latin typeface="Montserrat"/>
                        </a:rPr>
                        <a:t>3,218,912</a:t>
                      </a:r>
                    </a:p>
                  </a:txBody>
                  <a:tcPr>
                    <a:solidFill>
                      <a:srgbClr val="D9D9D9"/>
                    </a:solidFill>
                  </a:tcPr>
                </a:tc>
                <a:tc>
                  <a:txBody>
                    <a:bodyPr/>
                    <a:lstStyle/>
                    <a:p>
                      <a:pPr algn="ctr"/>
                      <a:r>
                        <a:rPr sz="1100" b="1">
                          <a:solidFill>
                            <a:srgbClr val="006455"/>
                          </a:solidFill>
                          <a:latin typeface="Montserrat"/>
                        </a:rPr>
                        <a:t>89.1%</a:t>
                      </a:r>
                    </a:p>
                  </a:txBody>
                  <a:tcPr>
                    <a:solidFill>
                      <a:srgbClr val="D9D9D9"/>
                    </a:solidFill>
                  </a:tcPr>
                </a:tc>
                <a:extLst>
                  <a:ext uri="{0D108BD9-81ED-4DB2-BD59-A6C34878D82A}">
                    <a16:rowId xmlns:a16="http://schemas.microsoft.com/office/drawing/2014/main" val="10002"/>
                  </a:ext>
                </a:extLst>
              </a:tr>
            </a:tbl>
          </a:graphicData>
        </a:graphic>
      </p:graphicFrame>
      <p:sp>
        <p:nvSpPr>
          <p:cNvPr id="11" name="TextBox 10"/>
          <p:cNvSpPr txBox="1"/>
          <p:nvPr/>
        </p:nvSpPr>
        <p:spPr>
          <a:xfrm>
            <a:off x="457200" y="9651600"/>
            <a:ext cx="6858000" cy="274320"/>
          </a:xfrm>
          <a:prstGeom prst="rect">
            <a:avLst/>
          </a:prstGeom>
          <a:noFill/>
        </p:spPr>
        <p:txBody>
          <a:bodyPr wrap="none">
            <a:spAutoFit/>
          </a:bodyPr>
          <a:lstStyle/>
          <a:p>
            <a:pPr algn="l">
              <a:defRPr sz="800" b="0">
                <a:solidFill>
                  <a:srgbClr val="FFFFFF"/>
                </a:solidFill>
                <a:latin typeface="Montserrat"/>
              </a:defRPr>
            </a:pPr>
            <a:r>
              <a:t>Fuente: Portal de Control de Abasto. En 2026, se muestra lo correspondiente al periodo del 1 de enero al 31 de mayo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EE1BA-56C1-5770-883F-3463B17D578E}"/>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COAHUILA</a:t>
            </a:r>
          </a:p>
        </p:txBody>
      </p:sp>
      <p:sp>
        <p:nvSpPr>
          <p:cNvPr id="3" name="TextBox 2"/>
          <p:cNvSpPr txBox="1"/>
          <p:nvPr/>
        </p:nvSpPr>
        <p:spPr>
          <a:xfrm>
            <a:off x="180000" y="691222"/>
            <a:ext cx="5400000" cy="324000"/>
          </a:xfrm>
          <a:prstGeom prst="rect">
            <a:avLst/>
          </a:prstGeom>
          <a:noFill/>
        </p:spPr>
        <p:txBody>
          <a:bodyPr wrap="none" lIns="0" tIns="0" rIns="0" bIns="0">
            <a:spAutoFit/>
          </a:bodyPr>
          <a:lstStyle/>
          <a:p>
            <a:pPr algn="l">
              <a:defRPr sz="2000" b="1">
                <a:solidFill>
                  <a:srgbClr val="BC955C"/>
                </a:solidFill>
                <a:latin typeface="Montserrat"/>
              </a:defRPr>
            </a:pPr>
            <a:r>
              <a:t>Abasto de </a:t>
            </a:r>
            <a:r>
              <a:rPr err="1"/>
              <a:t>Medicamentos</a:t>
            </a:r>
            <a:endParaRPr/>
          </a:p>
        </p:txBody>
      </p:sp>
      <p:sp>
        <p:nvSpPr>
          <p:cNvPr id="4" name="TextBox 3"/>
          <p:cNvSpPr txBox="1"/>
          <p:nvPr/>
        </p:nvSpPr>
        <p:spPr>
          <a:xfrm>
            <a:off x="180000" y="1036044"/>
            <a:ext cx="5400000" cy="251999"/>
          </a:xfrm>
          <a:prstGeom prst="rect">
            <a:avLst/>
          </a:prstGeom>
          <a:noFill/>
        </p:spPr>
        <p:txBody>
          <a:bodyPr wrap="none" lIns="0" tIns="0" rIns="0" bIns="0">
            <a:spAutoFit/>
          </a:bodyPr>
          <a:lstStyle/>
          <a:p>
            <a:pPr algn="l">
              <a:defRPr sz="1500" b="0">
                <a:solidFill>
                  <a:srgbClr val="BC955C"/>
                </a:solidFill>
                <a:latin typeface="Montserrat"/>
              </a:defRPr>
            </a:pPr>
            <a:r>
              <a:rPr err="1"/>
              <a:t>Piezas</a:t>
            </a:r>
            <a:r>
              <a:t> </a:t>
            </a:r>
            <a:r>
              <a:rPr err="1"/>
              <a:t>consumidas</a:t>
            </a:r>
            <a:endParaRPr/>
          </a:p>
        </p:txBody>
      </p:sp>
      <p:cxnSp>
        <p:nvCxnSpPr>
          <p:cNvPr id="5" name="Connector 4"/>
          <p:cNvCxnSpPr/>
          <p:nvPr/>
        </p:nvCxnSpPr>
        <p:spPr>
          <a:xfrm>
            <a:off x="180000" y="13607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05.png"/>
          <p:cNvPicPr>
            <a:picLocks noChangeAspect="1"/>
          </p:cNvPicPr>
          <p:nvPr/>
        </p:nvPicPr>
        <p:blipFill>
          <a:blip r:embed="rId2"/>
          <a:stretch>
            <a:fillRect/>
          </a:stretch>
        </p:blipFill>
        <p:spPr>
          <a:xfrm>
            <a:off x="129600" y="1475997"/>
            <a:ext cx="7441200" cy="2522795"/>
          </a:xfrm>
          <a:prstGeom prst="rect">
            <a:avLst/>
          </a:prstGeom>
        </p:spPr>
      </p:pic>
      <p:sp>
        <p:nvSpPr>
          <p:cNvPr id="7" name="TextBox 6"/>
          <p:cNvSpPr txBox="1"/>
          <p:nvPr/>
        </p:nvSpPr>
        <p:spPr>
          <a:xfrm>
            <a:off x="180000" y="4425070"/>
            <a:ext cx="6840000" cy="288000"/>
          </a:xfrm>
          <a:prstGeom prst="rect">
            <a:avLst/>
          </a:prstGeom>
          <a:noFill/>
        </p:spPr>
        <p:txBody>
          <a:bodyPr wrap="none" lIns="0" tIns="0" rIns="0" bIns="0">
            <a:spAutoFit/>
          </a:bodyPr>
          <a:lstStyle/>
          <a:p>
            <a:pPr algn="l">
              <a:defRPr sz="1800" b="0">
                <a:solidFill>
                  <a:srgbClr val="BC955C"/>
                </a:solidFill>
                <a:latin typeface="Montserrat"/>
              </a:defRPr>
            </a:pPr>
            <a:r>
              <a:rPr err="1"/>
              <a:t>Medicamentos</a:t>
            </a:r>
            <a:r>
              <a:t> con mayor </a:t>
            </a:r>
            <a:r>
              <a:rPr err="1"/>
              <a:t>demanda</a:t>
            </a:r>
            <a:endParaRPr/>
          </a:p>
        </p:txBody>
      </p:sp>
      <p:cxnSp>
        <p:nvCxnSpPr>
          <p:cNvPr id="8" name="Connector 7"/>
          <p:cNvCxnSpPr/>
          <p:nvPr/>
        </p:nvCxnSpPr>
        <p:spPr>
          <a:xfrm>
            <a:off x="129600" y="4870046"/>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extLst>
              <p:ext uri="{D42A27DB-BD31-4B8C-83A1-F6EECF244321}">
                <p14:modId xmlns:p14="http://schemas.microsoft.com/office/powerpoint/2010/main" val="74946588"/>
              </p:ext>
            </p:extLst>
          </p:nvPr>
        </p:nvGraphicFramePr>
        <p:xfrm>
          <a:off x="180000" y="5184000"/>
          <a:ext cx="7200000" cy="3083261"/>
        </p:xfrm>
        <a:graphic>
          <a:graphicData uri="http://schemas.openxmlformats.org/drawingml/2006/table">
            <a:tbl>
              <a:tblPr firstRow="1" bandRow="1">
                <a:tableStyleId>{5C22544A-7EE6-4342-B048-85BDC9FD1C3A}</a:tableStyleId>
              </a:tblPr>
              <a:tblGrid>
                <a:gridCol w="540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tblGrid>
              <a:tr h="272238">
                <a:tc gridSpan="2">
                  <a:txBody>
                    <a:bodyPr/>
                    <a:lstStyle/>
                    <a:p>
                      <a:pPr algn="ctr">
                        <a:defRPr sz="1000" b="1">
                          <a:solidFill>
                            <a:srgbClr val="FFFFFF"/>
                          </a:solidFill>
                          <a:latin typeface="Montserrat"/>
                        </a:defRPr>
                      </a:pPr>
                      <a:r>
                        <a:rPr sz="1200"/>
                        <a:t>Con mayor </a:t>
                      </a:r>
                      <a:r>
                        <a:rPr sz="1200" err="1"/>
                        <a:t>demanda</a:t>
                      </a:r>
                      <a:r>
                        <a:rPr sz="1200"/>
                        <a:t> de enero a </a:t>
                      </a:r>
                      <a:r>
                        <a:rPr lang="es-MX" sz="1200"/>
                        <a:t>mayo</a:t>
                      </a:r>
                      <a:r>
                        <a:rPr sz="1200"/>
                        <a:t> de 2026</a:t>
                      </a:r>
                    </a:p>
                  </a:txBody>
                  <a:tcPr marL="18000" marR="18000" marT="18000" marB="18000" anchor="ctr">
                    <a:solidFill>
                      <a:srgbClr val="006455"/>
                    </a:solidFill>
                  </a:tcPr>
                </a:tc>
                <a:tc hMerge="1">
                  <a:txBody>
                    <a:bodyPr/>
                    <a:lstStyle/>
                    <a:p>
                      <a:endParaRPr/>
                    </a:p>
                  </a:txBody>
                  <a:tcPr/>
                </a:tc>
                <a:extLst>
                  <a:ext uri="{0D108BD9-81ED-4DB2-BD59-A6C34878D82A}">
                    <a16:rowId xmlns:a16="http://schemas.microsoft.com/office/drawing/2014/main" val="10000"/>
                  </a:ext>
                </a:extLst>
              </a:tr>
              <a:tr h="296987">
                <a:tc>
                  <a:txBody>
                    <a:bodyPr/>
                    <a:lstStyle/>
                    <a:p>
                      <a:pPr algn="ctr">
                        <a:defRPr sz="900" b="1">
                          <a:solidFill>
                            <a:srgbClr val="FFFFFF"/>
                          </a:solidFill>
                          <a:latin typeface="Montserrat"/>
                        </a:defRPr>
                      </a:pPr>
                      <a:r>
                        <a:rPr sz="1100"/>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rPr sz="1100"/>
                        <a:t>Consumo</a:t>
                      </a:r>
                    </a:p>
                  </a:txBody>
                  <a:tcPr marL="18000" marR="18000" marT="18000" marB="18000" anchor="ctr">
                    <a:solidFill>
                      <a:srgbClr val="006455"/>
                    </a:solidFill>
                  </a:tcPr>
                </a:tc>
                <a:extLst>
                  <a:ext uri="{0D108BD9-81ED-4DB2-BD59-A6C34878D82A}">
                    <a16:rowId xmlns:a16="http://schemas.microsoft.com/office/drawing/2014/main" val="10001"/>
                  </a:ext>
                </a:extLst>
              </a:tr>
              <a:tr h="238084">
                <a:tc>
                  <a:txBody>
                    <a:bodyPr/>
                    <a:lstStyle/>
                    <a:p>
                      <a:pPr algn="l">
                        <a:defRPr sz="900" b="0">
                          <a:solidFill>
                            <a:srgbClr val="333333"/>
                          </a:solidFill>
                          <a:latin typeface="Montserrat"/>
                        </a:defRPr>
                      </a:pPr>
                      <a:r>
                        <a:rPr sz="1100"/>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rPr sz="1100"/>
                        <a:t>1,049,356</a:t>
                      </a:r>
                    </a:p>
                  </a:txBody>
                  <a:tcPr marL="18000" marR="18000" marT="18000" marB="18000" anchor="ctr">
                    <a:solidFill>
                      <a:srgbClr val="F2F2F2"/>
                    </a:solidFill>
                  </a:tcPr>
                </a:tc>
                <a:extLst>
                  <a:ext uri="{0D108BD9-81ED-4DB2-BD59-A6C34878D82A}">
                    <a16:rowId xmlns:a16="http://schemas.microsoft.com/office/drawing/2014/main" val="10002"/>
                  </a:ext>
                </a:extLst>
              </a:tr>
              <a:tr h="238084">
                <a:tc>
                  <a:txBody>
                    <a:bodyPr/>
                    <a:lstStyle/>
                    <a:p>
                      <a:pPr algn="l">
                        <a:defRPr sz="900" b="0">
                          <a:solidFill>
                            <a:srgbClr val="333333"/>
                          </a:solidFill>
                          <a:latin typeface="Montserrat"/>
                        </a:defRPr>
                      </a:pPr>
                      <a:r>
                        <a:rPr sz="1100"/>
                        <a:t>Losartán, gragea o comprimido recubierto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rPr sz="1100"/>
                        <a:t>530,601</a:t>
                      </a:r>
                    </a:p>
                  </a:txBody>
                  <a:tcPr marL="18000" marR="18000" marT="18000" marB="18000" anchor="ctr">
                    <a:solidFill>
                      <a:srgbClr val="FFFFFF"/>
                    </a:solidFill>
                  </a:tcPr>
                </a:tc>
                <a:extLst>
                  <a:ext uri="{0D108BD9-81ED-4DB2-BD59-A6C34878D82A}">
                    <a16:rowId xmlns:a16="http://schemas.microsoft.com/office/drawing/2014/main" val="10003"/>
                  </a:ext>
                </a:extLst>
              </a:tr>
              <a:tr h="238084">
                <a:tc>
                  <a:txBody>
                    <a:bodyPr/>
                    <a:lstStyle/>
                    <a:p>
                      <a:pPr algn="l">
                        <a:defRPr sz="900" b="0">
                          <a:solidFill>
                            <a:srgbClr val="333333"/>
                          </a:solidFill>
                          <a:latin typeface="Montserrat"/>
                        </a:defRPr>
                      </a:pPr>
                      <a:r>
                        <a:rPr sz="1100"/>
                        <a:t>Celecoxib, cápsula (antiinflamatorio)</a:t>
                      </a:r>
                    </a:p>
                  </a:txBody>
                  <a:tcPr marL="18000" marR="18000" marT="18000" marB="18000" anchor="ctr">
                    <a:solidFill>
                      <a:srgbClr val="F2F2F2"/>
                    </a:solidFill>
                  </a:tcPr>
                </a:tc>
                <a:tc>
                  <a:txBody>
                    <a:bodyPr/>
                    <a:lstStyle/>
                    <a:p>
                      <a:pPr algn="ctr">
                        <a:defRPr sz="900" b="0">
                          <a:solidFill>
                            <a:srgbClr val="333333"/>
                          </a:solidFill>
                          <a:latin typeface="Montserrat"/>
                        </a:defRPr>
                      </a:pPr>
                      <a:r>
                        <a:rPr sz="1100"/>
                        <a:t>379,065</a:t>
                      </a:r>
                    </a:p>
                  </a:txBody>
                  <a:tcPr marL="18000" marR="18000" marT="18000" marB="18000" anchor="ctr">
                    <a:solidFill>
                      <a:srgbClr val="F2F2F2"/>
                    </a:solidFill>
                  </a:tcPr>
                </a:tc>
                <a:extLst>
                  <a:ext uri="{0D108BD9-81ED-4DB2-BD59-A6C34878D82A}">
                    <a16:rowId xmlns:a16="http://schemas.microsoft.com/office/drawing/2014/main" val="10004"/>
                  </a:ext>
                </a:extLst>
              </a:tr>
              <a:tr h="238084">
                <a:tc>
                  <a:txBody>
                    <a:bodyPr/>
                    <a:lstStyle/>
                    <a:p>
                      <a:pPr algn="l">
                        <a:defRPr sz="900" b="0">
                          <a:solidFill>
                            <a:srgbClr val="333333"/>
                          </a:solidFill>
                          <a:latin typeface="Montserrat"/>
                        </a:defRPr>
                      </a:pPr>
                      <a:r>
                        <a:rPr sz="1100"/>
                        <a:t>Metformina,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rPr sz="1100"/>
                        <a:t>319,889</a:t>
                      </a:r>
                    </a:p>
                  </a:txBody>
                  <a:tcPr marL="18000" marR="18000" marT="18000" marB="18000" anchor="ctr">
                    <a:solidFill>
                      <a:srgbClr val="FFFFFF"/>
                    </a:solidFill>
                  </a:tcPr>
                </a:tc>
                <a:extLst>
                  <a:ext uri="{0D108BD9-81ED-4DB2-BD59-A6C34878D82A}">
                    <a16:rowId xmlns:a16="http://schemas.microsoft.com/office/drawing/2014/main" val="10005"/>
                  </a:ext>
                </a:extLst>
              </a:tr>
              <a:tr h="238084">
                <a:tc>
                  <a:txBody>
                    <a:bodyPr/>
                    <a:lstStyle/>
                    <a:p>
                      <a:pPr algn="l">
                        <a:defRPr sz="900" b="0">
                          <a:solidFill>
                            <a:srgbClr val="333333"/>
                          </a:solidFill>
                          <a:latin typeface="Montserrat"/>
                        </a:defRPr>
                      </a:pPr>
                      <a:r>
                        <a:rPr sz="1100"/>
                        <a:t>Telmisartán, tableta (antihipertensivo)</a:t>
                      </a:r>
                    </a:p>
                  </a:txBody>
                  <a:tcPr marL="18000" marR="18000" marT="18000" marB="18000" anchor="ctr">
                    <a:solidFill>
                      <a:srgbClr val="F2F2F2"/>
                    </a:solidFill>
                  </a:tcPr>
                </a:tc>
                <a:tc>
                  <a:txBody>
                    <a:bodyPr/>
                    <a:lstStyle/>
                    <a:p>
                      <a:pPr algn="ctr">
                        <a:defRPr sz="900" b="0">
                          <a:solidFill>
                            <a:srgbClr val="333333"/>
                          </a:solidFill>
                          <a:latin typeface="Montserrat"/>
                        </a:defRPr>
                      </a:pPr>
                      <a:r>
                        <a:rPr sz="1100"/>
                        <a:t>306,724</a:t>
                      </a:r>
                    </a:p>
                  </a:txBody>
                  <a:tcPr marL="18000" marR="18000" marT="18000" marB="18000" anchor="ctr">
                    <a:solidFill>
                      <a:srgbClr val="F2F2F2"/>
                    </a:solidFill>
                  </a:tcPr>
                </a:tc>
                <a:extLst>
                  <a:ext uri="{0D108BD9-81ED-4DB2-BD59-A6C34878D82A}">
                    <a16:rowId xmlns:a16="http://schemas.microsoft.com/office/drawing/2014/main" val="10006"/>
                  </a:ext>
                </a:extLst>
              </a:tr>
              <a:tr h="238084">
                <a:tc>
                  <a:txBody>
                    <a:bodyPr/>
                    <a:lstStyle/>
                    <a:p>
                      <a:pPr algn="l">
                        <a:defRPr sz="900" b="0">
                          <a:solidFill>
                            <a:srgbClr val="333333"/>
                          </a:solidFill>
                          <a:latin typeface="Montserrat"/>
                        </a:defRPr>
                      </a:pPr>
                      <a:r>
                        <a:rPr sz="1100" err="1"/>
                        <a:t>Hidroclorotiazida</a:t>
                      </a:r>
                      <a:r>
                        <a:rPr sz="1100"/>
                        <a:t>, </a:t>
                      </a:r>
                      <a:r>
                        <a:rPr sz="1100" err="1"/>
                        <a:t>tableta</a:t>
                      </a:r>
                      <a:r>
                        <a:rPr sz="1100"/>
                        <a:t> (</a:t>
                      </a:r>
                      <a:r>
                        <a:rPr sz="1100" err="1"/>
                        <a:t>diurético</a:t>
                      </a:r>
                      <a:r>
                        <a:rPr sz="1100"/>
                        <a:t>)</a:t>
                      </a:r>
                    </a:p>
                  </a:txBody>
                  <a:tcPr marL="18000" marR="18000" marT="18000" marB="18000" anchor="ctr">
                    <a:solidFill>
                      <a:srgbClr val="FFFFFF"/>
                    </a:solidFill>
                  </a:tcPr>
                </a:tc>
                <a:tc>
                  <a:txBody>
                    <a:bodyPr/>
                    <a:lstStyle/>
                    <a:p>
                      <a:pPr algn="ctr">
                        <a:defRPr sz="900" b="0">
                          <a:solidFill>
                            <a:srgbClr val="333333"/>
                          </a:solidFill>
                          <a:latin typeface="Montserrat"/>
                        </a:defRPr>
                      </a:pPr>
                      <a:r>
                        <a:rPr sz="1100"/>
                        <a:t>284,827</a:t>
                      </a:r>
                    </a:p>
                  </a:txBody>
                  <a:tcPr marL="18000" marR="18000" marT="18000" marB="18000" anchor="ctr">
                    <a:solidFill>
                      <a:srgbClr val="FFFFFF"/>
                    </a:solidFill>
                  </a:tcPr>
                </a:tc>
                <a:extLst>
                  <a:ext uri="{0D108BD9-81ED-4DB2-BD59-A6C34878D82A}">
                    <a16:rowId xmlns:a16="http://schemas.microsoft.com/office/drawing/2014/main" val="10007"/>
                  </a:ext>
                </a:extLst>
              </a:tr>
              <a:tr h="238084">
                <a:tc>
                  <a:txBody>
                    <a:bodyPr/>
                    <a:lstStyle/>
                    <a:p>
                      <a:pPr algn="l">
                        <a:defRPr sz="900" b="0">
                          <a:solidFill>
                            <a:srgbClr val="333333"/>
                          </a:solidFill>
                          <a:latin typeface="Montserrat"/>
                        </a:defRPr>
                      </a:pPr>
                      <a:r>
                        <a:rPr sz="1100"/>
                        <a:t>Dapagliflozina,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rPr sz="1100"/>
                        <a:t>281,064</a:t>
                      </a:r>
                    </a:p>
                  </a:txBody>
                  <a:tcPr marL="18000" marR="18000" marT="18000" marB="18000" anchor="ctr">
                    <a:solidFill>
                      <a:srgbClr val="F2F2F2"/>
                    </a:solidFill>
                  </a:tcPr>
                </a:tc>
                <a:extLst>
                  <a:ext uri="{0D108BD9-81ED-4DB2-BD59-A6C34878D82A}">
                    <a16:rowId xmlns:a16="http://schemas.microsoft.com/office/drawing/2014/main" val="10008"/>
                  </a:ext>
                </a:extLst>
              </a:tr>
              <a:tr h="238084">
                <a:tc>
                  <a:txBody>
                    <a:bodyPr/>
                    <a:lstStyle/>
                    <a:p>
                      <a:pPr algn="l">
                        <a:defRPr sz="900" b="0">
                          <a:solidFill>
                            <a:srgbClr val="333333"/>
                          </a:solidFill>
                          <a:latin typeface="Montserrat"/>
                        </a:defRPr>
                      </a:pPr>
                      <a:r>
                        <a:rPr sz="1100"/>
                        <a:t>Gabapentina, cápsula (antiepiléptico)                                                                                                                                                                </a:t>
                      </a:r>
                    </a:p>
                  </a:txBody>
                  <a:tcPr marL="18000" marR="18000" marT="18000" marB="18000" anchor="ctr">
                    <a:solidFill>
                      <a:srgbClr val="FFFFFF"/>
                    </a:solidFill>
                  </a:tcPr>
                </a:tc>
                <a:tc>
                  <a:txBody>
                    <a:bodyPr/>
                    <a:lstStyle/>
                    <a:p>
                      <a:pPr algn="ctr">
                        <a:defRPr sz="900" b="0">
                          <a:solidFill>
                            <a:srgbClr val="333333"/>
                          </a:solidFill>
                          <a:latin typeface="Montserrat"/>
                        </a:defRPr>
                      </a:pPr>
                      <a:r>
                        <a:rPr sz="1100"/>
                        <a:t>278,877</a:t>
                      </a:r>
                    </a:p>
                  </a:txBody>
                  <a:tcPr marL="18000" marR="18000" marT="18000" marB="18000" anchor="ctr">
                    <a:solidFill>
                      <a:srgbClr val="FFFFFF"/>
                    </a:solidFill>
                  </a:tcPr>
                </a:tc>
                <a:extLst>
                  <a:ext uri="{0D108BD9-81ED-4DB2-BD59-A6C34878D82A}">
                    <a16:rowId xmlns:a16="http://schemas.microsoft.com/office/drawing/2014/main" val="10009"/>
                  </a:ext>
                </a:extLst>
              </a:tr>
              <a:tr h="238084">
                <a:tc>
                  <a:txBody>
                    <a:bodyPr/>
                    <a:lstStyle/>
                    <a:p>
                      <a:pPr algn="l">
                        <a:defRPr sz="900" b="0">
                          <a:solidFill>
                            <a:srgbClr val="333333"/>
                          </a:solidFill>
                          <a:latin typeface="Montserrat"/>
                        </a:defRPr>
                      </a:pPr>
                      <a:r>
                        <a:rPr sz="1100"/>
                        <a:t>Pantoprazol o Rabeprazol u Omeprazol, tableta o gragea o cápsula (antiácido)                       </a:t>
                      </a:r>
                    </a:p>
                  </a:txBody>
                  <a:tcPr marL="18000" marR="18000" marT="18000" marB="18000" anchor="ctr">
                    <a:solidFill>
                      <a:srgbClr val="F2F2F2"/>
                    </a:solidFill>
                  </a:tcPr>
                </a:tc>
                <a:tc>
                  <a:txBody>
                    <a:bodyPr/>
                    <a:lstStyle/>
                    <a:p>
                      <a:pPr algn="ctr">
                        <a:defRPr sz="900" b="0">
                          <a:solidFill>
                            <a:srgbClr val="333333"/>
                          </a:solidFill>
                          <a:latin typeface="Montserrat"/>
                        </a:defRPr>
                      </a:pPr>
                      <a:r>
                        <a:rPr sz="1100"/>
                        <a:t>257,592</a:t>
                      </a:r>
                    </a:p>
                  </a:txBody>
                  <a:tcPr marL="18000" marR="18000" marT="18000" marB="18000" anchor="ctr">
                    <a:solidFill>
                      <a:srgbClr val="F2F2F2"/>
                    </a:solidFill>
                  </a:tcPr>
                </a:tc>
                <a:extLst>
                  <a:ext uri="{0D108BD9-81ED-4DB2-BD59-A6C34878D82A}">
                    <a16:rowId xmlns:a16="http://schemas.microsoft.com/office/drawing/2014/main" val="10010"/>
                  </a:ext>
                </a:extLst>
              </a:tr>
              <a:tr h="238084">
                <a:tc>
                  <a:txBody>
                    <a:bodyPr/>
                    <a:lstStyle/>
                    <a:p>
                      <a:pPr algn="l">
                        <a:defRPr sz="900" b="0">
                          <a:solidFill>
                            <a:srgbClr val="333333"/>
                          </a:solidFill>
                          <a:latin typeface="Montserrat"/>
                        </a:defRPr>
                      </a:pPr>
                      <a:r>
                        <a:rPr sz="1100" err="1"/>
                        <a:t>Cloruro</a:t>
                      </a:r>
                      <a:r>
                        <a:rPr sz="1100"/>
                        <a:t> de sodio, </a:t>
                      </a:r>
                      <a:r>
                        <a:rPr sz="1100" err="1"/>
                        <a:t>solución</a:t>
                      </a:r>
                      <a:r>
                        <a:rPr sz="1100"/>
                        <a:t> </a:t>
                      </a:r>
                      <a:r>
                        <a:rPr sz="1100" err="1"/>
                        <a:t>inyectable</a:t>
                      </a:r>
                      <a:r>
                        <a:rPr sz="1100"/>
                        <a:t> al 0.9% (</a:t>
                      </a:r>
                      <a:r>
                        <a:rPr sz="1100" err="1"/>
                        <a:t>hidratación</a:t>
                      </a:r>
                      <a:r>
                        <a:rPr sz="1100"/>
                        <a:t>)                                                                        </a:t>
                      </a:r>
                    </a:p>
                  </a:txBody>
                  <a:tcPr marL="18000" marR="18000" marT="18000" marB="18000" anchor="ctr">
                    <a:solidFill>
                      <a:srgbClr val="FFFFFF"/>
                    </a:solidFill>
                  </a:tcPr>
                </a:tc>
                <a:tc>
                  <a:txBody>
                    <a:bodyPr/>
                    <a:lstStyle/>
                    <a:p>
                      <a:pPr algn="ctr">
                        <a:defRPr sz="900" b="0">
                          <a:solidFill>
                            <a:srgbClr val="333333"/>
                          </a:solidFill>
                          <a:latin typeface="Montserrat"/>
                        </a:defRPr>
                      </a:pPr>
                      <a:r>
                        <a:rPr sz="1100"/>
                        <a:t>254,656</a:t>
                      </a:r>
                    </a:p>
                  </a:txBody>
                  <a:tcPr marL="18000" marR="18000" marT="18000" marB="18000" anchor="ctr">
                    <a:solidFill>
                      <a:srgbClr val="FFFFFF"/>
                    </a:solidFill>
                  </a:tcPr>
                </a:tc>
                <a:extLst>
                  <a:ext uri="{0D108BD9-81ED-4DB2-BD59-A6C34878D82A}">
                    <a16:rowId xmlns:a16="http://schemas.microsoft.com/office/drawing/2014/main" val="10011"/>
                  </a:ext>
                </a:extLst>
              </a:tr>
            </a:tbl>
          </a:graphicData>
        </a:graphic>
      </p:graphicFrame>
      <p:sp>
        <p:nvSpPr>
          <p:cNvPr id="10" name="TextBox 9"/>
          <p:cNvSpPr txBox="1"/>
          <p:nvPr/>
        </p:nvSpPr>
        <p:spPr>
          <a:xfrm>
            <a:off x="457200" y="9651600"/>
            <a:ext cx="6858000" cy="123111"/>
          </a:xfrm>
          <a:prstGeom prst="rect">
            <a:avLst/>
          </a:prstGeom>
          <a:noFill/>
        </p:spPr>
        <p:txBody>
          <a:bodyPr wrap="square" lIns="0" tIns="0" rIns="0" bIns="0">
            <a:spAutoFit/>
          </a:bodyPr>
          <a:lstStyle/>
          <a:p>
            <a:pPr algn="l">
              <a:defRPr sz="800">
                <a:solidFill>
                  <a:srgbClr val="FFFFFF"/>
                </a:solidFill>
                <a:latin typeface="Montserrat"/>
              </a:defRPr>
            </a:pPr>
            <a:r>
              <a:t>Fuente: Portal de Control de Abasto. En 2026, se </a:t>
            </a:r>
            <a:r>
              <a:rPr err="1"/>
              <a:t>muestra</a:t>
            </a:r>
            <a:r>
              <a:t> lo </a:t>
            </a:r>
            <a:r>
              <a:rPr err="1"/>
              <a:t>correspondiente</a:t>
            </a:r>
            <a:r>
              <a:t> al </a:t>
            </a:r>
            <a:r>
              <a:rPr err="1"/>
              <a:t>periodo</a:t>
            </a:r>
            <a:r>
              <a:t> del 1 de enero al 3</a:t>
            </a:r>
            <a:r>
              <a:rPr lang="es-MX"/>
              <a:t>1 de mayo </a:t>
            </a:r>
            <a:r>
              <a:t>de 2026.</a:t>
            </a:r>
          </a:p>
        </p:txBody>
      </p:sp>
    </p:spTree>
    <p:extLst>
      <p:ext uri="{BB962C8B-B14F-4D97-AF65-F5344CB8AC3E}">
        <p14:creationId xmlns:p14="http://schemas.microsoft.com/office/powerpoint/2010/main" val="16642251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Acciones 2025</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02365"/>
            <a:ext cx="1599000" cy="770400"/>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3899625" y="9461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b="1" i="0" u="none" strike="noStrike" kern="0" cap="none" spc="0" normalizeH="0" baseline="0" noProof="0">
                <a:ln>
                  <a:noFill/>
                </a:ln>
                <a:solidFill>
                  <a:srgbClr val="BC955C"/>
                </a:solidFill>
                <a:effectLst/>
                <a:uLnTx/>
                <a:uFillTx/>
                <a:latin typeface="Montserrat"/>
                <a:ea typeface="Montserrat"/>
                <a:cs typeface="Montserrat"/>
                <a:sym typeface="Montserrat"/>
              </a:rPr>
              <a:t> ¿Qué se hizo? </a:t>
            </a:r>
            <a:endParaRPr kumimoji="0" b="1" i="0" u="none" strike="noStrike" kern="0" cap="none" spc="0" normalizeH="0" baseline="0" noProof="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b="1" i="0" u="none" strike="noStrike" kern="0" cap="none" spc="0" normalizeH="0" baseline="0" noProof="0">
                <a:ln>
                  <a:noFill/>
                </a:ln>
                <a:solidFill>
                  <a:srgbClr val="BC955C"/>
                </a:solidFill>
                <a:effectLst/>
                <a:uLnTx/>
                <a:uFillTx/>
                <a:latin typeface="Montserrat"/>
                <a:ea typeface="Montserrat"/>
                <a:cs typeface="Montserrat"/>
                <a:sym typeface="Montserrat"/>
              </a:rPr>
              <a:t>2025</a:t>
            </a:r>
            <a:endParaRPr kumimoji="0" b="0" i="0" u="none" strike="noStrike" kern="0" cap="none" spc="0" normalizeH="0" baseline="0" noProof="0">
              <a:ln>
                <a:noFill/>
              </a:ln>
              <a:solidFill>
                <a:srgbClr val="BC955C"/>
              </a:solidFill>
              <a:effectLst/>
              <a:uLnTx/>
              <a:uFillTx/>
              <a:latin typeface="Arial"/>
              <a:ea typeface="Arial"/>
              <a:cs typeface="Arial"/>
              <a:sym typeface="Arial"/>
            </a:endParaRPr>
          </a:p>
        </p:txBody>
      </p:sp>
      <p:sp>
        <p:nvSpPr>
          <p:cNvPr id="3" name="CuadroTexto 10">
            <a:extLst>
              <a:ext uri="{FF2B5EF4-FFF2-40B4-BE49-F238E27FC236}">
                <a16:creationId xmlns:a16="http://schemas.microsoft.com/office/drawing/2014/main" id="{21AE8FA6-CA77-F761-93C9-BF2570CBBE30}"/>
              </a:ext>
            </a:extLst>
          </p:cNvPr>
          <p:cNvSpPr txBox="1"/>
          <p:nvPr/>
        </p:nvSpPr>
        <p:spPr>
          <a:xfrm>
            <a:off x="-974983" y="1833173"/>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err="1">
                <a:solidFill>
                  <a:srgbClr val="BC955C"/>
                </a:solidFill>
                <a:latin typeface="Montserrat"/>
                <a:ea typeface="Montserrat"/>
                <a:cs typeface="Montserrat"/>
              </a:rPr>
              <a:t>Remodelación</a:t>
            </a:r>
            <a:r>
              <a:rPr lang="en-US" sz="1200" b="1" i="0" u="none" strike="noStrike">
                <a:solidFill>
                  <a:srgbClr val="BC955C"/>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463947" y="2176762"/>
            <a:ext cx="875508" cy="854908"/>
          </a:xfrm>
          <a:prstGeom prst="rect">
            <a:avLst/>
          </a:prstGeom>
        </p:spPr>
      </p:pic>
      <p:sp>
        <p:nvSpPr>
          <p:cNvPr id="7" name="CuadroTexto 12">
            <a:extLst>
              <a:ext uri="{FF2B5EF4-FFF2-40B4-BE49-F238E27FC236}">
                <a16:creationId xmlns:a16="http://schemas.microsoft.com/office/drawing/2014/main" id="{FD4175D4-66CF-7FBC-B843-C149C5339DF1}"/>
              </a:ext>
            </a:extLst>
          </p:cNvPr>
          <p:cNvSpPr txBox="1"/>
          <p:nvPr/>
        </p:nvSpPr>
        <p:spPr>
          <a:xfrm>
            <a:off x="-1034733" y="2190552"/>
            <a:ext cx="38862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a:solidFill>
                <a:srgbClr val="BC955C"/>
              </a:solidFill>
              <a:latin typeface="Montserrat"/>
              <a:ea typeface="Montserrat"/>
              <a:cs typeface="Montserrat"/>
            </a:endParaRPr>
          </a:p>
          <a:p>
            <a:pPr algn="ctr"/>
            <a:r>
              <a:rPr lang="en-US" sz="700" b="1" err="1">
                <a:solidFill>
                  <a:srgbClr val="BC955C"/>
                </a:solidFill>
                <a:latin typeface="Montserrat"/>
              </a:rPr>
              <a:t>Área</a:t>
            </a:r>
            <a:r>
              <a:rPr lang="en-US" sz="700" b="1">
                <a:solidFill>
                  <a:srgbClr val="BC955C"/>
                </a:solidFill>
                <a:latin typeface="Montserrat"/>
              </a:rPr>
              <a:t> de </a:t>
            </a:r>
            <a:endParaRPr lang="en-US"/>
          </a:p>
          <a:p>
            <a:pPr algn="ctr"/>
            <a:r>
              <a:rPr lang="en-US" sz="700" b="1" err="1">
                <a:solidFill>
                  <a:srgbClr val="BC955C"/>
                </a:solidFill>
                <a:latin typeface="Montserrat"/>
              </a:rPr>
              <a:t>Terapia</a:t>
            </a:r>
            <a:r>
              <a:rPr lang="en-US" sz="700" b="1">
                <a:solidFill>
                  <a:srgbClr val="BC955C"/>
                </a:solidFill>
                <a:latin typeface="Montserrat"/>
              </a:rPr>
              <a:t> </a:t>
            </a:r>
            <a:endParaRPr lang="en-US" err="1"/>
          </a:p>
          <a:p>
            <a:pPr algn="ctr"/>
            <a:r>
              <a:rPr lang="en-US" sz="700" b="1" err="1">
                <a:solidFill>
                  <a:srgbClr val="BC955C"/>
                </a:solidFill>
                <a:latin typeface="Montserrat"/>
              </a:rPr>
              <a:t>Intensiva</a:t>
            </a:r>
            <a:endParaRPr lang="en-US" err="1"/>
          </a:p>
        </p:txBody>
      </p:sp>
      <p:pic>
        <p:nvPicPr>
          <p:cNvPr id="8" name="Imagen 7" descr="Forma, Círculo&#10;&#10;El contenido generado por IA puede ser incorrecto.">
            <a:extLst>
              <a:ext uri="{FF2B5EF4-FFF2-40B4-BE49-F238E27FC236}">
                <a16:creationId xmlns:a16="http://schemas.microsoft.com/office/drawing/2014/main" id="{170CBE01-E044-2F44-556A-69D0B561DC01}"/>
              </a:ext>
            </a:extLst>
          </p:cNvPr>
          <p:cNvPicPr>
            <a:picLocks noChangeAspect="1"/>
          </p:cNvPicPr>
          <p:nvPr/>
        </p:nvPicPr>
        <p:blipFill>
          <a:blip r:embed="rId5"/>
          <a:srcRect b="-847"/>
          <a:stretch>
            <a:fillRect/>
          </a:stretch>
        </p:blipFill>
        <p:spPr>
          <a:xfrm>
            <a:off x="464342" y="3091161"/>
            <a:ext cx="875508" cy="854908"/>
          </a:xfrm>
          <a:prstGeom prst="rect">
            <a:avLst/>
          </a:prstGeom>
        </p:spPr>
      </p:pic>
      <p:sp>
        <p:nvSpPr>
          <p:cNvPr id="9" name="CuadroTexto 12">
            <a:extLst>
              <a:ext uri="{FF2B5EF4-FFF2-40B4-BE49-F238E27FC236}">
                <a16:creationId xmlns:a16="http://schemas.microsoft.com/office/drawing/2014/main" id="{50F1217E-09B0-81A3-6E99-CB1DE729ADDF}"/>
              </a:ext>
            </a:extLst>
          </p:cNvPr>
          <p:cNvSpPr txBox="1"/>
          <p:nvPr/>
        </p:nvSpPr>
        <p:spPr>
          <a:xfrm>
            <a:off x="-1035693" y="310495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4</a:t>
            </a:r>
            <a:endParaRPr lang="en-US" sz="2000" b="1" i="0" u="none" strike="noStrike">
              <a:solidFill>
                <a:srgbClr val="BC955C"/>
              </a:solidFill>
              <a:latin typeface="Montserrat"/>
              <a:ea typeface="Montserrat"/>
              <a:cs typeface="Montserrat"/>
            </a:endParaRPr>
          </a:p>
          <a:p>
            <a:pPr algn="ctr"/>
            <a:r>
              <a:rPr lang="en-US" sz="700" b="1" err="1">
                <a:solidFill>
                  <a:srgbClr val="BC955C"/>
                </a:solidFill>
                <a:latin typeface="Montserrat"/>
              </a:rPr>
              <a:t>Áreas</a:t>
            </a:r>
            <a:r>
              <a:rPr lang="en-US" sz="700" b="1">
                <a:solidFill>
                  <a:srgbClr val="BC955C"/>
                </a:solidFill>
                <a:latin typeface="Montserrat"/>
              </a:rPr>
              <a:t> de </a:t>
            </a:r>
            <a:endParaRPr lang="en-US"/>
          </a:p>
          <a:p>
            <a:pPr algn="ctr"/>
            <a:r>
              <a:rPr lang="en-US" sz="700" b="1" err="1">
                <a:solidFill>
                  <a:srgbClr val="BC955C"/>
                </a:solidFill>
                <a:latin typeface="Montserrat"/>
              </a:rPr>
              <a:t>Hemodiálisis</a:t>
            </a:r>
            <a:endParaRPr lang="en-US" err="1"/>
          </a:p>
        </p:txBody>
      </p:sp>
      <p:sp>
        <p:nvSpPr>
          <p:cNvPr id="10" name="CuadroTexto 10">
            <a:extLst>
              <a:ext uri="{FF2B5EF4-FFF2-40B4-BE49-F238E27FC236}">
                <a16:creationId xmlns:a16="http://schemas.microsoft.com/office/drawing/2014/main" id="{991C7EE4-1170-AC4C-597D-3383D8E8A8F9}"/>
              </a:ext>
            </a:extLst>
          </p:cNvPr>
          <p:cNvSpPr txBox="1"/>
          <p:nvPr/>
        </p:nvSpPr>
        <p:spPr>
          <a:xfrm>
            <a:off x="-1041399" y="4872576"/>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err="1">
                <a:solidFill>
                  <a:srgbClr val="BC955C"/>
                </a:solidFill>
                <a:latin typeface="Montserrat"/>
                <a:ea typeface="Montserrat"/>
                <a:cs typeface="Montserrat"/>
              </a:rPr>
              <a:t>Adquisición</a:t>
            </a:r>
            <a:r>
              <a:rPr lang="en-US" sz="1200" b="1" i="0" u="none" strike="noStrike">
                <a:solidFill>
                  <a:srgbClr val="BC955C"/>
                </a:solidFill>
                <a:latin typeface="Montserrat"/>
                <a:ea typeface="Montserrat"/>
                <a:cs typeface="Montserrat"/>
              </a:rPr>
              <a:t>: </a:t>
            </a:r>
          </a:p>
        </p:txBody>
      </p:sp>
      <p:pic>
        <p:nvPicPr>
          <p:cNvPr id="11" name="Imagen 10" descr="Forma, Círculo&#10;&#10;El contenido generado por IA puede ser incorrecto.">
            <a:extLst>
              <a:ext uri="{FF2B5EF4-FFF2-40B4-BE49-F238E27FC236}">
                <a16:creationId xmlns:a16="http://schemas.microsoft.com/office/drawing/2014/main" id="{F7B31A16-FD1A-331A-6F76-259EB810FD76}"/>
              </a:ext>
            </a:extLst>
          </p:cNvPr>
          <p:cNvPicPr>
            <a:picLocks noChangeAspect="1"/>
          </p:cNvPicPr>
          <p:nvPr/>
        </p:nvPicPr>
        <p:blipFill>
          <a:blip r:embed="rId5"/>
          <a:srcRect b="-847"/>
          <a:stretch>
            <a:fillRect/>
          </a:stretch>
        </p:blipFill>
        <p:spPr>
          <a:xfrm>
            <a:off x="463946" y="5353589"/>
            <a:ext cx="875508" cy="854908"/>
          </a:xfrm>
          <a:prstGeom prst="rect">
            <a:avLst/>
          </a:prstGeom>
        </p:spPr>
      </p:pic>
      <p:sp>
        <p:nvSpPr>
          <p:cNvPr id="12" name="CuadroTexto 12">
            <a:extLst>
              <a:ext uri="{FF2B5EF4-FFF2-40B4-BE49-F238E27FC236}">
                <a16:creationId xmlns:a16="http://schemas.microsoft.com/office/drawing/2014/main" id="{CA535D92-E281-11D7-D7CB-F8BAB9F176B8}"/>
              </a:ext>
            </a:extLst>
          </p:cNvPr>
          <p:cNvSpPr txBox="1"/>
          <p:nvPr/>
        </p:nvSpPr>
        <p:spPr>
          <a:xfrm>
            <a:off x="-200593" y="5478267"/>
            <a:ext cx="2204585" cy="5078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a:solidFill>
                <a:srgbClr val="BC955C"/>
              </a:solidFill>
              <a:latin typeface="Montserrat"/>
              <a:ea typeface="Montserrat"/>
              <a:cs typeface="Montserrat"/>
            </a:endParaRPr>
          </a:p>
          <a:p>
            <a:pPr algn="ctr"/>
            <a:r>
              <a:rPr lang="en-US" sz="700" b="1" err="1">
                <a:solidFill>
                  <a:srgbClr val="BC955C"/>
                </a:solidFill>
                <a:latin typeface="Montserrat"/>
              </a:rPr>
              <a:t>Tomógrafo</a:t>
            </a:r>
          </a:p>
        </p:txBody>
      </p:sp>
      <p:pic>
        <p:nvPicPr>
          <p:cNvPr id="14" name="Imagen 13" descr="Forma, Círculo&#10;&#10;El contenido generado por IA puede ser incorrecto.">
            <a:extLst>
              <a:ext uri="{FF2B5EF4-FFF2-40B4-BE49-F238E27FC236}">
                <a16:creationId xmlns:a16="http://schemas.microsoft.com/office/drawing/2014/main" id="{C365C7D6-999E-5396-FE1A-9AF265B06DAC}"/>
              </a:ext>
            </a:extLst>
          </p:cNvPr>
          <p:cNvPicPr>
            <a:picLocks noChangeAspect="1"/>
          </p:cNvPicPr>
          <p:nvPr/>
        </p:nvPicPr>
        <p:blipFill>
          <a:blip r:embed="rId5"/>
          <a:srcRect b="-847"/>
          <a:stretch>
            <a:fillRect/>
          </a:stretch>
        </p:blipFill>
        <p:spPr>
          <a:xfrm>
            <a:off x="463945" y="6439961"/>
            <a:ext cx="875508" cy="854908"/>
          </a:xfrm>
          <a:prstGeom prst="rect">
            <a:avLst/>
          </a:prstGeom>
        </p:spPr>
      </p:pic>
      <p:sp>
        <p:nvSpPr>
          <p:cNvPr id="15" name="CuadroTexto 12">
            <a:extLst>
              <a:ext uri="{FF2B5EF4-FFF2-40B4-BE49-F238E27FC236}">
                <a16:creationId xmlns:a16="http://schemas.microsoft.com/office/drawing/2014/main" id="{A0083CC0-370A-999A-F425-0B0E05DEB5CF}"/>
              </a:ext>
            </a:extLst>
          </p:cNvPr>
          <p:cNvSpPr txBox="1"/>
          <p:nvPr/>
        </p:nvSpPr>
        <p:spPr>
          <a:xfrm>
            <a:off x="-1041401" y="6508982"/>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a:solidFill>
                <a:srgbClr val="BC955C"/>
              </a:solidFill>
              <a:latin typeface="Montserrat"/>
              <a:ea typeface="Montserrat"/>
              <a:cs typeface="Montserrat"/>
            </a:endParaRPr>
          </a:p>
          <a:p>
            <a:pPr algn="ctr"/>
            <a:r>
              <a:rPr lang="en-US" sz="700" b="1" err="1">
                <a:solidFill>
                  <a:srgbClr val="BC955C"/>
                </a:solidFill>
                <a:latin typeface="Montserrat"/>
              </a:rPr>
              <a:t>Resonador</a:t>
            </a:r>
          </a:p>
          <a:p>
            <a:pPr algn="ctr"/>
            <a:r>
              <a:rPr lang="en-US" sz="700" b="1" err="1">
                <a:solidFill>
                  <a:srgbClr val="BC955C"/>
                </a:solidFill>
                <a:latin typeface="Montserrat"/>
              </a:rPr>
              <a:t>Magnético</a:t>
            </a:r>
          </a:p>
        </p:txBody>
      </p:sp>
      <p:sp>
        <p:nvSpPr>
          <p:cNvPr id="16" name="TextBox 1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graphicFrame>
        <p:nvGraphicFramePr>
          <p:cNvPr id="17" name="Table 16"/>
          <p:cNvGraphicFramePr>
            <a:graphicFrameLocks noGrp="1"/>
          </p:cNvGraphicFramePr>
          <p:nvPr>
            <p:extLst>
              <p:ext uri="{D42A27DB-BD31-4B8C-83A1-F6EECF244321}">
                <p14:modId xmlns:p14="http://schemas.microsoft.com/office/powerpoint/2010/main" val="428998483"/>
              </p:ext>
            </p:extLst>
          </p:nvPr>
        </p:nvGraphicFramePr>
        <p:xfrm>
          <a:off x="1785600" y="1584000"/>
          <a:ext cx="5295600" cy="4800304"/>
        </p:xfrm>
        <a:graphic>
          <a:graphicData uri="http://schemas.openxmlformats.org/drawingml/2006/table">
            <a:tbl>
              <a:tblPr firstRow="1" bandRow="1">
                <a:tableStyleId>{5C22544A-7EE6-4342-B048-85BDC9FD1C3A}</a:tableStyleId>
              </a:tblPr>
              <a:tblGrid>
                <a:gridCol w="4176000">
                  <a:extLst>
                    <a:ext uri="{9D8B030D-6E8A-4147-A177-3AD203B41FA5}">
                      <a16:colId xmlns:a16="http://schemas.microsoft.com/office/drawing/2014/main" val="20000"/>
                    </a:ext>
                  </a:extLst>
                </a:gridCol>
                <a:gridCol w="1119600">
                  <a:extLst>
                    <a:ext uri="{9D8B030D-6E8A-4147-A177-3AD203B41FA5}">
                      <a16:colId xmlns:a16="http://schemas.microsoft.com/office/drawing/2014/main" val="20001"/>
                    </a:ext>
                  </a:extLst>
                </a:gridCol>
              </a:tblGrid>
              <a:tr h="406838">
                <a:tc>
                  <a:txBody>
                    <a:bodyPr/>
                    <a:lstStyle/>
                    <a:p>
                      <a:pPr algn="ctr">
                        <a:defRPr sz="1000" b="1">
                          <a:solidFill>
                            <a:srgbClr val="FFFFFF"/>
                          </a:solidFill>
                          <a:latin typeface="Montserrat"/>
                        </a:defRPr>
                      </a:pPr>
                      <a:r>
                        <a:rPr sz="1050"/>
                        <a:t>Obras de </a:t>
                      </a:r>
                      <a:r>
                        <a:rPr sz="1050" err="1"/>
                        <a:t>Conservación</a:t>
                      </a:r>
                      <a:r>
                        <a:rPr sz="1050"/>
                        <a:t> 2025</a:t>
                      </a:r>
                    </a:p>
                  </a:txBody>
                  <a:tcPr marL="3600" marR="3600" marT="3600" marB="3600" anchor="ctr">
                    <a:lnL w="12700" cap="flat" cmpd="sng" algn="ctr">
                      <a:solidFill>
                        <a:schemeClr val="bg2">
                          <a:lumMod val="20000"/>
                          <a:lumOff val="80000"/>
                        </a:schemeClr>
                      </a:solidFill>
                      <a:prstDash val="solid"/>
                      <a:round/>
                      <a:headEnd type="none" w="med" len="med"/>
                      <a:tailEnd type="none" w="med" len="med"/>
                    </a:lnL>
                    <a:lnT w="12700" cap="flat" cmpd="sng" algn="ctr">
                      <a:solidFill>
                        <a:schemeClr val="bg2">
                          <a:lumMod val="20000"/>
                          <a:lumOff val="80000"/>
                        </a:schemeClr>
                      </a:solidFill>
                      <a:prstDash val="solid"/>
                      <a:round/>
                      <a:headEnd type="none" w="med" len="med"/>
                      <a:tailEnd type="none" w="med" len="med"/>
                    </a:lnT>
                    <a:solidFill>
                      <a:srgbClr val="BC955C"/>
                    </a:solidFill>
                  </a:tcPr>
                </a:tc>
                <a:tc>
                  <a:txBody>
                    <a:bodyPr/>
                    <a:lstStyle/>
                    <a:p>
                      <a:pPr algn="ctr">
                        <a:defRPr sz="1000" b="1">
                          <a:solidFill>
                            <a:srgbClr val="FFFFFF"/>
                          </a:solidFill>
                          <a:latin typeface="Montserrat"/>
                        </a:defRPr>
                      </a:pPr>
                      <a:r>
                        <a:rPr sz="1050"/>
                        <a:t>Monto (mdp)</a:t>
                      </a:r>
                    </a:p>
                  </a:txBody>
                  <a:tcPr marL="3600" marR="3600" marT="3600" marB="3600" anchor="ctr">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solidFill>
                      <a:srgbClr val="BC955C"/>
                    </a:solidFill>
                  </a:tcPr>
                </a:tc>
                <a:extLst>
                  <a:ext uri="{0D108BD9-81ED-4DB2-BD59-A6C34878D82A}">
                    <a16:rowId xmlns:a16="http://schemas.microsoft.com/office/drawing/2014/main" val="10000"/>
                  </a:ext>
                </a:extLst>
              </a:tr>
              <a:tr h="406838">
                <a:tc>
                  <a:txBody>
                    <a:bodyPr/>
                    <a:lstStyle/>
                    <a:p>
                      <a:pPr algn="l">
                        <a:lnSpc>
                          <a:spcPct val="100000"/>
                        </a:lnSpc>
                      </a:pPr>
                      <a:r>
                        <a:rPr sz="1000" err="1">
                          <a:latin typeface="Montserrat"/>
                        </a:rPr>
                        <a:t>Mantenimiento</a:t>
                      </a:r>
                      <a:r>
                        <a:rPr sz="1000">
                          <a:latin typeface="Montserrat"/>
                        </a:rPr>
                        <a:t> de </a:t>
                      </a:r>
                      <a:r>
                        <a:rPr sz="1000" err="1">
                          <a:latin typeface="Montserrat"/>
                        </a:rPr>
                        <a:t>Infraestructura</a:t>
                      </a:r>
                      <a:r>
                        <a:rPr sz="1000">
                          <a:latin typeface="Montserrat"/>
                        </a:rPr>
                        <a:t> (PAO 2025)</a:t>
                      </a:r>
                    </a:p>
                  </a:txBody>
                  <a:tcPr marL="3600" marR="3600" marT="3600" marB="3600" anchor="ct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lnSpc>
                          <a:spcPct val="100000"/>
                        </a:lnSpc>
                      </a:pPr>
                      <a:r>
                        <a:rPr sz="1000">
                          <a:latin typeface="Montserrat"/>
                        </a:rPr>
                        <a:t>$1,196.2</a:t>
                      </a:r>
                    </a:p>
                  </a:txBody>
                  <a:tcPr marL="3600" marR="3600" marT="3600" marB="3600" anchor="ct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1"/>
                  </a:ext>
                </a:extLst>
              </a:tr>
              <a:tr h="406838">
                <a:tc>
                  <a:txBody>
                    <a:bodyPr/>
                    <a:lstStyle/>
                    <a:p>
                      <a:pPr algn="l">
                        <a:lnSpc>
                          <a:spcPct val="100000"/>
                        </a:lnSpc>
                      </a:pPr>
                      <a:r>
                        <a:rPr sz="1000" err="1">
                          <a:latin typeface="Montserrat"/>
                        </a:rPr>
                        <a:t>Remodelación</a:t>
                      </a:r>
                      <a:r>
                        <a:rPr sz="1000">
                          <a:latin typeface="Montserrat"/>
                        </a:rPr>
                        <a:t> y </a:t>
                      </a:r>
                      <a:r>
                        <a:rPr sz="1000" err="1">
                          <a:latin typeface="Montserrat"/>
                        </a:rPr>
                        <a:t>mejora</a:t>
                      </a:r>
                      <a:r>
                        <a:rPr sz="1000">
                          <a:latin typeface="Montserrat"/>
                        </a:rPr>
                        <a:t> de imagen en el HGZMF No. 7 Monclova y HGZMF No. 2 Saltillo</a:t>
                      </a:r>
                    </a:p>
                  </a:txBody>
                  <a:tcPr marL="3600" marR="3600" marT="3600" marB="3600" anchor="ctr">
                    <a:lnL w="12700" cap="flat" cmpd="sng" algn="ctr">
                      <a:solidFill>
                        <a:schemeClr val="bg2">
                          <a:lumMod val="20000"/>
                          <a:lumOff val="80000"/>
                        </a:schemeClr>
                      </a:solidFill>
                      <a:prstDash val="solid"/>
                      <a:round/>
                      <a:headEnd type="none" w="med" len="med"/>
                      <a:tailEnd type="none" w="med" len="med"/>
                    </a:lnL>
                    <a:solidFill>
                      <a:srgbClr val="D9D9D9"/>
                    </a:solidFill>
                  </a:tcPr>
                </a:tc>
                <a:tc>
                  <a:txBody>
                    <a:bodyPr/>
                    <a:lstStyle/>
                    <a:p>
                      <a:pPr algn="ctr">
                        <a:lnSpc>
                          <a:spcPct val="100000"/>
                        </a:lnSpc>
                      </a:pPr>
                      <a:r>
                        <a:rPr sz="1000">
                          <a:latin typeface="Montserrat"/>
                        </a:rPr>
                        <a:t>$265.0</a:t>
                      </a:r>
                    </a:p>
                  </a:txBody>
                  <a:tcPr marL="3600" marR="3600" marT="3600" marB="3600" anchor="ctr">
                    <a:lnR w="12700" cap="flat" cmpd="sng" algn="ctr">
                      <a:solidFill>
                        <a:schemeClr val="bg2">
                          <a:lumMod val="20000"/>
                          <a:lumOff val="80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02"/>
                  </a:ext>
                </a:extLst>
              </a:tr>
              <a:tr h="406838">
                <a:tc>
                  <a:txBody>
                    <a:bodyPr/>
                    <a:lstStyle/>
                    <a:p>
                      <a:pPr algn="l">
                        <a:lnSpc>
                          <a:spcPct val="100000"/>
                        </a:lnSpc>
                      </a:pPr>
                      <a:r>
                        <a:rPr sz="1000" err="1">
                          <a:latin typeface="Montserrat"/>
                        </a:rPr>
                        <a:t>Intervención</a:t>
                      </a:r>
                      <a:r>
                        <a:rPr sz="1000">
                          <a:latin typeface="Montserrat"/>
                        </a:rPr>
                        <a:t> en </a:t>
                      </a:r>
                      <a:r>
                        <a:rPr sz="1000" err="1">
                          <a:latin typeface="Montserrat"/>
                        </a:rPr>
                        <a:t>áreas</a:t>
                      </a:r>
                      <a:r>
                        <a:rPr sz="1000">
                          <a:latin typeface="Montserrat"/>
                        </a:rPr>
                        <a:t> de </a:t>
                      </a:r>
                      <a:r>
                        <a:rPr sz="1000" err="1">
                          <a:latin typeface="Montserrat"/>
                        </a:rPr>
                        <a:t>mejora</a:t>
                      </a:r>
                      <a:r>
                        <a:rPr sz="1000">
                          <a:latin typeface="Montserrat"/>
                        </a:rPr>
                        <a:t> en </a:t>
                      </a:r>
                      <a:r>
                        <a:rPr sz="1000" err="1">
                          <a:latin typeface="Montserrat"/>
                        </a:rPr>
                        <a:t>subdelegaciones</a:t>
                      </a:r>
                      <a:r>
                        <a:rPr sz="1000">
                          <a:latin typeface="Montserrat"/>
                        </a:rPr>
                        <a:t> en 6 </a:t>
                      </a:r>
                      <a:r>
                        <a:rPr sz="1000" err="1">
                          <a:latin typeface="Montserrat"/>
                        </a:rPr>
                        <a:t>unidades</a:t>
                      </a:r>
                      <a:r>
                        <a:rPr sz="1000">
                          <a:latin typeface="Montserrat"/>
                        </a:rPr>
                        <a:t>, Coahuila</a:t>
                      </a:r>
                    </a:p>
                  </a:txBody>
                  <a:tcPr marL="3600" marR="3600" marT="3600" marB="3600" anchor="ct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lnSpc>
                          <a:spcPct val="100000"/>
                        </a:lnSpc>
                      </a:pPr>
                      <a:r>
                        <a:rPr sz="1000">
                          <a:latin typeface="Montserrat"/>
                        </a:rPr>
                        <a:t>$106.3</a:t>
                      </a:r>
                    </a:p>
                  </a:txBody>
                  <a:tcPr marL="3600" marR="3600" marT="3600" marB="3600" anchor="ct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3"/>
                  </a:ext>
                </a:extLst>
              </a:tr>
              <a:tr h="556804">
                <a:tc>
                  <a:txBody>
                    <a:bodyPr/>
                    <a:lstStyle/>
                    <a:p>
                      <a:pPr algn="l">
                        <a:lnSpc>
                          <a:spcPct val="100000"/>
                        </a:lnSpc>
                      </a:pPr>
                      <a:r>
                        <a:rPr sz="1000" err="1">
                          <a:latin typeface="Montserrat"/>
                        </a:rPr>
                        <a:t>Intervención</a:t>
                      </a:r>
                      <a:r>
                        <a:rPr sz="1000">
                          <a:latin typeface="Montserrat"/>
                        </a:rPr>
                        <a:t> en </a:t>
                      </a:r>
                      <a:r>
                        <a:rPr sz="1000" err="1">
                          <a:latin typeface="Montserrat"/>
                        </a:rPr>
                        <a:t>áreas</a:t>
                      </a:r>
                      <a:r>
                        <a:rPr sz="1000">
                          <a:latin typeface="Montserrat"/>
                        </a:rPr>
                        <a:t> de Atención Médica </a:t>
                      </a:r>
                      <a:r>
                        <a:rPr sz="1000" err="1">
                          <a:latin typeface="Montserrat"/>
                        </a:rPr>
                        <a:t>Contínua</a:t>
                      </a:r>
                      <a:r>
                        <a:rPr sz="1000">
                          <a:latin typeface="Montserrat"/>
                        </a:rPr>
                        <a:t> en 8 </a:t>
                      </a:r>
                      <a:r>
                        <a:rPr sz="1000" err="1">
                          <a:latin typeface="Montserrat"/>
                        </a:rPr>
                        <a:t>unidades</a:t>
                      </a:r>
                      <a:r>
                        <a:rPr sz="1000">
                          <a:latin typeface="Montserrat"/>
                        </a:rPr>
                        <a:t> (UMAA No. 89 Saltillo, UMF No.23 </a:t>
                      </a:r>
                      <a:r>
                        <a:rPr sz="1000" err="1">
                          <a:latin typeface="Montserrat"/>
                        </a:rPr>
                        <a:t>Sabinas,UMF</a:t>
                      </a:r>
                      <a:r>
                        <a:rPr sz="1000">
                          <a:latin typeface="Montserrat"/>
                        </a:rPr>
                        <a:t> No.66 Torreón, UMF No.70 </a:t>
                      </a:r>
                      <a:r>
                        <a:rPr sz="1000" err="1">
                          <a:latin typeface="Montserrat"/>
                        </a:rPr>
                        <a:t>Saltillo,UMF</a:t>
                      </a:r>
                      <a:r>
                        <a:rPr sz="1000">
                          <a:latin typeface="Montserrat"/>
                        </a:rPr>
                        <a:t> No.79 Piedras Negras, UMF No.87 Cd. Acuña, UMF No.88 Ramos Arizpe, UMF No. 9 Frontera)</a:t>
                      </a:r>
                    </a:p>
                  </a:txBody>
                  <a:tcPr marL="3600" marR="3600" marT="3600" marB="3600" anchor="ctr">
                    <a:lnL w="12700" cap="flat" cmpd="sng" algn="ctr">
                      <a:solidFill>
                        <a:schemeClr val="bg2">
                          <a:lumMod val="20000"/>
                          <a:lumOff val="80000"/>
                        </a:schemeClr>
                      </a:solidFill>
                      <a:prstDash val="solid"/>
                      <a:round/>
                      <a:headEnd type="none" w="med" len="med"/>
                      <a:tailEnd type="none" w="med" len="med"/>
                    </a:lnL>
                    <a:solidFill>
                      <a:srgbClr val="D9D9D9"/>
                    </a:solidFill>
                  </a:tcPr>
                </a:tc>
                <a:tc>
                  <a:txBody>
                    <a:bodyPr/>
                    <a:lstStyle/>
                    <a:p>
                      <a:pPr algn="ctr">
                        <a:lnSpc>
                          <a:spcPct val="100000"/>
                        </a:lnSpc>
                      </a:pPr>
                      <a:r>
                        <a:rPr sz="1000">
                          <a:latin typeface="Montserrat"/>
                        </a:rPr>
                        <a:t>$39.4</a:t>
                      </a:r>
                    </a:p>
                  </a:txBody>
                  <a:tcPr marL="3600" marR="3600" marT="3600" marB="3600" anchor="ctr">
                    <a:lnR w="12700" cap="flat" cmpd="sng" algn="ctr">
                      <a:solidFill>
                        <a:schemeClr val="bg2">
                          <a:lumMod val="20000"/>
                          <a:lumOff val="80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04"/>
                  </a:ext>
                </a:extLst>
              </a:tr>
              <a:tr h="419228">
                <a:tc>
                  <a:txBody>
                    <a:bodyPr/>
                    <a:lstStyle/>
                    <a:p>
                      <a:pPr algn="l">
                        <a:lnSpc>
                          <a:spcPct val="100000"/>
                        </a:lnSpc>
                      </a:pPr>
                      <a:r>
                        <a:rPr sz="1000" err="1">
                          <a:latin typeface="Montserrat"/>
                        </a:rPr>
                        <a:t>Intervención</a:t>
                      </a:r>
                      <a:r>
                        <a:rPr sz="1000">
                          <a:latin typeface="Montserrat"/>
                        </a:rPr>
                        <a:t> en </a:t>
                      </a:r>
                      <a:r>
                        <a:rPr sz="1000" err="1">
                          <a:latin typeface="Montserrat"/>
                        </a:rPr>
                        <a:t>áreas</a:t>
                      </a:r>
                      <a:r>
                        <a:rPr sz="1000">
                          <a:latin typeface="Montserrat"/>
                        </a:rPr>
                        <a:t> de residencias </a:t>
                      </a:r>
                      <a:r>
                        <a:rPr sz="1000" err="1">
                          <a:latin typeface="Montserrat"/>
                        </a:rPr>
                        <a:t>médicas</a:t>
                      </a:r>
                      <a:r>
                        <a:rPr sz="1000">
                          <a:latin typeface="Montserrat"/>
                        </a:rPr>
                        <a:t> en 4 </a:t>
                      </a:r>
                      <a:r>
                        <a:rPr sz="1000" err="1">
                          <a:latin typeface="Montserrat"/>
                        </a:rPr>
                        <a:t>unidades</a:t>
                      </a:r>
                      <a:r>
                        <a:rPr sz="1000">
                          <a:latin typeface="Montserrat"/>
                        </a:rPr>
                        <a:t> (UMF No.66 Torreón, UMF No.82 Saltillo, UMF No. 88 Ramos Arizpe, H. </a:t>
                      </a:r>
                      <a:r>
                        <a:rPr sz="1000" err="1">
                          <a:latin typeface="Montserrat"/>
                        </a:rPr>
                        <a:t>Especialidades</a:t>
                      </a:r>
                      <a:r>
                        <a:rPr sz="1000">
                          <a:latin typeface="Montserrat"/>
                        </a:rPr>
                        <a:t> No. 71 Torreón)</a:t>
                      </a:r>
                    </a:p>
                  </a:txBody>
                  <a:tcPr marL="3600" marR="3600" marT="3600" marB="3600" anchor="ct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lnSpc>
                          <a:spcPct val="100000"/>
                        </a:lnSpc>
                      </a:pPr>
                      <a:r>
                        <a:rPr sz="1000">
                          <a:latin typeface="Montserrat"/>
                        </a:rPr>
                        <a:t>$22.1</a:t>
                      </a:r>
                    </a:p>
                  </a:txBody>
                  <a:tcPr marL="3600" marR="3600" marT="3600" marB="3600" anchor="ct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5"/>
                  </a:ext>
                </a:extLst>
              </a:tr>
              <a:tr h="406838">
                <a:tc>
                  <a:txBody>
                    <a:bodyPr/>
                    <a:lstStyle/>
                    <a:p>
                      <a:pPr algn="l">
                        <a:lnSpc>
                          <a:spcPct val="100000"/>
                        </a:lnSpc>
                      </a:pPr>
                      <a:r>
                        <a:rPr sz="1000" err="1">
                          <a:latin typeface="Montserrat"/>
                        </a:rPr>
                        <a:t>Intervención</a:t>
                      </a:r>
                      <a:r>
                        <a:rPr sz="1000">
                          <a:latin typeface="Montserrat"/>
                        </a:rPr>
                        <a:t> en </a:t>
                      </a:r>
                      <a:r>
                        <a:rPr sz="1000" err="1">
                          <a:latin typeface="Montserrat"/>
                        </a:rPr>
                        <a:t>áreas</a:t>
                      </a:r>
                      <a:r>
                        <a:rPr sz="1000">
                          <a:latin typeface="Montserrat"/>
                        </a:rPr>
                        <a:t> de </a:t>
                      </a:r>
                      <a:r>
                        <a:rPr sz="1000" err="1">
                          <a:latin typeface="Montserrat"/>
                        </a:rPr>
                        <a:t>accesibilidad</a:t>
                      </a:r>
                      <a:r>
                        <a:rPr sz="1000">
                          <a:latin typeface="Montserrat"/>
                        </a:rPr>
                        <a:t> (</a:t>
                      </a:r>
                      <a:r>
                        <a:rPr sz="1000" err="1">
                          <a:latin typeface="Montserrat"/>
                        </a:rPr>
                        <a:t>rampas</a:t>
                      </a:r>
                      <a:r>
                        <a:rPr sz="1000">
                          <a:latin typeface="Montserrat"/>
                        </a:rPr>
                        <a:t>) en 4 </a:t>
                      </a:r>
                      <a:r>
                        <a:rPr sz="1000" err="1">
                          <a:latin typeface="Montserrat"/>
                        </a:rPr>
                        <a:t>unidades</a:t>
                      </a:r>
                      <a:r>
                        <a:rPr sz="1000">
                          <a:latin typeface="Montserrat"/>
                        </a:rPr>
                        <a:t>, Coahuila</a:t>
                      </a:r>
                    </a:p>
                  </a:txBody>
                  <a:tcPr marL="3600" marR="3600" marT="3600" marB="3600" anchor="ctr">
                    <a:lnL w="12700" cap="flat" cmpd="sng" algn="ctr">
                      <a:solidFill>
                        <a:schemeClr val="bg2">
                          <a:lumMod val="20000"/>
                          <a:lumOff val="80000"/>
                        </a:schemeClr>
                      </a:solidFill>
                      <a:prstDash val="solid"/>
                      <a:round/>
                      <a:headEnd type="none" w="med" len="med"/>
                      <a:tailEnd type="none" w="med" len="med"/>
                    </a:lnL>
                    <a:solidFill>
                      <a:srgbClr val="D9D9D9"/>
                    </a:solidFill>
                  </a:tcPr>
                </a:tc>
                <a:tc>
                  <a:txBody>
                    <a:bodyPr/>
                    <a:lstStyle/>
                    <a:p>
                      <a:pPr algn="ctr">
                        <a:lnSpc>
                          <a:spcPct val="100000"/>
                        </a:lnSpc>
                      </a:pPr>
                      <a:r>
                        <a:rPr sz="1000">
                          <a:latin typeface="Montserrat"/>
                        </a:rPr>
                        <a:t>$13.6</a:t>
                      </a:r>
                    </a:p>
                  </a:txBody>
                  <a:tcPr marL="3600" marR="3600" marT="3600" marB="3600" anchor="ctr">
                    <a:lnR w="12700" cap="flat" cmpd="sng" algn="ctr">
                      <a:solidFill>
                        <a:schemeClr val="bg2">
                          <a:lumMod val="20000"/>
                          <a:lumOff val="80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06"/>
                  </a:ext>
                </a:extLst>
              </a:tr>
              <a:tr h="419228">
                <a:tc>
                  <a:txBody>
                    <a:bodyPr/>
                    <a:lstStyle/>
                    <a:p>
                      <a:pPr algn="l">
                        <a:lnSpc>
                          <a:spcPct val="100000"/>
                        </a:lnSpc>
                      </a:pPr>
                      <a:r>
                        <a:rPr sz="1000" err="1">
                          <a:latin typeface="Montserrat"/>
                        </a:rPr>
                        <a:t>Intervención</a:t>
                      </a:r>
                      <a:r>
                        <a:rPr sz="1000">
                          <a:latin typeface="Montserrat"/>
                        </a:rPr>
                        <a:t> en </a:t>
                      </a:r>
                      <a:r>
                        <a:rPr sz="1000" err="1">
                          <a:latin typeface="Montserrat"/>
                        </a:rPr>
                        <a:t>áreas</a:t>
                      </a:r>
                      <a:r>
                        <a:rPr sz="1000">
                          <a:latin typeface="Montserrat"/>
                        </a:rPr>
                        <a:t> de </a:t>
                      </a:r>
                      <a:r>
                        <a:rPr sz="1000" err="1">
                          <a:latin typeface="Montserrat"/>
                        </a:rPr>
                        <a:t>hemodiálisis</a:t>
                      </a:r>
                      <a:r>
                        <a:rPr sz="1000">
                          <a:latin typeface="Montserrat"/>
                        </a:rPr>
                        <a:t> interna en 4 </a:t>
                      </a:r>
                      <a:r>
                        <a:rPr sz="1000" err="1">
                          <a:latin typeface="Montserrat"/>
                        </a:rPr>
                        <a:t>unidades</a:t>
                      </a:r>
                      <a:r>
                        <a:rPr sz="1000">
                          <a:latin typeface="Montserrat"/>
                        </a:rPr>
                        <a:t> (HGZ  No.11 Piedras Negras, HGZ No.24 Nueva Rosita, HGZ No. 7 Monclova, H. </a:t>
                      </a:r>
                      <a:r>
                        <a:rPr sz="1000" err="1">
                          <a:latin typeface="Montserrat"/>
                        </a:rPr>
                        <a:t>Especialidades</a:t>
                      </a:r>
                      <a:r>
                        <a:rPr sz="1000">
                          <a:latin typeface="Montserrat"/>
                        </a:rPr>
                        <a:t> No. 71 Torreón)</a:t>
                      </a:r>
                    </a:p>
                  </a:txBody>
                  <a:tcPr marL="3600" marR="3600" marT="3600" marB="3600" anchor="ct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lnSpc>
                          <a:spcPct val="100000"/>
                        </a:lnSpc>
                      </a:pPr>
                      <a:r>
                        <a:rPr sz="1000">
                          <a:latin typeface="Montserrat"/>
                        </a:rPr>
                        <a:t>$12.4</a:t>
                      </a:r>
                    </a:p>
                  </a:txBody>
                  <a:tcPr marL="3600" marR="3600" marT="3600" marB="3600" anchor="ct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7"/>
                  </a:ext>
                </a:extLst>
              </a:tr>
              <a:tr h="406838">
                <a:tc>
                  <a:txBody>
                    <a:bodyPr/>
                    <a:lstStyle/>
                    <a:p>
                      <a:pPr algn="l">
                        <a:lnSpc>
                          <a:spcPct val="100000"/>
                        </a:lnSpc>
                      </a:pPr>
                      <a:r>
                        <a:rPr sz="1000" err="1">
                          <a:latin typeface="Montserrat"/>
                        </a:rPr>
                        <a:t>Intervención</a:t>
                      </a:r>
                      <a:r>
                        <a:rPr sz="1000">
                          <a:latin typeface="Montserrat"/>
                        </a:rPr>
                        <a:t> en </a:t>
                      </a:r>
                      <a:r>
                        <a:rPr sz="1000" err="1">
                          <a:latin typeface="Montserrat"/>
                        </a:rPr>
                        <a:t>áreas</a:t>
                      </a:r>
                      <a:r>
                        <a:rPr sz="1000">
                          <a:latin typeface="Montserrat"/>
                        </a:rPr>
                        <a:t> de </a:t>
                      </a:r>
                      <a:r>
                        <a:rPr sz="1000" err="1">
                          <a:latin typeface="Montserrat"/>
                        </a:rPr>
                        <a:t>salud</a:t>
                      </a:r>
                      <a:r>
                        <a:rPr sz="1000">
                          <a:latin typeface="Montserrat"/>
                        </a:rPr>
                        <a:t> mental en 3 </a:t>
                      </a:r>
                      <a:r>
                        <a:rPr sz="1000" err="1">
                          <a:latin typeface="Montserrat"/>
                        </a:rPr>
                        <a:t>unidades</a:t>
                      </a:r>
                      <a:r>
                        <a:rPr sz="1000">
                          <a:latin typeface="Montserrat"/>
                        </a:rPr>
                        <a:t> (HGZ No.1 Saltillo, HGZ No.7 Monclova, H. </a:t>
                      </a:r>
                      <a:r>
                        <a:rPr sz="1000" err="1">
                          <a:latin typeface="Montserrat"/>
                        </a:rPr>
                        <a:t>Especialidades</a:t>
                      </a:r>
                      <a:r>
                        <a:rPr sz="1000">
                          <a:latin typeface="Montserrat"/>
                        </a:rPr>
                        <a:t> No. 71 Torreón)</a:t>
                      </a:r>
                    </a:p>
                  </a:txBody>
                  <a:tcPr marL="3600" marR="3600" marT="3600" marB="3600" anchor="ctr">
                    <a:lnL w="12700" cap="flat" cmpd="sng" algn="ctr">
                      <a:solidFill>
                        <a:schemeClr val="bg2">
                          <a:lumMod val="20000"/>
                          <a:lumOff val="80000"/>
                        </a:schemeClr>
                      </a:solidFill>
                      <a:prstDash val="solid"/>
                      <a:round/>
                      <a:headEnd type="none" w="med" len="med"/>
                      <a:tailEnd type="none" w="med" len="med"/>
                    </a:lnL>
                    <a:solidFill>
                      <a:srgbClr val="D9D9D9"/>
                    </a:solidFill>
                  </a:tcPr>
                </a:tc>
                <a:tc>
                  <a:txBody>
                    <a:bodyPr/>
                    <a:lstStyle/>
                    <a:p>
                      <a:pPr algn="ctr">
                        <a:lnSpc>
                          <a:spcPct val="100000"/>
                        </a:lnSpc>
                      </a:pPr>
                      <a:r>
                        <a:rPr sz="1000">
                          <a:latin typeface="Montserrat"/>
                        </a:rPr>
                        <a:t>$5.8</a:t>
                      </a:r>
                    </a:p>
                  </a:txBody>
                  <a:tcPr marL="3600" marR="3600" marT="3600" marB="3600" anchor="ctr">
                    <a:lnR w="12700" cap="flat" cmpd="sng" algn="ctr">
                      <a:solidFill>
                        <a:schemeClr val="bg2">
                          <a:lumMod val="20000"/>
                          <a:lumOff val="80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08"/>
                  </a:ext>
                </a:extLst>
              </a:tr>
              <a:tr h="406838">
                <a:tc>
                  <a:txBody>
                    <a:bodyPr/>
                    <a:lstStyle/>
                    <a:p>
                      <a:pPr algn="l">
                        <a:lnSpc>
                          <a:spcPct val="100000"/>
                        </a:lnSpc>
                      </a:pPr>
                      <a:r>
                        <a:rPr sz="1000" err="1">
                          <a:latin typeface="Montserrat"/>
                        </a:rPr>
                        <a:t>Intervención</a:t>
                      </a:r>
                      <a:r>
                        <a:rPr sz="1000">
                          <a:latin typeface="Montserrat"/>
                        </a:rPr>
                        <a:t> en </a:t>
                      </a:r>
                      <a:r>
                        <a:rPr sz="1000" err="1">
                          <a:latin typeface="Montserrat"/>
                        </a:rPr>
                        <a:t>áreas</a:t>
                      </a:r>
                      <a:r>
                        <a:rPr sz="1000">
                          <a:latin typeface="Montserrat"/>
                        </a:rPr>
                        <a:t> de </a:t>
                      </a:r>
                      <a:r>
                        <a:rPr sz="1000" err="1">
                          <a:latin typeface="Montserrat"/>
                        </a:rPr>
                        <a:t>terapia</a:t>
                      </a:r>
                      <a:r>
                        <a:rPr sz="1000">
                          <a:latin typeface="Montserrat"/>
                        </a:rPr>
                        <a:t> </a:t>
                      </a:r>
                      <a:r>
                        <a:rPr sz="1000" err="1">
                          <a:latin typeface="Montserrat"/>
                        </a:rPr>
                        <a:t>intensiva</a:t>
                      </a:r>
                      <a:r>
                        <a:rPr sz="1000">
                          <a:latin typeface="Montserrat"/>
                        </a:rPr>
                        <a:t> en HGZ No. 11 Piedras Negras</a:t>
                      </a:r>
                    </a:p>
                  </a:txBody>
                  <a:tcPr marL="3600" marR="3600" marT="3600" marB="3600" anchor="ct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lnSpc>
                          <a:spcPct val="100000"/>
                        </a:lnSpc>
                      </a:pPr>
                      <a:r>
                        <a:rPr sz="1000">
                          <a:latin typeface="Montserrat"/>
                        </a:rPr>
                        <a:t>$3.2</a:t>
                      </a:r>
                    </a:p>
                  </a:txBody>
                  <a:tcPr marL="3600" marR="3600" marT="3600" marB="3600" anchor="ct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9"/>
                  </a:ext>
                </a:extLst>
              </a:tr>
              <a:tr h="406838">
                <a:tc>
                  <a:txBody>
                    <a:bodyPr/>
                    <a:lstStyle/>
                    <a:p>
                      <a:pPr algn="l">
                        <a:lnSpc>
                          <a:spcPct val="100000"/>
                        </a:lnSpc>
                        <a:defRPr sz="900" b="1">
                          <a:solidFill>
                            <a:srgbClr val="BC955C"/>
                          </a:solidFill>
                          <a:latin typeface="Montserrat"/>
                        </a:defRPr>
                      </a:pPr>
                      <a:r>
                        <a:rPr sz="1050"/>
                        <a:t>Subtotal</a:t>
                      </a:r>
                    </a:p>
                  </a:txBody>
                  <a:tcPr marL="3600" marR="3600" marT="3600" marB="3600" anchor="ctr">
                    <a:lnL w="12700" cap="flat" cmpd="sng" algn="ctr">
                      <a:solidFill>
                        <a:schemeClr val="bg2">
                          <a:lumMod val="20000"/>
                          <a:lumOff val="80000"/>
                        </a:schemeClr>
                      </a:solidFill>
                      <a:prstDash val="solid"/>
                      <a:round/>
                      <a:headEnd type="none" w="med" len="med"/>
                      <a:tailEnd type="none" w="med" len="med"/>
                    </a:lnL>
                    <a:lnB w="12700" cap="flat" cmpd="sng" algn="ctr">
                      <a:solidFill>
                        <a:schemeClr val="bg2">
                          <a:lumMod val="20000"/>
                          <a:lumOff val="80000"/>
                        </a:schemeClr>
                      </a:solidFill>
                      <a:prstDash val="solid"/>
                      <a:round/>
                      <a:headEnd type="none" w="med" len="med"/>
                      <a:tailEnd type="none" w="med" len="med"/>
                    </a:lnB>
                    <a:solidFill>
                      <a:srgbClr val="ECE1D2"/>
                    </a:solidFill>
                  </a:tcPr>
                </a:tc>
                <a:tc>
                  <a:txBody>
                    <a:bodyPr/>
                    <a:lstStyle/>
                    <a:p>
                      <a:pPr algn="ctr">
                        <a:lnSpc>
                          <a:spcPct val="100000"/>
                        </a:lnSpc>
                        <a:defRPr sz="900" b="1">
                          <a:solidFill>
                            <a:srgbClr val="BC955C"/>
                          </a:solidFill>
                          <a:latin typeface="Montserrat"/>
                        </a:defRPr>
                      </a:pPr>
                      <a:r>
                        <a:rPr sz="1050"/>
                        <a:t>$1,664.1</a:t>
                      </a:r>
                    </a:p>
                  </a:txBody>
                  <a:tcPr marL="3600" marR="3600" marT="3600" marB="3600" anchor="ctr">
                    <a:lnR w="12700" cap="flat" cmpd="sng" algn="ctr">
                      <a:solidFill>
                        <a:schemeClr val="bg2">
                          <a:lumMod val="20000"/>
                          <a:lumOff val="80000"/>
                        </a:schemeClr>
                      </a:solidFill>
                      <a:prstDash val="solid"/>
                      <a:round/>
                      <a:headEnd type="none" w="med" len="med"/>
                      <a:tailEnd type="none" w="med" len="med"/>
                    </a:lnR>
                    <a:lnB w="12700" cap="flat" cmpd="sng" algn="ctr">
                      <a:solidFill>
                        <a:schemeClr val="bg2">
                          <a:lumMod val="20000"/>
                          <a:lumOff val="80000"/>
                        </a:schemeClr>
                      </a:solidFill>
                      <a:prstDash val="solid"/>
                      <a:round/>
                      <a:headEnd type="none" w="med" len="med"/>
                      <a:tailEnd type="none" w="med" len="med"/>
                    </a:lnB>
                    <a:solidFill>
                      <a:srgbClr val="ECE1D2"/>
                    </a:solidFill>
                  </a:tcPr>
                </a:tc>
                <a:extLst>
                  <a:ext uri="{0D108BD9-81ED-4DB2-BD59-A6C34878D82A}">
                    <a16:rowId xmlns:a16="http://schemas.microsoft.com/office/drawing/2014/main" val="10010"/>
                  </a:ext>
                </a:extLst>
              </a:tr>
            </a:tbl>
          </a:graphicData>
        </a:graphic>
      </p:graphicFrame>
      <p:graphicFrame>
        <p:nvGraphicFramePr>
          <p:cNvPr id="18" name="Table 17"/>
          <p:cNvGraphicFramePr>
            <a:graphicFrameLocks noGrp="1"/>
          </p:cNvGraphicFramePr>
          <p:nvPr>
            <p:extLst>
              <p:ext uri="{D42A27DB-BD31-4B8C-83A1-F6EECF244321}">
                <p14:modId xmlns:p14="http://schemas.microsoft.com/office/powerpoint/2010/main" val="3975723452"/>
              </p:ext>
            </p:extLst>
          </p:nvPr>
        </p:nvGraphicFramePr>
        <p:xfrm>
          <a:off x="1785600" y="6355155"/>
          <a:ext cx="5295600" cy="1430385"/>
        </p:xfrm>
        <a:graphic>
          <a:graphicData uri="http://schemas.openxmlformats.org/drawingml/2006/table">
            <a:tbl>
              <a:tblPr firstRow="1" bandRow="1">
                <a:tableStyleId>{5C22544A-7EE6-4342-B048-85BDC9FD1C3A}</a:tableStyleId>
              </a:tblPr>
              <a:tblGrid>
                <a:gridCol w="4176000">
                  <a:extLst>
                    <a:ext uri="{9D8B030D-6E8A-4147-A177-3AD203B41FA5}">
                      <a16:colId xmlns:a16="http://schemas.microsoft.com/office/drawing/2014/main" val="20000"/>
                    </a:ext>
                  </a:extLst>
                </a:gridCol>
                <a:gridCol w="1119600">
                  <a:extLst>
                    <a:ext uri="{9D8B030D-6E8A-4147-A177-3AD203B41FA5}">
                      <a16:colId xmlns:a16="http://schemas.microsoft.com/office/drawing/2014/main" val="20001"/>
                    </a:ext>
                  </a:extLst>
                </a:gridCol>
              </a:tblGrid>
              <a:tr h="356385">
                <a:tc>
                  <a:txBody>
                    <a:bodyPr/>
                    <a:lstStyle/>
                    <a:p>
                      <a:pPr algn="l">
                        <a:defRPr sz="1000" b="1">
                          <a:solidFill>
                            <a:srgbClr val="FFFFFF"/>
                          </a:solidFill>
                          <a:latin typeface="Montserrat"/>
                        </a:defRPr>
                      </a:pPr>
                      <a:r>
                        <a:rPr sz="1050"/>
                        <a:t>Equipo Médico 2025, </a:t>
                      </a:r>
                      <a:r>
                        <a:rPr sz="1050" err="1"/>
                        <a:t>Instalación</a:t>
                      </a:r>
                      <a:r>
                        <a:rPr sz="1050"/>
                        <a:t> 2026</a:t>
                      </a:r>
                    </a:p>
                  </a:txBody>
                  <a:tcPr marL="3600" marR="3600" marT="3600" marB="3600" anchor="ctr">
                    <a:lnL w="12700" cap="flat" cmpd="sng" algn="ctr">
                      <a:solidFill>
                        <a:schemeClr val="bg2">
                          <a:lumMod val="20000"/>
                          <a:lumOff val="80000"/>
                        </a:schemeClr>
                      </a:solidFill>
                      <a:prstDash val="solid"/>
                      <a:round/>
                      <a:headEnd type="none" w="med" len="med"/>
                      <a:tailEnd type="none" w="med" len="med"/>
                    </a:lnL>
                    <a:lnT w="12700" cap="flat" cmpd="sng" algn="ctr">
                      <a:solidFill>
                        <a:schemeClr val="bg2">
                          <a:lumMod val="20000"/>
                          <a:lumOff val="80000"/>
                        </a:schemeClr>
                      </a:solidFill>
                      <a:prstDash val="solid"/>
                      <a:round/>
                      <a:headEnd type="none" w="med" len="med"/>
                      <a:tailEnd type="none" w="med" len="med"/>
                    </a:lnT>
                    <a:solidFill>
                      <a:srgbClr val="BC955C"/>
                    </a:solidFill>
                  </a:tcPr>
                </a:tc>
                <a:tc>
                  <a:txBody>
                    <a:bodyPr/>
                    <a:lstStyle/>
                    <a:p>
                      <a:pPr algn="l">
                        <a:defRPr sz="1000" b="1">
                          <a:solidFill>
                            <a:srgbClr val="FFFFFF"/>
                          </a:solidFill>
                          <a:latin typeface="Montserrat"/>
                        </a:defRPr>
                      </a:pPr>
                      <a:r>
                        <a:rPr sz="1050"/>
                        <a:t>Monto (mdp)</a:t>
                      </a:r>
                    </a:p>
                  </a:txBody>
                  <a:tcPr marL="3600" marR="3600" marT="3600" marB="3600" anchor="ctr">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solidFill>
                      <a:srgbClr val="BC955C"/>
                    </a:solidFill>
                  </a:tcPr>
                </a:tc>
                <a:extLst>
                  <a:ext uri="{0D108BD9-81ED-4DB2-BD59-A6C34878D82A}">
                    <a16:rowId xmlns:a16="http://schemas.microsoft.com/office/drawing/2014/main" val="10000"/>
                  </a:ext>
                </a:extLst>
              </a:tr>
              <a:tr h="712842">
                <a:tc>
                  <a:txBody>
                    <a:bodyPr/>
                    <a:lstStyle/>
                    <a:p>
                      <a:pPr algn="l">
                        <a:lnSpc>
                          <a:spcPct val="100000"/>
                        </a:lnSpc>
                      </a:pPr>
                      <a:r>
                        <a:rPr sz="1000" err="1">
                          <a:latin typeface="Montserrat"/>
                        </a:rPr>
                        <a:t>Adquisición</a:t>
                      </a:r>
                      <a:r>
                        <a:rPr sz="1000">
                          <a:latin typeface="Montserrat"/>
                        </a:rPr>
                        <a:t> de 16  </a:t>
                      </a:r>
                      <a:r>
                        <a:rPr sz="1000" err="1">
                          <a:latin typeface="Montserrat"/>
                        </a:rPr>
                        <a:t>piezas</a:t>
                      </a:r>
                      <a:r>
                        <a:rPr sz="1000">
                          <a:latin typeface="Montserrat"/>
                        </a:rPr>
                        <a:t> de </a:t>
                      </a:r>
                      <a:r>
                        <a:rPr sz="1000" err="1">
                          <a:latin typeface="Montserrat"/>
                        </a:rPr>
                        <a:t>equipo</a:t>
                      </a:r>
                      <a:r>
                        <a:rPr sz="1000">
                          <a:latin typeface="Montserrat"/>
                        </a:rPr>
                        <a:t> </a:t>
                      </a:r>
                      <a:r>
                        <a:rPr sz="1000" err="1">
                          <a:latin typeface="Montserrat"/>
                        </a:rPr>
                        <a:t>médico</a:t>
                      </a:r>
                      <a:r>
                        <a:rPr sz="1000">
                          <a:latin typeface="Montserrat"/>
                        </a:rPr>
                        <a:t>: 1 </a:t>
                      </a:r>
                      <a:r>
                        <a:rPr sz="1000" err="1">
                          <a:latin typeface="Montserrat"/>
                        </a:rPr>
                        <a:t>congelador</a:t>
                      </a:r>
                      <a:r>
                        <a:rPr sz="1000">
                          <a:latin typeface="Montserrat"/>
                        </a:rPr>
                        <a:t> horizontal de </a:t>
                      </a:r>
                      <a:r>
                        <a:rPr sz="1000" err="1">
                          <a:latin typeface="Montserrat"/>
                        </a:rPr>
                        <a:t>refrigerantes</a:t>
                      </a:r>
                      <a:r>
                        <a:rPr sz="1000">
                          <a:latin typeface="Montserrat"/>
                        </a:rPr>
                        <a:t> para </a:t>
                      </a:r>
                      <a:r>
                        <a:rPr sz="1000" err="1">
                          <a:latin typeface="Montserrat"/>
                        </a:rPr>
                        <a:t>vacunas</a:t>
                      </a:r>
                      <a:r>
                        <a:rPr sz="1000">
                          <a:latin typeface="Montserrat"/>
                        </a:rPr>
                        <a:t>, 3 </a:t>
                      </a:r>
                      <a:r>
                        <a:rPr sz="1000" err="1">
                          <a:latin typeface="Montserrat"/>
                        </a:rPr>
                        <a:t>refrigeradores</a:t>
                      </a:r>
                      <a:r>
                        <a:rPr sz="1000">
                          <a:latin typeface="Montserrat"/>
                        </a:rPr>
                        <a:t> para </a:t>
                      </a:r>
                      <a:r>
                        <a:rPr sz="1000" err="1">
                          <a:latin typeface="Montserrat"/>
                        </a:rPr>
                        <a:t>vacunas</a:t>
                      </a:r>
                      <a:r>
                        <a:rPr sz="1000">
                          <a:latin typeface="Montserrat"/>
                        </a:rPr>
                        <a:t>, 5 </a:t>
                      </a:r>
                      <a:r>
                        <a:rPr sz="1000" err="1">
                          <a:latin typeface="Montserrat"/>
                        </a:rPr>
                        <a:t>refrigeradores</a:t>
                      </a:r>
                      <a:r>
                        <a:rPr sz="1000">
                          <a:latin typeface="Montserrat"/>
                        </a:rPr>
                        <a:t> </a:t>
                      </a:r>
                      <a:r>
                        <a:rPr sz="1000" err="1">
                          <a:latin typeface="Montserrat"/>
                        </a:rPr>
                        <a:t>congeladores</a:t>
                      </a:r>
                      <a:r>
                        <a:rPr sz="1000">
                          <a:latin typeface="Montserrat"/>
                        </a:rPr>
                        <a:t> de 5.4 pies </a:t>
                      </a:r>
                      <a:r>
                        <a:rPr sz="1000" err="1">
                          <a:latin typeface="Montserrat"/>
                        </a:rPr>
                        <a:t>cúbicos</a:t>
                      </a:r>
                      <a:r>
                        <a:rPr sz="1000">
                          <a:latin typeface="Montserrat"/>
                        </a:rPr>
                        <a:t>, 1 monitor de </a:t>
                      </a:r>
                      <a:r>
                        <a:rPr sz="1000" err="1">
                          <a:latin typeface="Montserrat"/>
                        </a:rPr>
                        <a:t>radiación</a:t>
                      </a:r>
                      <a:r>
                        <a:rPr sz="1000">
                          <a:latin typeface="Montserrat"/>
                        </a:rPr>
                        <a:t> de pared, 2 </a:t>
                      </a:r>
                      <a:r>
                        <a:rPr sz="1000" err="1">
                          <a:latin typeface="Montserrat"/>
                        </a:rPr>
                        <a:t>monitores</a:t>
                      </a:r>
                      <a:r>
                        <a:rPr sz="1000">
                          <a:latin typeface="Montserrat"/>
                        </a:rPr>
                        <a:t> de </a:t>
                      </a:r>
                      <a:r>
                        <a:rPr sz="1000" err="1">
                          <a:latin typeface="Montserrat"/>
                        </a:rPr>
                        <a:t>signos</a:t>
                      </a:r>
                      <a:r>
                        <a:rPr sz="1000">
                          <a:latin typeface="Montserrat"/>
                        </a:rPr>
                        <a:t> </a:t>
                      </a:r>
                      <a:r>
                        <a:rPr sz="1000" err="1">
                          <a:latin typeface="Montserrat"/>
                        </a:rPr>
                        <a:t>vitales</a:t>
                      </a:r>
                      <a:r>
                        <a:rPr sz="1000">
                          <a:latin typeface="Montserrat"/>
                        </a:rPr>
                        <a:t> para el </a:t>
                      </a:r>
                      <a:r>
                        <a:rPr sz="1000" err="1">
                          <a:latin typeface="Montserrat"/>
                        </a:rPr>
                        <a:t>traslado</a:t>
                      </a:r>
                      <a:r>
                        <a:rPr sz="1000">
                          <a:latin typeface="Montserrat"/>
                        </a:rPr>
                        <a:t> del </a:t>
                      </a:r>
                      <a:r>
                        <a:rPr sz="1000" err="1">
                          <a:latin typeface="Montserrat"/>
                        </a:rPr>
                        <a:t>paciente</a:t>
                      </a:r>
                      <a:r>
                        <a:rPr sz="1000">
                          <a:latin typeface="Montserrat"/>
                        </a:rPr>
                        <a:t> (con </a:t>
                      </a:r>
                      <a:r>
                        <a:rPr sz="1000" err="1">
                          <a:latin typeface="Montserrat"/>
                        </a:rPr>
                        <a:t>protección</a:t>
                      </a:r>
                      <a:r>
                        <a:rPr sz="1000">
                          <a:latin typeface="Montserrat"/>
                        </a:rPr>
                        <a:t> </a:t>
                      </a:r>
                      <a:r>
                        <a:rPr sz="1000" err="1">
                          <a:latin typeface="Montserrat"/>
                        </a:rPr>
                        <a:t>antimagnética</a:t>
                      </a:r>
                      <a:r>
                        <a:rPr sz="1000">
                          <a:latin typeface="Montserrat"/>
                        </a:rPr>
                        <a:t>), 2 mastógrafos </a:t>
                      </a:r>
                      <a:r>
                        <a:rPr sz="1000" err="1">
                          <a:latin typeface="Montserrat"/>
                        </a:rPr>
                        <a:t>digitales</a:t>
                      </a:r>
                      <a:r>
                        <a:rPr sz="1000">
                          <a:latin typeface="Montserrat"/>
                        </a:rPr>
                        <a:t> con </a:t>
                      </a:r>
                      <a:r>
                        <a:rPr sz="1000" err="1">
                          <a:latin typeface="Montserrat"/>
                        </a:rPr>
                        <a:t>esterotaxia</a:t>
                      </a:r>
                      <a:r>
                        <a:rPr sz="1000">
                          <a:latin typeface="Montserrat"/>
                        </a:rPr>
                        <a:t>, 1 </a:t>
                      </a:r>
                      <a:r>
                        <a:rPr sz="1000" err="1">
                          <a:latin typeface="Montserrat"/>
                        </a:rPr>
                        <a:t>tomógrafo</a:t>
                      </a:r>
                      <a:r>
                        <a:rPr sz="1000">
                          <a:latin typeface="Montserrat"/>
                        </a:rPr>
                        <a:t> axial </a:t>
                      </a:r>
                      <a:r>
                        <a:rPr sz="1000" err="1">
                          <a:latin typeface="Montserrat"/>
                        </a:rPr>
                        <a:t>computarizado</a:t>
                      </a:r>
                      <a:r>
                        <a:rPr sz="1000">
                          <a:latin typeface="Montserrat"/>
                        </a:rPr>
                        <a:t>, 1 </a:t>
                      </a:r>
                      <a:r>
                        <a:rPr sz="1000" err="1">
                          <a:latin typeface="Montserrat"/>
                        </a:rPr>
                        <a:t>resonancia</a:t>
                      </a:r>
                      <a:r>
                        <a:rPr sz="1000">
                          <a:latin typeface="Montserrat"/>
                        </a:rPr>
                        <a:t> </a:t>
                      </a:r>
                      <a:r>
                        <a:rPr sz="1000" err="1">
                          <a:latin typeface="Montserrat"/>
                        </a:rPr>
                        <a:t>magnética</a:t>
                      </a:r>
                      <a:endParaRPr sz="1000">
                        <a:latin typeface="Montserrat"/>
                      </a:endParaRPr>
                    </a:p>
                  </a:txBody>
                  <a:tcPr marL="3600" marR="3600" marT="3600" marB="3600" anchor="ctr">
                    <a:lnL w="12700" cap="flat" cmpd="sng" algn="ctr">
                      <a:solidFill>
                        <a:schemeClr val="bg2">
                          <a:lumMod val="20000"/>
                          <a:lumOff val="80000"/>
                        </a:schemeClr>
                      </a:solidFill>
                      <a:prstDash val="solid"/>
                      <a:round/>
                      <a:headEnd type="none" w="med" len="med"/>
                      <a:tailEnd type="none" w="med" len="med"/>
                    </a:lnL>
                    <a:lnB w="12700" cap="flat" cmpd="sng" algn="ctr">
                      <a:solidFill>
                        <a:schemeClr val="bg2">
                          <a:lumMod val="20000"/>
                          <a:lumOff val="80000"/>
                        </a:schemeClr>
                      </a:solidFill>
                      <a:prstDash val="solid"/>
                      <a:round/>
                      <a:headEnd type="none" w="med" len="med"/>
                      <a:tailEnd type="none" w="med" len="med"/>
                    </a:lnB>
                    <a:solidFill>
                      <a:srgbClr val="FFFFFF"/>
                    </a:solidFill>
                  </a:tcPr>
                </a:tc>
                <a:tc>
                  <a:txBody>
                    <a:bodyPr/>
                    <a:lstStyle/>
                    <a:p>
                      <a:pPr algn="ctr">
                        <a:lnSpc>
                          <a:spcPct val="100000"/>
                        </a:lnSpc>
                      </a:pPr>
                      <a:r>
                        <a:rPr sz="1000">
                          <a:latin typeface="Montserrat"/>
                        </a:rPr>
                        <a:t>$81.0</a:t>
                      </a:r>
                    </a:p>
                  </a:txBody>
                  <a:tcPr marL="3600" marR="3600" marT="3600" marB="3600" anchor="ctr">
                    <a:lnR w="12700" cap="flat" cmpd="sng" algn="ctr">
                      <a:solidFill>
                        <a:schemeClr val="bg2">
                          <a:lumMod val="20000"/>
                          <a:lumOff val="80000"/>
                        </a:schemeClr>
                      </a:solidFill>
                      <a:prstDash val="solid"/>
                      <a:round/>
                      <a:headEnd type="none" w="med" len="med"/>
                      <a:tailEnd type="none" w="med" len="med"/>
                    </a:lnR>
                    <a:lnB w="12700" cap="flat" cmpd="sng" algn="ctr">
                      <a:solidFill>
                        <a:schemeClr val="bg2">
                          <a:lumMod val="20000"/>
                          <a:lumOff val="80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graphicFrame>
        <p:nvGraphicFramePr>
          <p:cNvPr id="19" name="Table 18"/>
          <p:cNvGraphicFramePr>
            <a:graphicFrameLocks noGrp="1"/>
          </p:cNvGraphicFramePr>
          <p:nvPr>
            <p:extLst>
              <p:ext uri="{D42A27DB-BD31-4B8C-83A1-F6EECF244321}">
                <p14:modId xmlns:p14="http://schemas.microsoft.com/office/powerpoint/2010/main" val="3260454842"/>
              </p:ext>
            </p:extLst>
          </p:nvPr>
        </p:nvGraphicFramePr>
        <p:xfrm>
          <a:off x="1785600" y="7878237"/>
          <a:ext cx="5295600" cy="540000"/>
        </p:xfrm>
        <a:graphic>
          <a:graphicData uri="http://schemas.openxmlformats.org/drawingml/2006/table">
            <a:tbl>
              <a:tblPr firstRow="1" bandRow="1">
                <a:tableStyleId>{5C22544A-7EE6-4342-B048-85BDC9FD1C3A}</a:tableStyleId>
              </a:tblPr>
              <a:tblGrid>
                <a:gridCol w="4176000">
                  <a:extLst>
                    <a:ext uri="{9D8B030D-6E8A-4147-A177-3AD203B41FA5}">
                      <a16:colId xmlns:a16="http://schemas.microsoft.com/office/drawing/2014/main" val="20000"/>
                    </a:ext>
                  </a:extLst>
                </a:gridCol>
                <a:gridCol w="1119600">
                  <a:extLst>
                    <a:ext uri="{9D8B030D-6E8A-4147-A177-3AD203B41FA5}">
                      <a16:colId xmlns:a16="http://schemas.microsoft.com/office/drawing/2014/main" val="20001"/>
                    </a:ext>
                  </a:extLst>
                </a:gridCol>
              </a:tblGrid>
              <a:tr h="270000">
                <a:tc>
                  <a:txBody>
                    <a:bodyPr/>
                    <a:lstStyle/>
                    <a:p>
                      <a:pPr algn="ctr">
                        <a:defRPr sz="1000" b="1">
                          <a:solidFill>
                            <a:srgbClr val="FFFFFF"/>
                          </a:solidFill>
                          <a:latin typeface="Montserrat"/>
                        </a:defRPr>
                      </a:pPr>
                      <a:r>
                        <a:rPr sz="1050" err="1"/>
                        <a:t>Equipamiento</a:t>
                      </a:r>
                      <a:r>
                        <a:rPr sz="1050"/>
                        <a:t> </a:t>
                      </a:r>
                      <a:r>
                        <a:rPr sz="1050" err="1"/>
                        <a:t>Electromecánico</a:t>
                      </a:r>
                      <a:r>
                        <a:rPr sz="1050"/>
                        <a:t> 2025</a:t>
                      </a:r>
                    </a:p>
                  </a:txBody>
                  <a:tcPr marL="3600" marR="3600" marT="3600" marB="3600" anchor="ctr">
                    <a:lnL w="12700" cap="flat" cmpd="sng" algn="ctr">
                      <a:solidFill>
                        <a:schemeClr val="bg2">
                          <a:lumMod val="20000"/>
                          <a:lumOff val="80000"/>
                        </a:schemeClr>
                      </a:solidFill>
                      <a:prstDash val="solid"/>
                      <a:round/>
                      <a:headEnd type="none" w="med" len="med"/>
                      <a:tailEnd type="none" w="med" len="med"/>
                    </a:lnL>
                    <a:lnT w="12700" cap="flat" cmpd="sng" algn="ctr">
                      <a:solidFill>
                        <a:schemeClr val="bg2">
                          <a:lumMod val="20000"/>
                          <a:lumOff val="80000"/>
                        </a:schemeClr>
                      </a:solidFill>
                      <a:prstDash val="solid"/>
                      <a:round/>
                      <a:headEnd type="none" w="med" len="med"/>
                      <a:tailEnd type="none" w="med" len="med"/>
                    </a:lnT>
                    <a:solidFill>
                      <a:srgbClr val="BC955C"/>
                    </a:solidFill>
                  </a:tcPr>
                </a:tc>
                <a:tc>
                  <a:txBody>
                    <a:bodyPr/>
                    <a:lstStyle/>
                    <a:p>
                      <a:pPr algn="ctr">
                        <a:defRPr sz="1000" b="1">
                          <a:solidFill>
                            <a:srgbClr val="FFFFFF"/>
                          </a:solidFill>
                          <a:latin typeface="Montserrat"/>
                        </a:defRPr>
                      </a:pPr>
                      <a:r>
                        <a:rPr sz="1050"/>
                        <a:t>Monto (mdp)</a:t>
                      </a:r>
                    </a:p>
                  </a:txBody>
                  <a:tcPr marL="3600" marR="3600" marT="3600" marB="3600" anchor="ctr">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solidFill>
                      <a:srgbClr val="BC955C"/>
                    </a:solidFill>
                  </a:tcPr>
                </a:tc>
                <a:extLst>
                  <a:ext uri="{0D108BD9-81ED-4DB2-BD59-A6C34878D82A}">
                    <a16:rowId xmlns:a16="http://schemas.microsoft.com/office/drawing/2014/main" val="10000"/>
                  </a:ext>
                </a:extLst>
              </a:tr>
              <a:tr h="270000">
                <a:tc>
                  <a:txBody>
                    <a:bodyPr/>
                    <a:lstStyle/>
                    <a:p>
                      <a:pPr algn="l">
                        <a:lnSpc>
                          <a:spcPct val="100000"/>
                        </a:lnSpc>
                      </a:pPr>
                      <a:r>
                        <a:rPr sz="1000" err="1">
                          <a:latin typeface="Montserrat"/>
                        </a:rPr>
                        <a:t>Adquisición</a:t>
                      </a:r>
                      <a:r>
                        <a:rPr sz="1000">
                          <a:latin typeface="Montserrat"/>
                        </a:rPr>
                        <a:t> de </a:t>
                      </a:r>
                      <a:r>
                        <a:rPr sz="1000" err="1">
                          <a:latin typeface="Montserrat"/>
                        </a:rPr>
                        <a:t>elevadores</a:t>
                      </a:r>
                      <a:endParaRPr sz="1000">
                        <a:latin typeface="Montserrat"/>
                      </a:endParaRPr>
                    </a:p>
                  </a:txBody>
                  <a:tcPr marL="3600" marR="3600" marT="3600" marB="3600" anchor="ctr">
                    <a:lnL w="12700" cap="flat" cmpd="sng" algn="ctr">
                      <a:solidFill>
                        <a:schemeClr val="bg2">
                          <a:lumMod val="20000"/>
                          <a:lumOff val="80000"/>
                        </a:schemeClr>
                      </a:solidFill>
                      <a:prstDash val="solid"/>
                      <a:round/>
                      <a:headEnd type="none" w="med" len="med"/>
                      <a:tailEnd type="none" w="med" len="med"/>
                    </a:lnL>
                    <a:lnB w="12700" cap="flat" cmpd="sng" algn="ctr">
                      <a:solidFill>
                        <a:schemeClr val="bg2">
                          <a:lumMod val="20000"/>
                          <a:lumOff val="80000"/>
                        </a:schemeClr>
                      </a:solidFill>
                      <a:prstDash val="solid"/>
                      <a:round/>
                      <a:headEnd type="none" w="med" len="med"/>
                      <a:tailEnd type="none" w="med" len="med"/>
                    </a:lnB>
                    <a:solidFill>
                      <a:srgbClr val="FFFFFF"/>
                    </a:solidFill>
                  </a:tcPr>
                </a:tc>
                <a:tc>
                  <a:txBody>
                    <a:bodyPr/>
                    <a:lstStyle/>
                    <a:p>
                      <a:pPr algn="ctr">
                        <a:lnSpc>
                          <a:spcPct val="100000"/>
                        </a:lnSpc>
                      </a:pPr>
                      <a:r>
                        <a:rPr sz="1000">
                          <a:latin typeface="Montserrat"/>
                        </a:rPr>
                        <a:t>$25.2</a:t>
                      </a:r>
                    </a:p>
                  </a:txBody>
                  <a:tcPr marL="3600" marR="3600" marT="3600" marB="3600" anchor="ctr">
                    <a:lnR w="12700" cap="flat" cmpd="sng" algn="ctr">
                      <a:solidFill>
                        <a:schemeClr val="bg2">
                          <a:lumMod val="20000"/>
                          <a:lumOff val="80000"/>
                        </a:schemeClr>
                      </a:solidFill>
                      <a:prstDash val="solid"/>
                      <a:round/>
                      <a:headEnd type="none" w="med" len="med"/>
                      <a:tailEnd type="none" w="med" len="med"/>
                    </a:lnR>
                    <a:lnB w="12700" cap="flat" cmpd="sng" algn="ctr">
                      <a:solidFill>
                        <a:schemeClr val="bg2">
                          <a:lumMod val="20000"/>
                          <a:lumOff val="80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20" name="TextBox 19"/>
          <p:cNvSpPr txBox="1"/>
          <p:nvPr/>
        </p:nvSpPr>
        <p:spPr>
          <a:xfrm>
            <a:off x="5983607" y="878400"/>
            <a:ext cx="888385" cy="553998"/>
          </a:xfrm>
          <a:prstGeom prst="rect">
            <a:avLst/>
          </a:prstGeom>
          <a:noFill/>
        </p:spPr>
        <p:txBody>
          <a:bodyPr wrap="none">
            <a:spAutoFit/>
          </a:bodyPr>
          <a:lstStyle/>
          <a:p>
            <a:pPr algn="ctr">
              <a:defRPr sz="1400" b="1">
                <a:solidFill>
                  <a:srgbClr val="FFFFFF"/>
                </a:solidFill>
                <a:latin typeface="Montserrat"/>
              </a:defRPr>
            </a:pPr>
            <a:r>
              <a:rPr sz="1600"/>
              <a:t>1,770.3</a:t>
            </a:r>
          </a:p>
          <a:p>
            <a:pPr algn="ctr">
              <a:defRPr sz="1400" b="1">
                <a:solidFill>
                  <a:srgbClr val="FFFFFF"/>
                </a:solidFill>
                <a:latin typeface="Montserrat"/>
              </a:defRPr>
            </a:pPr>
            <a:r>
              <a:t>mdp</a:t>
            </a:r>
          </a:p>
        </p:txBody>
      </p:sp>
      <p:pic>
        <p:nvPicPr>
          <p:cNvPr id="13" name="Imagen 12" descr="Forma, Círculo&#10;&#10;El contenido generado por IA puede ser incorrecto.">
            <a:extLst>
              <a:ext uri="{FF2B5EF4-FFF2-40B4-BE49-F238E27FC236}">
                <a16:creationId xmlns:a16="http://schemas.microsoft.com/office/drawing/2014/main" id="{935F4B0B-6D7E-979B-1BC9-85DED4E42233}"/>
              </a:ext>
            </a:extLst>
          </p:cNvPr>
          <p:cNvPicPr>
            <a:picLocks noChangeAspect="1"/>
          </p:cNvPicPr>
          <p:nvPr/>
        </p:nvPicPr>
        <p:blipFill>
          <a:blip r:embed="rId5"/>
          <a:srcRect b="-847"/>
          <a:stretch>
            <a:fillRect/>
          </a:stretch>
        </p:blipFill>
        <p:spPr>
          <a:xfrm>
            <a:off x="530363" y="7440394"/>
            <a:ext cx="875508" cy="854908"/>
          </a:xfrm>
          <a:prstGeom prst="rect">
            <a:avLst/>
          </a:prstGeom>
        </p:spPr>
      </p:pic>
      <p:sp>
        <p:nvSpPr>
          <p:cNvPr id="21" name="CuadroTexto 12">
            <a:extLst>
              <a:ext uri="{FF2B5EF4-FFF2-40B4-BE49-F238E27FC236}">
                <a16:creationId xmlns:a16="http://schemas.microsoft.com/office/drawing/2014/main" id="{A68EE9FF-D1B7-7646-BECE-8951D096B5E0}"/>
              </a:ext>
            </a:extLst>
          </p:cNvPr>
          <p:cNvSpPr txBox="1"/>
          <p:nvPr/>
        </p:nvSpPr>
        <p:spPr>
          <a:xfrm>
            <a:off x="530363" y="7541224"/>
            <a:ext cx="875508"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i="0" u="none" strike="noStrike">
                <a:solidFill>
                  <a:srgbClr val="BC955C"/>
                </a:solidFill>
                <a:latin typeface="Montserrat"/>
                <a:ea typeface="Montserrat"/>
                <a:cs typeface="Montserrat"/>
              </a:rPr>
              <a:t>2</a:t>
            </a:r>
          </a:p>
          <a:p>
            <a:pPr algn="ctr"/>
            <a:r>
              <a:rPr lang="en-US" sz="800" b="1">
                <a:solidFill>
                  <a:srgbClr val="BC955C"/>
                </a:solidFill>
                <a:latin typeface="Montserrat"/>
              </a:rPr>
              <a:t>Mastógrafos</a:t>
            </a:r>
          </a:p>
        </p:txBody>
      </p:sp>
    </p:spTree>
    <p:extLst>
      <p:ext uri="{BB962C8B-B14F-4D97-AF65-F5344CB8AC3E}">
        <p14:creationId xmlns:p14="http://schemas.microsoft.com/office/powerpoint/2010/main" val="32405657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pic>
        <p:nvPicPr>
          <p:cNvPr id="20"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9F2241"/>
                          </a:solidFill>
                          <a:latin typeface="Montserrat"/>
                          <a:ea typeface="Montserrat"/>
                          <a:cs typeface="Montserrat"/>
                          <a:sym typeface="Montserrat"/>
                        </a:rPr>
                        <a:t>Acciones 2026</a:t>
                      </a:r>
                      <a:endParaRPr sz="2100" b="1" u="none" strike="noStrike" cap="none">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a:ln>
                <a:noFill/>
              </a:ln>
              <a:solidFill>
                <a:srgbClr val="9F2241"/>
              </a:solidFill>
              <a:effectLst/>
              <a:uLnTx/>
              <a:uFillTx/>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5">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690420"/>
            <a:ext cx="1599000" cy="770400"/>
          </a:xfrm>
          <a:prstGeom prst="rect">
            <a:avLst/>
          </a:prstGeom>
          <a:noFill/>
          <a:ln>
            <a:noFill/>
          </a:ln>
        </p:spPr>
      </p:pic>
      <p:sp>
        <p:nvSpPr>
          <p:cNvPr id="3" name="CuadroTexto 9">
            <a:extLst>
              <a:ext uri="{FF2B5EF4-FFF2-40B4-BE49-F238E27FC236}">
                <a16:creationId xmlns:a16="http://schemas.microsoft.com/office/drawing/2014/main" id="{ABCC6279-D2EB-1F1F-D811-3FFF80887FF1}"/>
              </a:ext>
            </a:extLst>
          </p:cNvPr>
          <p:cNvSpPr txBox="1"/>
          <p:nvPr/>
        </p:nvSpPr>
        <p:spPr>
          <a:xfrm>
            <a:off x="-644050" y="1704910"/>
            <a:ext cx="2731988"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err="1">
                <a:solidFill>
                  <a:srgbClr val="A42145"/>
                </a:solidFill>
                <a:latin typeface="Montserrat"/>
                <a:ea typeface="Montserrat"/>
                <a:cs typeface="Montserrat"/>
              </a:rPr>
              <a:t>Construcción</a:t>
            </a:r>
            <a:r>
              <a:rPr lang="en-US" sz="1200" b="1" i="0" u="none" strike="noStrike">
                <a:solidFill>
                  <a:srgbClr val="A42145"/>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488C755F-8E2D-8CE1-6C1B-6DBB55EE2CD3}"/>
              </a:ext>
            </a:extLst>
          </p:cNvPr>
          <p:cNvPicPr>
            <a:picLocks noChangeAspect="1"/>
          </p:cNvPicPr>
          <p:nvPr/>
        </p:nvPicPr>
        <p:blipFill>
          <a:blip r:embed="rId6"/>
          <a:stretch>
            <a:fillRect/>
          </a:stretch>
        </p:blipFill>
        <p:spPr>
          <a:xfrm>
            <a:off x="217527" y="2031271"/>
            <a:ext cx="904434" cy="881707"/>
          </a:xfrm>
          <a:prstGeom prst="rect">
            <a:avLst/>
          </a:prstGeom>
        </p:spPr>
      </p:pic>
      <p:sp>
        <p:nvSpPr>
          <p:cNvPr id="6" name="CuadroTexto 11">
            <a:extLst>
              <a:ext uri="{FF2B5EF4-FFF2-40B4-BE49-F238E27FC236}">
                <a16:creationId xmlns:a16="http://schemas.microsoft.com/office/drawing/2014/main" id="{4578A0AA-9DC1-3453-263A-76BE5A8BE282}"/>
              </a:ext>
            </a:extLst>
          </p:cNvPr>
          <p:cNvSpPr txBox="1"/>
          <p:nvPr/>
        </p:nvSpPr>
        <p:spPr>
          <a:xfrm>
            <a:off x="-1273356" y="2175728"/>
            <a:ext cx="38862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1</a:t>
            </a:r>
            <a:endParaRPr lang="en-US" sz="2000" b="1" i="0" u="none" strike="noStrike">
              <a:solidFill>
                <a:srgbClr val="A42145"/>
              </a:solidFill>
              <a:latin typeface="Montserrat"/>
              <a:ea typeface="Montserrat"/>
              <a:cs typeface="Montserrat"/>
            </a:endParaRPr>
          </a:p>
          <a:p>
            <a:pPr algn="ctr"/>
            <a:r>
              <a:rPr lang="en-US" sz="800" b="1">
                <a:solidFill>
                  <a:srgbClr val="A42145"/>
                </a:solidFill>
                <a:latin typeface="Montserrat"/>
                <a:ea typeface="Montserrat"/>
                <a:cs typeface="Montserrat"/>
              </a:rPr>
              <a:t>Hospital</a:t>
            </a:r>
            <a:endParaRPr lang="en-US" sz="800" b="1" i="0" u="none" strike="noStrike">
              <a:solidFill>
                <a:srgbClr val="A42145"/>
              </a:solidFill>
              <a:latin typeface="Montserrat"/>
              <a:ea typeface="Montserrat"/>
              <a:cs typeface="Montserrat"/>
            </a:endParaRPr>
          </a:p>
        </p:txBody>
      </p:sp>
      <p:pic>
        <p:nvPicPr>
          <p:cNvPr id="11" name="Imagen 10" descr="Forma, Círculo&#10;&#10;El contenido generado por IA puede ser incorrecto.">
            <a:extLst>
              <a:ext uri="{FF2B5EF4-FFF2-40B4-BE49-F238E27FC236}">
                <a16:creationId xmlns:a16="http://schemas.microsoft.com/office/drawing/2014/main" id="{4F2E1097-3694-6090-CBA5-667DCD67E48E}"/>
              </a:ext>
            </a:extLst>
          </p:cNvPr>
          <p:cNvPicPr>
            <a:picLocks noChangeAspect="1"/>
          </p:cNvPicPr>
          <p:nvPr/>
        </p:nvPicPr>
        <p:blipFill>
          <a:blip r:embed="rId6"/>
          <a:stretch>
            <a:fillRect/>
          </a:stretch>
        </p:blipFill>
        <p:spPr>
          <a:xfrm>
            <a:off x="238282" y="3106797"/>
            <a:ext cx="904434" cy="881707"/>
          </a:xfrm>
          <a:prstGeom prst="rect">
            <a:avLst/>
          </a:prstGeom>
        </p:spPr>
      </p:pic>
      <p:sp>
        <p:nvSpPr>
          <p:cNvPr id="12" name="CuadroTexto 11">
            <a:extLst>
              <a:ext uri="{FF2B5EF4-FFF2-40B4-BE49-F238E27FC236}">
                <a16:creationId xmlns:a16="http://schemas.microsoft.com/office/drawing/2014/main" id="{907F7F6F-8FF8-56A0-795F-B2A127C97D4D}"/>
              </a:ext>
            </a:extLst>
          </p:cNvPr>
          <p:cNvSpPr txBox="1"/>
          <p:nvPr/>
        </p:nvSpPr>
        <p:spPr>
          <a:xfrm>
            <a:off x="-1257473" y="3243096"/>
            <a:ext cx="38862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2</a:t>
            </a:r>
            <a:endParaRPr lang="en-US" sz="2000" b="1" i="0" u="none" strike="noStrike">
              <a:solidFill>
                <a:srgbClr val="A42145"/>
              </a:solidFill>
              <a:latin typeface="Montserrat"/>
              <a:ea typeface="Montserrat"/>
              <a:cs typeface="Montserrat"/>
            </a:endParaRPr>
          </a:p>
          <a:p>
            <a:pPr algn="ctr"/>
            <a:r>
              <a:rPr lang="en-US" sz="800" b="1">
                <a:solidFill>
                  <a:srgbClr val="A42145"/>
                </a:solidFill>
                <a:latin typeface="Montserrat"/>
              </a:rPr>
              <a:t>UMF</a:t>
            </a:r>
            <a:endParaRPr lang="en-US"/>
          </a:p>
        </p:txBody>
      </p:sp>
      <p:pic>
        <p:nvPicPr>
          <p:cNvPr id="13" name="Imagen 12" descr="Forma, Círculo&#10;&#10;El contenido generado por IA puede ser incorrecto.">
            <a:extLst>
              <a:ext uri="{FF2B5EF4-FFF2-40B4-BE49-F238E27FC236}">
                <a16:creationId xmlns:a16="http://schemas.microsoft.com/office/drawing/2014/main" id="{CA24C0E7-282C-9B96-A7B5-7554B2C6EF8D}"/>
              </a:ext>
            </a:extLst>
          </p:cNvPr>
          <p:cNvPicPr>
            <a:picLocks noChangeAspect="1"/>
          </p:cNvPicPr>
          <p:nvPr/>
        </p:nvPicPr>
        <p:blipFill>
          <a:blip r:embed="rId6"/>
          <a:stretch>
            <a:fillRect/>
          </a:stretch>
        </p:blipFill>
        <p:spPr>
          <a:xfrm>
            <a:off x="249294" y="4147102"/>
            <a:ext cx="872667" cy="849944"/>
          </a:xfrm>
          <a:prstGeom prst="rect">
            <a:avLst/>
          </a:prstGeom>
        </p:spPr>
      </p:pic>
      <p:sp>
        <p:nvSpPr>
          <p:cNvPr id="14" name="CuadroTexto 11">
            <a:extLst>
              <a:ext uri="{FF2B5EF4-FFF2-40B4-BE49-F238E27FC236}">
                <a16:creationId xmlns:a16="http://schemas.microsoft.com/office/drawing/2014/main" id="{2C157DF6-A7FD-940D-19DA-323ACD68454D}"/>
              </a:ext>
            </a:extLst>
          </p:cNvPr>
          <p:cNvSpPr txBox="1"/>
          <p:nvPr/>
        </p:nvSpPr>
        <p:spPr>
          <a:xfrm>
            <a:off x="-1257473" y="4201653"/>
            <a:ext cx="3886200"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1</a:t>
            </a:r>
            <a:endParaRPr lang="en-US" sz="2000" b="1" i="0" u="none" strike="noStrike">
              <a:solidFill>
                <a:srgbClr val="A42145"/>
              </a:solidFill>
              <a:latin typeface="Montserrat"/>
              <a:ea typeface="Montserrat"/>
              <a:cs typeface="Montserrat"/>
            </a:endParaRPr>
          </a:p>
          <a:p>
            <a:pPr algn="ctr"/>
            <a:r>
              <a:rPr lang="en-US" sz="800" b="1">
                <a:solidFill>
                  <a:srgbClr val="A42145"/>
                </a:solidFill>
                <a:latin typeface="Montserrat"/>
              </a:rPr>
              <a:t>Centro de </a:t>
            </a:r>
            <a:endParaRPr lang="en-US"/>
          </a:p>
          <a:p>
            <a:pPr algn="ctr"/>
            <a:r>
              <a:rPr lang="en-US" sz="800" b="1" err="1">
                <a:solidFill>
                  <a:srgbClr val="A42145"/>
                </a:solidFill>
                <a:latin typeface="Montserrat"/>
              </a:rPr>
              <a:t>Mezclas</a:t>
            </a:r>
            <a:endParaRPr lang="en-US" err="1"/>
          </a:p>
        </p:txBody>
      </p:sp>
      <p:sp>
        <p:nvSpPr>
          <p:cNvPr id="15" name="TextBox 1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graphicFrame>
        <p:nvGraphicFramePr>
          <p:cNvPr id="16" name="Table 15"/>
          <p:cNvGraphicFramePr>
            <a:graphicFrameLocks noGrp="1"/>
          </p:cNvGraphicFramePr>
          <p:nvPr>
            <p:extLst>
              <p:ext uri="{D42A27DB-BD31-4B8C-83A1-F6EECF244321}">
                <p14:modId xmlns:p14="http://schemas.microsoft.com/office/powerpoint/2010/main" val="3927523285"/>
              </p:ext>
            </p:extLst>
          </p:nvPr>
        </p:nvGraphicFramePr>
        <p:xfrm>
          <a:off x="1785600" y="1584000"/>
          <a:ext cx="5396400" cy="2015992"/>
        </p:xfrm>
        <a:graphic>
          <a:graphicData uri="http://schemas.openxmlformats.org/drawingml/2006/table">
            <a:tbl>
              <a:tblPr firstRow="1" bandRow="1">
                <a:tableStyleId>{5C22544A-7EE6-4342-B048-85BDC9FD1C3A}</a:tableStyleId>
              </a:tblPr>
              <a:tblGrid>
                <a:gridCol w="4255200">
                  <a:extLst>
                    <a:ext uri="{9D8B030D-6E8A-4147-A177-3AD203B41FA5}">
                      <a16:colId xmlns:a16="http://schemas.microsoft.com/office/drawing/2014/main" val="20000"/>
                    </a:ext>
                  </a:extLst>
                </a:gridCol>
                <a:gridCol w="1141200">
                  <a:extLst>
                    <a:ext uri="{9D8B030D-6E8A-4147-A177-3AD203B41FA5}">
                      <a16:colId xmlns:a16="http://schemas.microsoft.com/office/drawing/2014/main" val="20001"/>
                    </a:ext>
                  </a:extLst>
                </a:gridCol>
              </a:tblGrid>
              <a:tr h="251999">
                <a:tc>
                  <a:txBody>
                    <a:bodyPr/>
                    <a:lstStyle/>
                    <a:p>
                      <a:pPr algn="ctr">
                        <a:defRPr sz="1000" b="1">
                          <a:solidFill>
                            <a:srgbClr val="FFFFFF"/>
                          </a:solidFill>
                          <a:latin typeface="Montserrat"/>
                        </a:defRPr>
                      </a:pPr>
                      <a:r>
                        <a:rPr sz="1050"/>
                        <a:t>Obras de Infraestructura 2026</a:t>
                      </a:r>
                    </a:p>
                  </a:txBody>
                  <a:tcPr marL="3600" marR="3600" marT="3600" marB="3600">
                    <a:lnL w="12700" cap="flat" cmpd="sng" algn="ctr">
                      <a:solidFill>
                        <a:schemeClr val="bg2">
                          <a:lumMod val="20000"/>
                          <a:lumOff val="80000"/>
                        </a:schemeClr>
                      </a:solidFill>
                      <a:prstDash val="solid"/>
                      <a:round/>
                      <a:headEnd type="none" w="med" len="med"/>
                      <a:tailEnd type="none" w="med" len="med"/>
                    </a:lnL>
                    <a:lnT w="12700" cap="flat" cmpd="sng" algn="ctr">
                      <a:solidFill>
                        <a:schemeClr val="bg2">
                          <a:lumMod val="20000"/>
                          <a:lumOff val="80000"/>
                        </a:schemeClr>
                      </a:solidFill>
                      <a:prstDash val="solid"/>
                      <a:round/>
                      <a:headEnd type="none" w="med" len="med"/>
                      <a:tailEnd type="none" w="med" len="med"/>
                    </a:lnT>
                    <a:solidFill>
                      <a:srgbClr val="9F2241"/>
                    </a:solidFill>
                  </a:tcPr>
                </a:tc>
                <a:tc>
                  <a:txBody>
                    <a:bodyPr/>
                    <a:lstStyle/>
                    <a:p>
                      <a:pPr algn="ctr">
                        <a:defRPr sz="1000" b="1">
                          <a:solidFill>
                            <a:srgbClr val="FFFFFF"/>
                          </a:solidFill>
                          <a:latin typeface="Montserrat"/>
                        </a:defRPr>
                      </a:pPr>
                      <a:r>
                        <a:rPr sz="1050"/>
                        <a:t>Monto (mdp)</a:t>
                      </a:r>
                    </a:p>
                  </a:txBody>
                  <a:tcPr marL="3600" marR="3600" marT="3600" marB="3600">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solidFill>
                      <a:srgbClr val="9F2241"/>
                    </a:solidFill>
                  </a:tcPr>
                </a:tc>
                <a:extLst>
                  <a:ext uri="{0D108BD9-81ED-4DB2-BD59-A6C34878D82A}">
                    <a16:rowId xmlns:a16="http://schemas.microsoft.com/office/drawing/2014/main" val="10000"/>
                  </a:ext>
                </a:extLst>
              </a:tr>
              <a:tr h="251999">
                <a:tc>
                  <a:txBody>
                    <a:bodyPr/>
                    <a:lstStyle/>
                    <a:p>
                      <a:pPr algn="l">
                        <a:lnSpc>
                          <a:spcPct val="100000"/>
                        </a:lnSpc>
                      </a:pPr>
                      <a:r>
                        <a:rPr sz="1000">
                          <a:latin typeface="Montserrat"/>
                        </a:rPr>
                        <a:t>Hospital Regional de Especialidades, Saltillo</a:t>
                      </a:r>
                    </a:p>
                  </a:txBody>
                  <a:tcPr marL="3600" marR="3600" marT="3600" marB="3600" anchor="ct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lnSpc>
                          <a:spcPct val="100000"/>
                        </a:lnSpc>
                      </a:pPr>
                      <a:r>
                        <a:rPr sz="1000">
                          <a:latin typeface="Montserrat"/>
                        </a:rPr>
                        <a:t>$2,890.0</a:t>
                      </a:r>
                    </a:p>
                  </a:txBody>
                  <a:tcPr marL="3600" marR="3600" marT="3600" marB="3600" anchor="ct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1"/>
                  </a:ext>
                </a:extLst>
              </a:tr>
              <a:tr h="251999">
                <a:tc>
                  <a:txBody>
                    <a:bodyPr/>
                    <a:lstStyle/>
                    <a:p>
                      <a:pPr algn="l">
                        <a:lnSpc>
                          <a:spcPct val="100000"/>
                        </a:lnSpc>
                      </a:pPr>
                      <a:r>
                        <a:rPr sz="1000" err="1">
                          <a:latin typeface="Montserrat"/>
                        </a:rPr>
                        <a:t>Fortalecimiento</a:t>
                      </a:r>
                      <a:r>
                        <a:rPr sz="1000">
                          <a:latin typeface="Montserrat"/>
                        </a:rPr>
                        <a:t> del HR Matamoros</a:t>
                      </a:r>
                    </a:p>
                  </a:txBody>
                  <a:tcPr marL="3600" marR="3600" marT="3600" marB="3600" anchor="ctr">
                    <a:lnL w="12700" cap="flat" cmpd="sng" algn="ctr">
                      <a:solidFill>
                        <a:schemeClr val="bg2">
                          <a:lumMod val="20000"/>
                          <a:lumOff val="80000"/>
                        </a:schemeClr>
                      </a:solidFill>
                      <a:prstDash val="solid"/>
                      <a:round/>
                      <a:headEnd type="none" w="med" len="med"/>
                      <a:tailEnd type="none" w="med" len="med"/>
                    </a:lnL>
                    <a:solidFill>
                      <a:srgbClr val="D9D9D9"/>
                    </a:solidFill>
                  </a:tcPr>
                </a:tc>
                <a:tc>
                  <a:txBody>
                    <a:bodyPr/>
                    <a:lstStyle/>
                    <a:p>
                      <a:pPr algn="ctr">
                        <a:lnSpc>
                          <a:spcPct val="100000"/>
                        </a:lnSpc>
                      </a:pPr>
                      <a:r>
                        <a:rPr sz="1000">
                          <a:latin typeface="Montserrat"/>
                        </a:rPr>
                        <a:t>$377.5</a:t>
                      </a:r>
                    </a:p>
                  </a:txBody>
                  <a:tcPr marL="3600" marR="3600" marT="3600" marB="3600" anchor="ctr">
                    <a:lnR w="12700" cap="flat" cmpd="sng" algn="ctr">
                      <a:solidFill>
                        <a:schemeClr val="bg2">
                          <a:lumMod val="20000"/>
                          <a:lumOff val="80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02"/>
                  </a:ext>
                </a:extLst>
              </a:tr>
              <a:tr h="251999">
                <a:tc>
                  <a:txBody>
                    <a:bodyPr/>
                    <a:lstStyle/>
                    <a:p>
                      <a:pPr algn="l">
                        <a:lnSpc>
                          <a:spcPct val="100000"/>
                        </a:lnSpc>
                      </a:pPr>
                      <a:r>
                        <a:rPr sz="1000">
                          <a:latin typeface="Montserrat"/>
                        </a:rPr>
                        <a:t>Fortalecimiento del HR San Buenaventura</a:t>
                      </a:r>
                    </a:p>
                  </a:txBody>
                  <a:tcPr marL="3600" marR="3600" marT="3600" marB="3600" anchor="ct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lnSpc>
                          <a:spcPct val="100000"/>
                        </a:lnSpc>
                      </a:pPr>
                      <a:r>
                        <a:rPr sz="1000">
                          <a:latin typeface="Montserrat"/>
                        </a:rPr>
                        <a:t>$317.2</a:t>
                      </a:r>
                    </a:p>
                  </a:txBody>
                  <a:tcPr marL="3600" marR="3600" marT="3600" marB="3600" anchor="ct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3"/>
                  </a:ext>
                </a:extLst>
              </a:tr>
              <a:tr h="251999">
                <a:tc>
                  <a:txBody>
                    <a:bodyPr/>
                    <a:lstStyle/>
                    <a:p>
                      <a:pPr algn="l">
                        <a:lnSpc>
                          <a:spcPct val="100000"/>
                        </a:lnSpc>
                      </a:pPr>
                      <a:r>
                        <a:rPr sz="1000">
                          <a:latin typeface="Montserrat"/>
                        </a:rPr>
                        <a:t>UMF 10+5 Santa Bárbara, Coahuila</a:t>
                      </a:r>
                    </a:p>
                  </a:txBody>
                  <a:tcPr marL="3600" marR="3600" marT="3600" marB="3600" anchor="ctr">
                    <a:lnL w="12700" cap="flat" cmpd="sng" algn="ctr">
                      <a:solidFill>
                        <a:schemeClr val="bg2">
                          <a:lumMod val="20000"/>
                          <a:lumOff val="80000"/>
                        </a:schemeClr>
                      </a:solidFill>
                      <a:prstDash val="solid"/>
                      <a:round/>
                      <a:headEnd type="none" w="med" len="med"/>
                      <a:tailEnd type="none" w="med" len="med"/>
                    </a:lnL>
                    <a:solidFill>
                      <a:srgbClr val="D9D9D9"/>
                    </a:solidFill>
                  </a:tcPr>
                </a:tc>
                <a:tc>
                  <a:txBody>
                    <a:bodyPr/>
                    <a:lstStyle/>
                    <a:p>
                      <a:pPr algn="ctr">
                        <a:lnSpc>
                          <a:spcPct val="100000"/>
                        </a:lnSpc>
                      </a:pPr>
                      <a:r>
                        <a:rPr sz="1000">
                          <a:latin typeface="Montserrat"/>
                        </a:rPr>
                        <a:t>$227.0</a:t>
                      </a:r>
                    </a:p>
                  </a:txBody>
                  <a:tcPr marL="3600" marR="3600" marT="3600" marB="3600" anchor="ctr">
                    <a:lnR w="12700" cap="flat" cmpd="sng" algn="ctr">
                      <a:solidFill>
                        <a:schemeClr val="bg2">
                          <a:lumMod val="20000"/>
                          <a:lumOff val="80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04"/>
                  </a:ext>
                </a:extLst>
              </a:tr>
              <a:tr h="251999">
                <a:tc>
                  <a:txBody>
                    <a:bodyPr/>
                    <a:lstStyle/>
                    <a:p>
                      <a:pPr algn="l">
                        <a:lnSpc>
                          <a:spcPct val="100000"/>
                        </a:lnSpc>
                      </a:pPr>
                      <a:r>
                        <a:rPr sz="1000">
                          <a:latin typeface="Montserrat"/>
                        </a:rPr>
                        <a:t>UMF 10+5 El Cortijo, Coahuila</a:t>
                      </a:r>
                    </a:p>
                  </a:txBody>
                  <a:tcPr marL="3600" marR="3600" marT="3600" marB="3600" anchor="ct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lnSpc>
                          <a:spcPct val="100000"/>
                        </a:lnSpc>
                      </a:pPr>
                      <a:r>
                        <a:rPr sz="1000">
                          <a:latin typeface="Montserrat"/>
                        </a:rPr>
                        <a:t>$216.2</a:t>
                      </a:r>
                    </a:p>
                  </a:txBody>
                  <a:tcPr marL="3600" marR="3600" marT="3600" marB="3600" anchor="ct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5"/>
                  </a:ext>
                </a:extLst>
              </a:tr>
              <a:tr h="251999">
                <a:tc>
                  <a:txBody>
                    <a:bodyPr/>
                    <a:lstStyle/>
                    <a:p>
                      <a:pPr algn="l">
                        <a:lnSpc>
                          <a:spcPct val="100000"/>
                        </a:lnSpc>
                      </a:pPr>
                      <a:r>
                        <a:rPr sz="1000">
                          <a:latin typeface="Montserrat"/>
                        </a:rPr>
                        <a:t>Centro de mezclas UMAE HES 71 Torreón (en proceso de licencias)</a:t>
                      </a:r>
                    </a:p>
                  </a:txBody>
                  <a:tcPr marL="3600" marR="3600" marT="3600" marB="3600" anchor="ctr">
                    <a:lnL w="12700" cap="flat" cmpd="sng" algn="ctr">
                      <a:solidFill>
                        <a:schemeClr val="bg2">
                          <a:lumMod val="20000"/>
                          <a:lumOff val="80000"/>
                        </a:schemeClr>
                      </a:solidFill>
                      <a:prstDash val="solid"/>
                      <a:round/>
                      <a:headEnd type="none" w="med" len="med"/>
                      <a:tailEnd type="none" w="med" len="med"/>
                    </a:lnL>
                    <a:solidFill>
                      <a:srgbClr val="D9D9D9"/>
                    </a:solidFill>
                  </a:tcPr>
                </a:tc>
                <a:tc>
                  <a:txBody>
                    <a:bodyPr/>
                    <a:lstStyle/>
                    <a:p>
                      <a:pPr algn="ctr">
                        <a:lnSpc>
                          <a:spcPct val="100000"/>
                        </a:lnSpc>
                      </a:pPr>
                      <a:r>
                        <a:rPr sz="1000">
                          <a:latin typeface="Montserrat"/>
                        </a:rPr>
                        <a:t>$60.6</a:t>
                      </a:r>
                    </a:p>
                  </a:txBody>
                  <a:tcPr marL="3600" marR="3600" marT="3600" marB="3600" anchor="ctr">
                    <a:lnR w="12700" cap="flat" cmpd="sng" algn="ctr">
                      <a:solidFill>
                        <a:schemeClr val="bg2">
                          <a:lumMod val="20000"/>
                          <a:lumOff val="80000"/>
                        </a:schemeClr>
                      </a:solidFill>
                      <a:prstDash val="solid"/>
                      <a:round/>
                      <a:headEnd type="none" w="med" len="med"/>
                      <a:tailEnd type="none" w="med" len="med"/>
                    </a:lnR>
                    <a:solidFill>
                      <a:srgbClr val="D9D9D9"/>
                    </a:solidFill>
                  </a:tcPr>
                </a:tc>
                <a:extLst>
                  <a:ext uri="{0D108BD9-81ED-4DB2-BD59-A6C34878D82A}">
                    <a16:rowId xmlns:a16="http://schemas.microsoft.com/office/drawing/2014/main" val="10006"/>
                  </a:ext>
                </a:extLst>
              </a:tr>
              <a:tr h="251999">
                <a:tc>
                  <a:txBody>
                    <a:bodyPr/>
                    <a:lstStyle/>
                    <a:p>
                      <a:pPr algn="l">
                        <a:lnSpc>
                          <a:spcPct val="100000"/>
                        </a:lnSpc>
                        <a:defRPr sz="900" b="1">
                          <a:solidFill>
                            <a:srgbClr val="FFFFFF"/>
                          </a:solidFill>
                          <a:latin typeface="Montserrat"/>
                        </a:defRPr>
                      </a:pPr>
                      <a:r>
                        <a:rPr sz="1000"/>
                        <a:t>Subtotal</a:t>
                      </a:r>
                    </a:p>
                  </a:txBody>
                  <a:tcPr marL="3600" marR="3600" marT="3600" marB="3600" anchor="ctr">
                    <a:lnL w="12700" cap="flat" cmpd="sng" algn="ctr">
                      <a:solidFill>
                        <a:schemeClr val="bg2">
                          <a:lumMod val="20000"/>
                          <a:lumOff val="80000"/>
                        </a:schemeClr>
                      </a:solidFill>
                      <a:prstDash val="solid"/>
                      <a:round/>
                      <a:headEnd type="none" w="med" len="med"/>
                      <a:tailEnd type="none" w="med" len="med"/>
                    </a:lnL>
                    <a:lnB w="12700" cap="flat" cmpd="sng" algn="ctr">
                      <a:solidFill>
                        <a:schemeClr val="bg2">
                          <a:lumMod val="20000"/>
                          <a:lumOff val="80000"/>
                        </a:schemeClr>
                      </a:solidFill>
                      <a:prstDash val="solid"/>
                      <a:round/>
                      <a:headEnd type="none" w="med" len="med"/>
                      <a:tailEnd type="none" w="med" len="med"/>
                    </a:lnB>
                    <a:solidFill>
                      <a:srgbClr val="9F2241"/>
                    </a:solidFill>
                  </a:tcPr>
                </a:tc>
                <a:tc>
                  <a:txBody>
                    <a:bodyPr/>
                    <a:lstStyle/>
                    <a:p>
                      <a:pPr algn="ctr">
                        <a:lnSpc>
                          <a:spcPct val="100000"/>
                        </a:lnSpc>
                        <a:defRPr sz="900" b="1">
                          <a:solidFill>
                            <a:srgbClr val="FFFFFF"/>
                          </a:solidFill>
                          <a:latin typeface="Montserrat"/>
                        </a:defRPr>
                      </a:pPr>
                      <a:r>
                        <a:rPr sz="1000"/>
                        <a:t>$4,088.5</a:t>
                      </a:r>
                    </a:p>
                  </a:txBody>
                  <a:tcPr marL="3600" marR="3600" marT="3600" marB="3600" anchor="ctr">
                    <a:lnR w="12700" cap="flat" cmpd="sng" algn="ctr">
                      <a:solidFill>
                        <a:schemeClr val="bg2">
                          <a:lumMod val="20000"/>
                          <a:lumOff val="80000"/>
                        </a:schemeClr>
                      </a:solidFill>
                      <a:prstDash val="solid"/>
                      <a:round/>
                      <a:headEnd type="none" w="med" len="med"/>
                      <a:tailEnd type="none" w="med" len="med"/>
                    </a:lnR>
                    <a:lnB w="12700" cap="flat" cmpd="sng" algn="ctr">
                      <a:solidFill>
                        <a:schemeClr val="bg2">
                          <a:lumMod val="20000"/>
                          <a:lumOff val="80000"/>
                        </a:schemeClr>
                      </a:solidFill>
                      <a:prstDash val="solid"/>
                      <a:round/>
                      <a:headEnd type="none" w="med" len="med"/>
                      <a:tailEnd type="none" w="med" len="med"/>
                    </a:lnB>
                    <a:solidFill>
                      <a:srgbClr val="9F2241"/>
                    </a:solidFill>
                  </a:tcPr>
                </a:tc>
                <a:extLst>
                  <a:ext uri="{0D108BD9-81ED-4DB2-BD59-A6C34878D82A}">
                    <a16:rowId xmlns:a16="http://schemas.microsoft.com/office/drawing/2014/main" val="10007"/>
                  </a:ext>
                </a:extLst>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513558016"/>
              </p:ext>
            </p:extLst>
          </p:nvPr>
        </p:nvGraphicFramePr>
        <p:xfrm>
          <a:off x="1785600" y="3779992"/>
          <a:ext cx="5396400" cy="1067997"/>
        </p:xfrm>
        <a:graphic>
          <a:graphicData uri="http://schemas.openxmlformats.org/drawingml/2006/table">
            <a:tbl>
              <a:tblPr firstRow="1" bandRow="1">
                <a:tableStyleId>{5C22544A-7EE6-4342-B048-85BDC9FD1C3A}</a:tableStyleId>
              </a:tblPr>
              <a:tblGrid>
                <a:gridCol w="4255200">
                  <a:extLst>
                    <a:ext uri="{9D8B030D-6E8A-4147-A177-3AD203B41FA5}">
                      <a16:colId xmlns:a16="http://schemas.microsoft.com/office/drawing/2014/main" val="20000"/>
                    </a:ext>
                  </a:extLst>
                </a:gridCol>
                <a:gridCol w="1141200">
                  <a:extLst>
                    <a:ext uri="{9D8B030D-6E8A-4147-A177-3AD203B41FA5}">
                      <a16:colId xmlns:a16="http://schemas.microsoft.com/office/drawing/2014/main" val="20001"/>
                    </a:ext>
                  </a:extLst>
                </a:gridCol>
              </a:tblGrid>
              <a:tr h="251999">
                <a:tc>
                  <a:txBody>
                    <a:bodyPr/>
                    <a:lstStyle/>
                    <a:p>
                      <a:pPr algn="ctr">
                        <a:defRPr sz="1000" b="1">
                          <a:solidFill>
                            <a:srgbClr val="FFFFFF"/>
                          </a:solidFill>
                          <a:latin typeface="Montserrat"/>
                        </a:defRPr>
                      </a:pPr>
                      <a:r>
                        <a:rPr sz="1050"/>
                        <a:t>Obras de </a:t>
                      </a:r>
                      <a:r>
                        <a:rPr sz="1050" err="1"/>
                        <a:t>Conservación</a:t>
                      </a:r>
                      <a:r>
                        <a:rPr sz="1050"/>
                        <a:t> 2026</a:t>
                      </a:r>
                    </a:p>
                  </a:txBody>
                  <a:tcPr marL="3600" marR="3600" marT="3600" marB="3600" anchor="ctr">
                    <a:lnL w="12700" cap="flat" cmpd="sng" algn="ctr">
                      <a:solidFill>
                        <a:schemeClr val="bg2">
                          <a:lumMod val="20000"/>
                          <a:lumOff val="80000"/>
                        </a:schemeClr>
                      </a:solidFill>
                      <a:prstDash val="solid"/>
                      <a:round/>
                      <a:headEnd type="none" w="med" len="med"/>
                      <a:tailEnd type="none" w="med" len="med"/>
                    </a:lnL>
                    <a:lnT w="12700" cap="flat" cmpd="sng" algn="ctr">
                      <a:solidFill>
                        <a:schemeClr val="bg2">
                          <a:lumMod val="20000"/>
                          <a:lumOff val="80000"/>
                        </a:schemeClr>
                      </a:solidFill>
                      <a:prstDash val="solid"/>
                      <a:round/>
                      <a:headEnd type="none" w="med" len="med"/>
                      <a:tailEnd type="none" w="med" len="med"/>
                    </a:lnT>
                    <a:solidFill>
                      <a:srgbClr val="9F2241"/>
                    </a:solidFill>
                  </a:tcPr>
                </a:tc>
                <a:tc>
                  <a:txBody>
                    <a:bodyPr/>
                    <a:lstStyle/>
                    <a:p>
                      <a:pPr algn="ctr">
                        <a:defRPr sz="1000" b="1">
                          <a:solidFill>
                            <a:srgbClr val="FFFFFF"/>
                          </a:solidFill>
                          <a:latin typeface="Montserrat"/>
                        </a:defRPr>
                      </a:pPr>
                      <a:r>
                        <a:rPr sz="1050"/>
                        <a:t>Monto (mdp)</a:t>
                      </a:r>
                    </a:p>
                  </a:txBody>
                  <a:tcPr marL="3600" marR="3600" marT="3600" marB="3600" anchor="ctr">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solidFill>
                      <a:srgbClr val="9F2241"/>
                    </a:solidFill>
                  </a:tcPr>
                </a:tc>
                <a:extLst>
                  <a:ext uri="{0D108BD9-81ED-4DB2-BD59-A6C34878D82A}">
                    <a16:rowId xmlns:a16="http://schemas.microsoft.com/office/drawing/2014/main" val="10000"/>
                  </a:ext>
                </a:extLst>
              </a:tr>
              <a:tr h="251999">
                <a:tc>
                  <a:txBody>
                    <a:bodyPr/>
                    <a:lstStyle/>
                    <a:p>
                      <a:pPr algn="l">
                        <a:lnSpc>
                          <a:spcPct val="100000"/>
                        </a:lnSpc>
                      </a:pPr>
                      <a:r>
                        <a:rPr sz="1000" err="1">
                          <a:latin typeface="Montserrat"/>
                        </a:rPr>
                        <a:t>Ampliación</a:t>
                      </a:r>
                      <a:r>
                        <a:rPr sz="1000">
                          <a:latin typeface="Montserrat"/>
                        </a:rPr>
                        <a:t> y </a:t>
                      </a:r>
                      <a:r>
                        <a:rPr sz="1000" err="1">
                          <a:latin typeface="Montserrat"/>
                        </a:rPr>
                        <a:t>remodelación</a:t>
                      </a:r>
                      <a:r>
                        <a:rPr sz="1000">
                          <a:latin typeface="Montserrat"/>
                        </a:rPr>
                        <a:t> UMF  Plus San Pedro  (12 + 5 </a:t>
                      </a:r>
                      <a:r>
                        <a:rPr sz="1000" err="1">
                          <a:latin typeface="Montserrat"/>
                        </a:rPr>
                        <a:t>consultorios</a:t>
                      </a:r>
                      <a:r>
                        <a:rPr sz="1000">
                          <a:latin typeface="Montserrat"/>
                        </a:rPr>
                        <a:t>)</a:t>
                      </a:r>
                    </a:p>
                  </a:txBody>
                  <a:tcPr marL="3600" marR="3600" marT="3600" marB="3600" anchor="ct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lnSpc>
                          <a:spcPct val="100000"/>
                        </a:lnSpc>
                      </a:pPr>
                      <a:r>
                        <a:rPr sz="1000">
                          <a:latin typeface="Montserrat"/>
                        </a:rPr>
                        <a:t>$444.5</a:t>
                      </a:r>
                    </a:p>
                  </a:txBody>
                  <a:tcPr marL="3600" marR="3600" marT="3600" marB="3600" anchor="ct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871545218"/>
                  </a:ext>
                </a:extLst>
              </a:tr>
              <a:tr h="251999">
                <a:tc>
                  <a:txBody>
                    <a:bodyPr/>
                    <a:lstStyle/>
                    <a:p>
                      <a:pPr algn="l">
                        <a:lnSpc>
                          <a:spcPct val="100000"/>
                        </a:lnSpc>
                      </a:pPr>
                      <a:r>
                        <a:rPr sz="1000" err="1">
                          <a:latin typeface="Montserrat"/>
                        </a:rPr>
                        <a:t>Mantenimiento</a:t>
                      </a:r>
                      <a:r>
                        <a:rPr sz="1000">
                          <a:latin typeface="Montserrat"/>
                        </a:rPr>
                        <a:t> de </a:t>
                      </a:r>
                      <a:r>
                        <a:rPr sz="1000" err="1">
                          <a:latin typeface="Montserrat"/>
                        </a:rPr>
                        <a:t>infraestructura</a:t>
                      </a:r>
                      <a:r>
                        <a:rPr sz="1000">
                          <a:latin typeface="Montserrat"/>
                        </a:rPr>
                        <a:t> (PAO 2026)</a:t>
                      </a:r>
                    </a:p>
                  </a:txBody>
                  <a:tcPr marL="3600" marR="3600" marT="3600" marB="3600" anchor="ctr">
                    <a:lnL w="12700" cap="flat" cmpd="sng" algn="ctr">
                      <a:solidFill>
                        <a:schemeClr val="bg2">
                          <a:lumMod val="20000"/>
                          <a:lumOff val="80000"/>
                        </a:schemeClr>
                      </a:solidFill>
                      <a:prstDash val="solid"/>
                      <a:round/>
                      <a:headEnd type="none" w="med" len="med"/>
                      <a:tailEnd type="none" w="med" len="med"/>
                    </a:lnL>
                    <a:solidFill>
                      <a:schemeClr val="bg1">
                        <a:lumMod val="85000"/>
                      </a:schemeClr>
                    </a:solidFill>
                  </a:tcPr>
                </a:tc>
                <a:tc>
                  <a:txBody>
                    <a:bodyPr/>
                    <a:lstStyle/>
                    <a:p>
                      <a:pPr algn="ctr">
                        <a:lnSpc>
                          <a:spcPct val="100000"/>
                        </a:lnSpc>
                      </a:pPr>
                      <a:r>
                        <a:rPr sz="1000">
                          <a:latin typeface="Montserrat"/>
                        </a:rPr>
                        <a:t>$248.3</a:t>
                      </a:r>
                    </a:p>
                  </a:txBody>
                  <a:tcPr marL="3600" marR="3600" marT="3600" marB="3600" anchor="ctr">
                    <a:lnR w="12700" cap="flat" cmpd="sng" algn="ctr">
                      <a:solidFill>
                        <a:schemeClr val="bg2">
                          <a:lumMod val="20000"/>
                          <a:lumOff val="80000"/>
                        </a:schemeClr>
                      </a:solidFill>
                      <a:prstDash val="solid"/>
                      <a:round/>
                      <a:headEnd type="none" w="med" len="med"/>
                      <a:tailEnd type="none" w="med" len="med"/>
                    </a:lnR>
                    <a:solidFill>
                      <a:schemeClr val="bg1">
                        <a:lumMod val="85000"/>
                      </a:schemeClr>
                    </a:solidFill>
                  </a:tcPr>
                </a:tc>
                <a:extLst>
                  <a:ext uri="{0D108BD9-81ED-4DB2-BD59-A6C34878D82A}">
                    <a16:rowId xmlns:a16="http://schemas.microsoft.com/office/drawing/2014/main" val="10001"/>
                  </a:ext>
                </a:extLst>
              </a:tr>
              <a:tr h="251999">
                <a:tc>
                  <a:txBody>
                    <a:bodyPr/>
                    <a:lstStyle/>
                    <a:p>
                      <a:pPr marR="0" algn="l" rtl="0">
                        <a:lnSpc>
                          <a:spcPct val="100000"/>
                        </a:lnSpc>
                        <a:spcBef>
                          <a:spcPts val="0"/>
                        </a:spcBef>
                        <a:spcAft>
                          <a:spcPts val="0"/>
                        </a:spcAft>
                        <a:buClr>
                          <a:srgbClr val="000000"/>
                        </a:buClr>
                        <a:buFont typeface="Arial"/>
                        <a:defRPr sz="900" b="1">
                          <a:solidFill>
                            <a:srgbClr val="FFFFFF"/>
                          </a:solidFill>
                          <a:latin typeface="Montserrat"/>
                        </a:defRPr>
                      </a:pPr>
                      <a:r>
                        <a:rPr sz="1000" b="1" i="0" u="none" strike="noStrike" cap="none">
                          <a:solidFill>
                            <a:srgbClr val="FFFFFF"/>
                          </a:solidFill>
                          <a:latin typeface="Montserrat"/>
                          <a:ea typeface="+mn-ea"/>
                          <a:cs typeface="+mn-cs"/>
                          <a:sym typeface="Arial"/>
                        </a:rPr>
                        <a:t>Subtotal</a:t>
                      </a:r>
                    </a:p>
                  </a:txBody>
                  <a:tcPr marL="3600" marR="3600" marT="3600" marB="3600" anchor="ctr">
                    <a:lnL w="12700" cap="flat" cmpd="sng" algn="ctr">
                      <a:solidFill>
                        <a:schemeClr val="bg2">
                          <a:lumMod val="20000"/>
                          <a:lumOff val="80000"/>
                        </a:schemeClr>
                      </a:solidFill>
                      <a:prstDash val="solid"/>
                      <a:round/>
                      <a:headEnd type="none" w="med" len="med"/>
                      <a:tailEnd type="none" w="med" len="med"/>
                    </a:lnL>
                    <a:lnB w="12700" cap="flat" cmpd="sng" algn="ctr">
                      <a:solidFill>
                        <a:schemeClr val="bg2">
                          <a:lumMod val="20000"/>
                          <a:lumOff val="80000"/>
                        </a:schemeClr>
                      </a:solidFill>
                      <a:prstDash val="solid"/>
                      <a:round/>
                      <a:headEnd type="none" w="med" len="med"/>
                      <a:tailEnd type="none" w="med" len="med"/>
                    </a:lnB>
                    <a:solidFill>
                      <a:srgbClr val="9F2241"/>
                    </a:solidFill>
                  </a:tcPr>
                </a:tc>
                <a:tc>
                  <a:txBody>
                    <a:bodyPr/>
                    <a:lstStyle/>
                    <a:p>
                      <a:pPr marR="0" algn="ctr" rtl="0">
                        <a:lnSpc>
                          <a:spcPct val="100000"/>
                        </a:lnSpc>
                        <a:spcBef>
                          <a:spcPts val="0"/>
                        </a:spcBef>
                        <a:spcAft>
                          <a:spcPts val="0"/>
                        </a:spcAft>
                        <a:buClr>
                          <a:srgbClr val="000000"/>
                        </a:buClr>
                        <a:buFont typeface="Arial"/>
                        <a:defRPr sz="900" b="1">
                          <a:solidFill>
                            <a:srgbClr val="FFFFFF"/>
                          </a:solidFill>
                          <a:latin typeface="Montserrat"/>
                        </a:defRPr>
                      </a:pPr>
                      <a:r>
                        <a:rPr sz="1000" b="1" i="0" u="none" strike="noStrike" cap="none">
                          <a:solidFill>
                            <a:srgbClr val="FFFFFF"/>
                          </a:solidFill>
                          <a:latin typeface="Montserrat"/>
                          <a:ea typeface="+mn-ea"/>
                          <a:cs typeface="+mn-cs"/>
                          <a:sym typeface="Arial"/>
                        </a:rPr>
                        <a:t>$692.8</a:t>
                      </a:r>
                    </a:p>
                  </a:txBody>
                  <a:tcPr marL="3600" marR="3600" marT="3600" marB="3600" anchor="ctr">
                    <a:lnR w="12700" cap="flat" cmpd="sng" algn="ctr">
                      <a:solidFill>
                        <a:schemeClr val="bg2">
                          <a:lumMod val="20000"/>
                          <a:lumOff val="80000"/>
                        </a:schemeClr>
                      </a:solidFill>
                      <a:prstDash val="solid"/>
                      <a:round/>
                      <a:headEnd type="none" w="med" len="med"/>
                      <a:tailEnd type="none" w="med" len="med"/>
                    </a:lnR>
                    <a:lnB w="12700" cap="flat" cmpd="sng" algn="ctr">
                      <a:solidFill>
                        <a:schemeClr val="bg2">
                          <a:lumMod val="20000"/>
                          <a:lumOff val="80000"/>
                        </a:schemeClr>
                      </a:solidFill>
                      <a:prstDash val="solid"/>
                      <a:round/>
                      <a:headEnd type="none" w="med" len="med"/>
                      <a:tailEnd type="none" w="med" len="med"/>
                    </a:lnB>
                    <a:solidFill>
                      <a:srgbClr val="9F2241"/>
                    </a:solidFill>
                  </a:tcPr>
                </a:tc>
                <a:extLst>
                  <a:ext uri="{0D108BD9-81ED-4DB2-BD59-A6C34878D82A}">
                    <a16:rowId xmlns:a16="http://schemas.microsoft.com/office/drawing/2014/main" val="711540678"/>
                  </a:ext>
                </a:extLst>
              </a:tr>
            </a:tbl>
          </a:graphicData>
        </a:graphic>
      </p:graphicFrame>
      <p:graphicFrame>
        <p:nvGraphicFramePr>
          <p:cNvPr id="18" name="Table 17"/>
          <p:cNvGraphicFramePr>
            <a:graphicFrameLocks noGrp="1"/>
          </p:cNvGraphicFramePr>
          <p:nvPr>
            <p:extLst>
              <p:ext uri="{D42A27DB-BD31-4B8C-83A1-F6EECF244321}">
                <p14:modId xmlns:p14="http://schemas.microsoft.com/office/powerpoint/2010/main" val="111166225"/>
              </p:ext>
            </p:extLst>
          </p:nvPr>
        </p:nvGraphicFramePr>
        <p:xfrm>
          <a:off x="1785600" y="4921414"/>
          <a:ext cx="5396400" cy="1007996"/>
        </p:xfrm>
        <a:graphic>
          <a:graphicData uri="http://schemas.openxmlformats.org/drawingml/2006/table">
            <a:tbl>
              <a:tblPr firstRow="1" bandRow="1">
                <a:tableStyleId>{5C22544A-7EE6-4342-B048-85BDC9FD1C3A}</a:tableStyleId>
              </a:tblPr>
              <a:tblGrid>
                <a:gridCol w="4255200">
                  <a:extLst>
                    <a:ext uri="{9D8B030D-6E8A-4147-A177-3AD203B41FA5}">
                      <a16:colId xmlns:a16="http://schemas.microsoft.com/office/drawing/2014/main" val="20000"/>
                    </a:ext>
                  </a:extLst>
                </a:gridCol>
                <a:gridCol w="1141200">
                  <a:extLst>
                    <a:ext uri="{9D8B030D-6E8A-4147-A177-3AD203B41FA5}">
                      <a16:colId xmlns:a16="http://schemas.microsoft.com/office/drawing/2014/main" val="20001"/>
                    </a:ext>
                  </a:extLst>
                </a:gridCol>
              </a:tblGrid>
              <a:tr h="503998">
                <a:tc>
                  <a:txBody>
                    <a:bodyPr/>
                    <a:lstStyle/>
                    <a:p>
                      <a:pPr algn="ctr">
                        <a:defRPr sz="1000" b="1">
                          <a:solidFill>
                            <a:srgbClr val="FFFFFF"/>
                          </a:solidFill>
                          <a:latin typeface="Montserrat"/>
                        </a:defRPr>
                      </a:pPr>
                      <a:r>
                        <a:rPr err="1"/>
                        <a:t>Equipamiento</a:t>
                      </a:r>
                      <a:r>
                        <a:t> </a:t>
                      </a:r>
                      <a:r>
                        <a:rPr err="1"/>
                        <a:t>Electromecánico</a:t>
                      </a:r>
                      <a:r>
                        <a:t> 2026</a:t>
                      </a:r>
                    </a:p>
                  </a:txBody>
                  <a:tcPr marL="3600" marR="3600" marT="3600" marB="3600" anchor="ctr">
                    <a:lnL w="12700" cap="flat" cmpd="sng" algn="ctr">
                      <a:solidFill>
                        <a:schemeClr val="bg2">
                          <a:lumMod val="20000"/>
                          <a:lumOff val="80000"/>
                        </a:schemeClr>
                      </a:solidFill>
                      <a:prstDash val="solid"/>
                      <a:round/>
                      <a:headEnd type="none" w="med" len="med"/>
                      <a:tailEnd type="none" w="med" len="med"/>
                    </a:lnL>
                    <a:lnT w="12700" cap="flat" cmpd="sng" algn="ctr">
                      <a:solidFill>
                        <a:schemeClr val="bg2">
                          <a:lumMod val="20000"/>
                          <a:lumOff val="80000"/>
                        </a:schemeClr>
                      </a:solidFill>
                      <a:prstDash val="solid"/>
                      <a:round/>
                      <a:headEnd type="none" w="med" len="med"/>
                      <a:tailEnd type="none" w="med" len="med"/>
                    </a:lnT>
                    <a:solidFill>
                      <a:srgbClr val="9F2241"/>
                    </a:solidFill>
                  </a:tcPr>
                </a:tc>
                <a:tc>
                  <a:txBody>
                    <a:bodyPr/>
                    <a:lstStyle/>
                    <a:p>
                      <a:pPr algn="ctr">
                        <a:defRPr sz="1000" b="1">
                          <a:solidFill>
                            <a:srgbClr val="FFFFFF"/>
                          </a:solidFill>
                          <a:latin typeface="Montserrat"/>
                        </a:defRPr>
                      </a:pPr>
                      <a:r>
                        <a:t>Monto (mdp)</a:t>
                      </a:r>
                    </a:p>
                  </a:txBody>
                  <a:tcPr marL="3600" marR="3600" marT="3600" marB="3600" anchor="ctr">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solidFill>
                      <a:srgbClr val="9F2241"/>
                    </a:solidFill>
                  </a:tcPr>
                </a:tc>
                <a:extLst>
                  <a:ext uri="{0D108BD9-81ED-4DB2-BD59-A6C34878D82A}">
                    <a16:rowId xmlns:a16="http://schemas.microsoft.com/office/drawing/2014/main" val="10000"/>
                  </a:ext>
                </a:extLst>
              </a:tr>
              <a:tr h="503998">
                <a:tc>
                  <a:txBody>
                    <a:bodyPr/>
                    <a:lstStyle/>
                    <a:p>
                      <a:pPr algn="l">
                        <a:lnSpc>
                          <a:spcPct val="100000"/>
                        </a:lnSpc>
                      </a:pPr>
                      <a:r>
                        <a:rPr sz="1000">
                          <a:latin typeface="Montserrat"/>
                        </a:rPr>
                        <a:t>161 </a:t>
                      </a:r>
                      <a:r>
                        <a:rPr sz="1000" err="1">
                          <a:latin typeface="Montserrat"/>
                        </a:rPr>
                        <a:t>Equipos</a:t>
                      </a:r>
                      <a:r>
                        <a:rPr sz="1000">
                          <a:latin typeface="Montserrat"/>
                        </a:rPr>
                        <a:t> </a:t>
                      </a:r>
                      <a:r>
                        <a:rPr sz="1000" err="1">
                          <a:latin typeface="Montserrat"/>
                        </a:rPr>
                        <a:t>electromecánicos</a:t>
                      </a:r>
                      <a:r>
                        <a:rPr sz="1000">
                          <a:latin typeface="Montserrat"/>
                        </a:rPr>
                        <a:t> para 15 Unidades; 9 </a:t>
                      </a:r>
                      <a:r>
                        <a:rPr sz="1000" err="1">
                          <a:latin typeface="Montserrat"/>
                        </a:rPr>
                        <a:t>elevadores</a:t>
                      </a:r>
                      <a:r>
                        <a:rPr sz="1000">
                          <a:latin typeface="Montserrat"/>
                        </a:rPr>
                        <a:t>, 91 </a:t>
                      </a:r>
                      <a:r>
                        <a:rPr sz="1000" err="1">
                          <a:latin typeface="Montserrat"/>
                        </a:rPr>
                        <a:t>equipos</a:t>
                      </a:r>
                      <a:r>
                        <a:rPr sz="1000">
                          <a:latin typeface="Montserrat"/>
                        </a:rPr>
                        <a:t> para casa de </a:t>
                      </a:r>
                      <a:r>
                        <a:rPr sz="1000" err="1">
                          <a:latin typeface="Montserrat"/>
                        </a:rPr>
                        <a:t>máquinas</a:t>
                      </a:r>
                      <a:r>
                        <a:rPr sz="1000">
                          <a:latin typeface="Montserrat"/>
                        </a:rPr>
                        <a:t>, 50 para </a:t>
                      </a:r>
                      <a:r>
                        <a:rPr sz="1000" err="1">
                          <a:latin typeface="Montserrat"/>
                        </a:rPr>
                        <a:t>aire</a:t>
                      </a:r>
                      <a:r>
                        <a:rPr sz="1000">
                          <a:latin typeface="Montserrat"/>
                        </a:rPr>
                        <a:t> </a:t>
                      </a:r>
                      <a:r>
                        <a:rPr sz="1000" err="1">
                          <a:latin typeface="Montserrat"/>
                        </a:rPr>
                        <a:t>acondicionado</a:t>
                      </a:r>
                      <a:r>
                        <a:rPr sz="1000">
                          <a:latin typeface="Montserrat"/>
                        </a:rPr>
                        <a:t>, 6 </a:t>
                      </a:r>
                      <a:r>
                        <a:rPr sz="1000" err="1">
                          <a:latin typeface="Montserrat"/>
                        </a:rPr>
                        <a:t>lavadoras</a:t>
                      </a:r>
                      <a:r>
                        <a:rPr sz="1000">
                          <a:latin typeface="Montserrat"/>
                        </a:rPr>
                        <a:t> y 5 </a:t>
                      </a:r>
                      <a:r>
                        <a:rPr sz="1000" err="1">
                          <a:latin typeface="Montserrat"/>
                        </a:rPr>
                        <a:t>secadoras</a:t>
                      </a:r>
                      <a:r>
                        <a:rPr sz="1000">
                          <a:latin typeface="Montserrat"/>
                        </a:rPr>
                        <a:t>.</a:t>
                      </a:r>
                    </a:p>
                  </a:txBody>
                  <a:tcPr marL="3600" marR="3600" marT="3600" marB="3600" anchor="ctr">
                    <a:lnL w="12700" cap="flat" cmpd="sng" algn="ctr">
                      <a:solidFill>
                        <a:schemeClr val="bg2">
                          <a:lumMod val="20000"/>
                          <a:lumOff val="80000"/>
                        </a:schemeClr>
                      </a:solidFill>
                      <a:prstDash val="solid"/>
                      <a:round/>
                      <a:headEnd type="none" w="med" len="med"/>
                      <a:tailEnd type="none" w="med" len="med"/>
                    </a:lnL>
                    <a:lnB w="12700" cap="flat" cmpd="sng" algn="ctr">
                      <a:solidFill>
                        <a:schemeClr val="bg2">
                          <a:lumMod val="20000"/>
                          <a:lumOff val="80000"/>
                        </a:schemeClr>
                      </a:solidFill>
                      <a:prstDash val="solid"/>
                      <a:round/>
                      <a:headEnd type="none" w="med" len="med"/>
                      <a:tailEnd type="none" w="med" len="med"/>
                    </a:lnB>
                    <a:solidFill>
                      <a:srgbClr val="FFFFFF"/>
                    </a:solidFill>
                  </a:tcPr>
                </a:tc>
                <a:tc>
                  <a:txBody>
                    <a:bodyPr/>
                    <a:lstStyle/>
                    <a:p>
                      <a:pPr algn="ctr">
                        <a:lnSpc>
                          <a:spcPct val="100000"/>
                        </a:lnSpc>
                      </a:pPr>
                      <a:r>
                        <a:rPr sz="1000">
                          <a:latin typeface="Montserrat"/>
                        </a:rPr>
                        <a:t>$531.6</a:t>
                      </a:r>
                    </a:p>
                  </a:txBody>
                  <a:tcPr marL="3600" marR="3600" marT="3600" marB="3600" anchor="ctr">
                    <a:lnR w="12700" cap="flat" cmpd="sng" algn="ctr">
                      <a:solidFill>
                        <a:schemeClr val="bg2">
                          <a:lumMod val="20000"/>
                          <a:lumOff val="80000"/>
                        </a:schemeClr>
                      </a:solidFill>
                      <a:prstDash val="solid"/>
                      <a:round/>
                      <a:headEnd type="none" w="med" len="med"/>
                      <a:tailEnd type="none" w="med" len="med"/>
                    </a:lnR>
                    <a:lnB w="12700" cap="flat" cmpd="sng" algn="ctr">
                      <a:solidFill>
                        <a:schemeClr val="bg2">
                          <a:lumMod val="20000"/>
                          <a:lumOff val="80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19" name="TextBox 18"/>
          <p:cNvSpPr txBox="1"/>
          <p:nvPr/>
        </p:nvSpPr>
        <p:spPr>
          <a:xfrm>
            <a:off x="6044508" y="878400"/>
            <a:ext cx="780984" cy="523220"/>
          </a:xfrm>
          <a:prstGeom prst="rect">
            <a:avLst/>
          </a:prstGeom>
          <a:noFill/>
        </p:spPr>
        <p:txBody>
          <a:bodyPr wrap="none">
            <a:spAutoFit/>
          </a:bodyPr>
          <a:lstStyle/>
          <a:p>
            <a:pPr algn="ctr">
              <a:defRPr sz="1400" b="1">
                <a:solidFill>
                  <a:srgbClr val="FFFFFF"/>
                </a:solidFill>
                <a:latin typeface="Montserrat"/>
              </a:defRPr>
            </a:pPr>
            <a:r>
              <a:rPr lang="es-MX"/>
              <a:t>5,312.9</a:t>
            </a:r>
            <a:endParaRPr/>
          </a:p>
          <a:p>
            <a:pPr algn="ctr">
              <a:defRPr sz="1400" b="1">
                <a:solidFill>
                  <a:srgbClr val="FFFFFF"/>
                </a:solidFill>
                <a:latin typeface="Montserrat"/>
              </a:defRPr>
            </a:pPr>
            <a:r>
              <a:t>mdp</a:t>
            </a:r>
          </a:p>
        </p:txBody>
      </p:sp>
      <p:sp>
        <p:nvSpPr>
          <p:cNvPr id="8"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0"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a:ln>
                <a:noFill/>
              </a:ln>
              <a:solidFill>
                <a:srgbClr val="FFFFFF"/>
              </a:solidFill>
              <a:effectLst/>
              <a:uLnTx/>
              <a:uFillTx/>
              <a:latin typeface="Montserrat"/>
              <a:ea typeface="Montserrat"/>
              <a:cs typeface="Montserrat"/>
              <a:sym typeface="Montserrat"/>
            </a:endParaRPr>
          </a:p>
        </p:txBody>
      </p:sp>
      <p:graphicFrame>
        <p:nvGraphicFramePr>
          <p:cNvPr id="22" name="Table 21"/>
          <p:cNvGraphicFramePr>
            <a:graphicFrameLocks noGrp="1"/>
          </p:cNvGraphicFramePr>
          <p:nvPr/>
        </p:nvGraphicFramePr>
        <p:xfrm>
          <a:off x="2552400" y="6141600"/>
          <a:ext cx="4928400" cy="2035980"/>
        </p:xfrm>
        <a:graphic>
          <a:graphicData uri="http://schemas.openxmlformats.org/drawingml/2006/table">
            <a:tbl>
              <a:tblPr firstRow="1" bandRow="1">
                <a:tableStyleId>{5C22544A-7EE6-4342-B048-85BDC9FD1C3A}</a:tableStyleId>
              </a:tblPr>
              <a:tblGrid>
                <a:gridCol w="4716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628000">
                  <a:extLst>
                    <a:ext uri="{9D8B030D-6E8A-4147-A177-3AD203B41FA5}">
                      <a16:colId xmlns:a16="http://schemas.microsoft.com/office/drawing/2014/main" val="20002"/>
                    </a:ext>
                  </a:extLst>
                </a:gridCol>
              </a:tblGrid>
              <a:tr h="465300">
                <a:tc gridSpan="3">
                  <a:txBody>
                    <a:bodyPr/>
                    <a:lstStyle/>
                    <a:p>
                      <a:pPr algn="ctr">
                        <a:defRPr sz="1400" b="1">
                          <a:solidFill>
                            <a:srgbClr val="FFFFFF"/>
                          </a:solidFill>
                          <a:latin typeface="Montserrat"/>
                        </a:defRPr>
                      </a:pPr>
                      <a:r>
                        <a:t>12 Predios en ruta y 0 CECI en Construción 2026</a:t>
                      </a:r>
                    </a:p>
                  </a:txBody>
                  <a:tcPr marL="72000" marR="72000" anchor="ctr">
                    <a:solidFill>
                      <a:srgbClr val="705085"/>
                    </a:solidFill>
                  </a:tcPr>
                </a:tc>
                <a:tc hMerge="1">
                  <a:txBody>
                    <a:bodyPr/>
                    <a:lstStyle/>
                    <a:p>
                      <a:endParaRPr/>
                    </a:p>
                  </a:txBody>
                  <a:tcPr marL="72000" marR="72000" anchor="ctr"/>
                </a:tc>
                <a:tc hMerge="1">
                  <a:txBody>
                    <a:bodyPr/>
                    <a:lstStyle/>
                    <a:p>
                      <a:endParaRPr/>
                    </a:p>
                  </a:txBody>
                  <a:tcPr marL="72000" marR="72000" anchor="ctr"/>
                </a:tc>
                <a:extLst>
                  <a:ext uri="{0D108BD9-81ED-4DB2-BD59-A6C34878D82A}">
                    <a16:rowId xmlns:a16="http://schemas.microsoft.com/office/drawing/2014/main" val="10000"/>
                  </a:ext>
                </a:extLst>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endParaRPr/>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extLst>
                  <a:ext uri="{0D108BD9-81ED-4DB2-BD59-A6C34878D82A}">
                    <a16:rowId xmlns:a16="http://schemas.microsoft.com/office/drawing/2014/main" val="10001"/>
                  </a:ext>
                </a:extLst>
              </a:tr>
              <a:tr h="465300">
                <a:tc rowSpan="2">
                  <a:txBody>
                    <a:bodyPr/>
                    <a:lstStyle/>
                    <a:p>
                      <a:endParaRPr/>
                    </a:p>
                  </a:txBody>
                  <a:tcPr marL="72000" marR="72000" anchor="ctr">
                    <a:noFill/>
                  </a:tcPr>
                </a:tc>
                <a:tc>
                  <a:txBody>
                    <a:bodyPr/>
                    <a:lstStyle/>
                    <a:p>
                      <a:pPr algn="ctr">
                        <a:defRPr sz="1200" b="1">
                          <a:solidFill>
                            <a:srgbClr val="FFFFFF"/>
                          </a:solidFill>
                          <a:latin typeface="Montserrat"/>
                        </a:defRPr>
                      </a:pPr>
                      <a:r>
                        <a:t>3 Reserva IMSS</a:t>
                      </a:r>
                    </a:p>
                  </a:txBody>
                  <a:tcPr marL="72000" marR="72000" anchor="ctr">
                    <a:noFill/>
                  </a:tcPr>
                </a:tc>
                <a:tc>
                  <a:txBody>
                    <a:bodyPr/>
                    <a:lstStyle/>
                    <a:p>
                      <a:pPr algn="ctr">
                        <a:defRPr sz="1200" b="0">
                          <a:solidFill>
                            <a:srgbClr val="FFFFFF"/>
                          </a:solidFill>
                          <a:latin typeface="Montserrat"/>
                        </a:defRPr>
                      </a:pPr>
                      <a:r>
                        <a:t>Torreón, Parras, Ciudad Acuña</a:t>
                      </a:r>
                    </a:p>
                  </a:txBody>
                  <a:tcPr marL="72000" marR="72000" anchor="ctr">
                    <a:noFill/>
                  </a:tcPr>
                </a:tc>
                <a:extLst>
                  <a:ext uri="{0D108BD9-81ED-4DB2-BD59-A6C34878D82A}">
                    <a16:rowId xmlns:a16="http://schemas.microsoft.com/office/drawing/2014/main" val="10002"/>
                  </a:ext>
                </a:extLst>
              </a:tr>
              <a:tr h="465300">
                <a:tc vMerge="1">
                  <a:txBody>
                    <a:bodyPr/>
                    <a:lstStyle/>
                    <a:p>
                      <a:endParaRPr/>
                    </a:p>
                  </a:txBody>
                  <a:tcPr marL="72000" marR="72000" anchor="ctr"/>
                </a:tc>
                <a:tc>
                  <a:txBody>
                    <a:bodyPr/>
                    <a:lstStyle/>
                    <a:p>
                      <a:pPr algn="ctr">
                        <a:defRPr sz="1200" b="1">
                          <a:solidFill>
                            <a:srgbClr val="FFFFFF"/>
                          </a:solidFill>
                          <a:latin typeface="Montserrat"/>
                        </a:defRPr>
                      </a:pPr>
                      <a:r>
                        <a:t>9 Donación</a:t>
                      </a:r>
                    </a:p>
                  </a:txBody>
                  <a:tcPr marL="72000" marR="72000" anchor="ctr">
                    <a:noFill/>
                  </a:tcPr>
                </a:tc>
                <a:tc>
                  <a:txBody>
                    <a:bodyPr/>
                    <a:lstStyle/>
                    <a:p>
                      <a:pPr algn="ctr">
                        <a:defRPr sz="1200" b="0">
                          <a:solidFill>
                            <a:srgbClr val="FFFFFF"/>
                          </a:solidFill>
                          <a:latin typeface="Montserrat"/>
                        </a:defRPr>
                      </a:pPr>
                      <a:r>
                        <a:t>Monclova (2), Piedras Negras (2), Francisco I. Madero, Ramos Arizpe, Saltillo, Ciudad Acuña.</a:t>
                      </a:r>
                    </a:p>
                  </a:txBody>
                  <a:tcPr marL="72000" marR="72000" anchor="ctr">
                    <a:noFill/>
                  </a:tcPr>
                </a:tc>
                <a:extLst>
                  <a:ext uri="{0D108BD9-81ED-4DB2-BD59-A6C34878D82A}">
                    <a16:rowId xmlns:a16="http://schemas.microsoft.com/office/drawing/2014/main" val="10003"/>
                  </a:ext>
                </a:extLst>
              </a:tr>
            </a:tbl>
          </a:graphicData>
        </a:graphic>
      </p:graphicFrame>
      <p:sp>
        <p:nvSpPr>
          <p:cNvPr id="23" name="Oval 22"/>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705085"/>
                </a:solidFill>
                <a:latin typeface="Montserrat"/>
              </a:defRPr>
            </a:pPr>
            <a:r>
              <a:t>51</a:t>
            </a:r>
          </a:p>
        </p:txBody>
      </p:sp>
      <p:sp>
        <p:nvSpPr>
          <p:cNvPr id="24" name="Google Shape;553;g3d0ffe769cd_0_0">
            <a:extLst>
              <a:ext uri="{FF2B5EF4-FFF2-40B4-BE49-F238E27FC236}">
                <a16:creationId xmlns:a16="http://schemas.microsoft.com/office/drawing/2014/main" id="{415681FD-D292-5ED1-F810-B489AE1BAFE5}"/>
              </a:ext>
            </a:extLst>
          </p:cNvPr>
          <p:cNvSpPr/>
          <p:nvPr/>
        </p:nvSpPr>
        <p:spPr>
          <a:xfrm>
            <a:off x="306594" y="7527566"/>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a:ln>
                <a:noFill/>
              </a:ln>
              <a:solidFill>
                <a:srgbClr val="FFFFFF"/>
              </a:solidFill>
              <a:effectLst/>
              <a:uLnTx/>
              <a:uFillTx/>
              <a:latin typeface="Montserrat"/>
              <a:ea typeface="Montserrat"/>
              <a:cs typeface="Montserrat"/>
              <a:sym typeface="Montserrat"/>
            </a:endParaRPr>
          </a:p>
        </p:txBody>
      </p:sp>
      <p:sp>
        <p:nvSpPr>
          <p:cNvPr id="21" name="Rectangle 23">
            <a:extLst>
              <a:ext uri="{FF2B5EF4-FFF2-40B4-BE49-F238E27FC236}">
                <a16:creationId xmlns:a16="http://schemas.microsoft.com/office/drawing/2014/main" id="{43703745-6ED6-D9C3-5F59-C46A4D065BFD}"/>
              </a:ext>
            </a:extLst>
          </p:cNvPr>
          <p:cNvSpPr/>
          <p:nvPr/>
        </p:nvSpPr>
        <p:spPr>
          <a:xfrm>
            <a:off x="388706" y="7568366"/>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algn="ctr">
              <a:defRPr sz="1500" b="1">
                <a:solidFill>
                  <a:srgbClr val="FFFFFF"/>
                </a:solidFill>
                <a:latin typeface="Montserrat"/>
              </a:defRPr>
            </a:pPr>
            <a:r>
              <a:t>49 CECI IMSS</a:t>
            </a:r>
          </a:p>
          <a:p>
            <a:pPr algn="ctr">
              <a:defRPr sz="1500" b="1">
                <a:solidFill>
                  <a:srgbClr val="FFFFFF"/>
                </a:solidFill>
                <a:latin typeface="Montserrat"/>
              </a:defRPr>
            </a:pPr>
            <a:r>
              <a:t>2 CECI CAMPO</a:t>
            </a:r>
          </a:p>
        </p:txBody>
      </p:sp>
      <p:sp>
        <p:nvSpPr>
          <p:cNvPr id="25" name="TextBox 26">
            <a:extLst>
              <a:ext uri="{FF2B5EF4-FFF2-40B4-BE49-F238E27FC236}">
                <a16:creationId xmlns:a16="http://schemas.microsoft.com/office/drawing/2014/main" id="{39A6A446-A948-C216-A35F-14288D99498B}"/>
              </a:ext>
            </a:extLst>
          </p:cNvPr>
          <p:cNvSpPr txBox="1"/>
          <p:nvPr/>
        </p:nvSpPr>
        <p:spPr>
          <a:xfrm>
            <a:off x="99000" y="9560581"/>
            <a:ext cx="7574400" cy="415498"/>
          </a:xfrm>
          <a:prstGeom prst="rect">
            <a:avLst/>
          </a:prstGeom>
          <a:noFill/>
        </p:spPr>
        <p:txBody>
          <a:bodyPr wrap="square" lIns="0" tIns="0" rIns="0" bIns="0">
            <a:spAutoFit/>
          </a:bodyPr>
          <a:lstStyle/>
          <a:p>
            <a:pPr algn="l">
              <a:defRPr sz="900">
                <a:solidFill>
                  <a:srgbClr val="000000"/>
                </a:solidFill>
                <a:latin typeface="Montserrat"/>
              </a:defRPr>
            </a:pPr>
            <a:r>
              <a:rPr>
                <a:solidFill>
                  <a:schemeClr val="bg1"/>
                </a:solidFill>
              </a:rPr>
              <a:t>¹ </a:t>
            </a:r>
            <a:r>
              <a:rPr err="1">
                <a:solidFill>
                  <a:schemeClr val="bg1"/>
                </a:solidFill>
              </a:rPr>
              <a:t>Terrenos</a:t>
            </a:r>
            <a:r>
              <a:rPr>
                <a:solidFill>
                  <a:schemeClr val="bg1"/>
                </a:solidFill>
              </a:rPr>
              <a:t> </a:t>
            </a:r>
            <a:r>
              <a:rPr err="1">
                <a:solidFill>
                  <a:schemeClr val="bg1"/>
                </a:solidFill>
              </a:rPr>
              <a:t>validados</a:t>
            </a:r>
            <a:r>
              <a:rPr>
                <a:solidFill>
                  <a:schemeClr val="bg1"/>
                </a:solidFill>
              </a:rPr>
              <a:t>. </a:t>
            </a:r>
            <a:r>
              <a:rPr lang="es-MX" b="1">
                <a:solidFill>
                  <a:schemeClr val="bg1"/>
                </a:solidFill>
              </a:rPr>
              <a:t>3 CECI p</a:t>
            </a:r>
            <a:r>
              <a:rPr b="1" err="1">
                <a:solidFill>
                  <a:schemeClr val="bg1"/>
                </a:solidFill>
              </a:rPr>
              <a:t>ara</a:t>
            </a:r>
            <a:r>
              <a:rPr b="1">
                <a:solidFill>
                  <a:schemeClr val="bg1"/>
                </a:solidFill>
              </a:rPr>
              <a:t> </a:t>
            </a:r>
            <a:r>
              <a:rPr b="1" err="1">
                <a:solidFill>
                  <a:schemeClr val="bg1"/>
                </a:solidFill>
              </a:rPr>
              <a:t>entregar</a:t>
            </a:r>
            <a:r>
              <a:rPr b="1">
                <a:solidFill>
                  <a:schemeClr val="bg1"/>
                </a:solidFill>
              </a:rPr>
              <a:t> a SICT</a:t>
            </a:r>
            <a:r>
              <a:rPr lang="es-MX" b="1">
                <a:solidFill>
                  <a:schemeClr val="bg1"/>
                </a:solidFill>
              </a:rPr>
              <a:t> </a:t>
            </a:r>
            <a:r>
              <a:rPr>
                <a:solidFill>
                  <a:schemeClr val="bg1"/>
                </a:solidFill>
              </a:rPr>
              <a:t>en Ciudad Acuña, Parras y Torreón.</a:t>
            </a:r>
            <a:br>
              <a:rPr>
                <a:solidFill>
                  <a:schemeClr val="bg1"/>
                </a:solidFill>
              </a:rPr>
            </a:br>
            <a:r>
              <a:rPr lang="es-MX" b="1">
                <a:solidFill>
                  <a:schemeClr val="bg1"/>
                </a:solidFill>
              </a:rPr>
              <a:t>9 CECI e</a:t>
            </a:r>
            <a:r>
              <a:rPr b="1">
                <a:solidFill>
                  <a:schemeClr val="bg1"/>
                </a:solidFill>
              </a:rPr>
              <a:t>n </a:t>
            </a:r>
            <a:r>
              <a:rPr b="1" err="1">
                <a:solidFill>
                  <a:schemeClr val="bg1"/>
                </a:solidFill>
              </a:rPr>
              <a:t>integración</a:t>
            </a:r>
            <a:r>
              <a:rPr b="1">
                <a:solidFill>
                  <a:schemeClr val="bg1"/>
                </a:solidFill>
              </a:rPr>
              <a:t> de </a:t>
            </a:r>
            <a:r>
              <a:rPr b="1" err="1">
                <a:solidFill>
                  <a:schemeClr val="bg1"/>
                </a:solidFill>
              </a:rPr>
              <a:t>expediente</a:t>
            </a:r>
            <a:r>
              <a:rPr b="1">
                <a:solidFill>
                  <a:schemeClr val="bg1"/>
                </a:solidFill>
              </a:rPr>
              <a:t> para </a:t>
            </a:r>
            <a:r>
              <a:rPr b="1" err="1">
                <a:solidFill>
                  <a:schemeClr val="bg1"/>
                </a:solidFill>
              </a:rPr>
              <a:t>donación</a:t>
            </a:r>
            <a:r>
              <a:rPr lang="es-MX" b="1">
                <a:solidFill>
                  <a:schemeClr val="bg1"/>
                </a:solidFill>
              </a:rPr>
              <a:t> </a:t>
            </a:r>
            <a:r>
              <a:rPr>
                <a:solidFill>
                  <a:schemeClr val="bg1"/>
                </a:solidFill>
              </a:rPr>
              <a:t>en Monclova, Piedras Negras, Francisco I. Madero, Ramos Arizpe, Saltillo y Ciudad Acuña.</a:t>
            </a:r>
          </a:p>
        </p:txBody>
      </p:sp>
    </p:spTree>
    <p:extLst>
      <p:ext uri="{BB962C8B-B14F-4D97-AF65-F5344CB8AC3E}">
        <p14:creationId xmlns:p14="http://schemas.microsoft.com/office/powerpoint/2010/main" val="3647339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2676" y="2838097"/>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63857" y="4125051"/>
            <a:ext cx="926657" cy="813175"/>
          </a:xfrm>
          <a:prstGeom prst="rect">
            <a:avLst/>
          </a:prstGeom>
          <a:noFill/>
          <a:ln>
            <a:noFill/>
          </a:ln>
        </p:spPr>
      </p:pic>
      <p:sp>
        <p:nvSpPr>
          <p:cNvPr id="460" name="Google Shape;460;p16"/>
          <p:cNvSpPr/>
          <p:nvPr/>
        </p:nvSpPr>
        <p:spPr>
          <a:xfrm>
            <a:off x="863857" y="1861908"/>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COAHUILA</a:t>
            </a:r>
          </a:p>
        </p:txBody>
      </p:sp>
      <p:graphicFrame>
        <p:nvGraphicFramePr>
          <p:cNvPr id="467" name="Table 466"/>
          <p:cNvGraphicFramePr>
            <a:graphicFrameLocks noGrp="1"/>
          </p:cNvGraphicFramePr>
          <p:nvPr>
            <p:extLst>
              <p:ext uri="{D42A27DB-BD31-4B8C-83A1-F6EECF244321}">
                <p14:modId xmlns:p14="http://schemas.microsoft.com/office/powerpoint/2010/main" val="3670828120"/>
              </p:ext>
            </p:extLst>
          </p:nvPr>
        </p:nvGraphicFramePr>
        <p:xfrm>
          <a:off x="2311200" y="1670400"/>
          <a:ext cx="5032800" cy="881640"/>
        </p:xfrm>
        <a:graphic>
          <a:graphicData uri="http://schemas.openxmlformats.org/drawingml/2006/table">
            <a:tbl>
              <a:tblPr firstRow="1" bandRow="1">
                <a:tableStyleId>{5C22544A-7EE6-4342-B048-85BDC9FD1C3A}</a:tableStyleId>
              </a:tblPr>
              <a:tblGrid>
                <a:gridCol w="1576800">
                  <a:extLst>
                    <a:ext uri="{9D8B030D-6E8A-4147-A177-3AD203B41FA5}">
                      <a16:colId xmlns:a16="http://schemas.microsoft.com/office/drawing/2014/main" val="20000"/>
                    </a:ext>
                  </a:extLst>
                </a:gridCol>
                <a:gridCol w="3456000">
                  <a:extLst>
                    <a:ext uri="{9D8B030D-6E8A-4147-A177-3AD203B41FA5}">
                      <a16:colId xmlns:a16="http://schemas.microsoft.com/office/drawing/2014/main" val="20001"/>
                    </a:ext>
                  </a:extLst>
                </a:gridCol>
              </a:tblGrid>
              <a:tr h="333000">
                <a:tc gridSpan="2">
                  <a:txBody>
                    <a:bodyPr/>
                    <a:lstStyle/>
                    <a:p>
                      <a:pPr algn="ctr"/>
                      <a:r>
                        <a:rPr lang="es-MX" sz="1000" b="1">
                          <a:solidFill>
                            <a:srgbClr val="FFFFFF"/>
                          </a:solidFill>
                          <a:latin typeface="Montserrat"/>
                        </a:rPr>
                        <a:t>Guarderías</a:t>
                      </a:r>
                      <a:endParaRPr sz="1000" b="1">
                        <a:solidFill>
                          <a:srgbClr val="FFFFFF"/>
                        </a:solidFill>
                        <a:latin typeface="Montserrat"/>
                      </a:endParaRPr>
                    </a:p>
                  </a:txBody>
                  <a:tcPr marL="0" marR="0" marT="0" marB="0"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solidFill>
                      <a:srgbClr val="006455"/>
                    </a:solidFill>
                  </a:tcPr>
                </a:tc>
                <a:tc hMerge="1">
                  <a:txBody>
                    <a:bodyPr/>
                    <a:lstStyle/>
                    <a:p>
                      <a:endParaRPr/>
                    </a:p>
                  </a:txBody>
                  <a:tcPr/>
                </a:tc>
                <a:extLst>
                  <a:ext uri="{0D108BD9-81ED-4DB2-BD59-A6C34878D82A}">
                    <a16:rowId xmlns:a16="http://schemas.microsoft.com/office/drawing/2014/main" val="10000"/>
                  </a:ext>
                </a:extLst>
              </a:tr>
              <a:tr h="333000">
                <a:tc>
                  <a:txBody>
                    <a:bodyPr/>
                    <a:lstStyle/>
                    <a:p>
                      <a:pPr algn="ctr"/>
                      <a:r>
                        <a:rPr sz="1000" b="1">
                          <a:latin typeface="Montserrat"/>
                        </a:rPr>
                        <a:t>56 </a:t>
                      </a:r>
                      <a:r>
                        <a:rPr sz="1000" b="1" err="1">
                          <a:latin typeface="Montserrat"/>
                        </a:rPr>
                        <a:t>unidades</a:t>
                      </a:r>
                      <a:endParaRPr sz="1000" b="1">
                        <a:latin typeface="Montserrat"/>
                      </a:endParaRPr>
                    </a:p>
                    <a:p>
                      <a:pPr algn="ctr">
                        <a:defRPr sz="1000">
                          <a:solidFill>
                            <a:srgbClr val="505050"/>
                          </a:solidFill>
                          <a:latin typeface="Montserrat"/>
                        </a:defRPr>
                      </a:pPr>
                      <a:r>
                        <a:t>5 </a:t>
                      </a:r>
                      <a:r>
                        <a:rPr err="1"/>
                        <a:t>directas</a:t>
                      </a:r>
                      <a:endParaRPr/>
                    </a:p>
                    <a:p>
                      <a:pPr algn="ctr">
                        <a:defRPr sz="1000">
                          <a:solidFill>
                            <a:srgbClr val="505050"/>
                          </a:solidFill>
                          <a:latin typeface="Montserrat"/>
                        </a:defRPr>
                      </a:pPr>
                      <a:r>
                        <a:t>51 </a:t>
                      </a:r>
                      <a:r>
                        <a:rPr err="1"/>
                        <a:t>indirectas</a:t>
                      </a:r>
                      <a:endParaRPr/>
                    </a:p>
                  </a:txBody>
                  <a:tcPr anchor="ctr">
                    <a:lnL w="12700" cap="flat" cmpd="sng" algn="ctr">
                      <a:solidFill>
                        <a:schemeClr val="bg2">
                          <a:lumMod val="20000"/>
                          <a:lumOff val="80000"/>
                        </a:schemeClr>
                      </a:solidFill>
                      <a:prstDash val="solid"/>
                      <a:round/>
                      <a:headEnd type="none" w="med" len="med"/>
                      <a:tailEnd type="none" w="med" len="med"/>
                    </a:lnL>
                    <a:lnB w="12700" cap="flat" cmpd="sng" algn="ctr">
                      <a:solidFill>
                        <a:schemeClr val="bg2">
                          <a:lumMod val="20000"/>
                          <a:lumOff val="80000"/>
                        </a:schemeClr>
                      </a:solidFill>
                      <a:prstDash val="solid"/>
                      <a:round/>
                      <a:headEnd type="none" w="med" len="med"/>
                      <a:tailEnd type="none" w="med" len="med"/>
                    </a:lnB>
                    <a:solidFill>
                      <a:srgbClr val="FFFFFF"/>
                    </a:solidFill>
                  </a:tcPr>
                </a:tc>
                <a:tc>
                  <a:txBody>
                    <a:bodyPr/>
                    <a:lstStyle/>
                    <a:p>
                      <a:pPr algn="ctr"/>
                      <a:r>
                        <a:rPr sz="1000" b="1">
                          <a:latin typeface="Montserrat"/>
                        </a:rPr>
                        <a:t>8,423 </a:t>
                      </a:r>
                      <a:r>
                        <a:rPr sz="1000" b="1" err="1">
                          <a:latin typeface="Montserrat"/>
                        </a:rPr>
                        <a:t>inscritos</a:t>
                      </a:r>
                      <a:endParaRPr sz="1000" b="1">
                        <a:latin typeface="Montserrat"/>
                      </a:endParaRPr>
                    </a:p>
                    <a:p>
                      <a:pPr algn="ctr">
                        <a:defRPr sz="1000">
                          <a:solidFill>
                            <a:srgbClr val="505050"/>
                          </a:solidFill>
                          <a:latin typeface="Montserrat"/>
                        </a:defRPr>
                      </a:pPr>
                      <a:r>
                        <a:t>1,762 en </a:t>
                      </a:r>
                      <a:r>
                        <a:rPr err="1"/>
                        <a:t>espera</a:t>
                      </a:r>
                      <a:endParaRPr/>
                    </a:p>
                  </a:txBody>
                  <a:tcPr anchor="ctr">
                    <a:lnR w="12700" cap="flat" cmpd="sng" algn="ctr">
                      <a:solidFill>
                        <a:schemeClr val="bg2">
                          <a:lumMod val="20000"/>
                          <a:lumOff val="80000"/>
                        </a:schemeClr>
                      </a:solidFill>
                      <a:prstDash val="solid"/>
                      <a:round/>
                      <a:headEnd type="none" w="med" len="med"/>
                      <a:tailEnd type="none" w="med" len="med"/>
                    </a:lnR>
                    <a:lnB w="12700" cap="flat" cmpd="sng" algn="ctr">
                      <a:solidFill>
                        <a:schemeClr val="bg2">
                          <a:lumMod val="20000"/>
                          <a:lumOff val="80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graphicFrame>
        <p:nvGraphicFramePr>
          <p:cNvPr id="468" name="Table 467"/>
          <p:cNvGraphicFramePr>
            <a:graphicFrameLocks noGrp="1"/>
          </p:cNvGraphicFramePr>
          <p:nvPr>
            <p:extLst>
              <p:ext uri="{D42A27DB-BD31-4B8C-83A1-F6EECF244321}">
                <p14:modId xmlns:p14="http://schemas.microsoft.com/office/powerpoint/2010/main" val="296041967"/>
              </p:ext>
            </p:extLst>
          </p:nvPr>
        </p:nvGraphicFramePr>
        <p:xfrm>
          <a:off x="2311200" y="2626163"/>
          <a:ext cx="5032800" cy="1233274"/>
        </p:xfrm>
        <a:graphic>
          <a:graphicData uri="http://schemas.openxmlformats.org/drawingml/2006/table">
            <a:tbl>
              <a:tblPr firstRow="1" bandRow="1">
                <a:tableStyleId>{5C22544A-7EE6-4342-B048-85BDC9FD1C3A}</a:tableStyleId>
              </a:tblPr>
              <a:tblGrid>
                <a:gridCol w="1576800">
                  <a:extLst>
                    <a:ext uri="{9D8B030D-6E8A-4147-A177-3AD203B41FA5}">
                      <a16:colId xmlns:a16="http://schemas.microsoft.com/office/drawing/2014/main" val="20000"/>
                    </a:ext>
                  </a:extLst>
                </a:gridCol>
                <a:gridCol w="3456000">
                  <a:extLst>
                    <a:ext uri="{9D8B030D-6E8A-4147-A177-3AD203B41FA5}">
                      <a16:colId xmlns:a16="http://schemas.microsoft.com/office/drawing/2014/main" val="20001"/>
                    </a:ext>
                  </a:extLst>
                </a:gridCol>
              </a:tblGrid>
              <a:tr h="411091">
                <a:tc gridSpan="2">
                  <a:txBody>
                    <a:bodyPr/>
                    <a:lstStyle/>
                    <a:p>
                      <a:pPr algn="ctr">
                        <a:defRPr sz="1000" b="1">
                          <a:solidFill>
                            <a:srgbClr val="FFFFFF"/>
                          </a:solidFill>
                          <a:latin typeface="Montserrat"/>
                        </a:defRPr>
                      </a:pPr>
                      <a:r>
                        <a:rPr lang="es-MX"/>
                        <a:t>Bienestar Social</a:t>
                      </a:r>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solidFill>
                      <a:srgbClr val="006455"/>
                    </a:solidFill>
                  </a:tcPr>
                </a:tc>
                <a:tc hMerge="1">
                  <a:txBody>
                    <a:bodyPr/>
                    <a:lstStyle/>
                    <a:p>
                      <a:endParaRPr/>
                    </a:p>
                  </a:txBody>
                  <a:tcPr/>
                </a:tc>
                <a:extLst>
                  <a:ext uri="{0D108BD9-81ED-4DB2-BD59-A6C34878D82A}">
                    <a16:rowId xmlns:a16="http://schemas.microsoft.com/office/drawing/2014/main" val="10000"/>
                  </a:ext>
                </a:extLst>
              </a:tr>
              <a:tr h="411091">
                <a:tc>
                  <a:txBody>
                    <a:bodyPr/>
                    <a:lstStyle/>
                    <a:p>
                      <a:pPr algn="ctr">
                        <a:defRPr sz="800" b="1">
                          <a:latin typeface="Montserrat"/>
                        </a:defRPr>
                      </a:pPr>
                      <a:r>
                        <a:t>4 Centros de Seguridad Social</a:t>
                      </a:r>
                    </a:p>
                  </a:txBody>
                  <a:tcPr marL="28800" marR="28800" marT="0" marB="0" anchor="ct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defRPr sz="800">
                          <a:latin typeface="Montserrat"/>
                        </a:defRPr>
                      </a:pPr>
                      <a:r>
                        <a:t>Saltillo, Monclova, Sabinas(Part.) y Piedras Negras</a:t>
                      </a:r>
                    </a:p>
                  </a:txBody>
                  <a:tcPr marL="28800" marR="28800" marT="0" marB="0" anchor="ct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1"/>
                  </a:ext>
                </a:extLst>
              </a:tr>
              <a:tr h="411092">
                <a:tc>
                  <a:txBody>
                    <a:bodyPr/>
                    <a:lstStyle/>
                    <a:p>
                      <a:pPr algn="ctr">
                        <a:defRPr sz="800" b="1">
                          <a:latin typeface="Montserrat"/>
                        </a:defRPr>
                      </a:pPr>
                      <a:r>
                        <a:t>3 Teatros</a:t>
                      </a:r>
                    </a:p>
                  </a:txBody>
                  <a:tcPr marL="28800" marR="28800" marT="0" marB="0" anchor="ctr">
                    <a:lnL w="12700" cap="flat" cmpd="sng" algn="ctr">
                      <a:solidFill>
                        <a:schemeClr val="bg2">
                          <a:lumMod val="20000"/>
                          <a:lumOff val="80000"/>
                        </a:schemeClr>
                      </a:solidFill>
                      <a:prstDash val="solid"/>
                      <a:round/>
                      <a:headEnd type="none" w="med" len="med"/>
                      <a:tailEnd type="none" w="med" len="med"/>
                    </a:lnL>
                    <a:lnB w="12700" cap="flat" cmpd="sng" algn="ctr">
                      <a:solidFill>
                        <a:schemeClr val="bg2">
                          <a:lumMod val="20000"/>
                          <a:lumOff val="80000"/>
                        </a:schemeClr>
                      </a:solidFill>
                      <a:prstDash val="solid"/>
                      <a:round/>
                      <a:headEnd type="none" w="med" len="med"/>
                      <a:tailEnd type="none" w="med" len="med"/>
                    </a:lnB>
                    <a:solidFill>
                      <a:srgbClr val="EFEFEF"/>
                    </a:solidFill>
                  </a:tcPr>
                </a:tc>
                <a:tc>
                  <a:txBody>
                    <a:bodyPr/>
                    <a:lstStyle/>
                    <a:p>
                      <a:pPr algn="ctr">
                        <a:defRPr sz="800">
                          <a:latin typeface="Montserrat"/>
                        </a:defRPr>
                      </a:pPr>
                      <a:r>
                        <a:t>Saltillo, Monclova y  Piedras Negras</a:t>
                      </a:r>
                    </a:p>
                  </a:txBody>
                  <a:tcPr marL="28800" marR="28800" marT="0" marB="0" anchor="ctr">
                    <a:lnR w="12700" cap="flat" cmpd="sng" algn="ctr">
                      <a:solidFill>
                        <a:schemeClr val="bg2">
                          <a:lumMod val="20000"/>
                          <a:lumOff val="80000"/>
                        </a:schemeClr>
                      </a:solidFill>
                      <a:prstDash val="solid"/>
                      <a:round/>
                      <a:headEnd type="none" w="med" len="med"/>
                      <a:tailEnd type="none" w="med" len="med"/>
                    </a:lnR>
                    <a:lnB w="12700" cap="flat" cmpd="sng" algn="ctr">
                      <a:solidFill>
                        <a:schemeClr val="bg2">
                          <a:lumMod val="20000"/>
                          <a:lumOff val="80000"/>
                        </a:schemeClr>
                      </a:solidFill>
                      <a:prstDash val="solid"/>
                      <a:round/>
                      <a:headEnd type="none" w="med" len="med"/>
                      <a:tailEnd type="none" w="med" len="med"/>
                    </a:lnB>
                    <a:solidFill>
                      <a:srgbClr val="EFEFEF"/>
                    </a:solidFill>
                  </a:tcPr>
                </a:tc>
                <a:extLst>
                  <a:ext uri="{0D108BD9-81ED-4DB2-BD59-A6C34878D82A}">
                    <a16:rowId xmlns:a16="http://schemas.microsoft.com/office/drawing/2014/main" val="10002"/>
                  </a:ext>
                </a:extLst>
              </a:tr>
            </a:tbl>
          </a:graphicData>
        </a:graphic>
      </p:graphicFrame>
      <p:graphicFrame>
        <p:nvGraphicFramePr>
          <p:cNvPr id="469" name="Table 468"/>
          <p:cNvGraphicFramePr>
            <a:graphicFrameLocks noGrp="1"/>
          </p:cNvGraphicFramePr>
          <p:nvPr>
            <p:extLst>
              <p:ext uri="{D42A27DB-BD31-4B8C-83A1-F6EECF244321}">
                <p14:modId xmlns:p14="http://schemas.microsoft.com/office/powerpoint/2010/main" val="3811255600"/>
              </p:ext>
            </p:extLst>
          </p:nvPr>
        </p:nvGraphicFramePr>
        <p:xfrm>
          <a:off x="2293200" y="3974399"/>
          <a:ext cx="5032800" cy="926501"/>
        </p:xfrm>
        <a:graphic>
          <a:graphicData uri="http://schemas.openxmlformats.org/drawingml/2006/table">
            <a:tbl>
              <a:tblPr firstRow="1" bandRow="1">
                <a:tableStyleId>{5C22544A-7EE6-4342-B048-85BDC9FD1C3A}</a:tableStyleId>
              </a:tblPr>
              <a:tblGrid>
                <a:gridCol w="1576800">
                  <a:extLst>
                    <a:ext uri="{9D8B030D-6E8A-4147-A177-3AD203B41FA5}">
                      <a16:colId xmlns:a16="http://schemas.microsoft.com/office/drawing/2014/main" val="20000"/>
                    </a:ext>
                  </a:extLst>
                </a:gridCol>
                <a:gridCol w="3456000">
                  <a:extLst>
                    <a:ext uri="{9D8B030D-6E8A-4147-A177-3AD203B41FA5}">
                      <a16:colId xmlns:a16="http://schemas.microsoft.com/office/drawing/2014/main" val="20001"/>
                    </a:ext>
                  </a:extLst>
                </a:gridCol>
              </a:tblGrid>
              <a:tr h="381701">
                <a:tc gridSpan="2">
                  <a:txBody>
                    <a:bodyPr/>
                    <a:lstStyle/>
                    <a:p>
                      <a:pPr algn="ctr">
                        <a:defRPr sz="1000" b="1">
                          <a:solidFill>
                            <a:srgbClr val="FFFFFF"/>
                          </a:solidFill>
                          <a:latin typeface="Montserrat"/>
                        </a:defRPr>
                      </a:pPr>
                      <a:r>
                        <a:rPr lang="es-MX"/>
                        <a:t>Centros vacacionales, Velatorios y Tiendas</a:t>
                      </a:r>
                      <a:endParaRPr/>
                    </a:p>
                  </a:txBody>
                  <a:tcPr anchor="ctr">
                    <a:lnL w="12700" cap="flat" cmpd="sng" algn="ctr">
                      <a:solidFill>
                        <a:schemeClr val="bg2">
                          <a:lumMod val="20000"/>
                          <a:lumOff val="80000"/>
                        </a:schemeClr>
                      </a:solidFill>
                      <a:prstDash val="solid"/>
                      <a:round/>
                      <a:headEnd type="none" w="med" len="med"/>
                      <a:tailEnd type="none" w="med" len="med"/>
                    </a:lnL>
                    <a:lnR w="12700" cap="flat" cmpd="sng" algn="ctr">
                      <a:solidFill>
                        <a:schemeClr val="bg2">
                          <a:lumMod val="20000"/>
                          <a:lumOff val="80000"/>
                        </a:schemeClr>
                      </a:solidFill>
                      <a:prstDash val="solid"/>
                      <a:round/>
                      <a:headEnd type="none" w="med" len="med"/>
                      <a:tailEnd type="none" w="med" len="med"/>
                    </a:lnR>
                    <a:lnT w="12700" cap="flat" cmpd="sng" algn="ctr">
                      <a:solidFill>
                        <a:schemeClr val="bg2">
                          <a:lumMod val="20000"/>
                          <a:lumOff val="80000"/>
                        </a:schemeClr>
                      </a:solidFill>
                      <a:prstDash val="solid"/>
                      <a:round/>
                      <a:headEnd type="none" w="med" len="med"/>
                      <a:tailEnd type="none" w="med" len="med"/>
                    </a:lnT>
                    <a:solidFill>
                      <a:srgbClr val="006455"/>
                    </a:solidFill>
                  </a:tcPr>
                </a:tc>
                <a:tc hMerge="1">
                  <a:txBody>
                    <a:bodyPr/>
                    <a:lstStyle/>
                    <a:p>
                      <a:endParaRPr/>
                    </a:p>
                  </a:txBody>
                  <a:tcPr/>
                </a:tc>
                <a:extLst>
                  <a:ext uri="{0D108BD9-81ED-4DB2-BD59-A6C34878D82A}">
                    <a16:rowId xmlns:a16="http://schemas.microsoft.com/office/drawing/2014/main" val="10000"/>
                  </a:ext>
                </a:extLst>
              </a:tr>
              <a:tr h="272400">
                <a:tc>
                  <a:txBody>
                    <a:bodyPr/>
                    <a:lstStyle/>
                    <a:p>
                      <a:pPr algn="ctr">
                        <a:defRPr sz="800" b="1">
                          <a:latin typeface="Montserrat"/>
                        </a:defRPr>
                      </a:pPr>
                      <a:r>
                        <a:t>2 Tiendas IMSS-SNTSS</a:t>
                      </a:r>
                    </a:p>
                  </a:txBody>
                  <a:tcPr marL="28800" marR="28800" marT="0" marB="0" anchor="ctr">
                    <a:lnL w="12700" cap="flat" cmpd="sng" algn="ctr">
                      <a:solidFill>
                        <a:schemeClr val="bg2">
                          <a:lumMod val="20000"/>
                          <a:lumOff val="80000"/>
                        </a:schemeClr>
                      </a:solidFill>
                      <a:prstDash val="solid"/>
                      <a:round/>
                      <a:headEnd type="none" w="med" len="med"/>
                      <a:tailEnd type="none" w="med" len="med"/>
                    </a:lnL>
                    <a:solidFill>
                      <a:srgbClr val="FFFFFF"/>
                    </a:solidFill>
                  </a:tcPr>
                </a:tc>
                <a:tc>
                  <a:txBody>
                    <a:bodyPr/>
                    <a:lstStyle/>
                    <a:p>
                      <a:pPr algn="ctr">
                        <a:defRPr sz="800">
                          <a:latin typeface="Montserrat"/>
                        </a:defRPr>
                      </a:pPr>
                      <a:r>
                        <a:t>No. 5 Saltillo y No. 9 Monclova</a:t>
                      </a:r>
                    </a:p>
                  </a:txBody>
                  <a:tcPr marL="28800" marR="28800" marT="0" marB="0" anchor="ctr">
                    <a:lnR w="12700" cap="flat" cmpd="sng" algn="ctr">
                      <a:solidFill>
                        <a:schemeClr val="bg2">
                          <a:lumMod val="20000"/>
                          <a:lumOff val="80000"/>
                        </a:schemeClr>
                      </a:solidFill>
                      <a:prstDash val="solid"/>
                      <a:round/>
                      <a:headEnd type="none" w="med" len="med"/>
                      <a:tailEnd type="none" w="med" len="med"/>
                    </a:lnR>
                    <a:solidFill>
                      <a:srgbClr val="FFFFFF"/>
                    </a:solidFill>
                  </a:tcPr>
                </a:tc>
                <a:extLst>
                  <a:ext uri="{0D108BD9-81ED-4DB2-BD59-A6C34878D82A}">
                    <a16:rowId xmlns:a16="http://schemas.microsoft.com/office/drawing/2014/main" val="10001"/>
                  </a:ext>
                </a:extLst>
              </a:tr>
              <a:tr h="272400">
                <a:tc>
                  <a:txBody>
                    <a:bodyPr/>
                    <a:lstStyle/>
                    <a:p>
                      <a:pPr algn="ctr">
                        <a:defRPr sz="800" b="1">
                          <a:latin typeface="Montserrat"/>
                        </a:defRPr>
                      </a:pPr>
                      <a:r>
                        <a:t>1 Velatorio</a:t>
                      </a:r>
                    </a:p>
                  </a:txBody>
                  <a:tcPr marL="28800" marR="28800" marT="0" marB="0" anchor="ctr">
                    <a:lnL w="12700" cap="flat" cmpd="sng" algn="ctr">
                      <a:solidFill>
                        <a:schemeClr val="bg2">
                          <a:lumMod val="20000"/>
                          <a:lumOff val="80000"/>
                        </a:schemeClr>
                      </a:solidFill>
                      <a:prstDash val="solid"/>
                      <a:round/>
                      <a:headEnd type="none" w="med" len="med"/>
                      <a:tailEnd type="none" w="med" len="med"/>
                    </a:lnL>
                    <a:lnB w="12700" cap="flat" cmpd="sng" algn="ctr">
                      <a:solidFill>
                        <a:schemeClr val="bg2">
                          <a:lumMod val="20000"/>
                          <a:lumOff val="80000"/>
                        </a:schemeClr>
                      </a:solidFill>
                      <a:prstDash val="solid"/>
                      <a:round/>
                      <a:headEnd type="none" w="med" len="med"/>
                      <a:tailEnd type="none" w="med" len="med"/>
                    </a:lnB>
                    <a:solidFill>
                      <a:srgbClr val="EFEFEF"/>
                    </a:solidFill>
                  </a:tcPr>
                </a:tc>
                <a:tc>
                  <a:txBody>
                    <a:bodyPr/>
                    <a:lstStyle/>
                    <a:p>
                      <a:pPr algn="ctr">
                        <a:defRPr sz="800">
                          <a:latin typeface="Montserrat"/>
                        </a:defRPr>
                      </a:pPr>
                      <a:r>
                        <a:t>Torreón</a:t>
                      </a:r>
                    </a:p>
                  </a:txBody>
                  <a:tcPr marL="28800" marR="28800" marT="0" marB="0" anchor="ctr">
                    <a:lnR w="12700" cap="flat" cmpd="sng" algn="ctr">
                      <a:solidFill>
                        <a:schemeClr val="bg2">
                          <a:lumMod val="20000"/>
                          <a:lumOff val="80000"/>
                        </a:schemeClr>
                      </a:solidFill>
                      <a:prstDash val="solid"/>
                      <a:round/>
                      <a:headEnd type="none" w="med" len="med"/>
                      <a:tailEnd type="none" w="med" len="med"/>
                    </a:lnR>
                    <a:lnB w="12700" cap="flat" cmpd="sng" algn="ctr">
                      <a:solidFill>
                        <a:schemeClr val="bg2">
                          <a:lumMod val="20000"/>
                          <a:lumOff val="80000"/>
                        </a:schemeClr>
                      </a:solidFill>
                      <a:prstDash val="solid"/>
                      <a:round/>
                      <a:headEnd type="none" w="med" len="med"/>
                      <a:tailEnd type="none" w="med" len="med"/>
                    </a:lnB>
                    <a:solidFill>
                      <a:srgbClr val="EFEFEF"/>
                    </a:solidFill>
                  </a:tcPr>
                </a:tc>
                <a:extLst>
                  <a:ext uri="{0D108BD9-81ED-4DB2-BD59-A6C34878D82A}">
                    <a16:rowId xmlns:a16="http://schemas.microsoft.com/office/drawing/2014/main" val="10002"/>
                  </a:ext>
                </a:extLst>
              </a:tr>
            </a:tbl>
          </a:graphicData>
        </a:graphic>
      </p:graphicFrame>
      <p:pic>
        <p:nvPicPr>
          <p:cNvPr id="470" name="Picture 469" descr="map_tipo2_05_coah.png"/>
          <p:cNvPicPr>
            <a:picLocks noChangeAspect="1"/>
          </p:cNvPicPr>
          <p:nvPr/>
        </p:nvPicPr>
        <p:blipFill>
          <a:blip r:embed="rId6"/>
          <a:stretch>
            <a:fillRect/>
          </a:stretch>
        </p:blipFill>
        <p:spPr>
          <a:xfrm>
            <a:off x="2898602" y="4963039"/>
            <a:ext cx="2656800" cy="3838805"/>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sz="1000" b="0">
                <a:solidFill>
                  <a:srgbClr val="000000"/>
                </a:solidFill>
                <a:latin typeface="Montserrat"/>
              </a:defRPr>
            </a:pPr>
            <a:r>
              <a:t>Guarderías    56</a:t>
            </a:r>
          </a:p>
        </p:txBody>
      </p:sp>
      <p:sp>
        <p:nvSpPr>
          <p:cNvPr id="472" name="TextBox 471"/>
          <p:cNvSpPr txBox="1"/>
          <p:nvPr/>
        </p:nvSpPr>
        <p:spPr>
          <a:xfrm>
            <a:off x="550000" y="9596598"/>
            <a:ext cx="4258800" cy="230400"/>
          </a:xfrm>
          <a:prstGeom prst="rect">
            <a:avLst/>
          </a:prstGeom>
          <a:noFill/>
        </p:spPr>
        <p:txBody>
          <a:bodyPr wrap="square" lIns="0" tIns="0" rIns="0" bIns="0">
            <a:spAutoFit/>
          </a:bodyPr>
          <a:lstStyle/>
          <a:p>
            <a:pPr algn="l">
              <a:defRPr sz="900">
                <a:solidFill>
                  <a:srgbClr val="FFFFFF"/>
                </a:solidFill>
                <a:latin typeface="Montserrat"/>
              </a:defRPr>
            </a:pPr>
            <a:r>
              <a:t>Fuente: Dirección de Prestaciones Económicas y Sociales, mayo de 2026.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a:solidFill>
                            <a:srgbClr val="BC955C"/>
                          </a:solidFill>
                          <a:latin typeface="Montserrat"/>
                          <a:ea typeface="Montserrat"/>
                          <a:cs typeface="Montserrat"/>
                          <a:sym typeface="Montserrat"/>
                        </a:rPr>
                        <a:t>Actividad económica</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Puestos de trabajo, </a:t>
                      </a:r>
                      <a:r>
                        <a:rPr lang="es" sz="1500" b="1" u="none" strike="noStrike" cap="none">
                          <a:solidFill>
                            <a:srgbClr val="BC955C"/>
                          </a:solidFill>
                          <a:latin typeface="Montserrat"/>
                          <a:ea typeface="Montserrat"/>
                          <a:cs typeface="Montserrat"/>
                          <a:sym typeface="Montserrat"/>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4"/>
                            </a:ext>
                          </a:extLst>
                        </a:rPr>
                        <a:t>por </a:t>
                      </a:r>
                      <a:r>
                        <a:rPr lang="es" sz="1500" b="1" u="none" strike="noStrike" cap="none">
                          <a:solidFill>
                            <a:srgbClr val="BC955C"/>
                          </a:solidFill>
                          <a:latin typeface="Montserrat"/>
                          <a:ea typeface="Montserrat"/>
                          <a:cs typeface="Montserrat"/>
                          <a:sym typeface="Montserrat"/>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5"/>
                            </a:ext>
                          </a:extLst>
                        </a:rPr>
                        <a:t>tipo de sector</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graphicFrame>
        <p:nvGraphicFramePr>
          <p:cNvPr id="479" name="Table 478"/>
          <p:cNvGraphicFramePr>
            <a:graphicFrameLocks noGrp="1"/>
          </p:cNvGraphicFramePr>
          <p:nvPr>
            <p:extLst>
              <p:ext uri="{D42A27DB-BD31-4B8C-83A1-F6EECF244321}">
                <p14:modId xmlns:p14="http://schemas.microsoft.com/office/powerpoint/2010/main" val="2462550536"/>
              </p:ext>
            </p:extLst>
          </p:nvPr>
        </p:nvGraphicFramePr>
        <p:xfrm>
          <a:off x="284400" y="1087200"/>
          <a:ext cx="6984000" cy="2062439"/>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92000">
                  <a:extLst>
                    <a:ext uri="{9D8B030D-6E8A-4147-A177-3AD203B41FA5}">
                      <a16:colId xmlns:a16="http://schemas.microsoft.com/office/drawing/2014/main" val="20003"/>
                    </a:ext>
                  </a:extLst>
                </a:gridCol>
                <a:gridCol w="1260000">
                  <a:extLst>
                    <a:ext uri="{9D8B030D-6E8A-4147-A177-3AD203B41FA5}">
                      <a16:colId xmlns:a16="http://schemas.microsoft.com/office/drawing/2014/main" val="20004"/>
                    </a:ext>
                  </a:extLst>
                </a:gridCol>
                <a:gridCol w="720000">
                  <a:extLst>
                    <a:ext uri="{9D8B030D-6E8A-4147-A177-3AD203B41FA5}">
                      <a16:colId xmlns:a16="http://schemas.microsoft.com/office/drawing/2014/main" val="20005"/>
                    </a:ext>
                  </a:extLst>
                </a:gridCol>
                <a:gridCol w="720000">
                  <a:extLst>
                    <a:ext uri="{9D8B030D-6E8A-4147-A177-3AD203B41FA5}">
                      <a16:colId xmlns:a16="http://schemas.microsoft.com/office/drawing/2014/main" val="20006"/>
                    </a:ext>
                  </a:extLst>
                </a:gridCol>
                <a:gridCol w="792000">
                  <a:extLst>
                    <a:ext uri="{9D8B030D-6E8A-4147-A177-3AD203B41FA5}">
                      <a16:colId xmlns:a16="http://schemas.microsoft.com/office/drawing/2014/main" val="20007"/>
                    </a:ext>
                  </a:extLst>
                </a:gridCol>
              </a:tblGrid>
              <a:tr h="251999">
                <a:tc gridSpan="8">
                  <a:txBody>
                    <a:bodyPr/>
                    <a:lstStyle/>
                    <a:p>
                      <a:pPr algn="ctr">
                        <a:defRPr sz="1000" b="1">
                          <a:solidFill>
                            <a:srgbClr val="FFFFFF"/>
                          </a:solidFill>
                          <a:latin typeface="Montserrat"/>
                        </a:defRPr>
                      </a:pPr>
                      <a:r>
                        <a:rPr lang="es-MX"/>
                        <a:t>Principales Empleadores</a:t>
                      </a:r>
                      <a:endParaRPr/>
                    </a:p>
                  </a:txBody>
                  <a:tcPr anchor="ctr">
                    <a:solidFill>
                      <a:srgbClr val="BC955C"/>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360000">
                <a:tc>
                  <a:txBody>
                    <a:bodyPr/>
                    <a:lstStyle/>
                    <a:p>
                      <a:pPr algn="ctr">
                        <a:defRPr sz="850" b="1">
                          <a:solidFill>
                            <a:srgbClr val="FFFFFF"/>
                          </a:solidFill>
                          <a:latin typeface="Montserrat"/>
                        </a:defRPr>
                      </a:pPr>
                      <a:r>
                        <a:t>Empleador público</a:t>
                      </a:r>
                    </a:p>
                  </a:txBody>
                  <a:tcPr anchor="ctr">
                    <a:solidFill>
                      <a:srgbClr val="BC955C"/>
                    </a:solidFill>
                  </a:tcPr>
                </a:tc>
                <a:tc>
                  <a:txBody>
                    <a:bodyPr/>
                    <a:lstStyle/>
                    <a:p>
                      <a:pPr algn="ctr">
                        <a:defRPr sz="850" b="1">
                          <a:solidFill>
                            <a:srgbClr val="FFFFFF"/>
                          </a:solidFill>
                          <a:latin typeface="Montserrat"/>
                        </a:defRPr>
                      </a:pPr>
                      <a:r>
                        <a:t>Empleos Anterior</a:t>
                      </a:r>
                    </a:p>
                  </a:txBody>
                  <a:tcPr anchor="ctr">
                    <a:solidFill>
                      <a:srgbClr val="BC955C"/>
                    </a:solidFill>
                  </a:tcPr>
                </a:tc>
                <a:tc>
                  <a:txBody>
                    <a:bodyPr/>
                    <a:lstStyle/>
                    <a:p>
                      <a:pPr algn="ctr">
                        <a:defRPr sz="850" b="1">
                          <a:solidFill>
                            <a:srgbClr val="FFFFFF"/>
                          </a:solidFill>
                          <a:latin typeface="Montserrat"/>
                        </a:defRPr>
                      </a:pPr>
                      <a:r>
                        <a:t>Empleos Actual</a:t>
                      </a:r>
                    </a:p>
                  </a:txBody>
                  <a:tcPr anchor="ctr">
                    <a:solidFill>
                      <a:srgbClr val="BC955C"/>
                    </a:solidFill>
                  </a:tcPr>
                </a:tc>
                <a:tc>
                  <a:txBody>
                    <a:bodyPr/>
                    <a:lstStyle/>
                    <a:p>
                      <a:pPr algn="ctr">
                        <a:defRPr sz="850" b="1">
                          <a:solidFill>
                            <a:srgbClr val="FFFFFF"/>
                          </a:solidFill>
                          <a:latin typeface="Montserrat"/>
                        </a:defRPr>
                      </a:pPr>
                      <a:r>
                        <a:t>Variación</a:t>
                      </a:r>
                    </a:p>
                  </a:txBody>
                  <a:tcPr anchor="ctr">
                    <a:solidFill>
                      <a:srgbClr val="BC955C"/>
                    </a:solidFill>
                  </a:tcPr>
                </a:tc>
                <a:tc>
                  <a:txBody>
                    <a:bodyPr/>
                    <a:lstStyle/>
                    <a:p>
                      <a:pPr algn="ctr">
                        <a:defRPr sz="850" b="1">
                          <a:solidFill>
                            <a:srgbClr val="FFFFFF"/>
                          </a:solidFill>
                          <a:latin typeface="Montserrat"/>
                        </a:defRPr>
                      </a:pPr>
                      <a:r>
                        <a:t>Empleador Privado</a:t>
                      </a:r>
                    </a:p>
                  </a:txBody>
                  <a:tcPr anchor="ctr">
                    <a:solidFill>
                      <a:srgbClr val="BC955C"/>
                    </a:solidFill>
                  </a:tcPr>
                </a:tc>
                <a:tc>
                  <a:txBody>
                    <a:bodyPr/>
                    <a:lstStyle/>
                    <a:p>
                      <a:pPr algn="ctr">
                        <a:defRPr sz="850" b="1">
                          <a:solidFill>
                            <a:srgbClr val="FFFFFF"/>
                          </a:solidFill>
                          <a:latin typeface="Montserrat"/>
                        </a:defRPr>
                      </a:pPr>
                      <a:r>
                        <a:t>Empleos Anterior</a:t>
                      </a:r>
                    </a:p>
                  </a:txBody>
                  <a:tcPr anchor="ctr">
                    <a:solidFill>
                      <a:srgbClr val="BC955C"/>
                    </a:solidFill>
                  </a:tcPr>
                </a:tc>
                <a:tc>
                  <a:txBody>
                    <a:bodyPr/>
                    <a:lstStyle/>
                    <a:p>
                      <a:pPr algn="ctr">
                        <a:defRPr sz="850" b="1">
                          <a:solidFill>
                            <a:srgbClr val="FFFFFF"/>
                          </a:solidFill>
                          <a:latin typeface="Montserrat"/>
                        </a:defRPr>
                      </a:pPr>
                      <a:r>
                        <a:t>Empleos Actual</a:t>
                      </a:r>
                    </a:p>
                  </a:txBody>
                  <a:tcPr anchor="ctr">
                    <a:solidFill>
                      <a:srgbClr val="BC955C"/>
                    </a:solidFill>
                  </a:tcPr>
                </a:tc>
                <a:tc>
                  <a:txBody>
                    <a:bodyPr/>
                    <a:lstStyle/>
                    <a:p>
                      <a:pPr algn="ctr">
                        <a:defRPr sz="850" b="1">
                          <a:solidFill>
                            <a:srgbClr val="FFFFFF"/>
                          </a:solidFill>
                          <a:latin typeface="Montserrat"/>
                        </a:defRPr>
                      </a:pPr>
                      <a:r>
                        <a:t>Variación</a:t>
                      </a:r>
                    </a:p>
                  </a:txBody>
                  <a:tcPr anchor="ctr">
                    <a:solidFill>
                      <a:srgbClr val="BC955C"/>
                    </a:solidFill>
                  </a:tcPr>
                </a:tc>
                <a:extLst>
                  <a:ext uri="{0D108BD9-81ED-4DB2-BD59-A6C34878D82A}">
                    <a16:rowId xmlns:a16="http://schemas.microsoft.com/office/drawing/2014/main" val="10001"/>
                  </a:ext>
                </a:extLst>
              </a:tr>
              <a:tr h="288000">
                <a:tc>
                  <a:txBody>
                    <a:bodyPr/>
                    <a:lstStyle/>
                    <a:p>
                      <a:pPr algn="ctr">
                        <a:defRPr sz="850">
                          <a:latin typeface="Montserrat"/>
                        </a:defRPr>
                      </a:pPr>
                      <a:r>
                        <a:t>Instituto Mexicano del Seguro Social</a:t>
                      </a:r>
                    </a:p>
                  </a:txBody>
                  <a:tcPr anchor="ctr">
                    <a:solidFill>
                      <a:srgbClr val="FFFFFF"/>
                    </a:solidFill>
                  </a:tcPr>
                </a:tc>
                <a:tc>
                  <a:txBody>
                    <a:bodyPr/>
                    <a:lstStyle/>
                    <a:p>
                      <a:pPr algn="ctr">
                        <a:defRPr sz="850">
                          <a:latin typeface="Montserrat"/>
                        </a:defRPr>
                      </a:pPr>
                      <a:r>
                        <a:t>20,187</a:t>
                      </a:r>
                    </a:p>
                  </a:txBody>
                  <a:tcPr anchor="ctr">
                    <a:solidFill>
                      <a:srgbClr val="FFFFFF"/>
                    </a:solidFill>
                  </a:tcPr>
                </a:tc>
                <a:tc>
                  <a:txBody>
                    <a:bodyPr/>
                    <a:lstStyle/>
                    <a:p>
                      <a:pPr algn="ctr">
                        <a:defRPr sz="850">
                          <a:latin typeface="Montserrat"/>
                        </a:defRPr>
                      </a:pPr>
                      <a:r>
                        <a:t>20,363</a:t>
                      </a:r>
                    </a:p>
                  </a:txBody>
                  <a:tcPr anchor="ctr">
                    <a:solidFill>
                      <a:srgbClr val="FFFFFF"/>
                    </a:solidFill>
                  </a:tcPr>
                </a:tc>
                <a:tc>
                  <a:txBody>
                    <a:bodyPr/>
                    <a:lstStyle/>
                    <a:p>
                      <a:pPr algn="ctr">
                        <a:defRPr sz="850" b="1">
                          <a:solidFill>
                            <a:srgbClr val="006455"/>
                          </a:solidFill>
                          <a:latin typeface="Montserrat"/>
                        </a:defRPr>
                      </a:pPr>
                      <a:r>
                        <a:t>0.9%</a:t>
                      </a:r>
                    </a:p>
                  </a:txBody>
                  <a:tcPr anchor="ctr">
                    <a:solidFill>
                      <a:srgbClr val="FFFFFF"/>
                    </a:solidFill>
                  </a:tcPr>
                </a:tc>
                <a:tc>
                  <a:txBody>
                    <a:bodyPr/>
                    <a:lstStyle/>
                    <a:p>
                      <a:pPr algn="ctr">
                        <a:defRPr sz="850">
                          <a:latin typeface="Montserrat"/>
                        </a:defRPr>
                      </a:pPr>
                      <a:r>
                        <a:t>Stellantis México S.A. de C.V.</a:t>
                      </a:r>
                    </a:p>
                  </a:txBody>
                  <a:tcPr anchor="ctr">
                    <a:solidFill>
                      <a:srgbClr val="FFFFFF"/>
                    </a:solidFill>
                  </a:tcPr>
                </a:tc>
                <a:tc>
                  <a:txBody>
                    <a:bodyPr/>
                    <a:lstStyle/>
                    <a:p>
                      <a:pPr algn="ctr">
                        <a:defRPr sz="850">
                          <a:latin typeface="Montserrat"/>
                        </a:defRPr>
                      </a:pPr>
                      <a:r>
                        <a:t>14,506</a:t>
                      </a:r>
                    </a:p>
                  </a:txBody>
                  <a:tcPr anchor="ctr">
                    <a:solidFill>
                      <a:srgbClr val="FFFFFF"/>
                    </a:solidFill>
                  </a:tcPr>
                </a:tc>
                <a:tc>
                  <a:txBody>
                    <a:bodyPr/>
                    <a:lstStyle/>
                    <a:p>
                      <a:pPr algn="ctr">
                        <a:defRPr sz="850">
                          <a:latin typeface="Montserrat"/>
                        </a:defRPr>
                      </a:pPr>
                      <a:r>
                        <a:t>14,697</a:t>
                      </a:r>
                    </a:p>
                  </a:txBody>
                  <a:tcPr anchor="ctr">
                    <a:solidFill>
                      <a:srgbClr val="FFFFFF"/>
                    </a:solidFill>
                  </a:tcPr>
                </a:tc>
                <a:tc>
                  <a:txBody>
                    <a:bodyPr/>
                    <a:lstStyle/>
                    <a:p>
                      <a:pPr algn="ctr">
                        <a:defRPr sz="850" b="1">
                          <a:solidFill>
                            <a:srgbClr val="006455"/>
                          </a:solidFill>
                          <a:latin typeface="Montserrat"/>
                        </a:defRPr>
                      </a:pPr>
                      <a:r>
                        <a:t>1.3%</a:t>
                      </a:r>
                    </a:p>
                  </a:txBody>
                  <a:tcPr anchor="ctr">
                    <a:solidFill>
                      <a:srgbClr val="FFFFFF"/>
                    </a:solidFill>
                  </a:tcPr>
                </a:tc>
                <a:extLst>
                  <a:ext uri="{0D108BD9-81ED-4DB2-BD59-A6C34878D82A}">
                    <a16:rowId xmlns:a16="http://schemas.microsoft.com/office/drawing/2014/main" val="10002"/>
                  </a:ext>
                </a:extLst>
              </a:tr>
              <a:tr h="490320">
                <a:tc rowSpan="2">
                  <a:txBody>
                    <a:bodyPr/>
                    <a:lstStyle/>
                    <a:p>
                      <a:pPr algn="ctr">
                        <a:defRPr sz="850">
                          <a:latin typeface="Montserrat"/>
                        </a:defRPr>
                      </a:pPr>
                      <a:r>
                        <a:t>Universidad Autónoma de Coahuila</a:t>
                      </a:r>
                    </a:p>
                  </a:txBody>
                  <a:tcPr anchor="ctr">
                    <a:solidFill>
                      <a:srgbClr val="D9D9D9"/>
                    </a:solidFill>
                  </a:tcPr>
                </a:tc>
                <a:tc rowSpan="2">
                  <a:txBody>
                    <a:bodyPr/>
                    <a:lstStyle/>
                    <a:p>
                      <a:pPr algn="ctr">
                        <a:defRPr sz="850">
                          <a:latin typeface="Montserrat"/>
                        </a:defRPr>
                      </a:pPr>
                      <a:r>
                        <a:t>7,090</a:t>
                      </a:r>
                    </a:p>
                  </a:txBody>
                  <a:tcPr anchor="ctr">
                    <a:solidFill>
                      <a:srgbClr val="D9D9D9"/>
                    </a:solidFill>
                  </a:tcPr>
                </a:tc>
                <a:tc rowSpan="2">
                  <a:txBody>
                    <a:bodyPr/>
                    <a:lstStyle/>
                    <a:p>
                      <a:pPr algn="ctr">
                        <a:defRPr sz="850">
                          <a:latin typeface="Montserrat"/>
                        </a:defRPr>
                      </a:pPr>
                      <a:r>
                        <a:t>7,084</a:t>
                      </a:r>
                    </a:p>
                  </a:txBody>
                  <a:tcPr anchor="ctr">
                    <a:solidFill>
                      <a:srgbClr val="D9D9D9"/>
                    </a:solidFill>
                  </a:tcPr>
                </a:tc>
                <a:tc rowSpan="2">
                  <a:txBody>
                    <a:bodyPr/>
                    <a:lstStyle/>
                    <a:p>
                      <a:pPr algn="ctr">
                        <a:defRPr sz="850" b="1">
                          <a:solidFill>
                            <a:srgbClr val="691C32"/>
                          </a:solidFill>
                          <a:latin typeface="Montserrat"/>
                        </a:defRPr>
                      </a:pPr>
                      <a:r>
                        <a:t>-0.1%</a:t>
                      </a:r>
                    </a:p>
                  </a:txBody>
                  <a:tcPr anchor="ctr">
                    <a:solidFill>
                      <a:srgbClr val="D9D9D9"/>
                    </a:solidFill>
                  </a:tcPr>
                </a:tc>
                <a:tc>
                  <a:txBody>
                    <a:bodyPr/>
                    <a:lstStyle/>
                    <a:p>
                      <a:pPr algn="ctr">
                        <a:defRPr sz="850">
                          <a:latin typeface="Montserrat"/>
                        </a:defRPr>
                      </a:pPr>
                      <a:r>
                        <a:t>Arneses y Accesorios de México S. de R.L. de C.V.</a:t>
                      </a:r>
                    </a:p>
                  </a:txBody>
                  <a:tcPr anchor="ctr">
                    <a:solidFill>
                      <a:srgbClr val="D9D9D9"/>
                    </a:solidFill>
                  </a:tcPr>
                </a:tc>
                <a:tc>
                  <a:txBody>
                    <a:bodyPr/>
                    <a:lstStyle/>
                    <a:p>
                      <a:pPr algn="ctr">
                        <a:defRPr sz="850">
                          <a:latin typeface="Montserrat"/>
                        </a:defRPr>
                      </a:pPr>
                      <a:r>
                        <a:t>8,189</a:t>
                      </a:r>
                    </a:p>
                  </a:txBody>
                  <a:tcPr anchor="ctr">
                    <a:solidFill>
                      <a:srgbClr val="D9D9D9"/>
                    </a:solidFill>
                  </a:tcPr>
                </a:tc>
                <a:tc>
                  <a:txBody>
                    <a:bodyPr/>
                    <a:lstStyle/>
                    <a:p>
                      <a:pPr algn="ctr">
                        <a:defRPr sz="850">
                          <a:latin typeface="Montserrat"/>
                        </a:defRPr>
                      </a:pPr>
                      <a:r>
                        <a:t>8,541</a:t>
                      </a:r>
                    </a:p>
                  </a:txBody>
                  <a:tcPr anchor="ctr">
                    <a:solidFill>
                      <a:srgbClr val="D9D9D9"/>
                    </a:solidFill>
                  </a:tcPr>
                </a:tc>
                <a:tc>
                  <a:txBody>
                    <a:bodyPr/>
                    <a:lstStyle/>
                    <a:p>
                      <a:pPr algn="ctr">
                        <a:defRPr sz="850" b="1">
                          <a:solidFill>
                            <a:srgbClr val="006455"/>
                          </a:solidFill>
                          <a:latin typeface="Montserrat"/>
                        </a:defRPr>
                      </a:pPr>
                      <a:r>
                        <a:t>4.3%</a:t>
                      </a:r>
                    </a:p>
                  </a:txBody>
                  <a:tcPr anchor="ctr">
                    <a:solidFill>
                      <a:srgbClr val="D9D9D9"/>
                    </a:solidFill>
                  </a:tcPr>
                </a:tc>
                <a:extLst>
                  <a:ext uri="{0D108BD9-81ED-4DB2-BD59-A6C34878D82A}">
                    <a16:rowId xmlns:a16="http://schemas.microsoft.com/office/drawing/2014/main" val="10003"/>
                  </a:ext>
                </a:extLst>
              </a:tr>
              <a:tr h="490320">
                <a:tc vMerge="1">
                  <a:txBody>
                    <a:bodyPr/>
                    <a:lstStyle/>
                    <a:p>
                      <a:pPr algn="ctr">
                        <a:defRPr sz="850">
                          <a:latin typeface="Montserrat"/>
                        </a:defRPr>
                      </a:pPr>
                      <a:endParaRPr/>
                    </a:p>
                  </a:txBody>
                  <a:tcPr anchor="ctr">
                    <a:solidFill>
                      <a:srgbClr val="FFFFFF"/>
                    </a:solidFill>
                  </a:tcPr>
                </a:tc>
                <a:tc vMerge="1">
                  <a:txBody>
                    <a:bodyPr/>
                    <a:lstStyle/>
                    <a:p>
                      <a:pPr algn="ctr">
                        <a:defRPr sz="850">
                          <a:latin typeface="Montserrat"/>
                        </a:defRPr>
                      </a:pPr>
                      <a:endParaRPr/>
                    </a:p>
                  </a:txBody>
                  <a:tcPr anchor="ctr">
                    <a:solidFill>
                      <a:srgbClr val="FFFFFF"/>
                    </a:solidFill>
                  </a:tcPr>
                </a:tc>
                <a:tc vMerge="1">
                  <a:txBody>
                    <a:bodyPr/>
                    <a:lstStyle/>
                    <a:p>
                      <a:pPr algn="ctr">
                        <a:defRPr sz="850">
                          <a:latin typeface="Montserrat"/>
                        </a:defRPr>
                      </a:pPr>
                      <a:endParaRPr/>
                    </a:p>
                  </a:txBody>
                  <a:tcPr anchor="ctr">
                    <a:solidFill>
                      <a:srgbClr val="FFFFFF"/>
                    </a:solidFill>
                  </a:tcPr>
                </a:tc>
                <a:tc vMerge="1">
                  <a:txBody>
                    <a:bodyPr/>
                    <a:lstStyle/>
                    <a:p>
                      <a:pPr algn="ctr">
                        <a:defRPr sz="850">
                          <a:latin typeface="Montserrat"/>
                        </a:defRPr>
                      </a:pPr>
                      <a:endParaRPr/>
                    </a:p>
                  </a:txBody>
                  <a:tcPr anchor="ctr">
                    <a:solidFill>
                      <a:srgbClr val="FFFFFF"/>
                    </a:solidFill>
                  </a:tcPr>
                </a:tc>
                <a:tc>
                  <a:txBody>
                    <a:bodyPr/>
                    <a:lstStyle/>
                    <a:p>
                      <a:pPr algn="ctr">
                        <a:defRPr sz="850">
                          <a:latin typeface="Montserrat"/>
                        </a:defRPr>
                      </a:pPr>
                      <a:r>
                        <a:t>Cadena Comercial OXXO S.A. de C.V.</a:t>
                      </a:r>
                    </a:p>
                  </a:txBody>
                  <a:tcPr anchor="ctr">
                    <a:solidFill>
                      <a:srgbClr val="FFFFFF"/>
                    </a:solidFill>
                  </a:tcPr>
                </a:tc>
                <a:tc>
                  <a:txBody>
                    <a:bodyPr/>
                    <a:lstStyle/>
                    <a:p>
                      <a:pPr algn="ctr">
                        <a:defRPr sz="850">
                          <a:latin typeface="Montserrat"/>
                        </a:defRPr>
                      </a:pPr>
                      <a:r>
                        <a:t>8,453</a:t>
                      </a:r>
                    </a:p>
                  </a:txBody>
                  <a:tcPr anchor="ctr">
                    <a:solidFill>
                      <a:srgbClr val="FFFFFF"/>
                    </a:solidFill>
                  </a:tcPr>
                </a:tc>
                <a:tc>
                  <a:txBody>
                    <a:bodyPr/>
                    <a:lstStyle/>
                    <a:p>
                      <a:pPr algn="ctr">
                        <a:defRPr sz="850">
                          <a:latin typeface="Montserrat"/>
                        </a:defRPr>
                      </a:pPr>
                      <a:r>
                        <a:t>8,507</a:t>
                      </a:r>
                    </a:p>
                  </a:txBody>
                  <a:tcPr anchor="ctr">
                    <a:solidFill>
                      <a:srgbClr val="FFFFFF"/>
                    </a:solidFill>
                  </a:tcPr>
                </a:tc>
                <a:tc>
                  <a:txBody>
                    <a:bodyPr/>
                    <a:lstStyle/>
                    <a:p>
                      <a:pPr algn="ctr">
                        <a:defRPr sz="850" b="1">
                          <a:solidFill>
                            <a:srgbClr val="006455"/>
                          </a:solidFill>
                          <a:latin typeface="Montserrat"/>
                        </a:defRPr>
                      </a:pPr>
                      <a:r>
                        <a:t>0.6%</a:t>
                      </a:r>
                    </a:p>
                  </a:txBody>
                  <a:tcPr anchor="ctr">
                    <a:solidFill>
                      <a:srgbClr val="FFFFFF"/>
                    </a:solidFill>
                  </a:tcPr>
                </a:tc>
                <a:extLst>
                  <a:ext uri="{0D108BD9-81ED-4DB2-BD59-A6C34878D82A}">
                    <a16:rowId xmlns:a16="http://schemas.microsoft.com/office/drawing/2014/main" val="10004"/>
                  </a:ext>
                </a:extLst>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xmlns:r="http://schemas.openxmlformats.org/officeDocument/2006/relationships"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-6.48%</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-4.16%</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-0.65%</a:t>
            </a:r>
          </a:p>
        </p:txBody>
      </p:sp>
      <p:sp>
        <p:nvSpPr>
          <p:cNvPr id="484" name="Rounded Rectangle 483"/>
          <p:cNvSpPr/>
          <p:nvPr/>
        </p:nvSpPr>
        <p:spPr>
          <a:xfrm>
            <a:off x="7020000" y="496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+0.18%</a:t>
            </a:r>
          </a:p>
        </p:txBody>
      </p:sp>
      <p:sp>
        <p:nvSpPr>
          <p:cNvPr id="485" name="Rounded Rectangle 484"/>
          <p:cNvSpPr/>
          <p:nvPr/>
        </p:nvSpPr>
        <p:spPr>
          <a:xfrm>
            <a:off x="7020000" y="5364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+0.56%</a:t>
            </a:r>
          </a:p>
        </p:txBody>
      </p:sp>
      <p:sp>
        <p:nvSpPr>
          <p:cNvPr id="486" name="Rounded Rectangle 485"/>
          <p:cNvSpPr/>
          <p:nvPr/>
        </p:nvSpPr>
        <p:spPr>
          <a:xfrm>
            <a:off x="7020000" y="5760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+1.90%</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+2.10%</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+3.55%</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+5.06%</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May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May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838800">
                  <a:extLst>
                    <a:ext uri="{9D8B030D-6E8A-4147-A177-3AD203B41FA5}">
                      <a16:colId xmlns:a16="http://schemas.microsoft.com/office/drawing/2014/main" val="20001"/>
                    </a:ext>
                  </a:extLst>
                </a:gridCol>
                <a:gridCol w="838800">
                  <a:extLst>
                    <a:ext uri="{9D8B030D-6E8A-4147-A177-3AD203B41FA5}">
                      <a16:colId xmlns:a16="http://schemas.microsoft.com/office/drawing/2014/main" val="20002"/>
                    </a:ext>
                  </a:extLst>
                </a:gridCol>
                <a:gridCol w="838800">
                  <a:extLst>
                    <a:ext uri="{9D8B030D-6E8A-4147-A177-3AD203B41FA5}">
                      <a16:colId xmlns:a16="http://schemas.microsoft.com/office/drawing/2014/main" val="20003"/>
                    </a:ext>
                  </a:extLst>
                </a:gridCol>
                <a:gridCol w="838800">
                  <a:extLst>
                    <a:ext uri="{9D8B030D-6E8A-4147-A177-3AD203B41FA5}">
                      <a16:colId xmlns:a16="http://schemas.microsoft.com/office/drawing/2014/main" val="20004"/>
                    </a:ext>
                  </a:extLst>
                </a:gridCol>
                <a:gridCol w="1260000">
                  <a:extLst>
                    <a:ext uri="{9D8B030D-6E8A-4147-A177-3AD203B41FA5}">
                      <a16:colId xmlns:a16="http://schemas.microsoft.com/office/drawing/2014/main" val="20005"/>
                    </a:ext>
                  </a:extLst>
                </a:gridCol>
              </a:tblGrid>
              <a:tr h="286560">
                <a:tc rowSpan="2">
                  <a:txBody>
                    <a:bodyPr/>
                    <a:lstStyle/>
                    <a:p>
                      <a:pPr algn="ctr">
                        <a:defRPr sz="1000" b="1">
                          <a:solidFill>
                            <a:srgbClr val="FFFFFF"/>
                          </a:solidFill>
                          <a:latin typeface="Montserrat"/>
                        </a:defRPr>
                      </a:pPr>
                      <a:r>
                        <a:t>Mes</a:t>
                      </a:r>
                    </a:p>
                  </a:txBody>
                  <a:tcPr anchor="ctr">
                    <a:solidFill>
                      <a:srgbClr val="BC955C"/>
                    </a:solidFill>
                  </a:tcPr>
                </a:tc>
                <a:tc gridSpan="2">
                  <a:txBody>
                    <a:bodyPr/>
                    <a:lstStyle/>
                    <a:p>
                      <a:pPr algn="ctr">
                        <a:defRPr sz="1000" b="1">
                          <a:solidFill>
                            <a:srgbClr val="FFFFFF"/>
                          </a:solidFill>
                          <a:latin typeface="Montserrat"/>
                        </a:defRPr>
                      </a:pPr>
                      <a:r>
                        <a:t>Permanente</a:t>
                      </a:r>
                    </a:p>
                  </a:txBody>
                  <a:tcPr anchor="ctr">
                    <a:solidFill>
                      <a:srgbClr val="BC955C"/>
                    </a:solidFill>
                  </a:tcPr>
                </a:tc>
                <a:tc hMerge="1">
                  <a:txBody>
                    <a:bodyPr/>
                    <a:lstStyle/>
                    <a:p>
                      <a:pPr algn="ctr">
                        <a:defRPr sz="1000" b="1">
                          <a:solidFill>
                            <a:srgbClr val="FFFFFF"/>
                          </a:solidFill>
                          <a:latin typeface="Montserrat"/>
                        </a:defRPr>
                      </a:pPr>
                      <a:endParaRPr/>
                    </a:p>
                  </a:txBody>
                  <a:tcPr anchor="ctr">
                    <a:solidFill>
                      <a:srgbClr val="BC955C"/>
                    </a:solidFill>
                  </a:tcPr>
                </a:tc>
                <a:tc gridSpan="2">
                  <a:txBody>
                    <a:bodyPr/>
                    <a:lstStyle/>
                    <a:p>
                      <a:pPr algn="ctr">
                        <a:defRPr sz="1000" b="1">
                          <a:solidFill>
                            <a:srgbClr val="FFFFFF"/>
                          </a:solidFill>
                          <a:latin typeface="Montserrat"/>
                        </a:defRPr>
                      </a:pPr>
                      <a:r>
                        <a:t>Eventual</a:t>
                      </a:r>
                    </a:p>
                  </a:txBody>
                  <a:tcPr anchor="ctr">
                    <a:solidFill>
                      <a:srgbClr val="BC955C"/>
                    </a:solidFill>
                  </a:tcPr>
                </a:tc>
                <a:tc hMerge="1">
                  <a:txBody>
                    <a:bodyPr/>
                    <a:lstStyle/>
                    <a:p>
                      <a:pPr algn="ctr">
                        <a:defRPr sz="1000" b="1">
                          <a:solidFill>
                            <a:srgbClr val="FFFFFF"/>
                          </a:solidFill>
                          <a:latin typeface="Montserrat"/>
                        </a:defRPr>
                      </a:pPr>
                      <a:endParaRPr/>
                    </a:p>
                  </a:txBody>
                  <a:tcPr anchor="ctr">
                    <a:solidFill>
                      <a:srgbClr val="BC955C"/>
                    </a:solidFill>
                  </a:tcPr>
                </a:tc>
                <a:tc rowSpan="2">
                  <a:txBody>
                    <a:bodyPr/>
                    <a:lstStyle/>
                    <a:p>
                      <a:pPr algn="ctr">
                        <a:defRPr sz="1000" b="1">
                          <a:solidFill>
                            <a:srgbClr val="FFFFFF"/>
                          </a:solidFill>
                          <a:latin typeface="Montserrat"/>
                        </a:defRPr>
                      </a:pPr>
                      <a:r>
                        <a:t>Total</a:t>
                      </a:r>
                    </a:p>
                  </a:txBody>
                  <a:tcPr anchor="ctr">
                    <a:solidFill>
                      <a:srgbClr val="BC955C"/>
                    </a:solidFill>
                  </a:tcPr>
                </a:tc>
                <a:extLst>
                  <a:ext uri="{0D108BD9-81ED-4DB2-BD59-A6C34878D82A}">
                    <a16:rowId xmlns:a16="http://schemas.microsoft.com/office/drawing/2014/main" val="10000"/>
                  </a:ext>
                </a:extLst>
              </a:tr>
              <a:tr h="286560">
                <a:tc vMerge="1">
                  <a:txBody>
                    <a:bodyPr/>
                    <a:lstStyle/>
                    <a:p>
                      <a:pPr algn="ctr">
                        <a:defRPr sz="1000" b="1">
                          <a:solidFill>
                            <a:srgbClr val="FFFFFF"/>
                          </a:solidFill>
                          <a:latin typeface="Montserrat"/>
                        </a:defRPr>
                      </a:pPr>
                      <a:endParaRPr/>
                    </a:p>
                  </a:txBody>
                  <a:tcPr anchor="ctr">
                    <a:solidFill>
                      <a:srgbClr val="BC955C"/>
                    </a:solidFill>
                  </a:tcPr>
                </a:tc>
                <a:tc>
                  <a:txBody>
                    <a:bodyPr/>
                    <a:lstStyle/>
                    <a:p>
                      <a:pPr algn="ctr">
                        <a:defRPr sz="1000" b="1">
                          <a:solidFill>
                            <a:srgbClr val="FFFFFF"/>
                          </a:solidFill>
                          <a:latin typeface="Montserrat"/>
                        </a:defRPr>
                      </a:pPr>
                      <a:r>
                        <a:t>Urbano</a:t>
                      </a:r>
                    </a:p>
                  </a:txBody>
                  <a:tcPr anchor="ctr">
                    <a:solidFill>
                      <a:srgbClr val="BC955C"/>
                    </a:solidFill>
                  </a:tcPr>
                </a:tc>
                <a:tc>
                  <a:txBody>
                    <a:bodyPr/>
                    <a:lstStyle/>
                    <a:p>
                      <a:pPr algn="ctr">
                        <a:defRPr sz="1000" b="1">
                          <a:solidFill>
                            <a:srgbClr val="FFFFFF"/>
                          </a:solidFill>
                          <a:latin typeface="Montserrat"/>
                        </a:defRPr>
                      </a:pPr>
                      <a:r>
                        <a:t>Campo</a:t>
                      </a:r>
                    </a:p>
                  </a:txBody>
                  <a:tcPr anchor="ctr">
                    <a:solidFill>
                      <a:srgbClr val="BC955C"/>
                    </a:solidFill>
                  </a:tcPr>
                </a:tc>
                <a:tc>
                  <a:txBody>
                    <a:bodyPr/>
                    <a:lstStyle/>
                    <a:p>
                      <a:pPr algn="ctr">
                        <a:defRPr sz="1000" b="1">
                          <a:solidFill>
                            <a:srgbClr val="FFFFFF"/>
                          </a:solidFill>
                          <a:latin typeface="Montserrat"/>
                        </a:defRPr>
                      </a:pPr>
                      <a:r>
                        <a:t>Urbano</a:t>
                      </a:r>
                    </a:p>
                  </a:txBody>
                  <a:tcPr anchor="ctr">
                    <a:solidFill>
                      <a:srgbClr val="BC955C"/>
                    </a:solidFill>
                  </a:tcPr>
                </a:tc>
                <a:tc>
                  <a:txBody>
                    <a:bodyPr/>
                    <a:lstStyle/>
                    <a:p>
                      <a:pPr algn="ctr">
                        <a:defRPr sz="1000" b="1">
                          <a:solidFill>
                            <a:srgbClr val="FFFFFF"/>
                          </a:solidFill>
                          <a:latin typeface="Montserrat"/>
                        </a:defRPr>
                      </a:pPr>
                      <a:r>
                        <a:t>Campo</a:t>
                      </a:r>
                    </a:p>
                  </a:txBody>
                  <a:tcPr anchor="ctr">
                    <a:solidFill>
                      <a:srgbClr val="BC955C"/>
                    </a:solidFill>
                  </a:tcPr>
                </a:tc>
                <a:tc vMerge="1">
                  <a:txBody>
                    <a:bodyPr/>
                    <a:lstStyle/>
                    <a:p>
                      <a:pPr algn="ctr">
                        <a:defRPr sz="1000" b="1">
                          <a:solidFill>
                            <a:srgbClr val="FFFFFF"/>
                          </a:solidFill>
                          <a:latin typeface="Montserrat"/>
                        </a:defRPr>
                      </a:pPr>
                      <a:endParaRPr/>
                    </a:p>
                  </a:txBody>
                  <a:tcPr anchor="ctr">
                    <a:solidFill>
                      <a:srgbClr val="BC955C"/>
                    </a:solidFill>
                  </a:tcPr>
                </a:tc>
                <a:extLst>
                  <a:ext uri="{0D108BD9-81ED-4DB2-BD59-A6C34878D82A}">
                    <a16:rowId xmlns:a16="http://schemas.microsoft.com/office/drawing/2014/main" val="10001"/>
                  </a:ext>
                </a:extLst>
              </a:tr>
              <a:tr h="270000">
                <a:tc>
                  <a:txBody>
                    <a:bodyPr/>
                    <a:lstStyle/>
                    <a:p>
                      <a:pPr algn="ctr">
                        <a:defRPr sz="900">
                          <a:latin typeface="Montserrat"/>
                        </a:defRPr>
                      </a:pPr>
                      <a:r>
                        <a:t>May 2025</a:t>
                      </a:r>
                    </a:p>
                  </a:txBody>
                  <a:tcPr>
                    <a:solidFill>
                      <a:srgbClr val="FFFFFF"/>
                    </a:solidFill>
                  </a:tcPr>
                </a:tc>
                <a:tc>
                  <a:txBody>
                    <a:bodyPr/>
                    <a:lstStyle/>
                    <a:p>
                      <a:pPr algn="ctr">
                        <a:defRPr sz="900">
                          <a:latin typeface="Montserrat"/>
                        </a:defRPr>
                      </a:pPr>
                      <a:r>
                        <a:t>774,260</a:t>
                      </a:r>
                    </a:p>
                  </a:txBody>
                  <a:tcPr>
                    <a:solidFill>
                      <a:srgbClr val="FFFFFF"/>
                    </a:solidFill>
                  </a:tcPr>
                </a:tc>
                <a:tc>
                  <a:txBody>
                    <a:bodyPr/>
                    <a:lstStyle/>
                    <a:p>
                      <a:pPr algn="ctr">
                        <a:defRPr sz="900">
                          <a:latin typeface="Montserrat"/>
                        </a:defRPr>
                      </a:pPr>
                      <a:r>
                        <a:t>14,402</a:t>
                      </a:r>
                    </a:p>
                  </a:txBody>
                  <a:tcPr>
                    <a:solidFill>
                      <a:srgbClr val="FFFFFF"/>
                    </a:solidFill>
                  </a:tcPr>
                </a:tc>
                <a:tc>
                  <a:txBody>
                    <a:bodyPr/>
                    <a:lstStyle/>
                    <a:p>
                      <a:pPr algn="ctr">
                        <a:defRPr sz="900">
                          <a:latin typeface="Montserrat"/>
                        </a:defRPr>
                      </a:pPr>
                      <a:r>
                        <a:t>73,846</a:t>
                      </a:r>
                    </a:p>
                  </a:txBody>
                  <a:tcPr>
                    <a:solidFill>
                      <a:srgbClr val="FFFFFF"/>
                    </a:solidFill>
                  </a:tcPr>
                </a:tc>
                <a:tc>
                  <a:txBody>
                    <a:bodyPr/>
                    <a:lstStyle/>
                    <a:p>
                      <a:pPr algn="ctr">
                        <a:defRPr sz="900">
                          <a:latin typeface="Montserrat"/>
                        </a:defRPr>
                      </a:pPr>
                      <a:r>
                        <a:t>2,601</a:t>
                      </a:r>
                    </a:p>
                  </a:txBody>
                  <a:tcPr>
                    <a:solidFill>
                      <a:srgbClr val="FFFFFF"/>
                    </a:solidFill>
                  </a:tcPr>
                </a:tc>
                <a:tc>
                  <a:txBody>
                    <a:bodyPr/>
                    <a:lstStyle/>
                    <a:p>
                      <a:pPr algn="ctr">
                        <a:defRPr sz="900">
                          <a:latin typeface="Montserrat"/>
                        </a:defRPr>
                      </a:pPr>
                      <a:r>
                        <a:t>865,109</a:t>
                      </a:r>
                    </a:p>
                  </a:txBody>
                  <a:tcPr>
                    <a:solidFill>
                      <a:srgbClr val="FFFFFF"/>
                    </a:solidFill>
                  </a:tcPr>
                </a:tc>
                <a:extLst>
                  <a:ext uri="{0D108BD9-81ED-4DB2-BD59-A6C34878D82A}">
                    <a16:rowId xmlns:a16="http://schemas.microsoft.com/office/drawing/2014/main" val="10002"/>
                  </a:ext>
                </a:extLst>
              </a:tr>
              <a:tr h="270000">
                <a:tc>
                  <a:txBody>
                    <a:bodyPr/>
                    <a:lstStyle/>
                    <a:p>
                      <a:pPr algn="ctr">
                        <a:defRPr sz="900">
                          <a:latin typeface="Montserrat"/>
                        </a:defRPr>
                      </a:pPr>
                      <a:r>
                        <a:t>May 2026</a:t>
                      </a:r>
                    </a:p>
                  </a:txBody>
                  <a:tcPr>
                    <a:solidFill>
                      <a:srgbClr val="D9D9D9"/>
                    </a:solidFill>
                  </a:tcPr>
                </a:tc>
                <a:tc>
                  <a:txBody>
                    <a:bodyPr/>
                    <a:lstStyle/>
                    <a:p>
                      <a:pPr algn="ctr">
                        <a:defRPr sz="900">
                          <a:latin typeface="Montserrat"/>
                        </a:defRPr>
                      </a:pPr>
                      <a:r>
                        <a:t>760,107</a:t>
                      </a:r>
                    </a:p>
                  </a:txBody>
                  <a:tcPr>
                    <a:solidFill>
                      <a:srgbClr val="D9D9D9"/>
                    </a:solidFill>
                  </a:tcPr>
                </a:tc>
                <a:tc>
                  <a:txBody>
                    <a:bodyPr/>
                    <a:lstStyle/>
                    <a:p>
                      <a:pPr algn="ctr">
                        <a:defRPr sz="900">
                          <a:latin typeface="Montserrat"/>
                        </a:defRPr>
                      </a:pPr>
                      <a:r>
                        <a:t>14,494</a:t>
                      </a:r>
                    </a:p>
                  </a:txBody>
                  <a:tcPr>
                    <a:solidFill>
                      <a:srgbClr val="D9D9D9"/>
                    </a:solidFill>
                  </a:tcPr>
                </a:tc>
                <a:tc>
                  <a:txBody>
                    <a:bodyPr/>
                    <a:lstStyle/>
                    <a:p>
                      <a:pPr algn="ctr">
                        <a:defRPr sz="900">
                          <a:latin typeface="Montserrat"/>
                        </a:defRPr>
                      </a:pPr>
                      <a:r>
                        <a:t>71,481</a:t>
                      </a:r>
                    </a:p>
                  </a:txBody>
                  <a:tcPr>
                    <a:solidFill>
                      <a:srgbClr val="D9D9D9"/>
                    </a:solidFill>
                  </a:tcPr>
                </a:tc>
                <a:tc>
                  <a:txBody>
                    <a:bodyPr/>
                    <a:lstStyle/>
                    <a:p>
                      <a:pPr algn="ctr">
                        <a:defRPr sz="900">
                          <a:latin typeface="Montserrat"/>
                        </a:defRPr>
                      </a:pPr>
                      <a:r>
                        <a:t>2,277</a:t>
                      </a:r>
                    </a:p>
                  </a:txBody>
                  <a:tcPr>
                    <a:solidFill>
                      <a:srgbClr val="D9D9D9"/>
                    </a:solidFill>
                  </a:tcPr>
                </a:tc>
                <a:tc>
                  <a:txBody>
                    <a:bodyPr/>
                    <a:lstStyle/>
                    <a:p>
                      <a:pPr algn="ctr">
                        <a:defRPr sz="900">
                          <a:latin typeface="Montserrat"/>
                        </a:defRPr>
                      </a:pPr>
                      <a:r>
                        <a:t>848,359</a:t>
                      </a:r>
                    </a:p>
                  </a:txBody>
                  <a:tcPr>
                    <a:solidFill>
                      <a:srgbClr val="D9D9D9"/>
                    </a:solidFill>
                  </a:tcPr>
                </a:tc>
                <a:extLst>
                  <a:ext uri="{0D108BD9-81ED-4DB2-BD59-A6C34878D82A}">
                    <a16:rowId xmlns:a16="http://schemas.microsoft.com/office/drawing/2014/main" val="10003"/>
                  </a:ext>
                </a:extLst>
              </a:tr>
              <a:tr h="270000">
                <a:tc>
                  <a:txBody>
                    <a:bodyPr/>
                    <a:lstStyle/>
                    <a:p>
                      <a:pPr algn="ctr">
                        <a:defRPr sz="900">
                          <a:latin typeface="Montserrat"/>
                        </a:defRPr>
                      </a:pPr>
                      <a:r>
                        <a:t>Variación %</a:t>
                      </a:r>
                    </a:p>
                  </a:txBody>
                  <a:tcPr>
                    <a:solidFill>
                      <a:srgbClr val="FFFFFF"/>
                    </a:solidFill>
                  </a:tcPr>
                </a:tc>
                <a:tc>
                  <a:txBody>
                    <a:bodyPr/>
                    <a:lstStyle/>
                    <a:p>
                      <a:pPr algn="ctr">
                        <a:defRPr sz="900" b="0">
                          <a:solidFill>
                            <a:srgbClr val="691C32"/>
                          </a:solidFill>
                          <a:latin typeface="Montserrat"/>
                        </a:defRPr>
                      </a:pPr>
                      <a:r>
                        <a:t>-1.8%</a:t>
                      </a:r>
                    </a:p>
                  </a:txBody>
                  <a:tcPr>
                    <a:solidFill>
                      <a:srgbClr val="FFFFFF"/>
                    </a:solidFill>
                  </a:tcPr>
                </a:tc>
                <a:tc>
                  <a:txBody>
                    <a:bodyPr/>
                    <a:lstStyle/>
                    <a:p>
                      <a:pPr algn="ctr">
                        <a:defRPr sz="900" b="1">
                          <a:solidFill>
                            <a:srgbClr val="006455"/>
                          </a:solidFill>
                          <a:latin typeface="Montserrat"/>
                        </a:defRPr>
                      </a:pPr>
                      <a:r>
                        <a:t>+0.6%</a:t>
                      </a:r>
                    </a:p>
                  </a:txBody>
                  <a:tcPr>
                    <a:solidFill>
                      <a:srgbClr val="FFFFFF"/>
                    </a:solidFill>
                  </a:tcPr>
                </a:tc>
                <a:tc>
                  <a:txBody>
                    <a:bodyPr/>
                    <a:lstStyle/>
                    <a:p>
                      <a:pPr algn="ctr">
                        <a:defRPr sz="900" b="0">
                          <a:solidFill>
                            <a:srgbClr val="691C32"/>
                          </a:solidFill>
                          <a:latin typeface="Montserrat"/>
                        </a:defRPr>
                      </a:pPr>
                      <a:r>
                        <a:t>-3.2%</a:t>
                      </a:r>
                    </a:p>
                  </a:txBody>
                  <a:tcPr>
                    <a:solidFill>
                      <a:srgbClr val="FFFFFF"/>
                    </a:solidFill>
                  </a:tcPr>
                </a:tc>
                <a:tc>
                  <a:txBody>
                    <a:bodyPr/>
                    <a:lstStyle/>
                    <a:p>
                      <a:pPr algn="ctr">
                        <a:defRPr sz="900" b="0">
                          <a:solidFill>
                            <a:srgbClr val="691C32"/>
                          </a:solidFill>
                          <a:latin typeface="Montserrat"/>
                        </a:defRPr>
                      </a:pPr>
                      <a:r>
                        <a:t>-12.5%</a:t>
                      </a:r>
                    </a:p>
                  </a:txBody>
                  <a:tcPr>
                    <a:solidFill>
                      <a:srgbClr val="FFFFFF"/>
                    </a:solidFill>
                  </a:tcPr>
                </a:tc>
                <a:tc>
                  <a:txBody>
                    <a:bodyPr/>
                    <a:lstStyle/>
                    <a:p>
                      <a:pPr algn="ctr">
                        <a:defRPr sz="900" b="0">
                          <a:solidFill>
                            <a:srgbClr val="691C32"/>
                          </a:solidFill>
                          <a:latin typeface="Montserrat"/>
                        </a:defRPr>
                      </a:pPr>
                      <a:r>
                        <a:t>-1.9%</a:t>
                      </a:r>
                    </a:p>
                  </a:txBody>
                  <a:tcPr>
                    <a:solidFill>
                      <a:srgbClr val="FFFFFF"/>
                    </a:solidFill>
                  </a:tcPr>
                </a:tc>
                <a:extLst>
                  <a:ext uri="{0D108BD9-81ED-4DB2-BD59-A6C34878D82A}">
                    <a16:rowId xmlns:a16="http://schemas.microsoft.com/office/drawing/2014/main" val="10004"/>
                  </a:ext>
                </a:extLst>
              </a:tr>
            </a:tbl>
          </a:graphicData>
        </a:graphic>
      </p:graphicFrame>
      <p:sp>
        <p:nvSpPr>
          <p:cNvPr id="2" name="TextBox 515">
            <a:extLst>
              <a:ext uri="{FF2B5EF4-FFF2-40B4-BE49-F238E27FC236}">
                <a16:creationId xmlns:a16="http://schemas.microsoft.com/office/drawing/2014/main" id="{C3BD7773-80E5-9709-1AA1-3ED02216B1D6}"/>
              </a:ext>
            </a:extLst>
          </p:cNvPr>
          <p:cNvSpPr txBox="1"/>
          <p:nvPr/>
        </p:nvSpPr>
        <p:spPr>
          <a:xfrm>
            <a:off x="231775" y="9650500"/>
            <a:ext cx="4316400" cy="244800"/>
          </a:xfrm>
          <a:prstGeom prst="rect">
            <a:avLst/>
          </a:prstGeom>
          <a:noFill/>
        </p:spPr>
        <p:txBody>
          <a:bodyPr wrap="square" lIns="0" tIns="0" rIns="0" bIns="0">
            <a:spAutoFit/>
          </a:bodyPr>
          <a:lstStyle/>
          <a:p>
            <a:pPr algn="l">
              <a:defRPr sz="800">
                <a:solidFill>
                  <a:srgbClr val="FFFFFF"/>
                </a:solidFill>
                <a:latin typeface="Montserrat"/>
              </a:defRPr>
            </a:pPr>
            <a:r>
              <a:t>Fuente: Dirección de </a:t>
            </a:r>
            <a:r>
              <a:rPr err="1"/>
              <a:t>Incorporación</a:t>
            </a:r>
            <a:r>
              <a:t> y </a:t>
            </a:r>
            <a:r>
              <a:rPr err="1"/>
              <a:t>Recaudación</a:t>
            </a:r>
            <a:r>
              <a:t>. Corte de información mayo 2026.</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a:solidFill>
                  <a:srgbClr val="5B0F00"/>
                </a:solidFill>
                <a:latin typeface="Montserrat"/>
                <a:ea typeface="Montserrat"/>
                <a:cs typeface="Montserrat"/>
                <a:sym typeface="Montserrat"/>
              </a:rPr>
              <a:t> </a:t>
            </a:r>
            <a:r>
              <a:rPr lang="es" sz="1400" b="1" i="0" u="none" strike="noStrike" cap="none">
                <a:solidFill>
                  <a:srgbClr val="5B0F00"/>
                </a:solidFill>
                <a:latin typeface="Montserrat"/>
                <a:ea typeface="Montserrat"/>
                <a:cs typeface="Montserrat"/>
                <a:sym typeface="Montserrat"/>
              </a:rPr>
              <a:t>Puestos de trabajo comparación interanual de cada año</a:t>
            </a:r>
            <a:endParaRPr sz="2000" b="1" i="0" u="none" strike="noStrike" cap="none">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61D7B054-0212-60AA-EEFC-18B91ED6AE22}"/>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$675.10</a:t>
            </a:r>
          </a:p>
          <a:p>
            <a:pPr algn="ctr">
              <a:defRPr sz="800" b="1">
                <a:solidFill>
                  <a:srgbClr val="FFFFFF"/>
                </a:solidFill>
                <a:latin typeface="Montserrat"/>
              </a:defRPr>
            </a:pPr>
            <a:r>
              <a:t>SBC</a:t>
            </a:r>
          </a:p>
          <a:p>
            <a:pPr algn="ctr">
              <a:defRPr sz="800" b="0">
                <a:solidFill>
                  <a:srgbClr val="FFFFFF"/>
                </a:solidFill>
                <a:latin typeface="Montserrat"/>
              </a:defRPr>
            </a:pPr>
            <a:r>
              <a:t>Mayo</a:t>
            </a:r>
          </a:p>
        </p:txBody>
      </p:sp>
      <p:graphicFrame>
        <p:nvGraphicFramePr>
          <p:cNvPr id="503" name="Table 502"/>
          <p:cNvGraphicFramePr>
            <a:graphicFrameLocks noGrp="1"/>
          </p:cNvGraphicFramePr>
          <p:nvPr/>
        </p:nvGraphicFramePr>
        <p:xfrm>
          <a:off x="478800" y="1130400"/>
          <a:ext cx="6638400" cy="1021080"/>
        </p:xfrm>
        <a:graphic>
          <a:graphicData uri="http://schemas.openxmlformats.org/drawingml/2006/table">
            <a:tbl>
              <a:tblPr firstRow="1" bandRow="1">
                <a:tableStyleId>{5C22544A-7EE6-4342-B048-85BDC9FD1C3A}</a:tableStyleId>
              </a:tblPr>
              <a:tblGrid>
                <a:gridCol w="1106400">
                  <a:extLst>
                    <a:ext uri="{9D8B030D-6E8A-4147-A177-3AD203B41FA5}">
                      <a16:colId xmlns:a16="http://schemas.microsoft.com/office/drawing/2014/main" val="20000"/>
                    </a:ext>
                  </a:extLst>
                </a:gridCol>
                <a:gridCol w="1106400">
                  <a:extLst>
                    <a:ext uri="{9D8B030D-6E8A-4147-A177-3AD203B41FA5}">
                      <a16:colId xmlns:a16="http://schemas.microsoft.com/office/drawing/2014/main" val="20001"/>
                    </a:ext>
                  </a:extLst>
                </a:gridCol>
                <a:gridCol w="1106400">
                  <a:extLst>
                    <a:ext uri="{9D8B030D-6E8A-4147-A177-3AD203B41FA5}">
                      <a16:colId xmlns:a16="http://schemas.microsoft.com/office/drawing/2014/main" val="20002"/>
                    </a:ext>
                  </a:extLst>
                </a:gridCol>
                <a:gridCol w="1106400">
                  <a:extLst>
                    <a:ext uri="{9D8B030D-6E8A-4147-A177-3AD203B41FA5}">
                      <a16:colId xmlns:a16="http://schemas.microsoft.com/office/drawing/2014/main" val="20003"/>
                    </a:ext>
                  </a:extLst>
                </a:gridCol>
                <a:gridCol w="1106400">
                  <a:extLst>
                    <a:ext uri="{9D8B030D-6E8A-4147-A177-3AD203B41FA5}">
                      <a16:colId xmlns:a16="http://schemas.microsoft.com/office/drawing/2014/main" val="20004"/>
                    </a:ext>
                  </a:extLst>
                </a:gridCol>
                <a:gridCol w="1106400">
                  <a:extLst>
                    <a:ext uri="{9D8B030D-6E8A-4147-A177-3AD203B41FA5}">
                      <a16:colId xmlns:a16="http://schemas.microsoft.com/office/drawing/2014/main" val="20005"/>
                    </a:ext>
                  </a:extLst>
                </a:gridCol>
              </a:tblGrid>
              <a:tr h="288000">
                <a:tc>
                  <a:txBody>
                    <a:bodyPr/>
                    <a:lstStyle/>
                    <a:p>
                      <a:pPr algn="ctr">
                        <a:defRPr sz="1100" b="1">
                          <a:solidFill>
                            <a:srgbClr val="FFFFFF"/>
                          </a:solidFill>
                          <a:latin typeface="Montserrat"/>
                        </a:defRPr>
                      </a:pPr>
                      <a:endParaRPr/>
                    </a:p>
                  </a:txBody>
                  <a:tcPr anchor="ctr">
                    <a:noFill/>
                  </a:tcPr>
                </a:tc>
                <a:tc>
                  <a:txBody>
                    <a:bodyPr/>
                    <a:lstStyle/>
                    <a:p>
                      <a:pPr algn="ctr">
                        <a:defRPr sz="1100" b="1">
                          <a:solidFill>
                            <a:srgbClr val="FFFFFF"/>
                          </a:solidFill>
                          <a:latin typeface="Montserrat"/>
                        </a:defRPr>
                      </a:pPr>
                      <a:r>
                        <a:t>2018 diciembre</a:t>
                      </a:r>
                    </a:p>
                  </a:txBody>
                  <a:tcPr anchor="ctr">
                    <a:solidFill>
                      <a:srgbClr val="A42145"/>
                    </a:solidFill>
                  </a:tcPr>
                </a:tc>
                <a:tc>
                  <a:txBody>
                    <a:bodyPr/>
                    <a:lstStyle/>
                    <a:p>
                      <a:pPr algn="ctr">
                        <a:defRPr sz="1100" b="1">
                          <a:solidFill>
                            <a:srgbClr val="FFFFFF"/>
                          </a:solidFill>
                          <a:latin typeface="Montserrat"/>
                        </a:defRPr>
                      </a:pPr>
                      <a:r>
                        <a:t>2026 Mayo</a:t>
                      </a:r>
                    </a:p>
                  </a:txBody>
                  <a:tcPr anchor="ctr">
                    <a:solidFill>
                      <a:srgbClr val="A42145"/>
                    </a:solidFill>
                  </a:tcPr>
                </a:tc>
                <a:tc>
                  <a:txBody>
                    <a:bodyPr/>
                    <a:lstStyle/>
                    <a:p>
                      <a:pPr algn="ctr">
                        <a:defRPr sz="1100" b="1">
                          <a:solidFill>
                            <a:srgbClr val="FFFFFF"/>
                          </a:solidFill>
                          <a:latin typeface="Montserrat"/>
                        </a:defRPr>
                      </a:pPr>
                      <a:r>
                        <a:t>Variación %</a:t>
                      </a:r>
                    </a:p>
                  </a:txBody>
                  <a:tcPr anchor="ctr">
                    <a:solidFill>
                      <a:srgbClr val="A42145"/>
                    </a:solidFill>
                  </a:tcPr>
                </a:tc>
                <a:tc>
                  <a:txBody>
                    <a:bodyPr/>
                    <a:lstStyle/>
                    <a:p>
                      <a:pPr algn="ctr">
                        <a:defRPr sz="1100" b="1">
                          <a:solidFill>
                            <a:srgbClr val="FFFFFF"/>
                          </a:solidFill>
                          <a:latin typeface="Montserrat"/>
                        </a:defRPr>
                      </a:pPr>
                      <a:r>
                        <a:t>Nacional 2026</a:t>
                      </a:r>
                    </a:p>
                  </a:txBody>
                  <a:tcPr anchor="ctr">
                    <a:solidFill>
                      <a:srgbClr val="A42145"/>
                    </a:solidFill>
                  </a:tcPr>
                </a:tc>
                <a:tc>
                  <a:txBody>
                    <a:bodyPr/>
                    <a:lstStyle/>
                    <a:p>
                      <a:pPr algn="ctr">
                        <a:defRPr sz="1100" b="1">
                          <a:solidFill>
                            <a:srgbClr val="FFFFFF"/>
                          </a:solidFill>
                          <a:latin typeface="Montserrat"/>
                        </a:defRPr>
                      </a:pPr>
                      <a:r>
                        <a:t>Salario Mensual</a:t>
                      </a:r>
                    </a:p>
                  </a:txBody>
                  <a:tcPr anchor="ctr">
                    <a:solidFill>
                      <a:srgbClr val="A42145"/>
                    </a:solidFill>
                  </a:tcPr>
                </a:tc>
                <a:extLst>
                  <a:ext uri="{0D108BD9-81ED-4DB2-BD59-A6C34878D82A}">
                    <a16:rowId xmlns:a16="http://schemas.microsoft.com/office/drawing/2014/main" val="10000"/>
                  </a:ext>
                </a:extLst>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$358.27</a:t>
                      </a:r>
                    </a:p>
                  </a:txBody>
                  <a:tcPr anchor="ctr">
                    <a:solidFill>
                      <a:srgbClr val="EEEEEE"/>
                    </a:solidFill>
                  </a:tcPr>
                </a:tc>
                <a:tc>
                  <a:txBody>
                    <a:bodyPr/>
                    <a:lstStyle/>
                    <a:p>
                      <a:pPr algn="ctr">
                        <a:defRPr sz="1100" b="1">
                          <a:latin typeface="Montserrat"/>
                        </a:defRPr>
                      </a:pPr>
                      <a:r>
                        <a:t>$675.10</a:t>
                      </a:r>
                    </a:p>
                  </a:txBody>
                  <a:tcPr anchor="ctr">
                    <a:solidFill>
                      <a:srgbClr val="EEEEEE"/>
                    </a:solidFill>
                  </a:tcPr>
                </a:tc>
                <a:tc>
                  <a:txBody>
                    <a:bodyPr/>
                    <a:lstStyle/>
                    <a:p>
                      <a:pPr algn="ctr">
                        <a:defRPr sz="1100">
                          <a:latin typeface="Montserrat"/>
                        </a:defRPr>
                      </a:pPr>
                      <a:r>
                        <a:t>33.2%</a:t>
                      </a:r>
                    </a:p>
                  </a:txBody>
                  <a:tcPr anchor="ctr">
                    <a:solidFill>
                      <a:srgbClr val="EEEEEE"/>
                    </a:solidFill>
                  </a:tcPr>
                </a:tc>
                <a:tc>
                  <a:txBody>
                    <a:bodyPr/>
                    <a:lstStyle/>
                    <a:p>
                      <a:pPr algn="ctr">
                        <a:defRPr sz="1100" b="1">
                          <a:latin typeface="Montserrat"/>
                        </a:defRPr>
                      </a:pPr>
                      <a:r>
                        <a:t>$671.25</a:t>
                      </a:r>
                    </a:p>
                  </a:txBody>
                  <a:tcPr anchor="ctr">
                    <a:solidFill>
                      <a:srgbClr val="EEEEEE"/>
                    </a:solidFill>
                  </a:tcPr>
                </a:tc>
                <a:tc>
                  <a:txBody>
                    <a:bodyPr/>
                    <a:lstStyle/>
                    <a:p>
                      <a:pPr algn="ctr">
                        <a:defRPr sz="1100" b="1">
                          <a:solidFill>
                            <a:srgbClr val="9F2241"/>
                          </a:solidFill>
                          <a:latin typeface="Montserrat"/>
                        </a:defRPr>
                      </a:pPr>
                      <a:r>
                        <a:t>$20,253.0</a:t>
                      </a:r>
                    </a:p>
                  </a:txBody>
                  <a:tcPr anchor="ctr">
                    <a:solidFill>
                      <a:srgbClr val="EEEEEE"/>
                    </a:solidFill>
                  </a:tcPr>
                </a:tc>
                <a:extLst>
                  <a:ext uri="{0D108BD9-81ED-4DB2-BD59-A6C34878D82A}">
                    <a16:rowId xmlns:a16="http://schemas.microsoft.com/office/drawing/2014/main" val="10001"/>
                  </a:ext>
                </a:extLst>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xmlns:r="http://schemas.openxmlformats.org/officeDocument/2006/relationships"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extLst>
              <p:ext uri="{D42A27DB-BD31-4B8C-83A1-F6EECF244321}">
                <p14:modId xmlns:p14="http://schemas.microsoft.com/office/powerpoint/2010/main" val="531879803"/>
              </p:ext>
            </p:extLst>
          </p:nvPr>
        </p:nvGraphicFramePr>
        <p:xfrm>
          <a:off x="320400" y="6649200"/>
          <a:ext cx="7038000" cy="2491560"/>
        </p:xfrm>
        <a:graphic>
          <a:graphicData uri="http://schemas.openxmlformats.org/drawingml/2006/table">
            <a:tbl>
              <a:tblPr firstRow="1" bandRow="1">
                <a:tableStyleId>{5C22544A-7EE6-4342-B048-85BDC9FD1C3A}</a:tableStyleId>
              </a:tblPr>
              <a:tblGrid>
                <a:gridCol w="2520000">
                  <a:extLst>
                    <a:ext uri="{9D8B030D-6E8A-4147-A177-3AD203B41FA5}">
                      <a16:colId xmlns:a16="http://schemas.microsoft.com/office/drawing/2014/main" val="20000"/>
                    </a:ext>
                  </a:extLst>
                </a:gridCol>
                <a:gridCol w="3240000">
                  <a:extLst>
                    <a:ext uri="{9D8B030D-6E8A-4147-A177-3AD203B41FA5}">
                      <a16:colId xmlns:a16="http://schemas.microsoft.com/office/drawing/2014/main" val="20001"/>
                    </a:ext>
                  </a:extLst>
                </a:gridCol>
                <a:gridCol w="1278000">
                  <a:extLst>
                    <a:ext uri="{9D8B030D-6E8A-4147-A177-3AD203B41FA5}">
                      <a16:colId xmlns:a16="http://schemas.microsoft.com/office/drawing/2014/main" val="20002"/>
                    </a:ext>
                  </a:extLst>
                </a:gridCol>
              </a:tblGrid>
              <a:tr h="251999">
                <a:tc gridSpan="3">
                  <a:txBody>
                    <a:bodyPr/>
                    <a:lstStyle/>
                    <a:p>
                      <a:pPr algn="ctr">
                        <a:defRPr sz="1100" b="1">
                          <a:solidFill>
                            <a:srgbClr val="FFFFFF"/>
                          </a:solidFill>
                          <a:latin typeface="Montserrat"/>
                        </a:defRPr>
                      </a:pPr>
                      <a:r>
                        <a:rPr lang="es-MX"/>
                        <a:t>Principales Deudores</a:t>
                      </a:r>
                      <a:endParaRPr/>
                    </a:p>
                  </a:txBody>
                  <a:tcPr>
                    <a:solidFill>
                      <a:srgbClr val="006455"/>
                    </a:solidFill>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360000">
                <a:tc>
                  <a:txBody>
                    <a:bodyPr/>
                    <a:lstStyle/>
                    <a:p>
                      <a:pPr algn="ctr">
                        <a:defRPr sz="1100" b="1">
                          <a:solidFill>
                            <a:srgbClr val="FFFFFF"/>
                          </a:solidFill>
                          <a:latin typeface="Montserrat"/>
                        </a:defRPr>
                      </a:pPr>
                      <a:r>
                        <a:rPr err="1"/>
                        <a:t>Categoría</a:t>
                      </a:r>
                      <a:endParaRPr/>
                    </a:p>
                  </a:txBody>
                  <a:tcPr anchor="ctr">
                    <a:solidFill>
                      <a:srgbClr val="006455"/>
                    </a:solidFill>
                  </a:tcPr>
                </a:tc>
                <a:tc>
                  <a:txBody>
                    <a:bodyPr/>
                    <a:lstStyle/>
                    <a:p>
                      <a:pPr algn="ctr">
                        <a:defRPr sz="1100" b="1">
                          <a:solidFill>
                            <a:srgbClr val="FFFFFF"/>
                          </a:solidFill>
                          <a:latin typeface="Montserrat"/>
                        </a:defRPr>
                      </a:pPr>
                      <a:r>
                        <a:rPr err="1"/>
                        <a:t>Deudores</a:t>
                      </a:r>
                      <a:endParaRPr/>
                    </a:p>
                  </a:txBody>
                  <a:tcPr anchor="ctr">
                    <a:solidFill>
                      <a:srgbClr val="006455"/>
                    </a:solidFill>
                  </a:tcPr>
                </a:tc>
                <a:tc>
                  <a:txBody>
                    <a:bodyPr/>
                    <a:lstStyle/>
                    <a:p>
                      <a:pPr algn="ctr">
                        <a:defRPr sz="1100" b="1">
                          <a:solidFill>
                            <a:srgbClr val="FFFFFF"/>
                          </a:solidFill>
                          <a:latin typeface="Montserrat"/>
                        </a:defRPr>
                      </a:pPr>
                      <a:r>
                        <a:t>Monto de </a:t>
                      </a:r>
                      <a:r>
                        <a:rPr err="1"/>
                        <a:t>deuda</a:t>
                      </a:r>
                      <a:r>
                        <a:t> (mdp)</a:t>
                      </a:r>
                    </a:p>
                  </a:txBody>
                  <a:tcPr anchor="ctr">
                    <a:solidFill>
                      <a:srgbClr val="006455"/>
                    </a:solidFill>
                  </a:tcPr>
                </a:tc>
                <a:extLst>
                  <a:ext uri="{0D108BD9-81ED-4DB2-BD59-A6C34878D82A}">
                    <a16:rowId xmlns:a16="http://schemas.microsoft.com/office/drawing/2014/main" val="10001"/>
                  </a:ext>
                </a:extLst>
              </a:tr>
              <a:tr h="288000">
                <a:tc rowSpan="3">
                  <a:txBody>
                    <a:bodyPr/>
                    <a:lstStyle/>
                    <a:p>
                      <a:pPr algn="ctr">
                        <a:defRPr sz="1100">
                          <a:solidFill>
                            <a:srgbClr val="FFFFFF"/>
                          </a:solidFill>
                          <a:latin typeface="Montserrat"/>
                        </a:defRPr>
                      </a:pPr>
                      <a:r>
                        <a:t>Principal</a:t>
                      </a:r>
                      <a:r>
                        <a:rPr lang="es-MX"/>
                        <a:t>es</a:t>
                      </a:r>
                      <a:r>
                        <a:t> </a:t>
                      </a:r>
                      <a:r>
                        <a:rPr err="1"/>
                        <a:t>deudor</a:t>
                      </a:r>
                      <a:r>
                        <a:rPr lang="es-MX"/>
                        <a:t>es</a:t>
                      </a:r>
                      <a:r>
                        <a:t> </a:t>
                      </a:r>
                      <a:r>
                        <a:rPr err="1"/>
                        <a:t>público</a:t>
                      </a:r>
                      <a:r>
                        <a:rPr lang="es-MX"/>
                        <a:t>s</a:t>
                      </a:r>
                      <a:endParaRPr/>
                    </a:p>
                  </a:txBody>
                  <a:tcPr anchor="ctr">
                    <a:solidFill>
                      <a:srgbClr val="006455"/>
                    </a:solidFill>
                  </a:tcPr>
                </a:tc>
                <a:tc>
                  <a:txBody>
                    <a:bodyPr/>
                    <a:lstStyle/>
                    <a:p>
                      <a:pPr algn="ctr">
                        <a:defRPr sz="900">
                          <a:latin typeface="Montserrat"/>
                        </a:defRPr>
                      </a:pPr>
                      <a:r>
                        <a:t>Colegio de Bachilleres del Estado de Coahuila</a:t>
                      </a:r>
                    </a:p>
                  </a:txBody>
                  <a:tcPr anchor="ctr">
                    <a:solidFill>
                      <a:srgbClr val="FFFFFF"/>
                    </a:solidFill>
                  </a:tcPr>
                </a:tc>
                <a:tc>
                  <a:txBody>
                    <a:bodyPr/>
                    <a:lstStyle/>
                    <a:p>
                      <a:pPr algn="ctr">
                        <a:defRPr sz="900">
                          <a:latin typeface="Montserrat"/>
                        </a:defRPr>
                      </a:pPr>
                      <a:r>
                        <a:t>$190.46</a:t>
                      </a:r>
                    </a:p>
                  </a:txBody>
                  <a:tcPr anchor="ctr">
                    <a:solidFill>
                      <a:srgbClr val="FFFFFF"/>
                    </a:solidFill>
                  </a:tcPr>
                </a:tc>
                <a:extLst>
                  <a:ext uri="{0D108BD9-81ED-4DB2-BD59-A6C34878D82A}">
                    <a16:rowId xmlns:a16="http://schemas.microsoft.com/office/drawing/2014/main" val="10002"/>
                  </a:ext>
                </a:extLst>
              </a:tr>
              <a:tr h="288000">
                <a:tc vMerge="1">
                  <a:txBody>
                    <a:bodyPr/>
                    <a:lstStyle/>
                    <a:p>
                      <a:endParaRPr/>
                    </a:p>
                  </a:txBody>
                  <a:tcPr>
                    <a:solidFill>
                      <a:srgbClr val="EEEEEE"/>
                    </a:solidFill>
                  </a:tcPr>
                </a:tc>
                <a:tc>
                  <a:txBody>
                    <a:bodyPr/>
                    <a:lstStyle/>
                    <a:p>
                      <a:pPr algn="ctr">
                        <a:defRPr sz="900">
                          <a:latin typeface="Montserrat"/>
                        </a:defRPr>
                      </a:pPr>
                      <a:r>
                        <a:t>Sistema Municipal de Aguas y Saneamiento San Pedro</a:t>
                      </a:r>
                    </a:p>
                  </a:txBody>
                  <a:tcPr anchor="ctr">
                    <a:solidFill>
                      <a:srgbClr val="EEEEEE"/>
                    </a:solidFill>
                  </a:tcPr>
                </a:tc>
                <a:tc>
                  <a:txBody>
                    <a:bodyPr/>
                    <a:lstStyle/>
                    <a:p>
                      <a:pPr algn="ctr">
                        <a:defRPr sz="900">
                          <a:latin typeface="Montserrat"/>
                        </a:defRPr>
                      </a:pPr>
                      <a:r>
                        <a:t>$9.75</a:t>
                      </a:r>
                    </a:p>
                  </a:txBody>
                  <a:tcPr anchor="ctr">
                    <a:solidFill>
                      <a:srgbClr val="EEEEEE"/>
                    </a:solidFill>
                  </a:tcPr>
                </a:tc>
                <a:extLst>
                  <a:ext uri="{0D108BD9-81ED-4DB2-BD59-A6C34878D82A}">
                    <a16:rowId xmlns:a16="http://schemas.microsoft.com/office/drawing/2014/main" val="10003"/>
                  </a:ext>
                </a:extLst>
              </a:tr>
              <a:tr h="288000">
                <a:tc vMerge="1">
                  <a:txBody>
                    <a:bodyPr/>
                    <a:lstStyle/>
                    <a:p>
                      <a:endParaRPr/>
                    </a:p>
                  </a:txBody>
                  <a:tcPr>
                    <a:solidFill>
                      <a:srgbClr val="FFFFFF"/>
                    </a:solidFill>
                  </a:tcPr>
                </a:tc>
                <a:tc>
                  <a:txBody>
                    <a:bodyPr/>
                    <a:lstStyle/>
                    <a:p>
                      <a:pPr algn="ctr">
                        <a:defRPr sz="900">
                          <a:latin typeface="Montserrat"/>
                        </a:defRPr>
                      </a:pPr>
                      <a:r>
                        <a:t>Universidad Autónoma Agraria Antonio Narro</a:t>
                      </a:r>
                    </a:p>
                  </a:txBody>
                  <a:tcPr anchor="ctr">
                    <a:solidFill>
                      <a:srgbClr val="FFFFFF"/>
                    </a:solidFill>
                  </a:tcPr>
                </a:tc>
                <a:tc>
                  <a:txBody>
                    <a:bodyPr/>
                    <a:lstStyle/>
                    <a:p>
                      <a:pPr algn="ctr">
                        <a:defRPr sz="900">
                          <a:latin typeface="Montserrat"/>
                        </a:defRPr>
                      </a:pPr>
                      <a:r>
                        <a:t>$5.91</a:t>
                      </a:r>
                    </a:p>
                  </a:txBody>
                  <a:tcPr anchor="ctr">
                    <a:solidFill>
                      <a:srgbClr val="FFFFFF"/>
                    </a:solidFill>
                  </a:tcPr>
                </a:tc>
                <a:extLst>
                  <a:ext uri="{0D108BD9-81ED-4DB2-BD59-A6C34878D82A}">
                    <a16:rowId xmlns:a16="http://schemas.microsoft.com/office/drawing/2014/main" val="10004"/>
                  </a:ext>
                </a:extLst>
              </a:tr>
              <a:tr h="288000">
                <a:tc rowSpan="3">
                  <a:txBody>
                    <a:bodyPr/>
                    <a:lstStyle/>
                    <a:p>
                      <a:pPr algn="ctr">
                        <a:defRPr sz="1100">
                          <a:solidFill>
                            <a:srgbClr val="FFFFFF"/>
                          </a:solidFill>
                          <a:latin typeface="Montserrat"/>
                        </a:defRPr>
                      </a:pPr>
                      <a:r>
                        <a:t>Principal</a:t>
                      </a:r>
                      <a:r>
                        <a:rPr lang="es-MX"/>
                        <a:t>es</a:t>
                      </a:r>
                      <a:r>
                        <a:t> </a:t>
                      </a:r>
                      <a:r>
                        <a:rPr err="1"/>
                        <a:t>deudor</a:t>
                      </a:r>
                      <a:r>
                        <a:rPr lang="es-MX"/>
                        <a:t>es</a:t>
                      </a:r>
                      <a:r>
                        <a:t> privado</a:t>
                      </a:r>
                      <a:r>
                        <a:rPr lang="es-MX"/>
                        <a:t>s</a:t>
                      </a:r>
                      <a:endParaRPr/>
                    </a:p>
                  </a:txBody>
                  <a:tcPr anchor="ctr">
                    <a:solidFill>
                      <a:srgbClr val="006455"/>
                    </a:solidFill>
                  </a:tcPr>
                </a:tc>
                <a:tc>
                  <a:txBody>
                    <a:bodyPr/>
                    <a:lstStyle/>
                    <a:p>
                      <a:pPr algn="ctr">
                        <a:defRPr sz="900">
                          <a:latin typeface="Montserrat"/>
                        </a:defRPr>
                      </a:pPr>
                      <a:r>
                        <a:t>Altos Hornos de México S A B de C V</a:t>
                      </a:r>
                    </a:p>
                  </a:txBody>
                  <a:tcPr anchor="ctr">
                    <a:solidFill>
                      <a:srgbClr val="EEEEEE"/>
                    </a:solidFill>
                  </a:tcPr>
                </a:tc>
                <a:tc>
                  <a:txBody>
                    <a:bodyPr/>
                    <a:lstStyle/>
                    <a:p>
                      <a:pPr algn="ctr">
                        <a:defRPr sz="900">
                          <a:latin typeface="Montserrat"/>
                        </a:defRPr>
                      </a:pPr>
                      <a:r>
                        <a:t>$64.21</a:t>
                      </a:r>
                    </a:p>
                  </a:txBody>
                  <a:tcPr anchor="ctr">
                    <a:solidFill>
                      <a:srgbClr val="EEEEEE"/>
                    </a:solidFill>
                  </a:tcPr>
                </a:tc>
                <a:extLst>
                  <a:ext uri="{0D108BD9-81ED-4DB2-BD59-A6C34878D82A}">
                    <a16:rowId xmlns:a16="http://schemas.microsoft.com/office/drawing/2014/main" val="10005"/>
                  </a:ext>
                </a:extLst>
              </a:tr>
              <a:tr h="288000">
                <a:tc vMerge="1">
                  <a:txBody>
                    <a:bodyPr/>
                    <a:lstStyle/>
                    <a:p>
                      <a:endParaRPr/>
                    </a:p>
                  </a:txBody>
                  <a:tcPr>
                    <a:solidFill>
                      <a:srgbClr val="FFFFFF"/>
                    </a:solidFill>
                  </a:tcPr>
                </a:tc>
                <a:tc>
                  <a:txBody>
                    <a:bodyPr/>
                    <a:lstStyle/>
                    <a:p>
                      <a:pPr algn="ctr">
                        <a:defRPr sz="900">
                          <a:latin typeface="Montserrat"/>
                        </a:defRPr>
                      </a:pPr>
                      <a:r>
                        <a:t>CC Bienes Raíces SA de CV</a:t>
                      </a:r>
                    </a:p>
                  </a:txBody>
                  <a:tcPr anchor="ctr">
                    <a:solidFill>
                      <a:srgbClr val="FFFFFF"/>
                    </a:solidFill>
                  </a:tcPr>
                </a:tc>
                <a:tc>
                  <a:txBody>
                    <a:bodyPr/>
                    <a:lstStyle/>
                    <a:p>
                      <a:pPr algn="ctr">
                        <a:defRPr sz="900">
                          <a:latin typeface="Montserrat"/>
                        </a:defRPr>
                      </a:pPr>
                      <a:r>
                        <a:t>$34.05</a:t>
                      </a:r>
                    </a:p>
                  </a:txBody>
                  <a:tcPr anchor="ctr">
                    <a:solidFill>
                      <a:srgbClr val="FFFFFF"/>
                    </a:solidFill>
                  </a:tcPr>
                </a:tc>
                <a:extLst>
                  <a:ext uri="{0D108BD9-81ED-4DB2-BD59-A6C34878D82A}">
                    <a16:rowId xmlns:a16="http://schemas.microsoft.com/office/drawing/2014/main" val="10006"/>
                  </a:ext>
                </a:extLst>
              </a:tr>
              <a:tr h="288000">
                <a:tc vMerge="1">
                  <a:txBody>
                    <a:bodyPr/>
                    <a:lstStyle/>
                    <a:p>
                      <a:endParaRPr/>
                    </a:p>
                  </a:txBody>
                  <a:tcPr>
                    <a:solidFill>
                      <a:srgbClr val="006455"/>
                    </a:solidFill>
                  </a:tcPr>
                </a:tc>
                <a:tc>
                  <a:txBody>
                    <a:bodyPr/>
                    <a:lstStyle/>
                    <a:p>
                      <a:pPr algn="ctr">
                        <a:defRPr sz="900">
                          <a:latin typeface="Montserrat"/>
                        </a:defRPr>
                      </a:pPr>
                      <a:r>
                        <a:t>Constructora Souma y Asociados S de RL</a:t>
                      </a:r>
                    </a:p>
                  </a:txBody>
                  <a:tcPr anchor="ctr">
                    <a:solidFill>
                      <a:srgbClr val="EEEEEE"/>
                    </a:solidFill>
                  </a:tcPr>
                </a:tc>
                <a:tc>
                  <a:txBody>
                    <a:bodyPr/>
                    <a:lstStyle/>
                    <a:p>
                      <a:pPr algn="ctr">
                        <a:defRPr sz="900">
                          <a:latin typeface="Montserrat"/>
                        </a:defRPr>
                      </a:pPr>
                      <a:r>
                        <a:t>$24.11</a:t>
                      </a:r>
                    </a:p>
                  </a:txBody>
                  <a:tcPr anchor="ctr">
                    <a:solidFill>
                      <a:srgbClr val="EEEEEE"/>
                    </a:solidFill>
                  </a:tcPr>
                </a:tc>
                <a:extLst>
                  <a:ext uri="{0D108BD9-81ED-4DB2-BD59-A6C34878D82A}">
                    <a16:rowId xmlns:a16="http://schemas.microsoft.com/office/drawing/2014/main" val="10007"/>
                  </a:ext>
                </a:extLst>
              </a:tr>
            </a:tbl>
          </a:graphicData>
        </a:graphic>
      </p:graphicFrame>
      <p:sp>
        <p:nvSpPr>
          <p:cNvPr id="515" name="TextBox 514"/>
          <p:cNvSpPr txBox="1"/>
          <p:nvPr/>
        </p:nvSpPr>
        <p:spPr>
          <a:xfrm>
            <a:off x="478800" y="2338200"/>
            <a:ext cx="6638400" cy="246221"/>
          </a:xfrm>
          <a:prstGeom prst="rect">
            <a:avLst/>
          </a:prstGeom>
          <a:noFill/>
        </p:spPr>
        <p:txBody>
          <a:bodyPr wrap="square" lIns="0" tIns="0" rIns="0" bIns="0">
            <a:spAutoFit/>
          </a:bodyPr>
          <a:lstStyle/>
          <a:p>
            <a:pPr algn="l">
              <a:defRPr sz="800">
                <a:solidFill>
                  <a:srgbClr val="FFFFFF"/>
                </a:solidFill>
                <a:latin typeface="Montserrat"/>
              </a:defRPr>
            </a:pPr>
            <a:r>
              <a:rPr lang="es-MX">
                <a:solidFill>
                  <a:schemeClr val="tx1"/>
                </a:solidFill>
              </a:rPr>
              <a:t> Nota: se utilizó como deflactor del salario el cociente del INPC entre diciembre 2018 (103.02) y  preliminar de mayo  2026 (145.714) de 0.7069998.</a:t>
            </a:r>
            <a:endParaRPr>
              <a:solidFill>
                <a:schemeClr val="tx1"/>
              </a:solidFill>
            </a:endParaRPr>
          </a:p>
        </p:txBody>
      </p:sp>
      <p:sp>
        <p:nvSpPr>
          <p:cNvPr id="516" name="TextBox 515"/>
          <p:cNvSpPr txBox="1"/>
          <p:nvPr/>
        </p:nvSpPr>
        <p:spPr>
          <a:xfrm>
            <a:off x="251999" y="9561600"/>
            <a:ext cx="4316400" cy="244800"/>
          </a:xfrm>
          <a:prstGeom prst="rect">
            <a:avLst/>
          </a:prstGeom>
          <a:noFill/>
        </p:spPr>
        <p:txBody>
          <a:bodyPr wrap="square" lIns="0" tIns="0" rIns="0" bIns="0">
            <a:spAutoFit/>
          </a:bodyPr>
          <a:lstStyle/>
          <a:p>
            <a:pPr algn="l">
              <a:defRPr sz="800">
                <a:solidFill>
                  <a:srgbClr val="FFFFFF"/>
                </a:solidFill>
                <a:latin typeface="Montserrat"/>
              </a:defRPr>
            </a:pPr>
            <a:r>
              <a:t>Fuente: Dirección de </a:t>
            </a:r>
            <a:r>
              <a:rPr err="1"/>
              <a:t>Incorporación</a:t>
            </a:r>
            <a:r>
              <a:t> y </a:t>
            </a:r>
            <a:r>
              <a:rPr err="1"/>
              <a:t>Recaudación</a:t>
            </a:r>
            <a:r>
              <a:t>. Corte de información mayo 2026.</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05"/>
        <p:cNvGrpSpPr/>
        <p:nvPr/>
      </p:nvGrpSpPr>
      <p:grpSpPr>
        <a:xfrm>
          <a:off x="0" y="0"/>
          <a:ext cx="0" cy="0"/>
          <a:chOff x="0" y="0"/>
          <a:chExt cx="0" cy="0"/>
        </a:xfrm>
      </p:grpSpPr>
      <p:graphicFrame>
        <p:nvGraphicFramePr>
          <p:cNvPr id="512" name="Google Shape;512;g370e87ffe7a_0_0"/>
          <p:cNvGraphicFramePr/>
          <p:nvPr/>
        </p:nvGraphicFramePr>
        <p:xfrm>
          <a:off x="-126" y="2788487"/>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3. Productividad</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18" name="Google Shape;518;g370e87ffe7a_0_0"/>
          <p:cNvGraphicFramePr/>
          <p:nvPr/>
        </p:nvGraphicFramePr>
        <p:xfrm>
          <a:off x="0" y="5391789"/>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4. Personal</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0" name="Google Shape;520;g370e87ffe7a_0_0"/>
          <p:cNvGraphicFramePr/>
          <p:nvPr/>
        </p:nvGraphicFramePr>
        <p:xfrm>
          <a:off x="-2134" y="811308"/>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635000" marR="0" lvl="0" indent="-336550" algn="l" rtl="0">
                        <a:lnSpc>
                          <a:spcPct val="100000"/>
                        </a:lnSpc>
                        <a:spcBef>
                          <a:spcPts val="0"/>
                        </a:spcBef>
                        <a:spcAft>
                          <a:spcPts val="0"/>
                        </a:spcAft>
                        <a:buClr>
                          <a:srgbClr val="006455"/>
                        </a:buClr>
                        <a:buSzPts val="1700"/>
                        <a:buFont typeface="Montserrat"/>
                        <a:buAutoNum type="arabicPeriod"/>
                      </a:pPr>
                      <a:r>
                        <a:rPr lang="es" sz="1600" b="1" u="none" strike="noStrike" cap="none">
                          <a:solidFill>
                            <a:srgbClr val="006455"/>
                          </a:solidFill>
                          <a:latin typeface="Montserrat"/>
                          <a:ea typeface="Montserrat"/>
                          <a:cs typeface="Montserrat"/>
                          <a:sym typeface="Montserrat"/>
                        </a:rPr>
                        <a:t>Infraestructura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1" name="Google Shape;521;g370e87ffe7a_0_0"/>
          <p:cNvGraphicFramePr/>
          <p:nvPr>
            <p:extLst>
              <p:ext uri="{D42A27DB-BD31-4B8C-83A1-F6EECF244321}">
                <p14:modId xmlns:p14="http://schemas.microsoft.com/office/powerpoint/2010/main" val="2503296825"/>
              </p:ext>
            </p:extLst>
          </p:nvPr>
        </p:nvGraphicFramePr>
        <p:xfrm>
          <a:off x="0" y="7599041"/>
          <a:ext cx="7772400" cy="39605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3960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5. Organización comunitaria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3" name="Google Shape;523;g370e87ffe7a_0_0"/>
          <p:cNvGraphicFramePr/>
          <p:nvPr/>
        </p:nvGraphicFramePr>
        <p:xfrm>
          <a:off x="3884217" y="826580"/>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2.  Población beneficiada </a:t>
                      </a:r>
                      <a:endParaRPr sz="16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524" name="Google Shape;524;g370e87ffe7a_0_0"/>
          <p:cNvCxnSpPr/>
          <p:nvPr/>
        </p:nvCxnSpPr>
        <p:spPr>
          <a:xfrm>
            <a:off x="6214233" y="1355079"/>
            <a:ext cx="0" cy="524700"/>
          </a:xfrm>
          <a:prstGeom prst="straightConnector1">
            <a:avLst/>
          </a:prstGeom>
          <a:noFill/>
          <a:ln w="19050" cap="flat" cmpd="sng">
            <a:solidFill>
              <a:srgbClr val="A48250"/>
            </a:solidFill>
            <a:prstDash val="solid"/>
            <a:round/>
            <a:headEnd type="none" w="sm" len="sm"/>
            <a:tailEnd type="none" w="sm" len="sm"/>
          </a:ln>
        </p:spPr>
      </p:cxnSp>
      <p:cxnSp>
        <p:nvCxnSpPr>
          <p:cNvPr id="529" name="Google Shape;529;g370e87ffe7a_0_0"/>
          <p:cNvCxnSpPr/>
          <p:nvPr/>
        </p:nvCxnSpPr>
        <p:spPr>
          <a:xfrm>
            <a:off x="6214233" y="2225029"/>
            <a:ext cx="0" cy="524700"/>
          </a:xfrm>
          <a:prstGeom prst="straightConnector1">
            <a:avLst/>
          </a:prstGeom>
          <a:noFill/>
          <a:ln w="19050" cap="flat" cmpd="sng">
            <a:solidFill>
              <a:srgbClr val="A48250"/>
            </a:solidFill>
            <a:prstDash val="solid"/>
            <a:round/>
            <a:headEnd type="none" w="sm" len="sm"/>
            <a:tailEnd type="none" w="sm" len="sm"/>
          </a:ln>
        </p:spPr>
      </p:cxnSp>
      <p:sp>
        <p:nvSpPr>
          <p:cNvPr id="530" name="TextBox 529"/>
          <p:cNvSpPr txBox="1"/>
          <p:nvPr/>
        </p:nvSpPr>
        <p:spPr>
          <a:xfrm>
            <a:off x="0" y="27432"/>
            <a:ext cx="7772400" cy="548640"/>
          </a:xfrm>
          <a:prstGeom prst="rect">
            <a:avLst/>
          </a:prstGeom>
          <a:noFill/>
        </p:spPr>
        <p:txBody>
          <a:bodyPr wrap="none">
            <a:spAutoFit/>
          </a:bodyPr>
          <a:lstStyle/>
          <a:p>
            <a:pPr algn="l">
              <a:defRPr sz="2000">
                <a:solidFill>
                  <a:srgbClr val="FFFFFF"/>
                </a:solidFill>
                <a:latin typeface="Montserrat"/>
              </a:defRPr>
            </a:pPr>
            <a:r>
              <a:t>COAHUILA PROGRAMA IMSS-COPLAMAR</a:t>
            </a:r>
          </a:p>
        </p:txBody>
      </p:sp>
      <p:sp>
        <p:nvSpPr>
          <p:cNvPr id="531" name="TextBox 530"/>
          <p:cNvSpPr txBox="1"/>
          <p:nvPr/>
        </p:nvSpPr>
        <p:spPr>
          <a:xfrm>
            <a:off x="309600" y="5119200"/>
            <a:ext cx="1958400" cy="270000"/>
          </a:xfrm>
          <a:prstGeom prst="rect">
            <a:avLst/>
          </a:prstGeom>
          <a:noFill/>
        </p:spPr>
        <p:txBody>
          <a:bodyPr wrap="square" lIns="0" tIns="0" rIns="0" bIns="0">
            <a:spAutoFit/>
          </a:bodyPr>
          <a:lstStyle/>
          <a:p>
            <a:pPr algn="l">
              <a:defRPr sz="800">
                <a:solidFill>
                  <a:srgbClr val="FFFFFF"/>
                </a:solidFill>
                <a:latin typeface="Montserrat"/>
              </a:defRPr>
            </a:pPr>
            <a:r>
              <a:t>enero-diciembre 2025</a:t>
            </a:r>
          </a:p>
        </p:txBody>
      </p:sp>
      <p:sp>
        <p:nvSpPr>
          <p:cNvPr id="532" name="TextBox 531"/>
          <p:cNvSpPr txBox="1"/>
          <p:nvPr/>
        </p:nvSpPr>
        <p:spPr>
          <a:xfrm>
            <a:off x="309600" y="9622800"/>
            <a:ext cx="1958400" cy="270000"/>
          </a:xfrm>
          <a:prstGeom prst="rect">
            <a:avLst/>
          </a:prstGeom>
          <a:noFill/>
        </p:spPr>
        <p:txBody>
          <a:bodyPr wrap="square" lIns="0" tIns="0" rIns="0" bIns="0">
            <a:spAutoFit/>
          </a:bodyPr>
          <a:lstStyle/>
          <a:p>
            <a:pPr algn="l">
              <a:defRPr sz="800">
                <a:solidFill>
                  <a:srgbClr val="FFFFFF"/>
                </a:solidFill>
                <a:latin typeface="Montserrat"/>
              </a:defRPr>
            </a:pPr>
            <a:r>
              <a:t>enero-diciembre 2025</a:t>
            </a:r>
          </a:p>
        </p:txBody>
      </p:sp>
      <p:graphicFrame>
        <p:nvGraphicFramePr>
          <p:cNvPr id="533" name="Table 532"/>
          <p:cNvGraphicFramePr>
            <a:graphicFrameLocks noGrp="1"/>
          </p:cNvGraphicFramePr>
          <p:nvPr/>
        </p:nvGraphicFramePr>
        <p:xfrm>
          <a:off x="310896" y="1335024"/>
          <a:ext cx="3575304" cy="1464348"/>
        </p:xfrm>
        <a:graphic>
          <a:graphicData uri="http://schemas.openxmlformats.org/drawingml/2006/table">
            <a:tbl>
              <a:tblPr firstRow="1" bandRow="1">
                <a:tableStyleId>{5C22544A-7EE6-4342-B048-85BDC9FD1C3A}</a:tableStyleId>
              </a:tblPr>
              <a:tblGrid>
                <a:gridCol w="2551176">
                  <a:extLst>
                    <a:ext uri="{9D8B030D-6E8A-4147-A177-3AD203B41FA5}">
                      <a16:colId xmlns:a16="http://schemas.microsoft.com/office/drawing/2014/main" val="20000"/>
                    </a:ext>
                  </a:extLst>
                </a:gridCol>
                <a:gridCol w="1024128">
                  <a:extLst>
                    <a:ext uri="{9D8B030D-6E8A-4147-A177-3AD203B41FA5}">
                      <a16:colId xmlns:a16="http://schemas.microsoft.com/office/drawing/2014/main" val="20001"/>
                    </a:ext>
                  </a:extLst>
                </a:gridCol>
              </a:tblGrid>
              <a:tr h="177654">
                <a:tc>
                  <a:txBody>
                    <a:bodyPr/>
                    <a:lstStyle/>
                    <a:p>
                      <a:pPr algn="ctr">
                        <a:defRPr sz="1100" b="1">
                          <a:solidFill>
                            <a:srgbClr val="FFFFFF"/>
                          </a:solidFill>
                          <a:latin typeface="Montserrat"/>
                        </a:defRPr>
                      </a:pPr>
                      <a:r>
                        <a:t>Unidades</a:t>
                      </a:r>
                    </a:p>
                  </a:txBody>
                  <a:tcPr marL="36576" marR="36576" marT="36576" marB="36576">
                    <a:solidFill>
                      <a:srgbClr val="006455"/>
                    </a:solidFill>
                  </a:tcPr>
                </a:tc>
                <a:tc>
                  <a:txBody>
                    <a:bodyPr/>
                    <a:lstStyle/>
                    <a:p>
                      <a:pPr algn="ctr">
                        <a:defRPr sz="1100" b="1">
                          <a:solidFill>
                            <a:srgbClr val="FFFFFF"/>
                          </a:solidFill>
                          <a:latin typeface="Montserrat"/>
                        </a:defRPr>
                      </a:pPr>
                      <a:r>
                        <a:t>Total</a:t>
                      </a:r>
                    </a:p>
                  </a:txBody>
                  <a:tcPr marL="36576" marR="36576" marT="36576" marB="36576">
                    <a:solidFill>
                      <a:srgbClr val="006455"/>
                    </a:solidFill>
                  </a:tcPr>
                </a:tc>
                <a:extLst>
                  <a:ext uri="{0D108BD9-81ED-4DB2-BD59-A6C34878D82A}">
                    <a16:rowId xmlns:a16="http://schemas.microsoft.com/office/drawing/2014/main" val="10000"/>
                  </a:ext>
                </a:extLst>
              </a:tr>
              <a:tr h="177654">
                <a:tc>
                  <a:txBody>
                    <a:bodyPr/>
                    <a:lstStyle/>
                    <a:p>
                      <a:pPr algn="l">
                        <a:defRPr sz="1100" b="0">
                          <a:solidFill>
                            <a:srgbClr val="000000"/>
                          </a:solidFill>
                          <a:latin typeface="Montserrat"/>
                        </a:defRPr>
                      </a:pPr>
                      <a:r>
                        <a:t>Hospital Rural</a:t>
                      </a:r>
                    </a:p>
                  </a:txBody>
                  <a:tcPr marL="73152" marR="73152" marT="0" marB="0" anchor="ctr">
                    <a:solidFill>
                      <a:srgbClr val="FFFFFF"/>
                    </a:solidFill>
                  </a:tcPr>
                </a:tc>
                <a:tc>
                  <a:txBody>
                    <a:bodyPr/>
                    <a:lstStyle/>
                    <a:p>
                      <a:pPr algn="ctr">
                        <a:defRPr sz="1000" b="1">
                          <a:solidFill>
                            <a:srgbClr val="006455"/>
                          </a:solidFill>
                          <a:latin typeface="Montserrat"/>
                        </a:defRPr>
                      </a:pPr>
                      <a:r>
                        <a:t>3</a:t>
                      </a:r>
                    </a:p>
                  </a:txBody>
                  <a:tcPr marL="73152" marR="73152" marT="0" marB="0" anchor="ctr">
                    <a:solidFill>
                      <a:srgbClr val="D3E9E7"/>
                    </a:solidFill>
                  </a:tcPr>
                </a:tc>
                <a:extLst>
                  <a:ext uri="{0D108BD9-81ED-4DB2-BD59-A6C34878D82A}">
                    <a16:rowId xmlns:a16="http://schemas.microsoft.com/office/drawing/2014/main" val="10001"/>
                  </a:ext>
                </a:extLst>
              </a:tr>
              <a:tr h="177654">
                <a:tc>
                  <a:txBody>
                    <a:bodyPr/>
                    <a:lstStyle/>
                    <a:p>
                      <a:pPr algn="l">
                        <a:defRPr sz="1100" b="0">
                          <a:solidFill>
                            <a:srgbClr val="000000"/>
                          </a:solidFill>
                          <a:latin typeface="Montserrat"/>
                        </a:defRPr>
                      </a:pPr>
                      <a:r>
                        <a:t>Unidad Médica Rural</a:t>
                      </a:r>
                    </a:p>
                  </a:txBody>
                  <a:tcPr marL="73152" marR="73152" marT="0" marB="0" anchor="ctr">
                    <a:solidFill>
                      <a:srgbClr val="EFEFEF"/>
                    </a:solidFill>
                  </a:tcPr>
                </a:tc>
                <a:tc>
                  <a:txBody>
                    <a:bodyPr/>
                    <a:lstStyle/>
                    <a:p>
                      <a:pPr algn="ctr">
                        <a:defRPr sz="1000" b="1">
                          <a:solidFill>
                            <a:srgbClr val="006455"/>
                          </a:solidFill>
                          <a:latin typeface="Montserrat"/>
                        </a:defRPr>
                      </a:pPr>
                      <a:r>
                        <a:t>77</a:t>
                      </a:r>
                    </a:p>
                  </a:txBody>
                  <a:tcPr marL="73152" marR="73152" marT="0" marB="0" anchor="ctr">
                    <a:solidFill>
                      <a:srgbClr val="D3E9E7"/>
                    </a:solidFill>
                  </a:tcPr>
                </a:tc>
                <a:extLst>
                  <a:ext uri="{0D108BD9-81ED-4DB2-BD59-A6C34878D82A}">
                    <a16:rowId xmlns:a16="http://schemas.microsoft.com/office/drawing/2014/main" val="10002"/>
                  </a:ext>
                </a:extLst>
              </a:tr>
              <a:tr h="177654">
                <a:tc>
                  <a:txBody>
                    <a:bodyPr/>
                    <a:lstStyle/>
                    <a:p>
                      <a:pPr algn="l">
                        <a:defRPr sz="1100" b="0">
                          <a:solidFill>
                            <a:srgbClr val="000000"/>
                          </a:solidFill>
                          <a:latin typeface="Montserrat"/>
                        </a:defRPr>
                      </a:pPr>
                      <a:r>
                        <a:t>Brigada Salud</a:t>
                      </a:r>
                    </a:p>
                  </a:txBody>
                  <a:tcPr marL="73152" marR="73152" marT="0" marB="0" anchor="ctr">
                    <a:solidFill>
                      <a:srgbClr val="FFFFFF"/>
                    </a:solidFill>
                  </a:tcPr>
                </a:tc>
                <a:tc>
                  <a:txBody>
                    <a:bodyPr/>
                    <a:lstStyle/>
                    <a:p>
                      <a:pPr algn="ctr">
                        <a:defRPr sz="1000" b="1">
                          <a:solidFill>
                            <a:srgbClr val="006455"/>
                          </a:solidFill>
                          <a:latin typeface="Montserrat"/>
                        </a:defRPr>
                      </a:pPr>
                      <a:r>
                        <a:t>3</a:t>
                      </a:r>
                    </a:p>
                  </a:txBody>
                  <a:tcPr marL="73152" marR="73152" marT="0" marB="0" anchor="ctr">
                    <a:solidFill>
                      <a:srgbClr val="D3E9E7"/>
                    </a:solidFill>
                  </a:tcPr>
                </a:tc>
                <a:extLst>
                  <a:ext uri="{0D108BD9-81ED-4DB2-BD59-A6C34878D82A}">
                    <a16:rowId xmlns:a16="http://schemas.microsoft.com/office/drawing/2014/main" val="10003"/>
                  </a:ext>
                </a:extLst>
              </a:tr>
              <a:tr h="177654">
                <a:tc>
                  <a:txBody>
                    <a:bodyPr/>
                    <a:lstStyle/>
                    <a:p>
                      <a:pPr algn="l">
                        <a:defRPr sz="1100" b="0">
                          <a:solidFill>
                            <a:srgbClr val="000000"/>
                          </a:solidFill>
                          <a:latin typeface="Montserrat"/>
                        </a:defRPr>
                      </a:pPr>
                      <a:r>
                        <a:t>Unidad Médica Móvil</a:t>
                      </a:r>
                    </a:p>
                  </a:txBody>
                  <a:tcPr marL="73152" marR="73152" marT="0" marB="0" anchor="ctr">
                    <a:solidFill>
                      <a:srgbClr val="EFEFEF"/>
                    </a:solidFill>
                  </a:tcPr>
                </a:tc>
                <a:tc>
                  <a:txBody>
                    <a:bodyPr/>
                    <a:lstStyle/>
                    <a:p>
                      <a:pPr algn="ctr">
                        <a:defRPr sz="1000" b="1">
                          <a:solidFill>
                            <a:srgbClr val="006455"/>
                          </a:solidFill>
                          <a:latin typeface="Montserrat"/>
                        </a:defRPr>
                      </a:pPr>
                      <a:r>
                        <a:t>0</a:t>
                      </a:r>
                    </a:p>
                  </a:txBody>
                  <a:tcPr marL="73152" marR="73152" marT="0" marB="0" anchor="ctr">
                    <a:solidFill>
                      <a:srgbClr val="D3E9E7"/>
                    </a:solidFill>
                  </a:tcPr>
                </a:tc>
                <a:extLst>
                  <a:ext uri="{0D108BD9-81ED-4DB2-BD59-A6C34878D82A}">
                    <a16:rowId xmlns:a16="http://schemas.microsoft.com/office/drawing/2014/main" val="10004"/>
                  </a:ext>
                </a:extLst>
              </a:tr>
              <a:tr h="177654">
                <a:tc>
                  <a:txBody>
                    <a:bodyPr/>
                    <a:lstStyle/>
                    <a:p>
                      <a:pPr algn="l">
                        <a:defRPr sz="1100" b="0">
                          <a:solidFill>
                            <a:srgbClr val="000000"/>
                          </a:solidFill>
                          <a:latin typeface="Montserrat"/>
                        </a:defRPr>
                      </a:pPr>
                      <a:r>
                        <a:t>Centros de Atención Rural Obstétrica</a:t>
                      </a:r>
                    </a:p>
                  </a:txBody>
                  <a:tcPr marL="73152" marR="73152" marT="0" marB="0" anchor="ctr">
                    <a:solidFill>
                      <a:srgbClr val="FFFFFF"/>
                    </a:solidFill>
                  </a:tcPr>
                </a:tc>
                <a:tc>
                  <a:txBody>
                    <a:bodyPr/>
                    <a:lstStyle/>
                    <a:p>
                      <a:pPr algn="ctr">
                        <a:defRPr sz="1000" b="1">
                          <a:solidFill>
                            <a:srgbClr val="006455"/>
                          </a:solidFill>
                          <a:latin typeface="Montserrat"/>
                        </a:defRPr>
                      </a:pPr>
                      <a:r>
                        <a:t>0</a:t>
                      </a:r>
                    </a:p>
                  </a:txBody>
                  <a:tcPr marL="73152" marR="73152" marT="0" marB="0" anchor="ctr">
                    <a:solidFill>
                      <a:srgbClr val="D3E9E7"/>
                    </a:solidFill>
                  </a:tcPr>
                </a:tc>
                <a:extLst>
                  <a:ext uri="{0D108BD9-81ED-4DB2-BD59-A6C34878D82A}">
                    <a16:rowId xmlns:a16="http://schemas.microsoft.com/office/drawing/2014/main" val="10005"/>
                  </a:ext>
                </a:extLst>
              </a:tr>
              <a:tr h="177660">
                <a:tc>
                  <a:txBody>
                    <a:bodyPr/>
                    <a:lstStyle/>
                    <a:p>
                      <a:pPr algn="l">
                        <a:defRPr sz="1100" b="1">
                          <a:solidFill>
                            <a:srgbClr val="006455"/>
                          </a:solidFill>
                          <a:latin typeface="Montserrat"/>
                        </a:defRPr>
                      </a:pPr>
                      <a:r>
                        <a:t>Total</a:t>
                      </a:r>
                    </a:p>
                  </a:txBody>
                  <a:tcPr marL="73152" marR="73152" marT="0" marB="0" anchor="ctr">
                    <a:solidFill>
                      <a:srgbClr val="D3E9E7"/>
                    </a:solidFill>
                  </a:tcPr>
                </a:tc>
                <a:tc>
                  <a:txBody>
                    <a:bodyPr/>
                    <a:lstStyle/>
                    <a:p>
                      <a:pPr algn="ctr">
                        <a:defRPr sz="1000" b="1">
                          <a:solidFill>
                            <a:srgbClr val="006455"/>
                          </a:solidFill>
                          <a:latin typeface="Montserrat"/>
                        </a:defRPr>
                      </a:pPr>
                      <a:r>
                        <a:t>83</a:t>
                      </a:r>
                    </a:p>
                  </a:txBody>
                  <a:tcPr marL="73152" marR="73152" marT="0" marB="0" anchor="ctr">
                    <a:solidFill>
                      <a:srgbClr val="D3E9E7"/>
                    </a:solidFill>
                  </a:tcPr>
                </a:tc>
                <a:extLst>
                  <a:ext uri="{0D108BD9-81ED-4DB2-BD59-A6C34878D82A}">
                    <a16:rowId xmlns:a16="http://schemas.microsoft.com/office/drawing/2014/main" val="10006"/>
                  </a:ext>
                </a:extLst>
              </a:tr>
            </a:tbl>
          </a:graphicData>
        </a:graphic>
      </p:graphicFrame>
      <p:graphicFrame>
        <p:nvGraphicFramePr>
          <p:cNvPr id="534" name="Table 533"/>
          <p:cNvGraphicFramePr>
            <a:graphicFrameLocks noGrp="1"/>
          </p:cNvGraphicFramePr>
          <p:nvPr/>
        </p:nvGraphicFramePr>
        <p:xfrm>
          <a:off x="310896" y="3209544"/>
          <a:ext cx="4965192" cy="1744472"/>
        </p:xfrm>
        <a:graphic>
          <a:graphicData uri="http://schemas.openxmlformats.org/drawingml/2006/table">
            <a:tbl>
              <a:tblPr firstRow="1" bandRow="1">
                <a:tableStyleId>{5C22544A-7EE6-4342-B048-85BDC9FD1C3A}</a:tableStyleId>
              </a:tblPr>
              <a:tblGrid>
                <a:gridCol w="1655064">
                  <a:extLst>
                    <a:ext uri="{9D8B030D-6E8A-4147-A177-3AD203B41FA5}">
                      <a16:colId xmlns:a16="http://schemas.microsoft.com/office/drawing/2014/main" val="20000"/>
                    </a:ext>
                  </a:extLst>
                </a:gridCol>
                <a:gridCol w="1655064">
                  <a:extLst>
                    <a:ext uri="{9D8B030D-6E8A-4147-A177-3AD203B41FA5}">
                      <a16:colId xmlns:a16="http://schemas.microsoft.com/office/drawing/2014/main" val="20001"/>
                    </a:ext>
                  </a:extLst>
                </a:gridCol>
                <a:gridCol w="1655064">
                  <a:extLst>
                    <a:ext uri="{9D8B030D-6E8A-4147-A177-3AD203B41FA5}">
                      <a16:colId xmlns:a16="http://schemas.microsoft.com/office/drawing/2014/main" val="20002"/>
                    </a:ext>
                  </a:extLst>
                </a:gridCol>
              </a:tblGrid>
              <a:tr h="187960">
                <a:tc>
                  <a:txBody>
                    <a:bodyPr/>
                    <a:lstStyle/>
                    <a:p>
                      <a:pPr algn="ctr">
                        <a:defRPr sz="1100" b="1">
                          <a:solidFill>
                            <a:srgbClr val="FFFFFF"/>
                          </a:solidFill>
                          <a:latin typeface="Montserrat"/>
                        </a:defRPr>
                      </a:pPr>
                      <a:r>
                        <a:t>Concepto</a:t>
                      </a:r>
                    </a:p>
                  </a:txBody>
                  <a:tcPr marL="36576" marR="36576" marT="36576" marB="36576">
                    <a:solidFill>
                      <a:srgbClr val="006455"/>
                    </a:solidFill>
                  </a:tcPr>
                </a:tc>
                <a:tc>
                  <a:txBody>
                    <a:bodyPr/>
                    <a:lstStyle/>
                    <a:p>
                      <a:pPr algn="ctr">
                        <a:defRPr sz="1100" b="1">
                          <a:solidFill>
                            <a:srgbClr val="FFFFFF"/>
                          </a:solidFill>
                          <a:latin typeface="Montserrat"/>
                        </a:defRPr>
                      </a:pPr>
                      <a:r>
                        <a:t>Productividad</a:t>
                      </a:r>
                    </a:p>
                  </a:txBody>
                  <a:tcPr marL="36576" marR="36576" marT="36576" marB="36576">
                    <a:solidFill>
                      <a:srgbClr val="006455"/>
                    </a:solidFill>
                  </a:tcPr>
                </a:tc>
                <a:tc>
                  <a:txBody>
                    <a:bodyPr/>
                    <a:lstStyle/>
                    <a:p>
                      <a:pPr algn="ctr">
                        <a:defRPr sz="1100" b="1">
                          <a:solidFill>
                            <a:srgbClr val="FFFFFF"/>
                          </a:solidFill>
                          <a:latin typeface="Montserrat"/>
                        </a:defRPr>
                      </a:pPr>
                      <a:r>
                        <a:t>Día Típico</a:t>
                      </a:r>
                    </a:p>
                  </a:txBody>
                  <a:tcPr marL="36576" marR="36576" marT="36576" marB="36576">
                    <a:solidFill>
                      <a:srgbClr val="006455"/>
                    </a:solidFill>
                  </a:tcPr>
                </a:tc>
                <a:extLst>
                  <a:ext uri="{0D108BD9-81ED-4DB2-BD59-A6C34878D82A}">
                    <a16:rowId xmlns:a16="http://schemas.microsoft.com/office/drawing/2014/main" val="10000"/>
                  </a:ext>
                </a:extLst>
              </a:tr>
              <a:tr h="187960">
                <a:tc>
                  <a:txBody>
                    <a:bodyPr/>
                    <a:lstStyle/>
                    <a:p>
                      <a:pPr algn="l">
                        <a:defRPr sz="1100" b="1">
                          <a:solidFill>
                            <a:srgbClr val="006455"/>
                          </a:solidFill>
                          <a:latin typeface="Montserrat"/>
                        </a:defRPr>
                      </a:pPr>
                      <a:r>
                        <a:t>Total consultas</a:t>
                      </a:r>
                    </a:p>
                  </a:txBody>
                  <a:tcPr marL="73152" marR="73152" marT="0" marB="0" anchor="ctr">
                    <a:solidFill>
                      <a:srgbClr val="D3E9E7"/>
                    </a:solidFill>
                  </a:tcPr>
                </a:tc>
                <a:tc>
                  <a:txBody>
                    <a:bodyPr/>
                    <a:lstStyle/>
                    <a:p>
                      <a:pPr algn="ctr">
                        <a:defRPr sz="1000" b="1">
                          <a:solidFill>
                            <a:srgbClr val="006455"/>
                          </a:solidFill>
                          <a:latin typeface="Montserrat"/>
                        </a:defRPr>
                      </a:pPr>
                      <a:r>
                        <a:t>365,157</a:t>
                      </a:r>
                    </a:p>
                  </a:txBody>
                  <a:tcPr marL="73152" marR="73152" marT="0" marB="0" anchor="ctr">
                    <a:solidFill>
                      <a:srgbClr val="D3E9E7"/>
                    </a:solidFill>
                  </a:tcPr>
                </a:tc>
                <a:tc>
                  <a:txBody>
                    <a:bodyPr/>
                    <a:lstStyle/>
                    <a:p>
                      <a:pPr algn="ctr">
                        <a:defRPr sz="1000" b="1">
                          <a:solidFill>
                            <a:srgbClr val="006455"/>
                          </a:solidFill>
                          <a:latin typeface="Montserrat"/>
                        </a:defRPr>
                      </a:pPr>
                      <a:r>
                        <a:t>1,374</a:t>
                      </a:r>
                    </a:p>
                  </a:txBody>
                  <a:tcPr marL="73152" marR="73152" marT="0" marB="0" anchor="ctr">
                    <a:solidFill>
                      <a:srgbClr val="D3E9E7"/>
                    </a:solidFill>
                  </a:tcPr>
                </a:tc>
                <a:extLst>
                  <a:ext uri="{0D108BD9-81ED-4DB2-BD59-A6C34878D82A}">
                    <a16:rowId xmlns:a16="http://schemas.microsoft.com/office/drawing/2014/main" val="10001"/>
                  </a:ext>
                </a:extLst>
              </a:tr>
              <a:tr h="187960">
                <a:tc>
                  <a:txBody>
                    <a:bodyPr/>
                    <a:lstStyle/>
                    <a:p>
                      <a:pPr algn="ctr">
                        <a:defRPr sz="1100" b="0">
                          <a:solidFill>
                            <a:srgbClr val="000000"/>
                          </a:solidFill>
                          <a:latin typeface="Montserrat"/>
                        </a:defRPr>
                      </a:pPr>
                      <a:r>
                        <a:t>Familiar</a:t>
                      </a:r>
                    </a:p>
                  </a:txBody>
                  <a:tcPr marL="73152" marR="73152" marT="0" marB="0" anchor="ctr">
                    <a:solidFill>
                      <a:srgbClr val="FFFFFF"/>
                    </a:solidFill>
                  </a:tcPr>
                </a:tc>
                <a:tc>
                  <a:txBody>
                    <a:bodyPr/>
                    <a:lstStyle/>
                    <a:p>
                      <a:pPr algn="ctr">
                        <a:defRPr sz="1000" b="0">
                          <a:solidFill>
                            <a:srgbClr val="000000"/>
                          </a:solidFill>
                          <a:latin typeface="Montserrat"/>
                        </a:defRPr>
                      </a:pPr>
                      <a:r>
                        <a:t>319,854</a:t>
                      </a:r>
                    </a:p>
                  </a:txBody>
                  <a:tcPr marL="73152" marR="73152" marT="0" marB="0" anchor="ctr">
                    <a:solidFill>
                      <a:srgbClr val="FFFFFF"/>
                    </a:solidFill>
                  </a:tcPr>
                </a:tc>
                <a:tc>
                  <a:txBody>
                    <a:bodyPr/>
                    <a:lstStyle/>
                    <a:p>
                      <a:pPr algn="ctr">
                        <a:defRPr sz="1000" b="0">
                          <a:solidFill>
                            <a:srgbClr val="000000"/>
                          </a:solidFill>
                          <a:latin typeface="Montserrat"/>
                        </a:defRPr>
                      </a:pPr>
                      <a:r>
                        <a:t>1,225</a:t>
                      </a:r>
                    </a:p>
                  </a:txBody>
                  <a:tcPr marL="73152" marR="73152" marT="0" marB="0" anchor="ctr">
                    <a:solidFill>
                      <a:srgbClr val="FFFFFF"/>
                    </a:solidFill>
                  </a:tcPr>
                </a:tc>
                <a:extLst>
                  <a:ext uri="{0D108BD9-81ED-4DB2-BD59-A6C34878D82A}">
                    <a16:rowId xmlns:a16="http://schemas.microsoft.com/office/drawing/2014/main" val="10002"/>
                  </a:ext>
                </a:extLst>
              </a:tr>
              <a:tr h="187960">
                <a:tc>
                  <a:txBody>
                    <a:bodyPr/>
                    <a:lstStyle/>
                    <a:p>
                      <a:pPr algn="ctr">
                        <a:defRPr sz="1100" b="0">
                          <a:solidFill>
                            <a:srgbClr val="000000"/>
                          </a:solidFill>
                          <a:latin typeface="Montserrat"/>
                        </a:defRPr>
                      </a:pPr>
                      <a:r>
                        <a:t>Estomatología</a:t>
                      </a:r>
                    </a:p>
                  </a:txBody>
                  <a:tcPr marL="73152" marR="73152" marT="0" marB="0" anchor="ctr">
                    <a:solidFill>
                      <a:srgbClr val="EFEFEF"/>
                    </a:solidFill>
                  </a:tcPr>
                </a:tc>
                <a:tc>
                  <a:txBody>
                    <a:bodyPr/>
                    <a:lstStyle/>
                    <a:p>
                      <a:pPr algn="ctr">
                        <a:defRPr sz="1000" b="0">
                          <a:solidFill>
                            <a:srgbClr val="000000"/>
                          </a:solidFill>
                          <a:latin typeface="Montserrat"/>
                        </a:defRPr>
                      </a:pPr>
                      <a:r>
                        <a:t>8,605</a:t>
                      </a:r>
                    </a:p>
                  </a:txBody>
                  <a:tcPr marL="73152" marR="73152" marT="0" marB="0" anchor="ctr">
                    <a:solidFill>
                      <a:srgbClr val="EFEFEF"/>
                    </a:solidFill>
                  </a:tcPr>
                </a:tc>
                <a:tc>
                  <a:txBody>
                    <a:bodyPr/>
                    <a:lstStyle/>
                    <a:p>
                      <a:pPr algn="ctr">
                        <a:defRPr sz="1000" b="0">
                          <a:solidFill>
                            <a:srgbClr val="000000"/>
                          </a:solidFill>
                          <a:latin typeface="Montserrat"/>
                        </a:defRPr>
                      </a:pPr>
                      <a:r>
                        <a:t>33</a:t>
                      </a:r>
                    </a:p>
                  </a:txBody>
                  <a:tcPr marL="73152" marR="73152" marT="0" marB="0" anchor="ctr">
                    <a:solidFill>
                      <a:srgbClr val="EFEFEF"/>
                    </a:solidFill>
                  </a:tcPr>
                </a:tc>
                <a:extLst>
                  <a:ext uri="{0D108BD9-81ED-4DB2-BD59-A6C34878D82A}">
                    <a16:rowId xmlns:a16="http://schemas.microsoft.com/office/drawing/2014/main" val="10003"/>
                  </a:ext>
                </a:extLst>
              </a:tr>
              <a:tr h="187960">
                <a:tc>
                  <a:txBody>
                    <a:bodyPr/>
                    <a:lstStyle/>
                    <a:p>
                      <a:pPr algn="ctr">
                        <a:defRPr sz="1100" b="0">
                          <a:solidFill>
                            <a:srgbClr val="000000"/>
                          </a:solidFill>
                          <a:latin typeface="Montserrat"/>
                        </a:defRPr>
                      </a:pPr>
                      <a:r>
                        <a:t>Urgencias</a:t>
                      </a:r>
                    </a:p>
                  </a:txBody>
                  <a:tcPr marL="73152" marR="73152" marT="0" marB="0" anchor="ctr">
                    <a:solidFill>
                      <a:srgbClr val="FFFFFF"/>
                    </a:solidFill>
                  </a:tcPr>
                </a:tc>
                <a:tc>
                  <a:txBody>
                    <a:bodyPr/>
                    <a:lstStyle/>
                    <a:p>
                      <a:pPr algn="ctr">
                        <a:defRPr sz="1000" b="0">
                          <a:solidFill>
                            <a:srgbClr val="000000"/>
                          </a:solidFill>
                          <a:latin typeface="Montserrat"/>
                        </a:defRPr>
                      </a:pPr>
                      <a:r>
                        <a:t>22,937</a:t>
                      </a:r>
                    </a:p>
                  </a:txBody>
                  <a:tcPr marL="73152" marR="73152" marT="0" marB="0" anchor="ctr">
                    <a:solidFill>
                      <a:srgbClr val="FFFFFF"/>
                    </a:solidFill>
                  </a:tcPr>
                </a:tc>
                <a:tc>
                  <a:txBody>
                    <a:bodyPr/>
                    <a:lstStyle/>
                    <a:p>
                      <a:pPr algn="ctr">
                        <a:defRPr sz="1000" b="0">
                          <a:solidFill>
                            <a:srgbClr val="000000"/>
                          </a:solidFill>
                          <a:latin typeface="Montserrat"/>
                        </a:defRPr>
                      </a:pPr>
                      <a:r>
                        <a:t>63</a:t>
                      </a:r>
                    </a:p>
                  </a:txBody>
                  <a:tcPr marL="73152" marR="73152" marT="0" marB="0" anchor="ctr">
                    <a:solidFill>
                      <a:srgbClr val="FFFFFF"/>
                    </a:solidFill>
                  </a:tcPr>
                </a:tc>
                <a:extLst>
                  <a:ext uri="{0D108BD9-81ED-4DB2-BD59-A6C34878D82A}">
                    <a16:rowId xmlns:a16="http://schemas.microsoft.com/office/drawing/2014/main" val="10004"/>
                  </a:ext>
                </a:extLst>
              </a:tr>
              <a:tr h="187960">
                <a:tc>
                  <a:txBody>
                    <a:bodyPr/>
                    <a:lstStyle/>
                    <a:p>
                      <a:pPr algn="ctr">
                        <a:defRPr sz="1100" b="0">
                          <a:solidFill>
                            <a:srgbClr val="000000"/>
                          </a:solidFill>
                          <a:latin typeface="Montserrat"/>
                        </a:defRPr>
                      </a:pPr>
                      <a:r>
                        <a:t>Especialidades</a:t>
                      </a:r>
                    </a:p>
                  </a:txBody>
                  <a:tcPr marL="73152" marR="73152" marT="0" marB="0" anchor="ctr">
                    <a:solidFill>
                      <a:srgbClr val="EFEFEF"/>
                    </a:solidFill>
                  </a:tcPr>
                </a:tc>
                <a:tc>
                  <a:txBody>
                    <a:bodyPr/>
                    <a:lstStyle/>
                    <a:p>
                      <a:pPr algn="ctr">
                        <a:defRPr sz="1000" b="0">
                          <a:solidFill>
                            <a:srgbClr val="000000"/>
                          </a:solidFill>
                          <a:latin typeface="Montserrat"/>
                        </a:defRPr>
                      </a:pPr>
                      <a:r>
                        <a:t>13,761</a:t>
                      </a:r>
                    </a:p>
                  </a:txBody>
                  <a:tcPr marL="73152" marR="73152" marT="0" marB="0" anchor="ctr">
                    <a:solidFill>
                      <a:srgbClr val="EFEFEF"/>
                    </a:solidFill>
                  </a:tcPr>
                </a:tc>
                <a:tc>
                  <a:txBody>
                    <a:bodyPr/>
                    <a:lstStyle/>
                    <a:p>
                      <a:pPr algn="ctr">
                        <a:defRPr sz="1000" b="0">
                          <a:solidFill>
                            <a:srgbClr val="000000"/>
                          </a:solidFill>
                          <a:latin typeface="Montserrat"/>
                        </a:defRPr>
                      </a:pPr>
                      <a:r>
                        <a:t>53</a:t>
                      </a:r>
                    </a:p>
                  </a:txBody>
                  <a:tcPr marL="73152" marR="73152" marT="0" marB="0" anchor="ctr">
                    <a:solidFill>
                      <a:srgbClr val="EFEFEF"/>
                    </a:solidFill>
                  </a:tcPr>
                </a:tc>
                <a:extLst>
                  <a:ext uri="{0D108BD9-81ED-4DB2-BD59-A6C34878D82A}">
                    <a16:rowId xmlns:a16="http://schemas.microsoft.com/office/drawing/2014/main" val="10005"/>
                  </a:ext>
                </a:extLst>
              </a:tr>
              <a:tr h="187960">
                <a:tc>
                  <a:txBody>
                    <a:bodyPr/>
                    <a:lstStyle/>
                    <a:p>
                      <a:pPr algn="l">
                        <a:defRPr sz="1100" b="1">
                          <a:solidFill>
                            <a:srgbClr val="000000"/>
                          </a:solidFill>
                          <a:latin typeface="Montserrat"/>
                        </a:defRPr>
                      </a:pPr>
                      <a:r>
                        <a:t>Cirugías</a:t>
                      </a:r>
                    </a:p>
                  </a:txBody>
                  <a:tcPr marL="73152" marR="73152" marT="0" marB="0" anchor="ctr">
                    <a:solidFill>
                      <a:srgbClr val="FFFFFF"/>
                    </a:solidFill>
                  </a:tcPr>
                </a:tc>
                <a:tc>
                  <a:txBody>
                    <a:bodyPr/>
                    <a:lstStyle/>
                    <a:p>
                      <a:pPr algn="ctr">
                        <a:defRPr sz="1000" b="0">
                          <a:solidFill>
                            <a:srgbClr val="000000"/>
                          </a:solidFill>
                          <a:latin typeface="Montserrat"/>
                        </a:defRPr>
                      </a:pPr>
                      <a:r>
                        <a:t>1,904</a:t>
                      </a:r>
                    </a:p>
                  </a:txBody>
                  <a:tcPr marL="73152" marR="73152" marT="0" marB="0" anchor="ctr">
                    <a:solidFill>
                      <a:srgbClr val="FFFFFF"/>
                    </a:solidFill>
                  </a:tcPr>
                </a:tc>
                <a:tc>
                  <a:txBody>
                    <a:bodyPr/>
                    <a:lstStyle/>
                    <a:p>
                      <a:pPr algn="ctr">
                        <a:defRPr sz="1000" b="0">
                          <a:solidFill>
                            <a:srgbClr val="000000"/>
                          </a:solidFill>
                          <a:latin typeface="Montserrat"/>
                        </a:defRPr>
                      </a:pPr>
                      <a:r>
                        <a:t>5</a:t>
                      </a:r>
                    </a:p>
                  </a:txBody>
                  <a:tcPr marL="73152" marR="73152" marT="0" marB="0" anchor="ctr">
                    <a:solidFill>
                      <a:srgbClr val="FFFFFF"/>
                    </a:solidFill>
                  </a:tcPr>
                </a:tc>
                <a:extLst>
                  <a:ext uri="{0D108BD9-81ED-4DB2-BD59-A6C34878D82A}">
                    <a16:rowId xmlns:a16="http://schemas.microsoft.com/office/drawing/2014/main" val="10006"/>
                  </a:ext>
                </a:extLst>
              </a:tr>
              <a:tr h="187960">
                <a:tc>
                  <a:txBody>
                    <a:bodyPr/>
                    <a:lstStyle/>
                    <a:p>
                      <a:pPr algn="l">
                        <a:defRPr sz="1100" b="1">
                          <a:solidFill>
                            <a:srgbClr val="000000"/>
                          </a:solidFill>
                          <a:latin typeface="Montserrat"/>
                        </a:defRPr>
                      </a:pPr>
                      <a:r>
                        <a:t>Partos</a:t>
                      </a:r>
                    </a:p>
                  </a:txBody>
                  <a:tcPr marL="73152" marR="73152" marT="0" marB="0" anchor="ctr">
                    <a:solidFill>
                      <a:srgbClr val="EFEFEF"/>
                    </a:solidFill>
                  </a:tcPr>
                </a:tc>
                <a:tc>
                  <a:txBody>
                    <a:bodyPr/>
                    <a:lstStyle/>
                    <a:p>
                      <a:pPr algn="ctr">
                        <a:defRPr sz="1000" b="0">
                          <a:solidFill>
                            <a:srgbClr val="000000"/>
                          </a:solidFill>
                          <a:latin typeface="Montserrat"/>
                        </a:defRPr>
                      </a:pPr>
                      <a:r>
                        <a:t>1,388</a:t>
                      </a:r>
                    </a:p>
                  </a:txBody>
                  <a:tcPr marL="73152" marR="73152" marT="0" marB="0" anchor="ctr">
                    <a:solidFill>
                      <a:srgbClr val="EFEFEF"/>
                    </a:solidFill>
                  </a:tcPr>
                </a:tc>
                <a:tc>
                  <a:txBody>
                    <a:bodyPr/>
                    <a:lstStyle/>
                    <a:p>
                      <a:pPr algn="ctr">
                        <a:defRPr sz="1000" b="0">
                          <a:solidFill>
                            <a:srgbClr val="000000"/>
                          </a:solidFill>
                          <a:latin typeface="Montserrat"/>
                        </a:defRPr>
                      </a:pPr>
                      <a:r>
                        <a:t>4</a:t>
                      </a:r>
                    </a:p>
                  </a:txBody>
                  <a:tcPr marL="73152" marR="73152" marT="0" marB="0" anchor="ctr">
                    <a:solidFill>
                      <a:srgbClr val="EFEFEF"/>
                    </a:solidFill>
                  </a:tcPr>
                </a:tc>
                <a:extLst>
                  <a:ext uri="{0D108BD9-81ED-4DB2-BD59-A6C34878D82A}">
                    <a16:rowId xmlns:a16="http://schemas.microsoft.com/office/drawing/2014/main" val="10007"/>
                  </a:ext>
                </a:extLst>
              </a:tr>
              <a:tr h="187960">
                <a:tc>
                  <a:txBody>
                    <a:bodyPr/>
                    <a:lstStyle/>
                    <a:p>
                      <a:pPr algn="l">
                        <a:defRPr sz="1100" b="1">
                          <a:solidFill>
                            <a:srgbClr val="000000"/>
                          </a:solidFill>
                          <a:latin typeface="Montserrat"/>
                        </a:defRPr>
                      </a:pPr>
                      <a:r>
                        <a:t>Egresos Hosp.</a:t>
                      </a:r>
                    </a:p>
                  </a:txBody>
                  <a:tcPr marL="73152" marR="73152" marT="0" marB="0" anchor="ctr">
                    <a:solidFill>
                      <a:srgbClr val="FFFFFF"/>
                    </a:solidFill>
                  </a:tcPr>
                </a:tc>
                <a:tc>
                  <a:txBody>
                    <a:bodyPr/>
                    <a:lstStyle/>
                    <a:p>
                      <a:pPr algn="ctr">
                        <a:defRPr sz="1000" b="0">
                          <a:solidFill>
                            <a:srgbClr val="000000"/>
                          </a:solidFill>
                          <a:latin typeface="Montserrat"/>
                        </a:defRPr>
                      </a:pPr>
                      <a:r>
                        <a:t>4,023</a:t>
                      </a:r>
                    </a:p>
                  </a:txBody>
                  <a:tcPr marL="73152" marR="73152" marT="0" marB="0" anchor="ctr">
                    <a:solidFill>
                      <a:srgbClr val="FFFFFF"/>
                    </a:solidFill>
                  </a:tcPr>
                </a:tc>
                <a:tc>
                  <a:txBody>
                    <a:bodyPr/>
                    <a:lstStyle/>
                    <a:p>
                      <a:pPr algn="ctr">
                        <a:defRPr sz="1000" b="0">
                          <a:solidFill>
                            <a:srgbClr val="000000"/>
                          </a:solidFill>
                          <a:latin typeface="Montserrat"/>
                        </a:defRPr>
                      </a:pPr>
                      <a:r>
                        <a:t>11</a:t>
                      </a:r>
                    </a:p>
                  </a:txBody>
                  <a:tcPr marL="73152" marR="73152" marT="0" marB="0" anchor="ctr">
                    <a:solidFill>
                      <a:srgbClr val="FFFFFF"/>
                    </a:solidFill>
                  </a:tcPr>
                </a:tc>
                <a:extLst>
                  <a:ext uri="{0D108BD9-81ED-4DB2-BD59-A6C34878D82A}">
                    <a16:rowId xmlns:a16="http://schemas.microsoft.com/office/drawing/2014/main" val="10008"/>
                  </a:ext>
                </a:extLst>
              </a:tr>
            </a:tbl>
          </a:graphicData>
        </a:graphic>
      </p:graphicFrame>
      <p:graphicFrame>
        <p:nvGraphicFramePr>
          <p:cNvPr id="535" name="Table 534"/>
          <p:cNvGraphicFramePr>
            <a:graphicFrameLocks noGrp="1"/>
          </p:cNvGraphicFramePr>
          <p:nvPr/>
        </p:nvGraphicFramePr>
        <p:xfrm>
          <a:off x="310896" y="5815584"/>
          <a:ext cx="7022592" cy="1648968"/>
        </p:xfrm>
        <a:graphic>
          <a:graphicData uri="http://schemas.openxmlformats.org/drawingml/2006/table">
            <a:tbl>
              <a:tblPr firstRow="1" bandRow="1">
                <a:tableStyleId>{5C22544A-7EE6-4342-B048-85BDC9FD1C3A}</a:tableStyleId>
              </a:tblPr>
              <a:tblGrid>
                <a:gridCol w="1664208">
                  <a:extLst>
                    <a:ext uri="{9D8B030D-6E8A-4147-A177-3AD203B41FA5}">
                      <a16:colId xmlns:a16="http://schemas.microsoft.com/office/drawing/2014/main" val="20000"/>
                    </a:ext>
                  </a:extLst>
                </a:gridCol>
                <a:gridCol w="923544">
                  <a:extLst>
                    <a:ext uri="{9D8B030D-6E8A-4147-A177-3AD203B41FA5}">
                      <a16:colId xmlns:a16="http://schemas.microsoft.com/office/drawing/2014/main" val="20001"/>
                    </a:ext>
                  </a:extLst>
                </a:gridCol>
                <a:gridCol w="1179576">
                  <a:extLst>
                    <a:ext uri="{9D8B030D-6E8A-4147-A177-3AD203B41FA5}">
                      <a16:colId xmlns:a16="http://schemas.microsoft.com/office/drawing/2014/main" val="20002"/>
                    </a:ext>
                  </a:extLst>
                </a:gridCol>
                <a:gridCol w="1179576">
                  <a:extLst>
                    <a:ext uri="{9D8B030D-6E8A-4147-A177-3AD203B41FA5}">
                      <a16:colId xmlns:a16="http://schemas.microsoft.com/office/drawing/2014/main" val="20003"/>
                    </a:ext>
                  </a:extLst>
                </a:gridCol>
                <a:gridCol w="1179576">
                  <a:extLst>
                    <a:ext uri="{9D8B030D-6E8A-4147-A177-3AD203B41FA5}">
                      <a16:colId xmlns:a16="http://schemas.microsoft.com/office/drawing/2014/main" val="20004"/>
                    </a:ext>
                  </a:extLst>
                </a:gridCol>
                <a:gridCol w="896112">
                  <a:extLst>
                    <a:ext uri="{9D8B030D-6E8A-4147-A177-3AD203B41FA5}">
                      <a16:colId xmlns:a16="http://schemas.microsoft.com/office/drawing/2014/main" val="20005"/>
                    </a:ext>
                  </a:extLst>
                </a:gridCol>
              </a:tblGrid>
              <a:tr h="201168">
                <a:tc>
                  <a:txBody>
                    <a:bodyPr/>
                    <a:lstStyle/>
                    <a:p>
                      <a:pPr algn="ctr">
                        <a:defRPr sz="1100" b="1">
                          <a:solidFill>
                            <a:srgbClr val="FFFFFF"/>
                          </a:solidFill>
                          <a:latin typeface="Montserrat"/>
                        </a:defRPr>
                      </a:pPr>
                      <a:r>
                        <a:t>Disciplina</a:t>
                      </a:r>
                    </a:p>
                  </a:txBody>
                  <a:tcPr marL="36576" marR="36576" marT="36576" marB="36576">
                    <a:solidFill>
                      <a:srgbClr val="006455"/>
                    </a:solidFill>
                  </a:tcPr>
                </a:tc>
                <a:tc>
                  <a:txBody>
                    <a:bodyPr/>
                    <a:lstStyle/>
                    <a:p>
                      <a:pPr algn="ctr">
                        <a:defRPr sz="1100" b="1">
                          <a:solidFill>
                            <a:srgbClr val="FFFFFF"/>
                          </a:solidFill>
                          <a:latin typeface="Montserrat"/>
                        </a:defRPr>
                      </a:pPr>
                      <a:r>
                        <a:t>Base</a:t>
                      </a:r>
                    </a:p>
                  </a:txBody>
                  <a:tcPr marL="36576" marR="36576" marT="36576" marB="36576">
                    <a:solidFill>
                      <a:srgbClr val="006455"/>
                    </a:solidFill>
                  </a:tcPr>
                </a:tc>
                <a:tc>
                  <a:txBody>
                    <a:bodyPr/>
                    <a:lstStyle/>
                    <a:p>
                      <a:pPr algn="ctr">
                        <a:defRPr sz="1100" b="1">
                          <a:solidFill>
                            <a:srgbClr val="FFFFFF"/>
                          </a:solidFill>
                          <a:latin typeface="Montserrat"/>
                        </a:defRPr>
                      </a:pPr>
                      <a:r>
                        <a:t>Confianza</a:t>
                      </a:r>
                    </a:p>
                  </a:txBody>
                  <a:tcPr marL="36576" marR="36576" marT="36576" marB="36576">
                    <a:solidFill>
                      <a:srgbClr val="006455"/>
                    </a:solidFill>
                  </a:tcPr>
                </a:tc>
                <a:tc>
                  <a:txBody>
                    <a:bodyPr/>
                    <a:lstStyle/>
                    <a:p>
                      <a:pPr algn="ctr">
                        <a:defRPr sz="1100" b="1">
                          <a:solidFill>
                            <a:srgbClr val="FFFFFF"/>
                          </a:solidFill>
                          <a:latin typeface="Montserrat"/>
                        </a:defRPr>
                      </a:pPr>
                      <a:r>
                        <a:t>Estatuto A</a:t>
                      </a:r>
                    </a:p>
                  </a:txBody>
                  <a:tcPr marL="36576" marR="36576" marT="36576" marB="36576">
                    <a:solidFill>
                      <a:srgbClr val="006455"/>
                    </a:solidFill>
                  </a:tcPr>
                </a:tc>
                <a:tc>
                  <a:txBody>
                    <a:bodyPr/>
                    <a:lstStyle/>
                    <a:p>
                      <a:pPr algn="ctr">
                        <a:defRPr sz="1100" b="1">
                          <a:solidFill>
                            <a:srgbClr val="FFFFFF"/>
                          </a:solidFill>
                          <a:latin typeface="Montserrat"/>
                        </a:defRPr>
                      </a:pPr>
                      <a:r>
                        <a:t>Sustitutos</a:t>
                      </a:r>
                    </a:p>
                  </a:txBody>
                  <a:tcPr marL="36576" marR="36576" marT="36576" marB="36576">
                    <a:solidFill>
                      <a:srgbClr val="006455"/>
                    </a:solidFill>
                  </a:tcPr>
                </a:tc>
                <a:tc>
                  <a:txBody>
                    <a:bodyPr/>
                    <a:lstStyle/>
                    <a:p>
                      <a:pPr algn="ctr">
                        <a:defRPr sz="1100" b="1">
                          <a:solidFill>
                            <a:srgbClr val="FFFFFF"/>
                          </a:solidFill>
                          <a:latin typeface="Montserrat"/>
                        </a:defRPr>
                      </a:pPr>
                      <a:r>
                        <a:t>Total</a:t>
                      </a:r>
                    </a:p>
                  </a:txBody>
                  <a:tcPr marL="36576" marR="36576" marT="36576" marB="36576">
                    <a:solidFill>
                      <a:srgbClr val="006455"/>
                    </a:solidFill>
                  </a:tcPr>
                </a:tc>
                <a:extLst>
                  <a:ext uri="{0D108BD9-81ED-4DB2-BD59-A6C34878D82A}">
                    <a16:rowId xmlns:a16="http://schemas.microsoft.com/office/drawing/2014/main" val="10000"/>
                  </a:ext>
                </a:extLst>
              </a:tr>
              <a:tr h="201168">
                <a:tc>
                  <a:txBody>
                    <a:bodyPr/>
                    <a:lstStyle/>
                    <a:p>
                      <a:pPr algn="l">
                        <a:defRPr sz="1100" b="0">
                          <a:solidFill>
                            <a:srgbClr val="000000"/>
                          </a:solidFill>
                          <a:latin typeface="Montserrat"/>
                        </a:defRPr>
                      </a:pPr>
                      <a:r>
                        <a:t>Médicos</a:t>
                      </a:r>
                    </a:p>
                  </a:txBody>
                  <a:tcPr marL="73152" marR="73152" marT="0" marB="0" anchor="ctr">
                    <a:solidFill>
                      <a:srgbClr val="FFFFFF"/>
                    </a:solidFill>
                  </a:tcPr>
                </a:tc>
                <a:tc>
                  <a:txBody>
                    <a:bodyPr/>
                    <a:lstStyle/>
                    <a:p>
                      <a:pPr algn="ctr">
                        <a:defRPr sz="1000" b="0">
                          <a:solidFill>
                            <a:srgbClr val="000000"/>
                          </a:solidFill>
                          <a:latin typeface="Montserrat"/>
                        </a:defRPr>
                      </a:pPr>
                      <a:r>
                        <a:t>80</a:t>
                      </a:r>
                    </a:p>
                  </a:txBody>
                  <a:tcPr marL="73152" marR="73152" marT="0" marB="0" anchor="ctr">
                    <a:solidFill>
                      <a:srgbClr val="FFFFFF"/>
                    </a:solidFill>
                  </a:tcPr>
                </a:tc>
                <a:tc>
                  <a:txBody>
                    <a:bodyPr/>
                    <a:lstStyle/>
                    <a:p>
                      <a:pPr algn="ctr">
                        <a:defRPr sz="1000" b="0">
                          <a:solidFill>
                            <a:srgbClr val="000000"/>
                          </a:solidFill>
                          <a:latin typeface="Montserrat"/>
                        </a:defRPr>
                      </a:pPr>
                      <a:r>
                        <a:t>14</a:t>
                      </a:r>
                    </a:p>
                  </a:txBody>
                  <a:tcPr marL="73152" marR="73152" marT="0" marB="0" anchor="ctr">
                    <a:solidFill>
                      <a:srgbClr val="FFFFFF"/>
                    </a:solidFill>
                  </a:tcPr>
                </a:tc>
                <a:tc>
                  <a:txBody>
                    <a:bodyPr/>
                    <a:lstStyle/>
                    <a:p>
                      <a:pPr algn="ctr">
                        <a:defRPr sz="1000" b="0">
                          <a:solidFill>
                            <a:srgbClr val="000000"/>
                          </a:solidFill>
                          <a:latin typeface="Montserrat"/>
                        </a:defRPr>
                      </a:pPr>
                      <a:r>
                        <a:t>0</a:t>
                      </a:r>
                    </a:p>
                  </a:txBody>
                  <a:tcPr marL="73152" marR="73152" marT="0" marB="0" anchor="ctr">
                    <a:solidFill>
                      <a:srgbClr val="FFFFFF"/>
                    </a:solidFill>
                  </a:tcPr>
                </a:tc>
                <a:tc>
                  <a:txBody>
                    <a:bodyPr/>
                    <a:lstStyle/>
                    <a:p>
                      <a:pPr algn="ctr">
                        <a:defRPr sz="1000" b="0">
                          <a:solidFill>
                            <a:srgbClr val="000000"/>
                          </a:solidFill>
                          <a:latin typeface="Montserrat"/>
                        </a:defRPr>
                      </a:pPr>
                      <a:r>
                        <a:t>5</a:t>
                      </a:r>
                    </a:p>
                  </a:txBody>
                  <a:tcPr marL="73152" marR="73152" marT="0" marB="0" anchor="ctr">
                    <a:solidFill>
                      <a:srgbClr val="FFFFFF"/>
                    </a:solidFill>
                  </a:tcPr>
                </a:tc>
                <a:tc>
                  <a:txBody>
                    <a:bodyPr/>
                    <a:lstStyle/>
                    <a:p>
                      <a:pPr algn="ctr">
                        <a:defRPr sz="1000" b="1">
                          <a:solidFill>
                            <a:srgbClr val="006455"/>
                          </a:solidFill>
                          <a:latin typeface="Montserrat"/>
                        </a:defRPr>
                      </a:pPr>
                      <a:r>
                        <a:t>99</a:t>
                      </a:r>
                    </a:p>
                  </a:txBody>
                  <a:tcPr marL="73152" marR="73152" marT="0" marB="0" anchor="ctr">
                    <a:solidFill>
                      <a:srgbClr val="D3E9E7"/>
                    </a:solidFill>
                  </a:tcPr>
                </a:tc>
                <a:extLst>
                  <a:ext uri="{0D108BD9-81ED-4DB2-BD59-A6C34878D82A}">
                    <a16:rowId xmlns:a16="http://schemas.microsoft.com/office/drawing/2014/main" val="10001"/>
                  </a:ext>
                </a:extLst>
              </a:tr>
              <a:tr h="201168">
                <a:tc>
                  <a:txBody>
                    <a:bodyPr/>
                    <a:lstStyle/>
                    <a:p>
                      <a:pPr algn="l">
                        <a:defRPr sz="1100" b="0">
                          <a:solidFill>
                            <a:srgbClr val="000000"/>
                          </a:solidFill>
                          <a:latin typeface="Montserrat"/>
                        </a:defRPr>
                      </a:pPr>
                      <a:r>
                        <a:t>Enfermeras</a:t>
                      </a:r>
                    </a:p>
                  </a:txBody>
                  <a:tcPr marL="73152" marR="73152" marT="0" marB="0" anchor="ctr">
                    <a:solidFill>
                      <a:srgbClr val="EFEFEF"/>
                    </a:solidFill>
                  </a:tcPr>
                </a:tc>
                <a:tc>
                  <a:txBody>
                    <a:bodyPr/>
                    <a:lstStyle/>
                    <a:p>
                      <a:pPr algn="ctr">
                        <a:defRPr sz="1000" b="0">
                          <a:solidFill>
                            <a:srgbClr val="000000"/>
                          </a:solidFill>
                          <a:latin typeface="Montserrat"/>
                        </a:defRPr>
                      </a:pPr>
                      <a:r>
                        <a:t>213</a:t>
                      </a:r>
                    </a:p>
                  </a:txBody>
                  <a:tcPr marL="73152" marR="73152" marT="0" marB="0" anchor="ctr">
                    <a:solidFill>
                      <a:srgbClr val="EFEFEF"/>
                    </a:solidFill>
                  </a:tcPr>
                </a:tc>
                <a:tc>
                  <a:txBody>
                    <a:bodyPr/>
                    <a:lstStyle/>
                    <a:p>
                      <a:pPr algn="ctr">
                        <a:defRPr sz="1000" b="0">
                          <a:solidFill>
                            <a:srgbClr val="000000"/>
                          </a:solidFill>
                          <a:latin typeface="Montserrat"/>
                        </a:defRPr>
                      </a:pPr>
                      <a:r>
                        <a:t>4</a:t>
                      </a:r>
                    </a:p>
                  </a:txBody>
                  <a:tcPr marL="73152" marR="73152" marT="0" marB="0" anchor="ctr">
                    <a:solidFill>
                      <a:srgbClr val="EFEFEF"/>
                    </a:solidFill>
                  </a:tcPr>
                </a:tc>
                <a:tc>
                  <a:txBody>
                    <a:bodyPr/>
                    <a:lstStyle/>
                    <a:p>
                      <a:pPr algn="ctr">
                        <a:defRPr sz="1000" b="0">
                          <a:solidFill>
                            <a:srgbClr val="000000"/>
                          </a:solidFill>
                          <a:latin typeface="Montserrat"/>
                        </a:defRPr>
                      </a:pPr>
                      <a:r>
                        <a:t>1</a:t>
                      </a:r>
                    </a:p>
                  </a:txBody>
                  <a:tcPr marL="73152" marR="73152" marT="0" marB="0" anchor="ctr">
                    <a:solidFill>
                      <a:srgbClr val="EFEFEF"/>
                    </a:solidFill>
                  </a:tcPr>
                </a:tc>
                <a:tc>
                  <a:txBody>
                    <a:bodyPr/>
                    <a:lstStyle/>
                    <a:p>
                      <a:pPr algn="ctr">
                        <a:defRPr sz="1000" b="0">
                          <a:solidFill>
                            <a:srgbClr val="000000"/>
                          </a:solidFill>
                          <a:latin typeface="Montserrat"/>
                        </a:defRPr>
                      </a:pPr>
                      <a:r>
                        <a:t>128</a:t>
                      </a:r>
                    </a:p>
                  </a:txBody>
                  <a:tcPr marL="73152" marR="73152" marT="0" marB="0" anchor="ctr">
                    <a:solidFill>
                      <a:srgbClr val="EFEFEF"/>
                    </a:solidFill>
                  </a:tcPr>
                </a:tc>
                <a:tc>
                  <a:txBody>
                    <a:bodyPr/>
                    <a:lstStyle/>
                    <a:p>
                      <a:pPr algn="ctr">
                        <a:defRPr sz="1000" b="1">
                          <a:solidFill>
                            <a:srgbClr val="006455"/>
                          </a:solidFill>
                          <a:latin typeface="Montserrat"/>
                        </a:defRPr>
                      </a:pPr>
                      <a:r>
                        <a:t>346</a:t>
                      </a:r>
                    </a:p>
                  </a:txBody>
                  <a:tcPr marL="73152" marR="73152" marT="0" marB="0" anchor="ctr">
                    <a:solidFill>
                      <a:srgbClr val="D3E9E7"/>
                    </a:solidFill>
                  </a:tcPr>
                </a:tc>
                <a:extLst>
                  <a:ext uri="{0D108BD9-81ED-4DB2-BD59-A6C34878D82A}">
                    <a16:rowId xmlns:a16="http://schemas.microsoft.com/office/drawing/2014/main" val="10002"/>
                  </a:ext>
                </a:extLst>
              </a:tr>
              <a:tr h="201168">
                <a:tc>
                  <a:txBody>
                    <a:bodyPr/>
                    <a:lstStyle/>
                    <a:p>
                      <a:pPr algn="l">
                        <a:defRPr sz="1100" b="0">
                          <a:solidFill>
                            <a:srgbClr val="000000"/>
                          </a:solidFill>
                          <a:latin typeface="Montserrat"/>
                        </a:defRPr>
                      </a:pPr>
                      <a:r>
                        <a:t>Paramédicos</a:t>
                      </a:r>
                    </a:p>
                  </a:txBody>
                  <a:tcPr marL="73152" marR="73152" marT="0" marB="0" anchor="ctr">
                    <a:solidFill>
                      <a:srgbClr val="FFFFFF"/>
                    </a:solidFill>
                  </a:tcPr>
                </a:tc>
                <a:tc>
                  <a:txBody>
                    <a:bodyPr/>
                    <a:lstStyle/>
                    <a:p>
                      <a:pPr algn="ctr">
                        <a:defRPr sz="1000" b="0">
                          <a:solidFill>
                            <a:srgbClr val="000000"/>
                          </a:solidFill>
                          <a:latin typeface="Montserrat"/>
                        </a:defRPr>
                      </a:pPr>
                      <a:r>
                        <a:t>29</a:t>
                      </a:r>
                    </a:p>
                  </a:txBody>
                  <a:tcPr marL="73152" marR="73152" marT="0" marB="0" anchor="ctr">
                    <a:solidFill>
                      <a:srgbClr val="FFFFFF"/>
                    </a:solidFill>
                  </a:tcPr>
                </a:tc>
                <a:tc>
                  <a:txBody>
                    <a:bodyPr/>
                    <a:lstStyle/>
                    <a:p>
                      <a:pPr algn="ctr">
                        <a:defRPr sz="1000" b="0">
                          <a:solidFill>
                            <a:srgbClr val="000000"/>
                          </a:solidFill>
                          <a:latin typeface="Montserrat"/>
                        </a:defRPr>
                      </a:pPr>
                      <a:r>
                        <a:t>1</a:t>
                      </a:r>
                    </a:p>
                  </a:txBody>
                  <a:tcPr marL="73152" marR="73152" marT="0" marB="0" anchor="ctr">
                    <a:solidFill>
                      <a:srgbClr val="FFFFFF"/>
                    </a:solidFill>
                  </a:tcPr>
                </a:tc>
                <a:tc>
                  <a:txBody>
                    <a:bodyPr/>
                    <a:lstStyle/>
                    <a:p>
                      <a:pPr algn="ctr">
                        <a:defRPr sz="1000" b="0">
                          <a:solidFill>
                            <a:srgbClr val="000000"/>
                          </a:solidFill>
                          <a:latin typeface="Montserrat"/>
                        </a:defRPr>
                      </a:pPr>
                      <a:r>
                        <a:t>2</a:t>
                      </a:r>
                    </a:p>
                  </a:txBody>
                  <a:tcPr marL="73152" marR="73152" marT="0" marB="0" anchor="ctr">
                    <a:solidFill>
                      <a:srgbClr val="FFFFFF"/>
                    </a:solidFill>
                  </a:tcPr>
                </a:tc>
                <a:tc>
                  <a:txBody>
                    <a:bodyPr/>
                    <a:lstStyle/>
                    <a:p>
                      <a:pPr algn="ctr">
                        <a:defRPr sz="1000" b="0">
                          <a:solidFill>
                            <a:srgbClr val="000000"/>
                          </a:solidFill>
                          <a:latin typeface="Montserrat"/>
                        </a:defRPr>
                      </a:pPr>
                      <a:r>
                        <a:t>12</a:t>
                      </a:r>
                    </a:p>
                  </a:txBody>
                  <a:tcPr marL="73152" marR="73152" marT="0" marB="0" anchor="ctr">
                    <a:solidFill>
                      <a:srgbClr val="FFFFFF"/>
                    </a:solidFill>
                  </a:tcPr>
                </a:tc>
                <a:tc>
                  <a:txBody>
                    <a:bodyPr/>
                    <a:lstStyle/>
                    <a:p>
                      <a:pPr algn="ctr">
                        <a:defRPr sz="1000" b="1">
                          <a:solidFill>
                            <a:srgbClr val="006455"/>
                          </a:solidFill>
                          <a:latin typeface="Montserrat"/>
                        </a:defRPr>
                      </a:pPr>
                      <a:r>
                        <a:t>44</a:t>
                      </a:r>
                    </a:p>
                  </a:txBody>
                  <a:tcPr marL="73152" marR="73152" marT="0" marB="0" anchor="ctr">
                    <a:solidFill>
                      <a:srgbClr val="D3E9E7"/>
                    </a:solidFill>
                  </a:tcPr>
                </a:tc>
                <a:extLst>
                  <a:ext uri="{0D108BD9-81ED-4DB2-BD59-A6C34878D82A}">
                    <a16:rowId xmlns:a16="http://schemas.microsoft.com/office/drawing/2014/main" val="10003"/>
                  </a:ext>
                </a:extLst>
              </a:tr>
              <a:tr h="201168">
                <a:tc>
                  <a:txBody>
                    <a:bodyPr/>
                    <a:lstStyle/>
                    <a:p>
                      <a:pPr algn="l">
                        <a:defRPr sz="1100" b="0">
                          <a:solidFill>
                            <a:srgbClr val="000000"/>
                          </a:solidFill>
                          <a:latin typeface="Montserrat"/>
                        </a:defRPr>
                      </a:pPr>
                      <a:r>
                        <a:t>Administrativas</a:t>
                      </a:r>
                    </a:p>
                  </a:txBody>
                  <a:tcPr marL="73152" marR="73152" marT="0" marB="0" anchor="ctr">
                    <a:solidFill>
                      <a:srgbClr val="EFEFEF"/>
                    </a:solidFill>
                  </a:tcPr>
                </a:tc>
                <a:tc>
                  <a:txBody>
                    <a:bodyPr/>
                    <a:lstStyle/>
                    <a:p>
                      <a:pPr algn="ctr">
                        <a:defRPr sz="1000" b="0">
                          <a:solidFill>
                            <a:srgbClr val="000000"/>
                          </a:solidFill>
                          <a:latin typeface="Montserrat"/>
                        </a:defRPr>
                      </a:pPr>
                      <a:r>
                        <a:t>24</a:t>
                      </a:r>
                    </a:p>
                  </a:txBody>
                  <a:tcPr marL="73152" marR="73152" marT="0" marB="0" anchor="ctr">
                    <a:solidFill>
                      <a:srgbClr val="EFEFEF"/>
                    </a:solidFill>
                  </a:tcPr>
                </a:tc>
                <a:tc>
                  <a:txBody>
                    <a:bodyPr/>
                    <a:lstStyle/>
                    <a:p>
                      <a:pPr algn="ctr">
                        <a:defRPr sz="1000" b="0">
                          <a:solidFill>
                            <a:srgbClr val="000000"/>
                          </a:solidFill>
                          <a:latin typeface="Montserrat"/>
                        </a:defRPr>
                      </a:pPr>
                      <a:r>
                        <a:t>11</a:t>
                      </a:r>
                    </a:p>
                  </a:txBody>
                  <a:tcPr marL="73152" marR="73152" marT="0" marB="0" anchor="ctr">
                    <a:solidFill>
                      <a:srgbClr val="EFEFEF"/>
                    </a:solidFill>
                  </a:tcPr>
                </a:tc>
                <a:tc>
                  <a:txBody>
                    <a:bodyPr/>
                    <a:lstStyle/>
                    <a:p>
                      <a:pPr algn="ctr">
                        <a:defRPr sz="1000" b="0">
                          <a:solidFill>
                            <a:srgbClr val="000000"/>
                          </a:solidFill>
                          <a:latin typeface="Montserrat"/>
                        </a:defRPr>
                      </a:pPr>
                      <a:r>
                        <a:t>13</a:t>
                      </a:r>
                    </a:p>
                  </a:txBody>
                  <a:tcPr marL="73152" marR="73152" marT="0" marB="0" anchor="ctr">
                    <a:solidFill>
                      <a:srgbClr val="EFEFEF"/>
                    </a:solidFill>
                  </a:tcPr>
                </a:tc>
                <a:tc>
                  <a:txBody>
                    <a:bodyPr/>
                    <a:lstStyle/>
                    <a:p>
                      <a:pPr algn="ctr">
                        <a:defRPr sz="1000" b="0">
                          <a:solidFill>
                            <a:srgbClr val="000000"/>
                          </a:solidFill>
                          <a:latin typeface="Montserrat"/>
                        </a:defRPr>
                      </a:pPr>
                      <a:r>
                        <a:t>4</a:t>
                      </a:r>
                    </a:p>
                  </a:txBody>
                  <a:tcPr marL="73152" marR="73152" marT="0" marB="0" anchor="ctr">
                    <a:solidFill>
                      <a:srgbClr val="EFEFEF"/>
                    </a:solidFill>
                  </a:tcPr>
                </a:tc>
                <a:tc>
                  <a:txBody>
                    <a:bodyPr/>
                    <a:lstStyle/>
                    <a:p>
                      <a:pPr algn="ctr">
                        <a:defRPr sz="1000" b="1">
                          <a:solidFill>
                            <a:srgbClr val="006455"/>
                          </a:solidFill>
                          <a:latin typeface="Montserrat"/>
                        </a:defRPr>
                      </a:pPr>
                      <a:r>
                        <a:t>52</a:t>
                      </a:r>
                    </a:p>
                  </a:txBody>
                  <a:tcPr marL="73152" marR="73152" marT="0" marB="0" anchor="ctr">
                    <a:solidFill>
                      <a:srgbClr val="D3E9E7"/>
                    </a:solidFill>
                  </a:tcPr>
                </a:tc>
                <a:extLst>
                  <a:ext uri="{0D108BD9-81ED-4DB2-BD59-A6C34878D82A}">
                    <a16:rowId xmlns:a16="http://schemas.microsoft.com/office/drawing/2014/main" val="10004"/>
                  </a:ext>
                </a:extLst>
              </a:tr>
              <a:tr h="201168">
                <a:tc>
                  <a:txBody>
                    <a:bodyPr/>
                    <a:lstStyle/>
                    <a:p>
                      <a:pPr algn="l">
                        <a:defRPr sz="1100" b="0">
                          <a:solidFill>
                            <a:srgbClr val="000000"/>
                          </a:solidFill>
                          <a:latin typeface="Montserrat"/>
                        </a:defRPr>
                      </a:pPr>
                      <a:r>
                        <a:t>Servicios Generales</a:t>
                      </a:r>
                    </a:p>
                  </a:txBody>
                  <a:tcPr marL="73152" marR="73152" marT="0" marB="0" anchor="ctr">
                    <a:solidFill>
                      <a:srgbClr val="FFFFFF"/>
                    </a:solidFill>
                  </a:tcPr>
                </a:tc>
                <a:tc>
                  <a:txBody>
                    <a:bodyPr/>
                    <a:lstStyle/>
                    <a:p>
                      <a:pPr algn="ctr">
                        <a:defRPr sz="1000" b="0">
                          <a:solidFill>
                            <a:srgbClr val="000000"/>
                          </a:solidFill>
                          <a:latin typeface="Montserrat"/>
                        </a:defRPr>
                      </a:pPr>
                      <a:r>
                        <a:t>85</a:t>
                      </a:r>
                    </a:p>
                  </a:txBody>
                  <a:tcPr marL="73152" marR="73152" marT="0" marB="0" anchor="ctr">
                    <a:solidFill>
                      <a:srgbClr val="FFFFFF"/>
                    </a:solidFill>
                  </a:tcPr>
                </a:tc>
                <a:tc>
                  <a:txBody>
                    <a:bodyPr/>
                    <a:lstStyle/>
                    <a:p>
                      <a:pPr algn="ctr">
                        <a:defRPr sz="1000" b="0">
                          <a:solidFill>
                            <a:srgbClr val="000000"/>
                          </a:solidFill>
                          <a:latin typeface="Montserrat"/>
                        </a:defRPr>
                      </a:pPr>
                      <a:r>
                        <a:t>2</a:t>
                      </a:r>
                    </a:p>
                  </a:txBody>
                  <a:tcPr marL="73152" marR="73152" marT="0" marB="0" anchor="ctr">
                    <a:solidFill>
                      <a:srgbClr val="FFFFFF"/>
                    </a:solidFill>
                  </a:tcPr>
                </a:tc>
                <a:tc>
                  <a:txBody>
                    <a:bodyPr/>
                    <a:lstStyle/>
                    <a:p>
                      <a:pPr algn="ctr">
                        <a:defRPr sz="1000" b="0">
                          <a:solidFill>
                            <a:srgbClr val="000000"/>
                          </a:solidFill>
                          <a:latin typeface="Montserrat"/>
                        </a:defRPr>
                      </a:pPr>
                      <a:r>
                        <a:t>9</a:t>
                      </a:r>
                    </a:p>
                  </a:txBody>
                  <a:tcPr marL="73152" marR="73152" marT="0" marB="0" anchor="ctr">
                    <a:solidFill>
                      <a:srgbClr val="FFFFFF"/>
                    </a:solidFill>
                  </a:tcPr>
                </a:tc>
                <a:tc>
                  <a:txBody>
                    <a:bodyPr/>
                    <a:lstStyle/>
                    <a:p>
                      <a:pPr algn="ctr">
                        <a:defRPr sz="1000" b="0">
                          <a:solidFill>
                            <a:srgbClr val="000000"/>
                          </a:solidFill>
                          <a:latin typeface="Montserrat"/>
                        </a:defRPr>
                      </a:pPr>
                      <a:r>
                        <a:t>34</a:t>
                      </a:r>
                    </a:p>
                  </a:txBody>
                  <a:tcPr marL="73152" marR="73152" marT="0" marB="0" anchor="ctr">
                    <a:solidFill>
                      <a:srgbClr val="FFFFFF"/>
                    </a:solidFill>
                  </a:tcPr>
                </a:tc>
                <a:tc>
                  <a:txBody>
                    <a:bodyPr/>
                    <a:lstStyle/>
                    <a:p>
                      <a:pPr algn="ctr">
                        <a:defRPr sz="1000" b="1">
                          <a:solidFill>
                            <a:srgbClr val="006455"/>
                          </a:solidFill>
                          <a:latin typeface="Montserrat"/>
                        </a:defRPr>
                      </a:pPr>
                      <a:r>
                        <a:t>130</a:t>
                      </a:r>
                    </a:p>
                  </a:txBody>
                  <a:tcPr marL="73152" marR="73152" marT="0" marB="0" anchor="ctr">
                    <a:solidFill>
                      <a:srgbClr val="D3E9E7"/>
                    </a:solidFill>
                  </a:tcPr>
                </a:tc>
                <a:extLst>
                  <a:ext uri="{0D108BD9-81ED-4DB2-BD59-A6C34878D82A}">
                    <a16:rowId xmlns:a16="http://schemas.microsoft.com/office/drawing/2014/main" val="10005"/>
                  </a:ext>
                </a:extLst>
              </a:tr>
              <a:tr h="201168">
                <a:tc>
                  <a:txBody>
                    <a:bodyPr/>
                    <a:lstStyle/>
                    <a:p>
                      <a:pPr algn="l">
                        <a:defRPr sz="1100" b="0">
                          <a:solidFill>
                            <a:srgbClr val="000000"/>
                          </a:solidFill>
                          <a:latin typeface="Montserrat"/>
                        </a:defRPr>
                      </a:pPr>
                      <a:r>
                        <a:t>Acción Comunitaria</a:t>
                      </a:r>
                    </a:p>
                  </a:txBody>
                  <a:tcPr marL="73152" marR="73152" marT="0" marB="0" anchor="ctr">
                    <a:solidFill>
                      <a:srgbClr val="EFEFEF"/>
                    </a:solidFill>
                  </a:tcPr>
                </a:tc>
                <a:tc>
                  <a:txBody>
                    <a:bodyPr/>
                    <a:lstStyle/>
                    <a:p>
                      <a:pPr algn="ctr">
                        <a:defRPr sz="1000" b="0">
                          <a:solidFill>
                            <a:srgbClr val="000000"/>
                          </a:solidFill>
                          <a:latin typeface="Montserrat"/>
                        </a:defRPr>
                      </a:pPr>
                      <a:r>
                        <a:t>0</a:t>
                      </a:r>
                    </a:p>
                  </a:txBody>
                  <a:tcPr marL="73152" marR="73152" marT="0" marB="0" anchor="ctr">
                    <a:solidFill>
                      <a:srgbClr val="EFEFEF"/>
                    </a:solidFill>
                  </a:tcPr>
                </a:tc>
                <a:tc>
                  <a:txBody>
                    <a:bodyPr/>
                    <a:lstStyle/>
                    <a:p>
                      <a:pPr algn="ctr">
                        <a:defRPr sz="1000" b="0">
                          <a:solidFill>
                            <a:srgbClr val="000000"/>
                          </a:solidFill>
                          <a:latin typeface="Montserrat"/>
                        </a:defRPr>
                      </a:pPr>
                      <a:r>
                        <a:t>6</a:t>
                      </a:r>
                    </a:p>
                  </a:txBody>
                  <a:tcPr marL="73152" marR="73152" marT="0" marB="0" anchor="ctr">
                    <a:solidFill>
                      <a:srgbClr val="EFEFEF"/>
                    </a:solidFill>
                  </a:tcPr>
                </a:tc>
                <a:tc>
                  <a:txBody>
                    <a:bodyPr/>
                    <a:lstStyle/>
                    <a:p>
                      <a:pPr algn="ctr">
                        <a:defRPr sz="1000" b="0">
                          <a:solidFill>
                            <a:srgbClr val="000000"/>
                          </a:solidFill>
                          <a:latin typeface="Montserrat"/>
                        </a:defRPr>
                      </a:pPr>
                      <a:r>
                        <a:t>3</a:t>
                      </a:r>
                    </a:p>
                  </a:txBody>
                  <a:tcPr marL="73152" marR="73152" marT="0" marB="0" anchor="ctr">
                    <a:solidFill>
                      <a:srgbClr val="EFEFEF"/>
                    </a:solidFill>
                  </a:tcPr>
                </a:tc>
                <a:tc>
                  <a:txBody>
                    <a:bodyPr/>
                    <a:lstStyle/>
                    <a:p>
                      <a:pPr algn="ctr">
                        <a:defRPr sz="1000" b="0">
                          <a:solidFill>
                            <a:srgbClr val="000000"/>
                          </a:solidFill>
                          <a:latin typeface="Montserrat"/>
                        </a:defRPr>
                      </a:pPr>
                      <a:r>
                        <a:t>0</a:t>
                      </a:r>
                    </a:p>
                  </a:txBody>
                  <a:tcPr marL="73152" marR="73152" marT="0" marB="0" anchor="ctr">
                    <a:solidFill>
                      <a:srgbClr val="EFEFEF"/>
                    </a:solidFill>
                  </a:tcPr>
                </a:tc>
                <a:tc>
                  <a:txBody>
                    <a:bodyPr/>
                    <a:lstStyle/>
                    <a:p>
                      <a:pPr algn="ctr">
                        <a:defRPr sz="1000" b="1">
                          <a:solidFill>
                            <a:srgbClr val="006455"/>
                          </a:solidFill>
                          <a:latin typeface="Montserrat"/>
                        </a:defRPr>
                      </a:pPr>
                      <a:r>
                        <a:t>9</a:t>
                      </a:r>
                    </a:p>
                  </a:txBody>
                  <a:tcPr marL="73152" marR="73152" marT="0" marB="0" anchor="ctr">
                    <a:solidFill>
                      <a:srgbClr val="D3E9E7"/>
                    </a:solidFill>
                  </a:tcPr>
                </a:tc>
                <a:extLst>
                  <a:ext uri="{0D108BD9-81ED-4DB2-BD59-A6C34878D82A}">
                    <a16:rowId xmlns:a16="http://schemas.microsoft.com/office/drawing/2014/main" val="10006"/>
                  </a:ext>
                </a:extLst>
              </a:tr>
              <a:tr h="201168">
                <a:tc>
                  <a:txBody>
                    <a:bodyPr/>
                    <a:lstStyle/>
                    <a:p>
                      <a:pPr algn="l">
                        <a:defRPr sz="1100" b="1">
                          <a:solidFill>
                            <a:srgbClr val="006455"/>
                          </a:solidFill>
                          <a:latin typeface="Montserrat"/>
                        </a:defRPr>
                      </a:pPr>
                      <a:r>
                        <a:t>Total</a:t>
                      </a:r>
                    </a:p>
                  </a:txBody>
                  <a:tcPr marL="73152" marR="73152" marT="0" marB="0" anchor="ctr">
                    <a:solidFill>
                      <a:srgbClr val="D3E9E7"/>
                    </a:solidFill>
                  </a:tcPr>
                </a:tc>
                <a:tc>
                  <a:txBody>
                    <a:bodyPr/>
                    <a:lstStyle/>
                    <a:p>
                      <a:pPr algn="ctr">
                        <a:defRPr sz="1000" b="1">
                          <a:solidFill>
                            <a:srgbClr val="006455"/>
                          </a:solidFill>
                          <a:latin typeface="Montserrat"/>
                        </a:defRPr>
                      </a:pPr>
                      <a:r>
                        <a:t>431</a:t>
                      </a:r>
                    </a:p>
                  </a:txBody>
                  <a:tcPr marL="73152" marR="73152" marT="0" marB="0" anchor="ctr">
                    <a:solidFill>
                      <a:srgbClr val="D3E9E7"/>
                    </a:solidFill>
                  </a:tcPr>
                </a:tc>
                <a:tc>
                  <a:txBody>
                    <a:bodyPr/>
                    <a:lstStyle/>
                    <a:p>
                      <a:pPr algn="ctr">
                        <a:defRPr sz="1000" b="1">
                          <a:solidFill>
                            <a:srgbClr val="006455"/>
                          </a:solidFill>
                          <a:latin typeface="Montserrat"/>
                        </a:defRPr>
                      </a:pPr>
                      <a:r>
                        <a:t>38</a:t>
                      </a:r>
                    </a:p>
                  </a:txBody>
                  <a:tcPr marL="73152" marR="73152" marT="0" marB="0" anchor="ctr">
                    <a:solidFill>
                      <a:srgbClr val="D3E9E7"/>
                    </a:solidFill>
                  </a:tcPr>
                </a:tc>
                <a:tc>
                  <a:txBody>
                    <a:bodyPr/>
                    <a:lstStyle/>
                    <a:p>
                      <a:pPr algn="ctr">
                        <a:defRPr sz="1000" b="1">
                          <a:solidFill>
                            <a:srgbClr val="006455"/>
                          </a:solidFill>
                          <a:latin typeface="Montserrat"/>
                        </a:defRPr>
                      </a:pPr>
                      <a:r>
                        <a:t>28</a:t>
                      </a:r>
                    </a:p>
                  </a:txBody>
                  <a:tcPr marL="73152" marR="73152" marT="0" marB="0" anchor="ctr">
                    <a:solidFill>
                      <a:srgbClr val="D3E9E7"/>
                    </a:solidFill>
                  </a:tcPr>
                </a:tc>
                <a:tc>
                  <a:txBody>
                    <a:bodyPr/>
                    <a:lstStyle/>
                    <a:p>
                      <a:pPr algn="ctr">
                        <a:defRPr sz="1000" b="1">
                          <a:solidFill>
                            <a:srgbClr val="006455"/>
                          </a:solidFill>
                          <a:latin typeface="Montserrat"/>
                        </a:defRPr>
                      </a:pPr>
                      <a:r>
                        <a:t>183</a:t>
                      </a:r>
                    </a:p>
                  </a:txBody>
                  <a:tcPr marL="73152" marR="73152" marT="0" marB="0" anchor="ctr">
                    <a:solidFill>
                      <a:srgbClr val="D3E9E7"/>
                    </a:solidFill>
                  </a:tcPr>
                </a:tc>
                <a:tc>
                  <a:txBody>
                    <a:bodyPr/>
                    <a:lstStyle/>
                    <a:p>
                      <a:pPr algn="ctr">
                        <a:defRPr sz="1000" b="1">
                          <a:solidFill>
                            <a:srgbClr val="006455"/>
                          </a:solidFill>
                          <a:latin typeface="Montserrat"/>
                        </a:defRPr>
                      </a:pPr>
                      <a:r>
                        <a:t>680</a:t>
                      </a:r>
                    </a:p>
                  </a:txBody>
                  <a:tcPr marL="73152" marR="73152" marT="0" marB="0" anchor="ctr">
                    <a:solidFill>
                      <a:srgbClr val="D3E9E7"/>
                    </a:solidFill>
                  </a:tcPr>
                </a:tc>
                <a:extLst>
                  <a:ext uri="{0D108BD9-81ED-4DB2-BD59-A6C34878D82A}">
                    <a16:rowId xmlns:a16="http://schemas.microsoft.com/office/drawing/2014/main" val="10007"/>
                  </a:ext>
                </a:extLst>
              </a:tr>
            </a:tbl>
          </a:graphicData>
        </a:graphic>
      </p:graphicFrame>
      <p:graphicFrame>
        <p:nvGraphicFramePr>
          <p:cNvPr id="536" name="Table 535"/>
          <p:cNvGraphicFramePr>
            <a:graphicFrameLocks noGrp="1"/>
          </p:cNvGraphicFramePr>
          <p:nvPr>
            <p:extLst>
              <p:ext uri="{D42A27DB-BD31-4B8C-83A1-F6EECF244321}">
                <p14:modId xmlns:p14="http://schemas.microsoft.com/office/powerpoint/2010/main" val="1380215518"/>
              </p:ext>
            </p:extLst>
          </p:nvPr>
        </p:nvGraphicFramePr>
        <p:xfrm>
          <a:off x="309600" y="8148444"/>
          <a:ext cx="7004303" cy="714756"/>
        </p:xfrm>
        <a:graphic>
          <a:graphicData uri="http://schemas.openxmlformats.org/drawingml/2006/table">
            <a:tbl>
              <a:tblPr firstRow="1" bandRow="1">
                <a:tableStyleId>{5C22544A-7EE6-4342-B048-85BDC9FD1C3A}</a:tableStyleId>
              </a:tblPr>
              <a:tblGrid>
                <a:gridCol w="996696">
                  <a:extLst>
                    <a:ext uri="{9D8B030D-6E8A-4147-A177-3AD203B41FA5}">
                      <a16:colId xmlns:a16="http://schemas.microsoft.com/office/drawing/2014/main" val="20000"/>
                    </a:ext>
                  </a:extLst>
                </a:gridCol>
                <a:gridCol w="996696">
                  <a:extLst>
                    <a:ext uri="{9D8B030D-6E8A-4147-A177-3AD203B41FA5}">
                      <a16:colId xmlns:a16="http://schemas.microsoft.com/office/drawing/2014/main" val="20001"/>
                    </a:ext>
                  </a:extLst>
                </a:gridCol>
                <a:gridCol w="832104">
                  <a:extLst>
                    <a:ext uri="{9D8B030D-6E8A-4147-A177-3AD203B41FA5}">
                      <a16:colId xmlns:a16="http://schemas.microsoft.com/office/drawing/2014/main" val="20002"/>
                    </a:ext>
                  </a:extLst>
                </a:gridCol>
                <a:gridCol w="1060704">
                  <a:extLst>
                    <a:ext uri="{9D8B030D-6E8A-4147-A177-3AD203B41FA5}">
                      <a16:colId xmlns:a16="http://schemas.microsoft.com/office/drawing/2014/main" val="20003"/>
                    </a:ext>
                  </a:extLst>
                </a:gridCol>
                <a:gridCol w="969264">
                  <a:extLst>
                    <a:ext uri="{9D8B030D-6E8A-4147-A177-3AD203B41FA5}">
                      <a16:colId xmlns:a16="http://schemas.microsoft.com/office/drawing/2014/main" val="20004"/>
                    </a:ext>
                  </a:extLst>
                </a:gridCol>
                <a:gridCol w="1042415">
                  <a:extLst>
                    <a:ext uri="{9D8B030D-6E8A-4147-A177-3AD203B41FA5}">
                      <a16:colId xmlns:a16="http://schemas.microsoft.com/office/drawing/2014/main" val="20005"/>
                    </a:ext>
                  </a:extLst>
                </a:gridCol>
                <a:gridCol w="1106424">
                  <a:extLst>
                    <a:ext uri="{9D8B030D-6E8A-4147-A177-3AD203B41FA5}">
                      <a16:colId xmlns:a16="http://schemas.microsoft.com/office/drawing/2014/main" val="20006"/>
                    </a:ext>
                  </a:extLst>
                </a:gridCol>
              </a:tblGrid>
              <a:tr h="306324">
                <a:tc>
                  <a:txBody>
                    <a:bodyPr/>
                    <a:lstStyle/>
                    <a:p>
                      <a:pPr algn="ctr">
                        <a:defRPr sz="1100" b="1">
                          <a:solidFill>
                            <a:srgbClr val="FFFFFF"/>
                          </a:solidFill>
                          <a:latin typeface="Montserrat"/>
                        </a:defRPr>
                      </a:pPr>
                      <a:r>
                        <a:rPr lang="es-MX"/>
                        <a:t>Concepto</a:t>
                      </a:r>
                      <a:endParaRPr/>
                    </a:p>
                  </a:txBody>
                  <a:tcPr marL="36576" marR="36576" marT="36576" marB="36576">
                    <a:solidFill>
                      <a:srgbClr val="006455"/>
                    </a:solidFill>
                  </a:tcPr>
                </a:tc>
                <a:tc>
                  <a:txBody>
                    <a:bodyPr/>
                    <a:lstStyle/>
                    <a:p>
                      <a:pPr algn="ctr">
                        <a:defRPr sz="1100" b="1">
                          <a:solidFill>
                            <a:srgbClr val="FFFFFF"/>
                          </a:solidFill>
                          <a:latin typeface="Montserrat"/>
                        </a:defRPr>
                      </a:pPr>
                      <a:r>
                        <a:t>Voluntarios Rurales</a:t>
                      </a:r>
                    </a:p>
                  </a:txBody>
                  <a:tcPr marL="36576" marR="36576" marT="36576" marB="36576">
                    <a:solidFill>
                      <a:srgbClr val="006455"/>
                    </a:solidFill>
                  </a:tcPr>
                </a:tc>
                <a:tc>
                  <a:txBody>
                    <a:bodyPr/>
                    <a:lstStyle/>
                    <a:p>
                      <a:pPr algn="ctr">
                        <a:defRPr sz="1100" b="1">
                          <a:solidFill>
                            <a:srgbClr val="FFFFFF"/>
                          </a:solidFill>
                          <a:latin typeface="Montserrat"/>
                        </a:defRPr>
                      </a:pPr>
                      <a:r>
                        <a:rPr err="1"/>
                        <a:t>Comités</a:t>
                      </a:r>
                      <a:r>
                        <a:t> de Salud</a:t>
                      </a:r>
                    </a:p>
                  </a:txBody>
                  <a:tcPr marL="36576" marR="36576" marT="36576" marB="36576">
                    <a:solidFill>
                      <a:srgbClr val="006455"/>
                    </a:solidFill>
                  </a:tcPr>
                </a:tc>
                <a:tc>
                  <a:txBody>
                    <a:bodyPr/>
                    <a:lstStyle/>
                    <a:p>
                      <a:pPr algn="ctr">
                        <a:defRPr sz="1100" b="1">
                          <a:solidFill>
                            <a:srgbClr val="FFFFFF"/>
                          </a:solidFill>
                          <a:latin typeface="Montserrat"/>
                        </a:defRPr>
                      </a:pPr>
                      <a:r>
                        <a:t>Integrantes de Comités</a:t>
                      </a:r>
                    </a:p>
                  </a:txBody>
                  <a:tcPr marL="36576" marR="36576" marT="36576" marB="36576">
                    <a:solidFill>
                      <a:srgbClr val="006455"/>
                    </a:solidFill>
                  </a:tcPr>
                </a:tc>
                <a:tc>
                  <a:txBody>
                    <a:bodyPr/>
                    <a:lstStyle/>
                    <a:p>
                      <a:pPr algn="ctr">
                        <a:defRPr sz="1100" b="1">
                          <a:solidFill>
                            <a:srgbClr val="FFFFFF"/>
                          </a:solidFill>
                          <a:latin typeface="Montserrat"/>
                        </a:defRPr>
                      </a:pPr>
                      <a:r>
                        <a:t>Voluntarios</a:t>
                      </a:r>
                    </a:p>
                  </a:txBody>
                  <a:tcPr marL="36576" marR="36576" marT="36576" marB="36576">
                    <a:solidFill>
                      <a:srgbClr val="006455"/>
                    </a:solidFill>
                  </a:tcPr>
                </a:tc>
                <a:tc>
                  <a:txBody>
                    <a:bodyPr/>
                    <a:lstStyle/>
                    <a:p>
                      <a:pPr algn="ctr">
                        <a:defRPr sz="1100" b="1">
                          <a:solidFill>
                            <a:srgbClr val="FFFFFF"/>
                          </a:solidFill>
                          <a:latin typeface="Montserrat"/>
                        </a:defRPr>
                      </a:pPr>
                      <a:r>
                        <a:t>Parteras Voluntarias</a:t>
                      </a:r>
                    </a:p>
                  </a:txBody>
                  <a:tcPr marL="36576" marR="36576" marT="36576" marB="36576">
                    <a:solidFill>
                      <a:srgbClr val="006455"/>
                    </a:solidFill>
                  </a:tcPr>
                </a:tc>
                <a:tc>
                  <a:txBody>
                    <a:bodyPr/>
                    <a:lstStyle/>
                    <a:p>
                      <a:pPr algn="ctr">
                        <a:defRPr sz="1100" b="1">
                          <a:solidFill>
                            <a:srgbClr val="FFFFFF"/>
                          </a:solidFill>
                          <a:latin typeface="Montserrat"/>
                        </a:defRPr>
                      </a:pPr>
                      <a:r>
                        <a:t>Médicos Tradicionales</a:t>
                      </a:r>
                    </a:p>
                  </a:txBody>
                  <a:tcPr marL="36576" marR="36576" marT="36576" marB="36576">
                    <a:solidFill>
                      <a:srgbClr val="006455"/>
                    </a:solidFill>
                  </a:tcPr>
                </a:tc>
                <a:extLst>
                  <a:ext uri="{0D108BD9-81ED-4DB2-BD59-A6C34878D82A}">
                    <a16:rowId xmlns:a16="http://schemas.microsoft.com/office/drawing/2014/main" val="10000"/>
                  </a:ext>
                </a:extLst>
              </a:tr>
              <a:tr h="306324">
                <a:tc>
                  <a:txBody>
                    <a:bodyPr/>
                    <a:lstStyle/>
                    <a:p>
                      <a:pPr algn="l">
                        <a:defRPr sz="1000" b="1">
                          <a:solidFill>
                            <a:srgbClr val="006455"/>
                          </a:solidFill>
                          <a:latin typeface="Montserrat"/>
                        </a:defRPr>
                      </a:pPr>
                      <a:r>
                        <a:t>Total Programa</a:t>
                      </a:r>
                    </a:p>
                  </a:txBody>
                  <a:tcPr marL="73152" marR="73152" marT="0" marB="0" anchor="ctr">
                    <a:solidFill>
                      <a:srgbClr val="D3E9E7"/>
                    </a:solidFill>
                  </a:tcPr>
                </a:tc>
                <a:tc>
                  <a:txBody>
                    <a:bodyPr/>
                    <a:lstStyle/>
                    <a:p>
                      <a:pPr algn="ctr">
                        <a:defRPr sz="1000" b="1">
                          <a:solidFill>
                            <a:srgbClr val="006455"/>
                          </a:solidFill>
                          <a:latin typeface="Montserrat"/>
                        </a:defRPr>
                      </a:pPr>
                      <a:r>
                        <a:t>322</a:t>
                      </a:r>
                    </a:p>
                  </a:txBody>
                  <a:tcPr marL="73152" marR="73152" marT="0" marB="0" anchor="ctr">
                    <a:solidFill>
                      <a:srgbClr val="D3E9E7"/>
                    </a:solidFill>
                  </a:tcPr>
                </a:tc>
                <a:tc>
                  <a:txBody>
                    <a:bodyPr/>
                    <a:lstStyle/>
                    <a:p>
                      <a:pPr algn="ctr">
                        <a:defRPr sz="1000" b="1">
                          <a:solidFill>
                            <a:srgbClr val="006455"/>
                          </a:solidFill>
                          <a:latin typeface="Montserrat"/>
                        </a:defRPr>
                      </a:pPr>
                      <a:r>
                        <a:t>358</a:t>
                      </a:r>
                    </a:p>
                  </a:txBody>
                  <a:tcPr marL="73152" marR="73152" marT="0" marB="0" anchor="ctr">
                    <a:solidFill>
                      <a:srgbClr val="D3E9E7"/>
                    </a:solidFill>
                  </a:tcPr>
                </a:tc>
                <a:tc>
                  <a:txBody>
                    <a:bodyPr/>
                    <a:lstStyle/>
                    <a:p>
                      <a:pPr algn="ctr">
                        <a:defRPr sz="1000" b="1">
                          <a:solidFill>
                            <a:srgbClr val="006455"/>
                          </a:solidFill>
                          <a:latin typeface="Montserrat"/>
                        </a:defRPr>
                      </a:pPr>
                      <a:r>
                        <a:t>2,180</a:t>
                      </a:r>
                    </a:p>
                  </a:txBody>
                  <a:tcPr marL="73152" marR="73152" marT="0" marB="0" anchor="ctr">
                    <a:solidFill>
                      <a:srgbClr val="D3E9E7"/>
                    </a:solidFill>
                  </a:tcPr>
                </a:tc>
                <a:tc>
                  <a:txBody>
                    <a:bodyPr/>
                    <a:lstStyle/>
                    <a:p>
                      <a:pPr algn="ctr">
                        <a:defRPr sz="1000" b="1">
                          <a:solidFill>
                            <a:srgbClr val="006455"/>
                          </a:solidFill>
                          <a:latin typeface="Montserrat"/>
                        </a:defRPr>
                      </a:pPr>
                      <a:r>
                        <a:t>2,647</a:t>
                      </a:r>
                    </a:p>
                  </a:txBody>
                  <a:tcPr marL="73152" marR="73152" marT="0" marB="0" anchor="ctr">
                    <a:solidFill>
                      <a:srgbClr val="D3E9E7"/>
                    </a:solidFill>
                  </a:tcPr>
                </a:tc>
                <a:tc>
                  <a:txBody>
                    <a:bodyPr/>
                    <a:lstStyle/>
                    <a:p>
                      <a:pPr algn="ctr">
                        <a:defRPr sz="1000" b="1">
                          <a:solidFill>
                            <a:srgbClr val="006455"/>
                          </a:solidFill>
                          <a:latin typeface="Montserrat"/>
                        </a:defRPr>
                      </a:pPr>
                      <a:r>
                        <a:t>0</a:t>
                      </a:r>
                    </a:p>
                  </a:txBody>
                  <a:tcPr marL="73152" marR="73152" marT="0" marB="0" anchor="ctr">
                    <a:solidFill>
                      <a:srgbClr val="D3E9E7"/>
                    </a:solidFill>
                  </a:tcPr>
                </a:tc>
                <a:tc>
                  <a:txBody>
                    <a:bodyPr/>
                    <a:lstStyle/>
                    <a:p>
                      <a:pPr algn="ctr">
                        <a:defRPr sz="1000" b="1">
                          <a:solidFill>
                            <a:srgbClr val="006455"/>
                          </a:solidFill>
                          <a:latin typeface="Montserrat"/>
                        </a:defRPr>
                      </a:pPr>
                      <a:r>
                        <a:t>0</a:t>
                      </a:r>
                    </a:p>
                  </a:txBody>
                  <a:tcPr marL="73152" marR="73152" marT="0" marB="0" anchor="ctr">
                    <a:solidFill>
                      <a:srgbClr val="D3E9E7"/>
                    </a:solidFill>
                  </a:tcPr>
                </a:tc>
                <a:extLst>
                  <a:ext uri="{0D108BD9-81ED-4DB2-BD59-A6C34878D82A}">
                    <a16:rowId xmlns:a16="http://schemas.microsoft.com/office/drawing/2014/main" val="10001"/>
                  </a:ext>
                </a:extLst>
              </a:tr>
            </a:tbl>
          </a:graphicData>
        </a:graphic>
      </p:graphicFrame>
      <p:sp>
        <p:nvSpPr>
          <p:cNvPr id="537" name="Rounded Rectangle 536"/>
          <p:cNvSpPr/>
          <p:nvPr/>
        </p:nvSpPr>
        <p:spPr>
          <a:xfrm rot="16200000">
            <a:off x="5648400" y="-93600"/>
            <a:ext cx="7920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38" name="Connector 537"/>
          <p:cNvCxnSpPr/>
          <p:nvPr/>
        </p:nvCxnSpPr>
        <p:spPr>
          <a:xfrm>
            <a:off x="6213600" y="1353600"/>
            <a:ext cx="0" cy="5760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39" name="TextBox 538"/>
          <p:cNvSpPr txBox="1"/>
          <p:nvPr/>
        </p:nvSpPr>
        <p:spPr>
          <a:xfrm>
            <a:off x="4478400" y="1429200"/>
            <a:ext cx="1645200" cy="500399"/>
          </a:xfrm>
          <a:prstGeom prst="rect">
            <a:avLst/>
          </a:prstGeom>
          <a:noFill/>
        </p:spPr>
        <p:txBody>
          <a:bodyPr wrap="none">
            <a:spAutoFit/>
          </a:bodyPr>
          <a:lstStyle/>
          <a:p>
            <a:pPr algn="ctr">
              <a:defRPr sz="2000" b="1">
                <a:solidFill>
                  <a:srgbClr val="A08250"/>
                </a:solidFill>
                <a:latin typeface="Montserrat"/>
              </a:defRPr>
            </a:pPr>
            <a:r>
              <a:t>257,089</a:t>
            </a:r>
          </a:p>
          <a:p>
            <a:pPr algn="ctr">
              <a:defRPr sz="1000">
                <a:solidFill>
                  <a:srgbClr val="A08250"/>
                </a:solidFill>
                <a:latin typeface="Montserrat"/>
              </a:defRPr>
            </a:pPr>
            <a:r>
              <a:t>Población beneficiaria</a:t>
            </a:r>
          </a:p>
        </p:txBody>
      </p:sp>
      <p:sp>
        <p:nvSpPr>
          <p:cNvPr id="540" name="TextBox 539"/>
          <p:cNvSpPr txBox="1"/>
          <p:nvPr/>
        </p:nvSpPr>
        <p:spPr>
          <a:xfrm>
            <a:off x="6393600" y="1195200"/>
            <a:ext cx="1137600" cy="500399"/>
          </a:xfrm>
          <a:prstGeom prst="rect">
            <a:avLst/>
          </a:prstGeom>
          <a:noFill/>
        </p:spPr>
        <p:txBody>
          <a:bodyPr wrap="none">
            <a:spAutoFit/>
          </a:bodyPr>
          <a:lstStyle/>
          <a:p>
            <a:pPr algn="ctr">
              <a:defRPr sz="1500" b="1">
                <a:solidFill>
                  <a:srgbClr val="A08250"/>
                </a:solidFill>
                <a:latin typeface="Montserrat"/>
              </a:defRPr>
            </a:pPr>
            <a:r>
              <a:t>174,322</a:t>
            </a:r>
          </a:p>
          <a:p>
            <a:pPr algn="ctr">
              <a:defRPr sz="1000">
                <a:solidFill>
                  <a:srgbClr val="A08250"/>
                </a:solidFill>
                <a:latin typeface="Montserrat"/>
              </a:defRPr>
            </a:pPr>
            <a:r>
              <a:t>Derechohabiente</a:t>
            </a:r>
          </a:p>
        </p:txBody>
      </p:sp>
      <p:sp>
        <p:nvSpPr>
          <p:cNvPr id="541" name="TextBox 540"/>
          <p:cNvSpPr txBox="1"/>
          <p:nvPr/>
        </p:nvSpPr>
        <p:spPr>
          <a:xfrm>
            <a:off x="5443200" y="1602000"/>
            <a:ext cx="2998800" cy="370800"/>
          </a:xfrm>
          <a:prstGeom prst="rect">
            <a:avLst/>
          </a:prstGeom>
          <a:noFill/>
        </p:spPr>
        <p:txBody>
          <a:bodyPr wrap="none">
            <a:spAutoFit/>
          </a:bodyPr>
          <a:lstStyle/>
          <a:p>
            <a:pPr algn="ctr">
              <a:defRPr sz="1500" b="1">
                <a:solidFill>
                  <a:srgbClr val="A08250"/>
                </a:solidFill>
                <a:latin typeface="Montserrat"/>
              </a:defRPr>
            </a:pPr>
            <a:r>
              <a:t>82,767</a:t>
            </a:r>
          </a:p>
          <a:p>
            <a:pPr algn="ctr">
              <a:defRPr sz="1000">
                <a:solidFill>
                  <a:srgbClr val="A08250"/>
                </a:solidFill>
                <a:latin typeface="Montserrat"/>
              </a:defRPr>
            </a:pPr>
            <a:r>
              <a:t>Población abierta</a:t>
            </a:r>
          </a:p>
        </p:txBody>
      </p:sp>
      <p:sp>
        <p:nvSpPr>
          <p:cNvPr id="542" name="Rounded Rectangle 541"/>
          <p:cNvSpPr/>
          <p:nvPr/>
        </p:nvSpPr>
        <p:spPr>
          <a:xfrm rot="16200000">
            <a:off x="5652000" y="802800"/>
            <a:ext cx="7632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43" name="Connector 542"/>
          <p:cNvCxnSpPr/>
          <p:nvPr/>
        </p:nvCxnSpPr>
        <p:spPr>
          <a:xfrm>
            <a:off x="6213600" y="2224800"/>
            <a:ext cx="0" cy="5256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44" name="TextBox 543"/>
          <p:cNvSpPr txBox="1"/>
          <p:nvPr/>
        </p:nvSpPr>
        <p:spPr>
          <a:xfrm>
            <a:off x="4672800" y="2289600"/>
            <a:ext cx="1198800" cy="432000"/>
          </a:xfrm>
          <a:prstGeom prst="rect">
            <a:avLst/>
          </a:prstGeom>
          <a:noFill/>
        </p:spPr>
        <p:txBody>
          <a:bodyPr wrap="none">
            <a:spAutoFit/>
          </a:bodyPr>
          <a:lstStyle/>
          <a:p>
            <a:pPr algn="ctr">
              <a:defRPr sz="2000" b="1">
                <a:solidFill>
                  <a:srgbClr val="A08250"/>
                </a:solidFill>
                <a:latin typeface="Montserrat"/>
              </a:defRPr>
            </a:pPr>
            <a:r>
              <a:t>0</a:t>
            </a:r>
          </a:p>
        </p:txBody>
      </p:sp>
      <p:sp>
        <p:nvSpPr>
          <p:cNvPr id="545" name="TextBox 544"/>
          <p:cNvSpPr txBox="1"/>
          <p:nvPr/>
        </p:nvSpPr>
        <p:spPr>
          <a:xfrm>
            <a:off x="6501600" y="2163600"/>
            <a:ext cx="1007999" cy="500399"/>
          </a:xfrm>
          <a:prstGeom prst="rect">
            <a:avLst/>
          </a:prstGeom>
          <a:noFill/>
        </p:spPr>
        <p:txBody>
          <a:bodyPr wrap="square">
            <a:spAutoFit/>
          </a:bodyPr>
          <a:lstStyle/>
          <a:p>
            <a:pPr algn="ctr">
              <a:defRPr sz="1000" b="1">
                <a:solidFill>
                  <a:srgbClr val="A08250"/>
                </a:solidFill>
                <a:latin typeface="Montserrat"/>
              </a:defRPr>
            </a:pPr>
            <a:r>
              <a:t>Población en localidades indígenas</a:t>
            </a:r>
          </a:p>
        </p:txBody>
      </p:sp>
      <p:sp>
        <p:nvSpPr>
          <p:cNvPr id="546" name="Rounded Rectangle 545"/>
          <p:cNvSpPr/>
          <p:nvPr/>
        </p:nvSpPr>
        <p:spPr>
          <a:xfrm>
            <a:off x="5608800" y="32904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7" name="TextBox 546"/>
          <p:cNvSpPr txBox="1"/>
          <p:nvPr/>
        </p:nvSpPr>
        <p:spPr>
          <a:xfrm>
            <a:off x="5608800" y="3290400"/>
            <a:ext cx="2163600" cy="684000"/>
          </a:xfrm>
          <a:prstGeom prst="rect">
            <a:avLst/>
          </a:prstGeom>
          <a:noFill/>
        </p:spPr>
        <p:txBody>
          <a:bodyPr wrap="none">
            <a:spAutoFit/>
          </a:bodyPr>
          <a:lstStyle/>
          <a:p>
            <a:pPr algn="ctr">
              <a:defRPr sz="2600" b="1">
                <a:solidFill>
                  <a:srgbClr val="FFFFFF"/>
                </a:solidFill>
                <a:latin typeface="Montserrat"/>
              </a:defRPr>
            </a:pPr>
            <a:r>
              <a:t>365,157</a:t>
            </a:r>
          </a:p>
          <a:p>
            <a:pPr algn="ctr">
              <a:defRPr sz="1600">
                <a:solidFill>
                  <a:srgbClr val="CFC48C"/>
                </a:solidFill>
                <a:latin typeface="Montserrat"/>
              </a:defRPr>
            </a:pPr>
            <a:r>
              <a:t>consultas anuales</a:t>
            </a:r>
          </a:p>
        </p:txBody>
      </p:sp>
      <p:sp>
        <p:nvSpPr>
          <p:cNvPr id="548" name="Rounded Rectangle 547"/>
          <p:cNvSpPr/>
          <p:nvPr/>
        </p:nvSpPr>
        <p:spPr>
          <a:xfrm>
            <a:off x="5608800" y="42120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9" name="TextBox 548"/>
          <p:cNvSpPr txBox="1"/>
          <p:nvPr/>
        </p:nvSpPr>
        <p:spPr>
          <a:xfrm>
            <a:off x="5608800" y="4212000"/>
            <a:ext cx="2163600" cy="684000"/>
          </a:xfrm>
          <a:prstGeom prst="rect">
            <a:avLst/>
          </a:prstGeom>
          <a:noFill/>
        </p:spPr>
        <p:txBody>
          <a:bodyPr wrap="none">
            <a:spAutoFit/>
          </a:bodyPr>
          <a:lstStyle/>
          <a:p>
            <a:pPr algn="ctr">
              <a:defRPr sz="2600" b="1">
                <a:solidFill>
                  <a:srgbClr val="FFFFFF"/>
                </a:solidFill>
                <a:latin typeface="Montserrat"/>
              </a:defRPr>
            </a:pPr>
            <a:r>
              <a:t>1,904</a:t>
            </a:r>
          </a:p>
          <a:p>
            <a:pPr algn="ctr">
              <a:defRPr sz="1600">
                <a:solidFill>
                  <a:srgbClr val="CFC48C"/>
                </a:solidFill>
                <a:latin typeface="Montserrat"/>
              </a:defRPr>
            </a:pPr>
            <a:r>
              <a:t>cirugías anuales</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29</Slides>
  <Notes>20</Notes>
  <HiddenSlides>0</HiddenSlide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revision>1</cp:revision>
  <dcterms:modified xsi:type="dcterms:W3CDTF">2026-07-03T23:15:47Z</dcterms:modified>
</cp:coreProperties>
</file>