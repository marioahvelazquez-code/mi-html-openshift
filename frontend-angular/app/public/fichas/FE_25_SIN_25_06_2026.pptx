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9.xml" ContentType="application/vnd.openxmlformats-officedocument.drawingml.chart+xml"/>
  <Override PartName="/ppt/notesSlides/notesSlide19.xml" ContentType="application/vnd.openxmlformats-officedocument.presentationml.notesSlide+xml"/>
  <Override PartName="/ppt/charts/chart10.xml" ContentType="application/vnd.openxmlformats-officedocument.drawingml.chart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7"/>
    <p:sldId id="287" r:id="rId8"/>
    <p:sldId id="262" r:id="rId9"/>
    <p:sldId id="263" r:id="rId10"/>
    <p:sldId id="280" r:id="rId11"/>
    <p:sldId id="267" r:id="rId12"/>
    <p:sldId id="298" r:id="rId13"/>
    <p:sldId id="302" r:id="rId14"/>
    <p:sldId id="281" r:id="rId15"/>
    <p:sldId id="288" r:id="rId16"/>
    <p:sldId id="270" r:id="rId17"/>
    <p:sldId id="271" r:id="rId18"/>
    <p:sldId id="272" r:id="rId19"/>
    <p:sldId id="300" r:id="rId20"/>
    <p:sldId id="297" r:id="rId21"/>
    <p:sldId id="284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EC546-6D65-44A3-9BF8-2E05D549FFFE}" v="14" dt="2026-07-03T16:48:08.749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>
        <p:scale>
          <a:sx n="70" d="100"/>
          <a:sy n="70" d="100"/>
        </p:scale>
        <p:origin x="570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9.xml"/><Relationship Id="rId5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Patricia Galvan Chavez" userId="S::laura.galvan@imss.gob.mx::6b13af50-ce8b-483e-8fc4-f994efaf3289" providerId="AD" clId="Web-{AB7E809E-338A-9D68-0E0E-8639226DE6BB}"/>
    <pc:docChg chg="modSld">
      <pc:chgData name="Laura Patricia Galvan Chavez" userId="S::laura.galvan@imss.gob.mx::6b13af50-ce8b-483e-8fc4-f994efaf3289" providerId="AD" clId="Web-{AB7E809E-338A-9D68-0E0E-8639226DE6BB}" dt="2026-06-23T20:32:57.360" v="31" actId="1076"/>
      <pc:docMkLst>
        <pc:docMk/>
      </pc:docMkLst>
      <pc:sldChg chg="modSp">
        <pc:chgData name="Laura Patricia Galvan Chavez" userId="S::laura.galvan@imss.gob.mx::6b13af50-ce8b-483e-8fc4-f994efaf3289" providerId="AD" clId="Web-{AB7E809E-338A-9D68-0E0E-8639226DE6BB}" dt="2026-06-23T20:32:57.360" v="31" actId="1076"/>
        <pc:sldMkLst>
          <pc:docMk/>
          <pc:sldMk cId="0" sldId="260"/>
        </pc:sldMkLst>
        <pc:spChg chg="mod">
          <ac:chgData name="Laura Patricia Galvan Chavez" userId="S::laura.galvan@imss.gob.mx::6b13af50-ce8b-483e-8fc4-f994efaf3289" providerId="AD" clId="Web-{AB7E809E-338A-9D68-0E0E-8639226DE6BB}" dt="2026-06-23T20:32:21.422" v="27" actId="20577"/>
          <ac:spMkLst>
            <pc:docMk/>
            <pc:sldMk cId="0" sldId="260"/>
            <ac:spMk id="7" creationId="{1479888C-9BE6-F529-AE80-31E7E4721BF9}"/>
          </ac:spMkLst>
        </pc:spChg>
        <pc:graphicFrameChg chg="mod modGraphic">
          <ac:chgData name="Laura Patricia Galvan Chavez" userId="S::laura.galvan@imss.gob.mx::6b13af50-ce8b-483e-8fc4-f994efaf3289" providerId="AD" clId="Web-{AB7E809E-338A-9D68-0E0E-8639226DE6BB}" dt="2026-06-23T20:31:31.657" v="15"/>
          <ac:graphicFrameMkLst>
            <pc:docMk/>
            <pc:sldMk cId="0" sldId="260"/>
            <ac:graphicFrameMk id="5" creationId="{C89141B9-0E54-09CF-5371-43414F00E0D8}"/>
          </ac:graphicFrameMkLst>
        </pc:graphicFrameChg>
        <pc:picChg chg="mod modCrop">
          <ac:chgData name="Laura Patricia Galvan Chavez" userId="S::laura.galvan@imss.gob.mx::6b13af50-ce8b-483e-8fc4-f994efaf3289" providerId="AD" clId="Web-{AB7E809E-338A-9D68-0E0E-8639226DE6BB}" dt="2026-06-23T20:32:57.360" v="31" actId="1076"/>
          <ac:picMkLst>
            <pc:docMk/>
            <pc:sldMk cId="0" sldId="260"/>
            <ac:picMk id="6" creationId="{EF93BFD4-EABE-C469-F35F-0FA17359C05A}"/>
          </ac:picMkLst>
        </pc:picChg>
      </pc:sldChg>
    </pc:docChg>
  </pc:docChgLst>
  <pc:docChgLst>
    <pc:chgData name="Gerardo Jahir Lara Garcia" userId="84d5cd65-4601-4e92-b448-a9da4809e012" providerId="ADAL" clId="{848F2E50-180B-4DB9-9EF6-4803D25AC9EC}"/>
    <pc:docChg chg="undo custSel modSld">
      <pc:chgData name="Gerardo Jahir Lara Garcia" userId="84d5cd65-4601-4e92-b448-a9da4809e012" providerId="ADAL" clId="{848F2E50-180B-4DB9-9EF6-4803D25AC9EC}" dt="2026-07-03T16:50:20.849" v="340" actId="2062"/>
      <pc:docMkLst>
        <pc:docMk/>
      </pc:docMkLst>
      <pc:sldChg chg="modSp mod">
        <pc:chgData name="Gerardo Jahir Lara Garcia" userId="84d5cd65-4601-4e92-b448-a9da4809e012" providerId="ADAL" clId="{848F2E50-180B-4DB9-9EF6-4803D25AC9EC}" dt="2026-07-03T16:50:02.571" v="337" actId="2062"/>
        <pc:sldMkLst>
          <pc:docMk/>
          <pc:sldMk cId="0" sldId="262"/>
        </pc:sldMkLst>
        <pc:graphicFrameChg chg="modGraphic">
          <ac:chgData name="Gerardo Jahir Lara Garcia" userId="84d5cd65-4601-4e92-b448-a9da4809e012" providerId="ADAL" clId="{848F2E50-180B-4DB9-9EF6-4803D25AC9EC}" dt="2026-07-03T16:50:02.571" v="337" actId="2062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3T16:50:06.954" v="338" actId="2062"/>
        <pc:sldMkLst>
          <pc:docMk/>
          <pc:sldMk cId="0" sldId="263"/>
        </pc:sldMkLst>
        <pc:graphicFrameChg chg="modGraphic">
          <ac:chgData name="Gerardo Jahir Lara Garcia" userId="84d5cd65-4601-4e92-b448-a9da4809e012" providerId="ADAL" clId="{848F2E50-180B-4DB9-9EF6-4803D25AC9EC}" dt="2026-07-03T16:50:06.954" v="338" actId="2062"/>
          <ac:graphicFrameMkLst>
            <pc:docMk/>
            <pc:sldMk cId="0" sldId="263"/>
            <ac:graphicFrameMk id="296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3T16:50:20.849" v="340" actId="2062"/>
        <pc:sldMkLst>
          <pc:docMk/>
          <pc:sldMk cId="0" sldId="267"/>
        </pc:sldMkLst>
        <pc:graphicFrameChg chg="modGraphic">
          <ac:chgData name="Gerardo Jahir Lara Garcia" userId="84d5cd65-4601-4e92-b448-a9da4809e012" providerId="ADAL" clId="{848F2E50-180B-4DB9-9EF6-4803D25AC9EC}" dt="2026-07-03T16:50:20.849" v="340" actId="2062"/>
          <ac:graphicFrameMkLst>
            <pc:docMk/>
            <pc:sldMk cId="0" sldId="267"/>
            <ac:graphicFrameMk id="233" creationId="{00000000-0000-0000-0000-000000000000}"/>
          </ac:graphicFrameMkLst>
        </pc:graphicFrameChg>
      </pc:sldChg>
      <pc:sldChg chg="addSp delSp modSp mod">
        <pc:chgData name="Gerardo Jahir Lara Garcia" userId="84d5cd65-4601-4e92-b448-a9da4809e012" providerId="ADAL" clId="{848F2E50-180B-4DB9-9EF6-4803D25AC9EC}" dt="2026-07-03T16:38:47.195" v="209" actId="1035"/>
        <pc:sldMkLst>
          <pc:docMk/>
          <pc:sldMk cId="0" sldId="272"/>
        </pc:sldMkLst>
        <pc:spChg chg="mod">
          <ac:chgData name="Gerardo Jahir Lara Garcia" userId="84d5cd65-4601-4e92-b448-a9da4809e012" providerId="ADAL" clId="{848F2E50-180B-4DB9-9EF6-4803D25AC9EC}" dt="2026-07-03T16:37:22.353" v="67" actId="1035"/>
          <ac:spMkLst>
            <pc:docMk/>
            <pc:sldMk cId="0" sldId="272"/>
            <ac:spMk id="5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3T16:08:49.110" v="27" actId="113"/>
          <ac:spMkLst>
            <pc:docMk/>
            <pc:sldMk cId="0" sldId="272"/>
            <ac:spMk id="8" creationId="{00000000-0000-0000-0000-000000000000}"/>
          </ac:spMkLst>
        </pc:spChg>
        <pc:graphicFrameChg chg="mod modGraphic">
          <ac:chgData name="Gerardo Jahir Lara Garcia" userId="84d5cd65-4601-4e92-b448-a9da4809e012" providerId="ADAL" clId="{848F2E50-180B-4DB9-9EF6-4803D25AC9EC}" dt="2026-07-03T16:11:02.800" v="47" actId="108"/>
          <ac:graphicFrameMkLst>
            <pc:docMk/>
            <pc:sldMk cId="0" sldId="272"/>
            <ac:graphicFrameMk id="10" creationId="{00000000-0000-0000-0000-000000000000}"/>
          </ac:graphicFrameMkLst>
        </pc:graphicFrameChg>
        <pc:graphicFrameChg chg="add del mod">
          <ac:chgData name="Gerardo Jahir Lara Garcia" userId="84d5cd65-4601-4e92-b448-a9da4809e012" providerId="ADAL" clId="{848F2E50-180B-4DB9-9EF6-4803D25AC9EC}" dt="2026-07-03T16:37:52.620" v="139" actId="478"/>
          <ac:graphicFrameMkLst>
            <pc:docMk/>
            <pc:sldMk cId="0" sldId="272"/>
            <ac:graphicFrameMk id="12" creationId="{F23B0867-F205-43CE-8E46-532CF6032F1F}"/>
          </ac:graphicFrameMkLst>
        </pc:graphicFrameChg>
        <pc:graphicFrameChg chg="add mod">
          <ac:chgData name="Gerardo Jahir Lara Garcia" userId="84d5cd65-4601-4e92-b448-a9da4809e012" providerId="ADAL" clId="{848F2E50-180B-4DB9-9EF6-4803D25AC9EC}" dt="2026-07-03T16:38:47.195" v="209" actId="1035"/>
          <ac:graphicFrameMkLst>
            <pc:docMk/>
            <pc:sldMk cId="0" sldId="272"/>
            <ac:graphicFrameMk id="13" creationId="{F23B0867-F205-43CE-8E46-532CF6032F1F}"/>
          </ac:graphicFrameMkLst>
        </pc:graphicFrameChg>
        <pc:picChg chg="del">
          <ac:chgData name="Gerardo Jahir Lara Garcia" userId="84d5cd65-4601-4e92-b448-a9da4809e012" providerId="ADAL" clId="{848F2E50-180B-4DB9-9EF6-4803D25AC9EC}" dt="2026-07-03T16:37:17.950" v="48" actId="478"/>
          <ac:picMkLst>
            <pc:docMk/>
            <pc:sldMk cId="0" sldId="272"/>
            <ac:picMk id="6" creationId="{00000000-0000-0000-0000-000000000000}"/>
          </ac:picMkLst>
        </pc:picChg>
      </pc:sldChg>
      <pc:sldChg chg="modSp mod">
        <pc:chgData name="Gerardo Jahir Lara Garcia" userId="84d5cd65-4601-4e92-b448-a9da4809e012" providerId="ADAL" clId="{848F2E50-180B-4DB9-9EF6-4803D25AC9EC}" dt="2026-07-03T00:49:00.094" v="17" actId="20577"/>
        <pc:sldMkLst>
          <pc:docMk/>
          <pc:sldMk cId="0" sldId="277"/>
        </pc:sldMkLst>
        <pc:graphicFrameChg chg="modGraphic">
          <ac:chgData name="Gerardo Jahir Lara Garcia" userId="84d5cd65-4601-4e92-b448-a9da4809e012" providerId="ADAL" clId="{848F2E50-180B-4DB9-9EF6-4803D25AC9EC}" dt="2026-07-03T00:49:00.094" v="17" actId="20577"/>
          <ac:graphicFrameMkLst>
            <pc:docMk/>
            <pc:sldMk cId="0" sldId="277"/>
            <ac:graphicFrameMk id="467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3T16:50:16.035" v="339" actId="2062"/>
        <pc:sldMkLst>
          <pc:docMk/>
          <pc:sldMk cId="540716406" sldId="280"/>
        </pc:sldMkLst>
        <pc:graphicFrameChg chg="modGraphic">
          <ac:chgData name="Gerardo Jahir Lara Garcia" userId="84d5cd65-4601-4e92-b448-a9da4809e012" providerId="ADAL" clId="{848F2E50-180B-4DB9-9EF6-4803D25AC9EC}" dt="2026-07-03T16:50:16.035" v="339" actId="2062"/>
          <ac:graphicFrameMkLst>
            <pc:docMk/>
            <pc:sldMk cId="540716406" sldId="280"/>
            <ac:graphicFrameMk id="236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3T00:49:29.674" v="25" actId="20577"/>
        <pc:sldMkLst>
          <pc:docMk/>
          <pc:sldMk cId="0" sldId="282"/>
        </pc:sldMkLst>
        <pc:graphicFrameChg chg="modGraphic">
          <ac:chgData name="Gerardo Jahir Lara Garcia" userId="84d5cd65-4601-4e92-b448-a9da4809e012" providerId="ADAL" clId="{848F2E50-180B-4DB9-9EF6-4803D25AC9EC}" dt="2026-07-03T00:49:29.674" v="25" actId="20577"/>
          <ac:graphicFrameMkLst>
            <pc:docMk/>
            <pc:sldMk cId="0" sldId="282"/>
            <ac:graphicFrameMk id="536" creationId="{00000000-0000-0000-0000-000000000000}"/>
          </ac:graphicFrameMkLst>
        </pc:graphicFrameChg>
      </pc:sldChg>
      <pc:sldChg chg="addSp delSp modSp mod">
        <pc:chgData name="Gerardo Jahir Lara Garcia" userId="84d5cd65-4601-4e92-b448-a9da4809e012" providerId="ADAL" clId="{848F2E50-180B-4DB9-9EF6-4803D25AC9EC}" dt="2026-07-03T16:48:08.749" v="336"/>
        <pc:sldMkLst>
          <pc:docMk/>
          <pc:sldMk cId="2081979528" sldId="300"/>
        </pc:sldMkLst>
        <pc:spChg chg="mod">
          <ac:chgData name="Gerardo Jahir Lara Garcia" userId="84d5cd65-4601-4e92-b448-a9da4809e012" providerId="ADAL" clId="{848F2E50-180B-4DB9-9EF6-4803D25AC9EC}" dt="2026-07-03T16:44:51.037" v="230" actId="1036"/>
          <ac:spMkLst>
            <pc:docMk/>
            <pc:sldMk cId="2081979528" sldId="300"/>
            <ac:spMk id="3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3T16:45:00.046" v="231" actId="255"/>
          <ac:spMkLst>
            <pc:docMk/>
            <pc:sldMk cId="2081979528" sldId="300"/>
            <ac:spMk id="4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3T16:45:31.165" v="324" actId="1035"/>
          <ac:spMkLst>
            <pc:docMk/>
            <pc:sldMk cId="2081979528" sldId="300"/>
            <ac:spMk id="7" creationId="{00000000-0000-0000-0000-000000000000}"/>
          </ac:spMkLst>
        </pc:spChg>
        <pc:graphicFrameChg chg="mod modGraphic">
          <ac:chgData name="Gerardo Jahir Lara Garcia" userId="84d5cd65-4601-4e92-b448-a9da4809e012" providerId="ADAL" clId="{848F2E50-180B-4DB9-9EF6-4803D25AC9EC}" dt="2026-07-03T16:48:08.749" v="336"/>
          <ac:graphicFrameMkLst>
            <pc:docMk/>
            <pc:sldMk cId="2081979528" sldId="300"/>
            <ac:graphicFrameMk id="9" creationId="{00000000-0000-0000-0000-000000000000}"/>
          </ac:graphicFrameMkLst>
        </pc:graphicFrameChg>
        <pc:graphicFrameChg chg="add mod">
          <ac:chgData name="Gerardo Jahir Lara Garcia" userId="84d5cd65-4601-4e92-b448-a9da4809e012" providerId="ADAL" clId="{848F2E50-180B-4DB9-9EF6-4803D25AC9EC}" dt="2026-07-03T16:45:25.871" v="308" actId="1035"/>
          <ac:graphicFrameMkLst>
            <pc:docMk/>
            <pc:sldMk cId="2081979528" sldId="300"/>
            <ac:graphicFrameMk id="11" creationId="{0B4AF1E0-523D-447E-BAC5-40A156FE4036}"/>
          </ac:graphicFrameMkLst>
        </pc:graphicFrameChg>
        <pc:picChg chg="del mod">
          <ac:chgData name="Gerardo Jahir Lara Garcia" userId="84d5cd65-4601-4e92-b448-a9da4809e012" providerId="ADAL" clId="{848F2E50-180B-4DB9-9EF6-4803D25AC9EC}" dt="2026-07-03T16:45:05.968" v="232" actId="478"/>
          <ac:picMkLst>
            <pc:docMk/>
            <pc:sldMk cId="2081979528" sldId="300"/>
            <ac:picMk id="6" creationId="{00000000-0000-0000-0000-000000000000}"/>
          </ac:picMkLst>
        </pc:picChg>
        <pc:cxnChg chg="mod">
          <ac:chgData name="Gerardo Jahir Lara Garcia" userId="84d5cd65-4601-4e92-b448-a9da4809e012" providerId="ADAL" clId="{848F2E50-180B-4DB9-9EF6-4803D25AC9EC}" dt="2026-07-03T16:44:46.797" v="224" actId="1036"/>
          <ac:cxnSpMkLst>
            <pc:docMk/>
            <pc:sldMk cId="2081979528" sldId="300"/>
            <ac:cxnSpMk id="5" creationId="{00000000-0000-0000-0000-000000000000}"/>
          </ac:cxnSpMkLst>
        </pc:cxnChg>
        <pc:cxnChg chg="mod">
          <ac:chgData name="Gerardo Jahir Lara Garcia" userId="84d5cd65-4601-4e92-b448-a9da4809e012" providerId="ADAL" clId="{848F2E50-180B-4DB9-9EF6-4803D25AC9EC}" dt="2026-07-03T16:45:31.165" v="324" actId="1035"/>
          <ac:cxnSpMkLst>
            <pc:docMk/>
            <pc:sldMk cId="2081979528" sldId="300"/>
            <ac:cxnSpMk id="8" creationId="{00000000-0000-0000-0000-000000000000}"/>
          </ac:cxnSpMkLst>
        </pc:cxn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3T18:20:41.551" v="46" actId="20577"/>
      <pc:docMkLst>
        <pc:docMk/>
      </pc:docMkLst>
      <pc:sldChg chg="modSp mod">
        <pc:chgData name="Laura Patricia Galvan Chavez" userId="6b13af50-ce8b-483e-8fc4-f994efaf3289" providerId="ADAL" clId="{655D084B-7DF1-4C24-9447-417D7DC498B8}" dt="2026-07-03T18:10:59.371" v="36" actId="20577"/>
        <pc:sldMkLst>
          <pc:docMk/>
          <pc:sldMk cId="0" sldId="260"/>
        </pc:sldMkLst>
        <pc:graphicFrameChg chg="modGraphic">
          <ac:chgData name="Laura Patricia Galvan Chavez" userId="6b13af50-ce8b-483e-8fc4-f994efaf3289" providerId="ADAL" clId="{655D084B-7DF1-4C24-9447-417D7DC498B8}" dt="2026-07-03T18:10:59.371" v="36" actId="20577"/>
          <ac:graphicFrameMkLst>
            <pc:docMk/>
            <pc:sldMk cId="0" sldId="260"/>
            <ac:graphicFrameMk id="12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19:47.764" v="12" actId="14100"/>
        <pc:sldMkLst>
          <pc:docMk/>
          <pc:sldMk cId="0" sldId="263"/>
        </pc:sldMkLst>
        <pc:spChg chg="mod">
          <ac:chgData name="Laura Patricia Galvan Chavez" userId="6b13af50-ce8b-483e-8fc4-f994efaf3289" providerId="ADAL" clId="{655D084B-7DF1-4C24-9447-417D7DC498B8}" dt="2026-06-29T19:19:44.383" v="11" actId="1076"/>
          <ac:spMkLst>
            <pc:docMk/>
            <pc:sldMk cId="0" sldId="263"/>
            <ac:spMk id="287" creationId="{13CBD76B-7967-0DF1-2AEA-2EDF7882800F}"/>
          </ac:spMkLst>
        </pc:spChg>
        <pc:spChg chg="mod">
          <ac:chgData name="Laura Patricia Galvan Chavez" userId="6b13af50-ce8b-483e-8fc4-f994efaf3289" providerId="ADAL" clId="{655D084B-7DF1-4C24-9447-417D7DC498B8}" dt="2026-06-29T19:19:44.383" v="11" actId="1076"/>
          <ac:spMkLst>
            <pc:docMk/>
            <pc:sldMk cId="0" sldId="263"/>
            <ac:spMk id="288" creationId="{0C091ABD-4C4F-A5A6-93EF-DC003DEF2584}"/>
          </ac:spMkLst>
        </pc:spChg>
        <pc:spChg chg="mod">
          <ac:chgData name="Laura Patricia Galvan Chavez" userId="6b13af50-ce8b-483e-8fc4-f994efaf3289" providerId="ADAL" clId="{655D084B-7DF1-4C24-9447-417D7DC498B8}" dt="2026-06-29T19:19:44.383" v="11" actId="1076"/>
          <ac:spMkLst>
            <pc:docMk/>
            <pc:sldMk cId="0" sldId="263"/>
            <ac:spMk id="295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19:44.383" v="11" actId="1076"/>
          <ac:spMkLst>
            <pc:docMk/>
            <pc:sldMk cId="0" sldId="263"/>
            <ac:spMk id="298" creationId="{00000000-0000-0000-0000-000000000000}"/>
          </ac:spMkLst>
        </pc:spChg>
        <pc:graphicFrameChg chg="modGraphic">
          <ac:chgData name="Laura Patricia Galvan Chavez" userId="6b13af50-ce8b-483e-8fc4-f994efaf3289" providerId="ADAL" clId="{655D084B-7DF1-4C24-9447-417D7DC498B8}" dt="2026-06-29T19:19:47.764" v="12" actId="14100"/>
          <ac:graphicFrameMkLst>
            <pc:docMk/>
            <pc:sldMk cId="0" sldId="263"/>
            <ac:graphicFrameMk id="296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9T19:19:44.383" v="11" actId="1076"/>
          <ac:graphicFrameMkLst>
            <pc:docMk/>
            <pc:sldMk cId="0" sldId="263"/>
            <ac:graphicFrameMk id="29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20:06.539" v="14" actId="1076"/>
        <pc:sldMkLst>
          <pc:docMk/>
          <pc:sldMk cId="0" sldId="267"/>
        </pc:sldMkLst>
        <pc:spChg chg="mod">
          <ac:chgData name="Laura Patricia Galvan Chavez" userId="6b13af50-ce8b-483e-8fc4-f994efaf3289" providerId="ADAL" clId="{655D084B-7DF1-4C24-9447-417D7DC498B8}" dt="2026-06-29T19:20:06.539" v="14" actId="1076"/>
          <ac:spMkLst>
            <pc:docMk/>
            <pc:sldMk cId="0" sldId="267"/>
            <ac:spMk id="235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20:06.539" v="14" actId="1076"/>
          <ac:spMkLst>
            <pc:docMk/>
            <pc:sldMk cId="0" sldId="267"/>
            <ac:spMk id="23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20:06.539" v="14" actId="1076"/>
          <ac:spMkLst>
            <pc:docMk/>
            <pc:sldMk cId="0" sldId="267"/>
            <ac:spMk id="237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9:20:06.539" v="14" actId="1076"/>
          <ac:graphicFrameMkLst>
            <pc:docMk/>
            <pc:sldMk cId="0" sldId="267"/>
            <ac:graphicFrameMk id="23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8:17:21.108" v="39" actId="1076"/>
        <pc:sldMkLst>
          <pc:docMk/>
          <pc:sldMk cId="0" sldId="272"/>
        </pc:sldMkLst>
        <pc:spChg chg="mod">
          <ac:chgData name="Laura Patricia Galvan Chavez" userId="6b13af50-ce8b-483e-8fc4-f994efaf3289" providerId="ADAL" clId="{655D084B-7DF1-4C24-9447-417D7DC498B8}" dt="2026-07-03T18:17:21.108" v="39" actId="1076"/>
          <ac:spMkLst>
            <pc:docMk/>
            <pc:sldMk cId="0" sldId="272"/>
            <ac:spMk id="8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3T18:17:21.108" v="39" actId="1076"/>
          <ac:graphicFrameMkLst>
            <pc:docMk/>
            <pc:sldMk cId="0" sldId="272"/>
            <ac:graphicFrameMk id="10" creationId="{00000000-0000-0000-0000-000000000000}"/>
          </ac:graphicFrameMkLst>
        </pc:graphicFrameChg>
        <pc:cxnChg chg="mod">
          <ac:chgData name="Laura Patricia Galvan Chavez" userId="6b13af50-ce8b-483e-8fc4-f994efaf3289" providerId="ADAL" clId="{655D084B-7DF1-4C24-9447-417D7DC498B8}" dt="2026-07-03T18:17:21.108" v="39" actId="1076"/>
          <ac:cxnSpMkLst>
            <pc:docMk/>
            <pc:sldMk cId="0" sldId="272"/>
            <ac:cxnSpMk id="9" creationId="{00000000-0000-0000-0000-000000000000}"/>
          </ac:cxnSpMkLst>
        </pc:cxnChg>
      </pc:sldChg>
      <pc:sldChg chg="modSp mod">
        <pc:chgData name="Laura Patricia Galvan Chavez" userId="6b13af50-ce8b-483e-8fc4-f994efaf3289" providerId="ADAL" clId="{655D084B-7DF1-4C24-9447-417D7DC498B8}" dt="2026-07-03T18:20:41.551" v="46" actId="20577"/>
        <pc:sldMkLst>
          <pc:docMk/>
          <pc:sldMk cId="0" sldId="277"/>
        </pc:sldMkLst>
        <pc:spChg chg="mod">
          <ac:chgData name="Laura Patricia Galvan Chavez" userId="6b13af50-ce8b-483e-8fc4-f994efaf3289" providerId="ADAL" clId="{655D084B-7DF1-4C24-9447-417D7DC498B8}" dt="2026-07-03T18:20:41.551" v="46" actId="20577"/>
          <ac:spMkLst>
            <pc:docMk/>
            <pc:sldMk cId="0" sldId="277"/>
            <ac:spMk id="471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9:21:42.642" v="28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9:21:42.642" v="28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19:56.702" v="13" actId="1076"/>
        <pc:sldMkLst>
          <pc:docMk/>
          <pc:sldMk cId="540716406" sldId="280"/>
        </pc:sldMkLst>
        <pc:spChg chg="mod">
          <ac:chgData name="Laura Patricia Galvan Chavez" userId="6b13af50-ce8b-483e-8fc4-f994efaf3289" providerId="ADAL" clId="{655D084B-7DF1-4C24-9447-417D7DC498B8}" dt="2026-06-29T19:19:56.702" v="13" actId="1076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19:56.702" v="13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19:56.702" v="13" actId="1076"/>
          <ac:spMkLst>
            <pc:docMk/>
            <pc:sldMk cId="540716406" sldId="280"/>
            <ac:spMk id="240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9:19:56.702" v="13" actId="1076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20:40.009" v="18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20:40.009" v="18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18:06:43.978" v="34" actId="20577"/>
        <pc:sldMkLst>
          <pc:docMk/>
          <pc:sldMk cId="3763779569" sldId="289"/>
        </pc:sldMkLst>
        <pc:spChg chg="mod">
          <ac:chgData name="Laura Patricia Galvan Chavez" userId="6b13af50-ce8b-483e-8fc4-f994efaf3289" providerId="ADAL" clId="{655D084B-7DF1-4C24-9447-417D7DC498B8}" dt="2026-06-29T19:18:58.994" v="10"/>
          <ac:spMkLst>
            <pc:docMk/>
            <pc:sldMk cId="3763779569" sldId="289"/>
            <ac:spMk id="9" creationId="{3BE35F1F-DD37-2E7B-1375-BE8E5BC81020}"/>
          </ac:spMkLst>
        </pc:spChg>
        <pc:graphicFrameChg chg="modGraphic">
          <ac:chgData name="Laura Patricia Galvan Chavez" userId="6b13af50-ce8b-483e-8fc4-f994efaf3289" providerId="ADAL" clId="{655D084B-7DF1-4C24-9447-417D7DC498B8}" dt="2026-07-03T18:06:43.978" v="34" actId="20577"/>
          <ac:graphicFrameMkLst>
            <pc:docMk/>
            <pc:sldMk cId="3763779569" sldId="289"/>
            <ac:graphicFrameMk id="7" creationId="{1D45E44B-C786-9D2F-B249-D44B11753F06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8:18:32.398" v="42" actId="113"/>
        <pc:sldMkLst>
          <pc:docMk/>
          <pc:sldMk cId="3240565764" sldId="297"/>
        </pc:sldMkLst>
        <pc:graphicFrameChg chg="modGraphic">
          <ac:chgData name="Laura Patricia Galvan Chavez" userId="6b13af50-ce8b-483e-8fc4-f994efaf3289" providerId="ADAL" clId="{655D084B-7DF1-4C24-9447-417D7DC498B8}" dt="2026-07-03T18:18:28.484" v="41" actId="113"/>
          <ac:graphicFrameMkLst>
            <pc:docMk/>
            <pc:sldMk cId="3240565764" sldId="297"/>
            <ac:graphicFrameMk id="49" creationId="{292C4725-2474-B96A-FF60-63030DA3B7AE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18:18:32.398" v="42" actId="113"/>
          <ac:graphicFrameMkLst>
            <pc:docMk/>
            <pc:sldMk cId="3240565764" sldId="297"/>
            <ac:graphicFrameMk id="51" creationId="{DEABA898-9F15-7A0D-57A0-83469C0935D1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8:17:39.301" v="40" actId="1076"/>
        <pc:sldMkLst>
          <pc:docMk/>
          <pc:sldMk cId="2081979528" sldId="300"/>
        </pc:sldMkLst>
        <pc:spChg chg="mod">
          <ac:chgData name="Laura Patricia Galvan Chavez" userId="6b13af50-ce8b-483e-8fc4-f994efaf3289" providerId="ADAL" clId="{655D084B-7DF1-4C24-9447-417D7DC498B8}" dt="2026-07-03T18:17:39.301" v="40" actId="1076"/>
          <ac:spMkLst>
            <pc:docMk/>
            <pc:sldMk cId="2081979528" sldId="300"/>
            <ac:spMk id="7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3T18:17:39.301" v="40" actId="1076"/>
          <ac:graphicFrameMkLst>
            <pc:docMk/>
            <pc:sldMk cId="2081979528" sldId="300"/>
            <ac:graphicFrameMk id="9" creationId="{00000000-0000-0000-0000-000000000000}"/>
          </ac:graphicFrameMkLst>
        </pc:graphicFrameChg>
        <pc:cxnChg chg="mod">
          <ac:chgData name="Laura Patricia Galvan Chavez" userId="6b13af50-ce8b-483e-8fc4-f994efaf3289" providerId="ADAL" clId="{655D084B-7DF1-4C24-9447-417D7DC498B8}" dt="2026-07-03T18:17:39.301" v="40" actId="1076"/>
          <ac:cxnSpMkLst>
            <pc:docMk/>
            <pc:sldMk cId="2081979528" sldId="300"/>
            <ac:cxnSpMk id="8" creationId="{00000000-0000-0000-0000-000000000000}"/>
          </ac:cxnSpMkLst>
        </pc:cxnChg>
      </pc:sldChg>
      <pc:sldChg chg="modSp mod">
        <pc:chgData name="Laura Patricia Galvan Chavez" userId="6b13af50-ce8b-483e-8fc4-f994efaf3289" providerId="ADAL" clId="{655D084B-7DF1-4C24-9447-417D7DC498B8}" dt="2026-07-03T18:12:11.485" v="38" actId="20577"/>
        <pc:sldMkLst>
          <pc:docMk/>
          <pc:sldMk cId="0" sldId="301"/>
        </pc:sldMkLst>
        <pc:graphicFrameChg chg="modGraphic">
          <ac:chgData name="Laura Patricia Galvan Chavez" userId="6b13af50-ce8b-483e-8fc4-f994efaf3289" providerId="ADAL" clId="{655D084B-7DF1-4C24-9447-417D7DC498B8}" dt="2026-07-03T18:12:11.485" v="38" actId="20577"/>
          <ac:graphicFrameMkLst>
            <pc:docMk/>
            <pc:sldMk cId="0" sldId="301"/>
            <ac:graphicFrameMk id="5" creationId="{00000000-0000-0000-0000-000000000000}"/>
          </ac:graphicFrameMkLst>
        </pc:graphicFrame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7:21.496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7:21.496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7:21.496" v="2" actId="22"/>
          <ac:spMkLst>
            <pc:docMk/>
            <pc:sldMk cId="748044913" sldId="287"/>
            <ac:spMk id="10" creationId="{AD4DC8C9-D5CF-FD96-AAFA-3CC73AC97211}"/>
          </ac:spMkLst>
        </pc:spChg>
        <pc:spChg chg="add">
          <ac:chgData name="Rohan Myron Oprisko" userId="a7c52ab4-f8b1-4d15-aaf6-6388cc510347" providerId="ADAL" clId="{97C26823-81C0-4343-94EC-E87AB1317939}" dt="2026-06-24T15:57:21.496" v="2" actId="22"/>
          <ac:spMkLst>
            <pc:docMk/>
            <pc:sldMk cId="748044913" sldId="287"/>
            <ac:spMk id="12" creationId="{A8E17E63-8D96-3BB9-7A47-C9AE01DAADF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rardo.larag\Downloads\Gr&#225;ficas%20Estados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rardo.larag\Desktop\machote%20grafica%20piezas%20consumidas_abast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A2B1-4A06-92E0-D34FA8506FB9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</c:spPr>
            <c:extLst>
              <c:ext xmlns:c16="http://schemas.microsoft.com/office/drawing/2014/chart" uri="{C3380CC4-5D6E-409C-BE32-E72D297353CC}">
                <c16:uniqueId val="{00000003-A2B1-4A06-92E0-D34FA8506FB9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A2B1-4A06-92E0-D34FA8506FB9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A2B1-4A06-92E0-D34FA8506FB9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A2B1-4A06-92E0-D34FA8506FB9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1981548</c:v>
                </c:pt>
                <c:pt idx="1">
                  <c:v>233545</c:v>
                </c:pt>
                <c:pt idx="2">
                  <c:v>587758</c:v>
                </c:pt>
                <c:pt idx="3">
                  <c:v>389120</c:v>
                </c:pt>
                <c:pt idx="4">
                  <c:v>16068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B1-4A06-92E0-D34FA8506F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ED5-4181-A953-71F6E0A24406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ED5-4181-A953-71F6E0A24406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43.09995037510582</c:v>
                </c:pt>
                <c:pt idx="1">
                  <c:v>56.90004962489418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ED5-4181-A953-71F6E0A24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DAE-451E-88D9-1AAE4E6BA242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DAE-451E-88D9-1AAE4E6BA242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9.8414111403</c:v>
                </c:pt>
                <c:pt idx="1">
                  <c:v>90.158588859700004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AE-451E-88D9-1AAE4E6BA2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DC2-4CEB-B741-525635A185F6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DC2-4CEB-B741-525635A185F6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44.525546576532612</c:v>
                </c:pt>
                <c:pt idx="1">
                  <c:v>55.474453423467388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C2-4CEB-B741-525635A18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53A-4C07-A377-968FBD4147DE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53A-4C07-A377-968FBD4147DE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40.194582220526513</c:v>
                </c:pt>
                <c:pt idx="1">
                  <c:v>59.805417779473487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3A-4C07-A377-968FBD4147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0620-4EB9-8F2A-4A4AA7B5ED8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177</c:v>
                </c:pt>
                <c:pt idx="3">
                  <c:v>205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620-4EB9-8F2A-4A4AA7B5ED8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51380096"/>
        <c:axId val="251383168"/>
      </c:barChart>
      <c:catAx>
        <c:axId val="2513800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251383168"/>
        <c:crosses val="autoZero"/>
        <c:auto val="1"/>
        <c:lblAlgn val="ctr"/>
        <c:lblOffset val="100"/>
        <c:noMultiLvlLbl val="0"/>
      </c:catAx>
      <c:valAx>
        <c:axId val="25138316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5138009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957420131400776E-2"/>
          <c:y val="0.18548444665570649"/>
          <c:w val="0.84652634981136909"/>
          <c:h val="0.700274725274725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'Recetas Sinaloa'!$B$1</c:f>
              <c:strCache>
                <c:ptCount val="1"/>
                <c:pt idx="0">
                  <c:v>Recetas Surtidas</c:v>
                </c:pt>
              </c:strCache>
            </c:strRef>
          </c:tx>
          <c:spPr>
            <a:solidFill>
              <a:srgbClr val="005C4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'Recetas Sinaloa'!$A$2:$A$9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'Recetas Sinaloa'!$B$2:$B$9</c:f>
              <c:numCache>
                <c:formatCode>#,##0</c:formatCode>
                <c:ptCount val="8"/>
                <c:pt idx="0">
                  <c:v>3782021</c:v>
                </c:pt>
                <c:pt idx="1">
                  <c:v>3286549</c:v>
                </c:pt>
                <c:pt idx="2">
                  <c:v>3264113</c:v>
                </c:pt>
                <c:pt idx="3">
                  <c:v>3589040</c:v>
                </c:pt>
                <c:pt idx="4">
                  <c:v>4216054</c:v>
                </c:pt>
                <c:pt idx="5">
                  <c:v>3666727</c:v>
                </c:pt>
                <c:pt idx="6">
                  <c:v>3220235</c:v>
                </c:pt>
                <c:pt idx="7">
                  <c:v>3409300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B6-4AEB-882A-F35A6CFA1999}"/>
            </c:ext>
          </c:extLst>
        </c:ser>
        <c:ser>
          <c:idx val="1"/>
          <c:order val="1"/>
          <c:tx>
            <c:strRef>
              <c:f>'Recetas Sinaloa'!$C$1</c:f>
              <c:strCache>
                <c:ptCount val="1"/>
                <c:pt idx="0">
                  <c:v>Recetas Negadas</c:v>
                </c:pt>
              </c:strCache>
            </c:strRef>
          </c:tx>
          <c:spPr>
            <a:solidFill>
              <a:srgbClr val="9F224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6218260392382157E-17"/>
                  <c:y val="-3.3444816053511704E-2"/>
                </c:manualLayout>
              </c:layout>
              <c:tx>
                <c:rich>
                  <a:bodyPr/>
                  <a:lstStyle/>
                  <a:p>
                    <a:fld id="{3D7E3B9C-432D-4546-B32A-3FBD7D06A57D}" type="VALUE">
                      <a:rPr lang="en-US">
                        <a:solidFill>
                          <a:srgbClr val="C00000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9B6-4AEB-882A-F35A6CFA1999}"/>
                </c:ext>
              </c:extLst>
            </c:dLbl>
            <c:dLbl>
              <c:idx val="1"/>
              <c:layout>
                <c:manualLayout>
                  <c:x val="-3.2436520784764315E-17"/>
                  <c:y val="-5.01672240802676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9B6-4AEB-882A-F35A6CFA1999}"/>
                </c:ext>
              </c:extLst>
            </c:dLbl>
            <c:dLbl>
              <c:idx val="2"/>
              <c:layout>
                <c:manualLayout>
                  <c:x val="1.7692852087756545E-3"/>
                  <c:y val="-5.29542920847268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B6-4AEB-882A-F35A6CFA1999}"/>
                </c:ext>
              </c:extLst>
            </c:dLbl>
            <c:dLbl>
              <c:idx val="3"/>
              <c:layout>
                <c:manualLayout>
                  <c:x val="-6.4873041569528629E-17"/>
                  <c:y val="-5.01672240802676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9B6-4AEB-882A-F35A6CFA1999}"/>
                </c:ext>
              </c:extLst>
            </c:dLbl>
            <c:dLbl>
              <c:idx val="4"/>
              <c:layout>
                <c:manualLayout>
                  <c:x val="6.4873041569528629E-17"/>
                  <c:y val="-3.0657748049052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B6-4AEB-882A-F35A6CFA1999}"/>
                </c:ext>
              </c:extLst>
            </c:dLbl>
            <c:dLbl>
              <c:idx val="5"/>
              <c:layout>
                <c:manualLayout>
                  <c:x val="-1.2974608313905726E-16"/>
                  <c:y val="-3.62318840579710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9B6-4AEB-882A-F35A6CFA1999}"/>
                </c:ext>
              </c:extLst>
            </c:dLbl>
            <c:dLbl>
              <c:idx val="6"/>
              <c:layout>
                <c:manualLayout>
                  <c:x val="-1.2974608313905726E-16"/>
                  <c:y val="-5.0167224080267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9B6-4AEB-882A-F35A6CFA1999}"/>
                </c:ext>
              </c:extLst>
            </c:dLbl>
            <c:dLbl>
              <c:idx val="7"/>
              <c:layout>
                <c:manualLayout>
                  <c:x val="0"/>
                  <c:y val="-4.261955236364685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9B6-4AEB-882A-F35A6CFA1999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9F224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'Recetas Sinaloa'!$A$2:$A$9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'Recetas Sinaloa'!$C$2:$C$9</c:f>
              <c:numCache>
                <c:formatCode>#,##0</c:formatCode>
                <c:ptCount val="8"/>
                <c:pt idx="0">
                  <c:v>1428</c:v>
                </c:pt>
                <c:pt idx="1">
                  <c:v>112546</c:v>
                </c:pt>
                <c:pt idx="2">
                  <c:v>188594</c:v>
                </c:pt>
                <c:pt idx="3">
                  <c:v>272484</c:v>
                </c:pt>
                <c:pt idx="4">
                  <c:v>115313</c:v>
                </c:pt>
                <c:pt idx="5">
                  <c:v>71919</c:v>
                </c:pt>
                <c:pt idx="6">
                  <c:v>236730</c:v>
                </c:pt>
                <c:pt idx="7">
                  <c:v>83898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9B6-4AEB-882A-F35A6CFA1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541536224"/>
        <c:axId val="1217249616"/>
      </c:barChart>
      <c:lineChart>
        <c:grouping val="standard"/>
        <c:varyColors val="0"/>
        <c:ser>
          <c:idx val="2"/>
          <c:order val="2"/>
          <c:tx>
            <c:strRef>
              <c:f>'Recetas Sinaloa'!$D$1</c:f>
              <c:strCache>
                <c:ptCount val="1"/>
                <c:pt idx="0">
                  <c:v>% Recetas Surtidas</c:v>
                </c:pt>
              </c:strCache>
            </c:strRef>
          </c:tx>
          <c:spPr>
            <a:ln w="28575" cap="rnd">
              <a:solidFill>
                <a:srgbClr val="BC955C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BC955C"/>
              </a:solidFill>
              <a:ln w="9525">
                <a:solidFill>
                  <a:srgbClr val="BC955C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B5C42B9F-C331-4511-8C37-43CED9169BF7}" type="VALUE">
                      <a:rPr lang="en-US" b="1">
                        <a:solidFill>
                          <a:schemeClr val="bg1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19B6-4AEB-882A-F35A6CFA1999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en-US" sz="1000" b="1" i="0" u="none" strike="noStrike" kern="1200" baseline="0">
                        <a:solidFill>
                          <a:schemeClr val="bg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defRPr>
                    </a:pPr>
                    <a:fld id="{64729F4A-FAD0-4AD4-961A-55757DFA5259}" type="VALUE">
                      <a:rPr lang="en-US" sz="1000" b="1">
                        <a:solidFill>
                          <a:schemeClr val="bg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a:pPr algn="ctr" rtl="0">
                        <a:defRPr lang="en-US" sz="1000" b="1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defRPr>
                      </a:pPr>
                      <a:t>[VALOR]</a:t>
                    </a:fld>
                    <a:endParaRPr lang="es-MX"/>
                  </a:p>
                </c:rich>
              </c:tx>
              <c:spPr>
                <a:solidFill>
                  <a:srgbClr val="BC955C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1000" b="1" i="0" u="none" strike="noStrike" kern="1200" baseline="0">
                      <a:solidFill>
                        <a:schemeClr val="bg1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defRPr>
                  </a:pPr>
                  <a:endParaRPr lang="es-MX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19B6-4AEB-882A-F35A6CFA1999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en-US" sz="1000" b="1" i="0" u="none" strike="noStrike" kern="1200" baseline="0">
                        <a:solidFill>
                          <a:schemeClr val="bg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defRPr>
                    </a:pPr>
                    <a:fld id="{878FD7F6-37BC-46C7-909C-A5754D797449}" type="VALUE">
                      <a:rPr lang="en-US" sz="1000" b="1">
                        <a:solidFill>
                          <a:schemeClr val="bg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rPr>
                      <a:pPr>
                        <a:defRPr lang="en-US" sz="1000" b="1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defRPr>
                      </a:pPr>
                      <a:t>[VALOR]</a:t>
                    </a:fld>
                    <a:endParaRPr lang="es-MX"/>
                  </a:p>
                </c:rich>
              </c:tx>
              <c:spPr>
                <a:solidFill>
                  <a:srgbClr val="BC955C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bg1"/>
                      </a:solidFill>
                      <a:latin typeface="Noto Sans" panose="020B0502040504020204" pitchFamily="34" charset="0"/>
                      <a:ea typeface="Noto Sans" panose="020B0502040504020204" pitchFamily="34" charset="0"/>
                      <a:cs typeface="Noto Sans" panose="020B0502040504020204" pitchFamily="34" charset="0"/>
                    </a:defRPr>
                  </a:pPr>
                  <a:endParaRPr lang="es-MX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19B6-4AEB-882A-F35A6CFA1999}"/>
                </c:ext>
              </c:extLst>
            </c:dLbl>
            <c:spPr>
              <a:solidFill>
                <a:srgbClr val="BC955C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'Recetas Sinaloa'!$A$2:$A$9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'Recetas Sinaloa'!$D$2:$D$9</c:f>
              <c:numCache>
                <c:formatCode>0%</c:formatCode>
                <c:ptCount val="8"/>
                <c:pt idx="0">
                  <c:v>1</c:v>
                </c:pt>
                <c:pt idx="1">
                  <c:v>0.97</c:v>
                </c:pt>
                <c:pt idx="2">
                  <c:v>0.95</c:v>
                </c:pt>
                <c:pt idx="3">
                  <c:v>0.93</c:v>
                </c:pt>
                <c:pt idx="4">
                  <c:v>0.97</c:v>
                </c:pt>
                <c:pt idx="5">
                  <c:v>0.98</c:v>
                </c:pt>
                <c:pt idx="6">
                  <c:v>0.93</c:v>
                </c:pt>
                <c:pt idx="7">
                  <c:v>0.98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19B6-4AEB-882A-F35A6CFA1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417887"/>
        <c:axId val="1698618111"/>
      </c:lineChart>
      <c:catAx>
        <c:axId val="1541536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217249616"/>
        <c:crosses val="autoZero"/>
        <c:auto val="1"/>
        <c:lblAlgn val="ctr"/>
        <c:lblOffset val="100"/>
        <c:noMultiLvlLbl val="0"/>
      </c:catAx>
      <c:valAx>
        <c:axId val="1217249616"/>
        <c:scaling>
          <c:orientation val="minMax"/>
          <c:max val="6000000"/>
          <c:min val="0"/>
        </c:scaling>
        <c:delete val="0"/>
        <c:axPos val="l"/>
        <c:numFmt formatCode="#,##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541536224"/>
        <c:crosses val="autoZero"/>
        <c:crossBetween val="between"/>
      </c:valAx>
      <c:valAx>
        <c:axId val="1698618111"/>
        <c:scaling>
          <c:orientation val="minMax"/>
          <c:max val="1.2"/>
        </c:scaling>
        <c:delete val="0"/>
        <c:axPos val="r"/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696417887"/>
        <c:crosses val="max"/>
        <c:crossBetween val="between"/>
      </c:valAx>
      <c:catAx>
        <c:axId val="169641788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986181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</c:legendEntry>
      <c:layout>
        <c:manualLayout>
          <c:xMode val="edge"/>
          <c:yMode val="edge"/>
          <c:x val="9.9872446833568884E-2"/>
          <c:y val="0.92538630988434134"/>
          <c:w val="0.802638236927115"/>
          <c:h val="6.1083830867295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Sinaloa!$A$1</c:f>
              <c:strCache>
                <c:ptCount val="1"/>
                <c:pt idx="0">
                  <c:v>año</c:v>
                </c:pt>
              </c:strCache>
            </c:strRef>
          </c:tx>
          <c:spPr>
            <a:ln w="28575" cap="rnd">
              <a:solidFill>
                <a:srgbClr val="10312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Sinaloa!$A$2:$A$9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Sinaloa!$A$2:$A$9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1C-4430-AAB1-0FCAA77FF054}"/>
            </c:ext>
          </c:extLst>
        </c:ser>
        <c:ser>
          <c:idx val="1"/>
          <c:order val="1"/>
          <c:tx>
            <c:strRef>
              <c:f>Sinaloa!$B$1</c:f>
              <c:strCache>
                <c:ptCount val="1"/>
                <c:pt idx="0">
                  <c:v>piezas consumidas</c:v>
                </c:pt>
              </c:strCache>
            </c:strRef>
          </c:tx>
          <c:spPr>
            <a:ln w="22225" cap="rnd">
              <a:solidFill>
                <a:srgbClr val="005C4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C4C"/>
              </a:solidFill>
              <a:ln w="9525">
                <a:solidFill>
                  <a:srgbClr val="005C4C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5.816867593961101E-2"/>
                  <c:y val="-6.86606662498365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1C-4430-AAB1-0FCAA77FF054}"/>
                </c:ext>
              </c:extLst>
            </c:dLbl>
            <c:spPr>
              <a:solidFill>
                <a:srgbClr val="005C4C"/>
              </a:solidFill>
              <a:ln>
                <a:solidFill>
                  <a:srgbClr val="10312B">
                    <a:alpha val="96000"/>
                  </a:srgbClr>
                </a:solidFill>
                <a:round/>
              </a:ln>
              <a:effectLst>
                <a:softEdge rad="0"/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Sinaloa!$A$2:$A$9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Sinaloa!$B$2:$B$9</c:f>
              <c:numCache>
                <c:formatCode>#,##0</c:formatCode>
                <c:ptCount val="8"/>
                <c:pt idx="0">
                  <c:v>18980029</c:v>
                </c:pt>
                <c:pt idx="1">
                  <c:v>16322827</c:v>
                </c:pt>
                <c:pt idx="2">
                  <c:v>15771621</c:v>
                </c:pt>
                <c:pt idx="3">
                  <c:v>16830963</c:v>
                </c:pt>
                <c:pt idx="4">
                  <c:v>19853297</c:v>
                </c:pt>
                <c:pt idx="5">
                  <c:v>20649238</c:v>
                </c:pt>
                <c:pt idx="6">
                  <c:v>18889102</c:v>
                </c:pt>
                <c:pt idx="7">
                  <c:v>18293001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81C-4430-AAB1-0FCAA77FF054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96358959"/>
        <c:axId val="1698566751"/>
      </c:lineChart>
      <c:catAx>
        <c:axId val="169635895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698566751"/>
        <c:crosses val="autoZero"/>
        <c:auto val="1"/>
        <c:lblAlgn val="ctr"/>
        <c:lblOffset val="100"/>
        <c:noMultiLvlLbl val="0"/>
      </c:catAx>
      <c:valAx>
        <c:axId val="1698566751"/>
        <c:scaling>
          <c:orientation val="minMax"/>
          <c:max val="21000000"/>
          <c:min val="15500000"/>
        </c:scaling>
        <c:delete val="1"/>
        <c:axPos val="l"/>
        <c:numFmt formatCode="General" sourceLinked="1"/>
        <c:majorTickMark val="out"/>
        <c:minorTickMark val="none"/>
        <c:tickLblPos val="nextTo"/>
        <c:crossAx val="1696358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63829</c:v>
                </c:pt>
                <c:pt idx="1">
                  <c:v>3448</c:v>
                </c:pt>
                <c:pt idx="2">
                  <c:v>85932</c:v>
                </c:pt>
                <c:pt idx="3">
                  <c:v>52077</c:v>
                </c:pt>
                <c:pt idx="4">
                  <c:v>77308</c:v>
                </c:pt>
                <c:pt idx="5">
                  <c:v>107799</c:v>
                </c:pt>
                <c:pt idx="6">
                  <c:v>154251</c:v>
                </c:pt>
                <c:pt idx="7">
                  <c:v>4327</c:v>
                </c:pt>
                <c:pt idx="8">
                  <c:v>35169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2B1-4E51-A614-13CB451046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53578</c:v>
                </c:pt>
                <c:pt idx="1">
                  <c:v>3338</c:v>
                </c:pt>
                <c:pt idx="2">
                  <c:v>83483</c:v>
                </c:pt>
                <c:pt idx="3">
                  <c:v>51107</c:v>
                </c:pt>
                <c:pt idx="4">
                  <c:v>76558</c:v>
                </c:pt>
                <c:pt idx="5">
                  <c:v>107456</c:v>
                </c:pt>
                <c:pt idx="6">
                  <c:v>154331</c:v>
                </c:pt>
                <c:pt idx="7">
                  <c:v>4373</c:v>
                </c:pt>
                <c:pt idx="8">
                  <c:v>35997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2B1-4E51-A614-13CB45104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54098432"/>
        <c:axId val="254108416"/>
      </c:barChart>
      <c:catAx>
        <c:axId val="254098432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254108416"/>
        <c:crosses val="autoZero"/>
        <c:auto val="1"/>
        <c:lblAlgn val="ctr"/>
        <c:lblOffset val="100"/>
        <c:noMultiLvlLbl val="0"/>
      </c:catAx>
      <c:valAx>
        <c:axId val="25410841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25409843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536571</c:v>
                </c:pt>
                <c:pt idx="1">
                  <c:v>550550</c:v>
                </c:pt>
                <c:pt idx="2">
                  <c:v>544213</c:v>
                </c:pt>
                <c:pt idx="3">
                  <c:v>569723</c:v>
                </c:pt>
                <c:pt idx="4">
                  <c:v>573993</c:v>
                </c:pt>
                <c:pt idx="5">
                  <c:v>595370</c:v>
                </c:pt>
                <c:pt idx="6">
                  <c:v>595608</c:v>
                </c:pt>
                <c:pt idx="7">
                  <c:v>584140</c:v>
                </c:pt>
                <c:pt idx="8">
                  <c:v>570221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A84-43A4-9C97-3B7A9628D9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2964608"/>
        <c:axId val="162446336"/>
      </c:barChart>
      <c:catAx>
        <c:axId val="14296460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62446336"/>
        <c:crosses val="autoZero"/>
        <c:auto val="1"/>
        <c:lblAlgn val="ctr"/>
        <c:lblOffset val="100"/>
        <c:noMultiLvlLbl val="0"/>
      </c:catAx>
      <c:valAx>
        <c:axId val="16244633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42964608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14767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chart" Target="../charts/chart6.xml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0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Sinaloa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dirty="0" err="1"/>
              <a:t>Ficha</a:t>
            </a:r>
            <a:r>
              <a:rPr dirty="0"/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dirty="0"/>
              <a:t>Ju</a:t>
            </a:r>
            <a:r>
              <a:rPr lang="es-MX" dirty="0"/>
              <a:t>l</a:t>
            </a:r>
            <a:r>
              <a:rPr dirty="0"/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5" name="Google Shape;67;p15">
            <a:extLst>
              <a:ext uri="{FF2B5EF4-FFF2-40B4-BE49-F238E27FC236}">
                <a16:creationId xmlns:a16="http://schemas.microsoft.com/office/drawing/2014/main" id="{32D4B67B-2B0A-4E25-B264-B77DFB01801B}"/>
              </a:ext>
            </a:extLst>
          </p:cNvPr>
          <p:cNvSpPr/>
          <p:nvPr/>
        </p:nvSpPr>
        <p:spPr>
          <a:xfrm>
            <a:off x="0" y="574025"/>
            <a:ext cx="7772399" cy="1943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Google Shape;68;p15">
            <a:extLst>
              <a:ext uri="{FF2B5EF4-FFF2-40B4-BE49-F238E27FC236}">
                <a16:creationId xmlns:a16="http://schemas.microsoft.com/office/drawing/2014/main" id="{1D45E44B-C786-9D2F-B249-D44B11753F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5868572"/>
              </p:ext>
            </p:extLst>
          </p:nvPr>
        </p:nvGraphicFramePr>
        <p:xfrm>
          <a:off x="848211" y="2530224"/>
          <a:ext cx="5240409" cy="63393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92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295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Prestaciones Médicas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65455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Francisco Domínguez García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Especialidad en Medicina Familiar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septiembre 2021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80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Salud en el Trabajo, Prestaciones Económicas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 Sociales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65455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Jesus Aureliano Cruz Monreal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Administración de Empresas, 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Ciencias Sociales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septiembre 2018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475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Afiliación y Cobranza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65455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Lorena Haro Castro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Derecho Fiscal y Administración Tributaria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septiembre 2020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025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Desarrollo de Personal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65455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Ing. Jesús Guillermo Ojeda Chucuan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Ingeniería en Sistemas Computacionales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marzo 2021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125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Finanzas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65455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Paulina Rodríguez Nava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Administración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enero 2024</a:t>
                      </a:r>
                      <a:endParaRPr sz="11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625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65455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-9000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Sergio Santana Puentes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180000" marR="0" lvl="0" indent="-9000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Contaduría Pública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180000" marR="0" lvl="0" indent="-9000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junio 2018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935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65455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Mirna Alejandra Ramos Monroy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marzo 2023</a:t>
                      </a:r>
                      <a:endParaRPr sz="11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5125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XI SNTSS 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65455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5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-9000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César Noé Angulo Parra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180000" marR="0" lvl="0" indent="-9000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Especialista en Traumatología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180000" marR="0" lvl="0" indent="-9000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enero 2025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5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Google Shape;69;p15">
            <a:extLst>
              <a:ext uri="{FF2B5EF4-FFF2-40B4-BE49-F238E27FC236}">
                <a16:creationId xmlns:a16="http://schemas.microsoft.com/office/drawing/2014/main" id="{3BE35F1F-DD37-2E7B-1375-BE8E5BC81020}"/>
              </a:ext>
            </a:extLst>
          </p:cNvPr>
          <p:cNvSpPr txBox="1"/>
          <p:nvPr/>
        </p:nvSpPr>
        <p:spPr>
          <a:xfrm>
            <a:off x="3186500" y="801425"/>
            <a:ext cx="4060500" cy="114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 b="1" i="0" u="none" strike="noStrike" cap="none" dirty="0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Dra.  Tania Clarissa Medina López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 dirty="0">
                <a:solidFill>
                  <a:srgbClr val="005C4C"/>
                </a:solidFill>
                <a:latin typeface="Montserrat"/>
                <a:ea typeface="Montserrat"/>
                <a:cs typeface="Montserrat"/>
                <a:sym typeface="Montserrat"/>
              </a:rPr>
              <a:t>Maestra en Servicios de Salud</a:t>
            </a: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" sz="1100" b="1" dirty="0">
              <a:solidFill>
                <a:srgbClr val="005C4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MX" sz="1100" b="1" dirty="0">
                <a:solidFill>
                  <a:srgbClr val="005C4C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2021</a:t>
            </a: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rgbClr val="005C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" name="Google Shape;71;p15" title="CG--01.jpg">
            <a:extLst>
              <a:ext uri="{FF2B5EF4-FFF2-40B4-BE49-F238E27FC236}">
                <a16:creationId xmlns:a16="http://schemas.microsoft.com/office/drawing/2014/main" id="{3DE92DDA-D230-E405-ECCD-52B3D6F05EA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6341" y="652299"/>
            <a:ext cx="1317958" cy="1754998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pic>
      <p:pic>
        <p:nvPicPr>
          <p:cNvPr id="13" name="Google Shape;66;p15" title="CG--06.jpg">
            <a:extLst>
              <a:ext uri="{FF2B5EF4-FFF2-40B4-BE49-F238E27FC236}">
                <a16:creationId xmlns:a16="http://schemas.microsoft.com/office/drawing/2014/main" id="{2D2AABD9-4514-7167-8863-9BB7F70BEF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093" y="6754800"/>
            <a:ext cx="663000" cy="80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2;p15" title="CG--04.jpg">
            <a:extLst>
              <a:ext uri="{FF2B5EF4-FFF2-40B4-BE49-F238E27FC236}">
                <a16:creationId xmlns:a16="http://schemas.microsoft.com/office/drawing/2014/main" id="{343CF8B4-4A87-1F4E-3AD2-F2E69A97EBB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5093" y="2517425"/>
            <a:ext cx="663000" cy="94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73;p15" title="CG--14.jpg">
            <a:extLst>
              <a:ext uri="{FF2B5EF4-FFF2-40B4-BE49-F238E27FC236}">
                <a16:creationId xmlns:a16="http://schemas.microsoft.com/office/drawing/2014/main" id="{246C420B-58D0-8A32-4C51-53BCC5FB6D7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5093" y="3464225"/>
            <a:ext cx="663000" cy="946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74;p15" title="CG--18.jpg">
            <a:extLst>
              <a:ext uri="{FF2B5EF4-FFF2-40B4-BE49-F238E27FC236}">
                <a16:creationId xmlns:a16="http://schemas.microsoft.com/office/drawing/2014/main" id="{3FB012AB-B157-A077-83D2-D7978A3741C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5093" y="4411024"/>
            <a:ext cx="663000" cy="855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75;p15" title="CG--41.jpg">
            <a:extLst>
              <a:ext uri="{FF2B5EF4-FFF2-40B4-BE49-F238E27FC236}">
                <a16:creationId xmlns:a16="http://schemas.microsoft.com/office/drawing/2014/main" id="{ED2886F6-512B-C2AB-6EB5-D2166CAF4218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75093" y="5266393"/>
            <a:ext cx="663000" cy="90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76;p15" title="CG--20.jpg">
            <a:extLst>
              <a:ext uri="{FF2B5EF4-FFF2-40B4-BE49-F238E27FC236}">
                <a16:creationId xmlns:a16="http://schemas.microsoft.com/office/drawing/2014/main" id="{6FD6DDAB-DAC6-0165-0B24-094EBA76B59E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75093" y="6169400"/>
            <a:ext cx="663000" cy="69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77;p15" title="CG--22.jpg">
            <a:extLst>
              <a:ext uri="{FF2B5EF4-FFF2-40B4-BE49-F238E27FC236}">
                <a16:creationId xmlns:a16="http://schemas.microsoft.com/office/drawing/2014/main" id="{8393B3E8-2B08-9B91-27BA-77449D764715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5660" y="7502650"/>
            <a:ext cx="674318" cy="82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78;p15" title="Captura de pantalla 2026-02-10 a la(s) 5.21.20 p.m..png">
            <a:extLst>
              <a:ext uri="{FF2B5EF4-FFF2-40B4-BE49-F238E27FC236}">
                <a16:creationId xmlns:a16="http://schemas.microsoft.com/office/drawing/2014/main" id="{8A33284A-A03C-8D1F-1E6F-E6653BD147E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75093" y="8201964"/>
            <a:ext cx="678750" cy="6676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720144"/>
              </p:ext>
            </p:extLst>
          </p:nvPr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216875" y="288900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1,981,548</a:t>
            </a:r>
            <a:br>
              <a:rPr dirty="0"/>
            </a:br>
            <a:r>
              <a:rPr dirty="0"/>
              <a:t>62%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268" y="2910597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529886" y="3085529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90200" y="36144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233,545</a:t>
            </a:r>
            <a:br>
              <a:rPr dirty="0"/>
            </a:br>
            <a:r>
              <a:rPr dirty="0"/>
              <a:t>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147" y="3576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283200" y="3688200"/>
            <a:ext cx="122400" cy="122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91164" y="276677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587,758</a:t>
            </a:r>
            <a:br>
              <a:rPr dirty="0"/>
            </a:br>
            <a:r>
              <a:rPr dirty="0"/>
              <a:t>18%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164" y="2286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102400" y="2444299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24865" y="109980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389,120</a:t>
            </a:r>
            <a:br/>
            <a:r>
              <a:t>12%</a:t>
            </a:r>
          </a:p>
        </p:txBody>
      </p:sp>
      <p:pic>
        <p:nvPicPr>
          <p:cNvPr id="128" name="Picture 127" descr="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4685" y="1067399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717200" y="1244498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901853" y="1056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 err="1"/>
              <a:t>Otros</a:t>
            </a:r>
            <a:br>
              <a:rPr dirty="0"/>
            </a:br>
            <a:r>
              <a:rPr dirty="0"/>
              <a:t>16,068</a:t>
            </a:r>
            <a:br>
              <a:rPr dirty="0"/>
            </a:br>
            <a:r>
              <a:rPr dirty="0"/>
              <a:t>0.50%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8418" y="1058817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4807502" y="11952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3,208,039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765717"/>
              </p:ext>
            </p:extLst>
          </p:nvPr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Categoría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1,839,188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1,981,548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1,007,415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1,140,345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562,199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570,221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224,349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18,845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19,154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268,627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300,063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12%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254,634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286,901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-84%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831,773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841,203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314,048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390,931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337,361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-14%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144,259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189,794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033486"/>
              </p:ext>
            </p:extLst>
          </p:nvPr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1,617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1,295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rPr dirty="0"/>
                        <a:t>-19%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543641"/>
              </p:ext>
            </p:extLst>
          </p:nvPr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16,174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21,630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rPr dirty="0"/>
                        <a:t>34%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459303"/>
              </p:ext>
            </p:extLst>
          </p:nvPr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4</a:t>
                      </a:r>
                      <a:r>
                        <a:rPr lang="es-MX" sz="1000" dirty="0">
                          <a:latin typeface="Montserrat"/>
                        </a:rPr>
                        <a:t>2</a:t>
                      </a:r>
                      <a:r>
                        <a:rPr lang="es-MX" sz="1050" baseline="30000" dirty="0">
                          <a:latin typeface="Montserrat"/>
                        </a:rPr>
                        <a:t>1</a:t>
                      </a:r>
                      <a:endParaRPr sz="700" baseline="30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187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1,122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261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1,196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526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341190"/>
              </p:ext>
            </p:extLst>
          </p:nvPr>
        </p:nvGraphicFramePr>
        <p:xfrm>
          <a:off x="4536000" y="6854400"/>
          <a:ext cx="3096000" cy="125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375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52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101</a:t>
                      </a:r>
                      <a:r>
                        <a:rPr lang="es-MX" sz="1050" baseline="30000" dirty="0"/>
                        <a:t>2</a:t>
                      </a:r>
                      <a:endParaRPr baseline="30000" dirty="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12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28 UMF, 13 UMFH, 1 UMF-UMAA y no incluye 28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yo</a:t>
            </a:r>
            <a:r>
              <a:rPr dirty="0"/>
              <a:t>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F929EF-06DD-C271-359C-BB7E1F2E6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0" y="1527001"/>
            <a:ext cx="5572800" cy="52283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40;g3d0b4d3c5c9_0_62">
            <a:extLst>
              <a:ext uri="{FF2B5EF4-FFF2-40B4-BE49-F238E27FC236}">
                <a16:creationId xmlns:a16="http://schemas.microsoft.com/office/drawing/2014/main" id="{C89141B9-0E54-09CF-5371-43414F00E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6630730"/>
              </p:ext>
            </p:extLst>
          </p:nvPr>
        </p:nvGraphicFramePr>
        <p:xfrm>
          <a:off x="286800" y="1191600"/>
          <a:ext cx="74856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8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Culiacán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Sinaloa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42;g3d0b4d3c5c9_0_62">
            <a:extLst>
              <a:ext uri="{FF2B5EF4-FFF2-40B4-BE49-F238E27FC236}">
                <a16:creationId xmlns:a16="http://schemas.microsoft.com/office/drawing/2014/main" id="{EF93BFD4-EABE-C469-F35F-0FA17359C0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629" t="2878" r="35054" b="6145"/>
          <a:stretch>
            <a:fillRect/>
          </a:stretch>
        </p:blipFill>
        <p:spPr>
          <a:xfrm>
            <a:off x="281749" y="2127074"/>
            <a:ext cx="3130826" cy="26879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479888C-9BE6-F529-AE80-31E7E4721BF9}"/>
              </a:ext>
            </a:extLst>
          </p:cNvPr>
          <p:cNvSpPr txBox="1"/>
          <p:nvPr/>
        </p:nvSpPr>
        <p:spPr>
          <a:xfrm>
            <a:off x="3675059" y="2123563"/>
            <a:ext cx="3896138" cy="25468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12 de septiembre de 1955 el IMSS inició en la entidad con la formación de la Unión Médica de Culiacán, que brindó atención subrogada.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julio de 1957 se incorporan los municipios de Ahome, El Fuerte, Guasave y Mazatlán.</a:t>
            </a:r>
          </a:p>
          <a:p>
            <a:pPr algn="just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>
                <a:latin typeface="Montserrat"/>
              </a:rPr>
              <a:t>En octubre</a:t>
            </a: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/>
              </a:rPr>
              <a:t> de </a:t>
            </a:r>
            <a:r>
              <a:rPr lang="es-ES" sz="1200">
                <a:latin typeface="Montserrat"/>
              </a:rPr>
              <a:t>1955</a:t>
            </a: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/>
              </a:rPr>
              <a:t> se inauguró el primer 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/>
              </a:rPr>
              <a:t>hospital del IMSS en la entidad, en Culiacán: el Hospital General Regional No. 1.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 brindaron servicios básicos de hospitalización, urgencias, cirugía general, medicina interna, gineco-obstetricia y pediatría.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5_SINALO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162986"/>
              </p:ext>
            </p:extLst>
          </p:nvPr>
        </p:nvGraphicFramePr>
        <p:xfrm>
          <a:off x="75600" y="6476399"/>
          <a:ext cx="7650000" cy="257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58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¹Incluye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quirófano</a:t>
            </a:r>
            <a:r>
              <a:rPr dirty="0"/>
              <a:t>,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híbridas</a:t>
            </a:r>
            <a:r>
              <a:rPr dirty="0"/>
              <a:t> y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IFU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yo</a:t>
            </a:r>
            <a:r>
              <a:rPr dirty="0"/>
              <a:t>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671823"/>
              </p:ext>
            </p:extLst>
          </p:nvPr>
        </p:nvGraphicFramePr>
        <p:xfrm>
          <a:off x="75600" y="1234800"/>
          <a:ext cx="7650000" cy="142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IMSS-</a:t>
                      </a:r>
                      <a:r>
                        <a:rPr dirty="0" err="1"/>
                        <a:t>Coplamar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Inicio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operaciones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 Unión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El Fuerte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1,169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70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¹Incluye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quirófano</a:t>
            </a:r>
            <a:r>
              <a:rPr dirty="0"/>
              <a:t>,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híbridas</a:t>
            </a:r>
            <a:r>
              <a:rPr dirty="0"/>
              <a:t> y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IFU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yo</a:t>
            </a:r>
            <a:r>
              <a:rPr dirty="0"/>
              <a:t> de 2026</a:t>
            </a:r>
          </a:p>
        </p:txBody>
      </p:sp>
      <p:graphicFrame>
        <p:nvGraphicFramePr>
          <p:cNvPr id="152" name="Google Shape;152;g370e475fb19_0_8"/>
          <p:cNvGraphicFramePr/>
          <p:nvPr>
            <p:extLst>
              <p:ext uri="{D42A27DB-BD31-4B8C-83A1-F6EECF244321}">
                <p14:modId xmlns:p14="http://schemas.microsoft.com/office/powerpoint/2010/main" val="3040173422"/>
              </p:ext>
            </p:extLst>
          </p:nvPr>
        </p:nvGraphicFramePr>
        <p:xfrm>
          <a:off x="149075" y="2768907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Grupo 6">
            <a:extLst>
              <a:ext uri="{FF2B5EF4-FFF2-40B4-BE49-F238E27FC236}">
                <a16:creationId xmlns:a16="http://schemas.microsoft.com/office/drawing/2014/main" id="{E714F701-9E9D-2C1F-CB18-07FE70F08B9B}"/>
              </a:ext>
            </a:extLst>
          </p:cNvPr>
          <p:cNvGrpSpPr/>
          <p:nvPr/>
        </p:nvGrpSpPr>
        <p:grpSpPr>
          <a:xfrm>
            <a:off x="-91800" y="6039100"/>
            <a:ext cx="7772400" cy="2995172"/>
            <a:chOff x="-91800" y="5535643"/>
            <a:chExt cx="7772400" cy="2995172"/>
          </a:xfrm>
        </p:grpSpPr>
        <p:sp>
          <p:nvSpPr>
            <p:cNvPr id="8" name="Google Shape;294;g3d635d120e2_2_123">
              <a:extLst>
                <a:ext uri="{FF2B5EF4-FFF2-40B4-BE49-F238E27FC236}">
                  <a16:creationId xmlns:a16="http://schemas.microsoft.com/office/drawing/2014/main" id="{4976B7D3-2BCD-0825-E863-85F0C202C1B6}"/>
                </a:ext>
              </a:extLst>
            </p:cNvPr>
            <p:cNvSpPr txBox="1"/>
            <p:nvPr/>
          </p:nvSpPr>
          <p:spPr>
            <a:xfrm>
              <a:off x="-91800" y="5535643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" name="Google Shape;299;g3d635d120e2_2_123">
              <a:extLst>
                <a:ext uri="{FF2B5EF4-FFF2-40B4-BE49-F238E27FC236}">
                  <a16:creationId xmlns:a16="http://schemas.microsoft.com/office/drawing/2014/main" id="{A89E61C4-0153-8804-4900-92FD0C51657D}"/>
                </a:ext>
              </a:extLst>
            </p:cNvPr>
            <p:cNvGrpSpPr/>
            <p:nvPr/>
          </p:nvGrpSpPr>
          <p:grpSpPr>
            <a:xfrm>
              <a:off x="2614861" y="7567413"/>
              <a:ext cx="2292687" cy="963402"/>
              <a:chOff x="5317637" y="7349086"/>
              <a:chExt cx="2292687" cy="963402"/>
            </a:xfrm>
          </p:grpSpPr>
          <p:sp>
            <p:nvSpPr>
              <p:cNvPr id="10" name="Google Shape;300;g3d635d120e2_2_123">
                <a:extLst>
                  <a:ext uri="{FF2B5EF4-FFF2-40B4-BE49-F238E27FC236}">
                    <a16:creationId xmlns:a16="http://schemas.microsoft.com/office/drawing/2014/main" id="{AA688E61-646B-187B-5DFC-22517EC195D9}"/>
                  </a:ext>
                </a:extLst>
              </p:cNvPr>
              <p:cNvSpPr/>
              <p:nvPr/>
            </p:nvSpPr>
            <p:spPr>
              <a:xfrm>
                <a:off x="5417622" y="7349086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1" name="Google Shape;301;g3d635d120e2_2_123">
                <a:extLst>
                  <a:ext uri="{FF2B5EF4-FFF2-40B4-BE49-F238E27FC236}">
                    <a16:creationId xmlns:a16="http://schemas.microsoft.com/office/drawing/2014/main" id="{129F620F-14F8-86F1-F056-7CCEFE41986B}"/>
                  </a:ext>
                </a:extLst>
              </p:cNvPr>
              <p:cNvSpPr/>
              <p:nvPr/>
            </p:nvSpPr>
            <p:spPr>
              <a:xfrm>
                <a:off x="5871824" y="7349093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302;g3d635d120e2_2_123">
                <a:extLst>
                  <a:ext uri="{FF2B5EF4-FFF2-40B4-BE49-F238E27FC236}">
                    <a16:creationId xmlns:a16="http://schemas.microsoft.com/office/drawing/2014/main" id="{64A838F5-890B-57B6-4500-2586886DC868}"/>
                  </a:ext>
                </a:extLst>
              </p:cNvPr>
              <p:cNvSpPr txBox="1"/>
              <p:nvPr/>
            </p:nvSpPr>
            <p:spPr>
              <a:xfrm>
                <a:off x="5317637" y="7761988"/>
                <a:ext cx="22911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dirty="0">
                    <a:solidFill>
                      <a:schemeClr val="tx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UMF 46 Culiacán</a:t>
                </a:r>
              </a:p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3" name="Google Shape;303;g3d635d120e2_2_123">
              <a:extLst>
                <a:ext uri="{FF2B5EF4-FFF2-40B4-BE49-F238E27FC236}">
                  <a16:creationId xmlns:a16="http://schemas.microsoft.com/office/drawing/2014/main" id="{D883EB7F-12AB-8411-9B2B-5E0C9137A83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552400" y="6180976"/>
              <a:ext cx="2416022" cy="1466403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248316"/>
              </p:ext>
            </p:extLst>
          </p:nvPr>
        </p:nvGraphicFramePr>
        <p:xfrm>
          <a:off x="93600" y="3227307"/>
          <a:ext cx="7534799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Rectangle 154">
            <a:extLst>
              <a:ext uri="{FF2B5EF4-FFF2-40B4-BE49-F238E27FC236}">
                <a16:creationId xmlns:a16="http://schemas.microsoft.com/office/drawing/2014/main" id="{69F5B289-27D2-82FC-2E7D-A764F86C6F43}"/>
              </a:ext>
            </a:extLst>
          </p:cNvPr>
          <p:cNvSpPr/>
          <p:nvPr/>
        </p:nvSpPr>
        <p:spPr>
          <a:xfrm>
            <a:off x="205199" y="8980177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55">
            <a:extLst>
              <a:ext uri="{FF2B5EF4-FFF2-40B4-BE49-F238E27FC236}">
                <a16:creationId xmlns:a16="http://schemas.microsoft.com/office/drawing/2014/main" id="{D588B8E5-1C9E-3A82-51C0-01EF086CF31B}"/>
              </a:ext>
            </a:extLst>
          </p:cNvPr>
          <p:cNvSpPr txBox="1"/>
          <p:nvPr/>
        </p:nvSpPr>
        <p:spPr>
          <a:xfrm>
            <a:off x="406799" y="8879377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>
                <a:solidFill>
                  <a:schemeClr val="tx1"/>
                </a:solidFill>
              </a:rPr>
              <a:t>Proyectos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implementación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sustitución</a:t>
            </a:r>
            <a:r>
              <a:rPr dirty="0">
                <a:solidFill>
                  <a:schemeClr val="tx1"/>
                </a:solidFill>
              </a:rPr>
              <a:t> 2019-2025. </a:t>
            </a:r>
            <a:r>
              <a:rPr dirty="0" err="1">
                <a:solidFill>
                  <a:schemeClr val="tx1"/>
                </a:solidFill>
              </a:rPr>
              <a:t>Incluye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equipo</a:t>
            </a:r>
            <a:r>
              <a:rPr dirty="0">
                <a:solidFill>
                  <a:schemeClr val="tx1"/>
                </a:solidFill>
              </a:rPr>
              <a:t> de la </a:t>
            </a:r>
            <a:r>
              <a:rPr dirty="0" err="1">
                <a:solidFill>
                  <a:schemeClr val="tx1"/>
                </a:solidFill>
              </a:rPr>
              <a:t>compra</a:t>
            </a:r>
            <a:r>
              <a:rPr dirty="0">
                <a:solidFill>
                  <a:schemeClr val="tx1"/>
                </a:solidFill>
              </a:rPr>
              <a:t> 2025-2026.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Fuente: Cédula de </a:t>
            </a:r>
            <a:r>
              <a:rPr dirty="0" err="1">
                <a:solidFill>
                  <a:schemeClr val="tx1"/>
                </a:solidFill>
              </a:rPr>
              <a:t>actualización</a:t>
            </a:r>
            <a:r>
              <a:rPr dirty="0">
                <a:solidFill>
                  <a:schemeClr val="tx1"/>
                </a:solidFill>
              </a:rPr>
              <a:t> de variables </a:t>
            </a:r>
            <a:r>
              <a:rPr dirty="0" err="1">
                <a:solidFill>
                  <a:schemeClr val="tx1"/>
                </a:solidFill>
              </a:rPr>
              <a:t>seleccionadas</a:t>
            </a:r>
            <a:r>
              <a:rPr dirty="0">
                <a:solidFill>
                  <a:schemeClr val="tx1"/>
                </a:solidFill>
              </a:rPr>
              <a:t> del IFU, </a:t>
            </a:r>
            <a:r>
              <a:rPr dirty="0" err="1">
                <a:solidFill>
                  <a:schemeClr val="tx1"/>
                </a:solidFill>
              </a:rPr>
              <a:t>enviadas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por</a:t>
            </a:r>
            <a:r>
              <a:rPr dirty="0">
                <a:solidFill>
                  <a:schemeClr val="tx1"/>
                </a:solidFill>
              </a:rPr>
              <a:t> el OOAD.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ma</a:t>
            </a:r>
            <a:r>
              <a:rPr lang="es-MX" dirty="0">
                <a:solidFill>
                  <a:schemeClr val="tx1"/>
                </a:solidFill>
              </a:rPr>
              <a:t>yo</a:t>
            </a:r>
            <a:r>
              <a:rPr dirty="0">
                <a:solidFill>
                  <a:schemeClr val="tx1"/>
                </a:solidFill>
              </a:rPr>
              <a:t>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81047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A5BBCCB-D142-BA65-71AC-01A4691445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D759BF1B-873B-76EC-F2B8-DC4E36B097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9584AE7-E7C4-D1B6-937F-AF6FFA49A6CD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FBD1F7E-8F6E-71D0-B66F-40C60A9A89AB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F1BE974-10B9-726A-A257-0D068BFDDC06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AD4DC8C9-D5CF-FD96-AAFA-3CC73AC97211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A8E17E63-8D96-3BB9-7A47-C9AE01DAADF7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+1,396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+132,501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+111,761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222422"/>
              </p:ext>
            </p:extLst>
          </p:nvPr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Indicador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Incremento</a:t>
                      </a:r>
                      <a:r>
                        <a:rPr dirty="0"/>
                        <a:t>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3,412,735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132,501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1,541,481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3,410,252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783,062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111,761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374,117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840,230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44.5%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43,933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1,396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21,070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52,420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40.2%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46075"/>
              </p:ext>
            </p:extLst>
          </p:nvPr>
        </p:nvGraphicFramePr>
        <p:xfrm>
          <a:off x="151200" y="1692000"/>
          <a:ext cx="7473599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Consultas</a:t>
                      </a:r>
                      <a:r>
                        <a:rPr dirty="0"/>
                        <a:t>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Santa Rosa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5,098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22 El Dorado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70,925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809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33,244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90,828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18 El Colorado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2,775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Bachoco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5,161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Villa Juárez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53,869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-5,202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25,553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Cabezón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2,523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La Entrada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Tamazula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16,046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Topolobampo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14,225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1,510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6,366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El Rosario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22,059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9,550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23 La Reforma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40,953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18,646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15 Juan José Ríos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38,436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16,844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9 Ruíz Cortínez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37,817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16,286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6 Ahome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11,380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7 Higuera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25,093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1,751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San Miguel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24,390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11,106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8 Mochicahui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23,272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-1,319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10,440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33 El Carrizo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23,011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9,890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E. Marmol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29 Escuinapa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23,073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-338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10,127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Villa Ángel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43,292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20,948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Jahuara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6,997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3,399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Chávez Talaman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Bamoa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23,483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11,075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Choix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11,288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5,223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Pericos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11,636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5,469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La Cruz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41,266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20,439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San Ignacio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La Angostura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29,642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-1,126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12,531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43.2%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La Concordia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6,507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3,202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40.0%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San Blas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14,875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-944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6,197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15,000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41.3%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Cosala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-1,889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Mazatlan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130,918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-2,109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57,596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41.8%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Culiacán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73,110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33,446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47.1%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53 Inf. Barran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-432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7,136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47.6%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Mocorito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11,650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42.4%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911,159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11,596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413,413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959,196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43.1%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03108"/>
              </p:ext>
            </p:extLst>
          </p:nvPr>
        </p:nvGraphicFramePr>
        <p:xfrm>
          <a:off x="4008258" y="7768660"/>
          <a:ext cx="1682250" cy="161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008258" y="8339252"/>
            <a:ext cx="1682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9F2241"/>
                </a:solidFill>
                <a:latin typeface="Montserrat"/>
              </a:rPr>
              <a:t>43.1%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0808" y="8339252"/>
            <a:ext cx="1682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5056" y="8029912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959,196 </a:t>
            </a:r>
            <a:br>
              <a:rPr dirty="0"/>
            </a:br>
            <a:r>
              <a:rPr dirty="0"/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adroTexto 286">
            <a:extLst>
              <a:ext uri="{FF2B5EF4-FFF2-40B4-BE49-F238E27FC236}">
                <a16:creationId xmlns:a16="http://schemas.microsoft.com/office/drawing/2014/main" id="{13CBD76B-7967-0DF1-2AEA-2EDF7882800F}"/>
              </a:ext>
            </a:extLst>
          </p:cNvPr>
          <p:cNvSpPr txBox="1"/>
          <p:nvPr/>
        </p:nvSpPr>
        <p:spPr>
          <a:xfrm>
            <a:off x="4279421" y="478295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6 Nuevas UMTC con   18 consultorios</a:t>
            </a:r>
          </a:p>
        </p:txBody>
      </p: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0C091ABD-4C4F-A5A6-93EF-DC003DEF2584}"/>
              </a:ext>
            </a:extLst>
          </p:cNvPr>
          <p:cNvSpPr txBox="1"/>
          <p:nvPr/>
        </p:nvSpPr>
        <p:spPr>
          <a:xfrm>
            <a:off x="4532620" y="5839332"/>
            <a:ext cx="27534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31 El Rosario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13 San Miguel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15 Juan José Ríos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51 La Angostura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3 Mazatlán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45 Mazatlán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47600" y="917999"/>
            <a:ext cx="71384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rPr sz="1800" dirty="0"/>
              <a:t>6 </a:t>
            </a:r>
            <a:r>
              <a:rPr sz="1800" dirty="0" err="1"/>
              <a:t>Unidades</a:t>
            </a:r>
            <a:r>
              <a:rPr sz="1800" dirty="0"/>
              <a:t> </a:t>
            </a:r>
            <a:r>
              <a:rPr sz="1800" dirty="0" err="1"/>
              <a:t>Médicas</a:t>
            </a:r>
            <a:r>
              <a:rPr sz="1800" dirty="0"/>
              <a:t> de </a:t>
            </a:r>
            <a:r>
              <a:rPr sz="1800" dirty="0" err="1"/>
              <a:t>tiempo</a:t>
            </a:r>
            <a:r>
              <a:rPr sz="1800" dirty="0"/>
              <a:t> </a:t>
            </a:r>
            <a:r>
              <a:rPr sz="1800" dirty="0" err="1"/>
              <a:t>completo</a:t>
            </a:r>
            <a:r>
              <a:rPr sz="1800" dirty="0"/>
              <a:t> (31 </a:t>
            </a:r>
            <a:r>
              <a:rPr sz="1800" dirty="0" err="1"/>
              <a:t>consultorios</a:t>
            </a:r>
            <a:r>
              <a:rPr sz="1800" dirty="0"/>
              <a:t>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895164" y="5128272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(173,571 consultas)</a:t>
            </a:r>
          </a:p>
        </p:txBody>
      </p:sp>
      <p:graphicFrame>
        <p:nvGraphicFramePr>
          <p:cNvPr id="296" name="Table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371190"/>
              </p:ext>
            </p:extLst>
          </p:nvPr>
        </p:nvGraphicFramePr>
        <p:xfrm>
          <a:off x="151200" y="1695600"/>
          <a:ext cx="7473599" cy="216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741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Incremento</a:t>
                      </a:r>
                      <a:r>
                        <a:rPr dirty="0"/>
                        <a:t>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Los Mochis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389,944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-3,115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172,694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9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Culiacán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284,749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10,560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128,061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275,520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36 Culiacán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301,284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134,930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9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46 Culiacán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243,233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7,304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105,744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236,000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9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55 Culiacán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68,830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145,000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9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Prados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149,024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16,922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66,443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45.8%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1,518,235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58,119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676,702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1,469,520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46.0%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7" name="Chart 2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370982"/>
              </p:ext>
            </p:extLst>
          </p:nvPr>
        </p:nvGraphicFramePr>
        <p:xfrm>
          <a:off x="339964" y="5095872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8" name="TextBox 297"/>
          <p:cNvSpPr txBox="1"/>
          <p:nvPr/>
        </p:nvSpPr>
        <p:spPr>
          <a:xfrm>
            <a:off x="339964" y="5791527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1365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622881"/>
              </p:ext>
            </p:extLst>
          </p:nvPr>
        </p:nvGraphicFramePr>
        <p:xfrm>
          <a:off x="144000" y="1494000"/>
          <a:ext cx="7340399" cy="320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124,562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21,384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60,297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48.3%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312,366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35,462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146,223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308,790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27,798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66,573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30,684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4,255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15,285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35,040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9,964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23,360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73,393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32,606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78,840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19,426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52,560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Culiacán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11,653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12,090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37,230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32.5%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783,062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111,761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374,117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840,230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44.5%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902480"/>
              </p:ext>
            </p:extLst>
          </p:nvPr>
        </p:nvGraphicFramePr>
        <p:xfrm>
          <a:off x="4183591" y="5528843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183591" y="6248843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44.5%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183591" y="7148843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328791" y="6009443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840,230 </a:t>
            </a:r>
            <a:br>
              <a:rPr dirty="0"/>
            </a:br>
            <a:r>
              <a:rPr dirty="0"/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37073711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69741"/>
              </p:ext>
            </p:extLst>
          </p:nvPr>
        </p:nvGraphicFramePr>
        <p:xfrm>
          <a:off x="144000" y="1137600"/>
          <a:ext cx="7340399" cy="320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2,204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969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2,091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13,851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6,874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Culiacán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-783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2,367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1,489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724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2,508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3,066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8,519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5,737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35.8%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1,914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35.2%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43,933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21,070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52,420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40.2%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29079"/>
              </p:ext>
            </p:extLst>
          </p:nvPr>
        </p:nvGraphicFramePr>
        <p:xfrm>
          <a:off x="4198338" y="5528493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198338" y="6248493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198338" y="7148493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343538" y="6009093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52,420 </a:t>
            </a:r>
            <a:br>
              <a:rPr dirty="0"/>
            </a:br>
            <a:r>
              <a:rPr dirty="0"/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81 en Hospitales, 4 en sede, 2 en UMF y 123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34097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81 </a:t>
            </a:r>
            <a:r>
              <a:rPr dirty="0" err="1"/>
              <a:t>en</a:t>
            </a:r>
            <a:r>
              <a:rPr dirty="0"/>
              <a:t> Hospitales</a:t>
            </a:r>
            <a:r>
              <a:rPr lang="es-MX" dirty="0"/>
              <a:t> (1 de 2)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3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716000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716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37B255A4-F205-9933-3E63-31F076492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287502"/>
              </p:ext>
            </p:extLst>
          </p:nvPr>
        </p:nvGraphicFramePr>
        <p:xfrm>
          <a:off x="360000" y="6468172"/>
          <a:ext cx="3456000" cy="22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El Fuerte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6" name="Table 7">
            <a:extLst>
              <a:ext uri="{FF2B5EF4-FFF2-40B4-BE49-F238E27FC236}">
                <a16:creationId xmlns:a16="http://schemas.microsoft.com/office/drawing/2014/main" id="{EBAFC556-B536-DED0-0064-10570A26B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893413"/>
              </p:ext>
            </p:extLst>
          </p:nvPr>
        </p:nvGraphicFramePr>
        <p:xfrm>
          <a:off x="3960000" y="5822291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Unión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8" name="Table 8">
            <a:extLst>
              <a:ext uri="{FF2B5EF4-FFF2-40B4-BE49-F238E27FC236}">
                <a16:creationId xmlns:a16="http://schemas.microsoft.com/office/drawing/2014/main" id="{C4C84F41-16B3-D559-CE7D-05CF56ECA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991263"/>
              </p:ext>
            </p:extLst>
          </p:nvPr>
        </p:nvGraphicFramePr>
        <p:xfrm>
          <a:off x="3960000" y="784845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458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147721"/>
            <a:ext cx="393889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4 </a:t>
            </a:r>
            <a:r>
              <a:rPr dirty="0" err="1"/>
              <a:t>Sede</a:t>
            </a:r>
            <a:r>
              <a:rPr dirty="0"/>
              <a:t> </a:t>
            </a:r>
            <a:r>
              <a:rPr dirty="0" err="1"/>
              <a:t>delegacional</a:t>
            </a:r>
            <a:r>
              <a:rPr lang="es-MX" dirty="0"/>
              <a:t> (2 de 2)</a:t>
            </a:r>
            <a:endParaRPr dirty="0"/>
          </a:p>
        </p:txBody>
      </p:sp>
      <p:cxnSp>
        <p:nvCxnSpPr>
          <p:cNvPr id="11" name="Connector 10"/>
          <p:cNvCxnSpPr/>
          <p:nvPr/>
        </p:nvCxnSpPr>
        <p:spPr>
          <a:xfrm>
            <a:off x="360000" y="1563776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43802"/>
              </p:ext>
            </p:extLst>
          </p:nvPr>
        </p:nvGraphicFramePr>
        <p:xfrm>
          <a:off x="360000" y="163577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3"/>
          <p:cNvSpPr txBox="1"/>
          <p:nvPr/>
        </p:nvSpPr>
        <p:spPr>
          <a:xfrm>
            <a:off x="360000" y="2669142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en Unidades de Medicina Familiar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360000" y="3065142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01697"/>
              </p:ext>
            </p:extLst>
          </p:nvPr>
        </p:nvGraphicFramePr>
        <p:xfrm>
          <a:off x="360000" y="313714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252038"/>
              </p:ext>
            </p:extLst>
          </p:nvPr>
        </p:nvGraphicFramePr>
        <p:xfrm>
          <a:off x="3960000" y="313714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7"/>
          <p:cNvSpPr txBox="1"/>
          <p:nvPr/>
        </p:nvSpPr>
        <p:spPr>
          <a:xfrm>
            <a:off x="360000" y="4217141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123 especialistas (sustitutos)</a:t>
            </a:r>
          </a:p>
        </p:txBody>
      </p:sp>
      <p:cxnSp>
        <p:nvCxnSpPr>
          <p:cNvPr id="18" name="Connector 8"/>
          <p:cNvCxnSpPr/>
          <p:nvPr/>
        </p:nvCxnSpPr>
        <p:spPr>
          <a:xfrm>
            <a:off x="360000" y="4613141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100748"/>
              </p:ext>
            </p:extLst>
          </p:nvPr>
        </p:nvGraphicFramePr>
        <p:xfrm>
          <a:off x="360000" y="4685141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466889"/>
              </p:ext>
            </p:extLst>
          </p:nvPr>
        </p:nvGraphicFramePr>
        <p:xfrm>
          <a:off x="3960000" y="4685141"/>
          <a:ext cx="3456000" cy="2949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1" name="TextBox 11"/>
          <p:cNvSpPr txBox="1"/>
          <p:nvPr/>
        </p:nvSpPr>
        <p:spPr>
          <a:xfrm>
            <a:off x="291771" y="8650801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636515"/>
            <a:ext cx="482856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Contrataciones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especialidad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223200" y="1037833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721465"/>
              </p:ext>
            </p:extLst>
          </p:nvPr>
        </p:nvGraphicFramePr>
        <p:xfrm>
          <a:off x="1081800" y="1120364"/>
          <a:ext cx="5756399" cy="8317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6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50" dirty="0" err="1"/>
                        <a:t>Especialidad</a:t>
                      </a:r>
                      <a:endParaRPr sz="950" dirty="0"/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50" dirty="0" err="1"/>
                        <a:t>Número</a:t>
                      </a:r>
                      <a:endParaRPr sz="950" dirty="0"/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% </a:t>
                      </a:r>
                      <a:r>
                        <a:rPr sz="950" dirty="0" err="1"/>
                        <a:t>Acumulado</a:t>
                      </a:r>
                      <a:endParaRPr sz="950" dirty="0"/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37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17.6%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 err="1"/>
                        <a:t>Ginecología</a:t>
                      </a:r>
                      <a:r>
                        <a:rPr sz="950" dirty="0"/>
                        <a:t> y </a:t>
                      </a:r>
                      <a:r>
                        <a:rPr sz="950" dirty="0" err="1"/>
                        <a:t>Obstetricia</a:t>
                      </a:r>
                      <a:endParaRPr sz="950" dirty="0"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34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33.8%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 err="1"/>
                        <a:t>Anestesiología</a:t>
                      </a:r>
                      <a:endParaRPr sz="950"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30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48.0%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19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57.1%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66.1%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Cirugía General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72.3%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76.6%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79.5%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 err="1"/>
                        <a:t>Imagenología</a:t>
                      </a:r>
                      <a:r>
                        <a:rPr sz="950" dirty="0"/>
                        <a:t> </a:t>
                      </a:r>
                      <a:r>
                        <a:rPr sz="950" dirty="0" err="1"/>
                        <a:t>Diagnóstico</a:t>
                      </a:r>
                      <a:r>
                        <a:rPr sz="950" dirty="0"/>
                        <a:t> y </a:t>
                      </a:r>
                      <a:r>
                        <a:rPr sz="950" dirty="0" err="1"/>
                        <a:t>Terapéutica</a:t>
                      </a:r>
                      <a:endParaRPr sz="950"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81.4%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83.3%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85.2%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Nefrología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86.6%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88.0%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Oftalmología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89.5%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90.4%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Endocrinología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91.4%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92.3%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93.3%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94.2%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Anestesiología para los Servicios Rurales de Salud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94.7%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Audiología Otoneurología y Foniatría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95.2%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Cirugía Cardiotorácica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95.7%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Alergia e Inmunología Clínica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96.1%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 err="1"/>
                        <a:t>Hematología</a:t>
                      </a:r>
                      <a:r>
                        <a:rPr sz="950" dirty="0"/>
                        <a:t> </a:t>
                      </a:r>
                      <a:r>
                        <a:rPr sz="950" dirty="0" err="1"/>
                        <a:t>Pediátrica</a:t>
                      </a:r>
                      <a:endParaRPr sz="950" dirty="0"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96.6%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 err="1"/>
                        <a:t>Cirugía</a:t>
                      </a:r>
                      <a:r>
                        <a:rPr sz="950" dirty="0"/>
                        <a:t> </a:t>
                      </a:r>
                      <a:r>
                        <a:rPr sz="950" dirty="0" err="1"/>
                        <a:t>Plástica</a:t>
                      </a:r>
                      <a:r>
                        <a:rPr sz="950" dirty="0"/>
                        <a:t> y </a:t>
                      </a:r>
                      <a:r>
                        <a:rPr sz="950" dirty="0" err="1"/>
                        <a:t>Reconstructiva</a:t>
                      </a:r>
                      <a:endParaRPr sz="950"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97.1%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 err="1"/>
                        <a:t>Cardiología</a:t>
                      </a:r>
                      <a:endParaRPr sz="950" dirty="0"/>
                    </a:p>
                  </a:txBody>
                  <a:tcPr marL="45720" marR="4572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1</a:t>
                      </a:r>
                    </a:p>
                  </a:txBody>
                  <a:tcPr marL="45720" marR="4572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97.6%</a:t>
                      </a:r>
                    </a:p>
                  </a:txBody>
                  <a:tcPr marL="45720" marR="4572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22216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Medicina del Enfermo </a:t>
                      </a:r>
                      <a:r>
                        <a:rPr sz="950" dirty="0" err="1"/>
                        <a:t>en</a:t>
                      </a:r>
                      <a:r>
                        <a:rPr sz="950" dirty="0"/>
                        <a:t> Estado </a:t>
                      </a:r>
                      <a:r>
                        <a:rPr sz="950" dirty="0" err="1"/>
                        <a:t>Crítico</a:t>
                      </a:r>
                      <a:endParaRPr sz="950" dirty="0"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274748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Oncología Médica</a:t>
                      </a:r>
                    </a:p>
                  </a:txBody>
                  <a:tcPr marL="45720" marR="4572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1</a:t>
                      </a:r>
                    </a:p>
                  </a:txBody>
                  <a:tcPr marL="45720" marR="4572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98.5%</a:t>
                      </a:r>
                    </a:p>
                  </a:txBody>
                  <a:tcPr marL="45720" marR="4572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262903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Neurocirugía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99.0%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82654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Psiquiatría</a:t>
                      </a:r>
                    </a:p>
                  </a:txBody>
                  <a:tcPr marL="45720" marR="4572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1</a:t>
                      </a:r>
                    </a:p>
                  </a:txBody>
                  <a:tcPr marL="45720" marR="4572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99.5%</a:t>
                      </a:r>
                    </a:p>
                  </a:txBody>
                  <a:tcPr marL="45720" marR="4572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683117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/>
                        <a:t>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99.9%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298610"/>
                  </a:ext>
                </a:extLst>
              </a:tr>
              <a:tr h="18818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sz="950"/>
                        <a:t>Total</a:t>
                      </a:r>
                    </a:p>
                  </a:txBody>
                  <a:tcPr marL="45720" marR="4572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sz="950"/>
                        <a:t>210</a:t>
                      </a:r>
                    </a:p>
                  </a:txBody>
                  <a:tcPr marL="45720" marR="4572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sz="950" dirty="0"/>
                        <a:t>100.0%</a:t>
                      </a:r>
                    </a:p>
                  </a:txBody>
                  <a:tcPr marL="45720" marR="4572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86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9ABF5456-DE19-30EB-B312-5E3E1558A8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1386700"/>
              </p:ext>
            </p:extLst>
          </p:nvPr>
        </p:nvGraphicFramePr>
        <p:xfrm>
          <a:off x="287050" y="71574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8690" y="4353659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785454"/>
              </p:ext>
            </p:extLst>
          </p:nvPr>
        </p:nvGraphicFramePr>
        <p:xfrm>
          <a:off x="75942" y="1471035"/>
          <a:ext cx="3639599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16,315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410782"/>
              </p:ext>
            </p:extLst>
          </p:nvPr>
        </p:nvGraphicFramePr>
        <p:xfrm>
          <a:off x="4035942" y="1845435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1,664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4,176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22FCDDEC-2DE1-4073-BBE2-83FBE5D428FB}"/>
              </a:ext>
            </a:extLst>
          </p:cNvPr>
          <p:cNvSpPr txBox="1"/>
          <p:nvPr/>
        </p:nvSpPr>
        <p:spPr>
          <a:xfrm>
            <a:off x="667941" y="6581454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D15CAA55-9589-6F5F-F77D-23E182E225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7692376"/>
              </p:ext>
            </p:extLst>
          </p:nvPr>
        </p:nvGraphicFramePr>
        <p:xfrm>
          <a:off x="200058" y="5378845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12B2EEB4-008C-A8E1-7314-F4B4BDB17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949376"/>
              </p:ext>
            </p:extLst>
          </p:nvPr>
        </p:nvGraphicFramePr>
        <p:xfrm>
          <a:off x="659906" y="5873379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2,547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2,339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303,459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201,524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1F39287F-1E83-AA7D-7D80-6A628C6E0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101195"/>
              </p:ext>
            </p:extLst>
          </p:nvPr>
        </p:nvGraphicFramePr>
        <p:xfrm>
          <a:off x="1735038" y="6815184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Brigadas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E1DA4F57-39AB-CF67-A2BC-32D8C281ED68}"/>
              </a:ext>
            </a:extLst>
          </p:cNvPr>
          <p:cNvSpPr txBox="1"/>
          <p:nvPr/>
        </p:nvSpPr>
        <p:spPr>
          <a:xfrm>
            <a:off x="1760438" y="7555171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 dirty="0"/>
              <a:t>En cada brigada participan 5 personas del IMSS.</a:t>
            </a:r>
            <a:endParaRPr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CB65656-4743-9F3F-1E71-157901013746}"/>
              </a:ext>
            </a:extLst>
          </p:cNvPr>
          <p:cNvSpPr txBox="1"/>
          <p:nvPr/>
        </p:nvSpPr>
        <p:spPr>
          <a:xfrm>
            <a:off x="387928" y="8360825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11,097</a:t>
            </a:r>
            <a:endParaRPr lang="en-US" sz="2800" b="1" i="0" u="none" strike="noStrike" dirty="0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 dirty="0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C09C51B-2E22-5BF2-3DF8-76D825BEF620}"/>
              </a:ext>
            </a:extLst>
          </p:cNvPr>
          <p:cNvSpPr txBox="1"/>
          <p:nvPr/>
        </p:nvSpPr>
        <p:spPr>
          <a:xfrm>
            <a:off x="2983875" y="8360825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12,137</a:t>
            </a:r>
            <a:endParaRPr lang="en-US" sz="2800" b="1" i="0" u="none" strike="noStrike" dirty="0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 dirty="0">
                <a:latin typeface="Montserrat"/>
                <a:ea typeface="Montserrat"/>
                <a:cs typeface="Montserrat"/>
              </a:rPr>
            </a:br>
            <a:r>
              <a:rPr lang="en-US" sz="1200" b="1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21CFF19-DFF0-3B8D-3C40-07B11F46A26F}"/>
              </a:ext>
            </a:extLst>
          </p:cNvPr>
          <p:cNvSpPr txBox="1"/>
          <p:nvPr/>
        </p:nvSpPr>
        <p:spPr>
          <a:xfrm>
            <a:off x="5408815" y="8360825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7,530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B7A9A361-2599-5910-1FFC-DC56278C5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816" y="7747762"/>
            <a:ext cx="730135" cy="669175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F7E3CA76-BF5F-D2D3-A8A7-52F3F0D25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445" y="7894793"/>
            <a:ext cx="924445" cy="49194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6B03F99B-2180-7904-EA43-F47FBB6C07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879" y="7729751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14,369	 Personal de Salud: 9,250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+61.5%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590548"/>
              </p:ext>
            </p:extLst>
          </p:nvPr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218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+30.4%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107724"/>
              </p:ext>
            </p:extLst>
          </p:nvPr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1,514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1,974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020833"/>
              </p:ext>
            </p:extLst>
          </p:nvPr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2,973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3,411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946224"/>
              </p:ext>
            </p:extLst>
          </p:nvPr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1,937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2,442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+280.2%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50410"/>
              </p:ext>
            </p:extLst>
          </p:nvPr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730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-5.8%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618424"/>
              </p:ext>
            </p:extLst>
          </p:nvPr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475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14,196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1,016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3,391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1,792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20,395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204772"/>
              </p:ext>
            </p:extLst>
          </p:nvPr>
        </p:nvGraphicFramePr>
        <p:xfrm>
          <a:off x="88974" y="1548000"/>
          <a:ext cx="7567200" cy="355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(255,148)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Tumores</a:t>
                      </a:r>
                      <a:r>
                        <a:rPr sz="900" b="0" dirty="0">
                          <a:latin typeface="Montserrat"/>
                        </a:rPr>
                        <a:t> </a:t>
                      </a:r>
                      <a:r>
                        <a:rPr sz="900" b="0" dirty="0" err="1">
                          <a:latin typeface="Montserrat"/>
                        </a:rPr>
                        <a:t>malignos</a:t>
                      </a:r>
                      <a:r>
                        <a:rPr sz="900" b="0" dirty="0">
                          <a:latin typeface="Montserrat"/>
                        </a:rPr>
                        <a:t>
(18,776)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(2,184)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(4,643)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(298)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(172,285)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(17,853)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Cesárea</a:t>
                      </a:r>
                      <a:r>
                        <a:rPr sz="900" b="0" dirty="0">
                          <a:latin typeface="Montserrat"/>
                        </a:rPr>
                        <a:t>
(1,591)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(3,411)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(223)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(36,001)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(15,445)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Cirugía</a:t>
                      </a:r>
                      <a:r>
                        <a:rPr sz="900" b="0" dirty="0">
                          <a:latin typeface="Montserrat"/>
                        </a:rPr>
                        <a:t> de Hernias (</a:t>
                      </a:r>
                      <a:r>
                        <a:rPr sz="900" b="0" dirty="0" err="1">
                          <a:latin typeface="Montserrat"/>
                        </a:rPr>
                        <a:t>Hernioplastía</a:t>
                      </a:r>
                      <a:r>
                        <a:rPr sz="900" b="0" dirty="0">
                          <a:latin typeface="Montserrat"/>
                        </a:rPr>
                        <a:t>)
(826)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Enfermedades</a:t>
                      </a:r>
                      <a:r>
                        <a:rPr sz="900" b="0" dirty="0">
                          <a:latin typeface="Montserrat"/>
                        </a:rPr>
                        <a:t> del </a:t>
                      </a:r>
                      <a:r>
                        <a:rPr sz="900" b="0" dirty="0" err="1">
                          <a:latin typeface="Montserrat"/>
                        </a:rPr>
                        <a:t>corazón</a:t>
                      </a:r>
                      <a:r>
                        <a:rPr sz="900" b="0" dirty="0">
                          <a:latin typeface="Montserrat"/>
                        </a:rPr>
                        <a:t>
(1,291)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(174)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(30,724)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(13,190)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(712)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Enfermedades</a:t>
                      </a:r>
                      <a:r>
                        <a:rPr sz="900" b="0" dirty="0">
                          <a:latin typeface="Montserrat"/>
                        </a:rPr>
                        <a:t> </a:t>
                      </a:r>
                      <a:r>
                        <a:rPr sz="900" b="0" dirty="0" err="1">
                          <a:latin typeface="Montserrat"/>
                        </a:rPr>
                        <a:t>perinatales</a:t>
                      </a:r>
                      <a:r>
                        <a:rPr sz="900" b="0" dirty="0">
                          <a:latin typeface="Montserrat"/>
                        </a:rPr>
                        <a:t>
(1,251)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latin typeface="Montserrat"/>
                        </a:rPr>
                        <a:t>Diabetes mellitus
(152)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(27,741)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(8,821)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(662)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(979)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Insuficiencia</a:t>
                      </a:r>
                      <a:r>
                        <a:rPr sz="900" b="0" dirty="0">
                          <a:latin typeface="Montserrat"/>
                        </a:rPr>
                        <a:t> renal
(90)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2039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rPr dirty="0" err="1"/>
              <a:t>Comparación</a:t>
            </a:r>
            <a:r>
              <a:rPr dirty="0"/>
              <a:t> </a:t>
            </a:r>
            <a:r>
              <a:rPr dirty="0" err="1"/>
              <a:t>interanual</a:t>
            </a:r>
            <a:r>
              <a:rPr dirty="0"/>
              <a:t> de </a:t>
            </a:r>
            <a:r>
              <a:rPr dirty="0" err="1"/>
              <a:t>enero</a:t>
            </a:r>
            <a:r>
              <a:rPr dirty="0"/>
              <a:t> a mayo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año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328256"/>
            <a:ext cx="41440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rPr sz="1800" b="1" dirty="0" err="1"/>
              <a:t>Recetas</a:t>
            </a:r>
            <a:r>
              <a:rPr sz="1800" b="1" dirty="0"/>
              <a:t> </a:t>
            </a:r>
            <a:r>
              <a:rPr sz="1800" b="1" dirty="0" err="1"/>
              <a:t>manuales</a:t>
            </a:r>
            <a:r>
              <a:rPr sz="1800" b="1" dirty="0"/>
              <a:t> y </a:t>
            </a:r>
            <a:r>
              <a:rPr sz="1800" b="1" dirty="0" err="1"/>
              <a:t>electrónicas</a:t>
            </a:r>
            <a:endParaRPr sz="1800" b="1" dirty="0"/>
          </a:p>
        </p:txBody>
      </p:sp>
      <p:cxnSp>
        <p:nvCxnSpPr>
          <p:cNvPr id="9" name="Connector 8"/>
          <p:cNvCxnSpPr/>
          <p:nvPr/>
        </p:nvCxnSpPr>
        <p:spPr>
          <a:xfrm>
            <a:off x="274320" y="6694016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010854"/>
              </p:ext>
            </p:extLst>
          </p:nvPr>
        </p:nvGraphicFramePr>
        <p:xfrm>
          <a:off x="457200" y="6968336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  <a:endParaRPr sz="1100" b="1" dirty="0">
                        <a:solidFill>
                          <a:srgbClr val="FFFFFF"/>
                        </a:solidFill>
                        <a:latin typeface="Montserrat"/>
                      </a:endParaRP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  <a:endParaRPr sz="1100" b="1" dirty="0">
                        <a:solidFill>
                          <a:srgbClr val="FFFFFF"/>
                        </a:solidFill>
                        <a:latin typeface="Montserrat"/>
                      </a:endParaRP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2</a:t>
                      </a:r>
                      <a:r>
                        <a:rPr lang="es-MX"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85,352</a:t>
                      </a:r>
                      <a:endParaRPr sz="1100" b="0" dirty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3,498,097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9</a:t>
                      </a:r>
                      <a:r>
                        <a:rPr lang="es-MX"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2.5</a:t>
                      </a:r>
                      <a:r>
                        <a:rPr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 i="0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2026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70,972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3,422,226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98.0%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F23B0867-F205-43CE-8E46-532CF6032F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0497224"/>
              </p:ext>
            </p:extLst>
          </p:nvPr>
        </p:nvGraphicFramePr>
        <p:xfrm>
          <a:off x="-436878" y="376827"/>
          <a:ext cx="8414657" cy="5415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A187-13E6-B380-52A1-BB125CE9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145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Abasto de </a:t>
            </a:r>
            <a:r>
              <a:rPr dirty="0" err="1"/>
              <a:t>Medicamentos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80000" y="1149495"/>
            <a:ext cx="22057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sz="1800" dirty="0" err="1"/>
              <a:t>Piezas</a:t>
            </a:r>
            <a:r>
              <a:rPr sz="1800" dirty="0"/>
              <a:t> </a:t>
            </a:r>
            <a:r>
              <a:rPr sz="1800" dirty="0" err="1"/>
              <a:t>consumidas</a:t>
            </a:r>
            <a:endParaRPr sz="1800" dirty="0"/>
          </a:p>
        </p:txBody>
      </p:sp>
      <p:cxnSp>
        <p:nvCxnSpPr>
          <p:cNvPr id="5" name="Connector 4"/>
          <p:cNvCxnSpPr/>
          <p:nvPr/>
        </p:nvCxnSpPr>
        <p:spPr>
          <a:xfrm>
            <a:off x="180000" y="1419496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3648" y="5029200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Medicamentos</a:t>
            </a:r>
            <a:r>
              <a:rPr dirty="0"/>
              <a:t> con mayor </a:t>
            </a:r>
            <a:r>
              <a:rPr dirty="0" err="1"/>
              <a:t>demanda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193648" y="52992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130502"/>
              </p:ext>
            </p:extLst>
          </p:nvPr>
        </p:nvGraphicFramePr>
        <p:xfrm>
          <a:off x="193648" y="5479200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Con mayor </a:t>
                      </a:r>
                      <a:r>
                        <a:rPr dirty="0" err="1"/>
                        <a:t>demanda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enero</a:t>
                      </a:r>
                      <a:r>
                        <a:rPr dirty="0"/>
                        <a:t> a </a:t>
                      </a:r>
                      <a:r>
                        <a:rPr lang="es-MX" dirty="0"/>
                        <a:t>mayo</a:t>
                      </a:r>
                      <a:r>
                        <a:rPr dirty="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1,304,679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544,099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529,144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 528,647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522,846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496,890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481,319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472,028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424,018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Hidroclorotiazida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diurético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387,534</a:t>
                      </a:r>
                      <a:endParaRPr dirty="0"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Portal de Control de Abasto.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</a:t>
            </a:r>
            <a:r>
              <a:rPr lang="es-MX" dirty="0"/>
              <a:t>1</a:t>
            </a:r>
            <a:r>
              <a:rPr dirty="0"/>
              <a:t> de </a:t>
            </a:r>
            <a:r>
              <a:rPr lang="es-MX" dirty="0"/>
              <a:t>mayo</a:t>
            </a:r>
            <a:r>
              <a:rPr dirty="0"/>
              <a:t> de 2026.</a:t>
            </a: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0B4AF1E0-523D-447E-BAC5-40A156FE40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3012498"/>
              </p:ext>
            </p:extLst>
          </p:nvPr>
        </p:nvGraphicFramePr>
        <p:xfrm>
          <a:off x="406327" y="1500847"/>
          <a:ext cx="6913446" cy="2750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1979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7" name="Google Shape;394;p15">
            <a:extLst>
              <a:ext uri="{FF2B5EF4-FFF2-40B4-BE49-F238E27FC236}">
                <a16:creationId xmlns:a16="http://schemas.microsoft.com/office/drawing/2014/main" id="{00B78898-6EB8-3139-1E7D-4AB58FF473C2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3" name="Google Shape;395;p15">
            <a:extLst>
              <a:ext uri="{FF2B5EF4-FFF2-40B4-BE49-F238E27FC236}">
                <a16:creationId xmlns:a16="http://schemas.microsoft.com/office/drawing/2014/main" id="{12268531-FCCA-27EB-29DC-F022F07A07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396;p15">
            <a:extLst>
              <a:ext uri="{FF2B5EF4-FFF2-40B4-BE49-F238E27FC236}">
                <a16:creationId xmlns:a16="http://schemas.microsoft.com/office/drawing/2014/main" id="{D7F045BE-BA09-90A3-B9D7-9E1F09EB87F0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CuadroTexto 10">
            <a:extLst>
              <a:ext uri="{FF2B5EF4-FFF2-40B4-BE49-F238E27FC236}">
                <a16:creationId xmlns:a16="http://schemas.microsoft.com/office/drawing/2014/main" id="{3A119634-C288-9674-D786-FBF66D561A8A}"/>
              </a:ext>
            </a:extLst>
          </p:cNvPr>
          <p:cNvSpPr txBox="1"/>
          <p:nvPr/>
        </p:nvSpPr>
        <p:spPr>
          <a:xfrm>
            <a:off x="-1042603" y="300818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9" name="Imagen 28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97CD6BE-779C-B2A4-7FC1-2BB1885FA2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37343" y="3386957"/>
            <a:ext cx="875508" cy="854908"/>
          </a:xfrm>
          <a:prstGeom prst="rect">
            <a:avLst/>
          </a:prstGeom>
        </p:spPr>
      </p:pic>
      <p:sp>
        <p:nvSpPr>
          <p:cNvPr id="31" name="CuadroTexto 12">
            <a:extLst>
              <a:ext uri="{FF2B5EF4-FFF2-40B4-BE49-F238E27FC236}">
                <a16:creationId xmlns:a16="http://schemas.microsoft.com/office/drawing/2014/main" id="{2A425C1F-CB23-3DBA-BA51-5FB8D520172D}"/>
              </a:ext>
            </a:extLst>
          </p:cNvPr>
          <p:cNvSpPr txBox="1"/>
          <p:nvPr/>
        </p:nvSpPr>
        <p:spPr>
          <a:xfrm>
            <a:off x="-1074353" y="339190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/>
          </a:p>
        </p:txBody>
      </p:sp>
      <p:sp>
        <p:nvSpPr>
          <p:cNvPr id="33" name="CuadroTexto 10">
            <a:extLst>
              <a:ext uri="{FF2B5EF4-FFF2-40B4-BE49-F238E27FC236}">
                <a16:creationId xmlns:a16="http://schemas.microsoft.com/office/drawing/2014/main" id="{B34969AA-1375-FE8D-3BF4-BBC86D3826A9}"/>
              </a:ext>
            </a:extLst>
          </p:cNvPr>
          <p:cNvSpPr txBox="1"/>
          <p:nvPr/>
        </p:nvSpPr>
        <p:spPr>
          <a:xfrm>
            <a:off x="-1041082" y="4369003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35" name="Imagen 3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74D2C8BA-EEEA-18CE-3379-F8C646B9FF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35728" y="4786900"/>
            <a:ext cx="875508" cy="854908"/>
          </a:xfrm>
          <a:prstGeom prst="rect">
            <a:avLst/>
          </a:prstGeom>
        </p:spPr>
      </p:pic>
      <p:sp>
        <p:nvSpPr>
          <p:cNvPr id="37" name="CuadroTexto 12">
            <a:extLst>
              <a:ext uri="{FF2B5EF4-FFF2-40B4-BE49-F238E27FC236}">
                <a16:creationId xmlns:a16="http://schemas.microsoft.com/office/drawing/2014/main" id="{7A6EC711-9A87-5E31-487D-FA8AA4C18414}"/>
              </a:ext>
            </a:extLst>
          </p:cNvPr>
          <p:cNvSpPr txBox="1"/>
          <p:nvPr/>
        </p:nvSpPr>
        <p:spPr>
          <a:xfrm>
            <a:off x="-1069618" y="488622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BC955C"/>
                </a:solidFill>
                <a:latin typeface="Montserrat"/>
              </a:rPr>
              <a:t>Mastógrafo</a:t>
            </a:r>
            <a:endParaRPr lang="en-US" sz="800" b="1" dirty="0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39" name="CuadroTexto 10">
            <a:extLst>
              <a:ext uri="{FF2B5EF4-FFF2-40B4-BE49-F238E27FC236}">
                <a16:creationId xmlns:a16="http://schemas.microsoft.com/office/drawing/2014/main" id="{E55432D3-DE67-38CD-7F5D-43E7E860A224}"/>
              </a:ext>
            </a:extLst>
          </p:cNvPr>
          <p:cNvSpPr txBox="1"/>
          <p:nvPr/>
        </p:nvSpPr>
        <p:spPr>
          <a:xfrm>
            <a:off x="-10426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1" name="Imagen 4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DFC44398-0695-92CB-59C8-AB50BC0F1A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97628" y="2016881"/>
            <a:ext cx="875508" cy="854908"/>
          </a:xfrm>
          <a:prstGeom prst="rect">
            <a:avLst/>
          </a:prstGeom>
        </p:spPr>
      </p:pic>
      <p:sp>
        <p:nvSpPr>
          <p:cNvPr id="43" name="CuadroTexto 12">
            <a:extLst>
              <a:ext uri="{FF2B5EF4-FFF2-40B4-BE49-F238E27FC236}">
                <a16:creationId xmlns:a16="http://schemas.microsoft.com/office/drawing/2014/main" id="{6B79E1A2-1DAB-8F47-D93B-046EB1DBF2E6}"/>
              </a:ext>
            </a:extLst>
          </p:cNvPr>
          <p:cNvSpPr txBox="1"/>
          <p:nvPr/>
        </p:nvSpPr>
        <p:spPr>
          <a:xfrm>
            <a:off x="-11024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graphicFrame>
        <p:nvGraphicFramePr>
          <p:cNvPr id="45" name="Table 16">
            <a:extLst>
              <a:ext uri="{FF2B5EF4-FFF2-40B4-BE49-F238E27FC236}">
                <a16:creationId xmlns:a16="http://schemas.microsoft.com/office/drawing/2014/main" id="{829372A6-C2CF-92BC-BE7D-37012E3E0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729508"/>
              </p:ext>
            </p:extLst>
          </p:nvPr>
        </p:nvGraphicFramePr>
        <p:xfrm>
          <a:off x="1785600" y="15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equipamiento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adminstrativo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nueva</a:t>
                      </a:r>
                      <a:r>
                        <a:rPr sz="1000">
                          <a:latin typeface="Montserrat"/>
                        </a:rPr>
                        <a:t> sala de </a:t>
                      </a:r>
                      <a:r>
                        <a:rPr sz="1000" err="1">
                          <a:latin typeface="Montserrat"/>
                        </a:rPr>
                        <a:t>hemodinamia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HGZ No. 3, Mazatlán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Estudios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Preinversión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proyecto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ejecutivo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HGR de 216 camas, Culiacán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$22.3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$59.0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7" name="Table 17">
            <a:extLst>
              <a:ext uri="{FF2B5EF4-FFF2-40B4-BE49-F238E27FC236}">
                <a16:creationId xmlns:a16="http://schemas.microsoft.com/office/drawing/2014/main" id="{04E19345-47DC-D895-E45E-EF20C10C4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52116"/>
              </p:ext>
            </p:extLst>
          </p:nvPr>
        </p:nvGraphicFramePr>
        <p:xfrm>
          <a:off x="1785600" y="3204000"/>
          <a:ext cx="5295600" cy="358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5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$138.7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5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5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(HGZ No.28 Costa Rica Sinaloa, HGZ No.3 Mazatlán, HGZ No.49 Los Mochis; HGR No.1, HGZ No.32, Culiacán)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$11.3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b="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Intervención en áreas de hemodiálisis interna en 4 unidades (HGZ No.49 los Mochis , HGR No.1 Culiacán, HGZMF No. 3 Mazatlán y UMF No. 55 C/ UMAA Culiacán ) 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</a:t>
                      </a:r>
                      <a:r>
                        <a:rPr lang="es-MX" sz="1000" dirty="0">
                          <a:latin typeface="Montserrat"/>
                        </a:rPr>
                        <a:t>20.6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UMF No. 36 Culiacán y UMF No. 22 El Dorado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$9.6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5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 3, Mazatlán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$9.3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5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mejora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subdelegación</a:t>
                      </a:r>
                      <a:r>
                        <a:rPr sz="1000">
                          <a:latin typeface="Montserrat"/>
                        </a:rPr>
                        <a:t> Mazatlán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$1.5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5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Alberca Semiolímpica, Culiacán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5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</a:t>
                      </a:r>
                      <a:r>
                        <a:rPr lang="es-MX" sz="1000" dirty="0"/>
                        <a:t>192.2</a:t>
                      </a:r>
                      <a:endParaRPr sz="1000" dirty="0"/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9" name="Table 18">
            <a:extLst>
              <a:ext uri="{FF2B5EF4-FFF2-40B4-BE49-F238E27FC236}">
                <a16:creationId xmlns:a16="http://schemas.microsoft.com/office/drawing/2014/main" id="{292C4725-2474-B96A-FF60-63030DA3B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539410"/>
              </p:ext>
            </p:extLst>
          </p:nvPr>
        </p:nvGraphicFramePr>
        <p:xfrm>
          <a:off x="1785600" y="6984000"/>
          <a:ext cx="5295600" cy="1138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90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48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10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7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con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1 monitor de </a:t>
                      </a:r>
                      <a:r>
                        <a:rPr sz="1000" err="1">
                          <a:latin typeface="Montserrat"/>
                        </a:rPr>
                        <a:t>signos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vitales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traslado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paciente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1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anestesia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básica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1 </a:t>
                      </a:r>
                      <a:r>
                        <a:rPr sz="1000" err="1">
                          <a:latin typeface="Montserrat"/>
                        </a:rPr>
                        <a:t>mastógrafo</a:t>
                      </a:r>
                      <a:r>
                        <a:rPr sz="1000">
                          <a:latin typeface="Montserrat"/>
                        </a:rPr>
                        <a:t> digital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dirty="0">
                          <a:latin typeface="Montserrat"/>
                        </a:rPr>
                        <a:t>$6.2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" name="Table 19">
            <a:extLst>
              <a:ext uri="{FF2B5EF4-FFF2-40B4-BE49-F238E27FC236}">
                <a16:creationId xmlns:a16="http://schemas.microsoft.com/office/drawing/2014/main" id="{DEABA898-9F15-7A0D-57A0-83469C093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546959"/>
              </p:ext>
            </p:extLst>
          </p:nvPr>
        </p:nvGraphicFramePr>
        <p:xfrm>
          <a:off x="1785600" y="8316934"/>
          <a:ext cx="5295600" cy="635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63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Equip</a:t>
                      </a:r>
                      <a:r>
                        <a:rPr lang="es-MX" sz="1000"/>
                        <a:t>o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Electromecánico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dirty="0">
                          <a:latin typeface="Montserrat"/>
                        </a:rPr>
                        <a:t>$22.0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" name="TextBox 20">
            <a:extLst>
              <a:ext uri="{FF2B5EF4-FFF2-40B4-BE49-F238E27FC236}">
                <a16:creationId xmlns:a16="http://schemas.microsoft.com/office/drawing/2014/main" id="{5485E591-0C2B-8516-9DD0-610783B7A842}"/>
              </a:ext>
            </a:extLst>
          </p:cNvPr>
          <p:cNvSpPr txBox="1"/>
          <p:nvPr/>
        </p:nvSpPr>
        <p:spPr>
          <a:xfrm>
            <a:off x="6148898" y="878400"/>
            <a:ext cx="6848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/>
              <a:t>279.4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14" name="Google Shape;394;p15">
            <a:extLst>
              <a:ext uri="{FF2B5EF4-FFF2-40B4-BE49-F238E27FC236}">
                <a16:creationId xmlns:a16="http://schemas.microsoft.com/office/drawing/2014/main" id="{E9C64A03-399F-EB30-8F84-CD56D4394C7B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Google Shape;396;p15">
            <a:extLst>
              <a:ext uri="{FF2B5EF4-FFF2-40B4-BE49-F238E27FC236}">
                <a16:creationId xmlns:a16="http://schemas.microsoft.com/office/drawing/2014/main" id="{8BF599DB-3277-F32E-05C1-E2D984B7B926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395;p15">
            <a:extLst>
              <a:ext uri="{FF2B5EF4-FFF2-40B4-BE49-F238E27FC236}">
                <a16:creationId xmlns:a16="http://schemas.microsoft.com/office/drawing/2014/main" id="{1884CA4D-F203-0081-033D-586E58DFC624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5993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CuadroTexto 9">
            <a:extLst>
              <a:ext uri="{FF2B5EF4-FFF2-40B4-BE49-F238E27FC236}">
                <a16:creationId xmlns:a16="http://schemas.microsoft.com/office/drawing/2014/main" id="{95BA62F3-8EF4-EE63-D411-CC6120067D73}"/>
              </a:ext>
            </a:extLst>
          </p:cNvPr>
          <p:cNvSpPr txBox="1"/>
          <p:nvPr/>
        </p:nvSpPr>
        <p:spPr>
          <a:xfrm>
            <a:off x="-1031694" y="16265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2" name="Imagen 21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B4C21E8F-2A0D-BCDF-ACE1-F48254251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70" y="1938518"/>
            <a:ext cx="872667" cy="849944"/>
          </a:xfrm>
          <a:prstGeom prst="rect">
            <a:avLst/>
          </a:prstGeom>
        </p:spPr>
      </p:pic>
      <p:sp>
        <p:nvSpPr>
          <p:cNvPr id="24" name="CuadroTexto 11">
            <a:extLst>
              <a:ext uri="{FF2B5EF4-FFF2-40B4-BE49-F238E27FC236}">
                <a16:creationId xmlns:a16="http://schemas.microsoft.com/office/drawing/2014/main" id="{38E67B2F-42D2-ECB7-386E-65A8939FD4E0}"/>
              </a:ext>
            </a:extLst>
          </p:cNvPr>
          <p:cNvSpPr txBox="1"/>
          <p:nvPr/>
        </p:nvSpPr>
        <p:spPr>
          <a:xfrm>
            <a:off x="-1098714" y="20656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graphicFrame>
        <p:nvGraphicFramePr>
          <p:cNvPr id="26" name="Table 8">
            <a:extLst>
              <a:ext uri="{FF2B5EF4-FFF2-40B4-BE49-F238E27FC236}">
                <a16:creationId xmlns:a16="http://schemas.microsoft.com/office/drawing/2014/main" id="{7D090AD0-83DD-6BB4-D436-99566AE33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849085"/>
              </p:ext>
            </p:extLst>
          </p:nvPr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</a:t>
                      </a:r>
                      <a:r>
                        <a:rPr sz="1000" err="1">
                          <a:latin typeface="Montserrat"/>
                        </a:rPr>
                        <a:t>Culiac</a:t>
                      </a:r>
                      <a:r>
                        <a:rPr lang="es-MX" sz="1000">
                          <a:latin typeface="Montserrat"/>
                        </a:rPr>
                        <a:t>á</a:t>
                      </a:r>
                      <a:r>
                        <a:rPr sz="1000">
                          <a:latin typeface="Montserrat"/>
                        </a:rPr>
                        <a:t>n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latin typeface="Montserrat"/>
                        </a:rPr>
                        <a:t>$2,568.8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Table 9">
            <a:extLst>
              <a:ext uri="{FF2B5EF4-FFF2-40B4-BE49-F238E27FC236}">
                <a16:creationId xmlns:a16="http://schemas.microsoft.com/office/drawing/2014/main" id="{DF54C313-04D5-D580-97FE-3DD4C5567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891744"/>
              </p:ext>
            </p:extLst>
          </p:nvPr>
        </p:nvGraphicFramePr>
        <p:xfrm>
          <a:off x="1785600" y="2267998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Obras de </a:t>
                      </a:r>
                      <a:r>
                        <a:rPr sz="1000" dirty="0" err="1"/>
                        <a:t>Conservación</a:t>
                      </a:r>
                      <a:r>
                        <a:rPr sz="1000" dirty="0"/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Mantenimiento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infraestructura</a:t>
                      </a:r>
                      <a:r>
                        <a:rPr sz="1000" dirty="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Montserrat"/>
                        </a:rPr>
                        <a:t>$177.3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Table 10">
            <a:extLst>
              <a:ext uri="{FF2B5EF4-FFF2-40B4-BE49-F238E27FC236}">
                <a16:creationId xmlns:a16="http://schemas.microsoft.com/office/drawing/2014/main" id="{1267093A-24FE-6FA2-27D2-CE74285D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312719"/>
              </p:ext>
            </p:extLst>
          </p:nvPr>
        </p:nvGraphicFramePr>
        <p:xfrm>
          <a:off x="1785600" y="2947588"/>
          <a:ext cx="5396400" cy="576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30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Equip</a:t>
                      </a:r>
                      <a:r>
                        <a:rPr lang="es-MX" sz="1000"/>
                        <a:t>o</a:t>
                      </a:r>
                      <a:r>
                        <a:rPr sz="1000"/>
                        <a:t> </a:t>
                      </a:r>
                      <a:r>
                        <a:rPr sz="1000" err="1"/>
                        <a:t>Electromecánico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50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13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; 20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aire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</a:t>
                      </a:r>
                      <a:r>
                        <a:rPr sz="1000">
                          <a:latin typeface="Montserrat"/>
                        </a:rPr>
                        <a:t>, 19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 y 11 </a:t>
                      </a:r>
                      <a:r>
                        <a:rPr sz="1000" err="1">
                          <a:latin typeface="Montserrat"/>
                        </a:rPr>
                        <a:t>secadoras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Montserrat"/>
                        </a:rPr>
                        <a:t>$154.7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" name="TextBox 11">
            <a:extLst>
              <a:ext uri="{FF2B5EF4-FFF2-40B4-BE49-F238E27FC236}">
                <a16:creationId xmlns:a16="http://schemas.microsoft.com/office/drawing/2014/main" id="{79BA5160-1B42-EC8B-E4D9-0DD134100B87}"/>
              </a:ext>
            </a:extLst>
          </p:cNvPr>
          <p:cNvSpPr txBox="1"/>
          <p:nvPr/>
        </p:nvSpPr>
        <p:spPr>
          <a:xfrm>
            <a:off x="6099505" y="878400"/>
            <a:ext cx="8595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/>
              <a:t>2,900.8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  <p:graphicFrame>
        <p:nvGraphicFramePr>
          <p:cNvPr id="34" name="Google Shape;394;p15">
            <a:extLst>
              <a:ext uri="{FF2B5EF4-FFF2-40B4-BE49-F238E27FC236}">
                <a16:creationId xmlns:a16="http://schemas.microsoft.com/office/drawing/2014/main" id="{2C7D13DE-37FE-9552-75F3-BE05EF9833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4324168"/>
              </p:ext>
            </p:extLst>
          </p:nvPr>
        </p:nvGraphicFramePr>
        <p:xfrm>
          <a:off x="287700" y="3645294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19">
            <a:extLst>
              <a:ext uri="{FF2B5EF4-FFF2-40B4-BE49-F238E27FC236}">
                <a16:creationId xmlns:a16="http://schemas.microsoft.com/office/drawing/2014/main" id="{7D58CC26-8B51-4D65-68A7-DF909D03C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269616"/>
              </p:ext>
            </p:extLst>
          </p:nvPr>
        </p:nvGraphicFramePr>
        <p:xfrm>
          <a:off x="691200" y="4120887"/>
          <a:ext cx="6390000" cy="54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5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endParaRPr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3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</a:t>
                      </a:r>
                      <a:r>
                        <a:rPr err="1"/>
                        <a:t>Educación</a:t>
                      </a:r>
                      <a:r>
                        <a:t> y Cuidado </a:t>
                      </a:r>
                      <a:r>
                        <a:rPr err="1"/>
                        <a:t>Infantil</a:t>
                      </a:r>
                      <a:r>
                        <a:t> (CECI) 250 </a:t>
                      </a:r>
                      <a:r>
                        <a:rPr err="1"/>
                        <a:t>lugares</a:t>
                      </a:r>
                      <a:r>
                        <a:t> Mazatlán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1"/>
                        <a:t>$76.0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8" name="Google Shape;551;g3d0ffe769cd_0_0">
            <a:extLst>
              <a:ext uri="{FF2B5EF4-FFF2-40B4-BE49-F238E27FC236}">
                <a16:creationId xmlns:a16="http://schemas.microsoft.com/office/drawing/2014/main" id="{1BED2F20-6270-9575-D8E1-5090F6A9A7A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230902" y="5520727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" name="Google Shape;559;g3d0ffe769cd_0_0">
            <a:extLst>
              <a:ext uri="{FF2B5EF4-FFF2-40B4-BE49-F238E27FC236}">
                <a16:creationId xmlns:a16="http://schemas.microsoft.com/office/drawing/2014/main" id="{3665B433-51AA-45FB-7F46-564E55C567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1445553"/>
              </p:ext>
            </p:extLst>
          </p:nvPr>
        </p:nvGraphicFramePr>
        <p:xfrm>
          <a:off x="147600" y="4920345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Google Shape;552;g3d0ffe769cd_0_0">
            <a:extLst>
              <a:ext uri="{FF2B5EF4-FFF2-40B4-BE49-F238E27FC236}">
                <a16:creationId xmlns:a16="http://schemas.microsoft.com/office/drawing/2014/main" id="{E8144D9C-E4FB-AA3D-1168-609F9785173D}"/>
              </a:ext>
            </a:extLst>
          </p:cNvPr>
          <p:cNvSpPr/>
          <p:nvPr/>
        </p:nvSpPr>
        <p:spPr>
          <a:xfrm>
            <a:off x="234692" y="5542841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556;g3d0ffe769cd_0_0">
            <a:extLst>
              <a:ext uri="{FF2B5EF4-FFF2-40B4-BE49-F238E27FC236}">
                <a16:creationId xmlns:a16="http://schemas.microsoft.com/office/drawing/2014/main" id="{E09DD934-7BDB-8B48-20C7-3C0FE6757863}"/>
              </a:ext>
            </a:extLst>
          </p:cNvPr>
          <p:cNvSpPr/>
          <p:nvPr/>
        </p:nvSpPr>
        <p:spPr>
          <a:xfrm>
            <a:off x="852084" y="5683138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553;g3d0ffe769cd_0_0">
            <a:extLst>
              <a:ext uri="{FF2B5EF4-FFF2-40B4-BE49-F238E27FC236}">
                <a16:creationId xmlns:a16="http://schemas.microsoft.com/office/drawing/2014/main" id="{2235C2F8-1C7C-57AD-438F-22FA0B0980E5}"/>
              </a:ext>
            </a:extLst>
          </p:cNvPr>
          <p:cNvSpPr/>
          <p:nvPr/>
        </p:nvSpPr>
        <p:spPr>
          <a:xfrm>
            <a:off x="290798" y="6449785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554;g3d0ffe769cd_0_0">
            <a:extLst>
              <a:ext uri="{FF2B5EF4-FFF2-40B4-BE49-F238E27FC236}">
                <a16:creationId xmlns:a16="http://schemas.microsoft.com/office/drawing/2014/main" id="{3E89AAD9-7F2F-74BA-3996-5BBCA6C968EE}"/>
              </a:ext>
            </a:extLst>
          </p:cNvPr>
          <p:cNvSpPr txBox="1"/>
          <p:nvPr/>
        </p:nvSpPr>
        <p:spPr>
          <a:xfrm>
            <a:off x="276701" y="7040772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62;g3d0ffe769cd_0_0">
            <a:extLst>
              <a:ext uri="{FF2B5EF4-FFF2-40B4-BE49-F238E27FC236}">
                <a16:creationId xmlns:a16="http://schemas.microsoft.com/office/drawing/2014/main" id="{5266CBFF-6CDF-C8E2-1997-DBD80B1C6C64}"/>
              </a:ext>
            </a:extLst>
          </p:cNvPr>
          <p:cNvSpPr txBox="1"/>
          <p:nvPr/>
        </p:nvSpPr>
        <p:spPr>
          <a:xfrm rot="16200000">
            <a:off x="1958850" y="6829207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2" name="Table 21">
            <a:extLst>
              <a:ext uri="{FF2B5EF4-FFF2-40B4-BE49-F238E27FC236}">
                <a16:creationId xmlns:a16="http://schemas.microsoft.com/office/drawing/2014/main" id="{A6DAA863-44FA-5E77-CC16-783DB1E4A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711919"/>
              </p:ext>
            </p:extLst>
          </p:nvPr>
        </p:nvGraphicFramePr>
        <p:xfrm>
          <a:off x="2552400" y="5684407"/>
          <a:ext cx="4928400" cy="203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Predios en ruta y 0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Mazatlán, Escuinapa, Salvador Alvarado (Guamúchil), Navolato (Villa Juárez), Culiacán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Mazatlán, Elota (La Cruz), Ahome (Los Mochis) y Navolato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" name="Oval 22">
            <a:extLst>
              <a:ext uri="{FF2B5EF4-FFF2-40B4-BE49-F238E27FC236}">
                <a16:creationId xmlns:a16="http://schemas.microsoft.com/office/drawing/2014/main" id="{05B65E60-EF63-6C70-E6A4-250A2FE8049D}"/>
              </a:ext>
            </a:extLst>
          </p:cNvPr>
          <p:cNvSpPr/>
          <p:nvPr/>
        </p:nvSpPr>
        <p:spPr>
          <a:xfrm>
            <a:off x="885600" y="5706007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39</a:t>
            </a:r>
          </a:p>
        </p:txBody>
      </p:sp>
      <p:sp>
        <p:nvSpPr>
          <p:cNvPr id="56" name="Rectangle 23">
            <a:extLst>
              <a:ext uri="{FF2B5EF4-FFF2-40B4-BE49-F238E27FC236}">
                <a16:creationId xmlns:a16="http://schemas.microsoft.com/office/drawing/2014/main" id="{3167CF36-4C08-2E32-3B7D-D7948E12D9F9}"/>
              </a:ext>
            </a:extLst>
          </p:cNvPr>
          <p:cNvSpPr/>
          <p:nvPr/>
        </p:nvSpPr>
        <p:spPr>
          <a:xfrm>
            <a:off x="363600" y="6490807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12 CECI CAMPO</a:t>
            </a:r>
          </a:p>
        </p:txBody>
      </p:sp>
      <p:sp>
        <p:nvSpPr>
          <p:cNvPr id="58" name="TextBox 24">
            <a:extLst>
              <a:ext uri="{FF2B5EF4-FFF2-40B4-BE49-F238E27FC236}">
                <a16:creationId xmlns:a16="http://schemas.microsoft.com/office/drawing/2014/main" id="{3E88A76A-0D8E-E401-C921-57F8BF746424}"/>
              </a:ext>
            </a:extLst>
          </p:cNvPr>
          <p:cNvSpPr txBox="1"/>
          <p:nvPr/>
        </p:nvSpPr>
        <p:spPr>
          <a:xfrm>
            <a:off x="2567640" y="7769167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Terrenos validados. 2 CECI para entregar a SICT en Mazatlán y Escuinapa.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185736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850317"/>
              </p:ext>
            </p:extLst>
          </p:nvPr>
        </p:nvGraphicFramePr>
        <p:xfrm>
          <a:off x="2311200" y="1670400"/>
          <a:ext cx="5032800" cy="90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lang="es-MX" sz="1000" b="1" dirty="0">
                          <a:latin typeface="Montserrat"/>
                        </a:rPr>
                        <a:t>59</a:t>
                      </a:r>
                      <a:r>
                        <a:rPr sz="1000" b="1" dirty="0">
                          <a:latin typeface="Montserrat"/>
                        </a:rPr>
                        <a:t> </a:t>
                      </a:r>
                      <a:r>
                        <a:rPr sz="1000" b="1" dirty="0" err="1">
                          <a:latin typeface="Montserrat"/>
                        </a:rPr>
                        <a:t>unidades</a:t>
                      </a:r>
                      <a:endParaRPr sz="1000" b="1" dirty="0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dirty="0"/>
                        <a:t>2 </a:t>
                      </a:r>
                      <a:r>
                        <a:rPr dirty="0" err="1"/>
                        <a:t>directas</a:t>
                      </a:r>
                      <a:endParaRPr dirty="0"/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  <a:r>
                        <a:rPr lang="es-MX" dirty="0"/>
                        <a:t>7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indirectas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Montserrat"/>
                        </a:rPr>
                        <a:t>10,</a:t>
                      </a:r>
                      <a:r>
                        <a:rPr lang="es-MX" sz="1000" b="1" dirty="0">
                          <a:latin typeface="Montserrat"/>
                        </a:rPr>
                        <a:t>668</a:t>
                      </a:r>
                      <a:r>
                        <a:rPr sz="1000" b="1" dirty="0">
                          <a:latin typeface="Montserrat"/>
                        </a:rPr>
                        <a:t> </a:t>
                      </a:r>
                      <a:r>
                        <a:rPr sz="1000" b="1" dirty="0" err="1">
                          <a:latin typeface="Montserrat"/>
                        </a:rPr>
                        <a:t>inscritos</a:t>
                      </a:r>
                      <a:endParaRPr sz="1000" b="1" dirty="0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dirty="0"/>
                        <a:t>3,</a:t>
                      </a:r>
                      <a:r>
                        <a:rPr lang="es-MX" dirty="0"/>
                        <a:t>416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espera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743400"/>
              </p:ext>
            </p:extLst>
          </p:nvPr>
        </p:nvGraphicFramePr>
        <p:xfrm>
          <a:off x="2311200" y="2730057"/>
          <a:ext cx="5032800" cy="203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 dirty="0"/>
                        <a:t>1 CRESTCAP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Culiacán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3 CEBIS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El Rosario, </a:t>
                      </a:r>
                      <a:r>
                        <a:rPr sz="1000" dirty="0" err="1"/>
                        <a:t>Navolato</a:t>
                      </a:r>
                      <a:r>
                        <a:rPr sz="1000" dirty="0"/>
                        <a:t> y </a:t>
                      </a:r>
                      <a:r>
                        <a:rPr sz="1000" dirty="0" err="1"/>
                        <a:t>Guamúchil</a:t>
                      </a:r>
                      <a:endParaRPr sz="1000" dirty="0"/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8 Centros de Seguridad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Culiacán, </a:t>
                      </a:r>
                      <a:r>
                        <a:rPr sz="1000" dirty="0" err="1"/>
                        <a:t>Ahome</a:t>
                      </a:r>
                      <a:r>
                        <a:rPr sz="1000" dirty="0"/>
                        <a:t>, Los Mochis, Guasave, Mazatlán, </a:t>
                      </a:r>
                      <a:r>
                        <a:rPr sz="1000" dirty="0" err="1"/>
                        <a:t>Navolato</a:t>
                      </a:r>
                      <a:r>
                        <a:rPr sz="1000" dirty="0"/>
                        <a:t>, Ruiz Cortines y Juan José Ríos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3 Teatro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Culiacán, Los Mochis y Mazatlán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322196"/>
              </p:ext>
            </p:extLst>
          </p:nvPr>
        </p:nvGraphicFramePr>
        <p:xfrm>
          <a:off x="2311200" y="4910400"/>
          <a:ext cx="5032800" cy="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 dirty="0"/>
                        <a:t>3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No. 42 Culiacán, No. 40 Los Mochis y No. 41 Mazatlán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1025744" y="6598799"/>
            <a:ext cx="117051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rPr dirty="0" err="1"/>
              <a:t>Guarderías</a:t>
            </a:r>
            <a:r>
              <a:rPr dirty="0"/>
              <a:t>    </a:t>
            </a:r>
            <a:r>
              <a:rPr lang="es-MX" dirty="0"/>
              <a:t>59</a:t>
            </a:r>
            <a:endParaRPr dirty="0"/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3" name="Picture 469" descr="map_tipo2_25_sin.png">
            <a:extLst>
              <a:ext uri="{FF2B5EF4-FFF2-40B4-BE49-F238E27FC236}">
                <a16:creationId xmlns:a16="http://schemas.microsoft.com/office/drawing/2014/main" id="{633E45FE-D3DB-D286-8013-D3E6633B2D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789911"/>
              </p:ext>
            </p:extLst>
          </p:nvPr>
        </p:nvGraphicFramePr>
        <p:xfrm>
          <a:off x="284400" y="1087200"/>
          <a:ext cx="6984000" cy="2321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Empleador</a:t>
                      </a:r>
                      <a:r>
                        <a:rPr dirty="0"/>
                        <a:t>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 Sinaloa Nivel Superior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14,419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16,613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16,708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14,369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de Servicios Paquetexpress S A P I de Cv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11,519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Culiacán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Conductores Tecnologicos de Juárez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10,609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10,586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rPr dirty="0"/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-16.06%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-3.19%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-2.85%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-1.86%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-0.97%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-0.32%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024752"/>
              </p:ext>
            </p:extLst>
          </p:nvPr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480,514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18,171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53,524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31,931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584,140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481,038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17,830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49,921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21,432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570,221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+0.1%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rPr dirty="0"/>
                        <a:t>-2.4%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46F3A99A-3E43-D66B-4C5B-61943B35FC45}"/>
              </a:ext>
            </a:extLst>
          </p:cNvPr>
          <p:cNvSpPr/>
          <p:nvPr/>
        </p:nvSpPr>
        <p:spPr>
          <a:xfrm>
            <a:off x="762861" y="1149225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$541.59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$257.11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$541.59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rPr dirty="0"/>
                        <a:t>$16,247.7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227305"/>
              </p:ext>
            </p:extLst>
          </p:nvPr>
        </p:nvGraphicFramePr>
        <p:xfrm>
          <a:off x="320400" y="6649200"/>
          <a:ext cx="7038000" cy="249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público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Navolato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$171.07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Guasave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$161.53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Potable y Alcantarillado de Guasave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$156.29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privado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Operadora de Servicios Paquetexpress SA de CV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$86.38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Papelero la Unión SAS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$66.61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Daniel Cárdenas Cevallos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$63.40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Salario Base de </a:t>
            </a:r>
            <a:r>
              <a:rPr dirty="0" err="1">
                <a:solidFill>
                  <a:schemeClr val="tx1"/>
                </a:solidFill>
              </a:rPr>
              <a:t>Cotización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tado</a:t>
            </a:r>
            <a:r>
              <a:rPr dirty="0">
                <a:solidFill>
                  <a:schemeClr val="tx1"/>
                </a:solidFill>
              </a:rPr>
              <a:t>: Se </a:t>
            </a:r>
            <a:r>
              <a:rPr dirty="0" err="1">
                <a:solidFill>
                  <a:schemeClr val="tx1"/>
                </a:solidFill>
              </a:rPr>
              <a:t>utilizó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como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deflactor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salario</a:t>
            </a:r>
            <a:r>
              <a:rPr dirty="0">
                <a:solidFill>
                  <a:schemeClr val="tx1"/>
                </a:solidFill>
              </a:rPr>
              <a:t> el </a:t>
            </a:r>
            <a:r>
              <a:rPr dirty="0" err="1">
                <a:solidFill>
                  <a:schemeClr val="tx1"/>
                </a:solidFill>
              </a:rPr>
              <a:t>cociente</a:t>
            </a:r>
            <a:r>
              <a:rPr dirty="0">
                <a:solidFill>
                  <a:schemeClr val="tx1"/>
                </a:solidFill>
              </a:rPr>
              <a:t> del INPC entre </a:t>
            </a:r>
            <a:r>
              <a:rPr dirty="0" err="1">
                <a:solidFill>
                  <a:schemeClr val="tx1"/>
                </a:solidFill>
              </a:rPr>
              <a:t>diciembre</a:t>
            </a:r>
            <a:r>
              <a:rPr dirty="0">
                <a:solidFill>
                  <a:schemeClr val="tx1"/>
                </a:solidFill>
              </a:rPr>
              <a:t> 2018 (103.02) y </a:t>
            </a:r>
            <a:r>
              <a:rPr dirty="0" err="1">
                <a:solidFill>
                  <a:schemeClr val="tx1"/>
                </a:solidFill>
              </a:rPr>
              <a:t>abril</a:t>
            </a:r>
            <a:r>
              <a:rPr dirty="0"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>
            <p:extLst>
              <p:ext uri="{D42A27DB-BD31-4B8C-83A1-F6EECF244321}">
                <p14:modId xmlns:p14="http://schemas.microsoft.com/office/powerpoint/2010/main" val="2975481575"/>
              </p:ext>
            </p:extLst>
          </p:nvPr>
        </p:nvGraphicFramePr>
        <p:xfrm>
          <a:off x="3884217" y="80753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5974749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5974749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>
                <a:solidFill>
                  <a:schemeClr val="tx1"/>
                </a:solidFill>
              </a:rPr>
              <a:t>enero-diciembre</a:t>
            </a:r>
            <a:r>
              <a:rPr dirty="0"/>
              <a:t>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399,058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1,500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358,072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4,910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26,597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9,479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Egresos</a:t>
                      </a:r>
                      <a:r>
                        <a:rPr dirty="0"/>
                        <a:t>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3,290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641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042004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Concepto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Comités</a:t>
                      </a:r>
                      <a:r>
                        <a:rPr dirty="0"/>
                        <a:t> de Salud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Voluntarios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Parteras </a:t>
                      </a:r>
                      <a:r>
                        <a:rPr dirty="0" err="1"/>
                        <a:t>Voluntarias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Médicos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Tradicionales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1,331</a:t>
                      </a:r>
                      <a:endParaRPr dirty="0"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4,933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4,922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408916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5974116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238916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rPr dirty="0"/>
              <a:t>233,545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rPr dirty="0"/>
              <a:t>Población </a:t>
            </a:r>
            <a:r>
              <a:rPr dirty="0" err="1"/>
              <a:t>beneficiaria</a:t>
            </a:r>
            <a:endParaRPr dirty="0"/>
          </a:p>
        </p:txBody>
      </p:sp>
      <p:sp>
        <p:nvSpPr>
          <p:cNvPr id="540" name="TextBox 539"/>
          <p:cNvSpPr txBox="1"/>
          <p:nvPr/>
        </p:nvSpPr>
        <p:spPr>
          <a:xfrm>
            <a:off x="6154116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101,387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203716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132,158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412516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5974116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433316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10,270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262116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4564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4564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399,058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4564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4564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1,269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4877</Words>
  <Application>Microsoft Office PowerPoint</Application>
  <PresentationFormat>Personalizado</PresentationFormat>
  <Paragraphs>1827</Paragraphs>
  <Slides>25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Arial</vt:lpstr>
      <vt:lpstr>Noto Sans Black</vt:lpstr>
      <vt:lpstr>Calibri</vt:lpstr>
      <vt:lpstr>Noto Sans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Martinez Flores</dc:creator>
  <cp:lastModifiedBy>Laura Patricia Galvan Chavez</cp:lastModifiedBy>
  <cp:revision>119</cp:revision>
  <dcterms:modified xsi:type="dcterms:W3CDTF">2026-07-03T18:20:47Z</dcterms:modified>
</cp:coreProperties>
</file>