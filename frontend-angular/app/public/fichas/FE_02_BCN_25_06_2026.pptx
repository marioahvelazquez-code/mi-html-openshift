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7.xml" ContentType="application/vnd.openxmlformats-officedocument.drawingml.chart+xml"/>
  <Override PartName="/ppt/notesSlides/notesSlide21.xml" ContentType="application/vnd.openxmlformats-officedocument.presentationml.notesSlide+xml"/>
  <Override PartName="/ppt/charts/chart8.xml" ContentType="application/vnd.openxmlformats-officedocument.drawingml.chart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89" r:id="rId3"/>
    <p:sldId id="258" r:id="rId4"/>
    <p:sldId id="259" r:id="rId5"/>
    <p:sldId id="260" r:id="rId6"/>
    <p:sldId id="301" r:id="rId7"/>
    <p:sldId id="287" r:id="rId8"/>
    <p:sldId id="262" r:id="rId9"/>
    <p:sldId id="263" r:id="rId10"/>
    <p:sldId id="280" r:id="rId11"/>
    <p:sldId id="267" r:id="rId12"/>
    <p:sldId id="298" r:id="rId13"/>
    <p:sldId id="302" r:id="rId14"/>
    <p:sldId id="303" r:id="rId15"/>
    <p:sldId id="304" r:id="rId16"/>
    <p:sldId id="281" r:id="rId17"/>
    <p:sldId id="305" r:id="rId18"/>
    <p:sldId id="288" r:id="rId19"/>
    <p:sldId id="270" r:id="rId20"/>
    <p:sldId id="271" r:id="rId21"/>
    <p:sldId id="272" r:id="rId22"/>
    <p:sldId id="300" r:id="rId23"/>
    <p:sldId id="297" r:id="rId24"/>
    <p:sldId id="284" r:id="rId25"/>
    <p:sldId id="299" r:id="rId26"/>
    <p:sldId id="277" r:id="rId27"/>
    <p:sldId id="278" r:id="rId28"/>
    <p:sldId id="279" r:id="rId29"/>
    <p:sldId id="282" r:id="rId30"/>
  </p:sldIdLst>
  <p:sldSz cx="7772400" cy="10058400"/>
  <p:notesSz cx="6858000" cy="9144000"/>
  <p:embeddedFontLst>
    <p:embeddedFont>
      <p:font typeface="Montserrat" panose="00000500000000000000" pitchFamily="2" charset="0"/>
      <p:regular r:id="rId32"/>
      <p:bold r:id="rId33"/>
      <p:italic r:id="rId34"/>
      <p:boldItalic r:id="rId35"/>
    </p:embeddedFont>
    <p:embeddedFont>
      <p:font typeface="Noto Sans" panose="020B0502040504020204" pitchFamily="34" charset="0"/>
      <p:regular r:id="rId36"/>
      <p:bold r:id="rId37"/>
      <p:italic r:id="rId38"/>
      <p:boldItalic r:id="rId39"/>
    </p:embeddedFont>
    <p:embeddedFont>
      <p:font typeface="Noto Sans Black" panose="020B0604020202020204" charset="0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26BA12-9001-44E7-887E-8B1883B1EF3B}" v="5" dt="2026-07-03T00:32:50.670"/>
    <p1510:client id="{BE593F1A-3ED8-4C45-9B4B-DF7E767C2E48}" v="12" dt="2026-07-02T23:04:01.05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2140" y="-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ma Edith Jimenez Hernandez" userId="71858b7e-10a9-4afa-b58c-7b4a6c30cd53" providerId="ADAL" clId="{91141CC3-E5EA-4DD9-AA7B-0F0F2578B8AD}"/>
    <pc:docChg chg="modSld">
      <pc:chgData name="Norma Edith Jimenez Hernandez" userId="71858b7e-10a9-4afa-b58c-7b4a6c30cd53" providerId="ADAL" clId="{91141CC3-E5EA-4DD9-AA7B-0F0F2578B8AD}" dt="2026-07-03T21:47:26.096" v="8" actId="20577"/>
      <pc:docMkLst>
        <pc:docMk/>
      </pc:docMkLst>
      <pc:sldChg chg="modSp mod">
        <pc:chgData name="Norma Edith Jimenez Hernandez" userId="71858b7e-10a9-4afa-b58c-7b4a6c30cd53" providerId="ADAL" clId="{91141CC3-E5EA-4DD9-AA7B-0F0F2578B8AD}" dt="2026-07-03T21:47:26.096" v="8" actId="20577"/>
        <pc:sldMkLst>
          <pc:docMk/>
          <pc:sldMk cId="0" sldId="260"/>
        </pc:sldMkLst>
        <pc:graphicFrameChg chg="modGraphic">
          <ac:chgData name="Norma Edith Jimenez Hernandez" userId="71858b7e-10a9-4afa-b58c-7b4a6c30cd53" providerId="ADAL" clId="{91141CC3-E5EA-4DD9-AA7B-0F0F2578B8AD}" dt="2026-07-03T21:47:26.096" v="8" actId="20577"/>
          <ac:graphicFrameMkLst>
            <pc:docMk/>
            <pc:sldMk cId="0" sldId="260"/>
            <ac:graphicFrameMk id="12" creationId="{00000000-0000-0000-0000-000000000000}"/>
          </ac:graphicFrameMkLst>
        </pc:graphicFrameChg>
      </pc:sldChg>
    </pc:docChg>
  </pc:docChgLst>
  <pc:docChgLst>
    <pc:chgData name="Laura Patricia Galvan Chavez" userId="S::laura.galvan@imss.gob.mx::6b13af50-ce8b-483e-8fc4-f994efaf3289" providerId="AD" clId="Web-{E1D68B55-01FB-6973-0677-1E3737DD8ACA}"/>
    <pc:docChg chg="modSld">
      <pc:chgData name="Laura Patricia Galvan Chavez" userId="S::laura.galvan@imss.gob.mx::6b13af50-ce8b-483e-8fc4-f994efaf3289" providerId="AD" clId="Web-{E1D68B55-01FB-6973-0677-1E3737DD8ACA}" dt="2026-06-23T22:27:30.134" v="5" actId="20577"/>
      <pc:docMkLst>
        <pc:docMk/>
      </pc:docMkLst>
      <pc:sldChg chg="modSp">
        <pc:chgData name="Laura Patricia Galvan Chavez" userId="S::laura.galvan@imss.gob.mx::6b13af50-ce8b-483e-8fc4-f994efaf3289" providerId="AD" clId="Web-{E1D68B55-01FB-6973-0677-1E3737DD8ACA}" dt="2026-06-23T22:27:30.134" v="5" actId="20577"/>
        <pc:sldMkLst>
          <pc:docMk/>
          <pc:sldMk cId="364733940" sldId="284"/>
        </pc:sldMkLst>
      </pc:sldChg>
    </pc:docChg>
  </pc:docChgLst>
  <pc:docChgLst>
    <pc:chgData name="Rohan Myron Oprisko" userId="a7c52ab4-f8b1-4d15-aaf6-6388cc510347" providerId="ADAL" clId="{97C26823-81C0-4343-94EC-E87AB1317939}"/>
    <pc:docChg chg="undo custSel modSld">
      <pc:chgData name="Rohan Myron Oprisko" userId="a7c52ab4-f8b1-4d15-aaf6-6388cc510347" providerId="ADAL" clId="{97C26823-81C0-4343-94EC-E87AB1317939}" dt="2026-06-24T15:52:48.783" v="5" actId="22"/>
      <pc:docMkLst>
        <pc:docMk/>
      </pc:docMkLst>
      <pc:sldChg chg="addSp delSp modSp mod">
        <pc:chgData name="Rohan Myron Oprisko" userId="a7c52ab4-f8b1-4d15-aaf6-6388cc510347" providerId="ADAL" clId="{97C26823-81C0-4343-94EC-E87AB1317939}" dt="2026-06-24T15:52:48.783" v="5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2:48.783" v="5" actId="22"/>
          <ac:spMkLst>
            <pc:docMk/>
            <pc:sldMk cId="748044913" sldId="287"/>
            <ac:spMk id="14" creationId="{2B4006C9-C591-3D37-7886-ABC8AFBE096F}"/>
          </ac:spMkLst>
        </pc:spChg>
        <pc:spChg chg="add">
          <ac:chgData name="Rohan Myron Oprisko" userId="a7c52ab4-f8b1-4d15-aaf6-6388cc510347" providerId="ADAL" clId="{97C26823-81C0-4343-94EC-E87AB1317939}" dt="2026-06-24T15:52:48.783" v="5" actId="22"/>
          <ac:spMkLst>
            <pc:docMk/>
            <pc:sldMk cId="748044913" sldId="287"/>
            <ac:spMk id="16" creationId="{09FB022F-D4A6-4854-AE9E-3C6F23D8CAB9}"/>
          </ac:spMkLst>
        </pc:spChg>
      </pc:sldChg>
    </pc:docChg>
  </pc:docChgLst>
  <pc:docChgLst>
    <pc:chgData name="Gerardo Jahir Lara Garcia" userId="84d5cd65-4601-4e92-b448-a9da4809e012" providerId="ADAL" clId="{848F2E50-180B-4DB9-9EF6-4803D25AC9EC}"/>
    <pc:docChg chg="undo custSel modSld">
      <pc:chgData name="Gerardo Jahir Lara Garcia" userId="84d5cd65-4601-4e92-b448-a9da4809e012" providerId="ADAL" clId="{848F2E50-180B-4DB9-9EF6-4803D25AC9EC}" dt="2026-07-03T00:33:36.878" v="229" actId="1036"/>
      <pc:docMkLst>
        <pc:docMk/>
      </pc:docMkLst>
      <pc:sldChg chg="modSp mod">
        <pc:chgData name="Gerardo Jahir Lara Garcia" userId="84d5cd65-4601-4e92-b448-a9da4809e012" providerId="ADAL" clId="{848F2E50-180B-4DB9-9EF6-4803D25AC9EC}" dt="2026-07-02T20:36:53.248" v="3" actId="20577"/>
        <pc:sldMkLst>
          <pc:docMk/>
          <pc:sldMk cId="0" sldId="259"/>
        </pc:sldMkLst>
        <pc:graphicFrameChg chg="modGraphic">
          <ac:chgData name="Gerardo Jahir Lara Garcia" userId="84d5cd65-4601-4e92-b448-a9da4809e012" providerId="ADAL" clId="{848F2E50-180B-4DB9-9EF6-4803D25AC9EC}" dt="2026-07-02T20:36:53.248" v="3" actId="20577"/>
          <ac:graphicFrameMkLst>
            <pc:docMk/>
            <pc:sldMk cId="0" sldId="259"/>
            <ac:graphicFrameMk id="137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20:38:03.803" v="5" actId="20577"/>
        <pc:sldMkLst>
          <pc:docMk/>
          <pc:sldMk cId="0" sldId="260"/>
        </pc:sldMkLst>
        <pc:graphicFrameChg chg="modGraphic">
          <ac:chgData name="Gerardo Jahir Lara Garcia" userId="84d5cd65-4601-4e92-b448-a9da4809e012" providerId="ADAL" clId="{848F2E50-180B-4DB9-9EF6-4803D25AC9EC}" dt="2026-07-02T20:38:03.803" v="5" actId="20577"/>
          <ac:graphicFrameMkLst>
            <pc:docMk/>
            <pc:sldMk cId="0" sldId="260"/>
            <ac:graphicFrameMk id="12" creationId="{00000000-0000-0000-0000-000000000000}"/>
          </ac:graphicFrameMkLst>
        </pc:graphicFrameChg>
      </pc:sldChg>
      <pc:sldChg chg="delSp mod">
        <pc:chgData name="Gerardo Jahir Lara Garcia" userId="84d5cd65-4601-4e92-b448-a9da4809e012" providerId="ADAL" clId="{848F2E50-180B-4DB9-9EF6-4803D25AC9EC}" dt="2026-07-02T20:42:11.580" v="21" actId="478"/>
        <pc:sldMkLst>
          <pc:docMk/>
          <pc:sldMk cId="0" sldId="263"/>
        </pc:sldMkLst>
        <pc:spChg chg="del">
          <ac:chgData name="Gerardo Jahir Lara Garcia" userId="84d5cd65-4601-4e92-b448-a9da4809e012" providerId="ADAL" clId="{848F2E50-180B-4DB9-9EF6-4803D25AC9EC}" dt="2026-07-02T20:42:11.580" v="21" actId="478"/>
          <ac:spMkLst>
            <pc:docMk/>
            <pc:sldMk cId="0" sldId="263"/>
            <ac:spMk id="14" creationId="{E595041E-EE84-291E-167E-208943725E09}"/>
          </ac:spMkLst>
        </pc:spChg>
        <pc:spChg chg="del">
          <ac:chgData name="Gerardo Jahir Lara Garcia" userId="84d5cd65-4601-4e92-b448-a9da4809e012" providerId="ADAL" clId="{848F2E50-180B-4DB9-9EF6-4803D25AC9EC}" dt="2026-07-02T20:42:09.176" v="20" actId="478"/>
          <ac:spMkLst>
            <pc:docMk/>
            <pc:sldMk cId="0" sldId="263"/>
            <ac:spMk id="15" creationId="{C465088B-35E2-8750-4EFA-EE68632C5D82}"/>
          </ac:spMkLst>
        </pc:spChg>
      </pc:sldChg>
      <pc:sldChg chg="modSp mod">
        <pc:chgData name="Gerardo Jahir Lara Garcia" userId="84d5cd65-4601-4e92-b448-a9da4809e012" providerId="ADAL" clId="{848F2E50-180B-4DB9-9EF6-4803D25AC9EC}" dt="2026-07-02T20:42:46.794" v="25" actId="20577"/>
        <pc:sldMkLst>
          <pc:docMk/>
          <pc:sldMk cId="0" sldId="267"/>
        </pc:sldMkLst>
        <pc:graphicFrameChg chg="modGraphic">
          <ac:chgData name="Gerardo Jahir Lara Garcia" userId="84d5cd65-4601-4e92-b448-a9da4809e012" providerId="ADAL" clId="{848F2E50-180B-4DB9-9EF6-4803D25AC9EC}" dt="2026-07-02T20:42:46.794" v="25" actId="20577"/>
          <ac:graphicFrameMkLst>
            <pc:docMk/>
            <pc:sldMk cId="0" sldId="267"/>
            <ac:graphicFrameMk id="233" creationId="{00000000-0000-0000-0000-000000000000}"/>
          </ac:graphicFrameMkLst>
        </pc:graphicFrameChg>
      </pc:sldChg>
      <pc:sldChg chg="addSp delSp modSp mod">
        <pc:chgData name="Gerardo Jahir Lara Garcia" userId="84d5cd65-4601-4e92-b448-a9da4809e012" providerId="ADAL" clId="{848F2E50-180B-4DB9-9EF6-4803D25AC9EC}" dt="2026-07-03T00:33:36.878" v="229" actId="1036"/>
        <pc:sldMkLst>
          <pc:docMk/>
          <pc:sldMk cId="0" sldId="270"/>
        </pc:sldMkLst>
        <pc:spChg chg="mod">
          <ac:chgData name="Gerardo Jahir Lara Garcia" userId="84d5cd65-4601-4e92-b448-a9da4809e012" providerId="ADAL" clId="{848F2E50-180B-4DB9-9EF6-4803D25AC9EC}" dt="2026-07-03T00:19:35.857" v="76" actId="20577"/>
          <ac:spMkLst>
            <pc:docMk/>
            <pc:sldMk cId="0" sldId="270"/>
            <ac:spMk id="303" creationId="{00000000-0000-0000-0000-000000000000}"/>
          </ac:spMkLst>
        </pc:spChg>
        <pc:spChg chg="mod">
          <ac:chgData name="Gerardo Jahir Lara Garcia" userId="84d5cd65-4601-4e92-b448-a9da4809e012" providerId="ADAL" clId="{848F2E50-180B-4DB9-9EF6-4803D25AC9EC}" dt="2026-07-03T00:19:00.278" v="66" actId="20577"/>
          <ac:spMkLst>
            <pc:docMk/>
            <pc:sldMk cId="0" sldId="270"/>
            <ac:spMk id="306" creationId="{00000000-0000-0000-0000-000000000000}"/>
          </ac:spMkLst>
        </pc:spChg>
        <pc:spChg chg="mod">
          <ac:chgData name="Gerardo Jahir Lara Garcia" userId="84d5cd65-4601-4e92-b448-a9da4809e012" providerId="ADAL" clId="{848F2E50-180B-4DB9-9EF6-4803D25AC9EC}" dt="2026-07-03T00:20:28.460" v="92" actId="20577"/>
          <ac:spMkLst>
            <pc:docMk/>
            <pc:sldMk cId="0" sldId="270"/>
            <ac:spMk id="309" creationId="{00000000-0000-0000-0000-000000000000}"/>
          </ac:spMkLst>
        </pc:spChg>
        <pc:spChg chg="mod">
          <ac:chgData name="Gerardo Jahir Lara Garcia" userId="84d5cd65-4601-4e92-b448-a9da4809e012" providerId="ADAL" clId="{848F2E50-180B-4DB9-9EF6-4803D25AC9EC}" dt="2026-07-03T00:20:55.932" v="104" actId="20577"/>
          <ac:spMkLst>
            <pc:docMk/>
            <pc:sldMk cId="0" sldId="270"/>
            <ac:spMk id="315" creationId="{00000000-0000-0000-0000-000000000000}"/>
          </ac:spMkLst>
        </pc:spChg>
        <pc:spChg chg="mod">
          <ac:chgData name="Gerardo Jahir Lara Garcia" userId="84d5cd65-4601-4e92-b448-a9da4809e012" providerId="ADAL" clId="{848F2E50-180B-4DB9-9EF6-4803D25AC9EC}" dt="2026-07-03T00:33:36.878" v="229" actId="1036"/>
          <ac:spMkLst>
            <pc:docMk/>
            <pc:sldMk cId="0" sldId="270"/>
            <ac:spMk id="322" creationId="{00000000-0000-0000-0000-000000000000}"/>
          </ac:spMkLst>
        </pc:spChg>
        <pc:graphicFrameChg chg="add del mod">
          <ac:chgData name="Gerardo Jahir Lara Garcia" userId="84d5cd65-4601-4e92-b448-a9da4809e012" providerId="ADAL" clId="{848F2E50-180B-4DB9-9EF6-4803D25AC9EC}" dt="2026-07-03T00:32:34.493" v="145" actId="478"/>
          <ac:graphicFrameMkLst>
            <pc:docMk/>
            <pc:sldMk cId="0" sldId="270"/>
            <ac:graphicFrameMk id="2" creationId="{38991151-209A-D20D-23D5-5062AF6E737C}"/>
          </ac:graphicFrameMkLst>
        </pc:graphicFrameChg>
        <pc:graphicFrameChg chg="add mod">
          <ac:chgData name="Gerardo Jahir Lara Garcia" userId="84d5cd65-4601-4e92-b448-a9da4809e012" providerId="ADAL" clId="{848F2E50-180B-4DB9-9EF6-4803D25AC9EC}" dt="2026-07-03T00:33:36.878" v="229" actId="1036"/>
          <ac:graphicFrameMkLst>
            <pc:docMk/>
            <pc:sldMk cId="0" sldId="270"/>
            <ac:graphicFrameMk id="3" creationId="{38991151-209A-D20D-23D5-5062AF6E737C}"/>
          </ac:graphicFrameMkLst>
        </pc:graphicFrameChg>
        <pc:graphicFrameChg chg="modGraphic">
          <ac:chgData name="Gerardo Jahir Lara Garcia" userId="84d5cd65-4601-4e92-b448-a9da4809e012" providerId="ADAL" clId="{848F2E50-180B-4DB9-9EF6-4803D25AC9EC}" dt="2026-07-03T00:19:13.515" v="70" actId="20577"/>
          <ac:graphicFrameMkLst>
            <pc:docMk/>
            <pc:sldMk cId="0" sldId="270"/>
            <ac:graphicFrameMk id="304" creationId="{00000000-0000-0000-0000-000000000000}"/>
          </ac:graphicFrameMkLst>
        </pc:graphicFrameChg>
        <pc:graphicFrameChg chg="modGraphic">
          <ac:chgData name="Gerardo Jahir Lara Garcia" userId="84d5cd65-4601-4e92-b448-a9da4809e012" providerId="ADAL" clId="{848F2E50-180B-4DB9-9EF6-4803D25AC9EC}" dt="2026-07-03T00:18:14.610" v="64" actId="20577"/>
          <ac:graphicFrameMkLst>
            <pc:docMk/>
            <pc:sldMk cId="0" sldId="270"/>
            <ac:graphicFrameMk id="307" creationId="{00000000-0000-0000-0000-000000000000}"/>
          </ac:graphicFrameMkLst>
        </pc:graphicFrameChg>
        <pc:graphicFrameChg chg="modGraphic">
          <ac:chgData name="Gerardo Jahir Lara Garcia" userId="84d5cd65-4601-4e92-b448-a9da4809e012" providerId="ADAL" clId="{848F2E50-180B-4DB9-9EF6-4803D25AC9EC}" dt="2026-07-03T00:20:03.253" v="86" actId="20577"/>
          <ac:graphicFrameMkLst>
            <pc:docMk/>
            <pc:sldMk cId="0" sldId="270"/>
            <ac:graphicFrameMk id="310" creationId="{00000000-0000-0000-0000-000000000000}"/>
          </ac:graphicFrameMkLst>
        </pc:graphicFrameChg>
        <pc:graphicFrameChg chg="modGraphic">
          <ac:chgData name="Gerardo Jahir Lara Garcia" userId="84d5cd65-4601-4e92-b448-a9da4809e012" providerId="ADAL" clId="{848F2E50-180B-4DB9-9EF6-4803D25AC9EC}" dt="2026-07-03T00:20:40.630" v="98" actId="20577"/>
          <ac:graphicFrameMkLst>
            <pc:docMk/>
            <pc:sldMk cId="0" sldId="270"/>
            <ac:graphicFrameMk id="316" creationId="{00000000-0000-0000-0000-000000000000}"/>
          </ac:graphicFrameMkLst>
        </pc:graphicFrameChg>
        <pc:graphicFrameChg chg="mod modGraphic">
          <ac:chgData name="Gerardo Jahir Lara Garcia" userId="84d5cd65-4601-4e92-b448-a9da4809e012" providerId="ADAL" clId="{848F2E50-180B-4DB9-9EF6-4803D25AC9EC}" dt="2026-07-03T00:24:47.209" v="142" actId="20577"/>
          <ac:graphicFrameMkLst>
            <pc:docMk/>
            <pc:sldMk cId="0" sldId="270"/>
            <ac:graphicFrameMk id="317" creationId="{00000000-0000-0000-0000-000000000000}"/>
          </ac:graphicFrameMkLst>
        </pc:graphicFrameChg>
        <pc:graphicFrameChg chg="mod modGraphic">
          <ac:chgData name="Gerardo Jahir Lara Garcia" userId="84d5cd65-4601-4e92-b448-a9da4809e012" providerId="ADAL" clId="{848F2E50-180B-4DB9-9EF6-4803D25AC9EC}" dt="2026-07-03T00:24:34.770" v="138" actId="2062"/>
          <ac:graphicFrameMkLst>
            <pc:docMk/>
            <pc:sldMk cId="0" sldId="270"/>
            <ac:graphicFrameMk id="318" creationId="{00000000-0000-0000-0000-000000000000}"/>
          </ac:graphicFrameMkLst>
        </pc:graphicFrameChg>
        <pc:graphicFrameChg chg="modGraphic">
          <ac:chgData name="Gerardo Jahir Lara Garcia" userId="84d5cd65-4601-4e92-b448-a9da4809e012" providerId="ADAL" clId="{848F2E50-180B-4DB9-9EF6-4803D25AC9EC}" dt="2026-07-03T00:22:09.859" v="125" actId="20577"/>
          <ac:graphicFrameMkLst>
            <pc:docMk/>
            <pc:sldMk cId="0" sldId="270"/>
            <ac:graphicFrameMk id="319" creationId="{00000000-0000-0000-0000-000000000000}"/>
          </ac:graphicFrameMkLst>
        </pc:graphicFrameChg>
        <pc:graphicFrameChg chg="del mod">
          <ac:chgData name="Gerardo Jahir Lara Garcia" userId="84d5cd65-4601-4e92-b448-a9da4809e012" providerId="ADAL" clId="{848F2E50-180B-4DB9-9EF6-4803D25AC9EC}" dt="2026-07-03T00:33:04.031" v="151" actId="478"/>
          <ac:graphicFrameMkLst>
            <pc:docMk/>
            <pc:sldMk cId="0" sldId="270"/>
            <ac:graphicFrameMk id="320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20:45:54.156" v="52" actId="20577"/>
        <pc:sldMkLst>
          <pc:docMk/>
          <pc:sldMk cId="0" sldId="277"/>
        </pc:sldMkLst>
        <pc:graphicFrameChg chg="modGraphic">
          <ac:chgData name="Gerardo Jahir Lara Garcia" userId="84d5cd65-4601-4e92-b448-a9da4809e012" providerId="ADAL" clId="{848F2E50-180B-4DB9-9EF6-4803D25AC9EC}" dt="2026-07-02T20:45:54.156" v="52" actId="20577"/>
          <ac:graphicFrameMkLst>
            <pc:docMk/>
            <pc:sldMk cId="0" sldId="277"/>
            <ac:graphicFrameMk id="467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20:42:39.337" v="23" actId="20577"/>
        <pc:sldMkLst>
          <pc:docMk/>
          <pc:sldMk cId="540716406" sldId="280"/>
        </pc:sldMkLst>
        <pc:graphicFrameChg chg="modGraphic">
          <ac:chgData name="Gerardo Jahir Lara Garcia" userId="84d5cd65-4601-4e92-b448-a9da4809e012" providerId="ADAL" clId="{848F2E50-180B-4DB9-9EF6-4803D25AC9EC}" dt="2026-07-02T20:42:39.337" v="23" actId="20577"/>
          <ac:graphicFrameMkLst>
            <pc:docMk/>
            <pc:sldMk cId="540716406" sldId="280"/>
            <ac:graphicFrameMk id="236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20:43:15.211" v="40" actId="20577"/>
        <pc:sldMkLst>
          <pc:docMk/>
          <pc:sldMk cId="3160447464" sldId="298"/>
        </pc:sldMkLst>
        <pc:graphicFrameChg chg="modGraphic">
          <ac:chgData name="Gerardo Jahir Lara Garcia" userId="84d5cd65-4601-4e92-b448-a9da4809e012" providerId="ADAL" clId="{848F2E50-180B-4DB9-9EF6-4803D25AC9EC}" dt="2026-07-02T20:43:15.211" v="40" actId="20577"/>
          <ac:graphicFrameMkLst>
            <pc:docMk/>
            <pc:sldMk cId="3160447464" sldId="298"/>
            <ac:graphicFrameMk id="12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20:41:47.459" v="19" actId="20577"/>
        <pc:sldMkLst>
          <pc:docMk/>
          <pc:sldMk cId="0" sldId="301"/>
        </pc:sldMkLst>
        <pc:graphicFrameChg chg="modGraphic">
          <ac:chgData name="Gerardo Jahir Lara Garcia" userId="84d5cd65-4601-4e92-b448-a9da4809e012" providerId="ADAL" clId="{848F2E50-180B-4DB9-9EF6-4803D25AC9EC}" dt="2026-07-02T20:41:47.459" v="19" actId="20577"/>
          <ac:graphicFrameMkLst>
            <pc:docMk/>
            <pc:sldMk cId="0" sldId="301"/>
            <ac:graphicFrameMk id="8" creationId="{00000000-0000-0000-0000-000000000000}"/>
          </ac:graphicFrameMkLst>
        </pc:graphicFrameChg>
      </pc:sldChg>
    </pc:docChg>
  </pc:docChgLst>
  <pc:docChgLst>
    <pc:chgData name="Laura Patricia Galvan Chavez" userId="S::laura.galvan@imss.gob.mx::6b13af50-ce8b-483e-8fc4-f994efaf3289" providerId="AD" clId="Web-{2F77ECDD-CE32-9410-7164-97B1F06A83E5}"/>
    <pc:docChg chg="modSld">
      <pc:chgData name="Laura Patricia Galvan Chavez" userId="S::laura.galvan@imss.gob.mx::6b13af50-ce8b-483e-8fc4-f994efaf3289" providerId="AD" clId="Web-{2F77ECDD-CE32-9410-7164-97B1F06A83E5}" dt="2026-06-23T22:26:23.957" v="17" actId="20577"/>
      <pc:docMkLst>
        <pc:docMk/>
      </pc:docMkLst>
      <pc:sldChg chg="addSp modSp">
        <pc:chgData name="Laura Patricia Galvan Chavez" userId="S::laura.galvan@imss.gob.mx::6b13af50-ce8b-483e-8fc4-f994efaf3289" providerId="AD" clId="Web-{2F77ECDD-CE32-9410-7164-97B1F06A83E5}" dt="2026-06-23T22:26:23.957" v="17" actId="20577"/>
        <pc:sldMkLst>
          <pc:docMk/>
          <pc:sldMk cId="3240565764" sldId="297"/>
        </pc:sldMkLst>
      </pc:sldChg>
    </pc:docChg>
  </pc:docChgLst>
  <pc:docChgLst>
    <pc:chgData name="Laura Patricia Galvan Chavez" userId="S::laura.galvan@imss.gob.mx::6b13af50-ce8b-483e-8fc4-f994efaf3289" providerId="AD" clId="Web-{179D67BD-ABE6-D064-4651-EB60CEA67668}"/>
    <pc:docChg chg="modSld">
      <pc:chgData name="Laura Patricia Galvan Chavez" userId="S::laura.galvan@imss.gob.mx::6b13af50-ce8b-483e-8fc4-f994efaf3289" providerId="AD" clId="Web-{179D67BD-ABE6-D064-4651-EB60CEA67668}" dt="2026-06-23T19:32:24.129" v="29" actId="14100"/>
      <pc:docMkLst>
        <pc:docMk/>
      </pc:docMkLst>
      <pc:sldChg chg="modSp">
        <pc:chgData name="Laura Patricia Galvan Chavez" userId="S::laura.galvan@imss.gob.mx::6b13af50-ce8b-483e-8fc4-f994efaf3289" providerId="AD" clId="Web-{179D67BD-ABE6-D064-4651-EB60CEA67668}" dt="2026-06-23T19:32:24.129" v="29" actId="14100"/>
        <pc:sldMkLst>
          <pc:docMk/>
          <pc:sldMk cId="0" sldId="260"/>
        </pc:sldMkLst>
        <pc:spChg chg="mod">
          <ac:chgData name="Laura Patricia Galvan Chavez" userId="S::laura.galvan@imss.gob.mx::6b13af50-ce8b-483e-8fc4-f994efaf3289" providerId="AD" clId="Web-{179D67BD-ABE6-D064-4651-EB60CEA67668}" dt="2026-06-23T19:32:10.816" v="28" actId="20577"/>
          <ac:spMkLst>
            <pc:docMk/>
            <pc:sldMk cId="0" sldId="260"/>
            <ac:spMk id="7" creationId="{1B8417DF-4E40-D4CB-1C70-DC570D076695}"/>
          </ac:spMkLst>
        </pc:spChg>
        <pc:graphicFrameChg chg="mod modGraphic">
          <ac:chgData name="Laura Patricia Galvan Chavez" userId="S::laura.galvan@imss.gob.mx::6b13af50-ce8b-483e-8fc4-f994efaf3289" providerId="AD" clId="Web-{179D67BD-ABE6-D064-4651-EB60CEA67668}" dt="2026-06-23T19:30:26.721" v="15"/>
          <ac:graphicFrameMkLst>
            <pc:docMk/>
            <pc:sldMk cId="0" sldId="260"/>
            <ac:graphicFrameMk id="5" creationId="{CB2697FC-9BDD-2E3D-6BE1-081FF1CD6009}"/>
          </ac:graphicFrameMkLst>
        </pc:graphicFrameChg>
        <pc:picChg chg="mod">
          <ac:chgData name="Laura Patricia Galvan Chavez" userId="S::laura.galvan@imss.gob.mx::6b13af50-ce8b-483e-8fc4-f994efaf3289" providerId="AD" clId="Web-{179D67BD-ABE6-D064-4651-EB60CEA67668}" dt="2026-06-23T19:32:24.129" v="29" actId="14100"/>
          <ac:picMkLst>
            <pc:docMk/>
            <pc:sldMk cId="0" sldId="260"/>
            <ac:picMk id="6" creationId="{7CA2B464-7204-1B58-7CE3-C6C3B14E00FD}"/>
          </ac:picMkLst>
        </pc:picChg>
      </pc:sldChg>
    </pc:docChg>
  </pc:docChgLst>
  <pc:docChgLst>
    <pc:chgData name="Laura Patricia Galvan Chavez" userId="6b13af50-ce8b-483e-8fc4-f994efaf3289" providerId="ADAL" clId="{655D084B-7DF1-4C24-9447-417D7DC498B8}"/>
    <pc:docChg chg="modSld">
      <pc:chgData name="Laura Patricia Galvan Chavez" userId="6b13af50-ce8b-483e-8fc4-f994efaf3289" providerId="ADAL" clId="{655D084B-7DF1-4C24-9447-417D7DC498B8}" dt="2026-07-02T23:04:01.040" v="43" actId="20577"/>
      <pc:docMkLst>
        <pc:docMk/>
      </pc:docMkLst>
      <pc:sldChg chg="modSp mod">
        <pc:chgData name="Laura Patricia Galvan Chavez" userId="6b13af50-ce8b-483e-8fc4-f994efaf3289" providerId="ADAL" clId="{655D084B-7DF1-4C24-9447-417D7DC498B8}" dt="2026-07-02T22:53:52.443" v="37" actId="20577"/>
        <pc:sldMkLst>
          <pc:docMk/>
          <pc:sldMk cId="0" sldId="259"/>
        </pc:sldMkLst>
        <pc:graphicFrameChg chg="modGraphic">
          <ac:chgData name="Laura Patricia Galvan Chavez" userId="6b13af50-ce8b-483e-8fc4-f994efaf3289" providerId="ADAL" clId="{655D084B-7DF1-4C24-9447-417D7DC498B8}" dt="2026-07-02T22:53:52.443" v="37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6:32:00.671" v="19" actId="1076"/>
        <pc:sldMkLst>
          <pc:docMk/>
          <pc:sldMk cId="0" sldId="260"/>
        </pc:sldMkLst>
        <pc:picChg chg="mod">
          <ac:chgData name="Laura Patricia Galvan Chavez" userId="6b13af50-ce8b-483e-8fc4-f994efaf3289" providerId="ADAL" clId="{655D084B-7DF1-4C24-9447-417D7DC498B8}" dt="2026-06-29T16:32:00.671" v="19" actId="1076"/>
          <ac:picMkLst>
            <pc:docMk/>
            <pc:sldMk cId="0" sldId="260"/>
            <ac:picMk id="11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7-02T23:04:01.040" v="43" actId="20577"/>
        <pc:sldMkLst>
          <pc:docMk/>
          <pc:sldMk cId="0" sldId="277"/>
        </pc:sldMkLst>
        <pc:spChg chg="mod">
          <ac:chgData name="Laura Patricia Galvan Chavez" userId="6b13af50-ce8b-483e-8fc4-f994efaf3289" providerId="ADAL" clId="{655D084B-7DF1-4C24-9447-417D7DC498B8}" dt="2026-07-02T23:04:01.040" v="43" actId="20577"/>
          <ac:spMkLst>
            <pc:docMk/>
            <pc:sldMk cId="0" sldId="277"/>
            <ac:spMk id="471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6:37:05.112" v="29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6:37:05.112" v="29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56:45.874" v="31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19:56:45.874" v="31" actId="1076"/>
          <ac:spMkLst>
            <pc:docMk/>
            <pc:sldMk cId="3805655920" sldId="288"/>
            <ac:spMk id="232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6T23:46:12.739" v="18" actId="20577"/>
        <pc:sldMkLst>
          <pc:docMk/>
          <pc:sldMk cId="3763779569" sldId="289"/>
        </pc:sldMkLst>
        <pc:graphicFrameChg chg="modGraphic">
          <ac:chgData name="Laura Patricia Galvan Chavez" userId="6b13af50-ce8b-483e-8fc4-f994efaf3289" providerId="ADAL" clId="{655D084B-7DF1-4C24-9447-417D7DC498B8}" dt="2026-06-26T23:46:12.739" v="18" actId="20577"/>
          <ac:graphicFrameMkLst>
            <pc:docMk/>
            <pc:sldMk cId="3763779569" sldId="289"/>
            <ac:graphicFrameMk id="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2:55:56.424" v="41" actId="20577"/>
        <pc:sldMkLst>
          <pc:docMk/>
          <pc:sldMk cId="0" sldId="301"/>
        </pc:sldMkLst>
        <pc:graphicFrameChg chg="modGraphic">
          <ac:chgData name="Laura Patricia Galvan Chavez" userId="6b13af50-ce8b-483e-8fc4-f994efaf3289" providerId="ADAL" clId="{655D084B-7DF1-4C24-9447-417D7DC498B8}" dt="2026-07-02T22:55:56.424" v="41" actId="20577"/>
          <ac:graphicFrameMkLst>
            <pc:docMk/>
            <pc:sldMk cId="0" sldId="301"/>
            <ac:graphicFrameMk id="5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6DC0-47BE-9E05-4EC68FD2352F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  <a:ln>
                <a:solidFill>
                  <a:schemeClr val="tx2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DC0-47BE-9E05-4EC68FD2352F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6DC0-47BE-9E05-4EC68FD2352F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6DC0-47BE-9E05-4EC68FD2352F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6DC0-47BE-9E05-4EC68FD2352F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2463562</c:v>
                </c:pt>
                <c:pt idx="1">
                  <c:v>73004</c:v>
                </c:pt>
                <c:pt idx="2">
                  <c:v>235486</c:v>
                </c:pt>
                <c:pt idx="3">
                  <c:v>1408174</c:v>
                </c:pt>
                <c:pt idx="4">
                  <c:v>9059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DC0-47BE-9E05-4EC68FD235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45F-4741-8FA6-B6533CFA0191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45F-4741-8FA6-B6533CFA0191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42.268970193079454</c:v>
                </c:pt>
                <c:pt idx="1">
                  <c:v>57.731029806920546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5F-4741-8FA6-B6533CFA01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FBA-4BF7-A74E-333A8F2D4271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FBA-4BF7-A74E-333A8F2D4271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13.991975294100001</c:v>
                </c:pt>
                <c:pt idx="1">
                  <c:v>86.008024705899999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BA-4BF7-A74E-333A8F2D42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EE9-4C9F-AEEC-E8BFC16AF626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EE9-4C9F-AEEC-E8BFC16AF626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49.688027417968712</c:v>
                </c:pt>
                <c:pt idx="1">
                  <c:v>50.311972582031288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E9-4C9F-AEEC-E8BFC16AF6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FA5-4DE8-901B-64ABB9153EA4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FA5-4DE8-901B-64ABB9153EA4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43.112376173935417</c:v>
                </c:pt>
                <c:pt idx="1">
                  <c:v>56.887623826064583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A5-4DE8-901B-64ABB9153E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rgbClr val="005C4C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691C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5EC-4034-8841-D9B1F21DF38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Hoja1!$A$2:$A$5</c:f>
              <c:numCache>
                <c:formatCode>General</c:formatCod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Hoja1!$B$2:$B$5</c:f>
              <c:numCache>
                <c:formatCode>General</c:formatCode>
                <c:ptCount val="4"/>
                <c:pt idx="0">
                  <c:v>58</c:v>
                </c:pt>
                <c:pt idx="1">
                  <c:v>177</c:v>
                </c:pt>
                <c:pt idx="2">
                  <c:v>184</c:v>
                </c:pt>
                <c:pt idx="3">
                  <c:v>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EC-4034-8841-D9B1F21DF38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528114943"/>
        <c:axId val="623441119"/>
      </c:barChart>
      <c:catAx>
        <c:axId val="152811494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623441119"/>
        <c:crosses val="autoZero"/>
        <c:auto val="1"/>
        <c:lblAlgn val="ctr"/>
        <c:lblOffset val="100"/>
        <c:noMultiLvlLbl val="0"/>
      </c:catAx>
      <c:valAx>
        <c:axId val="623441119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528114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Transportes y Comunicaciones</c:v>
                </c:pt>
                <c:pt idx="1">
                  <c:v>Agricultura, Ganaderia, Silvicultura, Pesca y Caza</c:v>
                </c:pt>
                <c:pt idx="2">
                  <c:v>Industrias de la Transformación</c:v>
                </c:pt>
                <c:pt idx="3">
                  <c:v>Industrias Extractivas</c:v>
                </c:pt>
                <c:pt idx="4">
                  <c:v>Comercio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Servicios para Empresas, Personas y el Hogar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56113</c:v>
                </c:pt>
                <c:pt idx="1">
                  <c:v>49115</c:v>
                </c:pt>
                <c:pt idx="2">
                  <c:v>431574</c:v>
                </c:pt>
                <c:pt idx="3">
                  <c:v>666</c:v>
                </c:pt>
                <c:pt idx="4">
                  <c:v>181028</c:v>
                </c:pt>
                <c:pt idx="5">
                  <c:v>71630</c:v>
                </c:pt>
                <c:pt idx="6">
                  <c:v>4702</c:v>
                </c:pt>
                <c:pt idx="7">
                  <c:v>169823</c:v>
                </c:pt>
                <c:pt idx="8">
                  <c:v>56934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AA0-4EC3-9EEA-5C0DDBDF88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Transportes y Comunicaciones</c:v>
                </c:pt>
                <c:pt idx="1">
                  <c:v>Agricultura, Ganaderia, Silvicultura, Pesca y Caza</c:v>
                </c:pt>
                <c:pt idx="2">
                  <c:v>Industrias de la Transformación</c:v>
                </c:pt>
                <c:pt idx="3">
                  <c:v>Industrias Extractivas</c:v>
                </c:pt>
                <c:pt idx="4">
                  <c:v>Comercio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Servicios para Empresas, Personas y el Hogar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51312</c:v>
                </c:pt>
                <c:pt idx="1">
                  <c:v>45183</c:v>
                </c:pt>
                <c:pt idx="2">
                  <c:v>428191</c:v>
                </c:pt>
                <c:pt idx="3">
                  <c:v>663</c:v>
                </c:pt>
                <c:pt idx="4">
                  <c:v>186815</c:v>
                </c:pt>
                <c:pt idx="5">
                  <c:v>73925</c:v>
                </c:pt>
                <c:pt idx="6">
                  <c:v>4881</c:v>
                </c:pt>
                <c:pt idx="7">
                  <c:v>177006</c:v>
                </c:pt>
                <c:pt idx="8">
                  <c:v>59701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AA0-4EC3-9EEA-5C0DDBDF88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51135488"/>
        <c:axId val="251137024"/>
      </c:barChart>
      <c:catAx>
        <c:axId val="25113548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251137024"/>
        <c:crosses val="autoZero"/>
        <c:auto val="1"/>
        <c:lblAlgn val="ctr"/>
        <c:lblOffset val="100"/>
        <c:noMultiLvlLbl val="0"/>
      </c:catAx>
      <c:valAx>
        <c:axId val="25113702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251135488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865847</c:v>
                </c:pt>
                <c:pt idx="1">
                  <c:v>895631</c:v>
                </c:pt>
                <c:pt idx="2">
                  <c:v>894317</c:v>
                </c:pt>
                <c:pt idx="3">
                  <c:v>963136</c:v>
                </c:pt>
                <c:pt idx="4">
                  <c:v>1005499</c:v>
                </c:pt>
                <c:pt idx="5">
                  <c:v>1043557</c:v>
                </c:pt>
                <c:pt idx="6">
                  <c:v>1043660</c:v>
                </c:pt>
                <c:pt idx="7">
                  <c:v>1021585</c:v>
                </c:pt>
                <c:pt idx="8">
                  <c:v>1027677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314-4E0C-B738-E8C870AFB5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78996480"/>
        <c:axId val="278998016"/>
      </c:barChart>
      <c:catAx>
        <c:axId val="27899648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78998016"/>
        <c:crosses val="autoZero"/>
        <c:auto val="1"/>
        <c:lblAlgn val="ctr"/>
        <c:lblOffset val="100"/>
        <c:noMultiLvlLbl val="0"/>
      </c:catAx>
      <c:valAx>
        <c:axId val="2789980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78996480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72435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chart" Target="../charts/chart6.xml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Baja California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</a:t>
            </a:r>
            <a:r>
              <a:rPr err="1"/>
              <a:t>Estatal</a:t>
            </a:r>
            <a:endParaRPr/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rPr err="1"/>
              <a:t>Ju</a:t>
            </a:r>
            <a:r>
              <a:rPr lang="es-MX"/>
              <a:t>l</a:t>
            </a:r>
            <a:r>
              <a:rPr err="1"/>
              <a:t>io</a:t>
            </a:r>
            <a: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4" name="Google Shape;66;p15"/>
          <p:cNvGraphicFramePr/>
          <p:nvPr>
            <p:extLst>
              <p:ext uri="{D42A27DB-BD31-4B8C-83A1-F6EECF244321}">
                <p14:modId xmlns:p14="http://schemas.microsoft.com/office/powerpoint/2010/main" val="1782238608"/>
              </p:ext>
            </p:extLst>
          </p:nvPr>
        </p:nvGraphicFramePr>
        <p:xfrm>
          <a:off x="871163" y="2846601"/>
          <a:ext cx="4810350" cy="6634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8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Prestaciones Médicas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Dra. Geraldine Verónica Lugo Preciado</a:t>
                      </a:r>
                      <a:endParaRPr sz="11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Medicina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mayo de 2026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Salud en el Trabajo, Prestaciones Económicas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 Sociales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Alva </a:t>
                      </a:r>
                      <a:r>
                        <a:rPr lang="es-MX" sz="1100" b="1" u="none" strike="noStrike" cap="none" err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Artemiza</a:t>
                      </a:r>
                      <a:r>
                        <a:rPr lang="es-MX" sz="11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Adame </a:t>
                      </a:r>
                      <a:r>
                        <a:rPr lang="es-MX" sz="1100" b="1" u="none" strike="noStrike" cap="none" err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Aguillón</a:t>
                      </a:r>
                      <a:endParaRPr lang="es-MX" sz="11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Administración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4 de mayo de 2021</a:t>
                      </a: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Afiliación y Cobranza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C.P. Luis Gerardo Lerma Salcido</a:t>
                      </a:r>
                      <a:endParaRPr sz="11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Licenciatua en Contaduría Pública  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18 de Marzo de 2020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Desarrollo de Personal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L.A.P. Héctor Eduardo Franco López</a:t>
                      </a:r>
                      <a:endParaRPr sz="11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Administración Pública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5 de Noviembre de 2023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 Finanzas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Carlos David Barraza Haro</a:t>
                      </a:r>
                      <a:endParaRPr sz="11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Negocios Internacionales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 de Junio de 2024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Juan Carlos Hernández Rodríguez</a:t>
                      </a:r>
                      <a:endParaRPr sz="11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Contaduría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Diciembre de 2022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Ricardo Iván Ramírez García</a:t>
                      </a:r>
                      <a:endParaRPr sz="11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12 de agosto de 2025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Secretario General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la Sección VII 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465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César Eduardo González Rocha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Medicina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sz="1100" b="0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febrero de 2023</a:t>
                      </a: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465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Google Shape;68;p15" title="WhatsApp Image 2025-07-11 at 2.46.33 PM.jpeg"/>
          <p:cNvPicPr preferRelativeResize="0"/>
          <p:nvPr/>
        </p:nvPicPr>
        <p:blipFill rotWithShape="1">
          <a:blip r:embed="rId2">
            <a:alphaModFix/>
          </a:blip>
          <a:srcRect l="-1938" t="3122" r="-641" b="9091"/>
          <a:stretch>
            <a:fillRect/>
          </a:stretch>
        </p:blipFill>
        <p:spPr>
          <a:xfrm>
            <a:off x="5663780" y="4511974"/>
            <a:ext cx="705280" cy="838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9;p15" title="WhatsApp Image 2025-07-11 at 2.45.45 PM.jpeg"/>
          <p:cNvPicPr preferRelativeResize="0"/>
          <p:nvPr/>
        </p:nvPicPr>
        <p:blipFill rotWithShape="1">
          <a:blip r:embed="rId3">
            <a:alphaModFix/>
          </a:blip>
          <a:srcRect l="15976" t="18890" r="13207"/>
          <a:stretch/>
        </p:blipFill>
        <p:spPr>
          <a:xfrm>
            <a:off x="5672639" y="3684316"/>
            <a:ext cx="687562" cy="838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0;p15" title="WhatsApp Image 2025-07-11 at 2.46.57 PM.jpeg"/>
          <p:cNvPicPr preferRelativeResize="0"/>
          <p:nvPr/>
        </p:nvPicPr>
        <p:blipFill rotWithShape="1">
          <a:blip r:embed="rId4">
            <a:alphaModFix/>
          </a:blip>
          <a:srcRect l="25917" t="-22" r="30430" b="27825"/>
          <a:stretch/>
        </p:blipFill>
        <p:spPr>
          <a:xfrm>
            <a:off x="5681512" y="6163701"/>
            <a:ext cx="687549" cy="83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p15" title="WhatsApp Image 2025-07-11 at 2.47.48 PM.jpeg"/>
          <p:cNvPicPr preferRelativeResize="0"/>
          <p:nvPr/>
        </p:nvPicPr>
        <p:blipFill rotWithShape="1">
          <a:blip r:embed="rId5">
            <a:alphaModFix/>
          </a:blip>
          <a:srcRect l="13794" t="6476" r="17582" b="6476"/>
          <a:stretch/>
        </p:blipFill>
        <p:spPr>
          <a:xfrm>
            <a:off x="5681513" y="6982063"/>
            <a:ext cx="687549" cy="866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2;p15" title="WhatsApp Image 2025-07-11 at 2.43.19 PM.jpeg"/>
          <p:cNvPicPr preferRelativeResize="0"/>
          <p:nvPr/>
        </p:nvPicPr>
        <p:blipFill rotWithShape="1">
          <a:blip r:embed="rId6">
            <a:alphaModFix/>
          </a:blip>
          <a:srcRect l="28041" t="7149" r="23004" b="41856"/>
          <a:stretch/>
        </p:blipFill>
        <p:spPr>
          <a:xfrm>
            <a:off x="5681511" y="5337837"/>
            <a:ext cx="687549" cy="83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3;p15"/>
          <p:cNvPicPr preferRelativeResize="0"/>
          <p:nvPr/>
        </p:nvPicPr>
        <p:blipFill rotWithShape="1">
          <a:blip r:embed="rId7">
            <a:alphaModFix/>
          </a:blip>
          <a:srcRect l="-20" t="1140" b="6700"/>
          <a:stretch>
            <a:fillRect/>
          </a:stretch>
        </p:blipFill>
        <p:spPr>
          <a:xfrm>
            <a:off x="5681513" y="8676487"/>
            <a:ext cx="687550" cy="80431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6;p15"/>
          <p:cNvSpPr txBox="1"/>
          <p:nvPr/>
        </p:nvSpPr>
        <p:spPr>
          <a:xfrm>
            <a:off x="2578250" y="704100"/>
            <a:ext cx="3998400" cy="1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Dra. Desirée Sagarnaga Durante</a:t>
            </a:r>
            <a:endParaRPr sz="13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0000" marR="0" lvl="0" indent="-146051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Médico Cirujano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0000" marR="0" lvl="0" indent="-146051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Especialidad en Medicina Familiar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0000" marR="0" lvl="0" indent="-146051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Maestría en Investigación de Sistemas de Salud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1" i="0" u="none" strike="noStrike" cap="none">
                <a:solidFill>
                  <a:srgbClr val="005C4C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</a:t>
            </a:r>
            <a:r>
              <a:rPr lang="es" sz="1300" b="0" i="0" u="none" strike="noStrike" cap="none">
                <a:solidFill>
                  <a:srgbClr val="005C4C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s"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15 de febrero de 2020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Fue titular de la UMF No. 33 y en la UMAA No. 68 en la OOAD Chihuahua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" name="Google Shape;77;p15"/>
          <p:cNvPicPr preferRelativeResize="0"/>
          <p:nvPr/>
        </p:nvPicPr>
        <p:blipFill rotWithShape="1">
          <a:blip r:embed="rId8">
            <a:alphaModFix/>
          </a:blip>
          <a:srcRect l="50390" t="14156" r="30129" b="46123"/>
          <a:stretch/>
        </p:blipFill>
        <p:spPr>
          <a:xfrm>
            <a:off x="871175" y="603250"/>
            <a:ext cx="1683100" cy="225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8;p15"/>
          <p:cNvPicPr preferRelativeResize="0"/>
          <p:nvPr/>
        </p:nvPicPr>
        <p:blipFill rotWithShape="1">
          <a:blip r:embed="rId9">
            <a:alphaModFix/>
          </a:blip>
          <a:srcRect l="13451" t="-1154" r="13451" b="1154"/>
          <a:stretch>
            <a:fillRect/>
          </a:stretch>
        </p:blipFill>
        <p:spPr>
          <a:xfrm>
            <a:off x="5681513" y="7810214"/>
            <a:ext cx="687549" cy="85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n 4">
            <a:extLst>
              <a:ext uri="{FF2B5EF4-FFF2-40B4-BE49-F238E27FC236}">
                <a16:creationId xmlns:a16="http://schemas.microsoft.com/office/drawing/2014/main" id="{E5094357-48AD-70E1-C9C0-7D910FE853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2638" y="2839593"/>
            <a:ext cx="687561" cy="83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61%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841475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err="1"/>
              <a:t>Fuente</a:t>
            </a:r>
            <a:r>
              <a:t>: CONAPO, </a:t>
            </a:r>
            <a:r>
              <a:rPr err="1"/>
              <a:t>proyección</a:t>
            </a:r>
            <a:r>
              <a:t> a </a:t>
            </a:r>
            <a:r>
              <a:rPr err="1"/>
              <a:t>enero</a:t>
            </a:r>
            <a:r>
              <a:t>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868300"/>
              </p:ext>
            </p:extLst>
          </p:nvPr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195211" y="294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2,463,562</a:t>
            </a:r>
            <a:br>
              <a:rPr/>
            </a:br>
            <a:r>
              <a:t>59%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256" y="2962800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500800" y="31356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3845618" y="430514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73,004</a:t>
            </a:r>
            <a:br>
              <a:rPr/>
            </a:br>
            <a:r>
              <a:t>2%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3064" y="4312348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2988000" y="4434748"/>
            <a:ext cx="122400" cy="122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54525" y="406034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235,486</a:t>
            </a:r>
            <a:br>
              <a:rPr/>
            </a:br>
            <a:r>
              <a:t>6%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649" y="3564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400750" y="37368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89649" y="2108775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1,408,174</a:t>
            </a:r>
            <a:br>
              <a:rPr/>
            </a:br>
            <a:r>
              <a:t>34%</a:t>
            </a:r>
          </a:p>
        </p:txBody>
      </p:sp>
      <p:pic>
        <p:nvPicPr>
          <p:cNvPr id="128" name="Picture 127" descr="0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133" y="1668898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2142525" y="1839298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5105235" y="114825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9,059</a:t>
            </a:r>
            <a:br>
              <a:rPr/>
            </a:br>
            <a:r>
              <a:t>0.22%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8135" y="1190775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5031735" y="13731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4,189,285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Categoría</a:t>
                      </a: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2,082,530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2,463,562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1,192,759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1,501,986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877,445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1,027,677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218,935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144,800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223,926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889,771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961,576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327,680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493,211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443,547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119,979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3,048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3,088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10,567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14,836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2_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4363"/>
              </p:ext>
            </p:extLst>
          </p:nvPr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Nivel</a:t>
                      </a:r>
                      <a:endParaRPr/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  <a:r>
                        <a:rPr lang="es-MX" sz="1000">
                          <a:latin typeface="Montserrat"/>
                        </a:rPr>
                        <a:t>0</a:t>
                      </a:r>
                      <a:r>
                        <a:rPr lang="es-MX" sz="1050" baseline="30000">
                          <a:latin typeface="Montserrat"/>
                        </a:rPr>
                        <a:t>1</a:t>
                      </a:r>
                      <a:endParaRPr sz="700" baseline="30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</a:t>
                      </a:r>
                      <a:r>
                        <a:rPr lang="es-MX" sz="1000">
                          <a:latin typeface="Montserrat"/>
                        </a:rPr>
                        <a:t>8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1000">
                          <a:latin typeface="Montserrat"/>
                        </a:rPr>
                        <a:t>41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1000">
                          <a:latin typeface="Montserrat"/>
                        </a:rPr>
                        <a:t>80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1,341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</a:t>
                      </a:r>
                      <a:r>
                        <a:rPr lang="es-MX" sz="1000">
                          <a:latin typeface="Montserrat"/>
                        </a:rPr>
                        <a:t>24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  <a:r>
                        <a:rPr lang="es-MX" sz="1000">
                          <a:latin typeface="Montserrat"/>
                        </a:rPr>
                        <a:t>5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</a:t>
                      </a:r>
                      <a:r>
                        <a:rPr lang="es-MX" sz="1000">
                          <a:latin typeface="Montserrat"/>
                        </a:rPr>
                        <a:t>82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00">
                          <a:latin typeface="Montserrat"/>
                        </a:rPr>
                        <a:t>604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722017"/>
              </p:ext>
            </p:extLst>
          </p:nvPr>
        </p:nvGraphicFramePr>
        <p:xfrm>
          <a:off x="4536000" y="6854400"/>
          <a:ext cx="3096000" cy="1258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9344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  <a:r>
                        <a:rPr lang="es-MX" sz="1050" baseline="30000"/>
                        <a:t>2</a:t>
                      </a:r>
                      <a:endParaRPr baseline="30000"/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9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325063"/>
              </p:ext>
            </p:extLst>
          </p:nvPr>
        </p:nvGraphicFramePr>
        <p:xfrm>
          <a:off x="5659200" y="1155600"/>
          <a:ext cx="20268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7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1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4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21 UMF, 8 UMFH, 1 UMF-UMAA y no incluye 3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 </a:t>
            </a:r>
            <a:r>
              <a:t>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77;g3cf9c41d666_3_86">
            <a:extLst>
              <a:ext uri="{FF2B5EF4-FFF2-40B4-BE49-F238E27FC236}">
                <a16:creationId xmlns:a16="http://schemas.microsoft.com/office/drawing/2014/main" id="{CB2697FC-9BDD-2E3D-6BE1-081FF1CD60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8482647"/>
              </p:ext>
            </p:extLst>
          </p:nvPr>
        </p:nvGraphicFramePr>
        <p:xfrm>
          <a:off x="288000" y="1191600"/>
          <a:ext cx="68474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4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de Zona Mexicali</a:t>
                      </a:r>
                      <a:r>
                        <a:rPr lang="es" sz="18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Baja California</a:t>
                      </a:r>
                      <a:endParaRPr sz="18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78;g3cf9c41d666_3_86">
            <a:extLst>
              <a:ext uri="{FF2B5EF4-FFF2-40B4-BE49-F238E27FC236}">
                <a16:creationId xmlns:a16="http://schemas.microsoft.com/office/drawing/2014/main" id="{7CA2B464-7204-1B58-7CE3-C6C3B14E00F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23" y="2220596"/>
            <a:ext cx="2248310" cy="18557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B8417DF-4E40-D4CB-1C70-DC570D076695}"/>
              </a:ext>
            </a:extLst>
          </p:cNvPr>
          <p:cNvSpPr txBox="1"/>
          <p:nvPr/>
        </p:nvSpPr>
        <p:spPr>
          <a:xfrm>
            <a:off x="2552401" y="1925050"/>
            <a:ext cx="5064551" cy="28058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ES" sz="1200"/>
              <a:t>•</a:t>
            </a:r>
            <a:r>
              <a:rPr lang="es-ES" sz="1200">
                <a:latin typeface="Montserrat"/>
              </a:rPr>
              <a:t>El 10 de agosto de 1952 el IMSS inició operaciones en la entidad, siendo</a:t>
            </a:r>
            <a:r>
              <a:rPr lang="es-ES" sz="1200" b="1">
                <a:latin typeface="Montserrat"/>
              </a:rPr>
              <a:t> </a:t>
            </a:r>
            <a:r>
              <a:rPr lang="es-ES" sz="1200">
                <a:latin typeface="Montserrat"/>
              </a:rPr>
              <a:t>el Presidente Miguel Alemán quien decretó la introducción de los servicios de salud del IMSS en Baja California. Incluyendo el municipio de San Luis Rio Colorado, Sonora.</a:t>
            </a:r>
            <a:endParaRPr lang="es-ES">
              <a:latin typeface="Montserrat"/>
            </a:endParaRPr>
          </a:p>
          <a:p>
            <a:pPr algn="just"/>
            <a:r>
              <a:rPr lang="es-ES" sz="1200"/>
              <a:t>•</a:t>
            </a:r>
            <a:r>
              <a:rPr lang="es-ES" sz="1200">
                <a:latin typeface="Montserrat" panose="00000500000000000000" pitchFamily="2" charset="0"/>
              </a:rPr>
              <a:t>En 1954 el Presidente Adolfo Ruiz Cortines firmó el decreto que incorporó a los trabajadores del campo al IMSS, lo que convirtió a Baja California en la primera entidad del país en brindar cobertura a este sector, e implementar una red de unidades médicas rurales en el Valle de Mexicali.</a:t>
            </a:r>
            <a:endParaRPr lang="es-ES"/>
          </a:p>
          <a:p>
            <a:pPr algn="just"/>
            <a:r>
              <a:rPr lang="es-ES" sz="1200"/>
              <a:t>•</a:t>
            </a:r>
            <a:r>
              <a:rPr lang="es-ES" sz="1200">
                <a:latin typeface="Montserrat" panose="00000500000000000000" pitchFamily="2" charset="0"/>
              </a:rPr>
              <a:t>El primer hospital del IMSS en Baja California fue el Hospital General Regional (más tarde denominado Hospital General) de Mexicali, que se inauguró en 1961.</a:t>
            </a:r>
            <a:endParaRPr lang="es-ES"/>
          </a:p>
          <a:p>
            <a:pPr algn="just">
              <a:spcBef>
                <a:spcPts val="1000"/>
              </a:spcBef>
              <a:spcAft>
                <a:spcPts val="200"/>
              </a:spcAft>
            </a:pPr>
            <a:endParaRPr lang="es-ES" sz="1200" b="0" i="0" u="none" strike="noStrike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c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600" y="4955227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313418"/>
              </p:ext>
            </p:extLst>
          </p:nvPr>
        </p:nvGraphicFramePr>
        <p:xfrm>
          <a:off x="75600" y="6476399"/>
          <a:ext cx="7650000" cy="280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</a:t>
                      </a:r>
                      <a:r>
                        <a:rPr lang="es-MX"/>
                        <a:t>R</a:t>
                      </a:r>
                      <a:r>
                        <a:t> 30 Mexicali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  <a:r>
                        <a:rPr lang="es-MX"/>
                        <a:t>4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  <a:r>
                        <a:rPr lang="es-MX"/>
                        <a:t>8</a:t>
                      </a:r>
                      <a:endParaRPr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13 Isla de Cedros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HGR 1 Tijuana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HGS 6 Tecate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HGR 23</a:t>
                      </a:r>
                      <a:r>
                        <a:rPr lang="es-MX" dirty="0"/>
                        <a:t> Ensenada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  <a:r>
                        <a:rPr lang="es-MX"/>
                        <a:t>24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</a:t>
            </a:r>
            <a:r>
              <a:rPr err="1"/>
              <a:t>salas</a:t>
            </a:r>
            <a:r>
              <a:t> de </a:t>
            </a:r>
            <a:r>
              <a:rPr err="1"/>
              <a:t>quirófano</a:t>
            </a:r>
            <a:r>
              <a:t>, </a:t>
            </a:r>
            <a:r>
              <a:rPr err="1"/>
              <a:t>salas</a:t>
            </a:r>
            <a:r>
              <a:t> </a:t>
            </a:r>
            <a:r>
              <a:rPr err="1"/>
              <a:t>híbridas</a:t>
            </a:r>
            <a:r>
              <a:t> y </a:t>
            </a:r>
            <a:r>
              <a:rPr err="1"/>
              <a:t>salas</a:t>
            </a:r>
            <a:r>
              <a:t> </a:t>
            </a:r>
            <a:r>
              <a:rPr err="1"/>
              <a:t>mixtas</a:t>
            </a:r>
            <a:r>
              <a:t>, no </a:t>
            </a:r>
            <a:r>
              <a:rPr err="1"/>
              <a:t>considera</a:t>
            </a:r>
            <a:r>
              <a:t> </a:t>
            </a:r>
            <a:r>
              <a:rPr err="1"/>
              <a:t>salas</a:t>
            </a:r>
            <a:r>
              <a:t> de </a:t>
            </a:r>
            <a:r>
              <a:rPr err="1"/>
              <a:t>tococirugía</a:t>
            </a:r>
            <a:r>
              <a:t> y </a:t>
            </a:r>
            <a:r>
              <a:rPr err="1"/>
              <a:t>expulsión</a:t>
            </a:r>
            <a:r>
              <a:t>.</a:t>
            </a:r>
            <a:br>
              <a:rPr/>
            </a:br>
            <a:r>
              <a:rPr err="1"/>
              <a:t>Fuente</a:t>
            </a:r>
            <a:r>
              <a:t>: </a:t>
            </a:r>
            <a:r>
              <a:rPr err="1"/>
              <a:t>Cédula</a:t>
            </a:r>
            <a:r>
              <a:t>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seleccionados</a:t>
            </a:r>
            <a:r>
              <a:t> del IFU </a:t>
            </a:r>
            <a:r>
              <a:rPr err="1"/>
              <a:t>enviados</a:t>
            </a:r>
            <a:r>
              <a:t> </a:t>
            </a:r>
            <a:r>
              <a:rPr err="1"/>
              <a:t>por</a:t>
            </a:r>
            <a:r>
              <a:t> el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</a:t>
            </a:r>
            <a:r>
              <a:t>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300745"/>
              </p:ext>
            </p:extLst>
          </p:nvPr>
        </p:nvGraphicFramePr>
        <p:xfrm>
          <a:off x="75600" y="1140204"/>
          <a:ext cx="7650000" cy="119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Quintín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  <a:r>
                        <a:rPr lang="es-MX"/>
                        <a:t>38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</a:t>
            </a:r>
            <a:r>
              <a:rPr err="1"/>
              <a:t>salas</a:t>
            </a:r>
            <a:r>
              <a:t> de </a:t>
            </a:r>
            <a:r>
              <a:rPr err="1"/>
              <a:t>quirófano</a:t>
            </a:r>
            <a:r>
              <a:t>, </a:t>
            </a:r>
            <a:r>
              <a:rPr err="1"/>
              <a:t>salas</a:t>
            </a:r>
            <a:r>
              <a:t> </a:t>
            </a:r>
            <a:r>
              <a:rPr err="1"/>
              <a:t>híbridas</a:t>
            </a:r>
            <a:r>
              <a:t> y </a:t>
            </a:r>
            <a:r>
              <a:rPr err="1"/>
              <a:t>salas</a:t>
            </a:r>
            <a:r>
              <a:t> </a:t>
            </a:r>
            <a:r>
              <a:rPr err="1"/>
              <a:t>mixtas</a:t>
            </a:r>
            <a:r>
              <a:t>, no </a:t>
            </a:r>
            <a:r>
              <a:rPr err="1"/>
              <a:t>considera</a:t>
            </a:r>
            <a:r>
              <a:t> </a:t>
            </a:r>
            <a:r>
              <a:rPr err="1"/>
              <a:t>salas</a:t>
            </a:r>
            <a:r>
              <a:t> de </a:t>
            </a:r>
            <a:r>
              <a:rPr err="1"/>
              <a:t>tococirugía</a:t>
            </a:r>
            <a:r>
              <a:t> y </a:t>
            </a:r>
            <a:r>
              <a:rPr err="1"/>
              <a:t>expulsión</a:t>
            </a:r>
            <a:r>
              <a:t>.</a:t>
            </a:r>
            <a:br>
              <a:rPr/>
            </a:br>
            <a:r>
              <a:rPr err="1"/>
              <a:t>Fuente</a:t>
            </a:r>
            <a:r>
              <a:t>: </a:t>
            </a:r>
            <a:r>
              <a:rPr err="1"/>
              <a:t>Cédula</a:t>
            </a:r>
            <a:r>
              <a:t>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seleccionados</a:t>
            </a:r>
            <a:r>
              <a:t> del IFU </a:t>
            </a:r>
            <a:r>
              <a:rPr err="1"/>
              <a:t>enviados</a:t>
            </a:r>
            <a:r>
              <a:t> </a:t>
            </a:r>
            <a:r>
              <a:rPr err="1"/>
              <a:t>por</a:t>
            </a:r>
            <a:r>
              <a:t> el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</a:t>
            </a:r>
            <a:r>
              <a:t> de 2026</a:t>
            </a:r>
          </a:p>
        </p:txBody>
      </p:sp>
      <p:graphicFrame>
        <p:nvGraphicFramePr>
          <p:cNvPr id="7" name="Google Shape;152;g370e475fb19_0_8"/>
          <p:cNvGraphicFramePr/>
          <p:nvPr>
            <p:extLst>
              <p:ext uri="{D42A27DB-BD31-4B8C-83A1-F6EECF244321}">
                <p14:modId xmlns:p14="http://schemas.microsoft.com/office/powerpoint/2010/main" val="3033684991"/>
              </p:ext>
            </p:extLst>
          </p:nvPr>
        </p:nvGraphicFramePr>
        <p:xfrm>
          <a:off x="149075" y="2430846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872028"/>
              </p:ext>
            </p:extLst>
          </p:nvPr>
        </p:nvGraphicFramePr>
        <p:xfrm>
          <a:off x="93600" y="2889246"/>
          <a:ext cx="7534799" cy="294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</a:t>
                      </a:r>
                      <a:r>
                        <a:rPr lang="es-MX"/>
                        <a:t>R</a:t>
                      </a:r>
                      <a:r>
                        <a:t> 30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1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1</a:t>
                      </a:r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0</a:t>
                      </a:r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  <a:r>
                        <a:rPr lang="es-MX"/>
                        <a:t> Ensenada</a:t>
                      </a:r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1</a:t>
                      </a:r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Isla de Cedros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5</a:t>
                      </a: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9</a:t>
                      </a: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9" name="Grupo 1">
            <a:extLst>
              <a:ext uri="{FF2B5EF4-FFF2-40B4-BE49-F238E27FC236}">
                <a16:creationId xmlns:a16="http://schemas.microsoft.com/office/drawing/2014/main" id="{FD05D36A-5109-23A1-D38F-F2DA10DC607F}"/>
              </a:ext>
            </a:extLst>
          </p:cNvPr>
          <p:cNvGrpSpPr/>
          <p:nvPr/>
        </p:nvGrpSpPr>
        <p:grpSpPr>
          <a:xfrm>
            <a:off x="0" y="5799774"/>
            <a:ext cx="7772400" cy="4133121"/>
            <a:chOff x="0" y="4891070"/>
            <a:chExt cx="7772400" cy="4133121"/>
          </a:xfrm>
        </p:grpSpPr>
        <p:pic>
          <p:nvPicPr>
            <p:cNvPr id="10" name="Google Shape;68;g37263673d04_0_31" title="HGZ 86 URUAPAN.jpg">
              <a:extLst>
                <a:ext uri="{FF2B5EF4-FFF2-40B4-BE49-F238E27FC236}">
                  <a16:creationId xmlns:a16="http://schemas.microsoft.com/office/drawing/2014/main" id="{2AB72D3F-9BA0-02AC-9CB8-81386B2BF86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1417" t="15479" r="44279" b="26090"/>
            <a:stretch/>
          </p:blipFill>
          <p:spPr>
            <a:xfrm>
              <a:off x="205198" y="5534666"/>
              <a:ext cx="2312441" cy="156233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1" name="Google Shape;70;g37263673d04_0_31">
              <a:extLst>
                <a:ext uri="{FF2B5EF4-FFF2-40B4-BE49-F238E27FC236}">
                  <a16:creationId xmlns:a16="http://schemas.microsoft.com/office/drawing/2014/main" id="{3B68A4C0-C225-2F88-3F44-7CA0A56ECC7D}"/>
                </a:ext>
              </a:extLst>
            </p:cNvPr>
            <p:cNvSpPr/>
            <p:nvPr/>
          </p:nvSpPr>
          <p:spPr>
            <a:xfrm>
              <a:off x="607840" y="7096996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12" name="Google Shape;71;g37263673d04_0_31">
              <a:extLst>
                <a:ext uri="{FF2B5EF4-FFF2-40B4-BE49-F238E27FC236}">
                  <a16:creationId xmlns:a16="http://schemas.microsoft.com/office/drawing/2014/main" id="{BB35E09B-BA26-D2C9-3EF6-C6BEB8947D94}"/>
                </a:ext>
              </a:extLst>
            </p:cNvPr>
            <p:cNvSpPr txBox="1"/>
            <p:nvPr/>
          </p:nvSpPr>
          <p:spPr>
            <a:xfrm>
              <a:off x="172442" y="7474695"/>
              <a:ext cx="2291100" cy="7078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ctr">
                <a:buSzPts val="800"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HGS 6 Tecate</a:t>
              </a:r>
              <a:b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s-MX" sz="1300" b="1">
                  <a:solidFill>
                    <a:srgbClr val="595959"/>
                  </a:solidFill>
                  <a:latin typeface="Montserrat"/>
                </a:rPr>
                <a:t>$ 4.3 </a:t>
              </a:r>
              <a:r>
                <a:rPr lang="es-MX" sz="1300" b="1" err="1">
                  <a:solidFill>
                    <a:srgbClr val="595959"/>
                  </a:solidFill>
                  <a:latin typeface="Montserrat"/>
                </a:rPr>
                <a:t>mdp</a:t>
              </a:r>
              <a:endParaRPr sz="1300" b="1">
                <a:solidFill>
                  <a:srgbClr val="595959"/>
                </a:solidFill>
                <a:latin typeface="Montserrat"/>
                <a:sym typeface="Noto Sans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" name="Google Shape;72;g37263673d04_0_31">
              <a:extLst>
                <a:ext uri="{FF2B5EF4-FFF2-40B4-BE49-F238E27FC236}">
                  <a16:creationId xmlns:a16="http://schemas.microsoft.com/office/drawing/2014/main" id="{F27EEB02-B5FB-DAD7-E95F-6B1ACF9A310A}"/>
                </a:ext>
              </a:extLst>
            </p:cNvPr>
            <p:cNvSpPr/>
            <p:nvPr/>
          </p:nvSpPr>
          <p:spPr>
            <a:xfrm>
              <a:off x="191116" y="7096995"/>
              <a:ext cx="435526" cy="385348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4" name="Google Shape;73;g37263673d04_0_31">
              <a:extLst>
                <a:ext uri="{FF2B5EF4-FFF2-40B4-BE49-F238E27FC236}">
                  <a16:creationId xmlns:a16="http://schemas.microsoft.com/office/drawing/2014/main" id="{0EBAE6FD-35ED-AD14-5BC8-825A547D86B8}"/>
                </a:ext>
              </a:extLst>
            </p:cNvPr>
            <p:cNvSpPr/>
            <p:nvPr/>
          </p:nvSpPr>
          <p:spPr>
            <a:xfrm>
              <a:off x="2670044" y="7096995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5" name="Google Shape;74;g37263673d04_0_31">
              <a:extLst>
                <a:ext uri="{FF2B5EF4-FFF2-40B4-BE49-F238E27FC236}">
                  <a16:creationId xmlns:a16="http://schemas.microsoft.com/office/drawing/2014/main" id="{977B624E-391B-21E0-20B1-510F47C3CDE0}"/>
                </a:ext>
              </a:extLst>
            </p:cNvPr>
            <p:cNvSpPr/>
            <p:nvPr/>
          </p:nvSpPr>
          <p:spPr>
            <a:xfrm>
              <a:off x="3124854" y="7096995"/>
              <a:ext cx="20103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" name="Google Shape;75;g37263673d04_0_31">
              <a:extLst>
                <a:ext uri="{FF2B5EF4-FFF2-40B4-BE49-F238E27FC236}">
                  <a16:creationId xmlns:a16="http://schemas.microsoft.com/office/drawing/2014/main" id="{1779495F-F07F-13B5-3CC9-6B8FE3E2ED1D}"/>
                </a:ext>
              </a:extLst>
            </p:cNvPr>
            <p:cNvSpPr txBox="1"/>
            <p:nvPr/>
          </p:nvSpPr>
          <p:spPr>
            <a:xfrm>
              <a:off x="2724233" y="7474695"/>
              <a:ext cx="2291100" cy="1549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 Tijuana</a:t>
              </a:r>
            </a:p>
            <a:p>
              <a:pPr marR="63500" lvl="0" algn="ctr">
                <a:lnSpc>
                  <a:spcPct val="115000"/>
                </a:lnSpc>
              </a:pPr>
              <a:r>
                <a:rPr lang="es-MX" sz="1300" b="1">
                  <a:solidFill>
                    <a:srgbClr val="595959"/>
                  </a:solidFill>
                  <a:latin typeface="Montserrat"/>
                </a:rPr>
                <a:t>$ 38.2 </a:t>
              </a:r>
              <a:r>
                <a:rPr lang="es-MX" sz="1300" b="1" err="1">
                  <a:solidFill>
                    <a:srgbClr val="595959"/>
                  </a:solidFill>
                  <a:latin typeface="Montserrat"/>
                </a:rPr>
                <a:t>mdp</a:t>
              </a: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63500" lvl="0" indent="0" algn="ctr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6;g37263673d04_0_31">
              <a:extLst>
                <a:ext uri="{FF2B5EF4-FFF2-40B4-BE49-F238E27FC236}">
                  <a16:creationId xmlns:a16="http://schemas.microsoft.com/office/drawing/2014/main" id="{35C08B82-A587-3E84-8BD8-2CF0ADF40921}"/>
                </a:ext>
              </a:extLst>
            </p:cNvPr>
            <p:cNvSpPr/>
            <p:nvPr/>
          </p:nvSpPr>
          <p:spPr>
            <a:xfrm>
              <a:off x="5742353" y="7097000"/>
              <a:ext cx="1814046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77;g37263673d04_0_31">
              <a:extLst>
                <a:ext uri="{FF2B5EF4-FFF2-40B4-BE49-F238E27FC236}">
                  <a16:creationId xmlns:a16="http://schemas.microsoft.com/office/drawing/2014/main" id="{E6196FC5-96C1-EA63-B5FE-6D99A8BE9DA7}"/>
                </a:ext>
              </a:extLst>
            </p:cNvPr>
            <p:cNvSpPr/>
            <p:nvPr/>
          </p:nvSpPr>
          <p:spPr>
            <a:xfrm>
              <a:off x="5235336" y="7097000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9" name="Google Shape;78;g37263673d04_0_31">
              <a:extLst>
                <a:ext uri="{FF2B5EF4-FFF2-40B4-BE49-F238E27FC236}">
                  <a16:creationId xmlns:a16="http://schemas.microsoft.com/office/drawing/2014/main" id="{73C15235-7077-1EFB-962D-008F55411751}"/>
                </a:ext>
              </a:extLst>
            </p:cNvPr>
            <p:cNvSpPr txBox="1"/>
            <p:nvPr/>
          </p:nvSpPr>
          <p:spPr>
            <a:xfrm>
              <a:off x="5080788" y="7474700"/>
              <a:ext cx="2577600" cy="1329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30 Mexicali, HGR 20 Tijuana y HGR 1 Tijuana</a:t>
              </a:r>
            </a:p>
            <a:p>
              <a:pPr marR="50800" lvl="0" algn="ctr">
                <a:lnSpc>
                  <a:spcPct val="111000"/>
                </a:lnSpc>
              </a:pPr>
              <a:r>
                <a:rPr lang="es-MX" b="1">
                  <a:solidFill>
                    <a:srgbClr val="595959"/>
                  </a:solidFill>
                  <a:latin typeface="Montserrat"/>
                </a:rPr>
                <a:t>$ 89.0 </a:t>
              </a:r>
              <a:r>
                <a:rPr lang="es-MX" b="1" err="1">
                  <a:solidFill>
                    <a:srgbClr val="595959"/>
                  </a:solidFill>
                  <a:latin typeface="Montserrat"/>
                </a:rPr>
                <a:t>mdp</a:t>
              </a:r>
              <a:endParaRPr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20" name="Google Shape;79;g37263673d04_0_31">
              <a:extLst>
                <a:ext uri="{FF2B5EF4-FFF2-40B4-BE49-F238E27FC236}">
                  <a16:creationId xmlns:a16="http://schemas.microsoft.com/office/drawing/2014/main" id="{02DE1B9B-4264-0244-E7D5-CF73FCF5FE71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35336" y="5534666"/>
              <a:ext cx="2321063" cy="15623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80;g37263673d04_0_31">
              <a:extLst>
                <a:ext uri="{FF2B5EF4-FFF2-40B4-BE49-F238E27FC236}">
                  <a16:creationId xmlns:a16="http://schemas.microsoft.com/office/drawing/2014/main" id="{79B66542-11E1-025F-EECE-4BC98B2F43C9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70044" y="5534666"/>
              <a:ext cx="2465110" cy="15623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87;g37263673d04_0_31">
              <a:extLst>
                <a:ext uri="{FF2B5EF4-FFF2-40B4-BE49-F238E27FC236}">
                  <a16:creationId xmlns:a16="http://schemas.microsoft.com/office/drawing/2014/main" id="{B34A8943-94DF-9F95-DAFF-B18126CF8A1F}"/>
                </a:ext>
              </a:extLst>
            </p:cNvPr>
            <p:cNvSpPr txBox="1"/>
            <p:nvPr/>
          </p:nvSpPr>
          <p:spPr>
            <a:xfrm>
              <a:off x="0" y="4891070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</a:t>
              </a:r>
              <a:endParaRPr sz="23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3" name="Rectangle 154"/>
          <p:cNvSpPr/>
          <p:nvPr/>
        </p:nvSpPr>
        <p:spPr>
          <a:xfrm>
            <a:off x="205199" y="9103461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55"/>
          <p:cNvSpPr txBox="1"/>
          <p:nvPr/>
        </p:nvSpPr>
        <p:spPr>
          <a:xfrm>
            <a:off x="406799" y="9002661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>
                <a:solidFill>
                  <a:schemeClr val="tx1"/>
                </a:solidFill>
              </a:rPr>
              <a:t>Proyectos</a:t>
            </a:r>
            <a:r>
              <a:rPr>
                <a:solidFill>
                  <a:schemeClr val="tx1"/>
                </a:solidFill>
              </a:rPr>
              <a:t> de </a:t>
            </a:r>
            <a:r>
              <a:rPr err="1">
                <a:solidFill>
                  <a:schemeClr val="tx1"/>
                </a:solidFill>
              </a:rPr>
              <a:t>implementación</a:t>
            </a:r>
            <a:r>
              <a:rPr>
                <a:solidFill>
                  <a:schemeClr val="tx1"/>
                </a:solidFill>
              </a:rPr>
              <a:t>/</a:t>
            </a:r>
            <a:r>
              <a:rPr err="1">
                <a:solidFill>
                  <a:schemeClr val="tx1"/>
                </a:solidFill>
              </a:rPr>
              <a:t>sustitución</a:t>
            </a:r>
            <a:r>
              <a:rPr>
                <a:solidFill>
                  <a:schemeClr val="tx1"/>
                </a:solidFill>
              </a:rPr>
              <a:t> 2019-2025. </a:t>
            </a:r>
            <a:r>
              <a:rPr err="1">
                <a:solidFill>
                  <a:schemeClr val="tx1"/>
                </a:solidFill>
              </a:rPr>
              <a:t>Incluye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equipo</a:t>
            </a:r>
            <a:r>
              <a:rPr>
                <a:solidFill>
                  <a:schemeClr val="tx1"/>
                </a:solidFill>
              </a:rPr>
              <a:t> de la </a:t>
            </a:r>
            <a:r>
              <a:rPr err="1">
                <a:solidFill>
                  <a:schemeClr val="tx1"/>
                </a:solidFill>
              </a:rPr>
              <a:t>compra</a:t>
            </a:r>
            <a:r>
              <a:rPr>
                <a:solidFill>
                  <a:schemeClr val="tx1"/>
                </a:solidFill>
              </a:rPr>
              <a:t> 2025-2026.</a:t>
            </a:r>
            <a:br>
              <a:rPr>
                <a:solidFill>
                  <a:schemeClr val="tx1"/>
                </a:solidFill>
              </a:rPr>
            </a:br>
            <a:r>
              <a:rPr err="1">
                <a:solidFill>
                  <a:schemeClr val="tx1"/>
                </a:solidFill>
              </a:rPr>
              <a:t>Fuente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Cédula</a:t>
            </a:r>
            <a:r>
              <a:rPr>
                <a:solidFill>
                  <a:schemeClr val="tx1"/>
                </a:solidFill>
              </a:rPr>
              <a:t> de </a:t>
            </a:r>
            <a:r>
              <a:rPr err="1">
                <a:solidFill>
                  <a:schemeClr val="tx1"/>
                </a:solidFill>
              </a:rPr>
              <a:t>actualización</a:t>
            </a:r>
            <a:r>
              <a:rPr>
                <a:solidFill>
                  <a:schemeClr val="tx1"/>
                </a:solidFill>
              </a:rPr>
              <a:t> de variables </a:t>
            </a:r>
            <a:r>
              <a:rPr err="1">
                <a:solidFill>
                  <a:schemeClr val="tx1"/>
                </a:solidFill>
              </a:rPr>
              <a:t>seleccionadas</a:t>
            </a:r>
            <a:r>
              <a:rPr>
                <a:solidFill>
                  <a:schemeClr val="tx1"/>
                </a:solidFill>
              </a:rPr>
              <a:t> del IFU, </a:t>
            </a:r>
            <a:r>
              <a:rPr err="1">
                <a:solidFill>
                  <a:schemeClr val="tx1"/>
                </a:solidFill>
              </a:rPr>
              <a:t>enviadas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por</a:t>
            </a:r>
            <a:r>
              <a:rPr>
                <a:solidFill>
                  <a:schemeClr val="tx1"/>
                </a:solidFill>
              </a:rPr>
              <a:t> el OOAD.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ma</a:t>
            </a:r>
            <a:r>
              <a:rPr lang="es-MX">
                <a:solidFill>
                  <a:schemeClr val="tx1"/>
                </a:solidFill>
              </a:rPr>
              <a:t>yo</a:t>
            </a:r>
            <a:r>
              <a:rPr>
                <a:solidFill>
                  <a:schemeClr val="tx1"/>
                </a:solidFill>
              </a:rPr>
              <a:t>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159310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CCF1AB1-D2DE-5003-2B2F-52DF36BF06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8E4685A0-D507-A362-C07E-7FF0F2F1C71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705C4C9-7DEA-15E1-1818-18F1EBCD5E52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C11DEBA-CDE8-83A1-7FAB-B3D85A795369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2E4CD038-1861-2B4D-A658-5425B2F3748E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CuadroTexto 6">
            <a:extLst>
              <a:ext uri="{FF2B5EF4-FFF2-40B4-BE49-F238E27FC236}">
                <a16:creationId xmlns:a16="http://schemas.microsoft.com/office/drawing/2014/main" id="{2B4006C9-C591-3D37-7886-ABC8AFBE096F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CuadroTexto 8">
            <a:extLst>
              <a:ext uri="{FF2B5EF4-FFF2-40B4-BE49-F238E27FC236}">
                <a16:creationId xmlns:a16="http://schemas.microsoft.com/office/drawing/2014/main" id="{09FB022F-D4A6-4854-AE9E-3C6F23D8CAB9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+8,750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+367,427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+99,386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3,676,233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367,427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1,630,488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3,739,192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947,214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99,386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479,882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965,790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49.7%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57,082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8,750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26,809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62,184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30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17 UMF de </a:t>
            </a:r>
            <a:r>
              <a:rPr err="1"/>
              <a:t>lunes</a:t>
            </a:r>
            <a:r>
              <a:t> a </a:t>
            </a:r>
            <a:r>
              <a:rPr err="1"/>
              <a:t>viernes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42782"/>
              </p:ext>
            </p:extLst>
          </p:nvPr>
        </p:nvGraphicFramePr>
        <p:xfrm>
          <a:off x="151200" y="1692000"/>
          <a:ext cx="747359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El </a:t>
                      </a:r>
                      <a:r>
                        <a:rPr err="1"/>
                        <a:t>Sauzal</a:t>
                      </a: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23,463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10,747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Valle Guadalupe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6,914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2,859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Mexicali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214,011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4,937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94,372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15 E. Hermosillo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15,512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 C. Morelos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24,280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4,497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11,350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 Benito Juárez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25,824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4,982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13,251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39,150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5 E. Nuevo León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25,904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13,948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4 E. Durango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18,017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8,255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10 Guadalupe Victoria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43,334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20,955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51,678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Rosarito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67,427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11,059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29,748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Tijuana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111,438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3,045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47,839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112,752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San Vicente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6,489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2,862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Isla de Cedros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San Felipe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19,016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2,868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8,170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Mexicali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29,377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13,578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Rosario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4,719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-164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2,645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Ensenada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120,621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5,075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51,265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758,348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51,350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339,151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802,364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52848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004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42.3%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904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5284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802,364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3C8ABE86-30AA-8EAD-7611-0E7B8F6C9896}"/>
              </a:ext>
            </a:extLst>
          </p:cNvPr>
          <p:cNvSpPr txBox="1"/>
          <p:nvPr/>
        </p:nvSpPr>
        <p:spPr>
          <a:xfrm>
            <a:off x="3924218" y="4802782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3 Nuevas UMTC con   8 consultorios</a:t>
            </a: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C159DB9B-981E-E5AA-87C5-5221FFA53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658467"/>
              </p:ext>
            </p:extLst>
          </p:nvPr>
        </p:nvGraphicFramePr>
        <p:xfrm>
          <a:off x="4462292" y="5858478"/>
          <a:ext cx="2297715" cy="1015662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297715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338554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16 Mexicali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2) UMF 32 Ensenada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3) HGOMF 7 Tijuana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30 Unidades de Medicina Familiar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rPr sz="1800"/>
              <a:t>13 </a:t>
            </a:r>
            <a:r>
              <a:rPr sz="1800" err="1"/>
              <a:t>Unidades</a:t>
            </a:r>
            <a:r>
              <a:rPr sz="1800"/>
              <a:t> </a:t>
            </a:r>
            <a:r>
              <a:rPr sz="1800" err="1"/>
              <a:t>Médicas</a:t>
            </a:r>
            <a:r>
              <a:rPr sz="1800"/>
              <a:t> de </a:t>
            </a:r>
            <a:r>
              <a:rPr sz="1800" err="1"/>
              <a:t>tiempo</a:t>
            </a:r>
            <a:r>
              <a:rPr sz="1800"/>
              <a:t> </a:t>
            </a:r>
            <a:r>
              <a:rPr sz="1800" err="1"/>
              <a:t>completo</a:t>
            </a:r>
            <a:r>
              <a:rPr sz="1800"/>
              <a:t> (61 </a:t>
            </a:r>
            <a:r>
              <a:rPr sz="1800" err="1"/>
              <a:t>consultorios</a:t>
            </a:r>
            <a:r>
              <a:rPr sz="1800"/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(387,605 consultas)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2181"/>
              </p:ext>
            </p:extLst>
          </p:nvPr>
        </p:nvGraphicFramePr>
        <p:xfrm>
          <a:off x="151200" y="1695600"/>
          <a:ext cx="7473599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25 Ensenada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167,212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21,251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74,766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13 San </a:t>
                      </a:r>
                      <a:r>
                        <a:rPr err="1"/>
                        <a:t>Quintín</a:t>
                      </a:r>
                      <a:endParaRPr/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78,606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12,918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30,264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27 Tijuana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513,466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52,336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233,066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564,816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28 Mexicali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320,994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24,373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140,045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330,624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33 Tijuana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223,128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22,010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94,918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220,416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El Florido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102,035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25,398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46,706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35 Los Lobos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103,394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27,418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46,433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37 Palmar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97,106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13,444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45,594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36 Mesa de Otay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182,605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14,582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78,351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Tecate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158,100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18,402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72,399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Tijuana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163,142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2,056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70,138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40 Villas del Rey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176,498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24,474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78,050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21 Rosarito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149,277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26,703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65,808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2,435,563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285,365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1,076,538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2,454,856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85200" y="61011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164540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742268"/>
              </p:ext>
            </p:extLst>
          </p:nvPr>
        </p:nvGraphicFramePr>
        <p:xfrm>
          <a:off x="144000" y="1494000"/>
          <a:ext cx="7340399" cy="320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61,228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</a:t>
                      </a:r>
                      <a:r>
                        <a:rPr lang="es-MX"/>
                        <a:t>R</a:t>
                      </a:r>
                      <a:r>
                        <a:t> 30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160,348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-10,996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83,620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26,329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256,435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31,472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120,762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249,660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245,483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112,437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-6,458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18,161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36 Mesa de Otay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22,809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35,331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947,214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99,386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479,882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965,790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49.7%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3820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610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49.7%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700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38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965,790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7332940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113223"/>
              </p:ext>
            </p:extLst>
          </p:nvPr>
        </p:nvGraphicFramePr>
        <p:xfrm>
          <a:off x="144000" y="1137600"/>
          <a:ext cx="7340399" cy="320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36 Mesa de Otay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</a:t>
                      </a:r>
                      <a:r>
                        <a:rPr lang="es-MX"/>
                        <a:t>R</a:t>
                      </a:r>
                      <a:r>
                        <a:t> 30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57,082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8,750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26,809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62,184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50256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57329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43.1%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64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502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62,184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94 en Hospitales, 2 en sede, 15 en UMF y 211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43555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</a:t>
            </a:r>
            <a:r>
              <a:rPr err="1"/>
              <a:t>Hospitales</a:t>
            </a:r>
            <a:r>
              <a:rPr lang="es-MX"/>
              <a:t> (1 de 4)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326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271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579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579999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72359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678645"/>
              </p:ext>
            </p:extLst>
          </p:nvPr>
        </p:nvGraphicFramePr>
        <p:xfrm>
          <a:off x="3960000" y="7235998"/>
          <a:ext cx="3456000" cy="184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</a:t>
                      </a:r>
                      <a:r>
                        <a:rPr lang="es-MX"/>
                        <a:t>Regional</a:t>
                      </a:r>
                      <a:r>
                        <a:t>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447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48524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</a:t>
            </a:r>
            <a:r>
              <a:rPr err="1"/>
              <a:t>Hospitales</a:t>
            </a:r>
            <a:r>
              <a:t> (</a:t>
            </a:r>
            <a:r>
              <a:rPr lang="es-MX"/>
              <a:t>2 de 4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39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Quintín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898616"/>
              </p:ext>
            </p:extLst>
          </p:nvPr>
        </p:nvGraphicFramePr>
        <p:xfrm>
          <a:off x="360000" y="4233600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Gineco</a:t>
                      </a:r>
                      <a:r>
                        <a:t> </a:t>
                      </a:r>
                      <a:r>
                        <a:rPr err="1"/>
                        <a:t>Obstetricia</a:t>
                      </a:r>
                      <a:r>
                        <a:t> C/</a:t>
                      </a:r>
                      <a:r>
                        <a:rPr lang="es-MX"/>
                        <a:t>MF</a:t>
                      </a:r>
                      <a:r>
                        <a:t>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5565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5961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033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613501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 en </a:t>
            </a:r>
            <a:r>
              <a:rPr err="1"/>
              <a:t>Unidades</a:t>
            </a:r>
            <a:r>
              <a:t> de </a:t>
            </a:r>
            <a:r>
              <a:rPr err="1"/>
              <a:t>Medicina</a:t>
            </a:r>
            <a:r>
              <a:t> Familiar</a:t>
            </a:r>
            <a:r>
              <a:rPr lang="es-MX"/>
              <a:t> (3 de 4)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530855"/>
              </p:ext>
            </p:extLst>
          </p:nvPr>
        </p:nvGraphicFramePr>
        <p:xfrm>
          <a:off x="360000" y="1569600"/>
          <a:ext cx="3456000" cy="917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 9 Lázaro Cárdenas (Ensenada)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889547"/>
              </p:ext>
            </p:extLst>
          </p:nvPr>
        </p:nvGraphicFramePr>
        <p:xfrm>
          <a:off x="3960000" y="1569600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Detección y Diagnóstico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4029"/>
              </p:ext>
            </p:extLst>
          </p:nvPr>
        </p:nvGraphicFramePr>
        <p:xfrm>
          <a:off x="360000" y="2469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710164"/>
              </p:ext>
            </p:extLst>
          </p:nvPr>
        </p:nvGraphicFramePr>
        <p:xfrm>
          <a:off x="3960000" y="2469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956733"/>
              </p:ext>
            </p:extLst>
          </p:nvPr>
        </p:nvGraphicFramePr>
        <p:xfrm>
          <a:off x="360000" y="3369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120717"/>
              </p:ext>
            </p:extLst>
          </p:nvPr>
        </p:nvGraphicFramePr>
        <p:xfrm>
          <a:off x="3960000" y="3369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763172"/>
              </p:ext>
            </p:extLst>
          </p:nvPr>
        </p:nvGraphicFramePr>
        <p:xfrm>
          <a:off x="360000" y="4269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267657"/>
              </p:ext>
            </p:extLst>
          </p:nvPr>
        </p:nvGraphicFramePr>
        <p:xfrm>
          <a:off x="3960000" y="4269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666278"/>
              </p:ext>
            </p:extLst>
          </p:nvPr>
        </p:nvGraphicFramePr>
        <p:xfrm>
          <a:off x="360000" y="5169596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Anestesiología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13027"/>
              </p:ext>
            </p:extLst>
          </p:nvPr>
        </p:nvGraphicFramePr>
        <p:xfrm>
          <a:off x="3960000" y="5169596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Imagenología</a:t>
                      </a:r>
                      <a:r>
                        <a:t> </a:t>
                      </a:r>
                      <a:r>
                        <a:rPr err="1"/>
                        <a:t>Diagnóstico</a:t>
                      </a:r>
                      <a:r>
                        <a:t> y </a:t>
                      </a:r>
                      <a:r>
                        <a:rPr err="1"/>
                        <a:t>Terapéutica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503773"/>
              </p:ext>
            </p:extLst>
          </p:nvPr>
        </p:nvGraphicFramePr>
        <p:xfrm>
          <a:off x="360000" y="6069595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Medicina</a:t>
                      </a:r>
                      <a:r>
                        <a:t>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263496"/>
              </p:ext>
            </p:extLst>
          </p:nvPr>
        </p:nvGraphicFramePr>
        <p:xfrm>
          <a:off x="3960000" y="6069595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308815"/>
              </p:ext>
            </p:extLst>
          </p:nvPr>
        </p:nvGraphicFramePr>
        <p:xfrm>
          <a:off x="360000" y="6969594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337629"/>
              </p:ext>
            </p:extLst>
          </p:nvPr>
        </p:nvGraphicFramePr>
        <p:xfrm>
          <a:off x="3960000" y="6969594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502092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211 </a:t>
            </a:r>
            <a:r>
              <a:rPr err="1"/>
              <a:t>especialistas</a:t>
            </a:r>
            <a:r>
              <a:t> (</a:t>
            </a:r>
            <a:r>
              <a:rPr err="1"/>
              <a:t>sustitutos</a:t>
            </a:r>
            <a:r>
              <a:t>)</a:t>
            </a:r>
            <a:r>
              <a:rPr lang="es-MX"/>
              <a:t> (4 de 4)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0000" y="86464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601557"/>
              </p:ext>
            </p:extLst>
          </p:nvPr>
        </p:nvGraphicFramePr>
        <p:xfrm>
          <a:off x="360000" y="1569600"/>
          <a:ext cx="3456000" cy="686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2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1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Sustitución</a:t>
                      </a:r>
                      <a:r>
                        <a:t>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Epidemiología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Imagenología</a:t>
                      </a:r>
                      <a:r>
                        <a:t> </a:t>
                      </a:r>
                      <a:r>
                        <a:rPr err="1"/>
                        <a:t>Diagnóstico</a:t>
                      </a:r>
                      <a:r>
                        <a:t> y </a:t>
                      </a:r>
                      <a:r>
                        <a:rPr err="1"/>
                        <a:t>Terapéutica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Infectología</a:t>
                      </a:r>
                      <a:r>
                        <a:t> </a:t>
                      </a:r>
                      <a:r>
                        <a:rPr err="1"/>
                        <a:t>Pediátrica</a:t>
                      </a:r>
                      <a:endParaRPr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2879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55674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6858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</a:t>
                      </a:r>
                      <a:r>
                        <a:rPr err="1"/>
                        <a:t>Paliativa</a:t>
                      </a:r>
                      <a:r>
                        <a:t> y del Dolor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76185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Rehabilitación</a:t>
                      </a:r>
                      <a:endParaRPr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1916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22338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</a:t>
                      </a:r>
                      <a:r>
                        <a:rPr err="1"/>
                        <a:t>en</a:t>
                      </a:r>
                      <a:r>
                        <a:t> Estado </a:t>
                      </a:r>
                      <a:r>
                        <a:rPr err="1"/>
                        <a:t>Crítico</a:t>
                      </a:r>
                      <a:endParaRPr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41036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20826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232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83788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16466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54652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Neurología</a:t>
                      </a:r>
                      <a:endParaRPr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3982"/>
                  </a:ext>
                </a:extLst>
              </a:tr>
            </a:tbl>
          </a:graphicData>
        </a:graphic>
      </p:graphicFrame>
      <p:graphicFrame>
        <p:nvGraphicFramePr>
          <p:cNvPr id="11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989548"/>
              </p:ext>
            </p:extLst>
          </p:nvPr>
        </p:nvGraphicFramePr>
        <p:xfrm>
          <a:off x="4014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800" b="1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Sustitución 8 </a:t>
                      </a:r>
                      <a:r>
                        <a:rPr lang="es-MX"/>
                        <a:t>(</a:t>
                      </a:r>
                      <a:r>
                        <a:rPr lang="es-MX" sz="800" b="1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Parte 2)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Pediatría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Radioncología</a:t>
                      </a:r>
                      <a:r>
                        <a:t>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Reumatología</a:t>
                      </a:r>
                      <a:endParaRPr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65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98235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Urología</a:t>
                      </a:r>
                      <a:endParaRPr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45858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7361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79357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(1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1738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717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846472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(2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1611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614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963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097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322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4045990"/>
              </p:ext>
            </p:extLst>
          </p:nvPr>
        </p:nvGraphicFramePr>
        <p:xfrm>
          <a:off x="287050" y="71621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4029725" y="4356244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semana</a:t>
            </a:r>
            <a:r>
              <a:rPr>
                <a:solidFill>
                  <a:schemeClr val="tx1"/>
                </a:solidFill>
              </a:rPr>
              <a:t> 24, 7 </a:t>
            </a:r>
            <a:r>
              <a:rPr err="1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899028"/>
              </p:ext>
            </p:extLst>
          </p:nvPr>
        </p:nvGraphicFramePr>
        <p:xfrm>
          <a:off x="134000" y="1467400"/>
          <a:ext cx="36395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1,166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10,154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988954"/>
              </p:ext>
            </p:extLst>
          </p:nvPr>
        </p:nvGraphicFramePr>
        <p:xfrm>
          <a:off x="3992400" y="1841800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2,273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231">
            <a:extLst>
              <a:ext uri="{FF2B5EF4-FFF2-40B4-BE49-F238E27FC236}">
                <a16:creationId xmlns:a16="http://schemas.microsoft.com/office/drawing/2014/main" id="{09B1343C-8C8D-B5F4-FA58-08C43A06156F}"/>
              </a:ext>
            </a:extLst>
          </p:cNvPr>
          <p:cNvSpPr txBox="1"/>
          <p:nvPr/>
        </p:nvSpPr>
        <p:spPr>
          <a:xfrm>
            <a:off x="642541" y="6418893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lang="es-MX"/>
              <a:t>18</a:t>
            </a:r>
            <a:r>
              <a:t> </a:t>
            </a:r>
            <a:r>
              <a:rPr lang="es-MX"/>
              <a:t>junio</a:t>
            </a:r>
            <a:r>
              <a:t> 2026</a:t>
            </a:r>
          </a:p>
        </p:txBody>
      </p:sp>
      <p:graphicFrame>
        <p:nvGraphicFramePr>
          <p:cNvPr id="8" name="Google Shape;230;g370e87ffe7a_2_137">
            <a:extLst>
              <a:ext uri="{FF2B5EF4-FFF2-40B4-BE49-F238E27FC236}">
                <a16:creationId xmlns:a16="http://schemas.microsoft.com/office/drawing/2014/main" id="{A2A4D34A-12B4-693B-A853-FCD99F99DF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7945106"/>
              </p:ext>
            </p:extLst>
          </p:nvPr>
        </p:nvGraphicFramePr>
        <p:xfrm>
          <a:off x="200058" y="5201044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232">
            <a:extLst>
              <a:ext uri="{FF2B5EF4-FFF2-40B4-BE49-F238E27FC236}">
                <a16:creationId xmlns:a16="http://schemas.microsoft.com/office/drawing/2014/main" id="{3125F901-B923-A5BE-D090-1923B5F18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216688"/>
              </p:ext>
            </p:extLst>
          </p:nvPr>
        </p:nvGraphicFramePr>
        <p:xfrm>
          <a:off x="659906" y="5716866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1,359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1,295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380,948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202,937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0" name="Table 232">
            <a:extLst>
              <a:ext uri="{FF2B5EF4-FFF2-40B4-BE49-F238E27FC236}">
                <a16:creationId xmlns:a16="http://schemas.microsoft.com/office/drawing/2014/main" id="{F2D9F936-0324-854E-195C-BC87D218F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407223"/>
              </p:ext>
            </p:extLst>
          </p:nvPr>
        </p:nvGraphicFramePr>
        <p:xfrm>
          <a:off x="1735038" y="6756761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Brigadas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20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100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TextBox 231">
            <a:extLst>
              <a:ext uri="{FF2B5EF4-FFF2-40B4-BE49-F238E27FC236}">
                <a16:creationId xmlns:a16="http://schemas.microsoft.com/office/drawing/2014/main" id="{F3583D82-98CF-7802-D384-964739E3DB00}"/>
              </a:ext>
            </a:extLst>
          </p:cNvPr>
          <p:cNvSpPr txBox="1"/>
          <p:nvPr/>
        </p:nvSpPr>
        <p:spPr>
          <a:xfrm>
            <a:off x="1735038" y="7467840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/>
              <a:t>En cada brigada participan 5 personas del IMSS.</a:t>
            </a:r>
            <a:endParaRPr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7C8B997-519B-8A81-83C7-07C7A4AC2EA3}"/>
              </a:ext>
            </a:extLst>
          </p:cNvPr>
          <p:cNvSpPr txBox="1"/>
          <p:nvPr/>
        </p:nvSpPr>
        <p:spPr>
          <a:xfrm>
            <a:off x="197428" y="8358587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12,795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1190F0B-7D9A-C1B7-7FD1-F2D4FEE255D1}"/>
              </a:ext>
            </a:extLst>
          </p:cNvPr>
          <p:cNvSpPr txBox="1"/>
          <p:nvPr/>
        </p:nvSpPr>
        <p:spPr>
          <a:xfrm>
            <a:off x="2924003" y="8358587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13,598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8C9DEBE-930A-0DA3-CB51-B2B114A6979F}"/>
              </a:ext>
            </a:extLst>
          </p:cNvPr>
          <p:cNvSpPr txBox="1"/>
          <p:nvPr/>
        </p:nvSpPr>
        <p:spPr>
          <a:xfrm>
            <a:off x="5218315" y="8358587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4,524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824B4441-A438-73E6-A1A4-A31AD231C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944" y="7745524"/>
            <a:ext cx="730135" cy="669175"/>
          </a:xfrm>
          <a:prstGeom prst="rect">
            <a:avLst/>
          </a:prstGeom>
        </p:spPr>
      </p:pic>
      <p:pic>
        <p:nvPicPr>
          <p:cNvPr id="16" name="Imagen 15" descr="Icono&#10;&#10;El contenido generado por IA puede ser incorrecto.">
            <a:extLst>
              <a:ext uri="{FF2B5EF4-FFF2-40B4-BE49-F238E27FC236}">
                <a16:creationId xmlns:a16="http://schemas.microsoft.com/office/drawing/2014/main" id="{75F221CA-E0D7-9D70-2AD6-6E0D76E9E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945" y="7892555"/>
            <a:ext cx="924445" cy="491944"/>
          </a:xfrm>
          <a:prstGeom prst="rect">
            <a:avLst/>
          </a:prstGeom>
        </p:spPr>
      </p:pic>
      <p:pic>
        <p:nvPicPr>
          <p:cNvPr id="17" name="Imagen 16" descr="Icono&#10;&#10;El contenido generado por IA puede ser incorrecto.">
            <a:extLst>
              <a:ext uri="{FF2B5EF4-FFF2-40B4-BE49-F238E27FC236}">
                <a16:creationId xmlns:a16="http://schemas.microsoft.com/office/drawing/2014/main" id="{49D3F443-E4FA-5FBB-6A4A-EC22D63873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379" y="7727513"/>
            <a:ext cx="603366" cy="7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16,582	 Personal de Salud: 11,218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+84.5%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155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Médicos</a:t>
            </a:r>
            <a:r>
              <a:rPr dirty="0"/>
              <a:t> </a:t>
            </a:r>
            <a:r>
              <a:rPr dirty="0" err="1"/>
              <a:t>Especialistas</a:t>
            </a:r>
            <a:endParaRPr dirty="0"/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+3</a:t>
            </a:r>
            <a:r>
              <a:rPr lang="es-MX" dirty="0"/>
              <a:t>7.9</a:t>
            </a:r>
            <a:r>
              <a:rPr dirty="0"/>
              <a:t>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984222"/>
              </p:ext>
            </p:extLst>
          </p:nvPr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1,921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2,6</a:t>
                      </a:r>
                      <a:r>
                        <a:rPr lang="es-MX" dirty="0"/>
                        <a:t>50</a:t>
                      </a:r>
                      <a:endParaRPr dirty="0"/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Enfermeras</a:t>
            </a:r>
            <a:endParaRPr dirty="0"/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+24%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025278"/>
              </p:ext>
            </p:extLst>
          </p:nvPr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3,398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4,</a:t>
                      </a:r>
                      <a:r>
                        <a:rPr lang="es-MX" dirty="0"/>
                        <a:t>212</a:t>
                      </a:r>
                      <a:endParaRPr dirty="0"/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Paramédicos</a:t>
            </a:r>
            <a:endParaRPr dirty="0"/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+2</a:t>
            </a:r>
            <a:r>
              <a:rPr lang="es-MX" dirty="0"/>
              <a:t>3.7</a:t>
            </a:r>
            <a:r>
              <a:rPr dirty="0"/>
              <a:t>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978062"/>
              </p:ext>
            </p:extLst>
          </p:nvPr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2,352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2,909</a:t>
                      </a:r>
                      <a:endParaRPr dirty="0"/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+89.5%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453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Técnicos</a:t>
            </a:r>
            <a:endParaRPr dirty="0"/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+</a:t>
            </a:r>
            <a:r>
              <a:rPr lang="es-MX" dirty="0"/>
              <a:t>8.6</a:t>
            </a:r>
            <a:r>
              <a:rPr dirty="0"/>
              <a:t>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007749"/>
              </p:ext>
            </p:extLst>
          </p:nvPr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706</a:t>
                      </a:r>
                      <a:endParaRPr dirty="0"/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971865"/>
              </p:ext>
            </p:extLst>
          </p:nvPr>
        </p:nvGraphicFramePr>
        <p:xfrm>
          <a:off x="4507200" y="5499960"/>
          <a:ext cx="2843784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Top 5 </a:t>
                      </a:r>
                      <a:r>
                        <a:rPr dirty="0" err="1"/>
                        <a:t>Egresos</a:t>
                      </a:r>
                      <a:r>
                        <a:rPr dirty="0"/>
                        <a:t> 2025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rPr dirty="0"/>
                        <a:t>Medicina de </a:t>
                      </a:r>
                      <a:r>
                        <a:rPr dirty="0" err="1"/>
                        <a:t>Urgencias</a:t>
                      </a:r>
                      <a:endParaRPr dirty="0"/>
                    </a:p>
                  </a:txBody>
                  <a:tcPr marL="45720" marR="4572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34</a:t>
                      </a:r>
                    </a:p>
                  </a:txBody>
                  <a:tcPr marL="45720" marR="4572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rPr dirty="0" err="1"/>
                        <a:t>Anestesiología</a:t>
                      </a:r>
                      <a:endParaRPr dirty="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19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rPr dirty="0" err="1"/>
                        <a:t>Pediatría</a:t>
                      </a:r>
                      <a:endParaRPr dirty="0"/>
                    </a:p>
                  </a:txBody>
                  <a:tcPr marL="45720" marR="4572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15</a:t>
                      </a:r>
                    </a:p>
                  </a:txBody>
                  <a:tcPr marL="45720" marR="4572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11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4710"/>
              </p:ext>
            </p:extLst>
          </p:nvPr>
        </p:nvGraphicFramePr>
        <p:xfrm>
          <a:off x="4507200" y="693462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Top 5 </a:t>
                      </a:r>
                      <a:r>
                        <a:rPr dirty="0" err="1"/>
                        <a:t>Egresos</a:t>
                      </a:r>
                      <a:r>
                        <a:rPr dirty="0"/>
                        <a:t> 2026</a:t>
                      </a:r>
                    </a:p>
                  </a:txBody>
                  <a:tcPr marL="36576" marR="36576" marT="36576" marB="36576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rPr dirty="0"/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43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21</a:t>
                      </a:r>
                    </a:p>
                  </a:txBody>
                  <a:tcPr marL="45720" marR="4572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18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17</a:t>
                      </a:r>
                    </a:p>
                  </a:txBody>
                  <a:tcPr marL="45720" marR="4572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rPr dirty="0"/>
                        <a:t>Medicina de </a:t>
                      </a:r>
                      <a:r>
                        <a:rPr dirty="0" err="1"/>
                        <a:t>Urgencias</a:t>
                      </a:r>
                      <a:endParaRPr dirty="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16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993633"/>
              </p:ext>
            </p:extLst>
          </p:nvPr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24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  <a:r>
                        <a:rPr lang="es-MX" dirty="0"/>
                        <a:t>0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Personal </a:t>
                      </a:r>
                      <a:r>
                        <a:rPr dirty="0" err="1"/>
                        <a:t>administrativos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básico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65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Personal </a:t>
                      </a:r>
                      <a:r>
                        <a:rPr dirty="0" err="1"/>
                        <a:t>paramédico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técnico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13</a:t>
                      </a: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500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521024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dirty="0"/>
              <a:t>Se </a:t>
            </a:r>
            <a:r>
              <a:rPr dirty="0" err="1"/>
              <a:t>muestra</a:t>
            </a:r>
            <a:r>
              <a:rPr dirty="0"/>
              <a:t> el total de </a:t>
            </a:r>
            <a:r>
              <a:rPr dirty="0" err="1"/>
              <a:t>egresos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entidad</a:t>
            </a:r>
            <a:r>
              <a:rPr dirty="0"/>
              <a:t> y </a:t>
            </a:r>
            <a:r>
              <a:rPr dirty="0" err="1"/>
              <a:t>sólo</a:t>
            </a:r>
            <a:r>
              <a:rPr dirty="0"/>
              <a:t> las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especialidades</a:t>
            </a:r>
            <a:r>
              <a:rPr dirty="0"/>
              <a:t> con mayor </a:t>
            </a:r>
            <a:r>
              <a:rPr dirty="0" err="1"/>
              <a:t>egresos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año</a:t>
            </a:r>
            <a:r>
              <a:rPr dirty="0"/>
              <a:t>. Corte de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marzo</a:t>
            </a:r>
            <a:r>
              <a:rPr dirty="0"/>
              <a:t> 2026.</a:t>
            </a:r>
            <a:br>
              <a:rPr dirty="0"/>
            </a:br>
            <a:r>
              <a:rPr dirty="0"/>
              <a:t>Fuente: </a:t>
            </a:r>
            <a:r>
              <a:rPr dirty="0" err="1"/>
              <a:t>Dirección</a:t>
            </a:r>
            <a:r>
              <a:rPr dirty="0"/>
              <a:t> de </a:t>
            </a:r>
            <a:r>
              <a:rPr dirty="0" err="1"/>
              <a:t>Prestaciones</a:t>
            </a:r>
            <a:r>
              <a:rPr dirty="0"/>
              <a:t> </a:t>
            </a:r>
            <a:r>
              <a:rPr dirty="0" err="1"/>
              <a:t>Médicas</a:t>
            </a:r>
            <a:r>
              <a:rPr dirty="0"/>
              <a:t>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38991151-209A-D20D-23D5-5062AF6E73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7357832"/>
              </p:ext>
            </p:extLst>
          </p:nvPr>
        </p:nvGraphicFramePr>
        <p:xfrm>
          <a:off x="195072" y="5353621"/>
          <a:ext cx="3597782" cy="218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14,872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966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164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216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4,350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2,014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22,202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529210"/>
              </p:ext>
            </p:extLst>
          </p:nvPr>
        </p:nvGraphicFramePr>
        <p:xfrm>
          <a:off x="105300" y="1548000"/>
          <a:ext cx="7567200" cy="341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Medicina</a:t>
                      </a:r>
                      <a:r>
                        <a:t>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(216,640)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Tumores</a:t>
                      </a:r>
                      <a:r>
                        <a:rPr sz="900" b="0">
                          <a:latin typeface="Montserrat"/>
                        </a:rPr>
                        <a:t> </a:t>
                      </a:r>
                      <a:r>
                        <a:rPr sz="900" b="0" err="1">
                          <a:latin typeface="Montserrat"/>
                        </a:rPr>
                        <a:t>malignos</a:t>
                      </a:r>
                      <a:r>
                        <a:rPr sz="900" b="0">
                          <a:latin typeface="Montserrat"/>
                        </a:rPr>
                        <a:t>
(24,629)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(2,254)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(5,848)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(317)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(202,872)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Traumatismos</a:t>
                      </a:r>
                      <a:r>
                        <a:rPr sz="900" b="0">
                          <a:latin typeface="Montserrat"/>
                        </a:rPr>
                        <a:t> e </a:t>
                      </a:r>
                      <a:r>
                        <a:rPr sz="900" b="0" err="1">
                          <a:latin typeface="Montserrat"/>
                        </a:rPr>
                        <a:t>intoxicaciones</a:t>
                      </a:r>
                      <a:r>
                        <a:rPr sz="900" b="0">
                          <a:latin typeface="Montserrat"/>
                        </a:rPr>
                        <a:t>
(16,338)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(1,969)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(2,259)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(293)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(43,870)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(11,811)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Artropatias</a:t>
                      </a:r>
                      <a:r>
                        <a:rPr sz="900" b="0">
                          <a:latin typeface="Montserrat"/>
                        </a:rPr>
                        <a:t>
(1,280)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(1,542)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(239)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(41,647)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Secuelas de traumatismos e intoxicaciones
(11,169)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Cirugía</a:t>
                      </a:r>
                      <a:r>
                        <a:rPr sz="900" b="0">
                          <a:latin typeface="Montserrat"/>
                        </a:rPr>
                        <a:t> de </a:t>
                      </a:r>
                      <a:r>
                        <a:rPr sz="900" b="0" err="1">
                          <a:latin typeface="Montserrat"/>
                        </a:rPr>
                        <a:t>vesicula</a:t>
                      </a:r>
                      <a:r>
                        <a:rPr sz="900" b="0">
                          <a:latin typeface="Montserrat"/>
                        </a:rPr>
                        <a:t> </a:t>
                      </a:r>
                      <a:r>
                        <a:rPr sz="900" b="0" err="1">
                          <a:latin typeface="Montserrat"/>
                        </a:rPr>
                        <a:t>biliar</a:t>
                      </a:r>
                      <a:r>
                        <a:rPr sz="900" b="0">
                          <a:latin typeface="Montserrat"/>
                        </a:rPr>
                        <a:t> (</a:t>
                      </a:r>
                      <a:r>
                        <a:rPr sz="900" b="0" err="1">
                          <a:latin typeface="Montserrat"/>
                        </a:rPr>
                        <a:t>Colecistectomía</a:t>
                      </a:r>
                      <a:r>
                        <a:rPr sz="900" b="0">
                          <a:latin typeface="Montserrat"/>
                        </a:rPr>
                        <a:t>)
(1,180)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Enfermedades</a:t>
                      </a:r>
                      <a:r>
                        <a:rPr sz="900" b="0">
                          <a:latin typeface="Montserrat"/>
                        </a:rPr>
                        <a:t> de la </a:t>
                      </a:r>
                      <a:r>
                        <a:rPr sz="900" b="0" err="1">
                          <a:latin typeface="Montserrat"/>
                        </a:rPr>
                        <a:t>vesicula</a:t>
                      </a:r>
                      <a:r>
                        <a:rPr sz="900" b="0">
                          <a:latin typeface="Montserrat"/>
                        </a:rPr>
                        <a:t> </a:t>
                      </a:r>
                      <a:r>
                        <a:rPr sz="900" b="0" err="1">
                          <a:latin typeface="Montserrat"/>
                        </a:rPr>
                        <a:t>biliar</a:t>
                      </a:r>
                      <a:r>
                        <a:rPr sz="900" b="0">
                          <a:latin typeface="Montserrat"/>
                        </a:rPr>
                        <a:t>
(1,424)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(229)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(33,899)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(9,749)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(1,173)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(1,364)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Insuficiencia</a:t>
                      </a:r>
                      <a:r>
                        <a:rPr sz="900" b="0">
                          <a:latin typeface="Montserrat"/>
                        </a:rPr>
                        <a:t> renal
(192)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386355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rPr sz="2000" err="1"/>
              <a:t>Recetas</a:t>
            </a:r>
            <a:r>
              <a:rPr sz="2000"/>
              <a:t> </a:t>
            </a:r>
            <a:r>
              <a:rPr sz="2000" err="1"/>
              <a:t>surtidas</a:t>
            </a:r>
            <a:r>
              <a:rPr sz="2000"/>
              <a:t> y </a:t>
            </a:r>
            <a:r>
              <a:rPr sz="2000" err="1"/>
              <a:t>negadas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897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rPr b="1" err="1"/>
              <a:t>Recetas</a:t>
            </a:r>
            <a:r>
              <a:rPr b="1"/>
              <a:t> </a:t>
            </a:r>
            <a:r>
              <a:rPr b="1" err="1"/>
              <a:t>manuales</a:t>
            </a:r>
            <a:r>
              <a:rPr b="1"/>
              <a:t> y </a:t>
            </a:r>
            <a:r>
              <a:rPr b="1" err="1"/>
              <a:t>electrónicas</a:t>
            </a:r>
            <a:endParaRPr b="1"/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237,949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2,856,596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224,143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2,973,359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7353-8BAA-6006-D479-5553A7E19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187644"/>
              </p:ext>
            </p:extLst>
          </p:nvPr>
        </p:nvGraphicFramePr>
        <p:xfrm>
          <a:off x="180000" y="4121999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</a:t>
                      </a:r>
                      <a:r>
                        <a:rPr err="1"/>
                        <a:t>demanda</a:t>
                      </a:r>
                      <a:r>
                        <a:t> de </a:t>
                      </a:r>
                      <a:r>
                        <a:rPr err="1"/>
                        <a:t>enero</a:t>
                      </a:r>
                      <a:r>
                        <a:t> a </a:t>
                      </a:r>
                      <a:r>
                        <a:rPr lang="es-MX"/>
                        <a:t>mayo</a:t>
                      </a:r>
                      <a:r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754,299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529,710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476,381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352,172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336,513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313,847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254,732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Complejo B, tableta, comprimido o cápsula (vitamínico)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247,321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234,794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228,895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/>
              <a:t>Fuente</a:t>
            </a:r>
            <a:r>
              <a:t>: Portal de Control de </a:t>
            </a:r>
            <a:r>
              <a:rPr err="1"/>
              <a:t>Abasto</a:t>
            </a:r>
            <a:r>
              <a:t>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</a:t>
            </a:r>
            <a:r>
              <a:rPr err="1"/>
              <a:t>enero</a:t>
            </a:r>
            <a:r>
              <a:t> al 3</a:t>
            </a:r>
            <a:r>
              <a:rPr lang="es-MX"/>
              <a:t>1</a:t>
            </a:r>
            <a:r>
              <a:t> de</a:t>
            </a:r>
            <a:r>
              <a:rPr lang="es-MX"/>
              <a:t> mayo</a:t>
            </a:r>
            <a:r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2167510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45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6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Imagen 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E4583F43-E86D-0F1E-8691-BAF3375AD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27331" y="1900380"/>
            <a:ext cx="875508" cy="854908"/>
          </a:xfrm>
          <a:prstGeom prst="rect">
            <a:avLst/>
          </a:prstGeom>
        </p:spPr>
      </p:pic>
      <p:sp>
        <p:nvSpPr>
          <p:cNvPr id="49" name="CuadroTexto 8">
            <a:extLst>
              <a:ext uri="{FF2B5EF4-FFF2-40B4-BE49-F238E27FC236}">
                <a16:creationId xmlns:a16="http://schemas.microsoft.com/office/drawing/2014/main" id="{5703951A-79F9-0F57-1683-4A2C02D4A29F}"/>
              </a:ext>
            </a:extLst>
          </p:cNvPr>
          <p:cNvSpPr txBox="1"/>
          <p:nvPr/>
        </p:nvSpPr>
        <p:spPr>
          <a:xfrm>
            <a:off x="-1078015" y="1973980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BC955C"/>
                </a:solidFill>
                <a:latin typeface="Montserrat"/>
              </a:rPr>
              <a:t>Hospital </a:t>
            </a:r>
          </a:p>
          <a:p>
            <a:pPr algn="ctr"/>
            <a:r>
              <a:rPr lang="en-US" sz="800" b="1">
                <a:solidFill>
                  <a:srgbClr val="BC955C"/>
                </a:solidFill>
                <a:latin typeface="Montserrat"/>
              </a:rPr>
              <a:t>(1a </a:t>
            </a:r>
            <a:r>
              <a:rPr lang="en-US" sz="800" b="1" err="1">
                <a:solidFill>
                  <a:srgbClr val="BC955C"/>
                </a:solidFill>
                <a:latin typeface="Montserrat"/>
              </a:rPr>
              <a:t>etapa</a:t>
            </a:r>
            <a:r>
              <a:rPr lang="en-US" sz="800" b="1">
                <a:solidFill>
                  <a:srgbClr val="BC955C"/>
                </a:solidFill>
                <a:latin typeface="Montserrat"/>
              </a:rPr>
              <a:t>)</a:t>
            </a:r>
            <a:endParaRPr lang="en-US" sz="800"/>
          </a:p>
        </p:txBody>
      </p:sp>
      <p:sp>
        <p:nvSpPr>
          <p:cNvPr id="50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025374" y="294062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51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32926" y="3265937"/>
            <a:ext cx="875508" cy="854908"/>
          </a:xfrm>
          <a:prstGeom prst="rect">
            <a:avLst/>
          </a:prstGeom>
        </p:spPr>
      </p:pic>
      <p:sp>
        <p:nvSpPr>
          <p:cNvPr id="52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072420" y="3269227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/>
          </a:p>
        </p:txBody>
      </p:sp>
      <p:pic>
        <p:nvPicPr>
          <p:cNvPr id="5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58914" y="4200132"/>
            <a:ext cx="823531" cy="804153"/>
          </a:xfrm>
          <a:prstGeom prst="rect">
            <a:avLst/>
          </a:prstGeom>
        </p:spPr>
      </p:pic>
      <p:sp>
        <p:nvSpPr>
          <p:cNvPr id="54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072420" y="4192620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err="1"/>
          </a:p>
        </p:txBody>
      </p:sp>
      <p:sp>
        <p:nvSpPr>
          <p:cNvPr id="55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025374" y="517528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56" name="Imagen 1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32926" y="5522714"/>
            <a:ext cx="875508" cy="854908"/>
          </a:xfrm>
          <a:prstGeom prst="rect">
            <a:avLst/>
          </a:prstGeom>
        </p:spPr>
      </p:pic>
      <p:sp>
        <p:nvSpPr>
          <p:cNvPr id="57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078015" y="5646463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Tomógrafos</a:t>
            </a:r>
            <a:endParaRPr lang="en-US" err="1"/>
          </a:p>
        </p:txBody>
      </p:sp>
      <p:graphicFrame>
        <p:nvGraphicFramePr>
          <p:cNvPr id="58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759118"/>
              </p:ext>
            </p:extLst>
          </p:nvPr>
        </p:nvGraphicFramePr>
        <p:xfrm>
          <a:off x="1785600" y="1584000"/>
          <a:ext cx="5295600" cy="961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Infraestructura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HGR de 216 camas, Ensenada (1a etapa)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$1,384.9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</a:t>
                      </a:r>
                      <a:r>
                        <a:rPr sz="1000" err="1">
                          <a:latin typeface="Montserrat"/>
                        </a:rPr>
                        <a:t>Hemodinamia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</a:t>
                      </a:r>
                      <a:r>
                        <a:rPr sz="1000">
                          <a:latin typeface="Montserrat"/>
                        </a:rPr>
                        <a:t> HG</a:t>
                      </a:r>
                      <a:r>
                        <a:rPr lang="es-MX" sz="1000">
                          <a:latin typeface="Montserrat"/>
                        </a:rPr>
                        <a:t>R</a:t>
                      </a:r>
                      <a:r>
                        <a:rPr sz="1000">
                          <a:latin typeface="Montserrat"/>
                        </a:rPr>
                        <a:t> No. 30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Mexicali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$34.0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$1,418.9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9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816968"/>
              </p:ext>
            </p:extLst>
          </p:nvPr>
        </p:nvGraphicFramePr>
        <p:xfrm>
          <a:off x="1785600" y="2688360"/>
          <a:ext cx="5295600" cy="279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15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1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$628.8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1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HGPMF 31 Mexicali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$96.8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3 subdelegaciones (San Luis Río Colorado, Tecate y Tijuana)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$78.3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residencias </a:t>
                      </a:r>
                      <a:r>
                        <a:rPr sz="1000" err="1">
                          <a:latin typeface="Montserrat"/>
                        </a:rPr>
                        <a:t>médicas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7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Baja California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$38.1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HGO No. 7, Tijuana y HGZ No. 8, Ensenada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$36.8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HGR No. 20, Tijuana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$21.0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1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16, Mexicali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8 unidades, Baja California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$9.2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1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$921.5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0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42735"/>
              </p:ext>
            </p:extLst>
          </p:nvPr>
        </p:nvGraphicFramePr>
        <p:xfrm>
          <a:off x="1785600" y="5623286"/>
          <a:ext cx="5295600" cy="1340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09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8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1</a:t>
                      </a:r>
                      <a:r>
                        <a:rPr lang="es-MX" sz="1000">
                          <a:latin typeface="Montserrat"/>
                        </a:rPr>
                        <a:t>5</a:t>
                      </a:r>
                      <a:r>
                        <a:rPr sz="1000">
                          <a:latin typeface="Montserrat"/>
                        </a:rPr>
                        <a:t>  </a:t>
                      </a:r>
                      <a:r>
                        <a:rPr sz="1000" err="1">
                          <a:latin typeface="Montserrat"/>
                        </a:rPr>
                        <a:t>piezas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1 </a:t>
                      </a:r>
                      <a:r>
                        <a:rPr sz="1000" err="1">
                          <a:latin typeface="Montserrat"/>
                        </a:rPr>
                        <a:t>congelador</a:t>
                      </a:r>
                      <a:r>
                        <a:rPr sz="1000">
                          <a:latin typeface="Montserrat"/>
                        </a:rPr>
                        <a:t> horizontal de </a:t>
                      </a:r>
                      <a:r>
                        <a:rPr sz="1000" err="1">
                          <a:latin typeface="Montserrat"/>
                        </a:rPr>
                        <a:t>refrigerantes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refrigerador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4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congeladores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r>
                        <a:rPr sz="1000">
                          <a:latin typeface="Montserrat"/>
                        </a:rPr>
                        <a:t>, 2 </a:t>
                      </a:r>
                      <a:r>
                        <a:rPr sz="1000" err="1">
                          <a:latin typeface="Montserrat"/>
                        </a:rPr>
                        <a:t>monitores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signos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vitales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el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traslado</a:t>
                      </a:r>
                      <a:r>
                        <a:rPr sz="1000">
                          <a:latin typeface="Montserrat"/>
                        </a:rPr>
                        <a:t> del </a:t>
                      </a:r>
                      <a:r>
                        <a:rPr sz="1000" err="1">
                          <a:latin typeface="Montserrat"/>
                        </a:rPr>
                        <a:t>paciente</a:t>
                      </a:r>
                      <a:r>
                        <a:rPr sz="1000">
                          <a:latin typeface="Montserrat"/>
                        </a:rPr>
                        <a:t>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2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anestesia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básica</a:t>
                      </a:r>
                      <a:r>
                        <a:rPr sz="1000">
                          <a:latin typeface="Montserrat"/>
                        </a:rPr>
                        <a:t>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3 </a:t>
                      </a:r>
                      <a:r>
                        <a:rPr sz="1000" err="1">
                          <a:latin typeface="Montserrat"/>
                        </a:rPr>
                        <a:t>tomógrafos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resonancia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magnética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mastógrafo</a:t>
                      </a:r>
                      <a:r>
                        <a:rPr sz="1000">
                          <a:latin typeface="Montserrat"/>
                        </a:rPr>
                        <a:t> digital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latin typeface="Montserrat"/>
                        </a:rPr>
                        <a:t>$138.7</a:t>
                      </a:r>
                    </a:p>
                  </a:txBody>
                  <a:tcPr marL="3600" marR="3600" marT="3600" marB="36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667742"/>
              </p:ext>
            </p:extLst>
          </p:nvPr>
        </p:nvGraphicFramePr>
        <p:xfrm>
          <a:off x="1785600" y="7102964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</a:t>
                      </a:r>
                      <a:r>
                        <a:rPr lang="es-MX" err="1"/>
                        <a:t>po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elevadores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latin typeface="Montserrat"/>
                        </a:rPr>
                        <a:t>$7.8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" name="TextBox 24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2,486.9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  <p:sp>
        <p:nvSpPr>
          <p:cNvPr id="63" name="CuadroTexto 10">
            <a:extLst>
              <a:ext uri="{FF2B5EF4-FFF2-40B4-BE49-F238E27FC236}">
                <a16:creationId xmlns:a16="http://schemas.microsoft.com/office/drawing/2014/main" id="{4BA9C1DF-36BE-06EC-A23E-A168DE940B23}"/>
              </a:ext>
            </a:extLst>
          </p:cNvPr>
          <p:cNvSpPr txBox="1"/>
          <p:nvPr/>
        </p:nvSpPr>
        <p:spPr>
          <a:xfrm>
            <a:off x="-1025374" y="1576500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Contrucción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22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999037" y="161132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26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26" y="1931774"/>
            <a:ext cx="872667" cy="849944"/>
          </a:xfrm>
          <a:prstGeom prst="rect">
            <a:avLst/>
          </a:prstGeom>
        </p:spPr>
      </p:pic>
      <p:sp>
        <p:nvSpPr>
          <p:cNvPr id="27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048133" y="1976980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 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(2a </a:t>
            </a:r>
            <a:r>
              <a:rPr lang="en-US" sz="8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etapa</a:t>
            </a:r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)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8" name="CuadroTexto 16">
            <a:extLst>
              <a:ext uri="{FF2B5EF4-FFF2-40B4-BE49-F238E27FC236}">
                <a16:creationId xmlns:a16="http://schemas.microsoft.com/office/drawing/2014/main" id="{E732EDB4-939B-C564-D4B2-9497DEB259D4}"/>
              </a:ext>
            </a:extLst>
          </p:cNvPr>
          <p:cNvSpPr txBox="1"/>
          <p:nvPr/>
        </p:nvSpPr>
        <p:spPr>
          <a:xfrm>
            <a:off x="-1012261" y="371682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Transformación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29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8A8D8CD2-DBCF-78B9-E5EF-827E13752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26" y="4028742"/>
            <a:ext cx="872667" cy="849944"/>
          </a:xfrm>
          <a:prstGeom prst="rect">
            <a:avLst/>
          </a:prstGeom>
        </p:spPr>
      </p:pic>
      <p:sp>
        <p:nvSpPr>
          <p:cNvPr id="30" name="CuadroTexto 18">
            <a:extLst>
              <a:ext uri="{FF2B5EF4-FFF2-40B4-BE49-F238E27FC236}">
                <a16:creationId xmlns:a16="http://schemas.microsoft.com/office/drawing/2014/main" id="{261D4185-A587-C515-FCC3-DB49EF855C8D}"/>
              </a:ext>
            </a:extLst>
          </p:cNvPr>
          <p:cNvSpPr txBox="1"/>
          <p:nvPr/>
        </p:nvSpPr>
        <p:spPr>
          <a:xfrm>
            <a:off x="-1047984" y="4097272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Hospital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Rural</a:t>
            </a:r>
          </a:p>
        </p:txBody>
      </p:sp>
      <p:pic>
        <p:nvPicPr>
          <p:cNvPr id="31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E86C75D-F50A-FF84-41DD-22F979E99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80" y="4982138"/>
            <a:ext cx="872667" cy="849944"/>
          </a:xfrm>
          <a:prstGeom prst="rect">
            <a:avLst/>
          </a:prstGeom>
        </p:spPr>
      </p:pic>
      <p:sp>
        <p:nvSpPr>
          <p:cNvPr id="32" name="CuadroTexto 18">
            <a:extLst>
              <a:ext uri="{FF2B5EF4-FFF2-40B4-BE49-F238E27FC236}">
                <a16:creationId xmlns:a16="http://schemas.microsoft.com/office/drawing/2014/main" id="{FD1C9D9D-7EC9-B9A4-0A18-6BF64EAEDB4E}"/>
              </a:ext>
            </a:extLst>
          </p:cNvPr>
          <p:cNvSpPr txBox="1"/>
          <p:nvPr/>
        </p:nvSpPr>
        <p:spPr>
          <a:xfrm>
            <a:off x="-1048133" y="5143399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5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UMR</a:t>
            </a:r>
            <a:endParaRPr lang="en-US"/>
          </a:p>
        </p:txBody>
      </p:sp>
      <p:pic>
        <p:nvPicPr>
          <p:cNvPr id="33" name="Imagen 1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822E17B-1489-11B0-F897-EB691741A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89" y="2855369"/>
            <a:ext cx="872667" cy="849944"/>
          </a:xfrm>
          <a:prstGeom prst="rect">
            <a:avLst/>
          </a:prstGeom>
        </p:spPr>
      </p:pic>
      <p:sp>
        <p:nvSpPr>
          <p:cNvPr id="34" name="CuadroTexto 11">
            <a:extLst>
              <a:ext uri="{FF2B5EF4-FFF2-40B4-BE49-F238E27FC236}">
                <a16:creationId xmlns:a16="http://schemas.microsoft.com/office/drawing/2014/main" id="{0C08FC0F-9DF2-D636-E638-CE92F3DEC115}"/>
              </a:ext>
            </a:extLst>
          </p:cNvPr>
          <p:cNvSpPr txBox="1"/>
          <p:nvPr/>
        </p:nvSpPr>
        <p:spPr>
          <a:xfrm>
            <a:off x="-1024324" y="2985291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CECI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graphicFrame>
        <p:nvGraphicFramePr>
          <p:cNvPr id="35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062860"/>
              </p:ext>
            </p:extLst>
          </p:nvPr>
        </p:nvGraphicFramePr>
        <p:xfrm>
          <a:off x="1785600" y="1584000"/>
          <a:ext cx="53964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Infraestructura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Ensenada (2a etapa)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$1,385.0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Sustitución</a:t>
                      </a:r>
                      <a:r>
                        <a:rPr sz="1000">
                          <a:latin typeface="Montserrat"/>
                        </a:rPr>
                        <a:t> de UMF No. 2, Benito Juárez, Mexicali</a:t>
                      </a:r>
                    </a:p>
                  </a:txBody>
                  <a:tcPr marL="3600" marR="3600" marT="3600" marB="360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$116.9</a:t>
                      </a:r>
                    </a:p>
                  </a:txBody>
                  <a:tcPr marL="3600" marR="3600" marT="3600" marB="360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Nuevo CECI Mexicali, 110 </a:t>
                      </a:r>
                      <a:r>
                        <a:rPr sz="1000" err="1">
                          <a:latin typeface="Montserrat"/>
                        </a:rPr>
                        <a:t>lugares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$43.4</a:t>
                      </a:r>
                    </a:p>
                  </a:txBody>
                  <a:tcPr marL="3600" marR="3600" marT="3600" marB="36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Nuevo CECI San Ramón, 110 </a:t>
                      </a:r>
                      <a:r>
                        <a:rPr sz="1000" err="1">
                          <a:latin typeface="Montserrat"/>
                        </a:rPr>
                        <a:t>lugares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$41.2</a:t>
                      </a:r>
                    </a:p>
                  </a:txBody>
                  <a:tcPr marL="3600" marR="3600" marT="3600" marB="360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Transformación</a:t>
                      </a:r>
                      <a:r>
                        <a:rPr sz="1000">
                          <a:latin typeface="Montserrat"/>
                        </a:rPr>
                        <a:t> a Hospital de Zona HR No. 69 San Quintín</a:t>
                      </a:r>
                    </a:p>
                  </a:txBody>
                  <a:tcPr marL="3600" marR="3600" marT="3600" marB="36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$534.9</a:t>
                      </a:r>
                    </a:p>
                  </a:txBody>
                  <a:tcPr marL="3600" marR="3600" marT="3600" marB="36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23378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$</a:t>
                      </a:r>
                      <a:r>
                        <a:rPr lang="es-MX" sz="1000"/>
                        <a:t>2,121.4</a:t>
                      </a:r>
                      <a:endParaRPr sz="1000"/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820305"/>
              </p:ext>
            </p:extLst>
          </p:nvPr>
        </p:nvGraphicFramePr>
        <p:xfrm>
          <a:off x="1785600" y="3466038"/>
          <a:ext cx="5396400" cy="3489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7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Conservación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2026)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$180.6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la UMFH No. 13 San Quintín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HGPMF 31 Mexicali y HGR 1 Tijuana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$24.6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de AMC a Urgencias, UMF No. 16 Mexicali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$13.9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Fortalecimiento de</a:t>
                      </a:r>
                      <a:r>
                        <a:rPr sz="1000">
                          <a:latin typeface="Montserrat"/>
                        </a:rPr>
                        <a:t> UMF </a:t>
                      </a:r>
                      <a:r>
                        <a:rPr sz="1000" err="1">
                          <a:latin typeface="Montserrat"/>
                        </a:rPr>
                        <a:t>Camalú</a:t>
                      </a:r>
                      <a:r>
                        <a:rPr sz="1000">
                          <a:latin typeface="Montserrat"/>
                        </a:rPr>
                        <a:t>, San Quintín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$7.8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Fortalecimiento de </a:t>
                      </a:r>
                      <a:r>
                        <a:rPr sz="1000">
                          <a:latin typeface="Montserrat"/>
                        </a:rPr>
                        <a:t>UMF Villa de Jesús María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$7.1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Fortalecimiento de </a:t>
                      </a:r>
                      <a:r>
                        <a:rPr sz="1000">
                          <a:latin typeface="Montserrat"/>
                        </a:rPr>
                        <a:t>UMF Punta </a:t>
                      </a:r>
                      <a:r>
                        <a:rPr sz="1000" err="1">
                          <a:latin typeface="Montserrat"/>
                        </a:rPr>
                        <a:t>Colonet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$5.1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Fortalecimiento de</a:t>
                      </a:r>
                      <a:r>
                        <a:rPr sz="1000">
                          <a:latin typeface="Montserrat"/>
                        </a:rPr>
                        <a:t> UMF Santo Tomás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$4.3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UMF No. 29 El Rosario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$4.1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Fortalecimiento de </a:t>
                      </a:r>
                      <a:r>
                        <a:rPr sz="1000">
                          <a:latin typeface="Montserrat"/>
                        </a:rPr>
                        <a:t>UMF Lázaro Cárdenas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7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$</a:t>
                      </a:r>
                      <a:r>
                        <a:rPr lang="es-MX" sz="1000"/>
                        <a:t>288.2</a:t>
                      </a:r>
                      <a:endParaRPr sz="1000"/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37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471258"/>
              </p:ext>
            </p:extLst>
          </p:nvPr>
        </p:nvGraphicFramePr>
        <p:xfrm>
          <a:off x="1785600" y="7073300"/>
          <a:ext cx="5396400" cy="762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30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Equip</a:t>
                      </a:r>
                      <a:r>
                        <a:rPr lang="es-MX" sz="1000"/>
                        <a:t>o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Electromecánico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15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para 4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Hospitalarias</a:t>
                      </a:r>
                      <a:r>
                        <a:rPr sz="1000">
                          <a:latin typeface="Montserrat"/>
                        </a:rPr>
                        <a:t>; 7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para casa de </a:t>
                      </a:r>
                      <a:r>
                        <a:rPr sz="1000" err="1">
                          <a:latin typeface="Montserrat"/>
                        </a:rPr>
                        <a:t>máquinas</a:t>
                      </a:r>
                      <a:r>
                        <a:rPr sz="1000">
                          <a:latin typeface="Montserrat"/>
                        </a:rPr>
                        <a:t>, 4 </a:t>
                      </a:r>
                      <a:r>
                        <a:rPr sz="1000" err="1">
                          <a:latin typeface="Montserrat"/>
                        </a:rPr>
                        <a:t>lavadoras</a:t>
                      </a:r>
                      <a:r>
                        <a:rPr sz="1000">
                          <a:latin typeface="Montserrat"/>
                        </a:rPr>
                        <a:t>, 3 </a:t>
                      </a:r>
                      <a:r>
                        <a:rPr sz="1000" err="1">
                          <a:latin typeface="Montserrat"/>
                        </a:rPr>
                        <a:t>secadoras</a:t>
                      </a:r>
                      <a:r>
                        <a:rPr sz="1000">
                          <a:latin typeface="Montserrat"/>
                        </a:rPr>
                        <a:t> y 1 </a:t>
                      </a:r>
                      <a:r>
                        <a:rPr sz="1000" err="1">
                          <a:latin typeface="Montserrat"/>
                        </a:rPr>
                        <a:t>elevador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latin typeface="Montserrat"/>
                        </a:rPr>
                        <a:t>$146.0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20"/>
          <p:cNvSpPr txBox="1"/>
          <p:nvPr/>
        </p:nvSpPr>
        <p:spPr>
          <a:xfrm>
            <a:off x="6077737" y="855915"/>
            <a:ext cx="8194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lang="es-MX"/>
              <a:t>2,555.6</a:t>
            </a:r>
            <a:endParaRPr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17488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0123269"/>
              </p:ext>
            </p:extLst>
          </p:nvPr>
        </p:nvGraphicFramePr>
        <p:xfrm>
          <a:off x="147600" y="8001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17709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19112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26778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32688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30573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172668"/>
              </p:ext>
            </p:extLst>
          </p:nvPr>
        </p:nvGraphicFramePr>
        <p:xfrm>
          <a:off x="2552400" y="1912500"/>
          <a:ext cx="4928400" cy="203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 Predios en ruta y 2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Mexicali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Mexicali (2), San Quintín (3), Tijuana (2), Playas de Rosarito, Tijuana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val 20"/>
          <p:cNvSpPr/>
          <p:nvPr/>
        </p:nvSpPr>
        <p:spPr>
          <a:xfrm>
            <a:off x="885600" y="19341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29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3600" y="27189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 CECI CAMPO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2400" y="3982394"/>
            <a:ext cx="494568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¹ </a:t>
            </a:r>
            <a:r>
              <a:rPr err="1"/>
              <a:t>Terrenos</a:t>
            </a:r>
            <a:r>
              <a:t> </a:t>
            </a:r>
            <a:r>
              <a:rPr err="1"/>
              <a:t>validados</a:t>
            </a:r>
            <a:r>
              <a:t>. CECI Mexicali 110 </a:t>
            </a:r>
            <a:r>
              <a:rPr err="1"/>
              <a:t>niños</a:t>
            </a:r>
            <a:r>
              <a:t>, </a:t>
            </a:r>
            <a:r>
              <a:rPr err="1"/>
              <a:t>fallo</a:t>
            </a:r>
            <a:r>
              <a:t> 9 de </a:t>
            </a:r>
            <a:r>
              <a:rPr err="1"/>
              <a:t>abril</a:t>
            </a:r>
            <a:r>
              <a:t> 2026, </a:t>
            </a:r>
            <a:r>
              <a:rPr err="1"/>
              <a:t>empresa</a:t>
            </a:r>
            <a:r>
              <a:t> MARCARSO S.A. de C.V. 1 CECI </a:t>
            </a:r>
            <a:r>
              <a:rPr err="1"/>
              <a:t>para</a:t>
            </a:r>
            <a:r>
              <a:t> </a:t>
            </a:r>
            <a:r>
              <a:rPr err="1"/>
              <a:t>entregar</a:t>
            </a:r>
            <a:r>
              <a:t> a SICT en Mexicali. 7 CECI en </a:t>
            </a:r>
            <a:r>
              <a:rPr err="1"/>
              <a:t>integración</a:t>
            </a:r>
            <a:r>
              <a:t> de </a:t>
            </a:r>
            <a:r>
              <a:rPr err="1"/>
              <a:t>expediente</a:t>
            </a:r>
            <a:r>
              <a:t> </a:t>
            </a:r>
            <a:r>
              <a:rPr err="1"/>
              <a:t>para</a:t>
            </a:r>
            <a:r>
              <a:t> </a:t>
            </a:r>
            <a:r>
              <a:rPr err="1"/>
              <a:t>donación</a:t>
            </a:r>
            <a:r>
              <a:t> en Ensenada, Mexicali, Playas de </a:t>
            </a:r>
            <a:r>
              <a:rPr err="1"/>
              <a:t>Rosarito</a:t>
            </a:r>
            <a:r>
              <a:t> y Tijuana.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562888"/>
              </p:ext>
            </p:extLst>
          </p:nvPr>
        </p:nvGraphicFramePr>
        <p:xfrm>
          <a:off x="2311200" y="1670400"/>
          <a:ext cx="5032800" cy="90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</a:t>
                      </a:r>
                      <a:r>
                        <a:rPr lang="es-MX" sz="1000" b="1">
                          <a:latin typeface="Montserrat"/>
                        </a:rPr>
                        <a:t>1</a:t>
                      </a:r>
                      <a:r>
                        <a:rPr sz="1000" b="1">
                          <a:latin typeface="Montserrat"/>
                        </a:rPr>
                        <a:t> </a:t>
                      </a:r>
                      <a:r>
                        <a:rPr sz="1000" b="1" err="1">
                          <a:latin typeface="Montserrat"/>
                        </a:rPr>
                        <a:t>unidades</a:t>
                      </a:r>
                      <a:endParaRPr sz="1000" b="1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 </a:t>
                      </a:r>
                      <a:r>
                        <a:rPr err="1"/>
                        <a:t>directas</a:t>
                      </a:r>
                      <a:endParaRPr/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  <a:r>
                        <a:rPr lang="es-MX"/>
                        <a:t>8</a:t>
                      </a:r>
                      <a:r>
                        <a:t> </a:t>
                      </a:r>
                      <a:r>
                        <a:rPr err="1"/>
                        <a:t>indirectas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8,7</a:t>
                      </a:r>
                      <a:r>
                        <a:rPr lang="es-MX" sz="1000" b="1">
                          <a:latin typeface="Montserrat"/>
                        </a:rPr>
                        <a:t>28</a:t>
                      </a:r>
                      <a:r>
                        <a:rPr sz="1000" b="1">
                          <a:latin typeface="Montserrat"/>
                        </a:rPr>
                        <a:t> </a:t>
                      </a:r>
                      <a:r>
                        <a:rPr sz="1000" b="1" err="1">
                          <a:latin typeface="Montserrat"/>
                        </a:rPr>
                        <a:t>inscritos</a:t>
                      </a:r>
                      <a:endParaRPr sz="1000" b="1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  <a:r>
                        <a:rPr lang="es-MX"/>
                        <a:t>49</a:t>
                      </a:r>
                      <a:r>
                        <a:t> </a:t>
                      </a:r>
                      <a:r>
                        <a:rPr err="1"/>
                        <a:t>en</a:t>
                      </a:r>
                      <a:r>
                        <a:t> </a:t>
                      </a:r>
                      <a:r>
                        <a:rPr err="1"/>
                        <a:t>espera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12620"/>
              </p:ext>
            </p:extLst>
          </p:nvPr>
        </p:nvGraphicFramePr>
        <p:xfrm>
          <a:off x="2311200" y="2722800"/>
          <a:ext cx="5032800" cy="203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1 CRESTCAP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Tijuana, BC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3 </a:t>
                      </a:r>
                      <a:r>
                        <a:rPr sz="1000" err="1"/>
                        <a:t>Centros</a:t>
                      </a:r>
                      <a:r>
                        <a:rPr sz="1000"/>
                        <a:t> de </a:t>
                      </a:r>
                      <a:r>
                        <a:rPr sz="1000" err="1"/>
                        <a:t>Seguridad</a:t>
                      </a:r>
                      <a:r>
                        <a:rPr sz="1000"/>
                        <a:t>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Mexicali, San Luis Río Colorado, Tijuana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2 Teatros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Mexicali, Tijuana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1 Unidad Deportiva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Mexicali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29063"/>
              </p:ext>
            </p:extLst>
          </p:nvPr>
        </p:nvGraphicFramePr>
        <p:xfrm>
          <a:off x="2311200" y="4923100"/>
          <a:ext cx="5032800" cy="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2 </a:t>
                      </a:r>
                      <a:r>
                        <a:rPr sz="1000" err="1"/>
                        <a:t>Tiendas</a:t>
                      </a:r>
                      <a:r>
                        <a:rPr sz="1000"/>
                        <a:t>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No. 65 Tijuana y  86 Ensenada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1041774" y="6598799"/>
            <a:ext cx="113845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rPr err="1"/>
              <a:t>Guarderías</a:t>
            </a:r>
            <a:r>
              <a:t>    5</a:t>
            </a:r>
            <a:r>
              <a:rPr lang="es-MX"/>
              <a:t>1</a:t>
            </a:r>
            <a:endParaRPr/>
          </a:p>
        </p:txBody>
      </p:sp>
      <p:sp>
        <p:nvSpPr>
          <p:cNvPr id="472" name="TextBox 471"/>
          <p:cNvSpPr txBox="1"/>
          <p:nvPr/>
        </p:nvSpPr>
        <p:spPr>
          <a:xfrm>
            <a:off x="3810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  <p:pic>
        <p:nvPicPr>
          <p:cNvPr id="14" name="Picture 469" descr="map_tipo2_02_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-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lang="es-ES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211568"/>
              </p:ext>
            </p:extLst>
          </p:nvPr>
        </p:nvGraphicFramePr>
        <p:xfrm>
          <a:off x="284400" y="1087200"/>
          <a:ext cx="6984000" cy="1943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Empleador</a:t>
                      </a:r>
                      <a:r>
                        <a:t> </a:t>
                      </a:r>
                      <a:r>
                        <a:rPr err="1"/>
                        <a:t>público</a:t>
                      </a: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Empleos</a:t>
                      </a:r>
                      <a:r>
                        <a:t>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Empleos</a:t>
                      </a:r>
                      <a:r>
                        <a:t>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Variación</a:t>
                      </a: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Empleador</a:t>
                      </a:r>
                      <a:r>
                        <a:t> </a:t>
                      </a:r>
                      <a:r>
                        <a:rPr err="1"/>
                        <a:t>Privado</a:t>
                      </a: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err="1"/>
                        <a:t>Instituto</a:t>
                      </a:r>
                      <a:r>
                        <a:t> </a:t>
                      </a:r>
                      <a:r>
                        <a:rPr err="1"/>
                        <a:t>Mexicano</a:t>
                      </a:r>
                      <a:r>
                        <a:t> del </a:t>
                      </a:r>
                      <a:r>
                        <a:rPr err="1"/>
                        <a:t>Seguro</a:t>
                      </a:r>
                      <a:r>
                        <a:t>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16,582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err="1"/>
                        <a:t>Cadena</a:t>
                      </a:r>
                      <a:r>
                        <a:t> </a:t>
                      </a:r>
                      <a:r>
                        <a:rPr err="1"/>
                        <a:t>Comercial</a:t>
                      </a:r>
                      <a:r>
                        <a:t>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10,523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10,707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</a:t>
                      </a:r>
                      <a:r>
                        <a:rPr err="1"/>
                        <a:t>Autónoma</a:t>
                      </a:r>
                      <a:r>
                        <a:t> del Estado de Baja California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8,277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8,283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INNOVATING HUMAN TALENT GHA SA DE CV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8,991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345.3%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err="1"/>
                        <a:t>Constructora</a:t>
                      </a:r>
                      <a:r>
                        <a:t> Souma y </a:t>
                      </a:r>
                      <a:r>
                        <a:rPr err="1"/>
                        <a:t>asociados</a:t>
                      </a:r>
                      <a:r>
                        <a:t> de RL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8,632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-8.56%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-8.01%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-0.78%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-0.45%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+3.20%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+3.20%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+3.81%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+4.23%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+4.86%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271334"/>
              </p:ext>
            </p:extLst>
          </p:nvPr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Mes</a:t>
                      </a: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Urbano</a:t>
                      </a: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Urbano</a:t>
                      </a: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918,118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7,767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66,513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29,187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1,021,585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935,998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4,846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58,155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28,678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1,027,677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lang="es-ES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72A7FE9-623A-8A99-5921-2FE753D569A3}"/>
              </a:ext>
            </a:extLst>
          </p:cNvPr>
          <p:cNvSpPr/>
          <p:nvPr/>
        </p:nvSpPr>
        <p:spPr>
          <a:xfrm>
            <a:off x="788261" y="11524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$757.97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467744"/>
              </p:ext>
            </p:extLst>
          </p:nvPr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</a:t>
                      </a:r>
                      <a:r>
                        <a:rPr err="1"/>
                        <a:t>diciembre</a:t>
                      </a:r>
                      <a:endParaRPr/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Variación</a:t>
                      </a:r>
                      <a:r>
                        <a:t>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Nacional</a:t>
                      </a:r>
                      <a:r>
                        <a:t>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Salario</a:t>
                      </a:r>
                      <a:r>
                        <a:t> Base de </a:t>
                      </a:r>
                      <a:r>
                        <a:rPr err="1"/>
                        <a:t>Cotización</a:t>
                      </a:r>
                      <a:endParaRPr/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$355.44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$757.97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50.8%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$22,739.1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565740"/>
              </p:ext>
            </p:extLst>
          </p:nvPr>
        </p:nvGraphicFramePr>
        <p:xfrm>
          <a:off x="320400" y="6649200"/>
          <a:ext cx="7038000" cy="249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Categoría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Deudores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público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Municipio</a:t>
                      </a:r>
                      <a:r>
                        <a:t> de Ensenada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$236.67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Municipio</a:t>
                      </a:r>
                      <a:r>
                        <a:t> de Mexicali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$13.88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Patronato</a:t>
                      </a:r>
                      <a:r>
                        <a:t> del Bosque y </a:t>
                      </a:r>
                      <a:r>
                        <a:rPr err="1"/>
                        <a:t>Zoológico</a:t>
                      </a:r>
                      <a:r>
                        <a:t> de la ciudad de Mexicali BC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privado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Robertson </a:t>
                      </a:r>
                      <a:r>
                        <a:rPr err="1"/>
                        <a:t>Saracho</a:t>
                      </a:r>
                      <a:r>
                        <a:t> del </a:t>
                      </a:r>
                      <a:r>
                        <a:rPr err="1"/>
                        <a:t>Peral</a:t>
                      </a:r>
                      <a:r>
                        <a:t> SC de RL de CV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$102.89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Experiencia</a:t>
                      </a:r>
                      <a:r>
                        <a:t> </a:t>
                      </a:r>
                      <a:r>
                        <a:rPr err="1"/>
                        <a:t>Sonorense</a:t>
                      </a:r>
                      <a:r>
                        <a:t> S de RL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$102.32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Teléfonos</a:t>
                      </a:r>
                      <a:r>
                        <a:t> del </a:t>
                      </a:r>
                      <a:r>
                        <a:rPr err="1"/>
                        <a:t>Noroeste</a:t>
                      </a:r>
                      <a:r>
                        <a:t> SA de CV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$76.61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>
                <a:solidFill>
                  <a:schemeClr val="tx1"/>
                </a:solidFill>
              </a:rPr>
              <a:t>Salario</a:t>
            </a:r>
            <a:r>
              <a:rPr>
                <a:solidFill>
                  <a:schemeClr val="tx1"/>
                </a:solidFill>
              </a:rPr>
              <a:t> Base de </a:t>
            </a:r>
            <a:r>
              <a:rPr err="1">
                <a:solidFill>
                  <a:schemeClr val="tx1"/>
                </a:solidFill>
              </a:rPr>
              <a:t>Cotización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tado</a:t>
            </a:r>
            <a:r>
              <a:rPr>
                <a:solidFill>
                  <a:schemeClr val="tx1"/>
                </a:solidFill>
              </a:rPr>
              <a:t>: Se </a:t>
            </a:r>
            <a:r>
              <a:rPr err="1">
                <a:solidFill>
                  <a:schemeClr val="tx1"/>
                </a:solidFill>
              </a:rPr>
              <a:t>utilizó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como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deflactor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salario</a:t>
            </a:r>
            <a:r>
              <a:rPr>
                <a:solidFill>
                  <a:schemeClr val="tx1"/>
                </a:solidFill>
              </a:rPr>
              <a:t> el </a:t>
            </a:r>
            <a:r>
              <a:rPr err="1">
                <a:solidFill>
                  <a:schemeClr val="tx1"/>
                </a:solidFill>
              </a:rPr>
              <a:t>cociente</a:t>
            </a:r>
            <a:r>
              <a:rPr>
                <a:solidFill>
                  <a:schemeClr val="tx1"/>
                </a:solidFill>
              </a:rPr>
              <a:t> del INPC entre </a:t>
            </a:r>
            <a:r>
              <a:rPr err="1">
                <a:solidFill>
                  <a:schemeClr val="tx1"/>
                </a:solidFill>
              </a:rPr>
              <a:t>diciembre</a:t>
            </a:r>
            <a:r>
              <a:rPr>
                <a:solidFill>
                  <a:schemeClr val="tx1"/>
                </a:solidFill>
              </a:rPr>
              <a:t> 2018 (103.02) y </a:t>
            </a:r>
            <a:r>
              <a:rPr err="1">
                <a:solidFill>
                  <a:schemeClr val="tx1"/>
                </a:solidFill>
              </a:rPr>
              <a:t>abril</a:t>
            </a:r>
            <a:r>
              <a:rPr>
                <a:solidFill>
                  <a:schemeClr val="tx1"/>
                </a:solidFill>
              </a:rPr>
              <a:t>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>
            <p:extLst>
              <p:ext uri="{D42A27DB-BD31-4B8C-83A1-F6EECF244321}">
                <p14:modId xmlns:p14="http://schemas.microsoft.com/office/powerpoint/2010/main" val="3946746744"/>
              </p:ext>
            </p:extLst>
          </p:nvPr>
        </p:nvGraphicFramePr>
        <p:xfrm>
          <a:off x="3884217" y="810539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0110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0110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>
                <a:solidFill>
                  <a:schemeClr val="tx1"/>
                </a:solidFill>
              </a:rPr>
              <a:t>enero-diciembre</a:t>
            </a:r>
            <a:r>
              <a:rPr>
                <a:solidFill>
                  <a:schemeClr val="tx1"/>
                </a:solidFill>
              </a:rPr>
              <a:t>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802436"/>
              </p:ext>
            </p:extLst>
          </p:nvPr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Unidades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r>
                        <a:t> </a:t>
                      </a:r>
                      <a:r>
                        <a:rPr err="1"/>
                        <a:t>Médica</a:t>
                      </a:r>
                      <a:r>
                        <a:t>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Brigada</a:t>
                      </a:r>
                      <a:r>
                        <a:t> </a:t>
                      </a:r>
                      <a:r>
                        <a:rPr err="1"/>
                        <a:t>Salud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r>
                        <a:t> </a:t>
                      </a:r>
                      <a:r>
                        <a:rPr err="1"/>
                        <a:t>Médica</a:t>
                      </a:r>
                      <a:r>
                        <a:t> </a:t>
                      </a:r>
                      <a:r>
                        <a:rPr err="1"/>
                        <a:t>Móvil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Centros</a:t>
                      </a:r>
                      <a:r>
                        <a:t> de </a:t>
                      </a:r>
                      <a:r>
                        <a:rPr err="1"/>
                        <a:t>Atención</a:t>
                      </a:r>
                      <a:r>
                        <a:t> Rural </a:t>
                      </a:r>
                      <a:r>
                        <a:rPr err="1"/>
                        <a:t>Obstétrica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415126"/>
              </p:ext>
            </p:extLst>
          </p:nvPr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Concepto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</a:t>
                      </a:r>
                      <a:r>
                        <a:rPr err="1"/>
                        <a:t>consultas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55,773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41,775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3,187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7,179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3,632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1,088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Egresos</a:t>
                      </a:r>
                      <a:r>
                        <a:t>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2,156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994785"/>
              </p:ext>
            </p:extLst>
          </p:nvPr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Disciplina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260394"/>
              </p:ext>
            </p:extLst>
          </p:nvPr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Concepto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Voluntarios</a:t>
                      </a:r>
                      <a:r>
                        <a:t> </a:t>
                      </a:r>
                      <a:r>
                        <a:rPr err="1"/>
                        <a:t>Rurales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Comités</a:t>
                      </a:r>
                      <a:r>
                        <a:t> de </a:t>
                      </a:r>
                      <a:r>
                        <a:rPr err="1"/>
                        <a:t>Salud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Integrantes</a:t>
                      </a:r>
                      <a:r>
                        <a:t> de </a:t>
                      </a:r>
                      <a:r>
                        <a:rPr err="1"/>
                        <a:t>Comités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Voluntarios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Parteras</a:t>
                      </a:r>
                      <a:r>
                        <a:t> </a:t>
                      </a:r>
                      <a:r>
                        <a:rPr err="1"/>
                        <a:t>Voluntarias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</a:t>
                      </a:r>
                      <a:r>
                        <a:rPr err="1"/>
                        <a:t>Programa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4452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0104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2752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73,004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1904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38,741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2400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34,263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4488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0104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4696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3,046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2984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4437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4437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55,773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4437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4437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778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5427</Words>
  <Application>Microsoft Office PowerPoint</Application>
  <PresentationFormat>Personalizado</PresentationFormat>
  <Paragraphs>2000</Paragraphs>
  <Slides>29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Montserrat</vt:lpstr>
      <vt:lpstr>Arial</vt:lpstr>
      <vt:lpstr>Noto Sans Black</vt:lpstr>
      <vt:lpstr>Calibri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Martinez Flores</dc:creator>
  <cp:lastModifiedBy>Norma Edith Jimenez Hernandez</cp:lastModifiedBy>
  <cp:revision>1</cp:revision>
  <dcterms:modified xsi:type="dcterms:W3CDTF">2026-07-03T21:47:34Z</dcterms:modified>
</cp:coreProperties>
</file>