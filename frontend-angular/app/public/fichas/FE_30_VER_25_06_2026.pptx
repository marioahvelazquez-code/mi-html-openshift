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drawings/drawing1.xml" ContentType="application/vnd.openxmlformats-officedocument.drawingml.chartshapes+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charts/chart8.xml" ContentType="application/vnd.openxmlformats-officedocument.drawingml.chart+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89" r:id="rId3"/>
    <p:sldId id="258" r:id="rId4"/>
    <p:sldId id="259" r:id="rId5"/>
    <p:sldId id="316" r:id="rId6"/>
    <p:sldId id="300" r:id="rId7"/>
    <p:sldId id="261" r:id="rId8"/>
    <p:sldId id="317" r:id="rId9"/>
    <p:sldId id="287" r:id="rId10"/>
    <p:sldId id="262" r:id="rId11"/>
    <p:sldId id="302" r:id="rId12"/>
    <p:sldId id="303" r:id="rId13"/>
    <p:sldId id="263" r:id="rId14"/>
    <p:sldId id="280" r:id="rId15"/>
    <p:sldId id="267" r:id="rId16"/>
    <p:sldId id="298" r:id="rId17"/>
    <p:sldId id="304" r:id="rId18"/>
    <p:sldId id="305" r:id="rId19"/>
    <p:sldId id="306" r:id="rId20"/>
    <p:sldId id="307" r:id="rId21"/>
    <p:sldId id="308" r:id="rId22"/>
    <p:sldId id="309" r:id="rId23"/>
    <p:sldId id="310" r:id="rId24"/>
    <p:sldId id="281" r:id="rId25"/>
    <p:sldId id="315" r:id="rId26"/>
    <p:sldId id="288" r:id="rId27"/>
    <p:sldId id="270" r:id="rId28"/>
    <p:sldId id="271" r:id="rId29"/>
    <p:sldId id="272" r:id="rId30"/>
    <p:sldId id="299" r:id="rId31"/>
    <p:sldId id="297" r:id="rId32"/>
    <p:sldId id="290" r:id="rId33"/>
    <p:sldId id="277" r:id="rId34"/>
    <p:sldId id="278" r:id="rId35"/>
    <p:sldId id="279" r:id="rId36"/>
    <p:sldId id="282" r:id="rId37"/>
  </p:sldIdLst>
  <p:sldSz cx="7772400" cy="10058400"/>
  <p:notesSz cx="6858000" cy="9144000"/>
  <p:embeddedFontLst>
    <p:embeddedFont>
      <p:font typeface="Montserrat" panose="00000500000000000000" pitchFamily="2" charset="0"/>
      <p:regular r:id="rId39"/>
      <p:bold r:id="rId40"/>
      <p:italic r:id="rId41"/>
      <p:boldItalic r:id="rId42"/>
    </p:embeddedFont>
    <p:embeddedFont>
      <p:font typeface="Noto Sans" panose="020B0502040504020204" pitchFamily="34" charset="0"/>
      <p:regular r:id="rId43"/>
      <p:bold r:id="rId44"/>
      <p:italic r:id="rId45"/>
      <p:boldItalic r:id="rId46"/>
    </p:embeddedFont>
    <p:embeddedFont>
      <p:font typeface="Noto Sans Black" panose="020B060402020202020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0000"/>
    <a:srgbClr val="D3E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F5C57-D57C-42FE-9F66-22D6089F23F4}" v="5" dt="2026-07-02T19:54:02.339"/>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759"/>
  </p:normalViewPr>
  <p:slideViewPr>
    <p:cSldViewPr snapToGrid="0">
      <p:cViewPr>
        <p:scale>
          <a:sx n="90" d="100"/>
          <a:sy n="90" d="100"/>
        </p:scale>
        <p:origin x="408" y="-47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Patricia Galvan Chavez" userId="6b13af50-ce8b-483e-8fc4-f994efaf3289" providerId="ADAL" clId="{655D084B-7DF1-4C24-9447-417D7DC498B8}"/>
    <pc:docChg chg="modSld">
      <pc:chgData name="Laura Patricia Galvan Chavez" userId="6b13af50-ce8b-483e-8fc4-f994efaf3289" providerId="ADAL" clId="{655D084B-7DF1-4C24-9447-417D7DC498B8}" dt="2026-07-02T22:49:50.221" v="4" actId="20577"/>
      <pc:docMkLst>
        <pc:docMk/>
      </pc:docMkLst>
      <pc:sldChg chg="modSp mod">
        <pc:chgData name="Laura Patricia Galvan Chavez" userId="6b13af50-ce8b-483e-8fc4-f994efaf3289" providerId="ADAL" clId="{655D084B-7DF1-4C24-9447-417D7DC498B8}" dt="2026-07-02T22:49:50.221" v="4" actId="20577"/>
        <pc:sldMkLst>
          <pc:docMk/>
          <pc:sldMk cId="30077326" sldId="290"/>
        </pc:sldMkLst>
        <pc:graphicFrameChg chg="modGraphic">
          <ac:chgData name="Laura Patricia Galvan Chavez" userId="6b13af50-ce8b-483e-8fc4-f994efaf3289" providerId="ADAL" clId="{655D084B-7DF1-4C24-9447-417D7DC498B8}" dt="2026-07-02T22:49:50.221" v="4" actId="20577"/>
          <ac:graphicFrameMkLst>
            <pc:docMk/>
            <pc:sldMk cId="30077326" sldId="290"/>
            <ac:graphicFrameMk id="20" creationId="{00000000-0000-0000-0000-000000000000}"/>
          </ac:graphicFrameMkLst>
        </pc:graphicFrameChg>
      </pc:sldChg>
      <pc:sldChg chg="modSp mod">
        <pc:chgData name="Laura Patricia Galvan Chavez" userId="6b13af50-ce8b-483e-8fc4-f994efaf3289" providerId="ADAL" clId="{655D084B-7DF1-4C24-9447-417D7DC498B8}" dt="2026-07-02T22:42:50.337" v="1" actId="14734"/>
        <pc:sldMkLst>
          <pc:docMk/>
          <pc:sldMk cId="0" sldId="300"/>
        </pc:sldMkLst>
        <pc:graphicFrameChg chg="modGraphic">
          <ac:chgData name="Laura Patricia Galvan Chavez" userId="6b13af50-ce8b-483e-8fc4-f994efaf3289" providerId="ADAL" clId="{655D084B-7DF1-4C24-9447-417D7DC498B8}" dt="2026-07-02T22:42:50.337" v="1" actId="14734"/>
          <ac:graphicFrameMkLst>
            <pc:docMk/>
            <pc:sldMk cId="0" sldId="300"/>
            <ac:graphicFrameMk id="5" creationId="{00000000-0000-0000-0000-000000000000}"/>
          </ac:graphicFrameMkLst>
        </pc:graphicFrameChg>
        <pc:graphicFrameChg chg="modGraphic">
          <ac:chgData name="Laura Patricia Galvan Chavez" userId="6b13af50-ce8b-483e-8fc4-f994efaf3289" providerId="ADAL" clId="{655D084B-7DF1-4C24-9447-417D7DC498B8}" dt="2026-07-02T22:42:44.488" v="0" actId="14734"/>
          <ac:graphicFrameMkLst>
            <pc:docMk/>
            <pc:sldMk cId="0" sldId="300"/>
            <ac:graphicFrameMk id="12"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931E-4D57-82EF-EE42414472B1}"/>
              </c:ext>
            </c:extLst>
          </c:dPt>
          <c:dPt>
            <c:idx val="1"/>
            <c:bubble3D val="0"/>
            <c:spPr>
              <a:solidFill>
                <a:schemeClr val="bg2">
                  <a:lumMod val="20000"/>
                  <a:lumOff val="80000"/>
                </a:schemeClr>
              </a:solidFill>
            </c:spPr>
            <c:extLst>
              <c:ext xmlns:c16="http://schemas.microsoft.com/office/drawing/2014/chart" uri="{C3380CC4-5D6E-409C-BE32-E72D297353CC}">
                <c16:uniqueId val="{00000003-931E-4D57-82EF-EE42414472B1}"/>
              </c:ext>
            </c:extLst>
          </c:dPt>
          <c:dPt>
            <c:idx val="2"/>
            <c:bubble3D val="0"/>
            <c:spPr>
              <a:solidFill>
                <a:srgbClr val="691C32"/>
              </a:solidFill>
            </c:spPr>
            <c:extLst>
              <c:ext xmlns:c16="http://schemas.microsoft.com/office/drawing/2014/chart" uri="{C3380CC4-5D6E-409C-BE32-E72D297353CC}">
                <c16:uniqueId val="{00000005-931E-4D57-82EF-EE42414472B1}"/>
              </c:ext>
            </c:extLst>
          </c:dPt>
          <c:dPt>
            <c:idx val="3"/>
            <c:bubble3D val="0"/>
            <c:spPr>
              <a:solidFill>
                <a:srgbClr val="BC955C"/>
              </a:solidFill>
            </c:spPr>
            <c:extLst>
              <c:ext xmlns:c16="http://schemas.microsoft.com/office/drawing/2014/chart" uri="{C3380CC4-5D6E-409C-BE32-E72D297353CC}">
                <c16:uniqueId val="{00000007-931E-4D57-82EF-EE42414472B1}"/>
              </c:ext>
            </c:extLst>
          </c:dPt>
          <c:dPt>
            <c:idx val="4"/>
            <c:bubble3D val="0"/>
            <c:spPr>
              <a:solidFill>
                <a:srgbClr val="9E9E9E"/>
              </a:solidFill>
            </c:spPr>
            <c:extLst>
              <c:ext xmlns:c16="http://schemas.microsoft.com/office/drawing/2014/chart" uri="{C3380CC4-5D6E-409C-BE32-E72D297353CC}">
                <c16:uniqueId val="{00000009-931E-4D57-82EF-EE42414472B1}"/>
              </c:ext>
            </c:extLst>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2910705</c:v>
                </c:pt>
                <c:pt idx="1">
                  <c:v>1449130</c:v>
                </c:pt>
                <c:pt idx="2">
                  <c:v>683285</c:v>
                </c:pt>
                <c:pt idx="3">
                  <c:v>2824110</c:v>
                </c:pt>
                <c:pt idx="4">
                  <c:v>244583</c:v>
                </c:pt>
              </c:numCache>
            </c:numRef>
          </c:val>
          <c:extLst>
            <c:ext xmlns:c16="http://schemas.microsoft.com/office/drawing/2014/chart" uri="{C3380CC4-5D6E-409C-BE32-E72D297353CC}">
              <c16:uniqueId val="{0000000A-931E-4D57-82EF-EE42414472B1}"/>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03C4-4CEB-98F8-03A2DAA00A07}"/>
              </c:ext>
            </c:extLst>
          </c:dPt>
          <c:dPt>
            <c:idx val="1"/>
            <c:bubble3D val="0"/>
            <c:spPr>
              <a:solidFill>
                <a:srgbClr val="EBE0D2"/>
              </a:solidFill>
              <a:ln>
                <a:noFill/>
              </a:ln>
            </c:spPr>
            <c:extLst>
              <c:ext xmlns:c16="http://schemas.microsoft.com/office/drawing/2014/chart" uri="{C3380CC4-5D6E-409C-BE32-E72D297353CC}">
                <c16:uniqueId val="{00000003-03C4-4CEB-98F8-03A2DAA00A07}"/>
              </c:ext>
            </c:extLst>
          </c:dPt>
          <c:cat>
            <c:strRef>
              <c:f>Sheet1!$A$2:$A$3</c:f>
              <c:strCache>
                <c:ptCount val="2"/>
                <c:pt idx="0">
                  <c:v>Avance</c:v>
                </c:pt>
                <c:pt idx="1">
                  <c:v>Restante</c:v>
                </c:pt>
              </c:strCache>
            </c:strRef>
          </c:cat>
          <c:val>
            <c:numRef>
              <c:f>Sheet1!$B$2:$B$3</c:f>
              <c:numCache>
                <c:formatCode>General</c:formatCode>
                <c:ptCount val="2"/>
                <c:pt idx="0">
                  <c:v>45.062253364990859</c:v>
                </c:pt>
                <c:pt idx="1">
                  <c:v>54.937746635009141</c:v>
                </c:pt>
              </c:numCache>
            </c:numRef>
          </c:val>
          <c:extLst>
            <c:ext xmlns:c16="http://schemas.microsoft.com/office/drawing/2014/chart" uri="{C3380CC4-5D6E-409C-BE32-E72D297353CC}">
              <c16:uniqueId val="{00000004-03C4-4CEB-98F8-03A2DAA00A07}"/>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4A0C-4CDB-89B4-772834B39339}"/>
              </c:ext>
            </c:extLst>
          </c:dPt>
          <c:dPt>
            <c:idx val="1"/>
            <c:bubble3D val="0"/>
            <c:spPr>
              <a:solidFill>
                <a:srgbClr val="EBE0D2"/>
              </a:solidFill>
              <a:ln>
                <a:noFill/>
              </a:ln>
            </c:spPr>
            <c:extLst>
              <c:ext xmlns:c16="http://schemas.microsoft.com/office/drawing/2014/chart" uri="{C3380CC4-5D6E-409C-BE32-E72D297353CC}">
                <c16:uniqueId val="{00000003-4A0C-4CDB-89B4-772834B39339}"/>
              </c:ext>
            </c:extLst>
          </c:dPt>
          <c:cat>
            <c:strRef>
              <c:f>Sheet1!$A$2:$A$3</c:f>
              <c:strCache>
                <c:ptCount val="2"/>
                <c:pt idx="0">
                  <c:v>Avance</c:v>
                </c:pt>
                <c:pt idx="1">
                  <c:v>Restante</c:v>
                </c:pt>
              </c:strCache>
            </c:strRef>
          </c:cat>
          <c:val>
            <c:numRef>
              <c:f>Sheet1!$B$2:$B$3</c:f>
              <c:numCache>
                <c:formatCode>General</c:formatCode>
                <c:ptCount val="2"/>
                <c:pt idx="0">
                  <c:v>12.351245130299999</c:v>
                </c:pt>
                <c:pt idx="1">
                  <c:v>87.648754869699999</c:v>
                </c:pt>
              </c:numCache>
            </c:numRef>
          </c:val>
          <c:extLst>
            <c:ext xmlns:c16="http://schemas.microsoft.com/office/drawing/2014/chart" uri="{C3380CC4-5D6E-409C-BE32-E72D297353CC}">
              <c16:uniqueId val="{00000004-4A0C-4CDB-89B4-772834B39339}"/>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F4D0-4ED3-A984-33554322368A}"/>
              </c:ext>
            </c:extLst>
          </c:dPt>
          <c:dPt>
            <c:idx val="1"/>
            <c:bubble3D val="0"/>
            <c:spPr>
              <a:solidFill>
                <a:srgbClr val="EBE0D2"/>
              </a:solidFill>
              <a:ln>
                <a:noFill/>
              </a:ln>
            </c:spPr>
            <c:extLst>
              <c:ext xmlns:c16="http://schemas.microsoft.com/office/drawing/2014/chart" uri="{C3380CC4-5D6E-409C-BE32-E72D297353CC}">
                <c16:uniqueId val="{00000003-F4D0-4ED3-A984-33554322368A}"/>
              </c:ext>
            </c:extLst>
          </c:dPt>
          <c:cat>
            <c:strRef>
              <c:f>Sheet1!$A$2:$A$3</c:f>
              <c:strCache>
                <c:ptCount val="2"/>
                <c:pt idx="0">
                  <c:v>Avance</c:v>
                </c:pt>
                <c:pt idx="1">
                  <c:v>Restante</c:v>
                </c:pt>
              </c:strCache>
            </c:strRef>
          </c:cat>
          <c:val>
            <c:numRef>
              <c:f>Sheet1!$B$2:$B$3</c:f>
              <c:numCache>
                <c:formatCode>General</c:formatCode>
                <c:ptCount val="2"/>
                <c:pt idx="0">
                  <c:v>42.11</c:v>
                </c:pt>
                <c:pt idx="1">
                  <c:v>57.89</c:v>
                </c:pt>
              </c:numCache>
            </c:numRef>
          </c:val>
          <c:extLst>
            <c:ext xmlns:c16="http://schemas.microsoft.com/office/drawing/2014/chart" uri="{C3380CC4-5D6E-409C-BE32-E72D297353CC}">
              <c16:uniqueId val="{00000004-F4D0-4ED3-A984-33554322368A}"/>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73A1-4128-B8EA-BC247177779E}"/>
              </c:ext>
            </c:extLst>
          </c:dPt>
          <c:dPt>
            <c:idx val="1"/>
            <c:bubble3D val="0"/>
            <c:spPr>
              <a:solidFill>
                <a:srgbClr val="EBE0D2"/>
              </a:solidFill>
              <a:ln>
                <a:noFill/>
              </a:ln>
            </c:spPr>
            <c:extLst>
              <c:ext xmlns:c16="http://schemas.microsoft.com/office/drawing/2014/chart" uri="{C3380CC4-5D6E-409C-BE32-E72D297353CC}">
                <c16:uniqueId val="{00000003-73A1-4128-B8EA-BC247177779E}"/>
              </c:ext>
            </c:extLst>
          </c:dPt>
          <c:cat>
            <c:strRef>
              <c:f>Sheet1!$A$2:$A$3</c:f>
              <c:strCache>
                <c:ptCount val="2"/>
                <c:pt idx="0">
                  <c:v>Avance</c:v>
                </c:pt>
                <c:pt idx="1">
                  <c:v>Restante</c:v>
                </c:pt>
              </c:strCache>
            </c:strRef>
          </c:cat>
          <c:val>
            <c:numRef>
              <c:f>Sheet1!$B$2:$B$3</c:f>
              <c:numCache>
                <c:formatCode>General</c:formatCode>
                <c:ptCount val="2"/>
                <c:pt idx="0">
                  <c:v>37.26</c:v>
                </c:pt>
                <c:pt idx="1">
                  <c:v>62.74</c:v>
                </c:pt>
              </c:numCache>
            </c:numRef>
          </c:val>
          <c:extLst>
            <c:ext xmlns:c16="http://schemas.microsoft.com/office/drawing/2014/chart" uri="{C3380CC4-5D6E-409C-BE32-E72D297353CC}">
              <c16:uniqueId val="{00000004-73A1-4128-B8EA-BC247177779E}"/>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A48A-4AED-B1DC-756294857B92}"/>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209</c:v>
                </c:pt>
                <c:pt idx="1">
                  <c:v>380</c:v>
                </c:pt>
                <c:pt idx="2">
                  <c:v>358</c:v>
                </c:pt>
                <c:pt idx="3">
                  <c:v>345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48A-4AED-B1DC-756294857B92}"/>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 de la Construcción</c:v>
                </c:pt>
                <c:pt idx="2">
                  <c:v>Industrias de la Transformación</c:v>
                </c:pt>
                <c:pt idx="3">
                  <c:v>Servicios Sociales y Comunales</c:v>
                </c:pt>
                <c:pt idx="4">
                  <c:v>Comercio</c:v>
                </c:pt>
                <c:pt idx="5">
                  <c:v>Servicios para Empresas, Personas y el Hogar</c:v>
                </c:pt>
                <c:pt idx="6">
                  <c:v>Transportes y Comunicaciones</c:v>
                </c:pt>
                <c:pt idx="7">
                  <c:v>Ind Eléctrica y Captación y Suministro de Agua Potable</c:v>
                </c:pt>
                <c:pt idx="8">
                  <c:v>Industrias Extractivas</c:v>
                </c:pt>
              </c:strCache>
            </c:strRef>
          </c:cat>
          <c:val>
            <c:numRef>
              <c:f>Sheet1!$B$2:$B$10</c:f>
              <c:numCache>
                <c:formatCode>General</c:formatCode>
                <c:ptCount val="9"/>
                <c:pt idx="0">
                  <c:v>44787</c:v>
                </c:pt>
                <c:pt idx="1">
                  <c:v>68132</c:v>
                </c:pt>
                <c:pt idx="2">
                  <c:v>95826</c:v>
                </c:pt>
                <c:pt idx="3">
                  <c:v>172713</c:v>
                </c:pt>
                <c:pt idx="4">
                  <c:v>197261</c:v>
                </c:pt>
                <c:pt idx="5">
                  <c:v>114974</c:v>
                </c:pt>
                <c:pt idx="6">
                  <c:v>59229</c:v>
                </c:pt>
                <c:pt idx="7">
                  <c:v>13781</c:v>
                </c:pt>
                <c:pt idx="8">
                  <c:v>3667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FEA-4F4A-BD25-90077916D19D}"/>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 de la Construcción</c:v>
                </c:pt>
                <c:pt idx="2">
                  <c:v>Industrias de la Transformación</c:v>
                </c:pt>
                <c:pt idx="3">
                  <c:v>Servicios Sociales y Comunales</c:v>
                </c:pt>
                <c:pt idx="4">
                  <c:v>Comercio</c:v>
                </c:pt>
                <c:pt idx="5">
                  <c:v>Servicios para Empresas, Personas y el Hogar</c:v>
                </c:pt>
                <c:pt idx="6">
                  <c:v>Transportes y Comunicaciones</c:v>
                </c:pt>
                <c:pt idx="7">
                  <c:v>Ind Eléctrica y Captación y Suministro de Agua Potable</c:v>
                </c:pt>
                <c:pt idx="8">
                  <c:v>Industrias Extractivas</c:v>
                </c:pt>
              </c:strCache>
            </c:strRef>
          </c:cat>
          <c:val>
            <c:numRef>
              <c:f>Sheet1!$C$2:$C$10</c:f>
              <c:numCache>
                <c:formatCode>General</c:formatCode>
                <c:ptCount val="9"/>
                <c:pt idx="0">
                  <c:v>44107</c:v>
                </c:pt>
                <c:pt idx="1">
                  <c:v>67114</c:v>
                </c:pt>
                <c:pt idx="2">
                  <c:v>95726</c:v>
                </c:pt>
                <c:pt idx="3">
                  <c:v>173350</c:v>
                </c:pt>
                <c:pt idx="4">
                  <c:v>198742</c:v>
                </c:pt>
                <c:pt idx="5">
                  <c:v>115981</c:v>
                </c:pt>
                <c:pt idx="6">
                  <c:v>59750</c:v>
                </c:pt>
                <c:pt idx="7">
                  <c:v>13956</c:v>
                </c:pt>
                <c:pt idx="8">
                  <c:v>3780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FEA-4F4A-BD25-90077916D19D}"/>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741109</c:v>
                </c:pt>
                <c:pt idx="1">
                  <c:v>751068</c:v>
                </c:pt>
                <c:pt idx="2">
                  <c:v>721600</c:v>
                </c:pt>
                <c:pt idx="3">
                  <c:v>716315</c:v>
                </c:pt>
                <c:pt idx="4">
                  <c:v>738414</c:v>
                </c:pt>
                <c:pt idx="5">
                  <c:v>754613</c:v>
                </c:pt>
                <c:pt idx="6">
                  <c:v>780023</c:v>
                </c:pt>
                <c:pt idx="7">
                  <c:v>770370</c:v>
                </c:pt>
                <c:pt idx="8">
                  <c:v>772506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0D1-407A-911C-3EEB11EE9651}"/>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cdr:x>
      <cdr:y>0.38055</cdr:y>
    </cdr:from>
    <cdr:to>
      <cdr:x>1</cdr:x>
      <cdr:y>0.58055</cdr:y>
    </cdr:to>
    <cdr:sp macro="" textlink="">
      <cdr:nvSpPr>
        <cdr:cNvPr id="2" name="TextBox 8">
          <a:extLst xmlns:a="http://schemas.openxmlformats.org/drawingml/2006/main">
            <a:ext uri="{FF2B5EF4-FFF2-40B4-BE49-F238E27FC236}">
              <a16:creationId xmlns:a16="http://schemas.microsoft.com/office/drawing/2014/main" id="{74C52626-33F6-E7EE-02D9-95857D4C8C3E}"/>
            </a:ext>
          </a:extLst>
        </cdr:cNvPr>
        <cdr:cNvSpPr txBox="1"/>
      </cdr:nvSpPr>
      <cdr:spPr>
        <a:xfrm xmlns:a="http://schemas.openxmlformats.org/drawingml/2006/main">
          <a:off x="0" y="684983"/>
          <a:ext cx="1800000" cy="360000"/>
        </a:xfrm>
        <a:prstGeom xmlns:a="http://schemas.openxmlformats.org/drawingml/2006/main" prst="rect">
          <a:avLst/>
        </a:prstGeom>
        <a:noFill xmlns:a="http://schemas.openxmlformats.org/drawingml/2006/main"/>
      </cdr:spPr>
      <cdr:txBody>
        <a:bodyPr xmlns:a="http://schemas.openxmlformats.org/drawingml/2006/main" wrap="none">
          <a:spAutoFit/>
        </a:bodyPr>
        <a:lstStyle xmlns:a="http://schemas.openxmlformats.org/drawingml/2006/main">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xmlns:a="http://schemas.openxmlformats.org/drawingml/2006/main">
          <a:pPr algn="ctr"/>
          <a:r>
            <a:rPr sz="2400" b="1" dirty="0">
              <a:solidFill>
                <a:srgbClr val="9F2241"/>
              </a:solidFill>
              <a:latin typeface="Montserrat"/>
            </a:rPr>
            <a:t>42.1%</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32</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hart" Target="../charts/chart1.xml"/><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chart" Target="../charts/chart6.xml"/><Relationship Id="rId4" Type="http://schemas.openxmlformats.org/officeDocument/2006/relationships/image" Target="../media/image21.png"/><Relationship Id="rId9"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0.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Veracruz</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dirty="0" err="1"/>
              <a:t>Ficha</a:t>
            </a:r>
            <a:r>
              <a:rPr dirty="0"/>
              <a:t> Estatal</a:t>
            </a:r>
          </a:p>
          <a:p>
            <a:pPr algn="ctr">
              <a:defRPr sz="1500" b="1">
                <a:solidFill>
                  <a:srgbClr val="7F7F7F"/>
                </a:solidFill>
                <a:latin typeface="Montserrat"/>
              </a:defRPr>
            </a:pPr>
            <a:r>
              <a:rPr dirty="0"/>
              <a:t>Ju</a:t>
            </a:r>
            <a:r>
              <a:rPr lang="es-MX" dirty="0"/>
              <a:t>l</a:t>
            </a:r>
            <a:r>
              <a:rPr dirty="0"/>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 name="Tabla 3">
            <a:extLst>
              <a:ext uri="{FF2B5EF4-FFF2-40B4-BE49-F238E27FC236}">
                <a16:creationId xmlns:a16="http://schemas.microsoft.com/office/drawing/2014/main" id="{284EC34D-BFC4-C35B-1020-65BE4A6A779E}"/>
              </a:ext>
            </a:extLst>
          </p:cNvPr>
          <p:cNvGraphicFramePr>
            <a:graphicFrameLocks noGrp="1"/>
          </p:cNvGraphicFramePr>
          <p:nvPr>
            <p:extLst>
              <p:ext uri="{D42A27DB-BD31-4B8C-83A1-F6EECF244321}">
                <p14:modId xmlns:p14="http://schemas.microsoft.com/office/powerpoint/2010/main" val="744593215"/>
              </p:ext>
            </p:extLst>
          </p:nvPr>
        </p:nvGraphicFramePr>
        <p:xfrm>
          <a:off x="95533" y="3166538"/>
          <a:ext cx="7405571" cy="6217920"/>
        </p:xfrm>
        <a:graphic>
          <a:graphicData uri="http://schemas.openxmlformats.org/drawingml/2006/table">
            <a:tbl>
              <a:tblPr/>
              <a:tblGrid>
                <a:gridCol w="2647666">
                  <a:extLst>
                    <a:ext uri="{9D8B030D-6E8A-4147-A177-3AD203B41FA5}">
                      <a16:colId xmlns:a16="http://schemas.microsoft.com/office/drawing/2014/main" val="960513752"/>
                    </a:ext>
                  </a:extLst>
                </a:gridCol>
                <a:gridCol w="1726402">
                  <a:extLst>
                    <a:ext uri="{9D8B030D-6E8A-4147-A177-3AD203B41FA5}">
                      <a16:colId xmlns:a16="http://schemas.microsoft.com/office/drawing/2014/main" val="2189868258"/>
                    </a:ext>
                  </a:extLst>
                </a:gridCol>
                <a:gridCol w="3031503">
                  <a:extLst>
                    <a:ext uri="{9D8B030D-6E8A-4147-A177-3AD203B41FA5}">
                      <a16:colId xmlns:a16="http://schemas.microsoft.com/office/drawing/2014/main" val="1979758946"/>
                    </a:ext>
                  </a:extLst>
                </a:gridCol>
              </a:tblGrid>
              <a:tr h="997345">
                <a:tc>
                  <a:txBody>
                    <a:bodyPr/>
                    <a:lstStyle/>
                    <a:p>
                      <a:pPr marL="35992" marR="35992" rtl="0" fontAlgn="ctr">
                        <a:buNone/>
                      </a:pPr>
                      <a:endParaRPr lang="es-MX" sz="1000" b="1" i="0" u="none" strike="noStrike" dirty="0">
                        <a:solidFill>
                          <a:srgbClr val="000000"/>
                        </a:solidFill>
                        <a:effectLst/>
                        <a:latin typeface="Montserrat" panose="00000500000000000000" pitchFamily="2" charset="0"/>
                      </a:endParaRPr>
                    </a:p>
                    <a:p>
                      <a:pPr marL="35992" marR="35992" rtl="0" fontAlgn="ctr">
                        <a:buNone/>
                      </a:pPr>
                      <a:r>
                        <a:rPr lang="es-MX" sz="1000" b="1" i="0" u="none" strike="noStrike" dirty="0">
                          <a:solidFill>
                            <a:srgbClr val="000000"/>
                          </a:solidFill>
                          <a:effectLst/>
                          <a:latin typeface="Montserrat" panose="00000500000000000000" pitchFamily="2" charset="0"/>
                        </a:rPr>
                        <a:t>Dra. María Eugenia Galindo </a:t>
                      </a:r>
                      <a:r>
                        <a:rPr lang="es-MX" sz="1000" b="1" i="0" u="none" strike="noStrike" dirty="0" err="1">
                          <a:solidFill>
                            <a:srgbClr val="000000"/>
                          </a:solidFill>
                          <a:effectLst/>
                          <a:latin typeface="Montserrat" panose="00000500000000000000" pitchFamily="2" charset="0"/>
                        </a:rPr>
                        <a:t>Mimendi</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Licenciatura :Médico Cirujano, Doctorado en Ciencias Administrativas con Gestión en Salud</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Inicio en el cargo: 16 de abril de 2026</a:t>
                      </a:r>
                      <a:endParaRPr lang="es-MX" sz="1000" dirty="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35992" marR="35992" algn="ctr" rtl="0" fontAlgn="ctr">
                        <a:buNone/>
                      </a:pPr>
                      <a:r>
                        <a:rPr lang="es-MX" sz="1000" b="1" i="0" u="none" strike="noStrike" dirty="0">
                          <a:solidFill>
                            <a:srgbClr val="FFFFFF"/>
                          </a:solidFill>
                          <a:effectLst/>
                          <a:latin typeface="Montserrat" panose="00000500000000000000" pitchFamily="2" charset="0"/>
                        </a:rPr>
                        <a:t>Jefatura de Servicios de Prestaciones Médicas</a:t>
                      </a:r>
                      <a:endParaRPr lang="es-MX" sz="1000" dirty="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endParaRPr lang="es-MX" sz="1000" b="1" i="0" u="none" strike="noStrike">
                        <a:solidFill>
                          <a:srgbClr val="000000"/>
                        </a:solidFill>
                        <a:effectLst/>
                        <a:latin typeface="Montserrat" panose="00000500000000000000" pitchFamily="2" charset="0"/>
                      </a:endParaRPr>
                    </a:p>
                    <a:p>
                      <a:pPr marL="35992" marR="35992" rtl="0" fontAlgn="ctr">
                        <a:buNone/>
                      </a:pPr>
                      <a:r>
                        <a:rPr lang="es-MX" sz="1000" b="1" i="0" u="none" strike="noStrike">
                          <a:solidFill>
                            <a:srgbClr val="000000"/>
                          </a:solidFill>
                          <a:effectLst/>
                          <a:latin typeface="Montserrat" panose="00000500000000000000" pitchFamily="2" charset="0"/>
                        </a:rPr>
                        <a:t>Dr. Luis Arturo García Vazquez</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 Medicina, con especialidad en Médico familiar, Maestría en Administración de Instituciones de Salud</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16 de enero de 2021</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37686024"/>
                  </a:ext>
                </a:extLst>
              </a:tr>
              <a:tr h="603656">
                <a:tc>
                  <a:txBody>
                    <a:bodyPr/>
                    <a:lstStyle/>
                    <a:p>
                      <a:pPr marL="35992" marR="35992" rtl="0" fontAlgn="ctr">
                        <a:buNone/>
                      </a:pPr>
                      <a:r>
                        <a:rPr lang="es-MX" sz="1000" b="1" i="0" u="none" strike="noStrike" dirty="0">
                          <a:solidFill>
                            <a:srgbClr val="000000"/>
                          </a:solidFill>
                          <a:effectLst/>
                          <a:latin typeface="Montserrat" panose="00000500000000000000" pitchFamily="2" charset="0"/>
                        </a:rPr>
                        <a:t>Dr. Humberto González Garibaldi</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Licenciatura: Cirujano Dentista</a:t>
                      </a:r>
                    </a:p>
                    <a:p>
                      <a:pPr marL="35992" marR="35992" rtl="0" fontAlgn="ctr">
                        <a:buNone/>
                      </a:pPr>
                      <a:r>
                        <a:rPr lang="es-MX" sz="1000" b="0" i="0" u="none" strike="noStrike" dirty="0">
                          <a:solidFill>
                            <a:srgbClr val="000000"/>
                          </a:solidFill>
                          <a:effectLst/>
                          <a:latin typeface="Montserrat" panose="00000500000000000000" pitchFamily="2" charset="0"/>
                        </a:rPr>
                        <a:t>Maestría en Alta Dirección y Gestión Administrativa</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Inicio en el cargo: 1 de enero 2024</a:t>
                      </a:r>
                      <a:endParaRPr lang="es-MX" sz="1000" dirty="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de Salud en el Trabajo, Prestaciones Económicas y Sociales</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a:solidFill>
                            <a:srgbClr val="000000"/>
                          </a:solidFill>
                          <a:effectLst/>
                          <a:latin typeface="Montserrat" panose="00000500000000000000" pitchFamily="2" charset="0"/>
                        </a:rPr>
                        <a:t>Mtra. Yareli Betancourt Rodriguez</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Maestría en Economía Ambiental y Ecológica</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 de enero 2024</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extLst>
                  <a:ext uri="{0D108BD9-81ED-4DB2-BD59-A6C34878D82A}">
                    <a16:rowId xmlns:a16="http://schemas.microsoft.com/office/drawing/2014/main" val="3264356951"/>
                  </a:ext>
                </a:extLst>
              </a:tr>
              <a:tr h="603656">
                <a:tc>
                  <a:txBody>
                    <a:bodyPr/>
                    <a:lstStyle/>
                    <a:p>
                      <a:pPr marL="35992" marR="35992" rtl="0" fontAlgn="ctr">
                        <a:buNone/>
                      </a:pPr>
                      <a:r>
                        <a:rPr lang="es-MX" sz="1000" b="1" i="0" u="none" strike="noStrike" dirty="0">
                          <a:solidFill>
                            <a:srgbClr val="000000"/>
                          </a:solidFill>
                          <a:effectLst/>
                          <a:latin typeface="Montserrat" panose="00000500000000000000" pitchFamily="2" charset="0"/>
                        </a:rPr>
                        <a:t>Mtra. Ligia Michelle Zárate Castillo</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Licenciatura en Administración</a:t>
                      </a:r>
                    </a:p>
                    <a:p>
                      <a:pPr marL="35992" marR="35992" rtl="0" fontAlgn="ctr">
                        <a:buNone/>
                      </a:pPr>
                      <a:r>
                        <a:rPr lang="es-MX" sz="1000" b="0" i="0" u="none" strike="noStrike" dirty="0">
                          <a:solidFill>
                            <a:srgbClr val="000000"/>
                          </a:solidFill>
                          <a:effectLst/>
                          <a:latin typeface="Montserrat" panose="00000500000000000000" pitchFamily="2" charset="0"/>
                        </a:rPr>
                        <a:t>Maestría en Derecho Fiscal</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Inicio en el cargo: 27 de marzo de 2026</a:t>
                      </a:r>
                      <a:endParaRPr lang="es-MX" sz="1000" dirty="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de Afiliación y Cobranza</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dirty="0">
                          <a:solidFill>
                            <a:srgbClr val="000000"/>
                          </a:solidFill>
                          <a:effectLst/>
                          <a:latin typeface="Montserrat" panose="00000500000000000000" pitchFamily="2" charset="0"/>
                        </a:rPr>
                        <a:t>Dr. Erick Sánchez Lucho</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Doctorado en Derecho, Maestría en Política y Gestión Pública</a:t>
                      </a:r>
                      <a:endParaRPr lang="es-MX" sz="1000" dirty="0">
                        <a:effectLst/>
                      </a:endParaRPr>
                    </a:p>
                    <a:p>
                      <a:pPr marL="35992" marR="35992" rtl="0" fontAlgn="ctr">
                        <a:buNone/>
                      </a:pPr>
                      <a:r>
                        <a:rPr lang="es-MX" sz="1000" b="0" i="0" u="none" strike="noStrike" dirty="0">
                          <a:solidFill>
                            <a:srgbClr val="000000"/>
                          </a:solidFill>
                          <a:effectLst/>
                          <a:latin typeface="Montserrat" panose="00000500000000000000" pitchFamily="2" charset="0"/>
                        </a:rPr>
                        <a:t>Inicio en el cargo: 16 de febrero 2023</a:t>
                      </a:r>
                      <a:endParaRPr lang="es-MX" sz="1000" dirty="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175704308"/>
                  </a:ext>
                </a:extLst>
              </a:tr>
              <a:tr h="603656">
                <a:tc>
                  <a:txBody>
                    <a:bodyPr/>
                    <a:lstStyle/>
                    <a:p>
                      <a:pPr marL="35992" marR="35992" rtl="0" fontAlgn="ctr">
                        <a:buNone/>
                      </a:pPr>
                      <a:r>
                        <a:rPr lang="es-MX" sz="1000" b="1" i="0" u="none" strike="noStrike">
                          <a:solidFill>
                            <a:srgbClr val="000000"/>
                          </a:solidFill>
                          <a:effectLst/>
                          <a:latin typeface="Montserrat" panose="00000500000000000000" pitchFamily="2" charset="0"/>
                        </a:rPr>
                        <a:t>Mtra. Karla Yaret Maldonado Díaz</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Derecho, Maestría en Derecho</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 de febrero 2025</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de Desarrollo de Personal</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a:solidFill>
                            <a:srgbClr val="000000"/>
                          </a:solidFill>
                          <a:effectLst/>
                          <a:latin typeface="Montserrat" panose="00000500000000000000" pitchFamily="2" charset="0"/>
                        </a:rPr>
                        <a:t>Lic. Ismael González Sánchez</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en Contaduría </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 de abril 2023</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extLst>
                  <a:ext uri="{0D108BD9-81ED-4DB2-BD59-A6C34878D82A}">
                    <a16:rowId xmlns:a16="http://schemas.microsoft.com/office/drawing/2014/main" val="3958614094"/>
                  </a:ext>
                </a:extLst>
              </a:tr>
              <a:tr h="603656">
                <a:tc>
                  <a:txBody>
                    <a:bodyPr/>
                    <a:lstStyle/>
                    <a:p>
                      <a:pPr marL="35992" marR="35992" rtl="0" fontAlgn="ctr">
                        <a:buNone/>
                      </a:pPr>
                      <a:r>
                        <a:rPr lang="es-MX" sz="1000" b="1" i="0" u="none" strike="noStrike">
                          <a:solidFill>
                            <a:srgbClr val="000000"/>
                          </a:solidFill>
                          <a:effectLst/>
                          <a:latin typeface="Montserrat" panose="00000500000000000000" pitchFamily="2" charset="0"/>
                        </a:rPr>
                        <a:t>LC. Manuel Domínguez Mendoza</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Contaduría</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 de agosto 2025</a:t>
                      </a:r>
                      <a:br>
                        <a:rPr lang="es-MX" sz="1000">
                          <a:effectLst/>
                        </a:rPr>
                      </a:b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de Finanzas</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a:solidFill>
                            <a:srgbClr val="000000"/>
                          </a:solidFill>
                          <a:effectLst/>
                          <a:latin typeface="Montserrat" panose="00000500000000000000" pitchFamily="2" charset="0"/>
                        </a:rPr>
                        <a:t>Lic. Esli Queren Martínez Hernández</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en Contaduría</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16 de enero 2023</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52618207"/>
                  </a:ext>
                </a:extLst>
              </a:tr>
              <a:tr h="472426">
                <a:tc>
                  <a:txBody>
                    <a:bodyPr/>
                    <a:lstStyle/>
                    <a:p>
                      <a:pPr marL="35992" marR="35992" rtl="0" fontAlgn="ctr">
                        <a:buNone/>
                      </a:pPr>
                      <a:r>
                        <a:rPr lang="es-MX" sz="1000" b="1" i="0" u="none" strike="noStrike">
                          <a:solidFill>
                            <a:srgbClr val="000000"/>
                          </a:solidFill>
                          <a:effectLst/>
                          <a:latin typeface="Montserrat" panose="00000500000000000000" pitchFamily="2" charset="0"/>
                        </a:rPr>
                        <a:t>Arq. Mayumi Mendoza Cañedo</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Arquitectura</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4 de febrero 2025</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Administrativos</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a:solidFill>
                            <a:srgbClr val="000000"/>
                          </a:solidFill>
                          <a:effectLst/>
                          <a:latin typeface="Montserrat" panose="00000500000000000000" pitchFamily="2" charset="0"/>
                        </a:rPr>
                        <a:t>Mtra. Lorenza Bonilla Cervantes</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Maestría en Gobierno y Asuntos Públicos</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12 de febrero 2025</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EEEE"/>
                    </a:solidFill>
                  </a:tcPr>
                </a:tc>
                <a:extLst>
                  <a:ext uri="{0D108BD9-81ED-4DB2-BD59-A6C34878D82A}">
                    <a16:rowId xmlns:a16="http://schemas.microsoft.com/office/drawing/2014/main" val="287731933"/>
                  </a:ext>
                </a:extLst>
              </a:tr>
              <a:tr h="602958">
                <a:tc>
                  <a:txBody>
                    <a:bodyPr/>
                    <a:lstStyle/>
                    <a:p>
                      <a:pPr marL="35992" marR="35992" rtl="0" fontAlgn="ctr">
                        <a:buNone/>
                      </a:pPr>
                      <a:r>
                        <a:rPr lang="es-MX" sz="1000" b="1" i="0" u="none" strike="noStrike">
                          <a:solidFill>
                            <a:srgbClr val="000000"/>
                          </a:solidFill>
                          <a:effectLst/>
                          <a:latin typeface="Montserrat" panose="00000500000000000000" pitchFamily="2" charset="0"/>
                        </a:rPr>
                        <a:t>Mtro. Hugo Cristian Mora Mavil</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Licenciatura: Derecho, Maestría en Derecho</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16 de junio 2020</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35992" marR="35992" algn="ctr" rtl="0" fontAlgn="ctr">
                        <a:buNone/>
                      </a:pPr>
                      <a:r>
                        <a:rPr lang="es-MX" sz="1000" b="1" i="0" u="none" strike="noStrike">
                          <a:solidFill>
                            <a:srgbClr val="FFFFFF"/>
                          </a:solidFill>
                          <a:effectLst/>
                          <a:latin typeface="Montserrat" panose="00000500000000000000" pitchFamily="2" charset="0"/>
                        </a:rPr>
                        <a:t>Jefatura de Servicios Jurídicos</a:t>
                      </a: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6858"/>
                    </a:solidFill>
                  </a:tcPr>
                </a:tc>
                <a:tc>
                  <a:txBody>
                    <a:bodyPr/>
                    <a:lstStyle/>
                    <a:p>
                      <a:pPr marL="35992" marR="35992" rtl="0" fontAlgn="ctr">
                        <a:buNone/>
                      </a:pPr>
                      <a:r>
                        <a:rPr lang="es-MX" sz="1000" b="1" i="0" u="none" strike="noStrike">
                          <a:solidFill>
                            <a:srgbClr val="000000"/>
                          </a:solidFill>
                          <a:effectLst/>
                          <a:latin typeface="Montserrat" panose="00000500000000000000" pitchFamily="2" charset="0"/>
                        </a:rPr>
                        <a:t>Mtro. Angel Ulises Romero Gil</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Maestría en Derechos Humanos y Juicios de Amparo</a:t>
                      </a:r>
                      <a:endParaRPr lang="es-MX" sz="1000">
                        <a:effectLst/>
                      </a:endParaRPr>
                    </a:p>
                    <a:p>
                      <a:pPr marL="35992" marR="35992" rtl="0" fontAlgn="ctr">
                        <a:buNone/>
                      </a:pPr>
                      <a:r>
                        <a:rPr lang="es-MX" sz="1000" b="0" i="0" u="none" strike="noStrike">
                          <a:solidFill>
                            <a:srgbClr val="000000"/>
                          </a:solidFill>
                          <a:effectLst/>
                          <a:latin typeface="Montserrat" panose="00000500000000000000" pitchFamily="2" charset="0"/>
                        </a:rPr>
                        <a:t>Inicio en el cargo: 2 de marzo 2020</a:t>
                      </a:r>
                      <a:endParaRPr lang="es-MX" sz="1000">
                        <a:effectLst/>
                      </a:endParaRP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30457560"/>
                  </a:ext>
                </a:extLst>
              </a:tr>
              <a:tr h="603656">
                <a:tc>
                  <a:txBody>
                    <a:bodyPr/>
                    <a:lstStyle/>
                    <a:p>
                      <a:pPr marL="35992" marR="35992" algn="l" rtl="0" fontAlgn="ctr">
                        <a:lnSpc>
                          <a:spcPct val="100000"/>
                        </a:lnSpc>
                        <a:spcBef>
                          <a:spcPts val="0"/>
                        </a:spcBef>
                        <a:spcAft>
                          <a:spcPts val="0"/>
                        </a:spcAft>
                        <a:buClr>
                          <a:srgbClr val="000000"/>
                        </a:buClr>
                        <a:buFont typeface="Arial"/>
                        <a:buNone/>
                      </a:pPr>
                      <a:r>
                        <a:rPr lang="es-MX" sz="1000" b="1" i="0" u="none" strike="noStrike" cap="none">
                          <a:solidFill>
                            <a:srgbClr val="000000"/>
                          </a:solidFill>
                          <a:effectLst/>
                          <a:latin typeface="Montserrat" panose="00000500000000000000" pitchFamily="2" charset="0"/>
                          <a:ea typeface="+mn-ea"/>
                          <a:cs typeface="+mn-cs"/>
                          <a:sym typeface="Arial"/>
                        </a:rPr>
                        <a:t>Jesús </a:t>
                      </a:r>
                      <a:r>
                        <a:rPr lang="es-MX" sz="1000" b="1" i="0" u="none" strike="noStrike" cap="none" err="1">
                          <a:solidFill>
                            <a:srgbClr val="000000"/>
                          </a:solidFill>
                          <a:effectLst/>
                          <a:latin typeface="Montserrat" panose="00000500000000000000" pitchFamily="2" charset="0"/>
                          <a:ea typeface="+mn-ea"/>
                          <a:cs typeface="+mn-cs"/>
                          <a:sym typeface="Arial"/>
                        </a:rPr>
                        <a:t>Feluel</a:t>
                      </a:r>
                      <a:r>
                        <a:rPr lang="es-MX" sz="1000" b="1" i="0" u="none" strike="noStrike" cap="none">
                          <a:solidFill>
                            <a:srgbClr val="000000"/>
                          </a:solidFill>
                          <a:effectLst/>
                          <a:latin typeface="Montserrat" panose="00000500000000000000" pitchFamily="2" charset="0"/>
                          <a:ea typeface="+mn-ea"/>
                          <a:cs typeface="+mn-cs"/>
                          <a:sym typeface="Arial"/>
                        </a:rPr>
                        <a:t> Zapata Aguirre</a:t>
                      </a:r>
                    </a:p>
                    <a:p>
                      <a:pPr marL="35992" marR="35992" algn="l" rtl="0" fontAlgn="ctr">
                        <a:lnSpc>
                          <a:spcPct val="100000"/>
                        </a:lnSpc>
                        <a:spcBef>
                          <a:spcPts val="0"/>
                        </a:spcBef>
                        <a:spcAft>
                          <a:spcPts val="0"/>
                        </a:spcAft>
                        <a:buClr>
                          <a:srgbClr val="000000"/>
                        </a:buClr>
                        <a:buFont typeface="Arial"/>
                        <a:buNone/>
                      </a:pPr>
                      <a:r>
                        <a:rPr lang="es-MX" sz="1000" b="0" i="0" u="none" strike="noStrike" cap="none">
                          <a:solidFill>
                            <a:srgbClr val="000000"/>
                          </a:solidFill>
                          <a:effectLst/>
                          <a:latin typeface="Montserrat" panose="00000500000000000000" pitchFamily="2" charset="0"/>
                          <a:ea typeface="+mn-ea"/>
                          <a:cs typeface="+mn-cs"/>
                          <a:sym typeface="Arial"/>
                        </a:rPr>
                        <a:t>Secretario General de la Sección IX</a:t>
                      </a:r>
                    </a:p>
                    <a:p>
                      <a:pPr marL="35992" marR="35992" algn="l" rtl="0" fontAlgn="ctr">
                        <a:lnSpc>
                          <a:spcPct val="100000"/>
                        </a:lnSpc>
                        <a:spcBef>
                          <a:spcPts val="0"/>
                        </a:spcBef>
                        <a:spcAft>
                          <a:spcPts val="0"/>
                        </a:spcAft>
                        <a:buClr>
                          <a:srgbClr val="000000"/>
                        </a:buClr>
                        <a:buFont typeface="Arial"/>
                        <a:buNone/>
                      </a:pPr>
                      <a:r>
                        <a:rPr lang="es-MX" sz="1000" b="0" i="0" u="none" strike="noStrike" cap="none">
                          <a:solidFill>
                            <a:srgbClr val="000000"/>
                          </a:solidFill>
                          <a:effectLst/>
                          <a:latin typeface="Montserrat" panose="00000500000000000000" pitchFamily="2" charset="0"/>
                          <a:ea typeface="+mn-ea"/>
                          <a:cs typeface="+mn-cs"/>
                          <a:sym typeface="Arial"/>
                        </a:rPr>
                        <a:t>Inicio en el cargo: 01 septiembre de 2024</a:t>
                      </a: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9525" cap="flat" cmpd="sng" algn="ctr">
                      <a:solidFill>
                        <a:srgbClr val="006858"/>
                      </a:solidFill>
                      <a:prstDash val="solid"/>
                      <a:round/>
                      <a:headEnd type="none" w="med" len="med"/>
                      <a:tailEnd type="none" w="med" len="med"/>
                    </a:lnB>
                    <a:solidFill>
                      <a:schemeClr val="bg1">
                        <a:lumMod val="95000"/>
                      </a:schemeClr>
                    </a:solidFill>
                  </a:tcPr>
                </a:tc>
                <a:tc>
                  <a:txBody>
                    <a:bodyPr/>
                    <a:lstStyle/>
                    <a:p>
                      <a:pPr marL="35992" marR="35992"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s-MX" sz="1000" b="1" u="none" strike="noStrike" cap="none">
                          <a:solidFill>
                            <a:schemeClr val="lt1"/>
                          </a:solidFill>
                          <a:latin typeface="Noto Sans"/>
                          <a:ea typeface="Noto Sans"/>
                          <a:cs typeface="Noto Sans"/>
                          <a:sym typeface="Noto Sans"/>
                        </a:rPr>
                        <a:t>Secretaría General SNTSS</a:t>
                      </a:r>
                    </a:p>
                    <a:p>
                      <a:pPr marL="35992" marR="35992" algn="ctr" rtl="0" fontAlgn="ctr">
                        <a:buNone/>
                      </a:pPr>
                      <a:endParaRPr lang="es-MX" sz="1000">
                        <a:effectLst/>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9525" cap="flat" cmpd="sng" algn="ctr">
                      <a:solidFill>
                        <a:srgbClr val="006858"/>
                      </a:solidFill>
                      <a:prstDash val="solid"/>
                      <a:round/>
                      <a:headEnd type="none" w="med" len="med"/>
                      <a:tailEnd type="none" w="med" len="med"/>
                    </a:lnB>
                    <a:solidFill>
                      <a:srgbClr val="006858"/>
                    </a:solidFill>
                  </a:tcPr>
                </a:tc>
                <a:tc>
                  <a:txBody>
                    <a:bodyPr/>
                    <a:lstStyle/>
                    <a:p>
                      <a:pPr marL="35992" marR="35992" algn="l" rtl="0" fontAlgn="ctr">
                        <a:lnSpc>
                          <a:spcPct val="100000"/>
                        </a:lnSpc>
                        <a:spcBef>
                          <a:spcPts val="0"/>
                        </a:spcBef>
                        <a:spcAft>
                          <a:spcPts val="0"/>
                        </a:spcAft>
                        <a:buClr>
                          <a:srgbClr val="000000"/>
                        </a:buClr>
                        <a:buFont typeface="Arial"/>
                        <a:buNone/>
                      </a:pPr>
                      <a:r>
                        <a:rPr lang="es-MX" sz="1000" b="1" i="0" u="none" strike="noStrike" cap="none" dirty="0">
                          <a:solidFill>
                            <a:srgbClr val="000000"/>
                          </a:solidFill>
                          <a:effectLst/>
                          <a:latin typeface="Montserrat" panose="00000500000000000000" pitchFamily="2" charset="0"/>
                          <a:ea typeface="+mn-ea"/>
                          <a:cs typeface="+mn-cs"/>
                          <a:sym typeface="Arial"/>
                        </a:rPr>
                        <a:t>Joel Reyes Baizabal</a:t>
                      </a:r>
                    </a:p>
                    <a:p>
                      <a:pPr marL="35992" marR="35992" rtl="0" fontAlgn="ctr">
                        <a:buNone/>
                      </a:pPr>
                      <a:r>
                        <a:rPr lang="es-MX" sz="1000" b="0" i="0" u="none" strike="noStrike" cap="none" dirty="0">
                          <a:solidFill>
                            <a:srgbClr val="000000"/>
                          </a:solidFill>
                          <a:effectLst/>
                          <a:latin typeface="Montserrat" panose="00000500000000000000" pitchFamily="2" charset="0"/>
                          <a:ea typeface="+mn-ea"/>
                          <a:cs typeface="+mn-cs"/>
                          <a:sym typeface="Arial"/>
                        </a:rPr>
                        <a:t>Secretario de la Sección IV del SNTSS</a:t>
                      </a:r>
                    </a:p>
                    <a:p>
                      <a:pPr marL="35992" marR="35992" rtl="0" fontAlgn="ctr">
                        <a:buNone/>
                      </a:pPr>
                      <a:r>
                        <a:rPr lang="es-MX" sz="1000" b="0" i="0" u="none" strike="noStrike" cap="none" dirty="0">
                          <a:solidFill>
                            <a:srgbClr val="000000"/>
                          </a:solidFill>
                          <a:effectLst/>
                          <a:latin typeface="Montserrat" panose="00000500000000000000" pitchFamily="2" charset="0"/>
                          <a:ea typeface="+mn-ea"/>
                          <a:cs typeface="+mn-cs"/>
                          <a:sym typeface="Arial"/>
                        </a:rPr>
                        <a:t>Inicio en el cargo: 22 de agosto 2025</a:t>
                      </a:r>
                    </a:p>
                  </a:txBody>
                  <a:tcP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9525" cap="flat" cmpd="sng" algn="ctr">
                      <a:solidFill>
                        <a:srgbClr val="00685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2896917"/>
                  </a:ext>
                </a:extLst>
              </a:tr>
            </a:tbl>
          </a:graphicData>
        </a:graphic>
      </p:graphicFrame>
      <p:sp>
        <p:nvSpPr>
          <p:cNvPr id="5" name="Google Shape;69;p15">
            <a:extLst>
              <a:ext uri="{FF2B5EF4-FFF2-40B4-BE49-F238E27FC236}">
                <a16:creationId xmlns:a16="http://schemas.microsoft.com/office/drawing/2014/main" id="{5EF1931F-A6B3-D563-00DF-8C02E9583552}"/>
              </a:ext>
            </a:extLst>
          </p:cNvPr>
          <p:cNvSpPr txBox="1"/>
          <p:nvPr/>
        </p:nvSpPr>
        <p:spPr>
          <a:xfrm>
            <a:off x="3168186" y="1007464"/>
            <a:ext cx="3251252" cy="716448"/>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 sz="1200" b="1" i="0" u="none" strike="noStrike" cap="none">
                <a:solidFill>
                  <a:schemeClr val="dk1"/>
                </a:solidFill>
                <a:latin typeface="Montserrat"/>
                <a:ea typeface="Montserrat"/>
                <a:cs typeface="Montserrat"/>
                <a:sym typeface="Montserrat"/>
              </a:rPr>
              <a:t>Dra. Edith Jiménez Martínez</a:t>
            </a:r>
            <a:endParaRPr sz="1200" b="1"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b="0" i="0" u="none" strike="noStrike" cap="none">
                <a:solidFill>
                  <a:schemeClr val="dk1"/>
                </a:solidFill>
                <a:latin typeface="Montserrat"/>
                <a:ea typeface="Montserrat"/>
                <a:cs typeface="Montserrat"/>
                <a:sym typeface="Montserrat"/>
              </a:rPr>
              <a:t>Médica especialista en Anestesiología</a:t>
            </a:r>
            <a:endParaRPr sz="10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b="1" i="0" u="none" strike="noStrike" cap="none">
                <a:solidFill>
                  <a:srgbClr val="005C4C"/>
                </a:solidFill>
                <a:latin typeface="Montserrat"/>
                <a:ea typeface="Montserrat"/>
                <a:cs typeface="Montserrat"/>
                <a:sym typeface="Montserrat"/>
              </a:rPr>
              <a:t>Inicio en el cargo: 1° de diciembre de 2024</a:t>
            </a:r>
            <a:endParaRPr sz="1300" b="1" i="0" u="none" strike="noStrike" cap="none">
              <a:solidFill>
                <a:srgbClr val="005C4C"/>
              </a:solidFill>
              <a:latin typeface="Montserrat"/>
              <a:ea typeface="Montserrat"/>
              <a:cs typeface="Montserrat"/>
              <a:sym typeface="Montserrat"/>
            </a:endParaRPr>
          </a:p>
        </p:txBody>
      </p:sp>
      <p:sp>
        <p:nvSpPr>
          <p:cNvPr id="6" name="Google Shape;70;p15">
            <a:extLst>
              <a:ext uri="{FF2B5EF4-FFF2-40B4-BE49-F238E27FC236}">
                <a16:creationId xmlns:a16="http://schemas.microsoft.com/office/drawing/2014/main" id="{E86FE16A-810B-6EFE-3A0E-20D9B26792CE}"/>
              </a:ext>
            </a:extLst>
          </p:cNvPr>
          <p:cNvSpPr txBox="1"/>
          <p:nvPr/>
        </p:nvSpPr>
        <p:spPr>
          <a:xfrm>
            <a:off x="3181079" y="1978149"/>
            <a:ext cx="2999004" cy="882647"/>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 sz="1000" b="1" i="0" u="none" strike="noStrike" cap="none">
                <a:solidFill>
                  <a:schemeClr val="dk1"/>
                </a:solidFill>
                <a:latin typeface="Montserrat"/>
                <a:ea typeface="Montserrat"/>
                <a:cs typeface="Montserrat"/>
                <a:sym typeface="Montserrat"/>
              </a:rPr>
              <a:t>Dr. </a:t>
            </a:r>
            <a:r>
              <a:rPr lang="es" sz="1000" b="1">
                <a:solidFill>
                  <a:schemeClr val="dk1"/>
                </a:solidFill>
                <a:latin typeface="Montserrat"/>
                <a:ea typeface="Montserrat"/>
                <a:cs typeface="Montserrat"/>
                <a:sym typeface="Montserrat"/>
              </a:rPr>
              <a:t>Arturo Navarrete Sánchez</a:t>
            </a:r>
            <a:endParaRPr sz="1000" b="0" i="0" u="none" strike="noStrike" cap="none">
              <a:solidFill>
                <a:schemeClr val="dk1"/>
              </a:solidFill>
              <a:latin typeface="Montserrat"/>
              <a:ea typeface="Montserrat"/>
              <a:cs typeface="Montserrat"/>
              <a:sym typeface="Montserrat"/>
            </a:endParaRPr>
          </a:p>
          <a:p>
            <a:pPr marL="0" marR="0" lvl="0" indent="0" algn="just" rtl="0">
              <a:lnSpc>
                <a:spcPct val="107916"/>
              </a:lnSpc>
              <a:spcBef>
                <a:spcPts val="0"/>
              </a:spcBef>
              <a:spcAft>
                <a:spcPts val="0"/>
              </a:spcAft>
              <a:buClr>
                <a:schemeClr val="dk1"/>
              </a:buClr>
              <a:buSzPts val="1100"/>
              <a:buFont typeface="Arial"/>
              <a:buNone/>
            </a:pPr>
            <a:r>
              <a:rPr lang="es" sz="1000" b="0" i="0" u="none" strike="noStrike" cap="none">
                <a:solidFill>
                  <a:schemeClr val="dk1"/>
                </a:solidFill>
                <a:latin typeface="Montserrat"/>
                <a:ea typeface="Montserrat"/>
                <a:cs typeface="Montserrat"/>
                <a:sym typeface="Montserrat"/>
              </a:rPr>
              <a:t>Médico </a:t>
            </a:r>
            <a:r>
              <a:rPr lang="es" sz="1000">
                <a:solidFill>
                  <a:schemeClr val="dk1"/>
                </a:solidFill>
                <a:latin typeface="Montserrat"/>
                <a:ea typeface="Montserrat"/>
                <a:cs typeface="Montserrat"/>
                <a:sym typeface="Montserrat"/>
              </a:rPr>
              <a:t>Cirujano con Maestría en Salud Pública  Área de Epidemiología</a:t>
            </a:r>
            <a:endParaRPr sz="10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b="1" i="0" u="none" strike="noStrike" cap="none">
                <a:solidFill>
                  <a:srgbClr val="005C4C"/>
                </a:solidFill>
                <a:latin typeface="Montserrat"/>
                <a:ea typeface="Montserrat"/>
                <a:cs typeface="Montserrat"/>
                <a:sym typeface="Montserrat"/>
              </a:rPr>
              <a:t>Inicio en el cargo: </a:t>
            </a:r>
            <a:r>
              <a:rPr lang="es" sz="1000" b="1">
                <a:solidFill>
                  <a:srgbClr val="005C4C"/>
                </a:solidFill>
                <a:latin typeface="Montserrat"/>
                <a:ea typeface="Montserrat"/>
                <a:cs typeface="Montserrat"/>
                <a:sym typeface="Montserrat"/>
              </a:rPr>
              <a:t>16 de abril de 2026</a:t>
            </a:r>
            <a:endParaRPr sz="1000" b="1" i="0" u="none" strike="noStrike" cap="none">
              <a:solidFill>
                <a:srgbClr val="005C4C"/>
              </a:solidFill>
              <a:latin typeface="Montserrat"/>
              <a:ea typeface="Montserrat"/>
              <a:cs typeface="Montserrat"/>
              <a:sym typeface="Montserrat"/>
            </a:endParaRPr>
          </a:p>
        </p:txBody>
      </p:sp>
      <p:pic>
        <p:nvPicPr>
          <p:cNvPr id="7" name="Google Shape;72;p15">
            <a:extLst>
              <a:ext uri="{FF2B5EF4-FFF2-40B4-BE49-F238E27FC236}">
                <a16:creationId xmlns:a16="http://schemas.microsoft.com/office/drawing/2014/main" id="{2F6917E7-B909-19E2-6444-3944782CFD92}"/>
              </a:ext>
            </a:extLst>
          </p:cNvPr>
          <p:cNvPicPr preferRelativeResize="0"/>
          <p:nvPr/>
        </p:nvPicPr>
        <p:blipFill rotWithShape="1">
          <a:blip r:embed="rId2">
            <a:alphaModFix/>
          </a:blip>
          <a:srcRect l="32586" t="62651" r="56592" b="19688"/>
          <a:stretch/>
        </p:blipFill>
        <p:spPr>
          <a:xfrm>
            <a:off x="1860687" y="642665"/>
            <a:ext cx="1117903" cy="1160436"/>
          </a:xfrm>
          <a:prstGeom prst="rect">
            <a:avLst/>
          </a:prstGeom>
          <a:noFill/>
          <a:ln>
            <a:noFill/>
          </a:ln>
        </p:spPr>
      </p:pic>
      <p:sp>
        <p:nvSpPr>
          <p:cNvPr id="8" name="Google Shape;73;p15">
            <a:extLst>
              <a:ext uri="{FF2B5EF4-FFF2-40B4-BE49-F238E27FC236}">
                <a16:creationId xmlns:a16="http://schemas.microsoft.com/office/drawing/2014/main" id="{9F5E0D35-B0D7-80EE-F9BC-3146F51746BD}"/>
              </a:ext>
            </a:extLst>
          </p:cNvPr>
          <p:cNvSpPr txBox="1"/>
          <p:nvPr/>
        </p:nvSpPr>
        <p:spPr>
          <a:xfrm>
            <a:off x="271296" y="2925291"/>
            <a:ext cx="10191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300"/>
              <a:buFont typeface="Arial"/>
              <a:buNone/>
            </a:pPr>
            <a:r>
              <a:rPr lang="es" sz="1300" b="1" i="0" u="none" strike="noStrike" cap="none">
                <a:solidFill>
                  <a:srgbClr val="005C4C"/>
                </a:solidFill>
                <a:latin typeface="Montserrat"/>
                <a:ea typeface="Montserrat"/>
                <a:cs typeface="Montserrat"/>
                <a:sym typeface="Montserrat"/>
              </a:rPr>
              <a:t>Norte</a:t>
            </a:r>
            <a:endParaRPr sz="1400" b="0" i="0" u="none" strike="noStrike" cap="none">
              <a:solidFill>
                <a:srgbClr val="000000"/>
              </a:solidFill>
              <a:latin typeface="Arial"/>
              <a:ea typeface="Arial"/>
              <a:cs typeface="Arial"/>
              <a:sym typeface="Arial"/>
            </a:endParaRPr>
          </a:p>
        </p:txBody>
      </p:sp>
      <p:sp>
        <p:nvSpPr>
          <p:cNvPr id="9" name="Google Shape;74;p15">
            <a:extLst>
              <a:ext uri="{FF2B5EF4-FFF2-40B4-BE49-F238E27FC236}">
                <a16:creationId xmlns:a16="http://schemas.microsoft.com/office/drawing/2014/main" id="{FA085658-21D7-093F-72BB-6099931C1098}"/>
              </a:ext>
            </a:extLst>
          </p:cNvPr>
          <p:cNvSpPr txBox="1"/>
          <p:nvPr/>
        </p:nvSpPr>
        <p:spPr>
          <a:xfrm>
            <a:off x="4762173" y="2876053"/>
            <a:ext cx="10191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300"/>
              <a:buFont typeface="Arial"/>
              <a:buNone/>
            </a:pPr>
            <a:r>
              <a:rPr lang="es" sz="1300" b="1" i="0" u="none" strike="noStrike" cap="none">
                <a:solidFill>
                  <a:srgbClr val="005C4C"/>
                </a:solidFill>
                <a:latin typeface="Montserrat"/>
                <a:ea typeface="Montserrat"/>
                <a:cs typeface="Montserrat"/>
                <a:sym typeface="Montserrat"/>
              </a:rPr>
              <a:t>Sur</a:t>
            </a:r>
            <a:endParaRPr sz="1700" b="0" i="0" u="none" strike="noStrike" cap="none">
              <a:solidFill>
                <a:srgbClr val="000000"/>
              </a:solidFill>
              <a:latin typeface="Arial"/>
              <a:ea typeface="Arial"/>
              <a:cs typeface="Arial"/>
              <a:sym typeface="Arial"/>
            </a:endParaRPr>
          </a:p>
        </p:txBody>
      </p:sp>
      <p:pic>
        <p:nvPicPr>
          <p:cNvPr id="10" name="Google Shape;75;p15">
            <a:extLst>
              <a:ext uri="{FF2B5EF4-FFF2-40B4-BE49-F238E27FC236}">
                <a16:creationId xmlns:a16="http://schemas.microsoft.com/office/drawing/2014/main" id="{B4F69012-59A3-E5B1-92F1-9392AF04AF7E}"/>
              </a:ext>
            </a:extLst>
          </p:cNvPr>
          <p:cNvPicPr preferRelativeResize="0"/>
          <p:nvPr/>
        </p:nvPicPr>
        <p:blipFill>
          <a:blip r:embed="rId3">
            <a:alphaModFix/>
          </a:blip>
          <a:stretch>
            <a:fillRect/>
          </a:stretch>
        </p:blipFill>
        <p:spPr>
          <a:xfrm>
            <a:off x="1860687" y="1803101"/>
            <a:ext cx="1117903" cy="1232745"/>
          </a:xfrm>
          <a:prstGeom prst="rect">
            <a:avLst/>
          </a:prstGeom>
          <a:noFill/>
          <a:ln>
            <a:noFill/>
          </a:ln>
        </p:spPr>
      </p:pic>
      <p:sp>
        <p:nvSpPr>
          <p:cNvPr id="11" name="Google Shape;74;p15">
            <a:extLst>
              <a:ext uri="{FF2B5EF4-FFF2-40B4-BE49-F238E27FC236}">
                <a16:creationId xmlns:a16="http://schemas.microsoft.com/office/drawing/2014/main" id="{6A14AB80-28D1-8EF3-5510-3A616B37BBBE}"/>
              </a:ext>
            </a:extLst>
          </p:cNvPr>
          <p:cNvSpPr txBox="1"/>
          <p:nvPr/>
        </p:nvSpPr>
        <p:spPr>
          <a:xfrm>
            <a:off x="3181079" y="1786494"/>
            <a:ext cx="755315" cy="40072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300"/>
              <a:buFont typeface="Arial"/>
              <a:buNone/>
            </a:pPr>
            <a:r>
              <a:rPr lang="es" sz="1300" b="1" i="0" u="none" strike="noStrike" cap="none">
                <a:solidFill>
                  <a:srgbClr val="005C4C"/>
                </a:solidFill>
                <a:latin typeface="Montserrat"/>
                <a:ea typeface="Montserrat"/>
                <a:cs typeface="Montserrat"/>
                <a:sym typeface="Montserrat"/>
              </a:rPr>
              <a:t>Sur</a:t>
            </a:r>
            <a:endParaRPr sz="1700" b="0" i="0" u="none" strike="noStrike" cap="none">
              <a:solidFill>
                <a:srgbClr val="000000"/>
              </a:solidFill>
              <a:latin typeface="Arial"/>
              <a:ea typeface="Arial"/>
              <a:cs typeface="Arial"/>
              <a:sym typeface="Arial"/>
            </a:endParaRPr>
          </a:p>
        </p:txBody>
      </p:sp>
      <p:sp>
        <p:nvSpPr>
          <p:cNvPr id="12" name="Google Shape;73;p15">
            <a:extLst>
              <a:ext uri="{FF2B5EF4-FFF2-40B4-BE49-F238E27FC236}">
                <a16:creationId xmlns:a16="http://schemas.microsoft.com/office/drawing/2014/main" id="{BFACEC6A-E1AD-2CCD-63BC-A46069D44F29}"/>
              </a:ext>
            </a:extLst>
          </p:cNvPr>
          <p:cNvSpPr txBox="1"/>
          <p:nvPr/>
        </p:nvSpPr>
        <p:spPr>
          <a:xfrm>
            <a:off x="3168186" y="783723"/>
            <a:ext cx="10191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300"/>
              <a:buFont typeface="Arial"/>
              <a:buNone/>
            </a:pPr>
            <a:r>
              <a:rPr lang="es" sz="1300" b="1" i="0" u="none" strike="noStrike" cap="none">
                <a:solidFill>
                  <a:srgbClr val="005C4C"/>
                </a:solidFill>
                <a:latin typeface="Montserrat"/>
                <a:ea typeface="Montserrat"/>
                <a:cs typeface="Montserrat"/>
                <a:sym typeface="Montserrat"/>
              </a:rPr>
              <a:t>Norte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54%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extLst>
              <p:ext uri="{D42A27DB-BD31-4B8C-83A1-F6EECF244321}">
                <p14:modId xmlns:p14="http://schemas.microsoft.com/office/powerpoint/2010/main" val="3416136887"/>
              </p:ext>
            </p:extLst>
          </p:nvPr>
        </p:nvGraphicFramePr>
        <p:xfrm>
          <a:off x="2268000" y="1116000"/>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192436" y="1854000"/>
            <a:ext cx="1188000" cy="503999"/>
          </a:xfrm>
          <a:prstGeom prst="rect">
            <a:avLst/>
          </a:prstGeom>
          <a:noFill/>
        </p:spPr>
        <p:txBody>
          <a:bodyPr wrap="none"/>
          <a:lstStyle/>
          <a:p>
            <a:pPr algn="l">
              <a:defRPr sz="1400" b="1">
                <a:solidFill>
                  <a:srgbClr val="595959"/>
                </a:solidFill>
                <a:latin typeface="Montserrat"/>
              </a:defRPr>
            </a:pPr>
            <a:r>
              <a:t>2,910,705</a:t>
            </a:r>
            <a:br/>
            <a:r>
              <a:t>36%</a:t>
            </a:r>
          </a:p>
        </p:txBody>
      </p:sp>
      <p:pic>
        <p:nvPicPr>
          <p:cNvPr id="119" name="Picture 118" descr="imss.png"/>
          <p:cNvPicPr>
            <a:picLocks noChangeAspect="1"/>
          </p:cNvPicPr>
          <p:nvPr/>
        </p:nvPicPr>
        <p:blipFill>
          <a:blip r:embed="rId6"/>
          <a:stretch>
            <a:fillRect/>
          </a:stretch>
        </p:blipFill>
        <p:spPr>
          <a:xfrm>
            <a:off x="5854036" y="1850399"/>
            <a:ext cx="377265" cy="468000"/>
          </a:xfrm>
          <a:prstGeom prst="rect">
            <a:avLst/>
          </a:prstGeom>
        </p:spPr>
      </p:pic>
      <p:sp>
        <p:nvSpPr>
          <p:cNvPr id="120" name="Rectangle 119"/>
          <p:cNvSpPr/>
          <p:nvPr/>
        </p:nvSpPr>
        <p:spPr>
          <a:xfrm>
            <a:off x="5508436" y="20232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720455" y="3909808"/>
            <a:ext cx="1188000" cy="503999"/>
          </a:xfrm>
          <a:prstGeom prst="rect">
            <a:avLst/>
          </a:prstGeom>
          <a:noFill/>
        </p:spPr>
        <p:txBody>
          <a:bodyPr wrap="none"/>
          <a:lstStyle/>
          <a:p>
            <a:pPr algn="l">
              <a:defRPr sz="1400" b="1">
                <a:solidFill>
                  <a:srgbClr val="595959"/>
                </a:solidFill>
                <a:latin typeface="Montserrat"/>
              </a:defRPr>
            </a:pPr>
            <a:r>
              <a:t>1,449,130</a:t>
            </a:r>
            <a:br/>
            <a:r>
              <a:t>18%</a:t>
            </a:r>
          </a:p>
        </p:txBody>
      </p:sp>
      <p:pic>
        <p:nvPicPr>
          <p:cNvPr id="122" name="Picture 121" descr="imss_coplamar.png"/>
          <p:cNvPicPr>
            <a:picLocks noChangeAspect="1"/>
          </p:cNvPicPr>
          <p:nvPr/>
        </p:nvPicPr>
        <p:blipFill>
          <a:blip r:embed="rId7"/>
          <a:stretch>
            <a:fillRect/>
          </a:stretch>
        </p:blipFill>
        <p:spPr>
          <a:xfrm>
            <a:off x="5169655" y="3945808"/>
            <a:ext cx="586036" cy="468000"/>
          </a:xfrm>
          <a:prstGeom prst="rect">
            <a:avLst/>
          </a:prstGeom>
        </p:spPr>
      </p:pic>
      <p:sp>
        <p:nvSpPr>
          <p:cNvPr id="123" name="Rectangle 122"/>
          <p:cNvSpPr/>
          <p:nvPr/>
        </p:nvSpPr>
        <p:spPr>
          <a:xfrm>
            <a:off x="4960855" y="4118608"/>
            <a:ext cx="122400" cy="122400"/>
          </a:xfrm>
          <a:prstGeom prst="rect">
            <a:avLst/>
          </a:prstGeom>
          <a:solidFill>
            <a:schemeClr val="bg2">
              <a:lumMod val="20000"/>
              <a:lumOff val="80000"/>
            </a:schemeClr>
          </a:solidFill>
          <a:ln>
            <a:solidFill>
              <a:schemeClr val="bg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500779" y="4078856"/>
            <a:ext cx="1188000" cy="503999"/>
          </a:xfrm>
          <a:prstGeom prst="rect">
            <a:avLst/>
          </a:prstGeom>
          <a:noFill/>
        </p:spPr>
        <p:txBody>
          <a:bodyPr wrap="none"/>
          <a:lstStyle/>
          <a:p>
            <a:pPr algn="l">
              <a:defRPr sz="1400" b="1">
                <a:solidFill>
                  <a:srgbClr val="595959"/>
                </a:solidFill>
                <a:latin typeface="Montserrat"/>
              </a:defRPr>
            </a:pPr>
            <a:r>
              <a:t>683,285</a:t>
            </a:r>
            <a:br/>
            <a:r>
              <a:t>8%</a:t>
            </a:r>
          </a:p>
        </p:txBody>
      </p:sp>
      <p:pic>
        <p:nvPicPr>
          <p:cNvPr id="125" name="Picture 124" descr="issste.png"/>
          <p:cNvPicPr>
            <a:picLocks noChangeAspect="1"/>
          </p:cNvPicPr>
          <p:nvPr/>
        </p:nvPicPr>
        <p:blipFill>
          <a:blip r:embed="rId8"/>
          <a:stretch>
            <a:fillRect/>
          </a:stretch>
        </p:blipFill>
        <p:spPr>
          <a:xfrm>
            <a:off x="977288" y="3815724"/>
            <a:ext cx="1437091" cy="468000"/>
          </a:xfrm>
          <a:prstGeom prst="rect">
            <a:avLst/>
          </a:prstGeom>
        </p:spPr>
      </p:pic>
      <p:sp>
        <p:nvSpPr>
          <p:cNvPr id="126" name="Rectangle 125"/>
          <p:cNvSpPr/>
          <p:nvPr/>
        </p:nvSpPr>
        <p:spPr>
          <a:xfrm>
            <a:off x="768488" y="3995724"/>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867545" y="2192401"/>
            <a:ext cx="1188000" cy="503999"/>
          </a:xfrm>
          <a:prstGeom prst="rect">
            <a:avLst/>
          </a:prstGeom>
          <a:noFill/>
        </p:spPr>
        <p:txBody>
          <a:bodyPr wrap="none"/>
          <a:lstStyle/>
          <a:p>
            <a:pPr algn="r">
              <a:defRPr sz="1400" b="1">
                <a:solidFill>
                  <a:srgbClr val="595959"/>
                </a:solidFill>
                <a:latin typeface="Montserrat"/>
              </a:defRPr>
            </a:pPr>
            <a:r>
              <a:t>2,824,110</a:t>
            </a:r>
            <a:br/>
            <a:r>
              <a:t>35%</a:t>
            </a:r>
          </a:p>
        </p:txBody>
      </p:sp>
      <p:pic>
        <p:nvPicPr>
          <p:cNvPr id="128" name="Picture 127" descr="30.png"/>
          <p:cNvPicPr>
            <a:picLocks noChangeAspect="1"/>
          </p:cNvPicPr>
          <p:nvPr/>
        </p:nvPicPr>
        <p:blipFill>
          <a:blip r:embed="rId9"/>
          <a:stretch>
            <a:fillRect/>
          </a:stretch>
        </p:blipFill>
        <p:spPr>
          <a:xfrm>
            <a:off x="342446" y="2642401"/>
            <a:ext cx="1904118" cy="468000"/>
          </a:xfrm>
          <a:prstGeom prst="rect">
            <a:avLst/>
          </a:prstGeom>
        </p:spPr>
      </p:pic>
      <p:sp>
        <p:nvSpPr>
          <p:cNvPr id="129" name="Rectangle 128"/>
          <p:cNvSpPr/>
          <p:nvPr/>
        </p:nvSpPr>
        <p:spPr>
          <a:xfrm>
            <a:off x="935945" y="2401201"/>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218459" y="1076401"/>
            <a:ext cx="1188000" cy="503999"/>
          </a:xfrm>
          <a:prstGeom prst="rect">
            <a:avLst/>
          </a:prstGeom>
          <a:noFill/>
        </p:spPr>
        <p:txBody>
          <a:bodyPr wrap="none"/>
          <a:lstStyle/>
          <a:p>
            <a:pPr algn="r">
              <a:defRPr sz="1400" b="1">
                <a:solidFill>
                  <a:srgbClr val="595959"/>
                </a:solidFill>
                <a:latin typeface="Montserrat"/>
              </a:defRPr>
            </a:pPr>
            <a:r>
              <a:t>Otros</a:t>
            </a:r>
            <a:br/>
            <a:r>
              <a:t>244,583</a:t>
            </a:r>
            <a:br/>
            <a:r>
              <a:t>3%</a:t>
            </a:r>
          </a:p>
        </p:txBody>
      </p:sp>
      <p:pic>
        <p:nvPicPr>
          <p:cNvPr id="131" name="Picture 130" descr="otros.png"/>
          <p:cNvPicPr>
            <a:picLocks noChangeAspect="1"/>
          </p:cNvPicPr>
          <p:nvPr/>
        </p:nvPicPr>
        <p:blipFill>
          <a:blip r:embed="rId10"/>
          <a:stretch>
            <a:fillRect/>
          </a:stretch>
        </p:blipFill>
        <p:spPr>
          <a:xfrm>
            <a:off x="2431659" y="1094401"/>
            <a:ext cx="468000" cy="468000"/>
          </a:xfrm>
          <a:prstGeom prst="rect">
            <a:avLst/>
          </a:prstGeom>
        </p:spPr>
      </p:pic>
      <p:sp>
        <p:nvSpPr>
          <p:cNvPr id="132" name="Rectangle 131"/>
          <p:cNvSpPr/>
          <p:nvPr/>
        </p:nvSpPr>
        <p:spPr>
          <a:xfrm>
            <a:off x="1286859" y="1162801"/>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8,111,813</a:t>
            </a:r>
          </a:p>
        </p:txBody>
      </p:sp>
      <p:sp>
        <p:nvSpPr>
          <p:cNvPr id="134" name="TextBox 133"/>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5" name="TextBox 134"/>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6" name="TextBox 135"/>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extLst>
              <p:ext uri="{D42A27DB-BD31-4B8C-83A1-F6EECF244321}">
                <p14:modId xmlns:p14="http://schemas.microsoft.com/office/powerpoint/2010/main" val="942639547"/>
              </p:ext>
            </p:extLst>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2018</a:t>
                      </a:r>
                    </a:p>
                  </a:txBody>
                  <a:tcP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2026</a:t>
                      </a:r>
                    </a:p>
                  </a:txBody>
                  <a:tcP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Variación</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lnL w="12700" cap="flat" cmpd="sng" algn="ctr">
                      <a:solidFill>
                        <a:schemeClr val="bg1">
                          <a:lumMod val="85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t>2,742,560</a:t>
                      </a:r>
                    </a:p>
                  </a:txBody>
                  <a:tcPr>
                    <a:solidFill>
                      <a:srgbClr val="EBD2D9"/>
                    </a:solidFill>
                  </a:tcPr>
                </a:tc>
                <a:tc>
                  <a:txBody>
                    <a:bodyPr/>
                    <a:lstStyle/>
                    <a:p>
                      <a:pPr algn="ctr">
                        <a:defRPr sz="900" b="1">
                          <a:solidFill>
                            <a:srgbClr val="000000"/>
                          </a:solidFill>
                          <a:latin typeface="Montserrat"/>
                        </a:defRPr>
                      </a:pPr>
                      <a:r>
                        <a:t>2,910,705</a:t>
                      </a:r>
                    </a:p>
                  </a:txBody>
                  <a:tcPr>
                    <a:solidFill>
                      <a:srgbClr val="EBD2D9"/>
                    </a:solidFill>
                  </a:tcPr>
                </a:tc>
                <a:tc>
                  <a:txBody>
                    <a:bodyPr/>
                    <a:lstStyle/>
                    <a:p>
                      <a:pPr algn="ctr">
                        <a:defRPr sz="900" b="1">
                          <a:solidFill>
                            <a:srgbClr val="000000"/>
                          </a:solidFill>
                          <a:latin typeface="Montserrat"/>
                        </a:defRPr>
                      </a:pPr>
                      <a:r>
                        <a:t>6%</a:t>
                      </a:r>
                    </a:p>
                  </a:txBody>
                  <a:tcPr>
                    <a:lnR w="12700" cap="flat" cmpd="sng" algn="ctr">
                      <a:solidFill>
                        <a:schemeClr val="bg1">
                          <a:lumMod val="85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lnL w="12700" cap="flat" cmpd="sng" algn="ctr">
                      <a:solidFill>
                        <a:schemeClr val="bg1">
                          <a:lumMod val="85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rPr dirty="0"/>
                        <a:t>1,515,234</a:t>
                      </a:r>
                    </a:p>
                  </a:txBody>
                  <a:tcPr>
                    <a:solidFill>
                      <a:srgbClr val="EBD2D9"/>
                    </a:solidFill>
                  </a:tcPr>
                </a:tc>
                <a:tc>
                  <a:txBody>
                    <a:bodyPr/>
                    <a:lstStyle/>
                    <a:p>
                      <a:pPr algn="ctr">
                        <a:defRPr sz="900" b="1">
                          <a:solidFill>
                            <a:srgbClr val="000000"/>
                          </a:solidFill>
                          <a:latin typeface="Montserrat"/>
                        </a:defRPr>
                      </a:pPr>
                      <a:r>
                        <a:t>1,685,879</a:t>
                      </a:r>
                    </a:p>
                  </a:txBody>
                  <a:tcPr>
                    <a:solidFill>
                      <a:srgbClr val="EBD2D9"/>
                    </a:solidFill>
                  </a:tcPr>
                </a:tc>
                <a:tc>
                  <a:txBody>
                    <a:bodyPr/>
                    <a:lstStyle/>
                    <a:p>
                      <a:pPr algn="ctr">
                        <a:defRPr sz="900" b="1">
                          <a:solidFill>
                            <a:srgbClr val="000000"/>
                          </a:solidFill>
                          <a:latin typeface="Montserrat"/>
                        </a:defRPr>
                      </a:pPr>
                      <a:r>
                        <a:t>11%</a:t>
                      </a:r>
                    </a:p>
                  </a:txBody>
                  <a:tcPr>
                    <a:lnR w="12700" cap="flat" cmpd="sng" algn="ctr">
                      <a:solidFill>
                        <a:schemeClr val="bg1">
                          <a:lumMod val="85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lnL w="12700" cap="flat" cmpd="sng" algn="ctr">
                      <a:solidFill>
                        <a:schemeClr val="bg1">
                          <a:lumMod val="85000"/>
                        </a:schemeClr>
                      </a:solidFill>
                      <a:prstDash val="solid"/>
                      <a:round/>
                      <a:headEnd type="none" w="med" len="med"/>
                      <a:tailEnd type="none" w="med" len="med"/>
                    </a:lnL>
                    <a:solidFill>
                      <a:srgbClr val="DDC9A3"/>
                    </a:solidFill>
                  </a:tcPr>
                </a:tc>
                <a:tc>
                  <a:txBody>
                    <a:bodyPr/>
                    <a:lstStyle/>
                    <a:p>
                      <a:pPr algn="ctr">
                        <a:defRPr sz="900" b="1">
                          <a:solidFill>
                            <a:srgbClr val="000000"/>
                          </a:solidFill>
                          <a:latin typeface="Montserrat"/>
                        </a:defRPr>
                      </a:pPr>
                      <a:r>
                        <a:t>752,659</a:t>
                      </a:r>
                    </a:p>
                  </a:txBody>
                  <a:tcPr>
                    <a:solidFill>
                      <a:srgbClr val="F8F4EC"/>
                    </a:solidFill>
                  </a:tcPr>
                </a:tc>
                <a:tc>
                  <a:txBody>
                    <a:bodyPr/>
                    <a:lstStyle/>
                    <a:p>
                      <a:pPr algn="ctr">
                        <a:defRPr sz="900" b="1">
                          <a:solidFill>
                            <a:srgbClr val="000000"/>
                          </a:solidFill>
                          <a:latin typeface="Montserrat"/>
                        </a:defRPr>
                      </a:pPr>
                      <a:r>
                        <a:t>772,506</a:t>
                      </a:r>
                    </a:p>
                  </a:txBody>
                  <a:tcPr>
                    <a:solidFill>
                      <a:srgbClr val="F8F4EC"/>
                    </a:solidFill>
                  </a:tcPr>
                </a:tc>
                <a:tc>
                  <a:txBody>
                    <a:bodyPr/>
                    <a:lstStyle/>
                    <a:p>
                      <a:pPr algn="ctr">
                        <a:defRPr sz="900" b="1">
                          <a:solidFill>
                            <a:srgbClr val="000000"/>
                          </a:solidFill>
                          <a:latin typeface="Montserrat"/>
                        </a:defRPr>
                      </a:pPr>
                      <a:r>
                        <a:t>3%</a:t>
                      </a:r>
                    </a:p>
                  </a:txBody>
                  <a:tcPr>
                    <a:lnR w="12700" cap="flat" cmpd="sng" algn="ctr">
                      <a:solidFill>
                        <a:schemeClr val="bg1">
                          <a:lumMod val="85000"/>
                        </a:schemeClr>
                      </a:solidFill>
                      <a:prstDash val="solid"/>
                      <a:round/>
                      <a:headEnd type="none" w="med" len="med"/>
                      <a:tailEnd type="none" w="med" len="med"/>
                    </a:ln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246,025</a:t>
                      </a:r>
                    </a:p>
                  </a:txBody>
                  <a:tcPr>
                    <a:solidFill>
                      <a:srgbClr val="FFFFFF"/>
                    </a:solidFill>
                  </a:tcPr>
                </a:tc>
                <a:tc>
                  <a:txBody>
                    <a:bodyPr/>
                    <a:lstStyle/>
                    <a:p>
                      <a:pPr algn="ctr">
                        <a:defRPr sz="900">
                          <a:solidFill>
                            <a:srgbClr val="000000"/>
                          </a:solidFill>
                          <a:latin typeface="Montserrat"/>
                        </a:defRPr>
                      </a:pPr>
                      <a:r>
                        <a:t>320,543</a:t>
                      </a:r>
                    </a:p>
                  </a:txBody>
                  <a:tcPr>
                    <a:solidFill>
                      <a:srgbClr val="FFFFFF"/>
                    </a:solidFill>
                  </a:tcPr>
                </a:tc>
                <a:tc>
                  <a:txBody>
                    <a:bodyPr/>
                    <a:lstStyle/>
                    <a:p>
                      <a:pPr algn="ctr">
                        <a:defRPr sz="900">
                          <a:solidFill>
                            <a:srgbClr val="000000"/>
                          </a:solidFill>
                          <a:latin typeface="Montserrat"/>
                        </a:defRPr>
                      </a:pPr>
                      <a:r>
                        <a:t>30%</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26,786</a:t>
                      </a:r>
                    </a:p>
                  </a:txBody>
                  <a:tcPr>
                    <a:solidFill>
                      <a:srgbClr val="FFFFFF"/>
                    </a:solidFill>
                  </a:tcPr>
                </a:tc>
                <a:tc>
                  <a:txBody>
                    <a:bodyPr/>
                    <a:lstStyle/>
                    <a:p>
                      <a:pPr algn="ctr">
                        <a:defRPr sz="900">
                          <a:solidFill>
                            <a:srgbClr val="000000"/>
                          </a:solidFill>
                          <a:latin typeface="Montserrat"/>
                        </a:defRPr>
                      </a:pPr>
                      <a:r>
                        <a:t>27,606</a:t>
                      </a:r>
                    </a:p>
                  </a:txBody>
                  <a:tcPr>
                    <a:solidFill>
                      <a:srgbClr val="FFFFFF"/>
                    </a:solidFill>
                  </a:tcPr>
                </a:tc>
                <a:tc>
                  <a:txBody>
                    <a:bodyPr/>
                    <a:lstStyle/>
                    <a:p>
                      <a:pPr algn="ctr">
                        <a:defRPr sz="900">
                          <a:solidFill>
                            <a:srgbClr val="000000"/>
                          </a:solidFill>
                          <a:latin typeface="Montserrat"/>
                        </a:defRPr>
                      </a:pPr>
                      <a:r>
                        <a:t>3%</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lnL w="12700" cap="flat" cmpd="sng" algn="ctr">
                      <a:solidFill>
                        <a:schemeClr val="bg1">
                          <a:lumMod val="85000"/>
                        </a:schemeClr>
                      </a:solidFill>
                      <a:prstDash val="solid"/>
                      <a:round/>
                      <a:headEnd type="none" w="med" len="med"/>
                      <a:tailEnd type="none" w="med" len="med"/>
                    </a:lnL>
                    <a:solidFill>
                      <a:srgbClr val="006455"/>
                    </a:solidFill>
                  </a:tcPr>
                </a:tc>
                <a:tc>
                  <a:txBody>
                    <a:bodyPr/>
                    <a:lstStyle/>
                    <a:p>
                      <a:pPr algn="ctr">
                        <a:defRPr sz="900" b="1">
                          <a:solidFill>
                            <a:srgbClr val="000000"/>
                          </a:solidFill>
                          <a:latin typeface="Montserrat"/>
                        </a:defRPr>
                      </a:pPr>
                      <a:r>
                        <a:t>489,764</a:t>
                      </a:r>
                    </a:p>
                  </a:txBody>
                  <a:tcPr>
                    <a:solidFill>
                      <a:srgbClr val="CCE0DD"/>
                    </a:solidFill>
                  </a:tcPr>
                </a:tc>
                <a:tc>
                  <a:txBody>
                    <a:bodyPr/>
                    <a:lstStyle/>
                    <a:p>
                      <a:pPr algn="ctr">
                        <a:defRPr sz="900" b="1">
                          <a:solidFill>
                            <a:srgbClr val="000000"/>
                          </a:solidFill>
                          <a:latin typeface="Montserrat"/>
                        </a:defRPr>
                      </a:pPr>
                      <a:r>
                        <a:t>439,010</a:t>
                      </a:r>
                    </a:p>
                  </a:txBody>
                  <a:tcPr>
                    <a:solidFill>
                      <a:srgbClr val="CCE0DD"/>
                    </a:solidFill>
                  </a:tcPr>
                </a:tc>
                <a:tc>
                  <a:txBody>
                    <a:bodyPr/>
                    <a:lstStyle/>
                    <a:p>
                      <a:pPr algn="ctr">
                        <a:defRPr sz="900" b="1">
                          <a:solidFill>
                            <a:srgbClr val="000000"/>
                          </a:solidFill>
                          <a:latin typeface="Montserrat"/>
                        </a:defRPr>
                      </a:pPr>
                      <a:r>
                        <a:t>-10%</a:t>
                      </a:r>
                    </a:p>
                  </a:txBody>
                  <a:tcPr>
                    <a:lnR w="12700" cap="flat" cmpd="sng" algn="ctr">
                      <a:solidFill>
                        <a:schemeClr val="bg1">
                          <a:lumMod val="85000"/>
                        </a:schemeClr>
                      </a:solidFill>
                      <a:prstDash val="solid"/>
                      <a:round/>
                      <a:headEnd type="none" w="med" len="med"/>
                      <a:tailEnd type="none" w="med" len="med"/>
                    </a:ln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442,810</a:t>
                      </a:r>
                    </a:p>
                  </a:txBody>
                  <a:tcPr>
                    <a:solidFill>
                      <a:srgbClr val="FFFFFF"/>
                    </a:solidFill>
                  </a:tcPr>
                </a:tc>
                <a:tc>
                  <a:txBody>
                    <a:bodyPr/>
                    <a:lstStyle/>
                    <a:p>
                      <a:pPr algn="ctr">
                        <a:defRPr sz="900">
                          <a:solidFill>
                            <a:srgbClr val="000000"/>
                          </a:solidFill>
                          <a:latin typeface="Montserrat"/>
                        </a:defRPr>
                      </a:pPr>
                      <a:r>
                        <a:t>397,387</a:t>
                      </a:r>
                    </a:p>
                  </a:txBody>
                  <a:tcPr>
                    <a:solidFill>
                      <a:srgbClr val="FFFFFF"/>
                    </a:solidFill>
                  </a:tcPr>
                </a:tc>
                <a:tc>
                  <a:txBody>
                    <a:bodyPr/>
                    <a:lstStyle/>
                    <a:p>
                      <a:pPr algn="ctr">
                        <a:defRPr sz="900">
                          <a:solidFill>
                            <a:srgbClr val="000000"/>
                          </a:solidFill>
                          <a:latin typeface="Montserrat"/>
                        </a:defRPr>
                      </a:pPr>
                      <a:r>
                        <a:t>-10%</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43,078</a:t>
                      </a:r>
                    </a:p>
                  </a:txBody>
                  <a:tcPr>
                    <a:solidFill>
                      <a:srgbClr val="FFFFFF"/>
                    </a:solidFill>
                  </a:tcPr>
                </a:tc>
                <a:tc>
                  <a:txBody>
                    <a:bodyPr/>
                    <a:lstStyle/>
                    <a:p>
                      <a:pPr algn="ctr">
                        <a:defRPr sz="900">
                          <a:solidFill>
                            <a:srgbClr val="000000"/>
                          </a:solidFill>
                          <a:latin typeface="Montserrat"/>
                        </a:defRPr>
                      </a:pPr>
                      <a:r>
                        <a:t>34,953</a:t>
                      </a:r>
                    </a:p>
                  </a:txBody>
                  <a:tcPr>
                    <a:solidFill>
                      <a:srgbClr val="FFFFFF"/>
                    </a:solidFill>
                  </a:tcPr>
                </a:tc>
                <a:tc>
                  <a:txBody>
                    <a:bodyPr/>
                    <a:lstStyle/>
                    <a:p>
                      <a:pPr algn="ctr">
                        <a:defRPr sz="900">
                          <a:solidFill>
                            <a:srgbClr val="000000"/>
                          </a:solidFill>
                          <a:latin typeface="Montserrat"/>
                        </a:defRPr>
                      </a:pPr>
                      <a:r>
                        <a:t>-19%</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3,876</a:t>
                      </a:r>
                    </a:p>
                  </a:txBody>
                  <a:tcPr>
                    <a:solidFill>
                      <a:srgbClr val="FFFFFF"/>
                    </a:solidFill>
                  </a:tcPr>
                </a:tc>
                <a:tc>
                  <a:txBody>
                    <a:bodyPr/>
                    <a:lstStyle/>
                    <a:p>
                      <a:pPr algn="ctr">
                        <a:defRPr sz="900">
                          <a:solidFill>
                            <a:srgbClr val="000000"/>
                          </a:solidFill>
                          <a:latin typeface="Montserrat"/>
                        </a:defRPr>
                      </a:pPr>
                      <a:r>
                        <a:t>6,670</a:t>
                      </a:r>
                    </a:p>
                  </a:txBody>
                  <a:tcPr>
                    <a:solidFill>
                      <a:srgbClr val="FFFFFF"/>
                    </a:solidFill>
                  </a:tcPr>
                </a:tc>
                <a:tc>
                  <a:txBody>
                    <a:bodyPr/>
                    <a:lstStyle/>
                    <a:p>
                      <a:pPr algn="ctr">
                        <a:defRPr sz="900">
                          <a:solidFill>
                            <a:srgbClr val="000000"/>
                          </a:solidFill>
                          <a:latin typeface="Montserrat"/>
                        </a:defRPr>
                      </a:pPr>
                      <a:r>
                        <a:t>72%</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lnL w="12700" cap="flat" cmpd="sng" algn="ctr">
                      <a:solidFill>
                        <a:schemeClr val="bg1">
                          <a:lumMod val="85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t>1,227,326</a:t>
                      </a:r>
                    </a:p>
                  </a:txBody>
                  <a:tcPr>
                    <a:solidFill>
                      <a:srgbClr val="EBD2D9"/>
                    </a:solidFill>
                  </a:tcPr>
                </a:tc>
                <a:tc>
                  <a:txBody>
                    <a:bodyPr/>
                    <a:lstStyle/>
                    <a:p>
                      <a:pPr algn="ctr">
                        <a:defRPr sz="900" b="1">
                          <a:solidFill>
                            <a:srgbClr val="000000"/>
                          </a:solidFill>
                          <a:latin typeface="Montserrat"/>
                        </a:defRPr>
                      </a:pPr>
                      <a:r>
                        <a:t>1,224,826</a:t>
                      </a:r>
                    </a:p>
                  </a:txBody>
                  <a:tcPr>
                    <a:solidFill>
                      <a:srgbClr val="EBD2D9"/>
                    </a:solidFill>
                  </a:tcPr>
                </a:tc>
                <a:tc>
                  <a:txBody>
                    <a:bodyPr/>
                    <a:lstStyle/>
                    <a:p>
                      <a:pPr algn="ctr">
                        <a:defRPr sz="900" b="1">
                          <a:solidFill>
                            <a:srgbClr val="000000"/>
                          </a:solidFill>
                          <a:latin typeface="Montserrat"/>
                        </a:defRPr>
                      </a:pPr>
                      <a:r>
                        <a:t>0%</a:t>
                      </a:r>
                    </a:p>
                  </a:txBody>
                  <a:tcPr>
                    <a:lnR w="12700" cap="flat" cmpd="sng" algn="ctr">
                      <a:solidFill>
                        <a:schemeClr val="bg1">
                          <a:lumMod val="85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426,959</a:t>
                      </a:r>
                    </a:p>
                  </a:txBody>
                  <a:tcPr>
                    <a:solidFill>
                      <a:srgbClr val="FFFFFF"/>
                    </a:solidFill>
                  </a:tcPr>
                </a:tc>
                <a:tc>
                  <a:txBody>
                    <a:bodyPr/>
                    <a:lstStyle/>
                    <a:p>
                      <a:pPr algn="ctr">
                        <a:defRPr sz="900">
                          <a:solidFill>
                            <a:srgbClr val="000000"/>
                          </a:solidFill>
                          <a:latin typeface="Montserrat"/>
                        </a:defRPr>
                      </a:pPr>
                      <a:r>
                        <a:t>444,886</a:t>
                      </a:r>
                    </a:p>
                  </a:txBody>
                  <a:tcPr>
                    <a:solidFill>
                      <a:srgbClr val="FFFFFF"/>
                    </a:solidFill>
                  </a:tcPr>
                </a:tc>
                <a:tc>
                  <a:txBody>
                    <a:bodyPr/>
                    <a:lstStyle/>
                    <a:p>
                      <a:pPr algn="ctr">
                        <a:defRPr sz="900">
                          <a:solidFill>
                            <a:srgbClr val="000000"/>
                          </a:solidFill>
                          <a:latin typeface="Montserrat"/>
                        </a:defRPr>
                      </a:pPr>
                      <a:r>
                        <a:t>4%</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519,589</a:t>
                      </a:r>
                    </a:p>
                  </a:txBody>
                  <a:tcPr>
                    <a:solidFill>
                      <a:srgbClr val="FFFFFF"/>
                    </a:solidFill>
                  </a:tcPr>
                </a:tc>
                <a:tc>
                  <a:txBody>
                    <a:bodyPr/>
                    <a:lstStyle/>
                    <a:p>
                      <a:pPr algn="ctr">
                        <a:defRPr sz="900">
                          <a:solidFill>
                            <a:srgbClr val="000000"/>
                          </a:solidFill>
                          <a:latin typeface="Montserrat"/>
                        </a:defRPr>
                      </a:pPr>
                      <a:r>
                        <a:t>429,942</a:t>
                      </a:r>
                    </a:p>
                  </a:txBody>
                  <a:tcPr>
                    <a:solidFill>
                      <a:srgbClr val="FFFFFF"/>
                    </a:solidFill>
                  </a:tcPr>
                </a:tc>
                <a:tc>
                  <a:txBody>
                    <a:bodyPr/>
                    <a:lstStyle/>
                    <a:p>
                      <a:pPr algn="ctr">
                        <a:defRPr sz="900">
                          <a:solidFill>
                            <a:srgbClr val="000000"/>
                          </a:solidFill>
                          <a:latin typeface="Montserrat"/>
                        </a:defRPr>
                      </a:pPr>
                      <a:r>
                        <a:t>-17%</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280,778</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349,998</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rPr dirty="0"/>
                        <a:t>25%</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2,878</a:t>
                      </a:r>
                    </a:p>
                  </a:txBody>
                  <a:tcPr>
                    <a:solidFill>
                      <a:srgbClr val="F8F4EC"/>
                    </a:solidFill>
                  </a:tcPr>
                </a:tc>
                <a:tc>
                  <a:txBody>
                    <a:bodyPr/>
                    <a:lstStyle/>
                    <a:p>
                      <a:pPr algn="ctr">
                        <a:defRPr sz="900" b="1">
                          <a:latin typeface="Montserrat"/>
                        </a:defRPr>
                      </a:pPr>
                      <a:r>
                        <a:t>2,191</a:t>
                      </a:r>
                    </a:p>
                  </a:txBody>
                  <a:tcPr>
                    <a:solidFill>
                      <a:srgbClr val="F8F4EC"/>
                    </a:solidFill>
                  </a:tcPr>
                </a:tc>
                <a:tc>
                  <a:txBody>
                    <a:bodyPr/>
                    <a:lstStyle/>
                    <a:p>
                      <a:pPr algn="ctr">
                        <a:defRPr sz="900" b="1">
                          <a:solidFill>
                            <a:srgbClr val="A61C00"/>
                          </a:solidFill>
                          <a:latin typeface="Montserrat"/>
                        </a:defRPr>
                      </a:pPr>
                      <a:r>
                        <a:t>-23%</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12,082</a:t>
                      </a:r>
                    </a:p>
                  </a:txBody>
                  <a:tcPr>
                    <a:solidFill>
                      <a:srgbClr val="F8F4EC"/>
                    </a:solidFill>
                  </a:tcPr>
                </a:tc>
                <a:tc>
                  <a:txBody>
                    <a:bodyPr/>
                    <a:lstStyle/>
                    <a:p>
                      <a:pPr algn="ctr">
                        <a:defRPr sz="900" b="1">
                          <a:latin typeface="Montserrat"/>
                        </a:defRPr>
                      </a:pPr>
                      <a:r>
                        <a:t>16,980</a:t>
                      </a:r>
                    </a:p>
                  </a:txBody>
                  <a:tcPr>
                    <a:solidFill>
                      <a:srgbClr val="F8F4EC"/>
                    </a:solidFill>
                  </a:tcPr>
                </a:tc>
                <a:tc>
                  <a:txBody>
                    <a:bodyPr/>
                    <a:lstStyle/>
                    <a:p>
                      <a:pPr algn="ctr">
                        <a:defRPr sz="900" b="1">
                          <a:latin typeface="Montserrat"/>
                        </a:defRPr>
                      </a:pPr>
                      <a:r>
                        <a:t>41%</a:t>
                      </a:r>
                    </a:p>
                  </a:txBody>
                  <a:tcPr>
                    <a:solidFill>
                      <a:srgbClr val="F8F4EC"/>
                    </a:solidFill>
                  </a:tcPr>
                </a:tc>
                <a:extLst>
                  <a:ext uri="{0D108BD9-81ED-4DB2-BD59-A6C34878D82A}">
                    <a16:rowId xmlns:a16="http://schemas.microsoft.com/office/drawing/2014/main" val="10002"/>
                  </a:ext>
                </a:extLst>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0_ver.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96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371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208</a:t>
                      </a: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1,510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678</a:t>
                      </a: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329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extLst>
                  <a:ext uri="{0D108BD9-81ED-4DB2-BD59-A6C34878D82A}">
                    <a16:rowId xmlns:a16="http://schemas.microsoft.com/office/drawing/2014/main" val="10004"/>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429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1,839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993</a:t>
                      </a:r>
                    </a:p>
                  </a:txBody>
                  <a:tcPr marL="10800" marR="10800" marT="10800" marB="10800"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4183830058"/>
              </p:ext>
            </p:extLst>
          </p:nvPr>
        </p:nvGraphicFramePr>
        <p:xfrm>
          <a:off x="4536000" y="6854400"/>
          <a:ext cx="3096000" cy="1507200"/>
        </p:xfrm>
        <a:graphic>
          <a:graphicData uri="http://schemas.openxmlformats.org/drawingml/2006/table">
            <a:tbl>
              <a:tblPr firstRow="1" bandRow="1">
                <a:tableStyleId>{5C22544A-7EE6-4342-B048-85BDC9FD1C3A}</a:tableStyleId>
              </a:tblPr>
              <a:tblGrid>
                <a:gridCol w="846000">
                  <a:extLst>
                    <a:ext uri="{9D8B030D-6E8A-4147-A177-3AD203B41FA5}">
                      <a16:colId xmlns:a16="http://schemas.microsoft.com/office/drawing/2014/main" val="20000"/>
                    </a:ext>
                  </a:extLst>
                </a:gridCol>
                <a:gridCol w="846000">
                  <a:extLst>
                    <a:ext uri="{9D8B030D-6E8A-4147-A177-3AD203B41FA5}">
                      <a16:colId xmlns:a16="http://schemas.microsoft.com/office/drawing/2014/main" val="20001"/>
                    </a:ext>
                  </a:extLst>
                </a:gridCol>
                <a:gridCol w="846000">
                  <a:extLst>
                    <a:ext uri="{9D8B030D-6E8A-4147-A177-3AD203B41FA5}">
                      <a16:colId xmlns:a16="http://schemas.microsoft.com/office/drawing/2014/main" val="20002"/>
                    </a:ext>
                  </a:extLst>
                </a:gridCol>
                <a:gridCol w="558000">
                  <a:extLst>
                    <a:ext uri="{9D8B030D-6E8A-4147-A177-3AD203B41FA5}">
                      <a16:colId xmlns:a16="http://schemas.microsoft.com/office/drawing/2014/main" val="20003"/>
                    </a:ext>
                  </a:extLst>
                </a:gridCol>
              </a:tblGrid>
              <a:tr h="295200">
                <a:tc gridSpan="4">
                  <a:txBody>
                    <a:bodyPr/>
                    <a:lstStyle/>
                    <a:p>
                      <a:pPr algn="ctr">
                        <a:defRPr sz="1000" b="1">
                          <a:solidFill>
                            <a:srgbClr val="FFFFFF"/>
                          </a:solidFill>
                          <a:latin typeface="Montserrat"/>
                        </a:defRPr>
                      </a:pPr>
                      <a:r>
                        <a:t>IMSS-COPLAMAR</a:t>
                      </a:r>
                    </a:p>
                  </a:txBody>
                  <a:tcPr marL="10800" marR="10800" marT="10800" marB="10800" anchor="ctr">
                    <a:solidFill>
                      <a:srgbClr val="BC955C"/>
                    </a:solidFill>
                  </a:tcPr>
                </a:tc>
                <a:tc hMerge="1">
                  <a:txBody>
                    <a:bodyPr/>
                    <a:lstStyle/>
                    <a:p>
                      <a:endParaRPr/>
                    </a:p>
                  </a:txBody>
                  <a:tcPr marL="10800" marR="10800" marT="10800" marB="10800" anchor="ctr"/>
                </a:tc>
                <a:tc hMerge="1">
                  <a:txBody>
                    <a:bodyPr/>
                    <a:lstStyle/>
                    <a:p>
                      <a:endParaRPr/>
                    </a:p>
                  </a:txBody>
                  <a:tcPr marL="10800" marR="10800" marT="10800" marB="10800" anchor="ctr"/>
                </a:tc>
                <a:tc hMerge="1">
                  <a:txBody>
                    <a:bodyPr/>
                    <a:lstStyle/>
                    <a:p>
                      <a:endParaRPr/>
                    </a:p>
                  </a:txBody>
                  <a:tcPr marL="10800" marR="10800" marT="10800" marB="10800" anchor="ctr"/>
                </a:tc>
                <a:extLst>
                  <a:ext uri="{0D108BD9-81ED-4DB2-BD59-A6C34878D82A}">
                    <a16:rowId xmlns:a16="http://schemas.microsoft.com/office/drawing/2014/main" val="10000"/>
                  </a:ext>
                </a:extLst>
              </a:tr>
              <a:tr h="295200">
                <a:tc>
                  <a:txBody>
                    <a:bodyPr/>
                    <a:lstStyle/>
                    <a:p>
                      <a:pPr algn="ctr">
                        <a:defRPr sz="1000" b="1">
                          <a:solidFill>
                            <a:srgbClr val="FFFFFF"/>
                          </a:solidFill>
                          <a:latin typeface="Montserrat"/>
                        </a:defRPr>
                      </a:pPr>
                      <a:r>
                        <a:t>Nivel</a:t>
                      </a:r>
                    </a:p>
                  </a:txBody>
                  <a:tcPr marL="10800" marR="10800" marT="10800" marB="10800" anchor="ctr">
                    <a:solidFill>
                      <a:srgbClr val="BC955C"/>
                    </a:solidFill>
                  </a:tcPr>
                </a:tc>
                <a:tc>
                  <a:txBody>
                    <a:bodyPr/>
                    <a:lstStyle/>
                    <a:p>
                      <a:pPr algn="ctr">
                        <a:defRPr sz="1000" b="1">
                          <a:solidFill>
                            <a:srgbClr val="FFFFFF"/>
                          </a:solidFill>
                          <a:latin typeface="Montserrat"/>
                        </a:defRPr>
                      </a:pPr>
                      <a:r>
                        <a:t>Unidades</a:t>
                      </a:r>
                    </a:p>
                  </a:txBody>
                  <a:tcPr marL="0" marR="0" marT="10800" marB="10800" anchor="ctr">
                    <a:solidFill>
                      <a:srgbClr val="BC955C"/>
                    </a:solidFill>
                  </a:tcPr>
                </a:tc>
                <a:tc>
                  <a:txBody>
                    <a:bodyPr/>
                    <a:lstStyle/>
                    <a:p>
                      <a:pPr algn="ctr">
                        <a:defRPr sz="1000" b="1">
                          <a:solidFill>
                            <a:srgbClr val="FFFFFF"/>
                          </a:solidFill>
                          <a:latin typeface="Montserrat"/>
                        </a:defRPr>
                      </a:pPr>
                      <a:r>
                        <a:t>Consultorios de MF</a:t>
                      </a:r>
                    </a:p>
                  </a:txBody>
                  <a:tcPr marL="0" marR="0" marT="10800" marB="10800" anchor="ctr">
                    <a:solidFill>
                      <a:srgbClr val="BC955C"/>
                    </a:solidFill>
                  </a:tcPr>
                </a:tc>
                <a:tc>
                  <a:txBody>
                    <a:bodyPr/>
                    <a:lstStyle/>
                    <a:p>
                      <a:pPr algn="ctr">
                        <a:defRPr sz="1000" b="1">
                          <a:solidFill>
                            <a:srgbClr val="FFFFFF"/>
                          </a:solidFill>
                          <a:latin typeface="Montserrat"/>
                        </a:defRPr>
                      </a:pPr>
                      <a:r>
                        <a:t>Camas</a:t>
                      </a:r>
                    </a:p>
                  </a:txBody>
                  <a:tcPr marL="0" marR="0" marT="10800" marB="10800" anchor="ctr">
                    <a:solidFill>
                      <a:srgbClr val="BC955C"/>
                    </a:solidFill>
                  </a:tcPr>
                </a:tc>
                <a:extLst>
                  <a:ext uri="{0D108BD9-81ED-4DB2-BD59-A6C34878D82A}">
                    <a16:rowId xmlns:a16="http://schemas.microsoft.com/office/drawing/2014/main" val="10001"/>
                  </a:ext>
                </a:extLst>
              </a:tr>
              <a:tr h="295200">
                <a:tc>
                  <a:txBody>
                    <a:bodyPr/>
                    <a:lstStyle/>
                    <a:p>
                      <a:pPr algn="l">
                        <a:defRPr sz="1000">
                          <a:solidFill>
                            <a:srgbClr val="000000"/>
                          </a:solidFill>
                          <a:latin typeface="Montserrat"/>
                        </a:defRPr>
                      </a:pPr>
                      <a:r>
                        <a:rPr dirty="0"/>
                        <a:t>Primer</a:t>
                      </a:r>
                      <a:r>
                        <a:rPr lang="es-MX" baseline="30000" dirty="0"/>
                        <a:t>2</a:t>
                      </a:r>
                      <a:endParaRPr baseline="30000" dirty="0"/>
                    </a:p>
                  </a:txBody>
                  <a:tcPr marL="10800" marR="10800" marT="10800" marB="10800" anchor="ctr">
                    <a:solidFill>
                      <a:srgbClr val="FFFFFF"/>
                    </a:solidFill>
                  </a:tcPr>
                </a:tc>
                <a:tc>
                  <a:txBody>
                    <a:bodyPr/>
                    <a:lstStyle/>
                    <a:p>
                      <a:pPr algn="ctr">
                        <a:defRPr sz="1000">
                          <a:solidFill>
                            <a:srgbClr val="000000"/>
                          </a:solidFill>
                          <a:latin typeface="Montserrat"/>
                        </a:defRPr>
                      </a:pPr>
                      <a:r>
                        <a:t>514</a:t>
                      </a:r>
                    </a:p>
                  </a:txBody>
                  <a:tcPr marL="10800" marR="10800" marT="10800" marB="10800" anchor="ctr">
                    <a:solidFill>
                      <a:srgbClr val="FFFFFF"/>
                    </a:solidFill>
                  </a:tcPr>
                </a:tc>
                <a:tc>
                  <a:txBody>
                    <a:bodyPr/>
                    <a:lstStyle/>
                    <a:p>
                      <a:pPr algn="ctr">
                        <a:defRPr sz="1000">
                          <a:solidFill>
                            <a:srgbClr val="000000"/>
                          </a:solidFill>
                          <a:latin typeface="Montserrat"/>
                        </a:defRPr>
                      </a:pPr>
                      <a:r>
                        <a:t>519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extLst>
                  <a:ext uri="{0D108BD9-81ED-4DB2-BD59-A6C34878D82A}">
                    <a16:rowId xmlns:a16="http://schemas.microsoft.com/office/drawing/2014/main" val="10002"/>
                  </a:ext>
                </a:extLst>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25</a:t>
                      </a:r>
                    </a:p>
                  </a:txBody>
                  <a:tcPr marL="10800" marR="10800" marT="10800" marB="10800" anchor="ctr">
                    <a:solidFill>
                      <a:srgbClr val="EFEFEF"/>
                    </a:solidFill>
                  </a:tcPr>
                </a:tc>
                <a:tc>
                  <a:txBody>
                    <a:bodyPr/>
                    <a:lstStyle/>
                    <a:p>
                      <a:pPr algn="ctr">
                        <a:defRPr sz="1000">
                          <a:solidFill>
                            <a:srgbClr val="000000"/>
                          </a:solidFill>
                          <a:latin typeface="Montserrat"/>
                        </a:defRPr>
                      </a:pPr>
                      <a:r>
                        <a:t>220</a:t>
                      </a:r>
                    </a:p>
                  </a:txBody>
                  <a:tcPr marL="10800" marR="10800" marT="10800" marB="10800" anchor="ctr">
                    <a:solidFill>
                      <a:srgbClr val="EFEFEF"/>
                    </a:solidFill>
                  </a:tcPr>
                </a:tc>
                <a:extLst>
                  <a:ext uri="{0D108BD9-81ED-4DB2-BD59-A6C34878D82A}">
                    <a16:rowId xmlns:a16="http://schemas.microsoft.com/office/drawing/2014/main" val="10003"/>
                  </a:ext>
                </a:extLst>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520</a:t>
                      </a:r>
                    </a:p>
                  </a:txBody>
                  <a:tcPr marL="10800" marR="10800" marT="10800" marB="10800" anchor="ctr">
                    <a:solidFill>
                      <a:srgbClr val="D3E9E7"/>
                    </a:solidFill>
                  </a:tcPr>
                </a:tc>
                <a:tc>
                  <a:txBody>
                    <a:bodyPr/>
                    <a:lstStyle/>
                    <a:p>
                      <a:pPr algn="ctr">
                        <a:defRPr sz="1000" b="1">
                          <a:solidFill>
                            <a:srgbClr val="006556"/>
                          </a:solidFill>
                          <a:latin typeface="Montserrat"/>
                        </a:defRPr>
                      </a:pPr>
                      <a:r>
                        <a:t>544</a:t>
                      </a:r>
                    </a:p>
                  </a:txBody>
                  <a:tcPr marL="10800" marR="10800" marT="10800" marB="10800" anchor="ctr">
                    <a:solidFill>
                      <a:srgbClr val="D3E9E7"/>
                    </a:solidFill>
                  </a:tcPr>
                </a:tc>
                <a:tc>
                  <a:txBody>
                    <a:bodyPr/>
                    <a:lstStyle/>
                    <a:p>
                      <a:pPr algn="ctr">
                        <a:defRPr sz="1000" b="1">
                          <a:solidFill>
                            <a:srgbClr val="006556"/>
                          </a:solidFill>
                          <a:latin typeface="Montserrat"/>
                        </a:defRPr>
                      </a:pPr>
                      <a:r>
                        <a:rPr dirty="0"/>
                        <a:t>220</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7" name="Table 136"/>
          <p:cNvGraphicFramePr>
            <a:graphicFrameLocks noGrp="1"/>
          </p:cNvGraphicFramePr>
          <p:nvPr/>
        </p:nvGraphicFramePr>
        <p:xfrm>
          <a:off x="5659200" y="1155600"/>
          <a:ext cx="2026800" cy="146304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1956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extLst>
                  <a:ext uri="{0D108BD9-81ED-4DB2-BD59-A6C34878D82A}">
                    <a16:rowId xmlns:a16="http://schemas.microsoft.com/office/drawing/2014/main" val="10001"/>
                  </a:ext>
                </a:extLst>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10</a:t>
                      </a:r>
                    </a:p>
                  </a:txBody>
                  <a:tcPr>
                    <a:solidFill>
                      <a:srgbClr val="FFFFFF"/>
                    </a:solidFill>
                  </a:tcPr>
                </a:tc>
                <a:extLst>
                  <a:ext uri="{0D108BD9-81ED-4DB2-BD59-A6C34878D82A}">
                    <a16:rowId xmlns:a16="http://schemas.microsoft.com/office/drawing/2014/main" val="10002"/>
                  </a:ext>
                </a:extLst>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extLst>
                  <a:ext uri="{0D108BD9-81ED-4DB2-BD59-A6C34878D82A}">
                    <a16:rowId xmlns:a16="http://schemas.microsoft.com/office/drawing/2014/main" val="10003"/>
                  </a:ext>
                </a:extLst>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4"/>
                  </a:ext>
                </a:extLst>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23</a:t>
                      </a:r>
                    </a:p>
                  </a:txBody>
                  <a:tcPr>
                    <a:solidFill>
                      <a:srgbClr val="D3E9E7"/>
                    </a:solidFill>
                  </a:tcPr>
                </a:tc>
                <a:extLst>
                  <a:ext uri="{0D108BD9-81ED-4DB2-BD59-A6C34878D82A}">
                    <a16:rowId xmlns:a16="http://schemas.microsoft.com/office/drawing/2014/main" val="10005"/>
                  </a:ext>
                </a:extLst>
              </a:tr>
            </a:tbl>
          </a:graphicData>
        </a:graphic>
      </p:graphicFrame>
      <p:sp>
        <p:nvSpPr>
          <p:cNvPr id="138" name="TextBox 137"/>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103 UMF, 1 UMF-UMAA y no incluye 26 Unidades Auxiliares de Medicina Familiar.</a:t>
            </a:r>
            <a:br/>
            <a:r>
              <a:t>² No incluye Unidades médicas móviles (UMM) ni Brigadas de salud (BS).</a:t>
            </a:r>
          </a:p>
        </p:txBody>
      </p:sp>
      <p:sp>
        <p:nvSpPr>
          <p:cNvPr id="139" name="TextBox 138"/>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rPr dirty="0"/>
              <a:t>Corte de información: m</a:t>
            </a:r>
            <a:r>
              <a:rPr lang="es-MX" dirty="0" err="1"/>
              <a:t>syo</a:t>
            </a:r>
            <a:r>
              <a:rPr dirty="0"/>
              <a:t>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5;g3d0b4d3c5c9_0_54">
            <a:extLst>
              <a:ext uri="{FF2B5EF4-FFF2-40B4-BE49-F238E27FC236}">
                <a16:creationId xmlns:a16="http://schemas.microsoft.com/office/drawing/2014/main" id="{1B3B906C-9B27-4134-8860-07612707B13D}"/>
              </a:ext>
            </a:extLst>
          </p:cNvPr>
          <p:cNvGraphicFramePr/>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a:solidFill>
                            <a:srgbClr val="A42145"/>
                          </a:solidFill>
                          <a:latin typeface="Montserrat"/>
                          <a:ea typeface="Montserrat"/>
                          <a:cs typeface="Montserrat"/>
                          <a:sym typeface="Montserrat"/>
                        </a:rPr>
                        <a:t>Primer hospital en la entidad:</a:t>
                      </a:r>
                      <a:endParaRPr sz="1800" b="1">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a:solidFill>
                            <a:srgbClr val="BC955C"/>
                          </a:solidFill>
                          <a:latin typeface="Montserrat"/>
                          <a:ea typeface="Montserrat"/>
                          <a:cs typeface="Montserrat"/>
                          <a:sym typeface="Montserrat"/>
                        </a:rPr>
                        <a:t>Hospital Regional, Orizaba</a:t>
                      </a:r>
                      <a:endParaRPr sz="1800" b="1">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7;g3d0b4d3c5c9_0_54">
            <a:extLst>
              <a:ext uri="{FF2B5EF4-FFF2-40B4-BE49-F238E27FC236}">
                <a16:creationId xmlns:a16="http://schemas.microsoft.com/office/drawing/2014/main" id="{2FF17797-3B95-7227-C53B-8E2F57EEF272}"/>
              </a:ext>
            </a:extLst>
          </p:cNvPr>
          <p:cNvPicPr preferRelativeResize="0"/>
          <p:nvPr/>
        </p:nvPicPr>
        <p:blipFill>
          <a:blip r:embed="rId4">
            <a:alphaModFix/>
          </a:blip>
          <a:stretch>
            <a:fillRect/>
          </a:stretch>
        </p:blipFill>
        <p:spPr>
          <a:xfrm>
            <a:off x="1224622" y="1937833"/>
            <a:ext cx="5654355" cy="2575064"/>
          </a:xfrm>
          <a:prstGeom prst="rect">
            <a:avLst/>
          </a:prstGeom>
          <a:noFill/>
          <a:ln>
            <a:noFill/>
          </a:ln>
        </p:spPr>
      </p:pic>
      <p:sp>
        <p:nvSpPr>
          <p:cNvPr id="7" name="CuadroTexto 6">
            <a:extLst>
              <a:ext uri="{FF2B5EF4-FFF2-40B4-BE49-F238E27FC236}">
                <a16:creationId xmlns:a16="http://schemas.microsoft.com/office/drawing/2014/main" id="{69D23431-8F94-72E8-EE34-962CEA54B13E}"/>
              </a:ext>
            </a:extLst>
          </p:cNvPr>
          <p:cNvSpPr txBox="1"/>
          <p:nvPr/>
        </p:nvSpPr>
        <p:spPr>
          <a:xfrm>
            <a:off x="1064233" y="4855756"/>
            <a:ext cx="5975131" cy="1897955"/>
          </a:xfrm>
          <a:prstGeom prst="rect">
            <a:avLst/>
          </a:prstGeom>
          <a:noFill/>
        </p:spPr>
        <p:txBody>
          <a:bodyPr wrap="square">
            <a:spAutoFit/>
          </a:bodyPr>
          <a:lstStyle/>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El IMSS comenzó a operar en el estado el 17 de marzo de 1947, en Orizaba, mediante consultas de medicina general y atención básica, considerada de las primeras del país en incorporarse. </a:t>
            </a:r>
          </a:p>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El primer hospital del IMSS en Veracruz fue el Hospital Regional de Orizaba, iniciando operaciones el 30 de enero de 1959, aunque el edificio había sido concluido dos años antes, permaneció en proceso de equipamiento.</a:t>
            </a:r>
          </a:p>
          <a:p>
            <a:pPr marL="0" marR="0" lvl="0" indent="0" algn="just" defTabSz="914400" rtl="0" eaLnBrk="1" fontAlgn="base" latinLnBrk="0" hangingPunct="1">
              <a:lnSpc>
                <a:spcPct val="100000"/>
              </a:lnSpc>
              <a:spcBef>
                <a:spcPts val="1000"/>
              </a:spcBef>
              <a:spcAft>
                <a:spcPts val="100"/>
              </a:spcAft>
              <a:buClr>
                <a:srgbClr val="000000"/>
              </a:buClr>
              <a:buSzTx/>
              <a:buFont typeface="Arial" panose="020B0604020202020204" pitchFamily="34" charset="0"/>
              <a:buChar char="•"/>
              <a:tabLst/>
              <a:defRPr/>
            </a:pPr>
            <a:r>
              <a:rPr kumimoji="0" lang="es-ES" sz="1100" b="0" i="0" u="none" strike="noStrike" kern="0" cap="none" spc="0" normalizeH="0" baseline="0" noProof="0">
                <a:ln>
                  <a:noFill/>
                </a:ln>
                <a:solidFill>
                  <a:srgbClr val="000000"/>
                </a:solidFill>
                <a:effectLst/>
                <a:uLnTx/>
                <a:uFillTx/>
                <a:latin typeface="Montserrat" panose="00000500000000000000" pitchFamily="2" charset="0"/>
                <a:cs typeface="Arial"/>
                <a:sym typeface="Arial"/>
              </a:rPr>
              <a:t>El Hospital contaba con capacidad hospitalaria acorde a un hospital regional de la época, comenzó brindando servicios de hospitalización general, urgencias, cirugía básica,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9" name="TextBox 8"/>
          <p:cNvSpPr txBox="1"/>
          <p:nvPr/>
        </p:nvSpPr>
        <p:spPr>
          <a:xfrm>
            <a:off x="146304" y="640080"/>
            <a:ext cx="5218095" cy="41549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100" b="1">
                <a:solidFill>
                  <a:srgbClr val="BC955C"/>
                </a:solidFill>
                <a:latin typeface="Montserrat"/>
              </a:defRPr>
            </a:pPr>
            <a:r>
              <a:rPr kumimoji="0" sz="2100" b="1" i="0" u="none" strike="noStrike" kern="0" cap="none" spc="0" normalizeH="0" baseline="0" noProof="0" err="1">
                <a:ln>
                  <a:noFill/>
                </a:ln>
                <a:solidFill>
                  <a:srgbClr val="BC955C"/>
                </a:solidFill>
                <a:effectLst/>
                <a:uLnTx/>
                <a:uFillTx/>
                <a:latin typeface="Montserrat"/>
                <a:cs typeface="Arial"/>
                <a:sym typeface="Arial"/>
              </a:rPr>
              <a:t>Capacidad</a:t>
            </a:r>
            <a:r>
              <a:rPr kumimoji="0" sz="2100" b="1" i="0" u="none" strike="noStrike" kern="0" cap="none" spc="0" normalizeH="0" baseline="0" noProof="0">
                <a:ln>
                  <a:noFill/>
                </a:ln>
                <a:solidFill>
                  <a:srgbClr val="BC955C"/>
                </a:solidFill>
                <a:effectLst/>
                <a:uLnTx/>
                <a:uFillTx/>
                <a:latin typeface="Montserrat"/>
                <a:cs typeface="Arial"/>
                <a:sym typeface="Arial"/>
              </a:rPr>
              <a:t> </a:t>
            </a:r>
            <a:r>
              <a:rPr kumimoji="0" sz="2100" b="1" i="0" u="none" strike="noStrike" kern="0" cap="none" spc="0" normalizeH="0" baseline="0" noProof="0" err="1">
                <a:ln>
                  <a:noFill/>
                </a:ln>
                <a:solidFill>
                  <a:srgbClr val="BC955C"/>
                </a:solidFill>
                <a:effectLst/>
                <a:uLnTx/>
                <a:uFillTx/>
                <a:latin typeface="Montserrat"/>
                <a:cs typeface="Arial"/>
                <a:sym typeface="Arial"/>
              </a:rPr>
              <a:t>médica</a:t>
            </a:r>
            <a:r>
              <a:rPr kumimoji="0" sz="2100" b="1" i="0" u="none" strike="noStrike" kern="0" cap="none" spc="0" normalizeH="0" baseline="0" noProof="0">
                <a:ln>
                  <a:noFill/>
                </a:ln>
                <a:solidFill>
                  <a:srgbClr val="BC955C"/>
                </a:solidFill>
                <a:effectLst/>
                <a:uLnTx/>
                <a:uFillTx/>
                <a:latin typeface="Montserrat"/>
                <a:cs typeface="Arial"/>
                <a:sym typeface="Arial"/>
              </a:rPr>
              <a:t> </a:t>
            </a:r>
            <a:r>
              <a:rPr kumimoji="0" sz="2100" b="1" i="0" u="none" strike="noStrike" kern="0" cap="none" spc="0" normalizeH="0" baseline="0" noProof="0" err="1">
                <a:ln>
                  <a:noFill/>
                </a:ln>
                <a:solidFill>
                  <a:srgbClr val="BC955C"/>
                </a:solidFill>
                <a:effectLst/>
                <a:uLnTx/>
                <a:uFillTx/>
                <a:latin typeface="Montserrat"/>
                <a:cs typeface="Arial"/>
                <a:sym typeface="Arial"/>
              </a:rPr>
              <a:t>instalada</a:t>
            </a:r>
            <a:r>
              <a:rPr kumimoji="0" lang="es-MX" sz="2100" b="1" i="0" u="none" strike="noStrike" kern="0" cap="none" spc="0" normalizeH="0" baseline="0" noProof="0">
                <a:ln>
                  <a:noFill/>
                </a:ln>
                <a:solidFill>
                  <a:srgbClr val="BC955C"/>
                </a:solidFill>
                <a:effectLst/>
                <a:uLnTx/>
                <a:uFillTx/>
                <a:latin typeface="Montserrat"/>
                <a:cs typeface="Arial"/>
                <a:sym typeface="Arial"/>
              </a:rPr>
              <a:t> (1 de 2)</a:t>
            </a:r>
            <a:endParaRPr kumimoji="0" sz="21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0_VERACRUZ.png"/>
          <p:cNvPicPr>
            <a:picLocks noChangeAspect="1"/>
          </p:cNvPicPr>
          <p:nvPr/>
        </p:nvPicPr>
        <p:blipFill>
          <a:blip r:embed="rId5"/>
          <a:stretch>
            <a:fillRect/>
          </a:stretch>
        </p:blipFill>
        <p:spPr>
          <a:xfrm>
            <a:off x="50400" y="7096569"/>
            <a:ext cx="7488000" cy="904431"/>
          </a:xfrm>
          <a:prstGeom prst="rect">
            <a:avLst/>
          </a:prstGeom>
        </p:spPr>
      </p:pic>
      <p:sp>
        <p:nvSpPr>
          <p:cNvPr id="13" name="TextBox 12"/>
          <p:cNvSpPr txBox="1"/>
          <p:nvPr/>
        </p:nvSpPr>
        <p:spPr>
          <a:xfrm>
            <a:off x="100800" y="9507600"/>
            <a:ext cx="7387200" cy="24622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FFFFFF"/>
                </a:solidFill>
                <a:latin typeface="Montserrat"/>
              </a:defRPr>
            </a:pP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rgbClr val="FFFFFF"/>
                </a:solidFill>
                <a:effectLst/>
                <a:uLnTx/>
                <a:uFillTx/>
                <a:latin typeface="Montserrat"/>
                <a:cs typeface="Arial"/>
                <a:sym typeface="Arial"/>
              </a:rPr>
              <a:t>y</a:t>
            </a:r>
            <a:r>
              <a:rPr kumimoji="0" sz="800" b="0" i="0" u="none" strike="noStrike" kern="0" cap="none" spc="0" normalizeH="0" baseline="0" noProof="0" dirty="0">
                <a:ln>
                  <a:noFill/>
                </a:ln>
                <a:solidFill>
                  <a:srgbClr val="FFFFFF"/>
                </a:solidFill>
                <a:effectLst/>
                <a:uLnTx/>
                <a:uFillTx/>
                <a:latin typeface="Montserrat"/>
                <a:cs typeface="Arial"/>
                <a:sym typeface="Arial"/>
              </a:rPr>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146304" y="640080"/>
            <a:ext cx="4174541" cy="41549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100" b="1">
                <a:solidFill>
                  <a:srgbClr val="BC955C"/>
                </a:solidFill>
                <a:latin typeface="Montserrat"/>
              </a:defRPr>
            </a:pPr>
            <a:r>
              <a:rPr kumimoji="0" sz="2100" b="1" i="0" u="none" strike="noStrike" kern="0" cap="none" spc="0" normalizeH="0" baseline="0" noProof="0" err="1">
                <a:ln>
                  <a:noFill/>
                </a:ln>
                <a:solidFill>
                  <a:srgbClr val="BC955C"/>
                </a:solidFill>
                <a:effectLst/>
                <a:uLnTx/>
                <a:uFillTx/>
                <a:latin typeface="Montserrat"/>
                <a:cs typeface="Arial"/>
                <a:sym typeface="Arial"/>
              </a:rPr>
              <a:t>Capacidad</a:t>
            </a:r>
            <a:r>
              <a:rPr kumimoji="0" sz="2100" b="1" i="0" u="none" strike="noStrike" kern="0" cap="none" spc="0" normalizeH="0" baseline="0" noProof="0">
                <a:ln>
                  <a:noFill/>
                </a:ln>
                <a:solidFill>
                  <a:srgbClr val="BC955C"/>
                </a:solidFill>
                <a:effectLst/>
                <a:uLnTx/>
                <a:uFillTx/>
                <a:latin typeface="Montserrat"/>
                <a:cs typeface="Arial"/>
                <a:sym typeface="Arial"/>
              </a:rPr>
              <a:t> médica </a:t>
            </a:r>
            <a:r>
              <a:rPr kumimoji="0" sz="2100" b="1" i="0" u="none" strike="noStrike" kern="0" cap="none" spc="0" normalizeH="0" baseline="0" noProof="0" err="1">
                <a:ln>
                  <a:noFill/>
                </a:ln>
                <a:solidFill>
                  <a:srgbClr val="BC955C"/>
                </a:solidFill>
                <a:effectLst/>
                <a:uLnTx/>
                <a:uFillTx/>
                <a:latin typeface="Montserrat"/>
                <a:cs typeface="Arial"/>
                <a:sym typeface="Arial"/>
              </a:rPr>
              <a:t>instalada</a:t>
            </a:r>
            <a:endParaRPr kumimoji="0" sz="21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613261865"/>
              </p:ext>
            </p:extLst>
          </p:nvPr>
        </p:nvGraphicFramePr>
        <p:xfrm>
          <a:off x="52090" y="4104712"/>
          <a:ext cx="7580628" cy="2103120"/>
        </p:xfrm>
        <a:graphic>
          <a:graphicData uri="http://schemas.openxmlformats.org/drawingml/2006/table">
            <a:tbl>
              <a:tblPr firstRow="1" bandRow="1">
                <a:tableStyleId>{5C22544A-7EE6-4342-B048-85BDC9FD1C3A}</a:tableStyleId>
              </a:tblPr>
              <a:tblGrid>
                <a:gridCol w="1962045">
                  <a:extLst>
                    <a:ext uri="{9D8B030D-6E8A-4147-A177-3AD203B41FA5}">
                      <a16:colId xmlns:a16="http://schemas.microsoft.com/office/drawing/2014/main" val="20000"/>
                    </a:ext>
                  </a:extLst>
                </a:gridCol>
                <a:gridCol w="1327056">
                  <a:extLst>
                    <a:ext uri="{9D8B030D-6E8A-4147-A177-3AD203B41FA5}">
                      <a16:colId xmlns:a16="http://schemas.microsoft.com/office/drawing/2014/main" val="20001"/>
                    </a:ext>
                  </a:extLst>
                </a:gridCol>
                <a:gridCol w="616660">
                  <a:extLst>
                    <a:ext uri="{9D8B030D-6E8A-4147-A177-3AD203B41FA5}">
                      <a16:colId xmlns:a16="http://schemas.microsoft.com/office/drawing/2014/main" val="20002"/>
                    </a:ext>
                  </a:extLst>
                </a:gridCol>
                <a:gridCol w="835253">
                  <a:extLst>
                    <a:ext uri="{9D8B030D-6E8A-4147-A177-3AD203B41FA5}">
                      <a16:colId xmlns:a16="http://schemas.microsoft.com/office/drawing/2014/main" val="20003"/>
                    </a:ext>
                  </a:extLst>
                </a:gridCol>
                <a:gridCol w="802655">
                  <a:extLst>
                    <a:ext uri="{9D8B030D-6E8A-4147-A177-3AD203B41FA5}">
                      <a16:colId xmlns:a16="http://schemas.microsoft.com/office/drawing/2014/main" val="20004"/>
                    </a:ext>
                  </a:extLst>
                </a:gridCol>
                <a:gridCol w="948916">
                  <a:extLst>
                    <a:ext uri="{9D8B030D-6E8A-4147-A177-3AD203B41FA5}">
                      <a16:colId xmlns:a16="http://schemas.microsoft.com/office/drawing/2014/main" val="20005"/>
                    </a:ext>
                  </a:extLst>
                </a:gridCol>
                <a:gridCol w="1088043">
                  <a:extLst>
                    <a:ext uri="{9D8B030D-6E8A-4147-A177-3AD203B41FA5}">
                      <a16:colId xmlns:a16="http://schemas.microsoft.com/office/drawing/2014/main" val="20006"/>
                    </a:ext>
                  </a:extLst>
                </a:gridCol>
              </a:tblGrid>
              <a:tr h="304085">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rPr dirty="0"/>
                        <a:t>Camas no </a:t>
                      </a:r>
                      <a:r>
                        <a:rPr dirty="0" err="1"/>
                        <a:t>censables</a:t>
                      </a:r>
                      <a:endParaRPr dirty="0"/>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138221">
                <a:tc>
                  <a:txBody>
                    <a:bodyPr/>
                    <a:lstStyle/>
                    <a:p>
                      <a:pPr algn="l">
                        <a:defRPr sz="900">
                          <a:latin typeface="Montserrat"/>
                        </a:defRPr>
                      </a:pPr>
                      <a:r>
                        <a:t>HGZMF 28 Martínez de la Torre</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extLst>
                  <a:ext uri="{0D108BD9-81ED-4DB2-BD59-A6C34878D82A}">
                    <a16:rowId xmlns:a16="http://schemas.microsoft.com/office/drawing/2014/main" val="10002"/>
                  </a:ext>
                </a:extLst>
              </a:tr>
              <a:tr h="138221">
                <a:tc>
                  <a:txBody>
                    <a:bodyPr/>
                    <a:lstStyle/>
                    <a:p>
                      <a:pPr algn="l">
                        <a:defRPr sz="900">
                          <a:latin typeface="Montserrat"/>
                        </a:defRPr>
                      </a:pPr>
                      <a:r>
                        <a:t>HGZ 24 Poza Rica</a:t>
                      </a:r>
                    </a:p>
                  </a:txBody>
                  <a:tcPr anchor="ctr">
                    <a:solidFill>
                      <a:srgbClr val="FFFFFF"/>
                    </a:solidFill>
                  </a:tcPr>
                </a:tc>
                <a:tc>
                  <a:txBody>
                    <a:bodyPr/>
                    <a:lstStyle/>
                    <a:p>
                      <a:pPr algn="ctr">
                        <a:defRPr sz="900">
                          <a:latin typeface="Montserrat"/>
                        </a:defRPr>
                      </a:pPr>
                      <a:r>
                        <a:t>Noviembre de 1976</a:t>
                      </a:r>
                    </a:p>
                  </a:txBody>
                  <a:tcPr anchor="ctr">
                    <a:solidFill>
                      <a:srgbClr val="FFFFFF"/>
                    </a:solidFill>
                  </a:tcPr>
                </a:tc>
                <a:tc>
                  <a:txBody>
                    <a:bodyPr/>
                    <a:lstStyle/>
                    <a:p>
                      <a:pPr algn="ctr">
                        <a:defRPr sz="900">
                          <a:latin typeface="Montserrat"/>
                        </a:defRPr>
                      </a:pPr>
                      <a:r>
                        <a:t>122</a:t>
                      </a:r>
                    </a:p>
                  </a:txBody>
                  <a:tcPr anchor="ctr">
                    <a:solidFill>
                      <a:srgbClr val="FFFFFF"/>
                    </a:solidFill>
                  </a:tcPr>
                </a:tc>
                <a:tc>
                  <a:txBody>
                    <a:bodyPr/>
                    <a:lstStyle/>
                    <a:p>
                      <a:pPr algn="ctr">
                        <a:defRPr sz="900">
                          <a:latin typeface="Montserrat"/>
                        </a:defRPr>
                      </a:pPr>
                      <a:r>
                        <a:t>58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extLst>
                  <a:ext uri="{0D108BD9-81ED-4DB2-BD59-A6C34878D82A}">
                    <a16:rowId xmlns:a16="http://schemas.microsoft.com/office/drawing/2014/main" val="10003"/>
                  </a:ext>
                </a:extLst>
              </a:tr>
              <a:tr h="138221">
                <a:tc>
                  <a:txBody>
                    <a:bodyPr/>
                    <a:lstStyle/>
                    <a:p>
                      <a:pPr algn="l">
                        <a:defRPr sz="900">
                          <a:latin typeface="Montserrat"/>
                        </a:defRPr>
                      </a:pPr>
                      <a:r>
                        <a:t>HGSMF 33 S. Andrés Tuxtla</a:t>
                      </a:r>
                    </a:p>
                  </a:txBody>
                  <a:tcPr anchor="ctr">
                    <a:solidFill>
                      <a:srgbClr val="EFEFEF"/>
                    </a:solidFill>
                  </a:tcPr>
                </a:tc>
                <a:tc>
                  <a:txBody>
                    <a:bodyPr/>
                    <a:lstStyle/>
                    <a:p>
                      <a:pPr algn="ctr">
                        <a:defRPr sz="900">
                          <a:latin typeface="Montserrat"/>
                        </a:defRPr>
                      </a:pPr>
                      <a:r>
                        <a:t>Noviembre de 1979</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6</a:t>
                      </a:r>
                    </a:p>
                  </a:txBody>
                  <a:tcPr anchor="ctr">
                    <a:solidFill>
                      <a:srgbClr val="EFEFEF"/>
                    </a:solidFill>
                  </a:tcPr>
                </a:tc>
                <a:extLst>
                  <a:ext uri="{0D108BD9-81ED-4DB2-BD59-A6C34878D82A}">
                    <a16:rowId xmlns:a16="http://schemas.microsoft.com/office/drawing/2014/main" val="10004"/>
                  </a:ext>
                </a:extLst>
              </a:tr>
              <a:tr h="138221">
                <a:tc>
                  <a:txBody>
                    <a:bodyPr/>
                    <a:lstStyle/>
                    <a:p>
                      <a:pPr algn="l">
                        <a:defRPr sz="900">
                          <a:latin typeface="Montserrat"/>
                        </a:defRPr>
                      </a:pPr>
                      <a:r>
                        <a:t>HGZMF 36 José Cardel</a:t>
                      </a:r>
                    </a:p>
                  </a:txBody>
                  <a:tcPr anchor="ctr">
                    <a:solidFill>
                      <a:srgbClr val="FFFFFF"/>
                    </a:solidFill>
                  </a:tcPr>
                </a:tc>
                <a:tc>
                  <a:txBody>
                    <a:bodyPr/>
                    <a:lstStyle/>
                    <a:p>
                      <a:pPr algn="ctr">
                        <a:defRPr sz="900">
                          <a:latin typeface="Montserrat"/>
                        </a:defRPr>
                      </a:pPr>
                      <a:r>
                        <a:t>Enero de 1993</a:t>
                      </a:r>
                    </a:p>
                  </a:txBody>
                  <a:tcPr anchor="ctr">
                    <a:solidFill>
                      <a:srgbClr val="FFFFFF"/>
                    </a:solidFill>
                  </a:tcPr>
                </a:tc>
                <a:tc>
                  <a:txBody>
                    <a:bodyPr/>
                    <a:lstStyle/>
                    <a:p>
                      <a:pPr algn="ctr">
                        <a:defRPr sz="900">
                          <a:latin typeface="Montserrat"/>
                        </a:defRPr>
                      </a:pPr>
                      <a:r>
                        <a:t>62</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12</a:t>
                      </a:r>
                    </a:p>
                  </a:txBody>
                  <a:tcPr anchor="ctr">
                    <a:solidFill>
                      <a:srgbClr val="FFFFFF"/>
                    </a:solidFill>
                  </a:tcPr>
                </a:tc>
                <a:extLst>
                  <a:ext uri="{0D108BD9-81ED-4DB2-BD59-A6C34878D82A}">
                    <a16:rowId xmlns:a16="http://schemas.microsoft.com/office/drawing/2014/main" val="10005"/>
                  </a:ext>
                </a:extLst>
              </a:tr>
              <a:tr h="138221">
                <a:tc>
                  <a:txBody>
                    <a:bodyPr/>
                    <a:lstStyle/>
                    <a:p>
                      <a:pPr algn="l">
                        <a:defRPr sz="900">
                          <a:latin typeface="Montserrat"/>
                        </a:defRPr>
                      </a:pPr>
                      <a:r>
                        <a:t>HGZ 71 Veracruz</a:t>
                      </a:r>
                    </a:p>
                  </a:txBody>
                  <a:tcPr anchor="ctr">
                    <a:solidFill>
                      <a:srgbClr val="EFEFEF"/>
                    </a:solidFill>
                  </a:tcPr>
                </a:tc>
                <a:tc>
                  <a:txBody>
                    <a:bodyPr/>
                    <a:lstStyle/>
                    <a:p>
                      <a:pPr algn="ctr">
                        <a:defRPr sz="900">
                          <a:latin typeface="Montserrat"/>
                        </a:defRPr>
                      </a:pPr>
                      <a:r>
                        <a:rPr err="1"/>
                        <a:t>Octubre</a:t>
                      </a:r>
                      <a:r>
                        <a:t> de 1994</a:t>
                      </a:r>
                    </a:p>
                  </a:txBody>
                  <a:tcPr anchor="ctr">
                    <a:solidFill>
                      <a:srgbClr val="EFEFEF"/>
                    </a:solidFill>
                  </a:tcPr>
                </a:tc>
                <a:tc>
                  <a:txBody>
                    <a:bodyPr/>
                    <a:lstStyle/>
                    <a:p>
                      <a:pPr algn="ctr">
                        <a:defRPr sz="900">
                          <a:latin typeface="Montserrat"/>
                        </a:defRPr>
                      </a:pPr>
                      <a:r>
                        <a:t>223</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23</a:t>
                      </a:r>
                    </a:p>
                  </a:txBody>
                  <a:tcPr anchor="ctr">
                    <a:solidFill>
                      <a:srgbClr val="EFEFEF"/>
                    </a:solidFill>
                  </a:tcPr>
                </a:tc>
                <a:extLst>
                  <a:ext uri="{0D108BD9-81ED-4DB2-BD59-A6C34878D82A}">
                    <a16:rowId xmlns:a16="http://schemas.microsoft.com/office/drawing/2014/main" val="10006"/>
                  </a:ext>
                </a:extLst>
              </a:tr>
              <a:tr h="138221">
                <a:tc>
                  <a:txBody>
                    <a:bodyPr/>
                    <a:lstStyle/>
                    <a:p>
                      <a:pPr algn="l">
                        <a:defRPr sz="900">
                          <a:latin typeface="Montserrat"/>
                        </a:defRPr>
                      </a:pPr>
                      <a:r>
                        <a:t>HGSMF 26 Tuxpan</a:t>
                      </a:r>
                    </a:p>
                  </a:txBody>
                  <a:tcPr anchor="ctr">
                    <a:solidFill>
                      <a:srgbClr val="FFFFFF"/>
                    </a:solidFill>
                  </a:tcPr>
                </a:tc>
                <a:tc>
                  <a:txBody>
                    <a:bodyPr/>
                    <a:lstStyle/>
                    <a:p>
                      <a:pPr algn="ctr">
                        <a:defRPr sz="900">
                          <a:latin typeface="Montserrat"/>
                        </a:defRPr>
                      </a:pPr>
                      <a:r>
                        <a:t>Octubre de 1996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6</a:t>
                      </a:r>
                    </a:p>
                  </a:txBody>
                  <a:tcPr anchor="ctr">
                    <a:solidFill>
                      <a:srgbClr val="FFFFFF"/>
                    </a:solidFill>
                  </a:tcPr>
                </a:tc>
                <a:extLst>
                  <a:ext uri="{0D108BD9-81ED-4DB2-BD59-A6C34878D82A}">
                    <a16:rowId xmlns:a16="http://schemas.microsoft.com/office/drawing/2014/main" val="10007"/>
                  </a:ext>
                </a:extLst>
              </a:tr>
              <a:tr h="138221">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1,510</a:t>
                      </a:r>
                    </a:p>
                  </a:txBody>
                  <a:tcPr anchor="ctr">
                    <a:solidFill>
                      <a:srgbClr val="D3E9E7"/>
                    </a:solidFill>
                  </a:tcPr>
                </a:tc>
                <a:tc>
                  <a:txBody>
                    <a:bodyPr/>
                    <a:lstStyle/>
                    <a:p>
                      <a:pPr algn="ctr">
                        <a:defRPr sz="900" b="1">
                          <a:solidFill>
                            <a:srgbClr val="006556"/>
                          </a:solidFill>
                          <a:latin typeface="Montserrat"/>
                        </a:defRPr>
                      </a:pPr>
                      <a:r>
                        <a:t>678</a:t>
                      </a:r>
                    </a:p>
                  </a:txBody>
                  <a:tcPr anchor="ctr">
                    <a:solidFill>
                      <a:srgbClr val="D3E9E7"/>
                    </a:solidFill>
                  </a:tcPr>
                </a:tc>
                <a:tc>
                  <a:txBody>
                    <a:bodyPr/>
                    <a:lstStyle/>
                    <a:p>
                      <a:pPr algn="ctr">
                        <a:defRPr sz="900" b="1">
                          <a:solidFill>
                            <a:srgbClr val="006556"/>
                          </a:solidFill>
                          <a:latin typeface="Montserrat"/>
                        </a:defRPr>
                      </a:pPr>
                      <a:r>
                        <a:t>42</a:t>
                      </a:r>
                    </a:p>
                  </a:txBody>
                  <a:tcPr anchor="ctr">
                    <a:solidFill>
                      <a:srgbClr val="D3E9E7"/>
                    </a:solidFill>
                  </a:tcPr>
                </a:tc>
                <a:tc>
                  <a:txBody>
                    <a:bodyPr/>
                    <a:lstStyle/>
                    <a:p>
                      <a:pPr algn="ctr">
                        <a:defRPr sz="900" b="1">
                          <a:solidFill>
                            <a:srgbClr val="006556"/>
                          </a:solidFill>
                          <a:latin typeface="Montserrat"/>
                        </a:defRPr>
                      </a:pPr>
                      <a:r>
                        <a:t>53</a:t>
                      </a:r>
                    </a:p>
                  </a:txBody>
                  <a:tcPr anchor="ctr">
                    <a:solidFill>
                      <a:srgbClr val="D3E9E7"/>
                    </a:solidFill>
                  </a:tcPr>
                </a:tc>
                <a:tc>
                  <a:txBody>
                    <a:bodyPr/>
                    <a:lstStyle/>
                    <a:p>
                      <a:pPr algn="ctr">
                        <a:defRPr sz="900" b="1">
                          <a:solidFill>
                            <a:srgbClr val="006556"/>
                          </a:solidFill>
                          <a:latin typeface="Montserrat"/>
                        </a:defRPr>
                      </a:pPr>
                      <a:r>
                        <a:rPr dirty="0"/>
                        <a:t>241</a:t>
                      </a:r>
                    </a:p>
                  </a:txBody>
                  <a:tcPr anchor="ctr">
                    <a:solidFill>
                      <a:srgbClr val="D3E9E7"/>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nvGraphicFramePr>
        <p:xfrm>
          <a:off x="81223" y="6157928"/>
          <a:ext cx="7600807" cy="2103120"/>
        </p:xfrm>
        <a:graphic>
          <a:graphicData uri="http://schemas.openxmlformats.org/drawingml/2006/table">
            <a:tbl>
              <a:tblPr firstRow="1" bandRow="1">
                <a:tableStyleId>{5C22544A-7EE6-4342-B048-85BDC9FD1C3A}</a:tableStyleId>
              </a:tblPr>
              <a:tblGrid>
                <a:gridCol w="195660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809625">
                  <a:extLst>
                    <a:ext uri="{9D8B030D-6E8A-4147-A177-3AD203B41FA5}">
                      <a16:colId xmlns:a16="http://schemas.microsoft.com/office/drawing/2014/main" val="20004"/>
                    </a:ext>
                  </a:extLst>
                </a:gridCol>
                <a:gridCol w="933450">
                  <a:extLst>
                    <a:ext uri="{9D8B030D-6E8A-4147-A177-3AD203B41FA5}">
                      <a16:colId xmlns:a16="http://schemas.microsoft.com/office/drawing/2014/main" val="20005"/>
                    </a:ext>
                  </a:extLst>
                </a:gridCol>
                <a:gridCol w="1091257">
                  <a:extLst>
                    <a:ext uri="{9D8B030D-6E8A-4147-A177-3AD203B41FA5}">
                      <a16:colId xmlns:a16="http://schemas.microsoft.com/office/drawing/2014/main" val="20006"/>
                    </a:ext>
                  </a:extLst>
                </a:gridCol>
              </a:tblGrid>
              <a:tr h="364639">
                <a:tc>
                  <a:txBody>
                    <a:bodyPr/>
                    <a:lstStyle/>
                    <a:p>
                      <a:pPr algn="ctr">
                        <a:defRPr sz="900" b="1">
                          <a:solidFill>
                            <a:srgbClr val="FFFFFF"/>
                          </a:solidFill>
                          <a:latin typeface="Montserrat"/>
                        </a:defRPr>
                      </a:pPr>
                      <a:r>
                        <a:rPr lang="es-MX"/>
                        <a:t>IMSS-Coplamar</a:t>
                      </a:r>
                    </a:p>
                  </a:txBody>
                  <a:tcPr anchor="ctr">
                    <a:solidFill>
                      <a:srgbClr val="006455"/>
                    </a:solidFill>
                  </a:tcPr>
                </a:tc>
                <a:tc>
                  <a:txBody>
                    <a:bodyPr/>
                    <a:lstStyle/>
                    <a:p>
                      <a:pPr algn="ctr">
                        <a:defRPr sz="900" b="1">
                          <a:solidFill>
                            <a:srgbClr val="FFFFFF"/>
                          </a:solidFill>
                          <a:latin typeface="Montserrat"/>
                        </a:defRPr>
                      </a:pPr>
                      <a:r>
                        <a:rPr err="1"/>
                        <a:t>Inicio</a:t>
                      </a:r>
                      <a:r>
                        <a:t> de </a:t>
                      </a:r>
                      <a:r>
                        <a:rPr err="1"/>
                        <a:t>operaciones</a:t>
                      </a:r>
                      <a:endParaRP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rPr lang="es-MX" dirty="0"/>
                        <a:t>Camas no censables</a:t>
                      </a:r>
                    </a:p>
                  </a:txBody>
                  <a:tcPr anchor="ctr">
                    <a:solidFill>
                      <a:srgbClr val="006455"/>
                    </a:solidFill>
                  </a:tcPr>
                </a:tc>
                <a:tc>
                  <a:txBody>
                    <a:bodyPr/>
                    <a:lstStyle/>
                    <a:p>
                      <a:pPr algn="ctr">
                        <a:defRPr sz="900" b="1">
                          <a:solidFill>
                            <a:srgbClr val="FFFFFF"/>
                          </a:solidFill>
                          <a:latin typeface="Montserrat"/>
                        </a:defRPr>
                      </a:pPr>
                      <a:r>
                        <a:rPr lang="es-MX"/>
                        <a:t>Camas de cuidados intensivos</a:t>
                      </a:r>
                      <a:endParaRPr lang="es-MX" err="1"/>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rPr lang="es-MX"/>
                        <a:t>Consultorios de especialidades</a:t>
                      </a:r>
                      <a:endParaRPr lang="es-MX" err="1"/>
                    </a:p>
                  </a:txBody>
                  <a:tcPr anchor="ctr">
                    <a:solidFill>
                      <a:srgbClr val="006455"/>
                    </a:solidFill>
                  </a:tcPr>
                </a:tc>
                <a:extLst>
                  <a:ext uri="{0D108BD9-81ED-4DB2-BD59-A6C34878D82A}">
                    <a16:rowId xmlns:a16="http://schemas.microsoft.com/office/drawing/2014/main" val="10000"/>
                  </a:ext>
                </a:extLst>
              </a:tr>
              <a:tr h="165745">
                <a:tc>
                  <a:txBody>
                    <a:bodyPr/>
                    <a:lstStyle/>
                    <a:p>
                      <a:pPr algn="l">
                        <a:defRPr sz="900">
                          <a:latin typeface="Montserrat"/>
                        </a:defRPr>
                      </a:pPr>
                      <a:r>
                        <a:rPr lang="es-MX"/>
                        <a:t>HR Chicontepec de Tejeda</a:t>
                      </a:r>
                    </a:p>
                  </a:txBody>
                  <a:tcPr anchor="ctr">
                    <a:solidFill>
                      <a:srgbClr val="FFFFFF"/>
                    </a:solidFill>
                  </a:tcPr>
                </a:tc>
                <a:tc>
                  <a:txBody>
                    <a:bodyPr/>
                    <a:lstStyle/>
                    <a:p>
                      <a:pPr algn="ctr">
                        <a:defRPr sz="900">
                          <a:latin typeface="Montserrat"/>
                        </a:defRPr>
                      </a:pPr>
                      <a:r>
                        <a:rPr lang="es-MX"/>
                        <a:t>Enero de 1979</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extLst>
                  <a:ext uri="{0D108BD9-81ED-4DB2-BD59-A6C34878D82A}">
                    <a16:rowId xmlns:a16="http://schemas.microsoft.com/office/drawing/2014/main" val="10001"/>
                  </a:ext>
                </a:extLst>
              </a:tr>
              <a:tr h="165745">
                <a:tc>
                  <a:txBody>
                    <a:bodyPr/>
                    <a:lstStyle/>
                    <a:p>
                      <a:pPr algn="l">
                        <a:defRPr sz="900">
                          <a:latin typeface="Montserrat"/>
                        </a:defRPr>
                      </a:pPr>
                      <a:r>
                        <a:rPr lang="es-MX"/>
                        <a:t>HR Zongolica</a:t>
                      </a:r>
                      <a:endParaRPr lang="es-MX" err="1"/>
                    </a:p>
                  </a:txBody>
                  <a:tcPr anchor="ctr">
                    <a:solidFill>
                      <a:srgbClr val="EFEFEF"/>
                    </a:solidFill>
                  </a:tcPr>
                </a:tc>
                <a:tc>
                  <a:txBody>
                    <a:bodyPr/>
                    <a:lstStyle/>
                    <a:p>
                      <a:pPr algn="ctr">
                        <a:defRPr sz="900">
                          <a:latin typeface="Montserrat"/>
                        </a:defRPr>
                      </a:pPr>
                      <a:r>
                        <a:t>Agosto de 1980</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extLst>
                  <a:ext uri="{0D108BD9-81ED-4DB2-BD59-A6C34878D82A}">
                    <a16:rowId xmlns:a16="http://schemas.microsoft.com/office/drawing/2014/main" val="10002"/>
                  </a:ext>
                </a:extLst>
              </a:tr>
              <a:tr h="165745">
                <a:tc>
                  <a:txBody>
                    <a:bodyPr/>
                    <a:lstStyle/>
                    <a:p>
                      <a:pPr algn="l">
                        <a:defRPr sz="900">
                          <a:latin typeface="Montserrat"/>
                        </a:defRPr>
                      </a:pPr>
                      <a:r>
                        <a:t>HR Papantla de Olarte</a:t>
                      </a:r>
                    </a:p>
                  </a:txBody>
                  <a:tcPr anchor="ctr">
                    <a:solidFill>
                      <a:srgbClr val="FFFFFF"/>
                    </a:solidFill>
                  </a:tcPr>
                </a:tc>
                <a:tc>
                  <a:txBody>
                    <a:bodyPr/>
                    <a:lstStyle/>
                    <a:p>
                      <a:pPr algn="ctr">
                        <a:defRPr sz="900">
                          <a:latin typeface="Montserrat"/>
                        </a:defRPr>
                      </a:pPr>
                      <a:r>
                        <a:rPr lang="es-MX"/>
                        <a:t>Febrero de 1985</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extLst>
                  <a:ext uri="{0D108BD9-81ED-4DB2-BD59-A6C34878D82A}">
                    <a16:rowId xmlns:a16="http://schemas.microsoft.com/office/drawing/2014/main" val="10003"/>
                  </a:ext>
                </a:extLst>
              </a:tr>
              <a:tr h="165745">
                <a:tc>
                  <a:txBody>
                    <a:bodyPr/>
                    <a:lstStyle/>
                    <a:p>
                      <a:pPr algn="l">
                        <a:defRPr sz="900">
                          <a:latin typeface="Montserrat"/>
                        </a:defRPr>
                      </a:pPr>
                      <a:r>
                        <a:rPr lang="es-MX"/>
                        <a:t>HR Jáltipan de Morelos</a:t>
                      </a:r>
                    </a:p>
                  </a:txBody>
                  <a:tcPr anchor="ctr">
                    <a:solidFill>
                      <a:srgbClr val="EFEFEF"/>
                    </a:solidFill>
                  </a:tcPr>
                </a:tc>
                <a:tc>
                  <a:txBody>
                    <a:bodyPr/>
                    <a:lstStyle/>
                    <a:p>
                      <a:pPr algn="ctr">
                        <a:defRPr sz="900">
                          <a:latin typeface="Montserrat"/>
                        </a:defRPr>
                      </a:pPr>
                      <a:r>
                        <a:t>Marzo de 1988</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extLst>
                  <a:ext uri="{0D108BD9-81ED-4DB2-BD59-A6C34878D82A}">
                    <a16:rowId xmlns:a16="http://schemas.microsoft.com/office/drawing/2014/main" val="10004"/>
                  </a:ext>
                </a:extLst>
              </a:tr>
              <a:tr h="165745">
                <a:tc>
                  <a:txBody>
                    <a:bodyPr/>
                    <a:lstStyle/>
                    <a:p>
                      <a:pPr algn="l">
                        <a:defRPr sz="900">
                          <a:latin typeface="Montserrat"/>
                        </a:defRPr>
                      </a:pPr>
                      <a:r>
                        <a:rPr lang="es-MX"/>
                        <a:t>HR Coscomatepec de Bravo</a:t>
                      </a:r>
                    </a:p>
                  </a:txBody>
                  <a:tcPr anchor="ctr">
                    <a:solidFill>
                      <a:srgbClr val="FFFFFF"/>
                    </a:solidFill>
                  </a:tcPr>
                </a:tc>
                <a:tc>
                  <a:txBody>
                    <a:bodyPr/>
                    <a:lstStyle/>
                    <a:p>
                      <a:pPr algn="ctr">
                        <a:defRPr sz="900">
                          <a:latin typeface="Montserrat"/>
                        </a:defRPr>
                      </a:pPr>
                      <a:r>
                        <a:rPr lang="es-MX"/>
                        <a:t>Noviembre de 1992</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extLst>
                  <a:ext uri="{0D108BD9-81ED-4DB2-BD59-A6C34878D82A}">
                    <a16:rowId xmlns:a16="http://schemas.microsoft.com/office/drawing/2014/main" val="10005"/>
                  </a:ext>
                </a:extLst>
              </a:tr>
              <a:tr h="165745">
                <a:tc>
                  <a:txBody>
                    <a:bodyPr/>
                    <a:lstStyle/>
                    <a:p>
                      <a:pPr algn="l">
                        <a:defRPr sz="900">
                          <a:latin typeface="Montserrat"/>
                        </a:defRPr>
                      </a:pPr>
                      <a:r>
                        <a:t>HR Plan de Arroyos</a:t>
                      </a:r>
                    </a:p>
                  </a:txBody>
                  <a:tcPr anchor="ctr">
                    <a:solidFill>
                      <a:srgbClr val="EFEFEF"/>
                    </a:solidFill>
                  </a:tcPr>
                </a:tc>
                <a:tc>
                  <a:txBody>
                    <a:bodyPr/>
                    <a:lstStyle/>
                    <a:p>
                      <a:pPr algn="ctr">
                        <a:defRPr sz="900">
                          <a:latin typeface="Montserrat"/>
                        </a:defRPr>
                      </a:pPr>
                      <a:r>
                        <a:rPr lang="es-MX"/>
                        <a:t>Noviembre de 2010</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extLst>
                  <a:ext uri="{0D108BD9-81ED-4DB2-BD59-A6C34878D82A}">
                    <a16:rowId xmlns:a16="http://schemas.microsoft.com/office/drawing/2014/main" val="10006"/>
                  </a:ext>
                </a:extLst>
              </a:tr>
              <a:tr h="165745">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220</a:t>
                      </a:r>
                    </a:p>
                  </a:txBody>
                  <a:tcPr anchor="ctr">
                    <a:solidFill>
                      <a:srgbClr val="D3E9E7"/>
                    </a:solidFill>
                  </a:tcPr>
                </a:tc>
                <a:tc>
                  <a:txBody>
                    <a:bodyPr/>
                    <a:lstStyle/>
                    <a:p>
                      <a:pPr algn="ctr">
                        <a:defRPr sz="900" b="1">
                          <a:solidFill>
                            <a:srgbClr val="006556"/>
                          </a:solidFill>
                          <a:latin typeface="Montserrat"/>
                        </a:defRPr>
                      </a:pPr>
                      <a:r>
                        <a:t>83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6</a:t>
                      </a:r>
                    </a:p>
                  </a:txBody>
                  <a:tcPr anchor="ctr">
                    <a:solidFill>
                      <a:srgbClr val="D3E9E7"/>
                    </a:solidFill>
                  </a:tcPr>
                </a:tc>
                <a:tc>
                  <a:txBody>
                    <a:bodyPr/>
                    <a:lstStyle/>
                    <a:p>
                      <a:pPr algn="ctr">
                        <a:defRPr sz="900" b="1">
                          <a:solidFill>
                            <a:srgbClr val="006556"/>
                          </a:solidFill>
                          <a:latin typeface="Montserrat"/>
                        </a:defRPr>
                      </a:pPr>
                      <a:r>
                        <a:rPr dirty="0"/>
                        <a:t>33</a:t>
                      </a:r>
                    </a:p>
                  </a:txBody>
                  <a:tcPr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7" name="Table 6"/>
          <p:cNvGraphicFramePr>
            <a:graphicFrameLocks noGrp="1"/>
          </p:cNvGraphicFramePr>
          <p:nvPr/>
        </p:nvGraphicFramePr>
        <p:xfrm>
          <a:off x="100800" y="8261048"/>
          <a:ext cx="7650000" cy="11887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429515">
                <a:tc>
                  <a:txBody>
                    <a:bodyPr/>
                    <a:lstStyle/>
                    <a:p>
                      <a:pPr algn="ctr">
                        <a:defRPr sz="900" b="1">
                          <a:solidFill>
                            <a:srgbClr val="FFFFFF"/>
                          </a:solidFill>
                          <a:latin typeface="Montserrat"/>
                        </a:defRPr>
                      </a:pPr>
                      <a:r>
                        <a:t>UMAE</a:t>
                      </a:r>
                    </a:p>
                  </a:txBody>
                  <a:tcPr anchor="ctr">
                    <a:solidFill>
                      <a:srgbClr val="006455"/>
                    </a:solidFill>
                  </a:tcPr>
                </a:tc>
                <a:tc>
                  <a:txBody>
                    <a:bodyPr/>
                    <a:lstStyle/>
                    <a:p>
                      <a:pPr algn="ctr">
                        <a:defRPr sz="900" b="1">
                          <a:solidFill>
                            <a:srgbClr val="FFFFFF"/>
                          </a:solidFill>
                          <a:latin typeface="Montserrat"/>
                        </a:defRPr>
                      </a:pPr>
                      <a:r>
                        <a:rPr err="1"/>
                        <a:t>Inicio</a:t>
                      </a:r>
                      <a:r>
                        <a:t> de </a:t>
                      </a:r>
                      <a:r>
                        <a:rPr err="1"/>
                        <a:t>operaciones</a:t>
                      </a:r>
                      <a:endParaRP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rPr lang="es-MX"/>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195234">
                <a:tc>
                  <a:txBody>
                    <a:bodyPr/>
                    <a:lstStyle/>
                    <a:p>
                      <a:pPr algn="l">
                        <a:defRPr sz="900">
                          <a:latin typeface="Montserrat"/>
                        </a:defRPr>
                      </a:pPr>
                      <a:r>
                        <a:t>HES 14 Veracruz</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329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63</a:t>
                      </a:r>
                    </a:p>
                  </a:txBody>
                  <a:tcPr anchor="ctr">
                    <a:solidFill>
                      <a:srgbClr val="FFFFFF"/>
                    </a:solidFill>
                  </a:tcPr>
                </a:tc>
                <a:extLst>
                  <a:ext uri="{0D108BD9-81ED-4DB2-BD59-A6C34878D82A}">
                    <a16:rowId xmlns:a16="http://schemas.microsoft.com/office/drawing/2014/main" val="10001"/>
                  </a:ext>
                </a:extLst>
              </a:tr>
              <a:tr h="195234">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329</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63</a:t>
                      </a:r>
                    </a:p>
                  </a:txBody>
                  <a:tcPr anchor="ctr">
                    <a:solidFill>
                      <a:srgbClr val="D3E9E7"/>
                    </a:solidFill>
                  </a:tcPr>
                </a:tc>
                <a:extLst>
                  <a:ext uri="{0D108BD9-81ED-4DB2-BD59-A6C34878D82A}">
                    <a16:rowId xmlns:a16="http://schemas.microsoft.com/office/drawing/2014/main" val="10002"/>
                  </a:ext>
                </a:extLst>
              </a:tr>
              <a:tr h="195234">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2,059</a:t>
                      </a:r>
                    </a:p>
                  </a:txBody>
                  <a:tcPr anchor="ctr">
                    <a:solidFill>
                      <a:srgbClr val="D3E9E7"/>
                    </a:solidFill>
                  </a:tcPr>
                </a:tc>
                <a:tc>
                  <a:txBody>
                    <a:bodyPr/>
                    <a:lstStyle/>
                    <a:p>
                      <a:pPr algn="ctr">
                        <a:defRPr sz="900" b="1">
                          <a:solidFill>
                            <a:srgbClr val="006556"/>
                          </a:solidFill>
                          <a:latin typeface="Montserrat"/>
                        </a:defRPr>
                      </a:pPr>
                      <a:r>
                        <a:t>868</a:t>
                      </a:r>
                    </a:p>
                  </a:txBody>
                  <a:tcPr anchor="ctr">
                    <a:solidFill>
                      <a:srgbClr val="D3E9E7"/>
                    </a:solidFill>
                  </a:tcPr>
                </a:tc>
                <a:tc>
                  <a:txBody>
                    <a:bodyPr/>
                    <a:lstStyle/>
                    <a:p>
                      <a:pPr algn="ctr">
                        <a:defRPr sz="900" b="1">
                          <a:solidFill>
                            <a:srgbClr val="006556"/>
                          </a:solidFill>
                          <a:latin typeface="Montserrat"/>
                        </a:defRPr>
                      </a:pPr>
                      <a:r>
                        <a:t>64</a:t>
                      </a:r>
                    </a:p>
                  </a:txBody>
                  <a:tcPr anchor="ctr">
                    <a:solidFill>
                      <a:srgbClr val="D3E9E7"/>
                    </a:solidFill>
                  </a:tcPr>
                </a:tc>
                <a:tc>
                  <a:txBody>
                    <a:bodyPr/>
                    <a:lstStyle/>
                    <a:p>
                      <a:pPr algn="ctr">
                        <a:defRPr sz="900" b="1">
                          <a:solidFill>
                            <a:srgbClr val="006556"/>
                          </a:solidFill>
                          <a:latin typeface="Montserrat"/>
                        </a:defRPr>
                      </a:pPr>
                      <a:r>
                        <a:t>72</a:t>
                      </a:r>
                    </a:p>
                  </a:txBody>
                  <a:tcPr anchor="ctr">
                    <a:solidFill>
                      <a:srgbClr val="D3E9E7"/>
                    </a:solidFill>
                  </a:tcPr>
                </a:tc>
                <a:tc>
                  <a:txBody>
                    <a:bodyPr/>
                    <a:lstStyle/>
                    <a:p>
                      <a:pPr algn="ctr">
                        <a:defRPr sz="900" b="1">
                          <a:solidFill>
                            <a:srgbClr val="006556"/>
                          </a:solidFill>
                          <a:latin typeface="Montserrat"/>
                        </a:defRPr>
                      </a:pPr>
                      <a:r>
                        <a:t>337</a:t>
                      </a:r>
                    </a:p>
                  </a:txBody>
                  <a:tcPr anchor="ctr">
                    <a:solidFill>
                      <a:srgbClr val="D3E9E7"/>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100800" y="9507600"/>
            <a:ext cx="7387200"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FFFFFF"/>
                </a:solidFill>
                <a:latin typeface="Montserrat"/>
              </a:defRPr>
            </a:pPr>
            <a:r>
              <a:rPr kumimoji="0" sz="800" b="0" i="0" u="none" strike="noStrike" kern="0" cap="none" spc="0" normalizeH="0" baseline="0" noProof="0" dirty="0">
                <a:ln>
                  <a:noFill/>
                </a:ln>
                <a:solidFill>
                  <a:srgbClr val="FFFFFF"/>
                </a:solidFill>
                <a:effectLst/>
                <a:uLnTx/>
                <a:uFillTx/>
                <a:latin typeface="Montserrat"/>
                <a:cs typeface="Arial"/>
                <a:sym typeface="Arial"/>
              </a:rPr>
              <a:t>¹Incluye salas de </a:t>
            </a:r>
            <a:r>
              <a:rPr kumimoji="0" sz="800" b="0" i="0" u="none" strike="noStrike" kern="0" cap="none" spc="0" normalizeH="0" baseline="0" noProof="0" dirty="0" err="1">
                <a:ln>
                  <a:noFill/>
                </a:ln>
                <a:solidFill>
                  <a:srgbClr val="FFFFFF"/>
                </a:solidFill>
                <a:effectLst/>
                <a:uLnTx/>
                <a:uFillTx/>
                <a:latin typeface="Montserrat"/>
                <a:cs typeface="Arial"/>
                <a:sym typeface="Arial"/>
              </a:rPr>
              <a:t>quirófano</a:t>
            </a:r>
            <a:r>
              <a:rPr kumimoji="0" sz="800" b="0" i="0" u="none" strike="noStrike" kern="0" cap="none" spc="0" normalizeH="0" baseline="0" noProof="0" dirty="0">
                <a:ln>
                  <a:noFill/>
                </a:ln>
                <a:solidFill>
                  <a:srgbClr val="FFFFFF"/>
                </a:solidFill>
                <a:effectLst/>
                <a:uLnTx/>
                <a:uFillTx/>
                <a:latin typeface="Montserrat"/>
                <a:cs typeface="Arial"/>
                <a:sym typeface="Arial"/>
              </a:rPr>
              <a:t>, salas </a:t>
            </a:r>
            <a:r>
              <a:rPr kumimoji="0" sz="800" b="0" i="0" u="none" strike="noStrike" kern="0" cap="none" spc="0" normalizeH="0" baseline="0" noProof="0" dirty="0" err="1">
                <a:ln>
                  <a:noFill/>
                </a:ln>
                <a:solidFill>
                  <a:srgbClr val="FFFFFF"/>
                </a:solidFill>
                <a:effectLst/>
                <a:uLnTx/>
                <a:uFillTx/>
                <a:latin typeface="Montserrat"/>
                <a:cs typeface="Arial"/>
                <a:sym typeface="Arial"/>
              </a:rPr>
              <a:t>híbridas</a:t>
            </a:r>
            <a:r>
              <a:rPr kumimoji="0" sz="800" b="0" i="0" u="none" strike="noStrike" kern="0" cap="none" spc="0" normalizeH="0" baseline="0" noProof="0" dirty="0">
                <a:ln>
                  <a:noFill/>
                </a:ln>
                <a:solidFill>
                  <a:srgbClr val="FFFFFF"/>
                </a:solidFill>
                <a:effectLst/>
                <a:uLnTx/>
                <a:uFillTx/>
                <a:latin typeface="Montserrat"/>
                <a:cs typeface="Arial"/>
                <a:sym typeface="Arial"/>
              </a:rPr>
              <a:t> y salas </a:t>
            </a:r>
            <a:r>
              <a:rPr kumimoji="0" sz="800" b="0" i="0" u="none" strike="noStrike" kern="0" cap="none" spc="0" normalizeH="0" baseline="0" noProof="0" dirty="0" err="1">
                <a:ln>
                  <a:noFill/>
                </a:ln>
                <a:solidFill>
                  <a:srgbClr val="FFFFFF"/>
                </a:solidFill>
                <a:effectLst/>
                <a:uLnTx/>
                <a:uFillTx/>
                <a:latin typeface="Montserrat"/>
                <a:cs typeface="Arial"/>
                <a:sym typeface="Arial"/>
              </a:rPr>
              <a:t>mixtas</a:t>
            </a:r>
            <a:r>
              <a:rPr kumimoji="0" sz="800" b="0" i="0" u="none" strike="noStrike" kern="0" cap="none" spc="0" normalizeH="0" baseline="0" noProof="0" dirty="0">
                <a:ln>
                  <a:noFill/>
                </a:ln>
                <a:solidFill>
                  <a:srgbClr val="FFFFFF"/>
                </a:solidFill>
                <a:effectLst/>
                <a:uLnTx/>
                <a:uFillTx/>
                <a:latin typeface="Montserrat"/>
                <a:cs typeface="Arial"/>
                <a:sym typeface="Arial"/>
              </a:rPr>
              <a:t>, no </a:t>
            </a:r>
            <a:r>
              <a:rPr kumimoji="0" sz="800" b="0" i="0" u="none" strike="noStrike" kern="0" cap="none" spc="0" normalizeH="0" baseline="0" noProof="0" dirty="0" err="1">
                <a:ln>
                  <a:noFill/>
                </a:ln>
                <a:solidFill>
                  <a:srgbClr val="FFFFFF"/>
                </a:solidFill>
                <a:effectLst/>
                <a:uLnTx/>
                <a:uFillTx/>
                <a:latin typeface="Montserrat"/>
                <a:cs typeface="Arial"/>
                <a:sym typeface="Arial"/>
              </a:rPr>
              <a:t>considera</a:t>
            </a:r>
            <a:r>
              <a:rPr kumimoji="0" sz="800" b="0" i="0" u="none" strike="noStrike" kern="0" cap="none" spc="0" normalizeH="0" baseline="0" noProof="0" dirty="0">
                <a:ln>
                  <a:noFill/>
                </a:ln>
                <a:solidFill>
                  <a:srgbClr val="FFFFFF"/>
                </a:solidFill>
                <a:effectLst/>
                <a:uLnTx/>
                <a:uFillTx/>
                <a:latin typeface="Montserrat"/>
                <a:cs typeface="Arial"/>
                <a:sym typeface="Arial"/>
              </a:rPr>
              <a:t> salas de </a:t>
            </a:r>
            <a:r>
              <a:rPr kumimoji="0" sz="800" b="0" i="0" u="none" strike="noStrike" kern="0" cap="none" spc="0" normalizeH="0" baseline="0" noProof="0" dirty="0" err="1">
                <a:ln>
                  <a:noFill/>
                </a:ln>
                <a:solidFill>
                  <a:srgbClr val="FFFFFF"/>
                </a:solidFill>
                <a:effectLst/>
                <a:uLnTx/>
                <a:uFillTx/>
                <a:latin typeface="Montserrat"/>
                <a:cs typeface="Arial"/>
                <a:sym typeface="Arial"/>
              </a:rPr>
              <a:t>tococirugía</a:t>
            </a:r>
            <a:r>
              <a:rPr kumimoji="0" sz="800" b="0" i="0" u="none" strike="noStrike" kern="0" cap="none" spc="0" normalizeH="0" baseline="0" noProof="0" dirty="0">
                <a:ln>
                  <a:noFill/>
                </a:ln>
                <a:solidFill>
                  <a:srgbClr val="FFFFFF"/>
                </a:solidFill>
                <a:effectLst/>
                <a:uLnTx/>
                <a:uFillTx/>
                <a:latin typeface="Montserrat"/>
                <a:cs typeface="Arial"/>
                <a:sym typeface="Arial"/>
              </a:rPr>
              <a:t> y </a:t>
            </a:r>
            <a:r>
              <a:rPr kumimoji="0" sz="800" b="0" i="0" u="none" strike="noStrike" kern="0" cap="none" spc="0" normalizeH="0" baseline="0" noProof="0" dirty="0" err="1">
                <a:ln>
                  <a:noFill/>
                </a:ln>
                <a:solidFill>
                  <a:srgbClr val="FFFFFF"/>
                </a:solidFill>
                <a:effectLst/>
                <a:uLnTx/>
                <a:uFillTx/>
                <a:latin typeface="Montserrat"/>
                <a:cs typeface="Arial"/>
                <a:sym typeface="Arial"/>
              </a:rPr>
              <a:t>expulsión</a:t>
            </a:r>
            <a:r>
              <a:rPr kumimoji="0" sz="800" b="0" i="0" u="none" strike="noStrike" kern="0" cap="none" spc="0" normalizeH="0" baseline="0" noProof="0" dirty="0">
                <a:ln>
                  <a:noFill/>
                </a:ln>
                <a:solidFill>
                  <a:srgbClr val="FFFFFF"/>
                </a:solidFill>
                <a:effectLst/>
                <a:uLnTx/>
                <a:uFillTx/>
                <a:latin typeface="Montserrat"/>
                <a:cs typeface="Arial"/>
                <a:sym typeface="Arial"/>
              </a:rPr>
              <a:t>.</a:t>
            </a: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Fuente: Cédula de </a:t>
            </a:r>
            <a:r>
              <a:rPr kumimoji="0" sz="800" b="0" i="0" u="none" strike="noStrike" kern="0" cap="none" spc="0" normalizeH="0" baseline="0" noProof="0" dirty="0" err="1">
                <a:ln>
                  <a:noFill/>
                </a:ln>
                <a:solidFill>
                  <a:srgbClr val="FFFFFF"/>
                </a:solidFill>
                <a:effectLst/>
                <a:uLnTx/>
                <a:uFillTx/>
                <a:latin typeface="Montserrat"/>
                <a:cs typeface="Arial"/>
                <a:sym typeface="Arial"/>
              </a:rPr>
              <a:t>actualización</a:t>
            </a:r>
            <a:r>
              <a:rPr kumimoji="0" sz="800" b="0" i="0" u="none" strike="noStrike" kern="0" cap="none" spc="0" normalizeH="0" baseline="0" noProof="0" dirty="0">
                <a:ln>
                  <a:noFill/>
                </a:ln>
                <a:solidFill>
                  <a:srgbClr val="FFFFFF"/>
                </a:solidFill>
                <a:effectLst/>
                <a:uLnTx/>
                <a:uFillTx/>
                <a:latin typeface="Montserrat"/>
                <a:cs typeface="Arial"/>
                <a:sym typeface="Arial"/>
              </a:rPr>
              <a:t> de variables </a:t>
            </a:r>
            <a:r>
              <a:rPr kumimoji="0" sz="800" b="0" i="0" u="none" strike="noStrike" kern="0" cap="none" spc="0" normalizeH="0" baseline="0" noProof="0" dirty="0" err="1">
                <a:ln>
                  <a:noFill/>
                </a:ln>
                <a:solidFill>
                  <a:srgbClr val="FFFFFF"/>
                </a:solidFill>
                <a:effectLst/>
                <a:uLnTx/>
                <a:uFillTx/>
                <a:latin typeface="Montserrat"/>
                <a:cs typeface="Arial"/>
                <a:sym typeface="Arial"/>
              </a:rPr>
              <a:t>seleccionados</a:t>
            </a:r>
            <a:r>
              <a:rPr kumimoji="0" sz="800" b="0" i="0" u="none" strike="noStrike" kern="0" cap="none" spc="0" normalizeH="0" baseline="0" noProof="0" dirty="0">
                <a:ln>
                  <a:noFill/>
                </a:ln>
                <a:solidFill>
                  <a:srgbClr val="FFFFFF"/>
                </a:solidFill>
                <a:effectLst/>
                <a:uLnTx/>
                <a:uFillTx/>
                <a:latin typeface="Montserrat"/>
                <a:cs typeface="Arial"/>
                <a:sym typeface="Arial"/>
              </a:rPr>
              <a:t> del IFU </a:t>
            </a:r>
            <a:r>
              <a:rPr kumimoji="0" sz="800" b="0" i="0" u="none" strike="noStrike" kern="0" cap="none" spc="0" normalizeH="0" baseline="0" noProof="0" dirty="0" err="1">
                <a:ln>
                  <a:noFill/>
                </a:ln>
                <a:solidFill>
                  <a:srgbClr val="FFFFFF"/>
                </a:solidFill>
                <a:effectLst/>
                <a:uLnTx/>
                <a:uFillTx/>
                <a:latin typeface="Montserrat"/>
                <a:cs typeface="Arial"/>
                <a:sym typeface="Arial"/>
              </a:rPr>
              <a:t>enviados</a:t>
            </a:r>
            <a:r>
              <a:rPr kumimoji="0" sz="800" b="0" i="0" u="none" strike="noStrike" kern="0" cap="none" spc="0" normalizeH="0" baseline="0" noProof="0" dirty="0">
                <a:ln>
                  <a:noFill/>
                </a:ln>
                <a:solidFill>
                  <a:srgbClr val="FFFFFF"/>
                </a:solidFill>
                <a:effectLst/>
                <a:uLnTx/>
                <a:uFillTx/>
                <a:latin typeface="Montserrat"/>
                <a:cs typeface="Arial"/>
                <a:sym typeface="Arial"/>
              </a:rPr>
              <a:t> por el OOAD.</a:t>
            </a:r>
            <a:br>
              <a:rPr kumimoji="0" sz="800" b="0" i="0" u="none" strike="noStrike" kern="0" cap="none" spc="0" normalizeH="0" baseline="0" noProof="0" dirty="0">
                <a:ln>
                  <a:noFill/>
                </a:ln>
                <a:solidFill>
                  <a:srgbClr val="FFFFFF"/>
                </a:solidFill>
                <a:effectLst/>
                <a:uLnTx/>
                <a:uFillTx/>
                <a:latin typeface="Montserrat"/>
                <a:cs typeface="Arial"/>
                <a:sym typeface="Arial"/>
              </a:rPr>
            </a:br>
            <a:r>
              <a:rPr kumimoji="0" sz="800" b="0" i="0" u="none" strike="noStrike" kern="0" cap="none" spc="0" normalizeH="0" baseline="0" noProof="0" dirty="0">
                <a:ln>
                  <a:noFill/>
                </a:ln>
                <a:solidFill>
                  <a:srgbClr val="FFFFFF"/>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rgbClr val="FFFFFF"/>
                </a:solidFill>
                <a:effectLst/>
                <a:uLnTx/>
                <a:uFillTx/>
                <a:latin typeface="Montserrat"/>
                <a:cs typeface="Arial"/>
                <a:sym typeface="Arial"/>
              </a:rPr>
              <a:t>y</a:t>
            </a:r>
            <a:r>
              <a:rPr kumimoji="0" sz="800" b="0" i="0" u="none" strike="noStrike" kern="0" cap="none" spc="0" normalizeH="0" baseline="0" noProof="0" dirty="0">
                <a:ln>
                  <a:noFill/>
                </a:ln>
                <a:solidFill>
                  <a:srgbClr val="FFFFFF"/>
                </a:solidFill>
                <a:effectLst/>
                <a:uLnTx/>
                <a:uFillTx/>
                <a:latin typeface="Montserrat"/>
                <a:cs typeface="Arial"/>
                <a:sym typeface="Arial"/>
              </a:rPr>
              <a:t>o de 2026</a:t>
            </a:r>
          </a:p>
        </p:txBody>
      </p:sp>
      <p:graphicFrame>
        <p:nvGraphicFramePr>
          <p:cNvPr id="12" name="Table 11"/>
          <p:cNvGraphicFramePr>
            <a:graphicFrameLocks noGrp="1"/>
          </p:cNvGraphicFramePr>
          <p:nvPr>
            <p:extLst>
              <p:ext uri="{D42A27DB-BD31-4B8C-83A1-F6EECF244321}">
                <p14:modId xmlns:p14="http://schemas.microsoft.com/office/powerpoint/2010/main" val="1991414762"/>
              </p:ext>
            </p:extLst>
          </p:nvPr>
        </p:nvGraphicFramePr>
        <p:xfrm>
          <a:off x="56627" y="1100602"/>
          <a:ext cx="7576092" cy="3017520"/>
        </p:xfrm>
        <a:graphic>
          <a:graphicData uri="http://schemas.openxmlformats.org/drawingml/2006/table">
            <a:tbl>
              <a:tblPr firstRow="1" bandRow="1">
                <a:tableStyleId>{5C22544A-7EE6-4342-B048-85BDC9FD1C3A}</a:tableStyleId>
              </a:tblPr>
              <a:tblGrid>
                <a:gridCol w="1960871">
                  <a:extLst>
                    <a:ext uri="{9D8B030D-6E8A-4147-A177-3AD203B41FA5}">
                      <a16:colId xmlns:a16="http://schemas.microsoft.com/office/drawing/2014/main" val="20000"/>
                    </a:ext>
                  </a:extLst>
                </a:gridCol>
                <a:gridCol w="1326262">
                  <a:extLst>
                    <a:ext uri="{9D8B030D-6E8A-4147-A177-3AD203B41FA5}">
                      <a16:colId xmlns:a16="http://schemas.microsoft.com/office/drawing/2014/main" val="20001"/>
                    </a:ext>
                  </a:extLst>
                </a:gridCol>
                <a:gridCol w="614091">
                  <a:extLst>
                    <a:ext uri="{9D8B030D-6E8A-4147-A177-3AD203B41FA5}">
                      <a16:colId xmlns:a16="http://schemas.microsoft.com/office/drawing/2014/main" val="20002"/>
                    </a:ext>
                  </a:extLst>
                </a:gridCol>
                <a:gridCol w="836954">
                  <a:extLst>
                    <a:ext uri="{9D8B030D-6E8A-4147-A177-3AD203B41FA5}">
                      <a16:colId xmlns:a16="http://schemas.microsoft.com/office/drawing/2014/main" val="20003"/>
                    </a:ext>
                  </a:extLst>
                </a:gridCol>
                <a:gridCol w="802174">
                  <a:extLst>
                    <a:ext uri="{9D8B030D-6E8A-4147-A177-3AD203B41FA5}">
                      <a16:colId xmlns:a16="http://schemas.microsoft.com/office/drawing/2014/main" val="20004"/>
                    </a:ext>
                  </a:extLst>
                </a:gridCol>
                <a:gridCol w="948348">
                  <a:extLst>
                    <a:ext uri="{9D8B030D-6E8A-4147-A177-3AD203B41FA5}">
                      <a16:colId xmlns:a16="http://schemas.microsoft.com/office/drawing/2014/main" val="20005"/>
                    </a:ext>
                  </a:extLst>
                </a:gridCol>
                <a:gridCol w="1087392">
                  <a:extLst>
                    <a:ext uri="{9D8B030D-6E8A-4147-A177-3AD203B41FA5}">
                      <a16:colId xmlns:a16="http://schemas.microsoft.com/office/drawing/2014/main" val="20006"/>
                    </a:ext>
                  </a:extLst>
                </a:gridCol>
              </a:tblGrid>
              <a:tr h="3048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rPr err="1"/>
                        <a:t>Inicio</a:t>
                      </a:r>
                      <a:r>
                        <a:t> de </a:t>
                      </a:r>
                      <a:r>
                        <a:rPr err="1"/>
                        <a:t>operaciones</a:t>
                      </a:r>
                      <a:endParaRP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1385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a:latin typeface="Montserrat"/>
                        </a:defRPr>
                      </a:pPr>
                      <a:r>
                        <a:rPr lang="es-MX"/>
                        <a:t>HGR Orizaba</a:t>
                      </a:r>
                    </a:p>
                  </a:txBody>
                  <a:tcPr anchor="ctr">
                    <a:solidFill>
                      <a:schemeClr val="bg2">
                        <a:lumMod val="20000"/>
                        <a:lumOff val="80000"/>
                      </a:schemeClr>
                    </a:solidFill>
                  </a:tcPr>
                </a:tc>
                <a:tc>
                  <a:txBody>
                    <a:bodyPr/>
                    <a:lstStyle/>
                    <a:p>
                      <a:pPr algn="ctr">
                        <a:defRPr sz="900">
                          <a:latin typeface="Montserrat"/>
                        </a:defRPr>
                      </a:pPr>
                      <a:r>
                        <a:rPr lang="es-MX"/>
                        <a:t>Diciembre 1959</a:t>
                      </a:r>
                      <a:endParaRPr/>
                    </a:p>
                  </a:txBody>
                  <a:tcPr anchor="ctr">
                    <a:solidFill>
                      <a:schemeClr val="bg2">
                        <a:lumMod val="20000"/>
                        <a:lumOff val="80000"/>
                      </a:schemeClr>
                    </a:solidFill>
                  </a:tcPr>
                </a:tc>
                <a:tc>
                  <a:txBody>
                    <a:bodyPr/>
                    <a:lstStyle/>
                    <a:p>
                      <a:pPr algn="ctr">
                        <a:defRPr sz="900">
                          <a:latin typeface="Montserrat"/>
                        </a:defRPr>
                      </a:pPr>
                      <a:r>
                        <a:rPr lang="es-MX"/>
                        <a:t>231</a:t>
                      </a:r>
                      <a:endParaRP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900">
                          <a:latin typeface="Montserrat"/>
                        </a:defRPr>
                      </a:pPr>
                      <a:r>
                        <a:rPr lang="es-MX"/>
                        <a:t>106</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900">
                          <a:latin typeface="Montserrat"/>
                        </a:defRPr>
                      </a:pPr>
                      <a:r>
                        <a:rPr lang="es-MX"/>
                        <a:t>16</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900">
                          <a:latin typeface="Montserrat"/>
                        </a:defRPr>
                      </a:pPr>
                      <a:r>
                        <a:rPr lang="es-MX"/>
                        <a:t>8</a:t>
                      </a:r>
                    </a:p>
                  </a:txBody>
                  <a:tcPr anchor="c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900">
                          <a:latin typeface="Montserrat"/>
                        </a:defRPr>
                      </a:pPr>
                      <a:r>
                        <a:rPr lang="es-MX"/>
                        <a:t>29</a:t>
                      </a:r>
                    </a:p>
                  </a:txBody>
                  <a:tcPr anchor="ctr">
                    <a:solidFill>
                      <a:schemeClr val="bg2">
                        <a:lumMod val="20000"/>
                        <a:lumOff val="80000"/>
                      </a:schemeClr>
                    </a:solidFill>
                  </a:tcPr>
                </a:tc>
                <a:extLst>
                  <a:ext uri="{0D108BD9-81ED-4DB2-BD59-A6C34878D82A}">
                    <a16:rowId xmlns:a16="http://schemas.microsoft.com/office/drawing/2014/main" val="2043644396"/>
                  </a:ext>
                </a:extLst>
              </a:tr>
              <a:tr h="138545">
                <a:tc>
                  <a:txBody>
                    <a:bodyPr/>
                    <a:lstStyle/>
                    <a:p>
                      <a:pPr algn="l">
                        <a:defRPr sz="900">
                          <a:latin typeface="Montserrat"/>
                        </a:defRPr>
                      </a:pPr>
                      <a:r>
                        <a:t>HGZ 36 Coatzacoalos</a:t>
                      </a:r>
                    </a:p>
                  </a:txBody>
                  <a:tcPr anchor="ctr">
                    <a:solidFill>
                      <a:srgbClr val="FFFFFF"/>
                    </a:solidFill>
                  </a:tcPr>
                </a:tc>
                <a:tc>
                  <a:txBody>
                    <a:bodyPr/>
                    <a:lstStyle/>
                    <a:p>
                      <a:pPr algn="ctr">
                        <a:defRPr sz="900">
                          <a:latin typeface="Montserrat"/>
                        </a:defRPr>
                      </a:pPr>
                      <a:r>
                        <a:t>Junio de 1961</a:t>
                      </a:r>
                    </a:p>
                  </a:txBody>
                  <a:tcPr anchor="ctr">
                    <a:solidFill>
                      <a:srgbClr val="FFFFFF"/>
                    </a:solidFill>
                  </a:tcPr>
                </a:tc>
                <a:tc>
                  <a:txBody>
                    <a:bodyPr/>
                    <a:lstStyle/>
                    <a:p>
                      <a:pPr algn="ctr">
                        <a:defRPr sz="900">
                          <a:latin typeface="Montserrat"/>
                        </a:defRPr>
                      </a:pPr>
                      <a:r>
                        <a:t>150</a:t>
                      </a:r>
                    </a:p>
                  </a:txBody>
                  <a:tcPr anchor="ctr">
                    <a:solidFill>
                      <a:srgbClr val="FFFFFF"/>
                    </a:solidFill>
                  </a:tcPr>
                </a:tc>
                <a:tc>
                  <a:txBody>
                    <a:bodyPr/>
                    <a:lstStyle/>
                    <a:p>
                      <a:pPr algn="ctr">
                        <a:defRPr sz="900">
                          <a:latin typeface="Montserrat"/>
                        </a:defRPr>
                      </a:pPr>
                      <a:r>
                        <a:t>65</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extLst>
                  <a:ext uri="{0D108BD9-81ED-4DB2-BD59-A6C34878D82A}">
                    <a16:rowId xmlns:a16="http://schemas.microsoft.com/office/drawing/2014/main" val="10001"/>
                  </a:ext>
                </a:extLst>
              </a:tr>
              <a:tr h="138545">
                <a:tc>
                  <a:txBody>
                    <a:bodyPr/>
                    <a:lstStyle/>
                    <a:p>
                      <a:pPr algn="l">
                        <a:defRPr sz="900">
                          <a:latin typeface="Montserrat"/>
                        </a:defRPr>
                      </a:pPr>
                      <a:r>
                        <a:t>HGZMF 50 Lerdo Tejada</a:t>
                      </a:r>
                    </a:p>
                  </a:txBody>
                  <a:tcPr anchor="ctr">
                    <a:solidFill>
                      <a:srgbClr val="EFEFEF"/>
                    </a:solidFill>
                  </a:tcPr>
                </a:tc>
                <a:tc>
                  <a:txBody>
                    <a:bodyPr/>
                    <a:lstStyle/>
                    <a:p>
                      <a:pPr algn="ctr">
                        <a:defRPr sz="900">
                          <a:latin typeface="Montserrat"/>
                        </a:defRPr>
                      </a:pPr>
                      <a:r>
                        <a:t>Diciembre de 1963</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extLst>
                  <a:ext uri="{0D108BD9-81ED-4DB2-BD59-A6C34878D82A}">
                    <a16:rowId xmlns:a16="http://schemas.microsoft.com/office/drawing/2014/main" val="10002"/>
                  </a:ext>
                </a:extLst>
              </a:tr>
              <a:tr h="138545">
                <a:tc>
                  <a:txBody>
                    <a:bodyPr/>
                    <a:lstStyle/>
                    <a:p>
                      <a:pPr algn="l">
                        <a:defRPr sz="900">
                          <a:latin typeface="Montserrat"/>
                        </a:defRPr>
                      </a:pPr>
                      <a:r>
                        <a:t>HGSMF 12 Potrero</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1</a:t>
                      </a:r>
                    </a:p>
                  </a:txBody>
                  <a:tcPr anchor="ctr">
                    <a:solidFill>
                      <a:srgbClr val="FFFFFF"/>
                    </a:solidFill>
                  </a:tcPr>
                </a:tc>
                <a:extLst>
                  <a:ext uri="{0D108BD9-81ED-4DB2-BD59-A6C34878D82A}">
                    <a16:rowId xmlns:a16="http://schemas.microsoft.com/office/drawing/2014/main" val="10003"/>
                  </a:ext>
                </a:extLst>
              </a:tr>
              <a:tr h="138545">
                <a:tc>
                  <a:txBody>
                    <a:bodyPr/>
                    <a:lstStyle/>
                    <a:p>
                      <a:pPr algn="l">
                        <a:defRPr sz="900">
                          <a:latin typeface="Montserrat"/>
                        </a:defRPr>
                      </a:pPr>
                      <a:r>
                        <a:t>HGZMF 35 Cosamaloapan</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78</a:t>
                      </a:r>
                    </a:p>
                  </a:txBody>
                  <a:tcPr anchor="ctr">
                    <a:solidFill>
                      <a:srgbClr val="EFEFEF"/>
                    </a:solidFill>
                  </a:tcPr>
                </a:tc>
                <a:tc>
                  <a:txBody>
                    <a:bodyPr/>
                    <a:lstStyle/>
                    <a:p>
                      <a:pPr algn="ctr">
                        <a:defRPr sz="900">
                          <a:latin typeface="Montserrat"/>
                        </a:defRPr>
                      </a:pPr>
                      <a:r>
                        <a:t>39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13</a:t>
                      </a:r>
                    </a:p>
                  </a:txBody>
                  <a:tcPr anchor="ctr">
                    <a:solidFill>
                      <a:srgbClr val="EFEFEF"/>
                    </a:solidFill>
                  </a:tcPr>
                </a:tc>
                <a:extLst>
                  <a:ext uri="{0D108BD9-81ED-4DB2-BD59-A6C34878D82A}">
                    <a16:rowId xmlns:a16="http://schemas.microsoft.com/office/drawing/2014/main" val="10004"/>
                  </a:ext>
                </a:extLst>
              </a:tr>
              <a:tr h="138545">
                <a:tc>
                  <a:txBody>
                    <a:bodyPr/>
                    <a:lstStyle/>
                    <a:p>
                      <a:pPr algn="l">
                        <a:defRPr sz="900">
                          <a:latin typeface="Montserrat"/>
                        </a:defRPr>
                      </a:pPr>
                      <a:r>
                        <a:t>HGSMF 16 Omealca</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1</a:t>
                      </a:r>
                    </a:p>
                  </a:txBody>
                  <a:tcPr anchor="ctr">
                    <a:solidFill>
                      <a:srgbClr val="FFFFFF"/>
                    </a:solidFill>
                  </a:tcPr>
                </a:tc>
                <a:extLst>
                  <a:ext uri="{0D108BD9-81ED-4DB2-BD59-A6C34878D82A}">
                    <a16:rowId xmlns:a16="http://schemas.microsoft.com/office/drawing/2014/main" val="10005"/>
                  </a:ext>
                </a:extLst>
              </a:tr>
              <a:tr h="138545">
                <a:tc>
                  <a:txBody>
                    <a:bodyPr/>
                    <a:lstStyle/>
                    <a:p>
                      <a:pPr algn="l">
                        <a:defRPr sz="900">
                          <a:latin typeface="Montserrat"/>
                        </a:defRPr>
                      </a:pPr>
                      <a:r>
                        <a:t>HGZ 8 Córdoba</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130</a:t>
                      </a:r>
                    </a:p>
                  </a:txBody>
                  <a:tcPr anchor="ctr">
                    <a:solidFill>
                      <a:srgbClr val="EFEFEF"/>
                    </a:solidFill>
                  </a:tcPr>
                </a:tc>
                <a:tc>
                  <a:txBody>
                    <a:bodyPr/>
                    <a:lstStyle/>
                    <a:p>
                      <a:pPr algn="ctr">
                        <a:defRPr sz="900">
                          <a:latin typeface="Montserrat"/>
                        </a:defRPr>
                      </a:pPr>
                      <a:r>
                        <a:t>59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extLst>
                  <a:ext uri="{0D108BD9-81ED-4DB2-BD59-A6C34878D82A}">
                    <a16:rowId xmlns:a16="http://schemas.microsoft.com/office/drawing/2014/main" val="10006"/>
                  </a:ext>
                </a:extLst>
              </a:tr>
              <a:tr h="138545">
                <a:tc>
                  <a:txBody>
                    <a:bodyPr/>
                    <a:lstStyle/>
                    <a:p>
                      <a:pPr algn="l">
                        <a:defRPr sz="900">
                          <a:latin typeface="Montserrat"/>
                        </a:defRPr>
                      </a:pPr>
                      <a:r>
                        <a:t>HGZ 11 Jalapa.</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27</a:t>
                      </a:r>
                    </a:p>
                  </a:txBody>
                  <a:tcPr anchor="ctr">
                    <a:solidFill>
                      <a:srgbClr val="FFFFFF"/>
                    </a:solidFill>
                  </a:tcPr>
                </a:tc>
                <a:extLst>
                  <a:ext uri="{0D108BD9-81ED-4DB2-BD59-A6C34878D82A}">
                    <a16:rowId xmlns:a16="http://schemas.microsoft.com/office/drawing/2014/main" val="10007"/>
                  </a:ext>
                </a:extLst>
              </a:tr>
              <a:tr h="138545">
                <a:tc>
                  <a:txBody>
                    <a:bodyPr/>
                    <a:lstStyle/>
                    <a:p>
                      <a:pPr algn="l">
                        <a:defRPr sz="900">
                          <a:latin typeface="Montserrat"/>
                        </a:defRPr>
                      </a:pPr>
                      <a:r>
                        <a:t>HGZMF 32 Minatitlán</a:t>
                      </a:r>
                    </a:p>
                  </a:txBody>
                  <a:tcPr anchor="ctr">
                    <a:solidFill>
                      <a:srgbClr val="EFEFEF"/>
                    </a:solidFill>
                  </a:tcPr>
                </a:tc>
                <a:tc>
                  <a:txBody>
                    <a:bodyPr/>
                    <a:lstStyle/>
                    <a:p>
                      <a:pPr algn="ctr">
                        <a:defRPr sz="900">
                          <a:latin typeface="Montserrat"/>
                        </a:defRPr>
                      </a:pPr>
                      <a:r>
                        <a:t>Septiembre de 1969</a:t>
                      </a:r>
                    </a:p>
                  </a:txBody>
                  <a:tcPr anchor="ctr">
                    <a:solidFill>
                      <a:srgbClr val="EFEFEF"/>
                    </a:solidFill>
                  </a:tcPr>
                </a:tc>
                <a:tc>
                  <a:txBody>
                    <a:bodyPr/>
                    <a:lstStyle/>
                    <a:p>
                      <a:pPr algn="ctr">
                        <a:defRPr sz="900">
                          <a:latin typeface="Montserrat"/>
                        </a:defRPr>
                      </a:pPr>
                      <a:r>
                        <a:t>62</a:t>
                      </a:r>
                    </a:p>
                  </a:txBody>
                  <a:tcPr anchor="ctr">
                    <a:solidFill>
                      <a:srgbClr val="EFEFEF"/>
                    </a:solidFill>
                  </a:tcPr>
                </a:tc>
                <a:tc>
                  <a:txBody>
                    <a:bodyPr/>
                    <a:lstStyle/>
                    <a:p>
                      <a:pPr algn="ctr">
                        <a:defRPr sz="900">
                          <a:latin typeface="Montserrat"/>
                        </a:defRPr>
                      </a:pPr>
                      <a:r>
                        <a:t>52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13</a:t>
                      </a:r>
                    </a:p>
                  </a:txBody>
                  <a:tcPr anchor="ctr">
                    <a:solidFill>
                      <a:srgbClr val="EFEFEF"/>
                    </a:solidFill>
                  </a:tcPr>
                </a:tc>
                <a:extLst>
                  <a:ext uri="{0D108BD9-81ED-4DB2-BD59-A6C34878D82A}">
                    <a16:rowId xmlns:a16="http://schemas.microsoft.com/office/drawing/2014/main" val="10008"/>
                  </a:ext>
                </a:extLst>
              </a:tr>
              <a:tr h="138545">
                <a:tc>
                  <a:txBody>
                    <a:bodyPr/>
                    <a:lstStyle/>
                    <a:p>
                      <a:pPr algn="l">
                        <a:defRPr sz="900">
                          <a:latin typeface="Montserrat"/>
                        </a:defRPr>
                      </a:pPr>
                      <a:r>
                        <a:t>HGS 33 Tierra Blanca</a:t>
                      </a:r>
                    </a:p>
                  </a:txBody>
                  <a:tcPr anchor="ctr">
                    <a:solidFill>
                      <a:srgbClr val="FFFFFF"/>
                    </a:solidFill>
                  </a:tcPr>
                </a:tc>
                <a:tc>
                  <a:txBody>
                    <a:bodyPr/>
                    <a:lstStyle/>
                    <a:p>
                      <a:pPr algn="ctr">
                        <a:defRPr sz="900">
                          <a:latin typeface="Montserrat"/>
                        </a:defRPr>
                      </a:pPr>
                      <a:r>
                        <a:t>Mayo de 1972</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5</a:t>
                      </a:r>
                    </a:p>
                  </a:txBody>
                  <a:tcPr anchor="ctr">
                    <a:solidFill>
                      <a:srgbClr val="FFFFFF"/>
                    </a:solidFill>
                  </a:tcPr>
                </a:tc>
                <a:extLst>
                  <a:ext uri="{0D108BD9-81ED-4DB2-BD59-A6C34878D82A}">
                    <a16:rowId xmlns:a16="http://schemas.microsoft.com/office/drawing/2014/main" val="10009"/>
                  </a:ext>
                </a:extLst>
              </a:tr>
              <a:tr h="138545">
                <a:tc>
                  <a:txBody>
                    <a:bodyPr/>
                    <a:lstStyle/>
                    <a:p>
                      <a:pPr algn="l">
                        <a:defRPr sz="900">
                          <a:latin typeface="Montserrat"/>
                        </a:defRPr>
                      </a:pPr>
                      <a:r>
                        <a:t>HGSMF 7 Panuco</a:t>
                      </a:r>
                    </a:p>
                  </a:txBody>
                  <a:tcPr anchor="ctr">
                    <a:solidFill>
                      <a:srgbClr val="EFEFEF"/>
                    </a:solidFill>
                  </a:tcPr>
                </a:tc>
                <a:tc>
                  <a:txBody>
                    <a:bodyPr/>
                    <a:lstStyle/>
                    <a:p>
                      <a:pPr algn="ctr">
                        <a:defRPr sz="900">
                          <a:latin typeface="Montserrat"/>
                        </a:defRPr>
                      </a:pPr>
                      <a:r>
                        <a:t>Marzo de 1973</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rPr dirty="0"/>
                        <a:t>3</a:t>
                      </a:r>
                    </a:p>
                  </a:txBody>
                  <a:tcPr anchor="ctr">
                    <a:solidFill>
                      <a:srgbClr val="EFEFE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extLst>
              <p:ext uri="{D42A27DB-BD31-4B8C-83A1-F6EECF244321}">
                <p14:modId xmlns:p14="http://schemas.microsoft.com/office/powerpoint/2010/main" val="2297187506"/>
              </p:ext>
            </p:extLst>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Equipo relevante( 1 de 2)</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54" name="Table 153"/>
          <p:cNvGraphicFramePr>
            <a:graphicFrameLocks noGrp="1"/>
          </p:cNvGraphicFramePr>
          <p:nvPr>
            <p:extLst>
              <p:ext uri="{D42A27DB-BD31-4B8C-83A1-F6EECF244321}">
                <p14:modId xmlns:p14="http://schemas.microsoft.com/office/powerpoint/2010/main" val="1931720814"/>
              </p:ext>
            </p:extLst>
          </p:nvPr>
        </p:nvGraphicFramePr>
        <p:xfrm>
          <a:off x="93600" y="1180800"/>
          <a:ext cx="7534799" cy="489204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rPr lang="es-MX" dirty="0"/>
                        <a:t>10</a:t>
                      </a:r>
                      <a:endParaRPr dirty="0"/>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60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4"/>
                  </a:ext>
                </a:extLst>
              </a:tr>
              <a:tr h="2160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HGZ 11 Jalapa.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18</a:t>
                      </a:r>
                    </a:p>
                  </a:txBody>
                  <a:tcPr>
                    <a:solidFill>
                      <a:srgbClr val="EFEFE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6"/>
                  </a:ext>
                </a:extLst>
              </a:tr>
              <a:tr h="216000">
                <a:tc>
                  <a:txBody>
                    <a:bodyPr/>
                    <a:lstStyle/>
                    <a:p>
                      <a:pPr algn="l">
                        <a:defRPr sz="1000">
                          <a:latin typeface="Montserrat"/>
                        </a:defRPr>
                      </a:pPr>
                      <a:r>
                        <a:t>HGZMF 50 Lerdo Tejada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HGR Orizaba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10</a:t>
                      </a:r>
                    </a:p>
                  </a:txBody>
                  <a:tcPr>
                    <a:solidFill>
                      <a:srgbClr val="EFEFE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8"/>
                  </a:ext>
                </a:extLst>
              </a:tr>
              <a:tr h="2160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0"/>
                  </a:ext>
                </a:extLst>
              </a:tr>
              <a:tr h="216000">
                <a:tc>
                  <a:txBody>
                    <a:bodyPr/>
                    <a:lstStyle/>
                    <a:p>
                      <a:pPr algn="l">
                        <a:defRPr sz="1000">
                          <a:latin typeface="Montserrat"/>
                        </a:defRPr>
                      </a:pPr>
                      <a:r>
                        <a:t>HGSMF 16 Omealca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1"/>
                  </a:ext>
                </a:extLst>
              </a:tr>
              <a:tr h="2160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21</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2"/>
                  </a:ext>
                </a:extLst>
              </a:tr>
              <a:tr h="216000">
                <a:tc>
                  <a:txBody>
                    <a:bodyPr/>
                    <a:lstStyle/>
                    <a:p>
                      <a:pPr algn="l">
                        <a:defRPr sz="1000">
                          <a:latin typeface="Montserrat"/>
                        </a:defRPr>
                      </a:pPr>
                      <a:r>
                        <a:t>HGSMF 33 S. Andrés Tuxtla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3"/>
                  </a:ext>
                </a:extLst>
              </a:tr>
              <a:tr h="2160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4"/>
                  </a:ext>
                </a:extLst>
              </a:tr>
              <a:tr h="2160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5"/>
                  </a:ext>
                </a:extLst>
              </a:tr>
              <a:tr h="216000">
                <a:tc>
                  <a:txBody>
                    <a:bodyPr/>
                    <a:lstStyle/>
                    <a:p>
                      <a:pPr algn="l">
                        <a:defRPr sz="1000">
                          <a:latin typeface="Montserrat"/>
                        </a:defRPr>
                      </a:pPr>
                      <a:r>
                        <a:t>HGZ 8 Córdoba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6"/>
                  </a:ext>
                </a:extLst>
              </a:tr>
              <a:tr h="216000">
                <a:tc>
                  <a:txBody>
                    <a:bodyPr/>
                    <a:lstStyle/>
                    <a:p>
                      <a:pPr algn="l">
                        <a:defRPr sz="1000">
                          <a:latin typeface="Montserrat"/>
                        </a:defRPr>
                      </a:pPr>
                      <a:r>
                        <a:t>HGZ 36 Coatzacoalos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7"/>
                  </a:ext>
                </a:extLst>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rPr lang="es-MX" dirty="0"/>
                        <a:t>101</a:t>
                      </a:r>
                      <a:endParaRPr dirty="0"/>
                    </a:p>
                  </a:txBody>
                  <a:tcPr>
                    <a:solidFill>
                      <a:srgbClr val="D3E9E7"/>
                    </a:solidFill>
                  </a:tcPr>
                </a:tc>
                <a:tc>
                  <a:txBody>
                    <a:bodyPr/>
                    <a:lstStyle/>
                    <a:p>
                      <a:pPr algn="ctr">
                        <a:defRPr sz="1000" b="1">
                          <a:solidFill>
                            <a:srgbClr val="006556"/>
                          </a:solidFill>
                          <a:latin typeface="Montserrat"/>
                        </a:defRPr>
                      </a:pPr>
                      <a:r>
                        <a:rPr dirty="0"/>
                        <a:t>2</a:t>
                      </a:r>
                    </a:p>
                  </a:txBody>
                  <a:tcPr>
                    <a:solidFill>
                      <a:srgbClr val="D3E9E7"/>
                    </a:solidFill>
                  </a:tcPr>
                </a:tc>
                <a:extLst>
                  <a:ext uri="{0D108BD9-81ED-4DB2-BD59-A6C34878D82A}">
                    <a16:rowId xmlns:a16="http://schemas.microsoft.com/office/drawing/2014/main" val="10018"/>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568800"/>
            <a:ext cx="7149600" cy="461665"/>
          </a:xfrm>
          <a:prstGeom prst="rect">
            <a:avLst/>
          </a:prstGeom>
          <a:noFill/>
        </p:spPr>
        <p:txBody>
          <a:bodyPr wrap="square">
            <a:spAutoFit/>
          </a:bodyPr>
          <a:lstStyle/>
          <a:p>
            <a:pPr>
              <a:defRPr sz="800">
                <a:solidFill>
                  <a:srgbClr val="FFFFFF"/>
                </a:solidFill>
                <a:latin typeface="Montserrat"/>
              </a:defRPr>
            </a:pPr>
            <a:r>
              <a:rPr dirty="0" err="1"/>
              <a:t>Proyectos</a:t>
            </a:r>
            <a:r>
              <a:rPr dirty="0"/>
              <a:t> de </a:t>
            </a:r>
            <a:r>
              <a:rPr dirty="0" err="1"/>
              <a:t>implementación</a:t>
            </a:r>
            <a:r>
              <a:rPr dirty="0"/>
              <a:t>/</a:t>
            </a:r>
            <a:r>
              <a:rPr dirty="0" err="1"/>
              <a:t>sustitución</a:t>
            </a:r>
            <a:r>
              <a:rPr dirty="0"/>
              <a:t> 2019-2025. </a:t>
            </a:r>
            <a:r>
              <a:rPr dirty="0" err="1"/>
              <a:t>Incluye</a:t>
            </a:r>
            <a:r>
              <a:rPr dirty="0"/>
              <a:t> </a:t>
            </a:r>
            <a:r>
              <a:rPr dirty="0" err="1"/>
              <a:t>equipo</a:t>
            </a:r>
            <a:r>
              <a:rPr dirty="0"/>
              <a:t> de la </a:t>
            </a:r>
            <a:r>
              <a:rPr dirty="0" err="1"/>
              <a:t>compra</a:t>
            </a:r>
            <a:r>
              <a:rPr dirty="0"/>
              <a:t> 2025-2026.</a:t>
            </a:r>
            <a:br>
              <a:rPr dirty="0"/>
            </a:br>
            <a:r>
              <a:rPr dirty="0"/>
              <a:t>Fuente: Cédula de </a:t>
            </a:r>
            <a:r>
              <a:rPr dirty="0" err="1"/>
              <a:t>actualización</a:t>
            </a:r>
            <a:r>
              <a:rPr dirty="0"/>
              <a:t> de variables </a:t>
            </a:r>
            <a:r>
              <a:rPr dirty="0" err="1"/>
              <a:t>seleccionadas</a:t>
            </a:r>
            <a:r>
              <a:rPr dirty="0"/>
              <a:t> del IFU, </a:t>
            </a:r>
            <a:r>
              <a:rPr dirty="0" err="1"/>
              <a:t>enviadas</a:t>
            </a:r>
            <a:r>
              <a:rPr dirty="0"/>
              <a:t> por el OOAD.</a:t>
            </a:r>
            <a:br>
              <a:rPr dirty="0"/>
            </a:br>
            <a:r>
              <a:rPr dirty="0"/>
              <a:t>Corte de información: ma</a:t>
            </a:r>
            <a:r>
              <a:rPr lang="es-MX" dirty="0"/>
              <a:t>y</a:t>
            </a:r>
            <a:r>
              <a:rPr dirty="0"/>
              <a:t>o de 2026</a:t>
            </a:r>
          </a:p>
        </p:txBody>
      </p:sp>
      <p:graphicFrame>
        <p:nvGraphicFramePr>
          <p:cNvPr id="5" name="Table 4"/>
          <p:cNvGraphicFramePr>
            <a:graphicFrameLocks noGrp="1"/>
          </p:cNvGraphicFramePr>
          <p:nvPr>
            <p:extLst>
              <p:ext uri="{D42A27DB-BD31-4B8C-83A1-F6EECF244321}">
                <p14:modId xmlns:p14="http://schemas.microsoft.com/office/powerpoint/2010/main" val="2211758481"/>
              </p:ext>
            </p:extLst>
          </p:nvPr>
        </p:nvGraphicFramePr>
        <p:xfrm>
          <a:off x="88526" y="6150240"/>
          <a:ext cx="7534799" cy="123444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UMAE</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2</a:t>
                      </a:r>
                    </a:p>
                  </a:txBody>
                  <a:tcPr>
                    <a:solidFill>
                      <a:srgbClr val="FFFFFF"/>
                    </a:solidFill>
                  </a:tcPr>
                </a:tc>
                <a:extLst>
                  <a:ext uri="{0D108BD9-81ED-4DB2-BD59-A6C34878D82A}">
                    <a16:rowId xmlns:a16="http://schemas.microsoft.com/office/drawing/2014/main" val="10001"/>
                  </a:ext>
                </a:extLst>
              </a:tr>
              <a:tr h="216000">
                <a:tc>
                  <a:txBody>
                    <a:bodyPr/>
                    <a:lstStyle/>
                    <a:p>
                      <a:pPr algn="l">
                        <a:defRPr sz="1000" b="1">
                          <a:solidFill>
                            <a:srgbClr val="006556"/>
                          </a:solidFill>
                          <a:latin typeface="Montserrat"/>
                        </a:defRPr>
                      </a:pPr>
                      <a:r>
                        <a:rPr dirty="0"/>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extLst>
                  <a:ext uri="{0D108BD9-81ED-4DB2-BD59-A6C34878D82A}">
                    <a16:rowId xmlns:a16="http://schemas.microsoft.com/office/drawing/2014/main" val="10002"/>
                  </a:ext>
                </a:extLst>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rPr dirty="0"/>
                        <a:t>11</a:t>
                      </a:r>
                      <a:r>
                        <a:rPr lang="es-MX" dirty="0"/>
                        <a:t>4</a:t>
                      </a:r>
                      <a:endParaRPr dirty="0"/>
                    </a:p>
                  </a:txBody>
                  <a:tcPr>
                    <a:solidFill>
                      <a:srgbClr val="D3E9E7"/>
                    </a:solidFill>
                  </a:tcPr>
                </a:tc>
                <a:tc>
                  <a:txBody>
                    <a:bodyPr/>
                    <a:lstStyle/>
                    <a:p>
                      <a:pPr algn="ctr">
                        <a:defRPr sz="1000" b="1">
                          <a:solidFill>
                            <a:srgbClr val="006556"/>
                          </a:solidFill>
                          <a:latin typeface="Montserrat"/>
                        </a:defRPr>
                      </a:pPr>
                      <a:r>
                        <a:rPr dirty="0"/>
                        <a:t>4</a:t>
                      </a:r>
                    </a:p>
                  </a:txBody>
                  <a:tcPr>
                    <a:solidFill>
                      <a:srgbClr val="D3E9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120566" y="780407"/>
            <a:ext cx="3690434" cy="41549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100" b="1">
                <a:solidFill>
                  <a:srgbClr val="BC955C"/>
                </a:solidFill>
                <a:latin typeface="Montserrat"/>
              </a:defRPr>
            </a:pPr>
            <a:r>
              <a:rPr kumimoji="0" sz="2100" b="1" i="0" u="none" strike="noStrike" kern="0" cap="none" spc="0" normalizeH="0" baseline="0" noProof="0">
                <a:ln>
                  <a:noFill/>
                </a:ln>
                <a:solidFill>
                  <a:srgbClr val="BC955C"/>
                </a:solidFill>
                <a:effectLst/>
                <a:uLnTx/>
                <a:uFillTx/>
                <a:latin typeface="Montserrat"/>
                <a:cs typeface="Arial"/>
                <a:sym typeface="Arial"/>
              </a:rPr>
              <a:t>Equipo </a:t>
            </a:r>
            <a:r>
              <a:rPr kumimoji="0" sz="2100" b="1" i="0" u="none" strike="noStrike" kern="0" cap="none" spc="0" normalizeH="0" baseline="0" noProof="0" err="1">
                <a:ln>
                  <a:noFill/>
                </a:ln>
                <a:solidFill>
                  <a:srgbClr val="BC955C"/>
                </a:solidFill>
                <a:effectLst/>
                <a:uLnTx/>
                <a:uFillTx/>
                <a:latin typeface="Montserrat"/>
                <a:cs typeface="Arial"/>
                <a:sym typeface="Arial"/>
              </a:rPr>
              <a:t>relevante</a:t>
            </a:r>
            <a:r>
              <a:rPr kumimoji="0" lang="es-MX" sz="2100" b="1" i="0" u="none" strike="noStrike" kern="0" cap="none" spc="0" normalizeH="0" baseline="0" noProof="0">
                <a:ln>
                  <a:noFill/>
                </a:ln>
                <a:solidFill>
                  <a:srgbClr val="BC955C"/>
                </a:solidFill>
                <a:effectLst/>
                <a:uLnTx/>
                <a:uFillTx/>
                <a:latin typeface="Montserrat"/>
                <a:cs typeface="Arial"/>
                <a:sym typeface="Arial"/>
              </a:rPr>
              <a:t> (2 de 2)</a:t>
            </a:r>
            <a:endParaRPr kumimoji="0" sz="21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4" name="Connector 3"/>
          <p:cNvCxnSpPr/>
          <p:nvPr/>
        </p:nvCxnSpPr>
        <p:spPr>
          <a:xfrm>
            <a:off x="147600" y="1292257"/>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pSp>
        <p:nvGrpSpPr>
          <p:cNvPr id="12" name="Grupo 11">
            <a:extLst>
              <a:ext uri="{FF2B5EF4-FFF2-40B4-BE49-F238E27FC236}">
                <a16:creationId xmlns:a16="http://schemas.microsoft.com/office/drawing/2014/main" id="{FCA3ED39-0602-4B38-876B-E68101479DD2}"/>
              </a:ext>
            </a:extLst>
          </p:cNvPr>
          <p:cNvGrpSpPr/>
          <p:nvPr/>
        </p:nvGrpSpPr>
        <p:grpSpPr>
          <a:xfrm>
            <a:off x="-282852" y="1773909"/>
            <a:ext cx="7772400" cy="4899614"/>
            <a:chOff x="-583607" y="3560368"/>
            <a:chExt cx="7772400" cy="4899614"/>
          </a:xfrm>
        </p:grpSpPr>
        <p:pic>
          <p:nvPicPr>
            <p:cNvPr id="13" name="Google Shape;360;g3d62d805bc0_1_0">
              <a:extLst>
                <a:ext uri="{FF2B5EF4-FFF2-40B4-BE49-F238E27FC236}">
                  <a16:creationId xmlns:a16="http://schemas.microsoft.com/office/drawing/2014/main" id="{2B978486-56DF-538D-4A9C-AD46C97FAC8F}"/>
                </a:ext>
              </a:extLst>
            </p:cNvPr>
            <p:cNvPicPr preferRelativeResize="0"/>
            <p:nvPr/>
          </p:nvPicPr>
          <p:blipFill rotWithShape="1">
            <a:blip r:embed="rId2">
              <a:alphaModFix/>
            </a:blip>
            <a:srcRect/>
            <a:stretch/>
          </p:blipFill>
          <p:spPr>
            <a:xfrm>
              <a:off x="612475" y="4942482"/>
              <a:ext cx="2526224" cy="1959622"/>
            </a:xfrm>
            <a:prstGeom prst="rect">
              <a:avLst/>
            </a:prstGeom>
            <a:noFill/>
            <a:ln>
              <a:noFill/>
            </a:ln>
          </p:spPr>
        </p:pic>
        <p:sp>
          <p:nvSpPr>
            <p:cNvPr id="14" name="Google Shape;361;g3d62d805bc0_1_0">
              <a:extLst>
                <a:ext uri="{FF2B5EF4-FFF2-40B4-BE49-F238E27FC236}">
                  <a16:creationId xmlns:a16="http://schemas.microsoft.com/office/drawing/2014/main" id="{EE681D78-F138-5B6A-49A3-11704BE15EE2}"/>
                </a:ext>
              </a:extLst>
            </p:cNvPr>
            <p:cNvSpPr txBox="1"/>
            <p:nvPr/>
          </p:nvSpPr>
          <p:spPr>
            <a:xfrm>
              <a:off x="4060300" y="7221882"/>
              <a:ext cx="2421300" cy="1238100"/>
            </a:xfrm>
            <a:prstGeom prst="rect">
              <a:avLst/>
            </a:prstGeom>
            <a:noFill/>
            <a:ln>
              <a:noFill/>
            </a:ln>
          </p:spPr>
          <p:txBody>
            <a:bodyPr spcFirstLastPara="1" wrap="square" lIns="91425" tIns="91425" rIns="91425" bIns="91425" anchor="t" anchorCtr="0">
              <a:noAutofit/>
            </a:bodyPr>
            <a:lstStyle/>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HGR 1 Orizaba, </a:t>
              </a:r>
              <a:endParaRPr kumimoji="0" sz="1300" b="0"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HGZ 71 Veracruz</a:t>
              </a:r>
              <a:endParaRPr kumimoji="0" sz="1300" b="0"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30000" noProof="0" dirty="0">
                  <a:ln>
                    <a:noFill/>
                  </a:ln>
                  <a:solidFill>
                    <a:srgbClr val="434343"/>
                  </a:solidFill>
                  <a:effectLst/>
                  <a:uLnTx/>
                  <a:uFillTx/>
                  <a:latin typeface="Montserrat"/>
                  <a:ea typeface="Montserrat"/>
                  <a:cs typeface="Montserrat"/>
                  <a:sym typeface="Montserrat"/>
                </a:rPr>
                <a:t>1</a:t>
              </a: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UMF 69 Coatzacoalcos</a:t>
              </a:r>
              <a:endParaRPr kumimoji="0" sz="1300" b="0"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HGZ 8 Córdoba</a:t>
              </a:r>
              <a:endParaRPr kumimoji="0" sz="1300" b="0"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HGZMF 32 Minatitlán</a:t>
              </a:r>
              <a:endParaRPr kumimoji="0" sz="1300" b="0"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0" i="0" u="none" strike="noStrike" kern="0" cap="none" spc="0" normalizeH="0" baseline="30000" noProof="0" dirty="0">
                  <a:ln>
                    <a:noFill/>
                  </a:ln>
                  <a:solidFill>
                    <a:srgbClr val="434343"/>
                  </a:solidFill>
                  <a:effectLst/>
                  <a:uLnTx/>
                  <a:uFillTx/>
                  <a:latin typeface="Montserrat"/>
                  <a:ea typeface="Montserrat"/>
                  <a:cs typeface="Montserrat"/>
                  <a:sym typeface="Montserrat"/>
                </a:rPr>
                <a:t>1</a:t>
              </a:r>
              <a:r>
                <a:rPr kumimoji="0" lang="es" sz="1300" b="0" i="0" u="none" strike="noStrike" kern="0" cap="none" spc="0" normalizeH="0" baseline="0" noProof="0" dirty="0">
                  <a:ln>
                    <a:noFill/>
                  </a:ln>
                  <a:solidFill>
                    <a:srgbClr val="434343"/>
                  </a:solidFill>
                  <a:effectLst/>
                  <a:uLnTx/>
                  <a:uFillTx/>
                  <a:latin typeface="Montserrat"/>
                  <a:ea typeface="Montserrat"/>
                  <a:cs typeface="Montserrat"/>
                  <a:sym typeface="Montserrat"/>
                </a:rPr>
                <a:t>HGS 33 Tierra Blanca</a:t>
              </a:r>
            </a:p>
            <a:p>
              <a:pPr marL="0" marR="635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s" sz="1300" b="1" i="0" u="none" strike="noStrike" kern="0" cap="none" spc="0" normalizeH="0" baseline="0" noProof="0" dirty="0">
                  <a:ln>
                    <a:noFill/>
                  </a:ln>
                  <a:solidFill>
                    <a:srgbClr val="434343"/>
                  </a:solidFill>
                  <a:effectLst/>
                  <a:uLnTx/>
                  <a:uFillTx/>
                  <a:latin typeface="Montserrat"/>
                  <a:ea typeface="Montserrat"/>
                  <a:cs typeface="Montserrat"/>
                  <a:sym typeface="Montserrat"/>
                </a:rPr>
                <a:t>$19.7 mdp</a:t>
              </a:r>
              <a:endParaRPr kumimoji="0" sz="1300" b="1" i="0" u="none" strike="noStrike" kern="0" cap="none" spc="0" normalizeH="0" baseline="0" noProof="0" dirty="0">
                <a:ln>
                  <a:noFill/>
                </a:ln>
                <a:solidFill>
                  <a:srgbClr val="434343"/>
                </a:solidFill>
                <a:effectLst/>
                <a:uLnTx/>
                <a:uFillTx/>
                <a:latin typeface="Montserrat"/>
                <a:ea typeface="Montserrat"/>
                <a:cs typeface="Montserrat"/>
                <a:sym typeface="Montserrat"/>
              </a:endParaRPr>
            </a:p>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endParaRPr kumimoji="0" sz="1300" b="0" i="0" u="none" strike="noStrike" kern="0" cap="none" spc="0" normalizeH="0" baseline="0" noProof="0" dirty="0">
                <a:ln>
                  <a:noFill/>
                </a:ln>
                <a:solidFill>
                  <a:srgbClr val="595959"/>
                </a:solidFill>
                <a:effectLst/>
                <a:uLnTx/>
                <a:uFillTx/>
                <a:latin typeface="Montserrat"/>
                <a:ea typeface="Montserrat"/>
                <a:cs typeface="Montserrat"/>
                <a:sym typeface="Montserrat"/>
              </a:endParaRPr>
            </a:p>
          </p:txBody>
        </p:sp>
        <p:pic>
          <p:nvPicPr>
            <p:cNvPr id="15" name="Google Shape;362;g3d62d805bc0_1_0">
              <a:extLst>
                <a:ext uri="{FF2B5EF4-FFF2-40B4-BE49-F238E27FC236}">
                  <a16:creationId xmlns:a16="http://schemas.microsoft.com/office/drawing/2014/main" id="{E51CA27C-221A-AAF7-9B46-AF7ADE0D8E9C}"/>
                </a:ext>
              </a:extLst>
            </p:cNvPr>
            <p:cNvPicPr preferRelativeResize="0"/>
            <p:nvPr/>
          </p:nvPicPr>
          <p:blipFill rotWithShape="1">
            <a:blip r:embed="rId3">
              <a:alphaModFix/>
            </a:blip>
            <a:srcRect/>
            <a:stretch/>
          </p:blipFill>
          <p:spPr>
            <a:xfrm>
              <a:off x="3555448" y="4942482"/>
              <a:ext cx="3092627" cy="1991880"/>
            </a:xfrm>
            <a:prstGeom prst="rect">
              <a:avLst/>
            </a:prstGeom>
            <a:noFill/>
            <a:ln>
              <a:noFill/>
            </a:ln>
          </p:spPr>
        </p:pic>
        <p:sp>
          <p:nvSpPr>
            <p:cNvPr id="16" name="Google Shape;363;g3d62d805bc0_1_0">
              <a:extLst>
                <a:ext uri="{FF2B5EF4-FFF2-40B4-BE49-F238E27FC236}">
                  <a16:creationId xmlns:a16="http://schemas.microsoft.com/office/drawing/2014/main" id="{9191DF1B-ECF1-0CA6-0E74-63BF2E94F6C6}"/>
                </a:ext>
              </a:extLst>
            </p:cNvPr>
            <p:cNvSpPr/>
            <p:nvPr/>
          </p:nvSpPr>
          <p:spPr>
            <a:xfrm>
              <a:off x="705900" y="6790332"/>
              <a:ext cx="526500" cy="466500"/>
            </a:xfrm>
            <a:prstGeom prst="rect">
              <a:avLst/>
            </a:prstGeom>
            <a:gradFill>
              <a:gsLst>
                <a:gs pos="0">
                  <a:srgbClr val="691932"/>
                </a:gs>
                <a:gs pos="100000">
                  <a:srgbClr val="A42145"/>
                </a:gs>
              </a:gsLst>
              <a:lin ang="8099331" scaled="0"/>
            </a:gradFill>
            <a:ln>
              <a:noFill/>
            </a:ln>
          </p:spPr>
          <p:txBody>
            <a:bodyPr spcFirstLastPara="1" wrap="square" lIns="110100" tIns="110100" rIns="110100" bIns="1101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86"/>
                <a:buFont typeface="Arial"/>
                <a:buNone/>
                <a:tabLst/>
                <a:defRPr/>
              </a:pPr>
              <a:r>
                <a:rPr kumimoji="0" lang="es" sz="1686" b="0" i="0" u="none" strike="noStrike" kern="0" cap="none" spc="0" normalizeH="0" baseline="0" noProof="0">
                  <a:ln>
                    <a:noFill/>
                  </a:ln>
                  <a:solidFill>
                    <a:srgbClr val="FFFFFF"/>
                  </a:solidFill>
                  <a:effectLst/>
                  <a:uLnTx/>
                  <a:uFillTx/>
                  <a:latin typeface="Noto Sans Black"/>
                  <a:ea typeface="Noto Sans Black"/>
                  <a:cs typeface="Noto Sans Black"/>
                  <a:sym typeface="Noto Sans Black"/>
                </a:rPr>
                <a:t>1</a:t>
              </a:r>
              <a:endParaRPr kumimoji="0" sz="1686" b="0" i="0" u="none" strike="noStrike" kern="0" cap="none" spc="0" normalizeH="0" baseline="0" noProof="0">
                <a:ln>
                  <a:noFill/>
                </a:ln>
                <a:solidFill>
                  <a:srgbClr val="FFFFFF"/>
                </a:solidFill>
                <a:effectLst/>
                <a:uLnTx/>
                <a:uFillTx/>
                <a:latin typeface="Noto Sans Black"/>
                <a:ea typeface="Noto Sans Black"/>
                <a:cs typeface="Noto Sans Black"/>
                <a:sym typeface="Noto Sans Black"/>
              </a:endParaRPr>
            </a:p>
          </p:txBody>
        </p:sp>
        <p:sp>
          <p:nvSpPr>
            <p:cNvPr id="17" name="Google Shape;364;g3d62d805bc0_1_0">
              <a:extLst>
                <a:ext uri="{FF2B5EF4-FFF2-40B4-BE49-F238E27FC236}">
                  <a16:creationId xmlns:a16="http://schemas.microsoft.com/office/drawing/2014/main" id="{FCEF63C8-A679-E0CC-6FF7-C0B718C71643}"/>
                </a:ext>
              </a:extLst>
            </p:cNvPr>
            <p:cNvSpPr/>
            <p:nvPr/>
          </p:nvSpPr>
          <p:spPr>
            <a:xfrm>
              <a:off x="1232596" y="6794209"/>
              <a:ext cx="1894500" cy="459000"/>
            </a:xfrm>
            <a:prstGeom prst="rect">
              <a:avLst/>
            </a:prstGeom>
            <a:gradFill>
              <a:gsLst>
                <a:gs pos="0">
                  <a:srgbClr val="006455"/>
                </a:gs>
                <a:gs pos="100000">
                  <a:srgbClr val="1C342D"/>
                </a:gs>
              </a:gsLst>
              <a:lin ang="8099331" scaled="0"/>
            </a:gradFill>
            <a:ln>
              <a:noFill/>
            </a:ln>
          </p:spPr>
          <p:txBody>
            <a:bodyPr spcFirstLastPara="1" wrap="square" lIns="110100" tIns="110100" rIns="110100" bIns="1101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566"/>
                <a:buFont typeface="Arial"/>
                <a:buNone/>
                <a:tabLst/>
                <a:defRPr/>
              </a:pPr>
              <a:r>
                <a:rPr kumimoji="0" lang="es" sz="1566" b="1" i="0" u="none" strike="noStrike" kern="0" cap="none" spc="0" normalizeH="0" baseline="0" noProof="0">
                  <a:ln>
                    <a:noFill/>
                  </a:ln>
                  <a:solidFill>
                    <a:srgbClr val="FFFFFF"/>
                  </a:solidFill>
                  <a:effectLst/>
                  <a:uLnTx/>
                  <a:uFillTx/>
                  <a:latin typeface="Montserrat"/>
                  <a:ea typeface="Montserrat"/>
                  <a:cs typeface="Montserrat"/>
                  <a:sym typeface="Montserrat"/>
                </a:rPr>
                <a:t>Tomógrafos</a:t>
              </a:r>
              <a:endParaRPr kumimoji="0" sz="1325" b="0" i="0" u="none" strike="noStrike" kern="0" cap="none" spc="0" normalizeH="0" baseline="0" noProof="0">
                <a:ln>
                  <a:noFill/>
                </a:ln>
                <a:solidFill>
                  <a:srgbClr val="FFFFFF"/>
                </a:solidFill>
                <a:effectLst/>
                <a:uLnTx/>
                <a:uFillTx/>
                <a:latin typeface="Arial"/>
                <a:ea typeface="Arial"/>
                <a:cs typeface="Arial"/>
                <a:sym typeface="Arial"/>
              </a:endParaRPr>
            </a:p>
          </p:txBody>
        </p:sp>
        <p:grpSp>
          <p:nvGrpSpPr>
            <p:cNvPr id="18" name="Google Shape;366;g3d62d805bc0_1_0">
              <a:extLst>
                <a:ext uri="{FF2B5EF4-FFF2-40B4-BE49-F238E27FC236}">
                  <a16:creationId xmlns:a16="http://schemas.microsoft.com/office/drawing/2014/main" id="{1AF6FEB8-98B8-2027-EB2B-9E160A9609D0}"/>
                </a:ext>
              </a:extLst>
            </p:cNvPr>
            <p:cNvGrpSpPr/>
            <p:nvPr/>
          </p:nvGrpSpPr>
          <p:grpSpPr>
            <a:xfrm>
              <a:off x="3745766" y="6786717"/>
              <a:ext cx="2838161" cy="466420"/>
              <a:chOff x="4538448" y="7426607"/>
              <a:chExt cx="2097525" cy="381000"/>
            </a:xfrm>
          </p:grpSpPr>
          <p:sp>
            <p:nvSpPr>
              <p:cNvPr id="21" name="Google Shape;367;g3d62d805bc0_1_0">
                <a:extLst>
                  <a:ext uri="{FF2B5EF4-FFF2-40B4-BE49-F238E27FC236}">
                    <a16:creationId xmlns:a16="http://schemas.microsoft.com/office/drawing/2014/main" id="{0AEE536E-F500-AF94-5A78-7A82CF39DA16}"/>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925" tIns="111925" rIns="111925" bIns="111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14"/>
                  <a:buFont typeface="Arial"/>
                  <a:buNone/>
                  <a:tabLst/>
                  <a:defRPr/>
                </a:pPr>
                <a:r>
                  <a:rPr kumimoji="0" lang="es" sz="1714" b="0" i="0" u="none" strike="noStrike" kern="0" cap="none" spc="0" normalizeH="0" baseline="0" noProof="0">
                    <a:ln>
                      <a:noFill/>
                    </a:ln>
                    <a:solidFill>
                      <a:srgbClr val="FFFFFF"/>
                    </a:solidFill>
                    <a:effectLst/>
                    <a:uLnTx/>
                    <a:uFillTx/>
                    <a:latin typeface="Noto Sans Black"/>
                    <a:ea typeface="Noto Sans Black"/>
                    <a:cs typeface="Noto Sans Black"/>
                    <a:sym typeface="Noto Sans Black"/>
                  </a:rPr>
                  <a:t>6</a:t>
                </a:r>
                <a:endParaRPr kumimoji="0" sz="1714" b="0" i="0" u="none" strike="noStrike" kern="0" cap="none" spc="0" normalizeH="0" baseline="0" noProof="0">
                  <a:ln>
                    <a:noFill/>
                  </a:ln>
                  <a:solidFill>
                    <a:srgbClr val="FFFFFF"/>
                  </a:solidFill>
                  <a:effectLst/>
                  <a:uLnTx/>
                  <a:uFillTx/>
                  <a:latin typeface="Noto Sans Black"/>
                  <a:ea typeface="Noto Sans Black"/>
                  <a:cs typeface="Noto Sans Black"/>
                  <a:sym typeface="Noto Sans Black"/>
                </a:endParaRPr>
              </a:p>
            </p:txBody>
          </p:sp>
          <p:sp>
            <p:nvSpPr>
              <p:cNvPr id="22" name="Google Shape;368;g3d62d805bc0_1_0">
                <a:extLst>
                  <a:ext uri="{FF2B5EF4-FFF2-40B4-BE49-F238E27FC236}">
                    <a16:creationId xmlns:a16="http://schemas.microsoft.com/office/drawing/2014/main" id="{00968F65-9ABB-C551-27DF-2E32DBF8A5A6}"/>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925" tIns="111925" rIns="111925" bIns="111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591"/>
                  <a:buFont typeface="Arial"/>
                  <a:buNone/>
                  <a:tabLst/>
                  <a:defRPr/>
                </a:pPr>
                <a:r>
                  <a:rPr kumimoji="0" lang="es" sz="1591" b="1" i="0" u="none" strike="noStrike" kern="0" cap="none" spc="0" normalizeH="0" baseline="0" noProof="0">
                    <a:ln>
                      <a:noFill/>
                    </a:ln>
                    <a:solidFill>
                      <a:srgbClr val="FFFFFF"/>
                    </a:solidFill>
                    <a:effectLst/>
                    <a:uLnTx/>
                    <a:uFillTx/>
                    <a:latin typeface="Montserrat"/>
                    <a:ea typeface="Montserrat"/>
                    <a:cs typeface="Montserrat"/>
                    <a:sym typeface="Montserrat"/>
                  </a:rPr>
                  <a:t>Mastógrafos</a:t>
                </a:r>
                <a:endParaRPr kumimoji="0" sz="1347" b="0" i="0" u="none" strike="noStrike" kern="0" cap="none" spc="0" normalizeH="0" baseline="0" noProof="0">
                  <a:ln>
                    <a:noFill/>
                  </a:ln>
                  <a:solidFill>
                    <a:srgbClr val="FFFFFF"/>
                  </a:solidFill>
                  <a:effectLst/>
                  <a:uLnTx/>
                  <a:uFillTx/>
                  <a:latin typeface="Arial"/>
                  <a:ea typeface="Arial"/>
                  <a:cs typeface="Arial"/>
                  <a:sym typeface="Arial"/>
                </a:endParaRPr>
              </a:p>
            </p:txBody>
          </p:sp>
        </p:grpSp>
        <p:sp>
          <p:nvSpPr>
            <p:cNvPr id="19" name="Google Shape;369;g3d62d805bc0_1_0">
              <a:extLst>
                <a:ext uri="{FF2B5EF4-FFF2-40B4-BE49-F238E27FC236}">
                  <a16:creationId xmlns:a16="http://schemas.microsoft.com/office/drawing/2014/main" id="{F98B3713-9F11-6908-475E-3EC642F247F0}"/>
                </a:ext>
              </a:extLst>
            </p:cNvPr>
            <p:cNvSpPr txBox="1"/>
            <p:nvPr/>
          </p:nvSpPr>
          <p:spPr>
            <a:xfrm>
              <a:off x="-583607" y="3560368"/>
              <a:ext cx="7772400" cy="3438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s" sz="1600" b="1" i="0" u="none" strike="noStrike" kern="0" cap="none" spc="0" normalizeH="0" baseline="0" noProof="0">
                  <a:ln>
                    <a:noFill/>
                  </a:ln>
                  <a:solidFill>
                    <a:srgbClr val="006858"/>
                  </a:solidFill>
                  <a:effectLst/>
                  <a:uLnTx/>
                  <a:uFillTx/>
                  <a:latin typeface="Montserrat"/>
                  <a:ea typeface="Montserrat"/>
                  <a:cs typeface="Montserrat"/>
                  <a:sym typeface="Montserrat"/>
                </a:rPr>
                <a:t>Fortalecimiento de equipo médico</a:t>
              </a:r>
              <a:endParaRPr kumimoji="0" sz="1600" b="1" i="0" u="none" strike="noStrike" kern="0" cap="none" spc="0" normalizeH="0" baseline="0" noProof="0">
                <a:ln>
                  <a:noFill/>
                </a:ln>
                <a:solidFill>
                  <a:srgbClr val="006858"/>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s" sz="1600" b="1" i="0" u="none" strike="noStrike" kern="0" cap="none" spc="0" normalizeH="0" baseline="0" noProof="0">
                  <a:ln>
                    <a:noFill/>
                  </a:ln>
                  <a:solidFill>
                    <a:srgbClr val="006858"/>
                  </a:solidFill>
                  <a:effectLst/>
                  <a:uLnTx/>
                  <a:uFillTx/>
                  <a:latin typeface="Montserrat"/>
                  <a:ea typeface="Montserrat"/>
                  <a:cs typeface="Montserrat"/>
                  <a:sym typeface="Montserrat"/>
                </a:rPr>
                <a:t>Compra 2025-2026 equipo mayor</a:t>
              </a:r>
              <a:endParaRPr kumimoji="0" sz="2300" b="1" i="0" u="none" strike="noStrike" kern="0" cap="none" spc="0" normalizeH="0" baseline="0" noProof="0">
                <a:ln>
                  <a:noFill/>
                </a:ln>
                <a:solidFill>
                  <a:srgbClr val="006858"/>
                </a:solidFill>
                <a:effectLst/>
                <a:uLnTx/>
                <a:uFillTx/>
                <a:latin typeface="Montserrat"/>
                <a:ea typeface="Montserrat"/>
                <a:cs typeface="Montserrat"/>
                <a:sym typeface="Montserrat"/>
              </a:endParaRPr>
            </a:p>
          </p:txBody>
        </p:sp>
        <p:sp>
          <p:nvSpPr>
            <p:cNvPr id="20" name="Google Shape;370;g3d62d805bc0_1_0">
              <a:extLst>
                <a:ext uri="{FF2B5EF4-FFF2-40B4-BE49-F238E27FC236}">
                  <a16:creationId xmlns:a16="http://schemas.microsoft.com/office/drawing/2014/main" id="{9A4639D2-2A45-ECAB-C69F-01F68DA7CB1C}"/>
                </a:ext>
              </a:extLst>
            </p:cNvPr>
            <p:cNvSpPr txBox="1"/>
            <p:nvPr/>
          </p:nvSpPr>
          <p:spPr>
            <a:xfrm>
              <a:off x="364600" y="7374007"/>
              <a:ext cx="3362100" cy="644762"/>
            </a:xfrm>
            <a:prstGeom prst="rect">
              <a:avLst/>
            </a:prstGeom>
            <a:noFill/>
            <a:ln>
              <a:noFill/>
            </a:ln>
          </p:spPr>
          <p:txBody>
            <a:bodyPr spcFirstLastPara="1" wrap="square" lIns="91425" tIns="91425" rIns="91425" bIns="91425" anchor="t" anchorCtr="0">
              <a:spAutoFit/>
            </a:bodyPr>
            <a:lstStyle/>
            <a:p>
              <a:pPr marL="0" marR="6350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0" i="0" u="none" strike="noStrike" kern="0" cap="none" spc="0" normalizeH="0" baseline="0" noProof="0">
                  <a:ln>
                    <a:noFill/>
                  </a:ln>
                  <a:solidFill>
                    <a:srgbClr val="434343"/>
                  </a:solidFill>
                  <a:effectLst/>
                  <a:uLnTx/>
                  <a:uFillTx/>
                  <a:latin typeface="Montserrat"/>
                  <a:ea typeface="Montserrat"/>
                  <a:cs typeface="Montserrat"/>
                  <a:sym typeface="Montserrat"/>
                </a:rPr>
                <a:t>HGZMF 35 Cosamaloapan 256 cortes</a:t>
              </a:r>
            </a:p>
            <a:p>
              <a:pPr marL="0" marR="6350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s" sz="1300" b="1" i="0" u="none" strike="noStrike" kern="0" cap="none" spc="0" normalizeH="0" baseline="0" noProof="0">
                  <a:ln>
                    <a:noFill/>
                  </a:ln>
                  <a:solidFill>
                    <a:srgbClr val="434343"/>
                  </a:solidFill>
                  <a:effectLst/>
                  <a:uLnTx/>
                  <a:uFillTx/>
                  <a:latin typeface="Montserrat"/>
                  <a:ea typeface="Montserrat"/>
                  <a:cs typeface="Montserrat"/>
                  <a:sym typeface="Montserrat"/>
                </a:rPr>
                <a:t>$29.6 mdp</a:t>
              </a:r>
              <a:endParaRPr kumimoji="0" sz="1300" b="1" i="0" u="none" strike="noStrike" kern="0" cap="none" spc="0" normalizeH="0" baseline="0" noProof="0">
                <a:ln>
                  <a:noFill/>
                </a:ln>
                <a:solidFill>
                  <a:srgbClr val="434343"/>
                </a:solidFill>
                <a:effectLst/>
                <a:uLnTx/>
                <a:uFillTx/>
                <a:latin typeface="Montserrat"/>
                <a:ea typeface="Montserrat"/>
                <a:cs typeface="Montserrat"/>
                <a:sym typeface="Montserrat"/>
              </a:endParaRPr>
            </a:p>
          </p:txBody>
        </p:sp>
      </p:grpSp>
      <p:sp>
        <p:nvSpPr>
          <p:cNvPr id="5" name="TextBox 155">
            <a:extLst>
              <a:ext uri="{FF2B5EF4-FFF2-40B4-BE49-F238E27FC236}">
                <a16:creationId xmlns:a16="http://schemas.microsoft.com/office/drawing/2014/main" id="{9D0C619A-9CDA-6D03-1504-5D9B55931733}"/>
              </a:ext>
            </a:extLst>
          </p:cNvPr>
          <p:cNvSpPr txBox="1"/>
          <p:nvPr/>
        </p:nvSpPr>
        <p:spPr>
          <a:xfrm>
            <a:off x="236200" y="9471316"/>
            <a:ext cx="71496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0" noProof="0" dirty="0" err="1">
                <a:ln>
                  <a:noFill/>
                </a:ln>
                <a:solidFill>
                  <a:schemeClr val="bg1"/>
                </a:solidFill>
                <a:effectLst/>
                <a:uLnTx/>
                <a:uFillTx/>
                <a:latin typeface="Montserrat"/>
                <a:cs typeface="Arial"/>
                <a:sym typeface="Arial"/>
              </a:rPr>
              <a:t>Proyectos</a:t>
            </a:r>
            <a:r>
              <a:rPr kumimoji="0" sz="800" b="0" i="0" u="none" strike="noStrike" kern="0" cap="none" spc="0" normalizeH="0" baseline="0" noProof="0" dirty="0">
                <a:ln>
                  <a:noFill/>
                </a:ln>
                <a:solidFill>
                  <a:schemeClr val="bg1"/>
                </a:solidFill>
                <a:effectLst/>
                <a:uLnTx/>
                <a:uFillTx/>
                <a:latin typeface="Montserrat"/>
                <a:cs typeface="Arial"/>
                <a:sym typeface="Arial"/>
              </a:rPr>
              <a:t> de </a:t>
            </a:r>
            <a:r>
              <a:rPr kumimoji="0" sz="800" b="0" i="0" u="none" strike="noStrike" kern="0" cap="none" spc="0" normalizeH="0" baseline="0" noProof="0" dirty="0" err="1">
                <a:ln>
                  <a:noFill/>
                </a:ln>
                <a:solidFill>
                  <a:schemeClr val="bg1"/>
                </a:solidFill>
                <a:effectLst/>
                <a:uLnTx/>
                <a:uFillTx/>
                <a:latin typeface="Montserrat"/>
                <a:cs typeface="Arial"/>
                <a:sym typeface="Arial"/>
              </a:rPr>
              <a:t>implementación</a:t>
            </a:r>
            <a:r>
              <a:rPr kumimoji="0" sz="800" b="0" i="0" u="none" strike="noStrike" kern="0" cap="none" spc="0" normalizeH="0" baseline="0" noProof="0" dirty="0">
                <a:ln>
                  <a:noFill/>
                </a:ln>
                <a:solidFill>
                  <a:schemeClr val="bg1"/>
                </a:solidFill>
                <a:effectLst/>
                <a:uLnTx/>
                <a:uFillTx/>
                <a:latin typeface="Montserrat"/>
                <a:cs typeface="Arial"/>
                <a:sym typeface="Arial"/>
              </a:rPr>
              <a:t>/</a:t>
            </a:r>
            <a:r>
              <a:rPr kumimoji="0" sz="800" b="0" i="0" u="none" strike="noStrike" kern="0" cap="none" spc="0" normalizeH="0" baseline="0" noProof="0" dirty="0" err="1">
                <a:ln>
                  <a:noFill/>
                </a:ln>
                <a:solidFill>
                  <a:schemeClr val="bg1"/>
                </a:solidFill>
                <a:effectLst/>
                <a:uLnTx/>
                <a:uFillTx/>
                <a:latin typeface="Montserrat"/>
                <a:cs typeface="Arial"/>
                <a:sym typeface="Arial"/>
              </a:rPr>
              <a:t>sustitución</a:t>
            </a:r>
            <a:r>
              <a:rPr kumimoji="0" sz="800" b="0" i="0" u="none" strike="noStrike" kern="0" cap="none" spc="0" normalizeH="0" baseline="0" noProof="0" dirty="0">
                <a:ln>
                  <a:noFill/>
                </a:ln>
                <a:solidFill>
                  <a:schemeClr val="bg1"/>
                </a:solidFill>
                <a:effectLst/>
                <a:uLnTx/>
                <a:uFillTx/>
                <a:latin typeface="Montserrat"/>
                <a:cs typeface="Arial"/>
                <a:sym typeface="Arial"/>
              </a:rPr>
              <a:t> 2019-2025.</a:t>
            </a:r>
            <a:endParaRPr kumimoji="0" lang="es-MX" sz="800" b="0" i="0" u="none" strike="noStrike" kern="0" cap="none" spc="0" normalizeH="0" baseline="0" noProof="0" dirty="0">
              <a:ln>
                <a:noFill/>
              </a:ln>
              <a:solidFill>
                <a:schemeClr val="bg1"/>
              </a:solidFill>
              <a:effectLst/>
              <a:uLnTx/>
              <a:uFillTx/>
              <a:latin typeface="Montserra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30000" noProof="0" dirty="0">
                <a:ln>
                  <a:noFill/>
                </a:ln>
                <a:solidFill>
                  <a:schemeClr val="bg1"/>
                </a:solidFill>
                <a:effectLst/>
                <a:uLnTx/>
                <a:uFillTx/>
                <a:latin typeface="Montserrat"/>
                <a:cs typeface="Arial"/>
                <a:sym typeface="Arial"/>
              </a:rPr>
              <a:t> </a:t>
            </a:r>
            <a:r>
              <a:rPr kumimoji="0" lang="es-MX" sz="800" b="0" i="0" u="none" strike="noStrike" kern="0" cap="none" spc="0" normalizeH="0" baseline="30000" noProof="0" dirty="0">
                <a:ln>
                  <a:noFill/>
                </a:ln>
                <a:solidFill>
                  <a:schemeClr val="bg1"/>
                </a:solidFill>
                <a:effectLst/>
                <a:uLnTx/>
                <a:uFillTx/>
                <a:latin typeface="Montserrat"/>
                <a:cs typeface="Arial"/>
                <a:sym typeface="Arial"/>
              </a:rPr>
              <a:t>1 </a:t>
            </a:r>
            <a:r>
              <a:rPr kumimoji="0" lang="es-MX" sz="800" b="0" i="0" u="none" strike="noStrike" kern="0" cap="none" spc="0" normalizeH="0" baseline="0" noProof="0" dirty="0">
                <a:ln>
                  <a:noFill/>
                </a:ln>
                <a:solidFill>
                  <a:schemeClr val="bg1"/>
                </a:solidFill>
                <a:effectLst/>
                <a:uLnTx/>
                <a:uFillTx/>
                <a:latin typeface="Montserrat"/>
                <a:cs typeface="Arial"/>
                <a:sym typeface="Arial"/>
              </a:rPr>
              <a:t>Equipos pendientes de instalar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800">
                <a:solidFill>
                  <a:srgbClr val="000000"/>
                </a:solidFill>
                <a:latin typeface="Montserrat"/>
              </a:defRPr>
            </a:pPr>
            <a:r>
              <a:rPr kumimoji="0" sz="800" b="0" i="0" u="none" strike="noStrike" kern="0" cap="none" spc="0" normalizeH="0" baseline="0" noProof="0" dirty="0">
                <a:ln>
                  <a:noFill/>
                </a:ln>
                <a:solidFill>
                  <a:schemeClr val="bg1"/>
                </a:solidFill>
                <a:effectLst/>
                <a:uLnTx/>
                <a:uFillTx/>
                <a:latin typeface="Montserrat"/>
                <a:cs typeface="Arial"/>
                <a:sym typeface="Arial"/>
              </a:rPr>
              <a:t>Corte de información: ma</a:t>
            </a:r>
            <a:r>
              <a:rPr kumimoji="0" lang="es-MX" sz="800" b="0" i="0" u="none" strike="noStrike" kern="0" cap="none" spc="0" normalizeH="0" baseline="0" noProof="0" dirty="0">
                <a:ln>
                  <a:noFill/>
                </a:ln>
                <a:solidFill>
                  <a:schemeClr val="bg1"/>
                </a:solidFill>
                <a:effectLst/>
                <a:uLnTx/>
                <a:uFillTx/>
                <a:latin typeface="Montserrat"/>
                <a:cs typeface="Arial"/>
                <a:sym typeface="Arial"/>
              </a:rPr>
              <a:t>y</a:t>
            </a:r>
            <a:r>
              <a:rPr kumimoji="0" sz="800" b="0" i="0" u="none" strike="noStrike" kern="0" cap="none" spc="0" normalizeH="0" baseline="0" noProof="0" dirty="0">
                <a:ln>
                  <a:noFill/>
                </a:ln>
                <a:solidFill>
                  <a:schemeClr val="bg1"/>
                </a:solidFill>
                <a:effectLst/>
                <a:uLnTx/>
                <a:uFillTx/>
                <a:latin typeface="Montserrat"/>
                <a:cs typeface="Arial"/>
                <a:sym typeface="Arial"/>
              </a:rPr>
              <a:t>o de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59193093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A04D7F01-C71A-BB7B-657D-1D1A38D819B5}"/>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0F014A6-6B13-0099-D24E-2259FB668443}"/>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E6325593-4DDD-8C41-FAE0-0543D72FBB28}"/>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D29BF613-0BFB-05A5-50E5-0BB7A1AF24FC}"/>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00332BF8-30C0-5B9F-2665-E8A73F16F78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10" name="CuadroTexto 6">
            <a:extLst>
              <a:ext uri="{FF2B5EF4-FFF2-40B4-BE49-F238E27FC236}">
                <a16:creationId xmlns:a16="http://schemas.microsoft.com/office/drawing/2014/main" id="{04770E9C-C9BB-421C-096A-5A258FEAC8D3}"/>
              </a:ext>
            </a:extLst>
          </p:cNvPr>
          <p:cNvSpPr txBox="1"/>
          <p:nvPr/>
        </p:nvSpPr>
        <p:spPr>
          <a:xfrm>
            <a:off x="5064096" y="8117456"/>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12" name="CuadroTexto 8">
            <a:extLst>
              <a:ext uri="{FF2B5EF4-FFF2-40B4-BE49-F238E27FC236}">
                <a16:creationId xmlns:a16="http://schemas.microsoft.com/office/drawing/2014/main" id="{705282A0-FBAA-2D91-09F2-ED1100D47025}"/>
              </a:ext>
            </a:extLst>
          </p:cNvPr>
          <p:cNvSpPr txBox="1"/>
          <p:nvPr/>
        </p:nvSpPr>
        <p:spPr>
          <a:xfrm>
            <a:off x="4701239" y="4744510"/>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+19,049</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+575,718</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+454,017</a:t>
            </a:r>
          </a:p>
        </p:txBody>
      </p:sp>
      <p:graphicFrame>
        <p:nvGraphicFramePr>
          <p:cNvPr id="236" name="Table 235"/>
          <p:cNvGraphicFramePr>
            <a:graphicFrameLocks noGrp="1"/>
          </p:cNvGraphicFramePr>
          <p:nvPr>
            <p:extLst>
              <p:ext uri="{D42A27DB-BD31-4B8C-83A1-F6EECF244321}">
                <p14:modId xmlns:p14="http://schemas.microsoft.com/office/powerpoint/2010/main" val="925947542"/>
              </p:ext>
            </p:extLst>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rPr dirty="0"/>
                        <a:t>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Incremento 2024 vs 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Avance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Meta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 avance anual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lnL w="12700" cap="flat" cmpd="sng" algn="ctr">
                      <a:solidFill>
                        <a:schemeClr val="bg1">
                          <a:lumMod val="85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t>5,563,370</a:t>
                      </a:r>
                    </a:p>
                  </a:txBody>
                  <a:tcPr marL="0" marR="0" marT="0" marB="0" anchor="ctr">
                    <a:solidFill>
                      <a:srgbClr val="FFFFFF"/>
                    </a:solidFill>
                  </a:tcPr>
                </a:tc>
                <a:tc>
                  <a:txBody>
                    <a:bodyPr/>
                    <a:lstStyle/>
                    <a:p>
                      <a:pPr algn="ctr">
                        <a:defRPr sz="1000">
                          <a:solidFill>
                            <a:srgbClr val="404040"/>
                          </a:solidFill>
                          <a:latin typeface="Montserrat"/>
                        </a:defRPr>
                      </a:pPr>
                      <a:r>
                        <a:t>575,718</a:t>
                      </a:r>
                    </a:p>
                  </a:txBody>
                  <a:tcPr marL="0" marR="0" marT="0" marB="0" anchor="ctr">
                    <a:solidFill>
                      <a:srgbClr val="FFFFFF"/>
                    </a:solidFill>
                  </a:tcPr>
                </a:tc>
                <a:tc>
                  <a:txBody>
                    <a:bodyPr/>
                    <a:lstStyle/>
                    <a:p>
                      <a:pPr algn="ctr">
                        <a:defRPr sz="1000" b="1">
                          <a:solidFill>
                            <a:srgbClr val="980000"/>
                          </a:solidFill>
                          <a:latin typeface="Montserrat"/>
                        </a:defRPr>
                      </a:pPr>
                      <a:r>
                        <a:t>2,572,890</a:t>
                      </a:r>
                    </a:p>
                  </a:txBody>
                  <a:tcPr marL="0" marR="0" marT="0" marB="0" anchor="ctr">
                    <a:solidFill>
                      <a:srgbClr val="ECD3D9"/>
                    </a:solidFill>
                  </a:tcPr>
                </a:tc>
                <a:tc>
                  <a:txBody>
                    <a:bodyPr/>
                    <a:lstStyle/>
                    <a:p>
                      <a:pPr algn="ctr">
                        <a:defRPr sz="1000" b="1">
                          <a:solidFill>
                            <a:srgbClr val="980000"/>
                          </a:solidFill>
                          <a:latin typeface="Montserrat"/>
                        </a:defRPr>
                      </a:pPr>
                      <a:r>
                        <a:t>5,599,356</a:t>
                      </a:r>
                    </a:p>
                  </a:txBody>
                  <a:tcPr marL="0" marR="0" marT="0" marB="0" anchor="ctr">
                    <a:solidFill>
                      <a:srgbClr val="ECD3D9"/>
                    </a:solidFill>
                  </a:tcPr>
                </a:tc>
                <a:tc>
                  <a:txBody>
                    <a:bodyPr/>
                    <a:lstStyle/>
                    <a:p>
                      <a:pPr algn="ctr">
                        <a:defRPr sz="1000" b="1">
                          <a:solidFill>
                            <a:srgbClr val="980000"/>
                          </a:solidFill>
                          <a:latin typeface="Montserrat"/>
                        </a:defRPr>
                      </a:pPr>
                      <a:r>
                        <a:t>45.9%</a:t>
                      </a:r>
                    </a:p>
                  </a:txBody>
                  <a:tcPr marL="0" marR="0" marT="0" marB="0" anchor="ct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lnL w="12700" cap="flat" cmpd="sng" algn="ctr">
                      <a:solidFill>
                        <a:schemeClr val="bg1">
                          <a:lumMod val="85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t>1,468,754</a:t>
                      </a:r>
                    </a:p>
                  </a:txBody>
                  <a:tcPr marL="0" marR="0" marT="0" marB="0" anchor="ctr">
                    <a:solidFill>
                      <a:srgbClr val="EFEFEF"/>
                    </a:solidFill>
                  </a:tcPr>
                </a:tc>
                <a:tc>
                  <a:txBody>
                    <a:bodyPr/>
                    <a:lstStyle/>
                    <a:p>
                      <a:pPr algn="ctr">
                        <a:defRPr sz="1000">
                          <a:solidFill>
                            <a:srgbClr val="404040"/>
                          </a:solidFill>
                          <a:latin typeface="Montserrat"/>
                        </a:defRPr>
                      </a:pPr>
                      <a:r>
                        <a:t>454,017</a:t>
                      </a:r>
                    </a:p>
                  </a:txBody>
                  <a:tcPr marL="0" marR="0" marT="0" marB="0" anchor="ctr">
                    <a:solidFill>
                      <a:srgbClr val="EFEFEF"/>
                    </a:solidFill>
                  </a:tcPr>
                </a:tc>
                <a:tc>
                  <a:txBody>
                    <a:bodyPr/>
                    <a:lstStyle/>
                    <a:p>
                      <a:pPr algn="ctr">
                        <a:defRPr sz="1000" b="1">
                          <a:solidFill>
                            <a:srgbClr val="980000"/>
                          </a:solidFill>
                          <a:latin typeface="Montserrat"/>
                        </a:defRPr>
                      </a:pPr>
                      <a:r>
                        <a:t>695,337</a:t>
                      </a:r>
                    </a:p>
                  </a:txBody>
                  <a:tcPr marL="0" marR="0" marT="0" marB="0" anchor="ctr">
                    <a:solidFill>
                      <a:srgbClr val="F4E3E7"/>
                    </a:solidFill>
                  </a:tcPr>
                </a:tc>
                <a:tc>
                  <a:txBody>
                    <a:bodyPr/>
                    <a:lstStyle/>
                    <a:p>
                      <a:pPr algn="ctr">
                        <a:defRPr sz="1000" b="1">
                          <a:solidFill>
                            <a:srgbClr val="980000"/>
                          </a:solidFill>
                          <a:latin typeface="Montserrat"/>
                        </a:defRPr>
                      </a:pPr>
                      <a:r>
                        <a:t>1,651,260</a:t>
                      </a:r>
                    </a:p>
                  </a:txBody>
                  <a:tcPr marL="0" marR="0" marT="0" marB="0" anchor="ctr">
                    <a:solidFill>
                      <a:srgbClr val="F4E3E7"/>
                    </a:solidFill>
                  </a:tcPr>
                </a:tc>
                <a:tc>
                  <a:txBody>
                    <a:bodyPr/>
                    <a:lstStyle/>
                    <a:p>
                      <a:pPr algn="ctr">
                        <a:defRPr sz="1000" b="1">
                          <a:solidFill>
                            <a:srgbClr val="980000"/>
                          </a:solidFill>
                          <a:latin typeface="Montserrat"/>
                        </a:defRPr>
                      </a:pPr>
                      <a:r>
                        <a:t>42.1%</a:t>
                      </a:r>
                    </a:p>
                  </a:txBody>
                  <a:tcPr marL="0" marR="0" marT="0" marB="0" anchor="ctr">
                    <a:lnR w="12700" cap="flat" cmpd="sng" algn="ctr">
                      <a:solidFill>
                        <a:schemeClr val="bg1">
                          <a:lumMod val="85000"/>
                        </a:schemeClr>
                      </a:solidFill>
                      <a:prstDash val="solid"/>
                      <a:round/>
                      <a:headEnd type="none" w="med" len="med"/>
                      <a:tailEnd type="none" w="med" len="med"/>
                    </a:ln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006455"/>
                    </a:solidFill>
                  </a:tcPr>
                </a:tc>
                <a:tc>
                  <a:txBody>
                    <a:bodyPr/>
                    <a:lstStyle/>
                    <a:p>
                      <a:pPr algn="ctr">
                        <a:defRPr sz="1000">
                          <a:solidFill>
                            <a:srgbClr val="404040"/>
                          </a:solidFill>
                          <a:latin typeface="Montserrat"/>
                        </a:defRPr>
                      </a:pPr>
                      <a:r>
                        <a:t>85,644</a:t>
                      </a:r>
                    </a:p>
                  </a:txBody>
                  <a:tcPr marL="0" marR="0" marT="0" marB="0"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1000">
                          <a:solidFill>
                            <a:srgbClr val="404040"/>
                          </a:solidFill>
                          <a:latin typeface="Montserrat"/>
                        </a:defRPr>
                      </a:pPr>
                      <a:r>
                        <a:t>19,049</a:t>
                      </a:r>
                    </a:p>
                  </a:txBody>
                  <a:tcPr marL="0" marR="0" marT="0" marB="0"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1000" b="1">
                          <a:solidFill>
                            <a:srgbClr val="980000"/>
                          </a:solidFill>
                          <a:latin typeface="Montserrat"/>
                        </a:defRPr>
                      </a:pPr>
                      <a:r>
                        <a:t>41,641</a:t>
                      </a:r>
                    </a:p>
                  </a:txBody>
                  <a:tcPr marL="0" marR="0" marT="0" marB="0" anchor="ctr">
                    <a:lnB w="12700" cap="flat" cmpd="sng" algn="ctr">
                      <a:solidFill>
                        <a:schemeClr val="bg1">
                          <a:lumMod val="85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t>111,748</a:t>
                      </a:r>
                    </a:p>
                  </a:txBody>
                  <a:tcPr marL="0" marR="0" marT="0" marB="0" anchor="ctr">
                    <a:lnB w="12700" cap="flat" cmpd="sng" algn="ctr">
                      <a:solidFill>
                        <a:schemeClr val="bg1">
                          <a:lumMod val="85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rPr dirty="0"/>
                        <a:t>37.3%</a:t>
                      </a:r>
                    </a:p>
                  </a:txBody>
                  <a:tcPr marL="0" marR="0" marT="0" marB="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4695516" cy="400110"/>
          </a:xfrm>
          <a:prstGeom prst="rect">
            <a:avLst/>
          </a:prstGeom>
          <a:noFill/>
        </p:spPr>
        <p:txBody>
          <a:bodyPr wrap="none">
            <a:spAutoFit/>
          </a:bodyPr>
          <a:lstStyle/>
          <a:p>
            <a:pPr algn="l">
              <a:defRPr sz="2000" b="1">
                <a:solidFill>
                  <a:srgbClr val="5B0F00"/>
                </a:solidFill>
                <a:latin typeface="Montserrat"/>
              </a:defRPr>
            </a:pPr>
            <a:r>
              <a:rPr dirty="0"/>
              <a:t>88 UMF de lunes a </a:t>
            </a:r>
            <a:r>
              <a:rPr dirty="0" err="1"/>
              <a:t>viernes</a:t>
            </a:r>
            <a:r>
              <a:rPr lang="es-MX" dirty="0"/>
              <a:t> (1 de 3)</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6187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19 Banderilla</a:t>
                      </a:r>
                    </a:p>
                  </a:txBody>
                  <a:tcPr marL="0" marR="0" marT="0" marB="0">
                    <a:solidFill>
                      <a:srgbClr val="FFFFFF"/>
                    </a:solidFill>
                  </a:tcPr>
                </a:tc>
                <a:tc>
                  <a:txBody>
                    <a:bodyPr/>
                    <a:lstStyle/>
                    <a:p>
                      <a:pPr algn="ctr">
                        <a:defRPr sz="1000">
                          <a:latin typeface="Montserrat"/>
                        </a:defRPr>
                      </a:pPr>
                      <a:r>
                        <a:t>40,388</a:t>
                      </a:r>
                    </a:p>
                  </a:txBody>
                  <a:tcPr marL="0" marR="0" marT="0" marB="0">
                    <a:solidFill>
                      <a:srgbClr val="FFFFFF"/>
                    </a:solidFill>
                  </a:tcPr>
                </a:tc>
                <a:tc>
                  <a:txBody>
                    <a:bodyPr/>
                    <a:lstStyle/>
                    <a:p>
                      <a:pPr algn="ctr">
                        <a:defRPr sz="1000">
                          <a:latin typeface="Montserrat"/>
                        </a:defRPr>
                      </a:pPr>
                      <a:r>
                        <a:t>-1,594</a:t>
                      </a:r>
                    </a:p>
                  </a:txBody>
                  <a:tcPr marL="0" marR="0" marT="0" marB="0">
                    <a:solidFill>
                      <a:srgbClr val="FFFFFF"/>
                    </a:solidFill>
                  </a:tcPr>
                </a:tc>
                <a:tc>
                  <a:txBody>
                    <a:bodyPr/>
                    <a:lstStyle/>
                    <a:p>
                      <a:pPr algn="ctr">
                        <a:defRPr sz="1000">
                          <a:latin typeface="Montserrat"/>
                        </a:defRPr>
                      </a:pPr>
                      <a:r>
                        <a:t>18,537</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37.0%</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58 Jalapa</a:t>
                      </a:r>
                    </a:p>
                  </a:txBody>
                  <a:tcPr marL="0" marR="0" marT="0" marB="0">
                    <a:solidFill>
                      <a:srgbClr val="EFEFEF"/>
                    </a:solidFill>
                  </a:tcPr>
                </a:tc>
                <a:tc>
                  <a:txBody>
                    <a:bodyPr/>
                    <a:lstStyle/>
                    <a:p>
                      <a:pPr algn="ctr">
                        <a:defRPr sz="1000">
                          <a:latin typeface="Montserrat"/>
                        </a:defRPr>
                      </a:pPr>
                      <a:r>
                        <a:t>22,716</a:t>
                      </a:r>
                    </a:p>
                  </a:txBody>
                  <a:tcPr marL="0" marR="0" marT="0" marB="0">
                    <a:solidFill>
                      <a:srgbClr val="EFEFEF"/>
                    </a:solidFill>
                  </a:tcPr>
                </a:tc>
                <a:tc>
                  <a:txBody>
                    <a:bodyPr/>
                    <a:lstStyle/>
                    <a:p>
                      <a:pPr algn="ctr">
                        <a:defRPr sz="1000">
                          <a:latin typeface="Montserrat"/>
                        </a:defRPr>
                      </a:pPr>
                      <a:r>
                        <a:t>1,569</a:t>
                      </a:r>
                    </a:p>
                  </a:txBody>
                  <a:tcPr marL="0" marR="0" marT="0" marB="0">
                    <a:solidFill>
                      <a:srgbClr val="EFEFEF"/>
                    </a:solidFill>
                  </a:tcPr>
                </a:tc>
                <a:tc>
                  <a:txBody>
                    <a:bodyPr/>
                    <a:lstStyle/>
                    <a:p>
                      <a:pPr algn="ctr">
                        <a:defRPr sz="1000">
                          <a:latin typeface="Montserrat"/>
                        </a:defRPr>
                      </a:pPr>
                      <a:r>
                        <a:t>10,358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31 Los Robles</a:t>
                      </a:r>
                    </a:p>
                  </a:txBody>
                  <a:tcPr marL="0" marR="0" marT="0" marB="0">
                    <a:solidFill>
                      <a:srgbClr val="FFFFFF"/>
                    </a:solidFill>
                  </a:tcPr>
                </a:tc>
                <a:tc>
                  <a:txBody>
                    <a:bodyPr/>
                    <a:lstStyle/>
                    <a:p>
                      <a:pPr algn="ctr">
                        <a:defRPr sz="1000">
                          <a:latin typeface="Montserrat"/>
                        </a:defRPr>
                      </a:pPr>
                      <a:r>
                        <a:t>12,324</a:t>
                      </a:r>
                    </a:p>
                  </a:txBody>
                  <a:tcPr marL="0" marR="0" marT="0" marB="0">
                    <a:solidFill>
                      <a:srgbClr val="FFFFFF"/>
                    </a:solidFill>
                  </a:tcPr>
                </a:tc>
                <a:tc>
                  <a:txBody>
                    <a:bodyPr/>
                    <a:lstStyle/>
                    <a:p>
                      <a:pPr algn="ctr">
                        <a:defRPr sz="1000">
                          <a:latin typeface="Montserrat"/>
                        </a:defRPr>
                      </a:pPr>
                      <a:r>
                        <a:t>584</a:t>
                      </a:r>
                    </a:p>
                  </a:txBody>
                  <a:tcPr marL="0" marR="0" marT="0" marB="0">
                    <a:solidFill>
                      <a:srgbClr val="FFFFFF"/>
                    </a:solidFill>
                  </a:tcPr>
                </a:tc>
                <a:tc>
                  <a:txBody>
                    <a:bodyPr/>
                    <a:lstStyle/>
                    <a:p>
                      <a:pPr algn="ctr">
                        <a:defRPr sz="1000">
                          <a:latin typeface="Montserrat"/>
                        </a:defRPr>
                      </a:pPr>
                      <a:r>
                        <a:t>5,328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28 Joachin</a:t>
                      </a:r>
                    </a:p>
                  </a:txBody>
                  <a:tcPr marL="0" marR="0" marT="0" marB="0">
                    <a:solidFill>
                      <a:srgbClr val="EFEFEF"/>
                    </a:solidFill>
                  </a:tcPr>
                </a:tc>
                <a:tc>
                  <a:txBody>
                    <a:bodyPr/>
                    <a:lstStyle/>
                    <a:p>
                      <a:pPr algn="ctr">
                        <a:defRPr sz="1000">
                          <a:latin typeface="Montserrat"/>
                        </a:defRPr>
                      </a:pPr>
                      <a:r>
                        <a:t>3,809</a:t>
                      </a:r>
                    </a:p>
                  </a:txBody>
                  <a:tcPr marL="0" marR="0" marT="0" marB="0">
                    <a:solidFill>
                      <a:srgbClr val="EFEFEF"/>
                    </a:solidFill>
                  </a:tcPr>
                </a:tc>
                <a:tc>
                  <a:txBody>
                    <a:bodyPr/>
                    <a:lstStyle/>
                    <a:p>
                      <a:pPr algn="ctr">
                        <a:defRPr sz="1000">
                          <a:latin typeface="Montserrat"/>
                        </a:defRPr>
                      </a:pPr>
                      <a:r>
                        <a:t>2,327</a:t>
                      </a:r>
                    </a:p>
                  </a:txBody>
                  <a:tcPr marL="0" marR="0" marT="0" marB="0">
                    <a:solidFill>
                      <a:srgbClr val="EFEFEF"/>
                    </a:solidFill>
                  </a:tcPr>
                </a:tc>
                <a:tc>
                  <a:txBody>
                    <a:bodyPr/>
                    <a:lstStyle/>
                    <a:p>
                      <a:pPr algn="ctr">
                        <a:defRPr sz="1000">
                          <a:latin typeface="Montserrat"/>
                        </a:defRPr>
                      </a:pPr>
                      <a:r>
                        <a:t>2,169</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9 El Hígo</a:t>
                      </a:r>
                    </a:p>
                  </a:txBody>
                  <a:tcPr marL="0" marR="0" marT="0" marB="0">
                    <a:solidFill>
                      <a:srgbClr val="FFFFFF"/>
                    </a:solidFill>
                  </a:tcPr>
                </a:tc>
                <a:tc>
                  <a:txBody>
                    <a:bodyPr/>
                    <a:lstStyle/>
                    <a:p>
                      <a:pPr algn="ctr">
                        <a:defRPr sz="1000">
                          <a:latin typeface="Montserrat"/>
                        </a:defRPr>
                      </a:pPr>
                      <a:r>
                        <a:t>30,667</a:t>
                      </a:r>
                    </a:p>
                  </a:txBody>
                  <a:tcPr marL="0" marR="0" marT="0" marB="0">
                    <a:solidFill>
                      <a:srgbClr val="FFFFFF"/>
                    </a:solidFill>
                  </a:tcPr>
                </a:tc>
                <a:tc>
                  <a:txBody>
                    <a:bodyPr/>
                    <a:lstStyle/>
                    <a:p>
                      <a:pPr algn="ctr">
                        <a:defRPr sz="1000">
                          <a:latin typeface="Montserrat"/>
                        </a:defRPr>
                      </a:pPr>
                      <a:r>
                        <a:t>5,224</a:t>
                      </a:r>
                    </a:p>
                  </a:txBody>
                  <a:tcPr marL="0" marR="0" marT="0" marB="0">
                    <a:solidFill>
                      <a:srgbClr val="FFFFFF"/>
                    </a:solidFill>
                  </a:tcPr>
                </a:tc>
                <a:tc>
                  <a:txBody>
                    <a:bodyPr/>
                    <a:lstStyle/>
                    <a:p>
                      <a:pPr algn="ctr">
                        <a:defRPr sz="1000">
                          <a:latin typeface="Montserrat"/>
                        </a:defRPr>
                      </a:pPr>
                      <a:r>
                        <a:t>11,807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31.4%</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14 Amatlán</a:t>
                      </a:r>
                    </a:p>
                  </a:txBody>
                  <a:tcPr marL="0" marR="0" marT="0" marB="0">
                    <a:solidFill>
                      <a:srgbClr val="EFEFEF"/>
                    </a:solidFill>
                  </a:tcPr>
                </a:tc>
                <a:tc>
                  <a:txBody>
                    <a:bodyPr/>
                    <a:lstStyle/>
                    <a:p>
                      <a:pPr algn="ctr">
                        <a:defRPr sz="1000">
                          <a:latin typeface="Montserrat"/>
                        </a:defRPr>
                      </a:pPr>
                      <a:r>
                        <a:t>10,726</a:t>
                      </a:r>
                    </a:p>
                  </a:txBody>
                  <a:tcPr marL="0" marR="0" marT="0" marB="0">
                    <a:solidFill>
                      <a:srgbClr val="EFEFEF"/>
                    </a:solidFill>
                  </a:tcPr>
                </a:tc>
                <a:tc>
                  <a:txBody>
                    <a:bodyPr/>
                    <a:lstStyle/>
                    <a:p>
                      <a:pPr algn="ctr">
                        <a:defRPr sz="1000">
                          <a:latin typeface="Montserrat"/>
                        </a:defRPr>
                      </a:pPr>
                      <a:r>
                        <a:t>515</a:t>
                      </a:r>
                    </a:p>
                  </a:txBody>
                  <a:tcPr marL="0" marR="0" marT="0" marB="0">
                    <a:solidFill>
                      <a:srgbClr val="EFEFEF"/>
                    </a:solidFill>
                  </a:tcPr>
                </a:tc>
                <a:tc>
                  <a:txBody>
                    <a:bodyPr/>
                    <a:lstStyle/>
                    <a:p>
                      <a:pPr algn="ctr">
                        <a:defRPr sz="1000">
                          <a:latin typeface="Montserrat"/>
                        </a:defRPr>
                      </a:pPr>
                      <a:r>
                        <a:t>4,801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7 Orizaba</a:t>
                      </a:r>
                    </a:p>
                  </a:txBody>
                  <a:tcPr marL="0" marR="0" marT="0" marB="0">
                    <a:solidFill>
                      <a:srgbClr val="FFFFFF"/>
                    </a:solidFill>
                  </a:tcPr>
                </a:tc>
                <a:tc>
                  <a:txBody>
                    <a:bodyPr/>
                    <a:lstStyle/>
                    <a:p>
                      <a:pPr algn="ctr">
                        <a:defRPr sz="1000">
                          <a:latin typeface="Montserrat"/>
                        </a:defRPr>
                      </a:pPr>
                      <a:r>
                        <a:t>74,967</a:t>
                      </a:r>
                    </a:p>
                  </a:txBody>
                  <a:tcPr marL="0" marR="0" marT="0" marB="0">
                    <a:solidFill>
                      <a:srgbClr val="FFFFFF"/>
                    </a:solidFill>
                  </a:tcPr>
                </a:tc>
                <a:tc>
                  <a:txBody>
                    <a:bodyPr/>
                    <a:lstStyle/>
                    <a:p>
                      <a:pPr algn="ctr">
                        <a:defRPr sz="1000">
                          <a:latin typeface="Montserrat"/>
                        </a:defRPr>
                      </a:pPr>
                      <a:r>
                        <a:t>4,181</a:t>
                      </a:r>
                    </a:p>
                  </a:txBody>
                  <a:tcPr marL="0" marR="0" marT="0" marB="0">
                    <a:solidFill>
                      <a:srgbClr val="FFFFFF"/>
                    </a:solidFill>
                  </a:tcPr>
                </a:tc>
                <a:tc>
                  <a:txBody>
                    <a:bodyPr/>
                    <a:lstStyle/>
                    <a:p>
                      <a:pPr algn="ctr">
                        <a:defRPr sz="1000">
                          <a:latin typeface="Montserrat"/>
                        </a:defRPr>
                      </a:pPr>
                      <a:r>
                        <a:t>37,732</a:t>
                      </a:r>
                    </a:p>
                  </a:txBody>
                  <a:tcPr marL="0" marR="0" marT="0" marB="0">
                    <a:solidFill>
                      <a:srgbClr val="ECD3D9"/>
                    </a:solidFill>
                  </a:tcPr>
                </a:tc>
                <a:tc>
                  <a:txBody>
                    <a:bodyPr/>
                    <a:lstStyle/>
                    <a:p>
                      <a:pPr algn="ctr">
                        <a:defRPr sz="1000">
                          <a:latin typeface="Montserrat"/>
                        </a:defRPr>
                      </a:pPr>
                      <a:r>
                        <a:t>72,000</a:t>
                      </a:r>
                    </a:p>
                  </a:txBody>
                  <a:tcPr marL="0" marR="0" marT="0" marB="0">
                    <a:solidFill>
                      <a:srgbClr val="ECD3D9"/>
                    </a:solidFill>
                  </a:tcPr>
                </a:tc>
                <a:tc>
                  <a:txBody>
                    <a:bodyPr/>
                    <a:lstStyle/>
                    <a:p>
                      <a:pPr algn="ctr">
                        <a:defRPr sz="1000">
                          <a:latin typeface="Montserrat"/>
                        </a:defRPr>
                      </a:pPr>
                      <a:r>
                        <a:t>52.4%</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11 Paraje Nuevo</a:t>
                      </a:r>
                    </a:p>
                  </a:txBody>
                  <a:tcPr marL="0" marR="0" marT="0" marB="0">
                    <a:solidFill>
                      <a:srgbClr val="EFEFEF"/>
                    </a:solidFill>
                  </a:tcPr>
                </a:tc>
                <a:tc>
                  <a:txBody>
                    <a:bodyPr/>
                    <a:lstStyle/>
                    <a:p>
                      <a:pPr algn="ctr">
                        <a:defRPr sz="1000">
                          <a:latin typeface="Montserrat"/>
                        </a:defRPr>
                      </a:pPr>
                      <a:r>
                        <a:t>8,404</a:t>
                      </a:r>
                    </a:p>
                  </a:txBody>
                  <a:tcPr marL="0" marR="0" marT="0" marB="0">
                    <a:solidFill>
                      <a:srgbClr val="EFEFEF"/>
                    </a:solidFill>
                  </a:tcPr>
                </a:tc>
                <a:tc>
                  <a:txBody>
                    <a:bodyPr/>
                    <a:lstStyle/>
                    <a:p>
                      <a:pPr algn="ctr">
                        <a:defRPr sz="1000">
                          <a:latin typeface="Montserrat"/>
                        </a:defRPr>
                      </a:pPr>
                      <a:r>
                        <a:t>2,344</a:t>
                      </a:r>
                    </a:p>
                  </a:txBody>
                  <a:tcPr marL="0" marR="0" marT="0" marB="0">
                    <a:solidFill>
                      <a:srgbClr val="EFEFEF"/>
                    </a:solidFill>
                  </a:tcPr>
                </a:tc>
                <a:tc>
                  <a:txBody>
                    <a:bodyPr/>
                    <a:lstStyle/>
                    <a:p>
                      <a:pPr algn="ctr">
                        <a:defRPr sz="1000">
                          <a:latin typeface="Montserrat"/>
                        </a:defRPr>
                      </a:pPr>
                      <a:r>
                        <a:t>4,264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39 Chacaltianguis</a:t>
                      </a:r>
                    </a:p>
                  </a:txBody>
                  <a:tcPr marL="0" marR="0" marT="0" marB="0">
                    <a:solidFill>
                      <a:srgbClr val="FFFFFF"/>
                    </a:solidFill>
                  </a:tcPr>
                </a:tc>
                <a:tc>
                  <a:txBody>
                    <a:bodyPr/>
                    <a:lstStyle/>
                    <a:p>
                      <a:pPr algn="ctr">
                        <a:defRPr sz="1000">
                          <a:latin typeface="Montserrat"/>
                        </a:defRPr>
                      </a:pPr>
                      <a:r>
                        <a:t>10,475</a:t>
                      </a:r>
                    </a:p>
                  </a:txBody>
                  <a:tcPr marL="0" marR="0" marT="0" marB="0">
                    <a:solidFill>
                      <a:srgbClr val="FFFFFF"/>
                    </a:solidFill>
                  </a:tcPr>
                </a:tc>
                <a:tc>
                  <a:txBody>
                    <a:bodyPr/>
                    <a:lstStyle/>
                    <a:p>
                      <a:pPr algn="ctr">
                        <a:defRPr sz="1000">
                          <a:latin typeface="Montserrat"/>
                        </a:defRPr>
                      </a:pPr>
                      <a:r>
                        <a:t>3,204</a:t>
                      </a:r>
                    </a:p>
                  </a:txBody>
                  <a:tcPr marL="0" marR="0" marT="0" marB="0">
                    <a:solidFill>
                      <a:srgbClr val="FFFFFF"/>
                    </a:solidFill>
                  </a:tcPr>
                </a:tc>
                <a:tc>
                  <a:txBody>
                    <a:bodyPr/>
                    <a:lstStyle/>
                    <a:p>
                      <a:pPr algn="ctr">
                        <a:defRPr sz="1000">
                          <a:latin typeface="Montserrat"/>
                        </a:defRPr>
                      </a:pPr>
                      <a:r>
                        <a:t>5,547</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50.4%</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47 Amatitlan</a:t>
                      </a:r>
                    </a:p>
                  </a:txBody>
                  <a:tcPr marL="0" marR="0" marT="0" marB="0">
                    <a:solidFill>
                      <a:srgbClr val="EFEFEF"/>
                    </a:solidFill>
                  </a:tcPr>
                </a:tc>
                <a:tc>
                  <a:txBody>
                    <a:bodyPr/>
                    <a:lstStyle/>
                    <a:p>
                      <a:pPr algn="ctr">
                        <a:defRPr sz="1000">
                          <a:latin typeface="Montserrat"/>
                        </a:defRPr>
                      </a:pPr>
                      <a:r>
                        <a:t>10,459</a:t>
                      </a:r>
                    </a:p>
                  </a:txBody>
                  <a:tcPr marL="0" marR="0" marT="0" marB="0">
                    <a:solidFill>
                      <a:srgbClr val="EFEFEF"/>
                    </a:solidFill>
                  </a:tcPr>
                </a:tc>
                <a:tc>
                  <a:txBody>
                    <a:bodyPr/>
                    <a:lstStyle/>
                    <a:p>
                      <a:pPr algn="ctr">
                        <a:defRPr sz="1000">
                          <a:latin typeface="Montserrat"/>
                        </a:defRPr>
                      </a:pPr>
                      <a:r>
                        <a:t>1,614</a:t>
                      </a:r>
                    </a:p>
                  </a:txBody>
                  <a:tcPr marL="0" marR="0" marT="0" marB="0">
                    <a:solidFill>
                      <a:srgbClr val="EFEFEF"/>
                    </a:solidFill>
                  </a:tcPr>
                </a:tc>
                <a:tc>
                  <a:txBody>
                    <a:bodyPr/>
                    <a:lstStyle/>
                    <a:p>
                      <a:pPr algn="ctr">
                        <a:defRPr sz="1000">
                          <a:latin typeface="Montserrat"/>
                        </a:defRPr>
                      </a:pPr>
                      <a:r>
                        <a:t>4,754</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40 Nopaltepec</a:t>
                      </a:r>
                    </a:p>
                  </a:txBody>
                  <a:tcPr marL="0" marR="0" marT="0" marB="0">
                    <a:solidFill>
                      <a:srgbClr val="FFFFFF"/>
                    </a:solidFill>
                  </a:tcPr>
                </a:tc>
                <a:tc>
                  <a:txBody>
                    <a:bodyPr/>
                    <a:lstStyle/>
                    <a:p>
                      <a:pPr algn="ctr">
                        <a:defRPr sz="1000">
                          <a:latin typeface="Montserrat"/>
                        </a:defRPr>
                      </a:pPr>
                      <a:r>
                        <a:t>5,561</a:t>
                      </a:r>
                    </a:p>
                  </a:txBody>
                  <a:tcPr marL="0" marR="0" marT="0" marB="0">
                    <a:solidFill>
                      <a:srgbClr val="FFFFFF"/>
                    </a:solidFill>
                  </a:tcPr>
                </a:tc>
                <a:tc>
                  <a:txBody>
                    <a:bodyPr/>
                    <a:lstStyle/>
                    <a:p>
                      <a:pPr algn="ctr">
                        <a:defRPr sz="1000">
                          <a:latin typeface="Montserrat"/>
                        </a:defRPr>
                      </a:pPr>
                      <a:r>
                        <a:t>283</a:t>
                      </a:r>
                    </a:p>
                  </a:txBody>
                  <a:tcPr marL="0" marR="0" marT="0" marB="0">
                    <a:solidFill>
                      <a:srgbClr val="FFFFFF"/>
                    </a:solidFill>
                  </a:tcPr>
                </a:tc>
                <a:tc>
                  <a:txBody>
                    <a:bodyPr/>
                    <a:lstStyle/>
                    <a:p>
                      <a:pPr algn="ctr">
                        <a:defRPr sz="1000">
                          <a:latin typeface="Montserrat"/>
                        </a:defRPr>
                      </a:pPr>
                      <a:r>
                        <a:t>2,992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54 Mahuixtlán</a:t>
                      </a:r>
                    </a:p>
                  </a:txBody>
                  <a:tcPr marL="0" marR="0" marT="0" marB="0">
                    <a:solidFill>
                      <a:srgbClr val="EFEFEF"/>
                    </a:solidFill>
                  </a:tcPr>
                </a:tc>
                <a:tc>
                  <a:txBody>
                    <a:bodyPr/>
                    <a:lstStyle/>
                    <a:p>
                      <a:pPr algn="ctr">
                        <a:defRPr sz="1000">
                          <a:latin typeface="Montserrat"/>
                        </a:defRPr>
                      </a:pPr>
                      <a:r>
                        <a:t>11,906</a:t>
                      </a:r>
                    </a:p>
                  </a:txBody>
                  <a:tcPr marL="0" marR="0" marT="0" marB="0">
                    <a:solidFill>
                      <a:srgbClr val="EFEFEF"/>
                    </a:solidFill>
                  </a:tcPr>
                </a:tc>
                <a:tc>
                  <a:txBody>
                    <a:bodyPr/>
                    <a:lstStyle/>
                    <a:p>
                      <a:pPr algn="ctr">
                        <a:defRPr sz="1000">
                          <a:latin typeface="Montserrat"/>
                        </a:defRPr>
                      </a:pPr>
                      <a:r>
                        <a:t>-215</a:t>
                      </a:r>
                    </a:p>
                  </a:txBody>
                  <a:tcPr marL="0" marR="0" marT="0" marB="0">
                    <a:solidFill>
                      <a:srgbClr val="EFEFEF"/>
                    </a:solidFill>
                  </a:tcPr>
                </a:tc>
                <a:tc>
                  <a:txBody>
                    <a:bodyPr/>
                    <a:lstStyle/>
                    <a:p>
                      <a:pPr algn="ctr">
                        <a:defRPr sz="1000">
                          <a:latin typeface="Montserrat"/>
                        </a:defRPr>
                      </a:pPr>
                      <a:r>
                        <a:t>5,415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a:latin typeface="Montserrat"/>
                        </a:defRPr>
                      </a:pPr>
                      <a:r>
                        <a:t>UMF 38 I. Gloria</a:t>
                      </a:r>
                    </a:p>
                  </a:txBody>
                  <a:tcPr marL="0" marR="0" marT="0" marB="0">
                    <a:solidFill>
                      <a:srgbClr val="FFFFFF"/>
                    </a:solidFill>
                  </a:tcPr>
                </a:tc>
                <a:tc>
                  <a:txBody>
                    <a:bodyPr/>
                    <a:lstStyle/>
                    <a:p>
                      <a:pPr algn="ctr">
                        <a:defRPr sz="1000">
                          <a:latin typeface="Montserrat"/>
                        </a:defRPr>
                      </a:pPr>
                      <a:r>
                        <a:t>16,745</a:t>
                      </a:r>
                    </a:p>
                  </a:txBody>
                  <a:tcPr marL="0" marR="0" marT="0" marB="0">
                    <a:solidFill>
                      <a:srgbClr val="FFFFFF"/>
                    </a:solidFill>
                  </a:tcPr>
                </a:tc>
                <a:tc>
                  <a:txBody>
                    <a:bodyPr/>
                    <a:lstStyle/>
                    <a:p>
                      <a:pPr algn="ctr">
                        <a:defRPr sz="1000">
                          <a:latin typeface="Montserrat"/>
                        </a:defRPr>
                      </a:pPr>
                      <a:r>
                        <a:t>1,404</a:t>
                      </a:r>
                    </a:p>
                  </a:txBody>
                  <a:tcPr marL="0" marR="0" marT="0" marB="0">
                    <a:solidFill>
                      <a:srgbClr val="FFFFFF"/>
                    </a:solidFill>
                  </a:tcPr>
                </a:tc>
                <a:tc>
                  <a:txBody>
                    <a:bodyPr/>
                    <a:lstStyle/>
                    <a:p>
                      <a:pPr algn="ctr">
                        <a:defRPr sz="1000">
                          <a:latin typeface="Montserrat"/>
                        </a:defRPr>
                      </a:pPr>
                      <a:r>
                        <a:t>7,821</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extLst>
                  <a:ext uri="{0D108BD9-81ED-4DB2-BD59-A6C34878D82A}">
                    <a16:rowId xmlns:a16="http://schemas.microsoft.com/office/drawing/2014/main" val="10013"/>
                  </a:ext>
                </a:extLst>
              </a:tr>
              <a:tr h="151200">
                <a:tc>
                  <a:txBody>
                    <a:bodyPr/>
                    <a:lstStyle/>
                    <a:p>
                      <a:pPr algn="l">
                        <a:defRPr sz="1000">
                          <a:latin typeface="Montserrat"/>
                        </a:defRPr>
                      </a:pPr>
                      <a:r>
                        <a:t>UMF 18 Tuzamapan</a:t>
                      </a:r>
                    </a:p>
                  </a:txBody>
                  <a:tcPr marL="0" marR="0" marT="0" marB="0">
                    <a:solidFill>
                      <a:srgbClr val="EFEFEF"/>
                    </a:solidFill>
                  </a:tcPr>
                </a:tc>
                <a:tc>
                  <a:txBody>
                    <a:bodyPr/>
                    <a:lstStyle/>
                    <a:p>
                      <a:pPr algn="ctr">
                        <a:defRPr sz="1000">
                          <a:latin typeface="Montserrat"/>
                        </a:defRPr>
                      </a:pPr>
                      <a:r>
                        <a:t>12,860</a:t>
                      </a:r>
                    </a:p>
                  </a:txBody>
                  <a:tcPr marL="0" marR="0" marT="0" marB="0">
                    <a:solidFill>
                      <a:srgbClr val="EFEFEF"/>
                    </a:solidFill>
                  </a:tcPr>
                </a:tc>
                <a:tc>
                  <a:txBody>
                    <a:bodyPr/>
                    <a:lstStyle/>
                    <a:p>
                      <a:pPr algn="ctr">
                        <a:defRPr sz="1000">
                          <a:latin typeface="Montserrat"/>
                        </a:defRPr>
                      </a:pPr>
                      <a:r>
                        <a:t>1,074</a:t>
                      </a:r>
                    </a:p>
                  </a:txBody>
                  <a:tcPr marL="0" marR="0" marT="0" marB="0">
                    <a:solidFill>
                      <a:srgbClr val="EFEFEF"/>
                    </a:solidFill>
                  </a:tcPr>
                </a:tc>
                <a:tc>
                  <a:txBody>
                    <a:bodyPr/>
                    <a:lstStyle/>
                    <a:p>
                      <a:pPr algn="ctr">
                        <a:defRPr sz="1000">
                          <a:latin typeface="Montserrat"/>
                        </a:defRPr>
                      </a:pPr>
                      <a:r>
                        <a:t>6,605</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47.2%</a:t>
                      </a:r>
                    </a:p>
                  </a:txBody>
                  <a:tcPr marL="0" marR="0" marT="0" marB="0">
                    <a:solidFill>
                      <a:srgbClr val="ECD3D9"/>
                    </a:solidFill>
                  </a:tcPr>
                </a:tc>
                <a:extLst>
                  <a:ext uri="{0D108BD9-81ED-4DB2-BD59-A6C34878D82A}">
                    <a16:rowId xmlns:a16="http://schemas.microsoft.com/office/drawing/2014/main" val="10014"/>
                  </a:ext>
                </a:extLst>
              </a:tr>
              <a:tr h="151200">
                <a:tc>
                  <a:txBody>
                    <a:bodyPr/>
                    <a:lstStyle/>
                    <a:p>
                      <a:pPr algn="l">
                        <a:defRPr sz="1000">
                          <a:latin typeface="Montserrat"/>
                        </a:defRPr>
                      </a:pPr>
                      <a:r>
                        <a:t>UMF 51 Ángel R. Cabada</a:t>
                      </a:r>
                    </a:p>
                  </a:txBody>
                  <a:tcPr marL="0" marR="0" marT="0" marB="0">
                    <a:solidFill>
                      <a:srgbClr val="FFFFFF"/>
                    </a:solidFill>
                  </a:tcPr>
                </a:tc>
                <a:tc>
                  <a:txBody>
                    <a:bodyPr/>
                    <a:lstStyle/>
                    <a:p>
                      <a:pPr algn="ctr">
                        <a:defRPr sz="1000">
                          <a:latin typeface="Montserrat"/>
                        </a:defRPr>
                      </a:pPr>
                      <a:r>
                        <a:t>48,303</a:t>
                      </a:r>
                    </a:p>
                  </a:txBody>
                  <a:tcPr marL="0" marR="0" marT="0" marB="0">
                    <a:solidFill>
                      <a:srgbClr val="FFFFFF"/>
                    </a:solidFill>
                  </a:tcPr>
                </a:tc>
                <a:tc>
                  <a:txBody>
                    <a:bodyPr/>
                    <a:lstStyle/>
                    <a:p>
                      <a:pPr algn="ctr">
                        <a:defRPr sz="1000">
                          <a:latin typeface="Montserrat"/>
                        </a:defRPr>
                      </a:pPr>
                      <a:r>
                        <a:t>4,178</a:t>
                      </a:r>
                    </a:p>
                  </a:txBody>
                  <a:tcPr marL="0" marR="0" marT="0" marB="0">
                    <a:solidFill>
                      <a:srgbClr val="FFFFFF"/>
                    </a:solidFill>
                  </a:tcPr>
                </a:tc>
                <a:tc>
                  <a:txBody>
                    <a:bodyPr/>
                    <a:lstStyle/>
                    <a:p>
                      <a:pPr algn="ctr">
                        <a:defRPr sz="1000">
                          <a:latin typeface="Montserrat"/>
                        </a:defRPr>
                      </a:pPr>
                      <a:r>
                        <a:t>22,050</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extLst>
                  <a:ext uri="{0D108BD9-81ED-4DB2-BD59-A6C34878D82A}">
                    <a16:rowId xmlns:a16="http://schemas.microsoft.com/office/drawing/2014/main" val="10015"/>
                  </a:ext>
                </a:extLst>
              </a:tr>
              <a:tr h="151200">
                <a:tc>
                  <a:txBody>
                    <a:bodyPr/>
                    <a:lstStyle/>
                    <a:p>
                      <a:pPr algn="l">
                        <a:defRPr sz="1000">
                          <a:latin typeface="Montserrat"/>
                        </a:defRPr>
                      </a:pPr>
                      <a:r>
                        <a:t>UMF 2 Río Blanco</a:t>
                      </a:r>
                    </a:p>
                  </a:txBody>
                  <a:tcPr marL="0" marR="0" marT="0" marB="0">
                    <a:solidFill>
                      <a:srgbClr val="EFEFEF"/>
                    </a:solidFill>
                  </a:tcPr>
                </a:tc>
                <a:tc>
                  <a:txBody>
                    <a:bodyPr/>
                    <a:lstStyle/>
                    <a:p>
                      <a:pPr algn="ctr">
                        <a:defRPr sz="1000">
                          <a:latin typeface="Montserrat"/>
                        </a:defRPr>
                      </a:pPr>
                      <a:r>
                        <a:t>47,655</a:t>
                      </a:r>
                    </a:p>
                  </a:txBody>
                  <a:tcPr marL="0" marR="0" marT="0" marB="0">
                    <a:solidFill>
                      <a:srgbClr val="EFEFEF"/>
                    </a:solidFill>
                  </a:tcPr>
                </a:tc>
                <a:tc>
                  <a:txBody>
                    <a:bodyPr/>
                    <a:lstStyle/>
                    <a:p>
                      <a:pPr algn="ctr">
                        <a:defRPr sz="1000">
                          <a:latin typeface="Montserrat"/>
                        </a:defRPr>
                      </a:pPr>
                      <a:r>
                        <a:t>9,675</a:t>
                      </a:r>
                    </a:p>
                  </a:txBody>
                  <a:tcPr marL="0" marR="0" marT="0" marB="0">
                    <a:solidFill>
                      <a:srgbClr val="EFEFEF"/>
                    </a:solidFill>
                  </a:tcPr>
                </a:tc>
                <a:tc>
                  <a:txBody>
                    <a:bodyPr/>
                    <a:lstStyle/>
                    <a:p>
                      <a:pPr algn="ctr">
                        <a:defRPr sz="1000">
                          <a:latin typeface="Montserrat"/>
                        </a:defRPr>
                      </a:pPr>
                      <a:r>
                        <a:t>24,749</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56.2%</a:t>
                      </a:r>
                    </a:p>
                  </a:txBody>
                  <a:tcPr marL="0" marR="0" marT="0" marB="0">
                    <a:solidFill>
                      <a:srgbClr val="ECD3D9"/>
                    </a:solidFill>
                  </a:tcPr>
                </a:tc>
                <a:extLst>
                  <a:ext uri="{0D108BD9-81ED-4DB2-BD59-A6C34878D82A}">
                    <a16:rowId xmlns:a16="http://schemas.microsoft.com/office/drawing/2014/main" val="10016"/>
                  </a:ext>
                </a:extLst>
              </a:tr>
              <a:tr h="151200">
                <a:tc>
                  <a:txBody>
                    <a:bodyPr/>
                    <a:lstStyle/>
                    <a:p>
                      <a:pPr algn="l">
                        <a:defRPr sz="1000">
                          <a:latin typeface="Montserrat"/>
                        </a:defRPr>
                      </a:pPr>
                      <a:r>
                        <a:t>UMF 3 Nogales</a:t>
                      </a:r>
                    </a:p>
                  </a:txBody>
                  <a:tcPr marL="0" marR="0" marT="0" marB="0">
                    <a:solidFill>
                      <a:srgbClr val="FFFFFF"/>
                    </a:solidFill>
                  </a:tcPr>
                </a:tc>
                <a:tc>
                  <a:txBody>
                    <a:bodyPr/>
                    <a:lstStyle/>
                    <a:p>
                      <a:pPr algn="ctr">
                        <a:defRPr sz="1000">
                          <a:latin typeface="Montserrat"/>
                        </a:defRPr>
                      </a:pPr>
                      <a:r>
                        <a:t>42,553</a:t>
                      </a:r>
                    </a:p>
                  </a:txBody>
                  <a:tcPr marL="0" marR="0" marT="0" marB="0">
                    <a:solidFill>
                      <a:srgbClr val="FFFFFF"/>
                    </a:solidFill>
                  </a:tcPr>
                </a:tc>
                <a:tc>
                  <a:txBody>
                    <a:bodyPr/>
                    <a:lstStyle/>
                    <a:p>
                      <a:pPr algn="ctr">
                        <a:defRPr sz="1000">
                          <a:latin typeface="Montserrat"/>
                        </a:defRPr>
                      </a:pPr>
                      <a:r>
                        <a:t>8,265</a:t>
                      </a:r>
                    </a:p>
                  </a:txBody>
                  <a:tcPr marL="0" marR="0" marT="0" marB="0">
                    <a:solidFill>
                      <a:srgbClr val="FFFFFF"/>
                    </a:solidFill>
                  </a:tcPr>
                </a:tc>
                <a:tc>
                  <a:txBody>
                    <a:bodyPr/>
                    <a:lstStyle/>
                    <a:p>
                      <a:pPr algn="ctr">
                        <a:defRPr sz="1000">
                          <a:latin typeface="Montserrat"/>
                        </a:defRPr>
                      </a:pPr>
                      <a:r>
                        <a:t>18,752</a:t>
                      </a:r>
                    </a:p>
                  </a:txBody>
                  <a:tcPr marL="0" marR="0" marT="0" marB="0">
                    <a:solidFill>
                      <a:srgbClr val="ECD3D9"/>
                    </a:solidFill>
                  </a:tcPr>
                </a:tc>
                <a:tc>
                  <a:txBody>
                    <a:bodyPr/>
                    <a:lstStyle/>
                    <a:p>
                      <a:pPr algn="ctr">
                        <a:defRPr sz="1000">
                          <a:latin typeface="Montserrat"/>
                        </a:defRPr>
                      </a:pPr>
                      <a:r>
                        <a:t>40,000</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extLst>
                  <a:ext uri="{0D108BD9-81ED-4DB2-BD59-A6C34878D82A}">
                    <a16:rowId xmlns:a16="http://schemas.microsoft.com/office/drawing/2014/main" val="10017"/>
                  </a:ext>
                </a:extLst>
              </a:tr>
              <a:tr h="151200">
                <a:tc>
                  <a:txBody>
                    <a:bodyPr/>
                    <a:lstStyle/>
                    <a:p>
                      <a:pPr algn="l">
                        <a:defRPr sz="1000">
                          <a:latin typeface="Montserrat"/>
                        </a:defRPr>
                      </a:pPr>
                      <a:r>
                        <a:t>UMF 15 Cuichapa</a:t>
                      </a:r>
                    </a:p>
                  </a:txBody>
                  <a:tcPr marL="0" marR="0" marT="0" marB="0">
                    <a:solidFill>
                      <a:srgbClr val="EFEFEF"/>
                    </a:solidFill>
                  </a:tcPr>
                </a:tc>
                <a:tc>
                  <a:txBody>
                    <a:bodyPr/>
                    <a:lstStyle/>
                    <a:p>
                      <a:pPr algn="ctr">
                        <a:defRPr sz="1000">
                          <a:latin typeface="Montserrat"/>
                        </a:defRPr>
                      </a:pPr>
                      <a:r>
                        <a:t>4,930</a:t>
                      </a:r>
                    </a:p>
                  </a:txBody>
                  <a:tcPr marL="0" marR="0" marT="0" marB="0">
                    <a:solidFill>
                      <a:srgbClr val="EFEFEF"/>
                    </a:solidFill>
                  </a:tcPr>
                </a:tc>
                <a:tc>
                  <a:txBody>
                    <a:bodyPr/>
                    <a:lstStyle/>
                    <a:p>
                      <a:pPr algn="ctr">
                        <a:defRPr sz="1000">
                          <a:latin typeface="Montserrat"/>
                        </a:defRPr>
                      </a:pPr>
                      <a:r>
                        <a:t>79</a:t>
                      </a:r>
                    </a:p>
                  </a:txBody>
                  <a:tcPr marL="0" marR="0" marT="0" marB="0">
                    <a:solidFill>
                      <a:srgbClr val="EFEFEF"/>
                    </a:solidFill>
                  </a:tcPr>
                </a:tc>
                <a:tc>
                  <a:txBody>
                    <a:bodyPr/>
                    <a:lstStyle/>
                    <a:p>
                      <a:pPr algn="ctr">
                        <a:defRPr sz="1000">
                          <a:latin typeface="Montserrat"/>
                        </a:defRPr>
                      </a:pPr>
                      <a:r>
                        <a:t>2,301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extLst>
                  <a:ext uri="{0D108BD9-81ED-4DB2-BD59-A6C34878D82A}">
                    <a16:rowId xmlns:a16="http://schemas.microsoft.com/office/drawing/2014/main" val="10018"/>
                  </a:ext>
                </a:extLst>
              </a:tr>
              <a:tr h="151200">
                <a:tc>
                  <a:txBody>
                    <a:bodyPr/>
                    <a:lstStyle/>
                    <a:p>
                      <a:pPr algn="l">
                        <a:defRPr sz="1000">
                          <a:latin typeface="Montserrat"/>
                        </a:defRPr>
                      </a:pPr>
                      <a:r>
                        <a:t>UMF 9 Yanga</a:t>
                      </a:r>
                    </a:p>
                  </a:txBody>
                  <a:tcPr marL="0" marR="0" marT="0" marB="0">
                    <a:solidFill>
                      <a:srgbClr val="FFFFFF"/>
                    </a:solidFill>
                  </a:tcPr>
                </a:tc>
                <a:tc>
                  <a:txBody>
                    <a:bodyPr/>
                    <a:lstStyle/>
                    <a:p>
                      <a:pPr algn="ctr">
                        <a:defRPr sz="1000">
                          <a:latin typeface="Montserrat"/>
                        </a:defRPr>
                      </a:pPr>
                      <a:r>
                        <a:t>22,640</a:t>
                      </a:r>
                    </a:p>
                  </a:txBody>
                  <a:tcPr marL="0" marR="0" marT="0" marB="0">
                    <a:solidFill>
                      <a:srgbClr val="FFFFFF"/>
                    </a:solidFill>
                  </a:tcPr>
                </a:tc>
                <a:tc>
                  <a:txBody>
                    <a:bodyPr/>
                    <a:lstStyle/>
                    <a:p>
                      <a:pPr algn="ctr">
                        <a:defRPr sz="1000">
                          <a:latin typeface="Montserrat"/>
                        </a:defRPr>
                      </a:pPr>
                      <a:r>
                        <a:t>10,018</a:t>
                      </a:r>
                    </a:p>
                  </a:txBody>
                  <a:tcPr marL="0" marR="0" marT="0" marB="0">
                    <a:solidFill>
                      <a:srgbClr val="FFFFFF"/>
                    </a:solidFill>
                  </a:tcPr>
                </a:tc>
                <a:tc>
                  <a:txBody>
                    <a:bodyPr/>
                    <a:lstStyle/>
                    <a:p>
                      <a:pPr algn="ctr">
                        <a:defRPr sz="1000">
                          <a:latin typeface="Montserrat"/>
                        </a:defRPr>
                      </a:pPr>
                      <a:r>
                        <a:t>11,887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47.4%</a:t>
                      </a:r>
                    </a:p>
                  </a:txBody>
                  <a:tcPr marL="0" marR="0" marT="0" marB="0">
                    <a:solidFill>
                      <a:srgbClr val="ECD3D9"/>
                    </a:solidFill>
                  </a:tcPr>
                </a:tc>
                <a:extLst>
                  <a:ext uri="{0D108BD9-81ED-4DB2-BD59-A6C34878D82A}">
                    <a16:rowId xmlns:a16="http://schemas.microsoft.com/office/drawing/2014/main" val="10019"/>
                  </a:ext>
                </a:extLst>
              </a:tr>
              <a:tr h="151200">
                <a:tc>
                  <a:txBody>
                    <a:bodyPr/>
                    <a:lstStyle/>
                    <a:p>
                      <a:pPr algn="l">
                        <a:defRPr sz="1000">
                          <a:latin typeface="Montserrat"/>
                        </a:defRPr>
                      </a:pPr>
                      <a:r>
                        <a:t>UMF 10 Cuitlahuac</a:t>
                      </a:r>
                    </a:p>
                  </a:txBody>
                  <a:tcPr marL="0" marR="0" marT="0" marB="0">
                    <a:solidFill>
                      <a:srgbClr val="EFEFEF"/>
                    </a:solidFill>
                  </a:tcPr>
                </a:tc>
                <a:tc>
                  <a:txBody>
                    <a:bodyPr/>
                    <a:lstStyle/>
                    <a:p>
                      <a:pPr algn="ctr">
                        <a:defRPr sz="1000">
                          <a:latin typeface="Montserrat"/>
                        </a:defRPr>
                      </a:pPr>
                      <a:r>
                        <a:t>26,292</a:t>
                      </a:r>
                    </a:p>
                  </a:txBody>
                  <a:tcPr marL="0" marR="0" marT="0" marB="0">
                    <a:solidFill>
                      <a:srgbClr val="EFEFEF"/>
                    </a:solidFill>
                  </a:tcPr>
                </a:tc>
                <a:tc>
                  <a:txBody>
                    <a:bodyPr/>
                    <a:lstStyle/>
                    <a:p>
                      <a:pPr algn="ctr">
                        <a:defRPr sz="1000">
                          <a:latin typeface="Montserrat"/>
                        </a:defRPr>
                      </a:pPr>
                      <a:r>
                        <a:t>665</a:t>
                      </a:r>
                    </a:p>
                  </a:txBody>
                  <a:tcPr marL="0" marR="0" marT="0" marB="0">
                    <a:solidFill>
                      <a:srgbClr val="EFEFEF"/>
                    </a:solidFill>
                  </a:tcPr>
                </a:tc>
                <a:tc>
                  <a:txBody>
                    <a:bodyPr/>
                    <a:lstStyle/>
                    <a:p>
                      <a:pPr algn="ctr">
                        <a:defRPr sz="1000">
                          <a:latin typeface="Montserrat"/>
                        </a:defRPr>
                      </a:pPr>
                      <a:r>
                        <a:t>15,300</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extLst>
                  <a:ext uri="{0D108BD9-81ED-4DB2-BD59-A6C34878D82A}">
                    <a16:rowId xmlns:a16="http://schemas.microsoft.com/office/drawing/2014/main" val="10020"/>
                  </a:ext>
                </a:extLst>
              </a:tr>
              <a:tr h="151200">
                <a:tc>
                  <a:txBody>
                    <a:bodyPr/>
                    <a:lstStyle/>
                    <a:p>
                      <a:pPr algn="l">
                        <a:defRPr sz="1000">
                          <a:latin typeface="Montserrat"/>
                        </a:defRPr>
                      </a:pPr>
                      <a:r>
                        <a:t>UMF 26 I. Providencia</a:t>
                      </a:r>
                    </a:p>
                  </a:txBody>
                  <a:tcPr marL="0" marR="0" marT="0" marB="0">
                    <a:solidFill>
                      <a:srgbClr val="FFFFFF"/>
                    </a:solidFill>
                  </a:tcPr>
                </a:tc>
                <a:tc>
                  <a:txBody>
                    <a:bodyPr/>
                    <a:lstStyle/>
                    <a:p>
                      <a:pPr algn="ctr">
                        <a:defRPr sz="1000">
                          <a:latin typeface="Montserrat"/>
                        </a:defRPr>
                      </a:pPr>
                      <a:r>
                        <a:t>5,279</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2,702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extLst>
                  <a:ext uri="{0D108BD9-81ED-4DB2-BD59-A6C34878D82A}">
                    <a16:rowId xmlns:a16="http://schemas.microsoft.com/office/drawing/2014/main" val="10021"/>
                  </a:ext>
                </a:extLst>
              </a:tr>
              <a:tr h="151200">
                <a:tc>
                  <a:txBody>
                    <a:bodyPr/>
                    <a:lstStyle/>
                    <a:p>
                      <a:pPr algn="l">
                        <a:defRPr sz="1000">
                          <a:latin typeface="Montserrat"/>
                        </a:defRPr>
                      </a:pPr>
                      <a:r>
                        <a:t>UMF 22 Cuatlapan</a:t>
                      </a:r>
                    </a:p>
                  </a:txBody>
                  <a:tcPr marL="0" marR="0" marT="0" marB="0">
                    <a:solidFill>
                      <a:srgbClr val="EFEFEF"/>
                    </a:solidFill>
                  </a:tcPr>
                </a:tc>
                <a:tc>
                  <a:txBody>
                    <a:bodyPr/>
                    <a:lstStyle/>
                    <a:p>
                      <a:pPr algn="ctr">
                        <a:defRPr sz="1000">
                          <a:latin typeface="Montserrat"/>
                        </a:defRPr>
                      </a:pPr>
                      <a:r>
                        <a:t>11,425</a:t>
                      </a:r>
                    </a:p>
                  </a:txBody>
                  <a:tcPr marL="0" marR="0" marT="0" marB="0">
                    <a:solidFill>
                      <a:srgbClr val="EFEFEF"/>
                    </a:solidFill>
                  </a:tcPr>
                </a:tc>
                <a:tc>
                  <a:txBody>
                    <a:bodyPr/>
                    <a:lstStyle/>
                    <a:p>
                      <a:pPr algn="ctr">
                        <a:defRPr sz="1000">
                          <a:latin typeface="Montserrat"/>
                        </a:defRPr>
                      </a:pPr>
                      <a:r>
                        <a:t>1,186</a:t>
                      </a:r>
                    </a:p>
                  </a:txBody>
                  <a:tcPr marL="0" marR="0" marT="0" marB="0">
                    <a:solidFill>
                      <a:srgbClr val="EFEFEF"/>
                    </a:solidFill>
                  </a:tcPr>
                </a:tc>
                <a:tc>
                  <a:txBody>
                    <a:bodyPr/>
                    <a:lstStyle/>
                    <a:p>
                      <a:pPr algn="ctr">
                        <a:defRPr sz="1000">
                          <a:latin typeface="Montserrat"/>
                        </a:defRPr>
                      </a:pPr>
                      <a:r>
                        <a:t>4,932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extLst>
                  <a:ext uri="{0D108BD9-81ED-4DB2-BD59-A6C34878D82A}">
                    <a16:rowId xmlns:a16="http://schemas.microsoft.com/office/drawing/2014/main" val="10022"/>
                  </a:ext>
                </a:extLst>
              </a:tr>
              <a:tr h="151200">
                <a:tc>
                  <a:txBody>
                    <a:bodyPr/>
                    <a:lstStyle/>
                    <a:p>
                      <a:pPr algn="l">
                        <a:defRPr sz="1000">
                          <a:latin typeface="Montserrat"/>
                        </a:defRPr>
                      </a:pPr>
                      <a:r>
                        <a:t>UMF 25 S. José Abajo</a:t>
                      </a:r>
                    </a:p>
                  </a:txBody>
                  <a:tcPr marL="0" marR="0" marT="0" marB="0">
                    <a:solidFill>
                      <a:srgbClr val="FFFFFF"/>
                    </a:solidFill>
                  </a:tcPr>
                </a:tc>
                <a:tc>
                  <a:txBody>
                    <a:bodyPr/>
                    <a:lstStyle/>
                    <a:p>
                      <a:pPr algn="ctr">
                        <a:defRPr sz="1000">
                          <a:latin typeface="Montserrat"/>
                        </a:defRPr>
                      </a:pPr>
                      <a:r>
                        <a:t>5,361</a:t>
                      </a:r>
                    </a:p>
                  </a:txBody>
                  <a:tcPr marL="0" marR="0" marT="0" marB="0">
                    <a:solidFill>
                      <a:srgbClr val="FFFFFF"/>
                    </a:solidFill>
                  </a:tcPr>
                </a:tc>
                <a:tc>
                  <a:txBody>
                    <a:bodyPr/>
                    <a:lstStyle/>
                    <a:p>
                      <a:pPr algn="ctr">
                        <a:defRPr sz="1000">
                          <a:latin typeface="Montserrat"/>
                        </a:defRPr>
                      </a:pPr>
                      <a:r>
                        <a:t>394</a:t>
                      </a:r>
                    </a:p>
                  </a:txBody>
                  <a:tcPr marL="0" marR="0" marT="0" marB="0">
                    <a:solidFill>
                      <a:srgbClr val="FFFFFF"/>
                    </a:solidFill>
                  </a:tcPr>
                </a:tc>
                <a:tc>
                  <a:txBody>
                    <a:bodyPr/>
                    <a:lstStyle/>
                    <a:p>
                      <a:pPr algn="ctr">
                        <a:defRPr sz="1000">
                          <a:latin typeface="Montserrat"/>
                        </a:defRPr>
                      </a:pPr>
                      <a:r>
                        <a:t>2,180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extLst>
                  <a:ext uri="{0D108BD9-81ED-4DB2-BD59-A6C34878D82A}">
                    <a16:rowId xmlns:a16="http://schemas.microsoft.com/office/drawing/2014/main" val="10023"/>
                  </a:ext>
                </a:extLst>
              </a:tr>
              <a:tr h="151200">
                <a:tc>
                  <a:txBody>
                    <a:bodyPr/>
                    <a:lstStyle/>
                    <a:p>
                      <a:pPr algn="l">
                        <a:defRPr sz="1000">
                          <a:latin typeface="Montserrat"/>
                        </a:defRPr>
                      </a:pPr>
                      <a:r>
                        <a:t>UMF 23 S. José Tapia</a:t>
                      </a:r>
                    </a:p>
                  </a:txBody>
                  <a:tcPr marL="0" marR="0" marT="0" marB="0">
                    <a:solidFill>
                      <a:srgbClr val="EFEFEF"/>
                    </a:solidFill>
                  </a:tcPr>
                </a:tc>
                <a:tc>
                  <a:txBody>
                    <a:bodyPr/>
                    <a:lstStyle/>
                    <a:p>
                      <a:pPr algn="ctr">
                        <a:defRPr sz="1000">
                          <a:latin typeface="Montserrat"/>
                        </a:defRPr>
                      </a:pPr>
                      <a:r>
                        <a:t>4,844</a:t>
                      </a:r>
                    </a:p>
                  </a:txBody>
                  <a:tcPr marL="0" marR="0" marT="0" marB="0">
                    <a:solidFill>
                      <a:srgbClr val="EFEFEF"/>
                    </a:solidFill>
                  </a:tcPr>
                </a:tc>
                <a:tc>
                  <a:txBody>
                    <a:bodyPr/>
                    <a:lstStyle/>
                    <a:p>
                      <a:pPr algn="ctr">
                        <a:defRPr sz="1000">
                          <a:latin typeface="Montserrat"/>
                        </a:defRPr>
                      </a:pPr>
                      <a:r>
                        <a:t>32</a:t>
                      </a:r>
                    </a:p>
                  </a:txBody>
                  <a:tcPr marL="0" marR="0" marT="0" marB="0">
                    <a:solidFill>
                      <a:srgbClr val="EFEFEF"/>
                    </a:solidFill>
                  </a:tcPr>
                </a:tc>
                <a:tc>
                  <a:txBody>
                    <a:bodyPr/>
                    <a:lstStyle/>
                    <a:p>
                      <a:pPr algn="ctr">
                        <a:defRPr sz="1000">
                          <a:latin typeface="Montserrat"/>
                        </a:defRPr>
                      </a:pPr>
                      <a:r>
                        <a:t>2,861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47.7%</a:t>
                      </a:r>
                    </a:p>
                  </a:txBody>
                  <a:tcPr marL="0" marR="0" marT="0" marB="0">
                    <a:solidFill>
                      <a:srgbClr val="ECD3D9"/>
                    </a:solidFill>
                  </a:tcPr>
                </a:tc>
                <a:extLst>
                  <a:ext uri="{0D108BD9-81ED-4DB2-BD59-A6C34878D82A}">
                    <a16:rowId xmlns:a16="http://schemas.microsoft.com/office/drawing/2014/main" val="10024"/>
                  </a:ext>
                </a:extLst>
              </a:tr>
              <a:tr h="151200">
                <a:tc>
                  <a:txBody>
                    <a:bodyPr/>
                    <a:lstStyle/>
                    <a:p>
                      <a:pPr algn="l">
                        <a:defRPr sz="1000">
                          <a:latin typeface="Montserrat"/>
                        </a:defRPr>
                      </a:pPr>
                      <a:r>
                        <a:t>UMF 24 S. Miguel</a:t>
                      </a:r>
                    </a:p>
                  </a:txBody>
                  <a:tcPr marL="0" marR="0" marT="0" marB="0">
                    <a:solidFill>
                      <a:srgbClr val="FFFFFF"/>
                    </a:solidFill>
                  </a:tcPr>
                </a:tc>
                <a:tc>
                  <a:txBody>
                    <a:bodyPr/>
                    <a:lstStyle/>
                    <a:p>
                      <a:pPr algn="ctr">
                        <a:defRPr sz="1000">
                          <a:latin typeface="Montserrat"/>
                        </a:defRPr>
                      </a:pPr>
                      <a:r>
                        <a:t>3,523</a:t>
                      </a:r>
                    </a:p>
                  </a:txBody>
                  <a:tcPr marL="0" marR="0" marT="0" marB="0">
                    <a:solidFill>
                      <a:srgbClr val="FFFFFF"/>
                    </a:solidFill>
                  </a:tcPr>
                </a:tc>
                <a:tc>
                  <a:txBody>
                    <a:bodyPr/>
                    <a:lstStyle/>
                    <a:p>
                      <a:pPr algn="ctr">
                        <a:defRPr sz="1000">
                          <a:latin typeface="Montserrat"/>
                        </a:defRPr>
                      </a:pPr>
                      <a:r>
                        <a:t>58</a:t>
                      </a:r>
                    </a:p>
                  </a:txBody>
                  <a:tcPr marL="0" marR="0" marT="0" marB="0">
                    <a:solidFill>
                      <a:srgbClr val="FFFFFF"/>
                    </a:solidFill>
                  </a:tcPr>
                </a:tc>
                <a:tc>
                  <a:txBody>
                    <a:bodyPr/>
                    <a:lstStyle/>
                    <a:p>
                      <a:pPr algn="ctr">
                        <a:defRPr sz="1000">
                          <a:latin typeface="Montserrat"/>
                        </a:defRPr>
                      </a:pPr>
                      <a:r>
                        <a:t>2,607</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52.1%</a:t>
                      </a:r>
                    </a:p>
                  </a:txBody>
                  <a:tcPr marL="0" marR="0" marT="0" marB="0">
                    <a:solidFill>
                      <a:srgbClr val="ECD3D9"/>
                    </a:solidFill>
                  </a:tcPr>
                </a:tc>
                <a:extLst>
                  <a:ext uri="{0D108BD9-81ED-4DB2-BD59-A6C34878D82A}">
                    <a16:rowId xmlns:a16="http://schemas.microsoft.com/office/drawing/2014/main" val="10025"/>
                  </a:ext>
                </a:extLst>
              </a:tr>
              <a:tr h="151200">
                <a:tc>
                  <a:txBody>
                    <a:bodyPr/>
                    <a:lstStyle/>
                    <a:p>
                      <a:pPr algn="l">
                        <a:defRPr sz="1000">
                          <a:latin typeface="Montserrat"/>
                        </a:defRPr>
                      </a:pPr>
                      <a:r>
                        <a:t>UMF 17 Laguna Chica</a:t>
                      </a:r>
                    </a:p>
                  </a:txBody>
                  <a:tcPr marL="0" marR="0" marT="0" marB="0">
                    <a:solidFill>
                      <a:srgbClr val="EFEFEF"/>
                    </a:solidFill>
                  </a:tcPr>
                </a:tc>
                <a:tc>
                  <a:txBody>
                    <a:bodyPr/>
                    <a:lstStyle/>
                    <a:p>
                      <a:pPr algn="ctr">
                        <a:defRPr sz="1000">
                          <a:latin typeface="Montserrat"/>
                        </a:defRPr>
                      </a:pPr>
                      <a:r>
                        <a:t>4,703</a:t>
                      </a:r>
                    </a:p>
                  </a:txBody>
                  <a:tcPr marL="0" marR="0" marT="0" marB="0">
                    <a:solidFill>
                      <a:srgbClr val="EFEFEF"/>
                    </a:solidFill>
                  </a:tcPr>
                </a:tc>
                <a:tc>
                  <a:txBody>
                    <a:bodyPr/>
                    <a:lstStyle/>
                    <a:p>
                      <a:pPr algn="ctr">
                        <a:defRPr sz="1000">
                          <a:latin typeface="Montserrat"/>
                        </a:defRPr>
                      </a:pPr>
                      <a:r>
                        <a:t>-216</a:t>
                      </a:r>
                    </a:p>
                  </a:txBody>
                  <a:tcPr marL="0" marR="0" marT="0" marB="0">
                    <a:solidFill>
                      <a:srgbClr val="EFEFEF"/>
                    </a:solidFill>
                  </a:tcPr>
                </a:tc>
                <a:tc>
                  <a:txBody>
                    <a:bodyPr/>
                    <a:lstStyle/>
                    <a:p>
                      <a:pPr algn="ctr">
                        <a:defRPr sz="1000">
                          <a:latin typeface="Montserrat"/>
                        </a:defRPr>
                      </a:pPr>
                      <a:r>
                        <a:t>4,663</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77.7%</a:t>
                      </a:r>
                    </a:p>
                  </a:txBody>
                  <a:tcPr marL="0" marR="0" marT="0" marB="0">
                    <a:solidFill>
                      <a:srgbClr val="ECD3D9"/>
                    </a:solidFill>
                  </a:tcPr>
                </a:tc>
                <a:extLst>
                  <a:ext uri="{0D108BD9-81ED-4DB2-BD59-A6C34878D82A}">
                    <a16:rowId xmlns:a16="http://schemas.microsoft.com/office/drawing/2014/main" val="10026"/>
                  </a:ext>
                </a:extLst>
              </a:tr>
              <a:tr h="151200">
                <a:tc>
                  <a:txBody>
                    <a:bodyPr/>
                    <a:lstStyle/>
                    <a:p>
                      <a:pPr algn="l">
                        <a:defRPr sz="1000">
                          <a:latin typeface="Montserrat"/>
                        </a:defRPr>
                      </a:pPr>
                      <a:r>
                        <a:t>UMF 18 Motzorongo</a:t>
                      </a:r>
                    </a:p>
                  </a:txBody>
                  <a:tcPr marL="0" marR="0" marT="0" marB="0">
                    <a:solidFill>
                      <a:srgbClr val="FFFFFF"/>
                    </a:solidFill>
                  </a:tcPr>
                </a:tc>
                <a:tc>
                  <a:txBody>
                    <a:bodyPr/>
                    <a:lstStyle/>
                    <a:p>
                      <a:pPr algn="ctr">
                        <a:defRPr sz="1000">
                          <a:latin typeface="Montserrat"/>
                        </a:defRPr>
                      </a:pPr>
                      <a:r>
                        <a:t>5,968</a:t>
                      </a:r>
                    </a:p>
                  </a:txBody>
                  <a:tcPr marL="0" marR="0" marT="0" marB="0">
                    <a:solidFill>
                      <a:srgbClr val="FFFFFF"/>
                    </a:solidFill>
                  </a:tcPr>
                </a:tc>
                <a:tc>
                  <a:txBody>
                    <a:bodyPr/>
                    <a:lstStyle/>
                    <a:p>
                      <a:pPr algn="ctr">
                        <a:defRPr sz="1000">
                          <a:latin typeface="Montserrat"/>
                        </a:defRPr>
                      </a:pPr>
                      <a:r>
                        <a:t>224</a:t>
                      </a:r>
                    </a:p>
                  </a:txBody>
                  <a:tcPr marL="0" marR="0" marT="0" marB="0">
                    <a:solidFill>
                      <a:srgbClr val="FFFFFF"/>
                    </a:solidFill>
                  </a:tcPr>
                </a:tc>
                <a:tc>
                  <a:txBody>
                    <a:bodyPr/>
                    <a:lstStyle/>
                    <a:p>
                      <a:pPr algn="ctr">
                        <a:defRPr sz="1000">
                          <a:latin typeface="Montserrat"/>
                        </a:defRPr>
                      </a:pPr>
                      <a:r>
                        <a:t>3,671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52.4%</a:t>
                      </a:r>
                    </a:p>
                  </a:txBody>
                  <a:tcPr marL="0" marR="0" marT="0" marB="0">
                    <a:solidFill>
                      <a:srgbClr val="ECD3D9"/>
                    </a:solidFill>
                  </a:tcPr>
                </a:tc>
                <a:extLst>
                  <a:ext uri="{0D108BD9-81ED-4DB2-BD59-A6C34878D82A}">
                    <a16:rowId xmlns:a16="http://schemas.microsoft.com/office/drawing/2014/main" val="10027"/>
                  </a:ext>
                </a:extLst>
              </a:tr>
              <a:tr h="151200">
                <a:tc>
                  <a:txBody>
                    <a:bodyPr/>
                    <a:lstStyle/>
                    <a:p>
                      <a:pPr algn="l">
                        <a:defRPr sz="1000">
                          <a:latin typeface="Montserrat"/>
                        </a:defRPr>
                      </a:pPr>
                      <a:r>
                        <a:t>UMF 46 Acula</a:t>
                      </a:r>
                    </a:p>
                  </a:txBody>
                  <a:tcPr marL="0" marR="0" marT="0" marB="0">
                    <a:solidFill>
                      <a:srgbClr val="EFEFEF"/>
                    </a:solidFill>
                  </a:tcPr>
                </a:tc>
                <a:tc>
                  <a:txBody>
                    <a:bodyPr/>
                    <a:lstStyle/>
                    <a:p>
                      <a:pPr algn="ctr">
                        <a:defRPr sz="1000">
                          <a:latin typeface="Montserrat"/>
                        </a:defRPr>
                      </a:pPr>
                      <a:r>
                        <a:t>5,838</a:t>
                      </a:r>
                    </a:p>
                  </a:txBody>
                  <a:tcPr marL="0" marR="0" marT="0" marB="0">
                    <a:solidFill>
                      <a:srgbClr val="EFEFEF"/>
                    </a:solidFill>
                  </a:tcPr>
                </a:tc>
                <a:tc>
                  <a:txBody>
                    <a:bodyPr/>
                    <a:lstStyle/>
                    <a:p>
                      <a:pPr algn="ctr">
                        <a:defRPr sz="1000">
                          <a:latin typeface="Montserrat"/>
                        </a:defRPr>
                      </a:pPr>
                      <a:r>
                        <a:t>1,053</a:t>
                      </a:r>
                    </a:p>
                  </a:txBody>
                  <a:tcPr marL="0" marR="0" marT="0" marB="0">
                    <a:solidFill>
                      <a:srgbClr val="EFEFEF"/>
                    </a:solidFill>
                  </a:tcPr>
                </a:tc>
                <a:tc>
                  <a:txBody>
                    <a:bodyPr/>
                    <a:lstStyle/>
                    <a:p>
                      <a:pPr algn="ctr">
                        <a:defRPr sz="1000">
                          <a:latin typeface="Montserrat"/>
                        </a:defRPr>
                      </a:pPr>
                      <a:r>
                        <a:t>2,491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extLst>
                  <a:ext uri="{0D108BD9-81ED-4DB2-BD59-A6C34878D82A}">
                    <a16:rowId xmlns:a16="http://schemas.microsoft.com/office/drawing/2014/main" val="10028"/>
                  </a:ext>
                </a:extLst>
              </a:tr>
              <a:tr h="151200">
                <a:tc>
                  <a:txBody>
                    <a:bodyPr/>
                    <a:lstStyle/>
                    <a:p>
                      <a:pPr algn="l">
                        <a:defRPr sz="1000">
                          <a:latin typeface="Montserrat"/>
                        </a:defRPr>
                      </a:pPr>
                      <a:r>
                        <a:t>UMF 41 Otatitlán</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3,254</a:t>
                      </a:r>
                    </a:p>
                  </a:txBody>
                  <a:tcPr marL="0" marR="0" marT="0" marB="0">
                    <a:solidFill>
                      <a:srgbClr val="FFFFFF"/>
                    </a:solidFill>
                  </a:tcPr>
                </a:tc>
                <a:tc>
                  <a:txBody>
                    <a:bodyPr/>
                    <a:lstStyle/>
                    <a:p>
                      <a:pPr algn="ctr">
                        <a:defRPr sz="1000">
                          <a:latin typeface="Montserrat"/>
                        </a:defRPr>
                      </a:pPr>
                      <a:r>
                        <a:t>3,402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extLst>
                  <a:ext uri="{0D108BD9-81ED-4DB2-BD59-A6C34878D82A}">
                    <a16:rowId xmlns:a16="http://schemas.microsoft.com/office/drawing/2014/main" val="10029"/>
                  </a:ext>
                </a:extLst>
              </a:tr>
              <a:tr h="151200">
                <a:tc>
                  <a:txBody>
                    <a:bodyPr/>
                    <a:lstStyle/>
                    <a:p>
                      <a:pPr algn="l">
                        <a:defRPr sz="1000">
                          <a:latin typeface="Montserrat"/>
                        </a:defRPr>
                      </a:pPr>
                      <a:r>
                        <a:t>UMF 44 Tuxtilla</a:t>
                      </a:r>
                    </a:p>
                  </a:txBody>
                  <a:tcPr marL="0" marR="0" marT="0" marB="0">
                    <a:solidFill>
                      <a:srgbClr val="EFEFEF"/>
                    </a:solidFill>
                  </a:tcPr>
                </a:tc>
                <a:tc>
                  <a:txBody>
                    <a:bodyPr/>
                    <a:lstStyle/>
                    <a:p>
                      <a:pPr algn="ctr">
                        <a:defRPr sz="1000">
                          <a:latin typeface="Montserrat"/>
                        </a:defRPr>
                      </a:pPr>
                      <a:r>
                        <a:t>7,198</a:t>
                      </a:r>
                    </a:p>
                  </a:txBody>
                  <a:tcPr marL="0" marR="0" marT="0" marB="0">
                    <a:solidFill>
                      <a:srgbClr val="EFEFEF"/>
                    </a:solidFill>
                  </a:tcPr>
                </a:tc>
                <a:tc>
                  <a:txBody>
                    <a:bodyPr/>
                    <a:lstStyle/>
                    <a:p>
                      <a:pPr algn="ctr">
                        <a:defRPr sz="1000">
                          <a:latin typeface="Montserrat"/>
                        </a:defRPr>
                      </a:pPr>
                      <a:r>
                        <a:t>2,729</a:t>
                      </a:r>
                    </a:p>
                  </a:txBody>
                  <a:tcPr marL="0" marR="0" marT="0" marB="0">
                    <a:solidFill>
                      <a:srgbClr val="EFEFEF"/>
                    </a:solidFill>
                  </a:tcPr>
                </a:tc>
                <a:tc>
                  <a:txBody>
                    <a:bodyPr/>
                    <a:lstStyle/>
                    <a:p>
                      <a:pPr algn="ctr">
                        <a:defRPr sz="1000">
                          <a:latin typeface="Montserrat"/>
                        </a:defRPr>
                      </a:pPr>
                      <a:r>
                        <a:t>2,417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extLst>
                  <a:ext uri="{0D108BD9-81ED-4DB2-BD59-A6C34878D82A}">
                    <a16:rowId xmlns:a16="http://schemas.microsoft.com/office/drawing/2014/main" val="10030"/>
                  </a:ext>
                </a:extLst>
              </a:tr>
              <a:tr h="151200">
                <a:tc>
                  <a:txBody>
                    <a:bodyPr/>
                    <a:lstStyle/>
                    <a:p>
                      <a:pPr algn="l">
                        <a:defRPr sz="1000">
                          <a:latin typeface="Montserrat"/>
                        </a:defRPr>
                      </a:pPr>
                      <a:r>
                        <a:t>UMF 43 Tres Valles</a:t>
                      </a:r>
                    </a:p>
                  </a:txBody>
                  <a:tcPr marL="0" marR="0" marT="0" marB="0">
                    <a:solidFill>
                      <a:srgbClr val="FFFFFF"/>
                    </a:solidFill>
                  </a:tcPr>
                </a:tc>
                <a:tc>
                  <a:txBody>
                    <a:bodyPr/>
                    <a:lstStyle/>
                    <a:p>
                      <a:pPr algn="ctr">
                        <a:defRPr sz="1000">
                          <a:latin typeface="Montserrat"/>
                        </a:defRPr>
                      </a:pPr>
                      <a:r>
                        <a:t>36,294</a:t>
                      </a:r>
                    </a:p>
                  </a:txBody>
                  <a:tcPr marL="0" marR="0" marT="0" marB="0">
                    <a:solidFill>
                      <a:srgbClr val="FFFFFF"/>
                    </a:solidFill>
                  </a:tcPr>
                </a:tc>
                <a:tc>
                  <a:txBody>
                    <a:bodyPr/>
                    <a:lstStyle/>
                    <a:p>
                      <a:pPr algn="ctr">
                        <a:defRPr sz="1000">
                          <a:latin typeface="Montserrat"/>
                        </a:defRPr>
                      </a:pPr>
                      <a:r>
                        <a:t>7,568</a:t>
                      </a:r>
                    </a:p>
                  </a:txBody>
                  <a:tcPr marL="0" marR="0" marT="0" marB="0">
                    <a:solidFill>
                      <a:srgbClr val="FFFFFF"/>
                    </a:solidFill>
                  </a:tcPr>
                </a:tc>
                <a:tc>
                  <a:txBody>
                    <a:bodyPr/>
                    <a:lstStyle/>
                    <a:p>
                      <a:pPr algn="ctr">
                        <a:defRPr sz="1000">
                          <a:latin typeface="Montserrat"/>
                        </a:defRPr>
                      </a:pPr>
                      <a:r>
                        <a:t>19,695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52.4%</a:t>
                      </a:r>
                    </a:p>
                  </a:txBody>
                  <a:tcPr marL="0" marR="0" marT="0" marB="0">
                    <a:solidFill>
                      <a:srgbClr val="ECD3D9"/>
                    </a:solidFill>
                  </a:tcPr>
                </a:tc>
                <a:extLst>
                  <a:ext uri="{0D108BD9-81ED-4DB2-BD59-A6C34878D82A}">
                    <a16:rowId xmlns:a16="http://schemas.microsoft.com/office/drawing/2014/main" val="10031"/>
                  </a:ext>
                </a:extLst>
              </a:tr>
              <a:tr h="151200">
                <a:tc>
                  <a:txBody>
                    <a:bodyPr/>
                    <a:lstStyle/>
                    <a:p>
                      <a:pPr algn="l">
                        <a:defRPr sz="1000">
                          <a:latin typeface="Montserrat"/>
                        </a:defRPr>
                      </a:pPr>
                      <a:r>
                        <a:t>UMF 49 Gabino Barreda</a:t>
                      </a:r>
                    </a:p>
                  </a:txBody>
                  <a:tcPr marL="0" marR="0" marT="0" marB="0">
                    <a:solidFill>
                      <a:srgbClr val="EFEFEF"/>
                    </a:solidFill>
                  </a:tcPr>
                </a:tc>
                <a:tc>
                  <a:txBody>
                    <a:bodyPr/>
                    <a:lstStyle/>
                    <a:p>
                      <a:pPr algn="ctr">
                        <a:defRPr sz="1000">
                          <a:latin typeface="Montserrat"/>
                        </a:defRPr>
                      </a:pPr>
                      <a:r>
                        <a:t>5,701</a:t>
                      </a:r>
                    </a:p>
                  </a:txBody>
                  <a:tcPr marL="0" marR="0" marT="0" marB="0">
                    <a:solidFill>
                      <a:srgbClr val="EFEFEF"/>
                    </a:solidFill>
                  </a:tcPr>
                </a:tc>
                <a:tc>
                  <a:txBody>
                    <a:bodyPr/>
                    <a:lstStyle/>
                    <a:p>
                      <a:pPr algn="ctr">
                        <a:defRPr sz="1000">
                          <a:latin typeface="Montserrat"/>
                        </a:defRPr>
                      </a:pPr>
                      <a:r>
                        <a:t>2,510</a:t>
                      </a:r>
                    </a:p>
                  </a:txBody>
                  <a:tcPr marL="0" marR="0" marT="0" marB="0">
                    <a:solidFill>
                      <a:srgbClr val="EFEFEF"/>
                    </a:solidFill>
                  </a:tcPr>
                </a:tc>
                <a:tc>
                  <a:txBody>
                    <a:bodyPr/>
                    <a:lstStyle/>
                    <a:p>
                      <a:pPr algn="ctr">
                        <a:defRPr sz="1000">
                          <a:latin typeface="Montserrat"/>
                        </a:defRPr>
                      </a:pPr>
                      <a:r>
                        <a:t>3,327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47.5%</a:t>
                      </a:r>
                    </a:p>
                  </a:txBody>
                  <a:tcPr marL="0" marR="0" marT="0" marB="0">
                    <a:solidFill>
                      <a:srgbClr val="ECD3D9"/>
                    </a:solidFill>
                  </a:tcPr>
                </a:tc>
                <a:extLst>
                  <a:ext uri="{0D108BD9-81ED-4DB2-BD59-A6C34878D82A}">
                    <a16:rowId xmlns:a16="http://schemas.microsoft.com/office/drawing/2014/main" val="10032"/>
                  </a:ext>
                </a:extLst>
              </a:tr>
              <a:tr h="151200">
                <a:tc>
                  <a:txBody>
                    <a:bodyPr/>
                    <a:lstStyle/>
                    <a:p>
                      <a:pPr algn="l">
                        <a:defRPr sz="1000">
                          <a:latin typeface="Montserrat"/>
                        </a:defRPr>
                      </a:pPr>
                      <a:r>
                        <a:t>UMF 50 Cuatotolapan</a:t>
                      </a:r>
                    </a:p>
                  </a:txBody>
                  <a:tcPr marL="0" marR="0" marT="0" marB="0">
                    <a:solidFill>
                      <a:srgbClr val="FFFFFF"/>
                    </a:solidFill>
                  </a:tcPr>
                </a:tc>
                <a:tc>
                  <a:txBody>
                    <a:bodyPr/>
                    <a:lstStyle/>
                    <a:p>
                      <a:pPr algn="ctr">
                        <a:defRPr sz="1000">
                          <a:latin typeface="Montserrat"/>
                        </a:defRPr>
                      </a:pPr>
                      <a:r>
                        <a:t>5,340</a:t>
                      </a:r>
                    </a:p>
                  </a:txBody>
                  <a:tcPr marL="0" marR="0" marT="0" marB="0">
                    <a:solidFill>
                      <a:srgbClr val="FFFFFF"/>
                    </a:solidFill>
                  </a:tcPr>
                </a:tc>
                <a:tc>
                  <a:txBody>
                    <a:bodyPr/>
                    <a:lstStyle/>
                    <a:p>
                      <a:pPr algn="ctr">
                        <a:defRPr sz="1000">
                          <a:latin typeface="Montserrat"/>
                        </a:defRPr>
                      </a:pPr>
                      <a:r>
                        <a:t>588</a:t>
                      </a:r>
                    </a:p>
                  </a:txBody>
                  <a:tcPr marL="0" marR="0" marT="0" marB="0">
                    <a:solidFill>
                      <a:srgbClr val="FFFFFF"/>
                    </a:solidFill>
                  </a:tcPr>
                </a:tc>
                <a:tc>
                  <a:txBody>
                    <a:bodyPr/>
                    <a:lstStyle/>
                    <a:p>
                      <a:pPr algn="ctr">
                        <a:defRPr sz="1000">
                          <a:latin typeface="Montserrat"/>
                        </a:defRPr>
                      </a:pPr>
                      <a:r>
                        <a:t>1,965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28.1%</a:t>
                      </a:r>
                    </a:p>
                  </a:txBody>
                  <a:tcPr marL="0" marR="0" marT="0" marB="0">
                    <a:solidFill>
                      <a:srgbClr val="ECD3D9"/>
                    </a:solidFill>
                  </a:tcPr>
                </a:tc>
                <a:extLst>
                  <a:ext uri="{0D108BD9-81ED-4DB2-BD59-A6C34878D82A}">
                    <a16:rowId xmlns:a16="http://schemas.microsoft.com/office/drawing/2014/main" val="10033"/>
                  </a:ext>
                </a:extLst>
              </a:tr>
              <a:tr h="151200">
                <a:tc>
                  <a:txBody>
                    <a:bodyPr/>
                    <a:lstStyle/>
                    <a:p>
                      <a:pPr algn="l">
                        <a:defRPr sz="1000">
                          <a:latin typeface="Montserrat"/>
                        </a:defRPr>
                      </a:pPr>
                      <a:r>
                        <a:t>UMF 4 Cd. Mendoza</a:t>
                      </a:r>
                    </a:p>
                  </a:txBody>
                  <a:tcPr marL="0" marR="0" marT="0" marB="0">
                    <a:solidFill>
                      <a:srgbClr val="EFEFEF"/>
                    </a:solidFill>
                  </a:tcPr>
                </a:tc>
                <a:tc>
                  <a:txBody>
                    <a:bodyPr/>
                    <a:lstStyle/>
                    <a:p>
                      <a:pPr algn="ctr">
                        <a:defRPr sz="1000">
                          <a:latin typeface="Montserrat"/>
                        </a:defRPr>
                      </a:pPr>
                      <a:r>
                        <a:t>59,832</a:t>
                      </a:r>
                    </a:p>
                  </a:txBody>
                  <a:tcPr marL="0" marR="0" marT="0" marB="0">
                    <a:solidFill>
                      <a:srgbClr val="EFEFEF"/>
                    </a:solidFill>
                  </a:tcPr>
                </a:tc>
                <a:tc>
                  <a:txBody>
                    <a:bodyPr/>
                    <a:lstStyle/>
                    <a:p>
                      <a:pPr algn="ctr">
                        <a:defRPr sz="1000">
                          <a:latin typeface="Montserrat"/>
                        </a:defRPr>
                      </a:pPr>
                      <a:r>
                        <a:t>7,690</a:t>
                      </a:r>
                    </a:p>
                  </a:txBody>
                  <a:tcPr marL="0" marR="0" marT="0" marB="0">
                    <a:solidFill>
                      <a:srgbClr val="EFEFEF"/>
                    </a:solidFill>
                  </a:tcPr>
                </a:tc>
                <a:tc>
                  <a:txBody>
                    <a:bodyPr/>
                    <a:lstStyle/>
                    <a:p>
                      <a:pPr algn="ctr">
                        <a:defRPr sz="1000">
                          <a:latin typeface="Montserrat"/>
                        </a:defRPr>
                      </a:pPr>
                      <a:r>
                        <a:t>25,127</a:t>
                      </a:r>
                    </a:p>
                  </a:txBody>
                  <a:tcPr marL="0" marR="0" marT="0" marB="0">
                    <a:solidFill>
                      <a:srgbClr val="ECD3D9"/>
                    </a:solidFill>
                  </a:tcPr>
                </a:tc>
                <a:tc>
                  <a:txBody>
                    <a:bodyPr/>
                    <a:lstStyle/>
                    <a:p>
                      <a:pPr algn="ctr">
                        <a:defRPr sz="1000">
                          <a:latin typeface="Montserrat"/>
                        </a:defRPr>
                      </a:pPr>
                      <a:r>
                        <a:t>58,000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extLst>
                  <a:ext uri="{0D108BD9-81ED-4DB2-BD59-A6C34878D82A}">
                    <a16:rowId xmlns:a16="http://schemas.microsoft.com/office/drawing/2014/main" val="10034"/>
                  </a:ext>
                </a:extLst>
              </a:tr>
              <a:tr h="151200">
                <a:tc>
                  <a:txBody>
                    <a:bodyPr/>
                    <a:lstStyle/>
                    <a:p>
                      <a:pPr algn="l">
                        <a:defRPr sz="1000">
                          <a:latin typeface="Montserrat"/>
                        </a:defRPr>
                      </a:pPr>
                      <a:r>
                        <a:t>UMF 54 Ixmatlahuaca</a:t>
                      </a:r>
                    </a:p>
                  </a:txBody>
                  <a:tcPr marL="0" marR="0" marT="0" marB="0">
                    <a:solidFill>
                      <a:srgbClr val="FFFFFF"/>
                    </a:solidFill>
                  </a:tcPr>
                </a:tc>
                <a:tc>
                  <a:txBody>
                    <a:bodyPr/>
                    <a:lstStyle/>
                    <a:p>
                      <a:pPr algn="ctr">
                        <a:defRPr sz="1000">
                          <a:latin typeface="Montserrat"/>
                        </a:defRPr>
                      </a:pPr>
                      <a:r>
                        <a:t>3,384</a:t>
                      </a:r>
                    </a:p>
                  </a:txBody>
                  <a:tcPr marL="0" marR="0" marT="0" marB="0">
                    <a:solidFill>
                      <a:srgbClr val="FFFFFF"/>
                    </a:solidFill>
                  </a:tcPr>
                </a:tc>
                <a:tc>
                  <a:txBody>
                    <a:bodyPr/>
                    <a:lstStyle/>
                    <a:p>
                      <a:pPr algn="ctr">
                        <a:defRPr sz="1000">
                          <a:latin typeface="Montserrat"/>
                        </a:defRPr>
                      </a:pPr>
                      <a:r>
                        <a:t>1,163</a:t>
                      </a:r>
                    </a:p>
                  </a:txBody>
                  <a:tcPr marL="0" marR="0" marT="0" marB="0">
                    <a:solidFill>
                      <a:srgbClr val="FFFFFF"/>
                    </a:solidFill>
                  </a:tcPr>
                </a:tc>
                <a:tc>
                  <a:txBody>
                    <a:bodyPr/>
                    <a:lstStyle/>
                    <a:p>
                      <a:pPr algn="ctr">
                        <a:defRPr sz="1000">
                          <a:latin typeface="Montserrat"/>
                        </a:defRPr>
                      </a:pPr>
                      <a:r>
                        <a:t>2,134</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extLst>
                  <a:ext uri="{0D108BD9-81ED-4DB2-BD59-A6C34878D82A}">
                    <a16:rowId xmlns:a16="http://schemas.microsoft.com/office/drawing/2014/main" val="10035"/>
                  </a:ext>
                </a:extLst>
              </a:tr>
              <a:tr h="151200">
                <a:tc>
                  <a:txBody>
                    <a:bodyPr/>
                    <a:lstStyle/>
                    <a:p>
                      <a:pPr algn="l">
                        <a:defRPr sz="1000">
                          <a:latin typeface="Montserrat"/>
                        </a:defRPr>
                      </a:pPr>
                      <a:r>
                        <a:t>UMF 48 Carlos Carrillo</a:t>
                      </a:r>
                    </a:p>
                  </a:txBody>
                  <a:tcPr marL="0" marR="0" marT="0" marB="0">
                    <a:solidFill>
                      <a:srgbClr val="EFEFEF"/>
                    </a:solidFill>
                  </a:tcPr>
                </a:tc>
                <a:tc>
                  <a:txBody>
                    <a:bodyPr/>
                    <a:lstStyle/>
                    <a:p>
                      <a:pPr algn="ctr">
                        <a:defRPr sz="1000">
                          <a:latin typeface="Montserrat"/>
                        </a:defRPr>
                      </a:pPr>
                      <a:r>
                        <a:t>34,311</a:t>
                      </a:r>
                    </a:p>
                  </a:txBody>
                  <a:tcPr marL="0" marR="0" marT="0" marB="0">
                    <a:solidFill>
                      <a:srgbClr val="EFEFEF"/>
                    </a:solidFill>
                  </a:tcPr>
                </a:tc>
                <a:tc>
                  <a:txBody>
                    <a:bodyPr/>
                    <a:lstStyle/>
                    <a:p>
                      <a:pPr algn="ctr">
                        <a:defRPr sz="1000">
                          <a:latin typeface="Montserrat"/>
                        </a:defRPr>
                      </a:pPr>
                      <a:r>
                        <a:t>5,903</a:t>
                      </a:r>
                    </a:p>
                  </a:txBody>
                  <a:tcPr marL="0" marR="0" marT="0" marB="0">
                    <a:solidFill>
                      <a:srgbClr val="EFEFEF"/>
                    </a:solidFill>
                  </a:tcPr>
                </a:tc>
                <a:tc>
                  <a:txBody>
                    <a:bodyPr/>
                    <a:lstStyle/>
                    <a:p>
                      <a:pPr algn="ctr">
                        <a:defRPr sz="1000">
                          <a:latin typeface="Montserrat"/>
                        </a:defRPr>
                      </a:pPr>
                      <a:r>
                        <a:t>14,414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extLst>
                  <a:ext uri="{0D108BD9-81ED-4DB2-BD59-A6C34878D82A}">
                    <a16:rowId xmlns:a16="http://schemas.microsoft.com/office/drawing/2014/main" val="10036"/>
                  </a:ext>
                </a:extLst>
              </a:tr>
              <a:tr h="151200">
                <a:tc>
                  <a:txBody>
                    <a:bodyPr/>
                    <a:lstStyle/>
                    <a:p>
                      <a:pPr algn="l">
                        <a:defRPr sz="1000">
                          <a:latin typeface="Montserrat"/>
                        </a:defRPr>
                      </a:pPr>
                      <a:r>
                        <a:t>UMF 30 Piedras Negras</a:t>
                      </a:r>
                    </a:p>
                  </a:txBody>
                  <a:tcPr marL="0" marR="0" marT="0" marB="0">
                    <a:solidFill>
                      <a:srgbClr val="FFFFFF"/>
                    </a:solidFill>
                  </a:tcPr>
                </a:tc>
                <a:tc>
                  <a:txBody>
                    <a:bodyPr/>
                    <a:lstStyle/>
                    <a:p>
                      <a:pPr algn="ctr">
                        <a:defRPr sz="1000">
                          <a:latin typeface="Montserrat"/>
                        </a:defRPr>
                      </a:pPr>
                      <a:r>
                        <a:t>3,231</a:t>
                      </a:r>
                    </a:p>
                  </a:txBody>
                  <a:tcPr marL="0" marR="0" marT="0" marB="0">
                    <a:solidFill>
                      <a:srgbClr val="FFFFFF"/>
                    </a:solidFill>
                  </a:tcPr>
                </a:tc>
                <a:tc>
                  <a:txBody>
                    <a:bodyPr/>
                    <a:lstStyle/>
                    <a:p>
                      <a:pPr algn="ctr">
                        <a:defRPr sz="1000">
                          <a:latin typeface="Montserrat"/>
                        </a:defRPr>
                      </a:pPr>
                      <a:r>
                        <a:t>120</a:t>
                      </a:r>
                    </a:p>
                  </a:txBody>
                  <a:tcPr marL="0" marR="0" marT="0" marB="0">
                    <a:solidFill>
                      <a:srgbClr val="FFFFFF"/>
                    </a:solidFill>
                  </a:tcPr>
                </a:tc>
                <a:tc>
                  <a:txBody>
                    <a:bodyPr/>
                    <a:lstStyle/>
                    <a:p>
                      <a:pPr algn="ctr">
                        <a:defRPr sz="1000">
                          <a:latin typeface="Montserrat"/>
                        </a:defRPr>
                      </a:pPr>
                      <a:r>
                        <a:t>1,395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27.9%</a:t>
                      </a:r>
                    </a:p>
                  </a:txBody>
                  <a:tcPr marL="0" marR="0" marT="0" marB="0">
                    <a:solidFill>
                      <a:srgbClr val="ECD3D9"/>
                    </a:solidFill>
                  </a:tcPr>
                </a:tc>
                <a:extLst>
                  <a:ext uri="{0D108BD9-81ED-4DB2-BD59-A6C34878D82A}">
                    <a16:rowId xmlns:a16="http://schemas.microsoft.com/office/drawing/2014/main" val="10037"/>
                  </a:ext>
                </a:extLst>
              </a:tr>
              <a:tr h="151200">
                <a:tc>
                  <a:txBody>
                    <a:bodyPr/>
                    <a:lstStyle/>
                    <a:p>
                      <a:pPr algn="l">
                        <a:defRPr sz="1000">
                          <a:latin typeface="Montserrat"/>
                        </a:defRPr>
                      </a:pPr>
                      <a:r>
                        <a:t>UMF 27 Papantla</a:t>
                      </a:r>
                    </a:p>
                  </a:txBody>
                  <a:tcPr marL="0" marR="0" marT="0" marB="0">
                    <a:solidFill>
                      <a:srgbClr val="EFEFEF"/>
                    </a:solidFill>
                  </a:tcPr>
                </a:tc>
                <a:tc>
                  <a:txBody>
                    <a:bodyPr/>
                    <a:lstStyle/>
                    <a:p>
                      <a:pPr algn="ctr">
                        <a:defRPr sz="1000">
                          <a:latin typeface="Montserrat"/>
                        </a:defRPr>
                      </a:pPr>
                      <a:r>
                        <a:t>35,112</a:t>
                      </a:r>
                    </a:p>
                  </a:txBody>
                  <a:tcPr marL="0" marR="0" marT="0" marB="0">
                    <a:solidFill>
                      <a:srgbClr val="EFEFEF"/>
                    </a:solidFill>
                  </a:tcPr>
                </a:tc>
                <a:tc>
                  <a:txBody>
                    <a:bodyPr/>
                    <a:lstStyle/>
                    <a:p>
                      <a:pPr algn="ctr">
                        <a:defRPr sz="1000">
                          <a:latin typeface="Montserrat"/>
                        </a:defRPr>
                      </a:pPr>
                      <a:r>
                        <a:t>-53</a:t>
                      </a:r>
                    </a:p>
                  </a:txBody>
                  <a:tcPr marL="0" marR="0" marT="0" marB="0">
                    <a:solidFill>
                      <a:srgbClr val="EFEFEF"/>
                    </a:solidFill>
                  </a:tcPr>
                </a:tc>
                <a:tc>
                  <a:txBody>
                    <a:bodyPr/>
                    <a:lstStyle/>
                    <a:p>
                      <a:pPr algn="ctr">
                        <a:defRPr sz="1000">
                          <a:latin typeface="Montserrat"/>
                        </a:defRPr>
                      </a:pPr>
                      <a:r>
                        <a:t>16,796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extLst>
                  <a:ext uri="{0D108BD9-81ED-4DB2-BD59-A6C34878D82A}">
                    <a16:rowId xmlns:a16="http://schemas.microsoft.com/office/drawing/2014/main" val="1003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4817344" cy="400110"/>
          </a:xfrm>
          <a:prstGeom prst="rect">
            <a:avLst/>
          </a:prstGeom>
          <a:noFill/>
        </p:spPr>
        <p:txBody>
          <a:bodyPr wrap="none">
            <a:spAutoFit/>
          </a:bodyPr>
          <a:lstStyle/>
          <a:p>
            <a:pPr algn="l">
              <a:defRPr sz="2000" b="1">
                <a:solidFill>
                  <a:srgbClr val="5B0F00"/>
                </a:solidFill>
                <a:latin typeface="Montserrat"/>
              </a:defRPr>
            </a:pPr>
            <a:r>
              <a:rPr dirty="0"/>
              <a:t>88 UMF de lunes a </a:t>
            </a:r>
            <a:r>
              <a:rPr dirty="0" err="1"/>
              <a:t>viernes</a:t>
            </a:r>
            <a:r>
              <a:rPr lang="es-MX" dirty="0"/>
              <a:t> ( 2 de 3)</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63398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51 Acayucan</a:t>
                      </a:r>
                    </a:p>
                  </a:txBody>
                  <a:tcPr marL="0" marR="0" marT="0" marB="0">
                    <a:solidFill>
                      <a:srgbClr val="FFFFFF"/>
                    </a:solidFill>
                  </a:tcPr>
                </a:tc>
                <a:tc>
                  <a:txBody>
                    <a:bodyPr/>
                    <a:lstStyle/>
                    <a:p>
                      <a:pPr algn="ctr">
                        <a:defRPr sz="1000">
                          <a:latin typeface="Montserrat"/>
                        </a:defRPr>
                      </a:pPr>
                      <a:r>
                        <a:t>72,884</a:t>
                      </a:r>
                    </a:p>
                  </a:txBody>
                  <a:tcPr marL="0" marR="0" marT="0" marB="0">
                    <a:solidFill>
                      <a:srgbClr val="FFFFFF"/>
                    </a:solidFill>
                  </a:tcPr>
                </a:tc>
                <a:tc>
                  <a:txBody>
                    <a:bodyPr/>
                    <a:lstStyle/>
                    <a:p>
                      <a:pPr algn="ctr">
                        <a:defRPr sz="1000">
                          <a:latin typeface="Montserrat"/>
                        </a:defRPr>
                      </a:pPr>
                      <a:r>
                        <a:t>5,871</a:t>
                      </a:r>
                    </a:p>
                  </a:txBody>
                  <a:tcPr marL="0" marR="0" marT="0" marB="0">
                    <a:solidFill>
                      <a:srgbClr val="FFFFFF"/>
                    </a:solidFill>
                  </a:tcPr>
                </a:tc>
                <a:tc>
                  <a:txBody>
                    <a:bodyPr/>
                    <a:lstStyle/>
                    <a:p>
                      <a:pPr algn="ctr">
                        <a:defRPr sz="1000">
                          <a:latin typeface="Montserrat"/>
                        </a:defRPr>
                      </a:pPr>
                      <a:r>
                        <a:t>32,098</a:t>
                      </a:r>
                    </a:p>
                  </a:txBody>
                  <a:tcPr marL="0" marR="0" marT="0" marB="0">
                    <a:solidFill>
                      <a:srgbClr val="ECD3D9"/>
                    </a:solidFill>
                  </a:tcPr>
                </a:tc>
                <a:tc>
                  <a:txBody>
                    <a:bodyPr/>
                    <a:lstStyle/>
                    <a:p>
                      <a:pPr algn="ctr">
                        <a:defRPr sz="1000">
                          <a:latin typeface="Montserrat"/>
                        </a:defRPr>
                      </a:pPr>
                      <a:r>
                        <a:t>68,000</a:t>
                      </a:r>
                    </a:p>
                  </a:txBody>
                  <a:tcPr marL="0" marR="0" marT="0" marB="0">
                    <a:solidFill>
                      <a:srgbClr val="ECD3D9"/>
                    </a:solidFill>
                  </a:tcPr>
                </a:tc>
                <a:tc>
                  <a:txBody>
                    <a:bodyPr/>
                    <a:lstStyle/>
                    <a:p>
                      <a:pPr algn="ctr">
                        <a:defRPr sz="1000">
                          <a:latin typeface="Montserrat"/>
                        </a:defRPr>
                      </a:pPr>
                      <a:r>
                        <a:t>47.2%</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68 Veracruz</a:t>
                      </a:r>
                    </a:p>
                  </a:txBody>
                  <a:tcPr marL="0" marR="0" marT="0" marB="0">
                    <a:solidFill>
                      <a:srgbClr val="EFEFEF"/>
                    </a:solidFill>
                  </a:tcPr>
                </a:tc>
                <a:tc>
                  <a:txBody>
                    <a:bodyPr/>
                    <a:lstStyle/>
                    <a:p>
                      <a:pPr algn="ctr">
                        <a:defRPr sz="1000">
                          <a:latin typeface="Montserrat"/>
                        </a:defRPr>
                      </a:pPr>
                      <a:r>
                        <a:t>235,764</a:t>
                      </a:r>
                    </a:p>
                  </a:txBody>
                  <a:tcPr marL="0" marR="0" marT="0" marB="0">
                    <a:solidFill>
                      <a:srgbClr val="EFEFEF"/>
                    </a:solidFill>
                  </a:tcPr>
                </a:tc>
                <a:tc>
                  <a:txBody>
                    <a:bodyPr/>
                    <a:lstStyle/>
                    <a:p>
                      <a:pPr algn="ctr">
                        <a:defRPr sz="1000">
                          <a:latin typeface="Montserrat"/>
                        </a:defRPr>
                      </a:pPr>
                      <a:r>
                        <a:t>8,808</a:t>
                      </a:r>
                    </a:p>
                  </a:txBody>
                  <a:tcPr marL="0" marR="0" marT="0" marB="0">
                    <a:solidFill>
                      <a:srgbClr val="EFEFEF"/>
                    </a:solidFill>
                  </a:tcPr>
                </a:tc>
                <a:tc>
                  <a:txBody>
                    <a:bodyPr/>
                    <a:lstStyle/>
                    <a:p>
                      <a:pPr algn="ctr">
                        <a:defRPr sz="1000">
                          <a:latin typeface="Montserrat"/>
                        </a:defRPr>
                      </a:pPr>
                      <a:r>
                        <a:t>108,150</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53 Aguadulce</a:t>
                      </a:r>
                    </a:p>
                  </a:txBody>
                  <a:tcPr marL="0" marR="0" marT="0" marB="0">
                    <a:solidFill>
                      <a:srgbClr val="FFFFFF"/>
                    </a:solidFill>
                  </a:tcPr>
                </a:tc>
                <a:tc>
                  <a:txBody>
                    <a:bodyPr/>
                    <a:lstStyle/>
                    <a:p>
                      <a:pPr algn="ctr">
                        <a:defRPr sz="1000">
                          <a:latin typeface="Montserrat"/>
                        </a:defRPr>
                      </a:pPr>
                      <a:r>
                        <a:t>15,260</a:t>
                      </a:r>
                    </a:p>
                  </a:txBody>
                  <a:tcPr marL="0" marR="0" marT="0" marB="0">
                    <a:solidFill>
                      <a:srgbClr val="FFFFFF"/>
                    </a:solidFill>
                  </a:tcPr>
                </a:tc>
                <a:tc>
                  <a:txBody>
                    <a:bodyPr/>
                    <a:lstStyle/>
                    <a:p>
                      <a:pPr algn="ctr">
                        <a:defRPr sz="1000">
                          <a:latin typeface="Montserrat"/>
                        </a:defRPr>
                      </a:pPr>
                      <a:r>
                        <a:t>1,120</a:t>
                      </a:r>
                    </a:p>
                  </a:txBody>
                  <a:tcPr marL="0" marR="0" marT="0" marB="0">
                    <a:solidFill>
                      <a:srgbClr val="FFFFFF"/>
                    </a:solidFill>
                  </a:tcPr>
                </a:tc>
                <a:tc>
                  <a:txBody>
                    <a:bodyPr/>
                    <a:lstStyle/>
                    <a:p>
                      <a:pPr algn="ctr">
                        <a:defRPr sz="1000">
                          <a:latin typeface="Montserrat"/>
                        </a:defRPr>
                      </a:pPr>
                      <a:r>
                        <a:t>7,781</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48.6%</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29 Los Naranjos</a:t>
                      </a:r>
                    </a:p>
                  </a:txBody>
                  <a:tcPr marL="0" marR="0" marT="0" marB="0">
                    <a:solidFill>
                      <a:srgbClr val="EFEFEF"/>
                    </a:solidFill>
                  </a:tcPr>
                </a:tc>
                <a:tc>
                  <a:txBody>
                    <a:bodyPr/>
                    <a:lstStyle/>
                    <a:p>
                      <a:pPr algn="ctr">
                        <a:defRPr sz="1000">
                          <a:latin typeface="Montserrat"/>
                        </a:defRPr>
                      </a:pPr>
                      <a:r>
                        <a:t>3,712</a:t>
                      </a:r>
                    </a:p>
                  </a:txBody>
                  <a:tcPr marL="0" marR="0" marT="0" marB="0">
                    <a:solidFill>
                      <a:srgbClr val="EFEFEF"/>
                    </a:solidFill>
                  </a:tcPr>
                </a:tc>
                <a:tc>
                  <a:txBody>
                    <a:bodyPr/>
                    <a:lstStyle/>
                    <a:p>
                      <a:pPr algn="ctr">
                        <a:defRPr sz="1000">
                          <a:latin typeface="Montserrat"/>
                        </a:defRPr>
                      </a:pPr>
                      <a:r>
                        <a:t>2,556</a:t>
                      </a:r>
                    </a:p>
                  </a:txBody>
                  <a:tcPr marL="0" marR="0" marT="0" marB="0">
                    <a:solidFill>
                      <a:srgbClr val="EFEFEF"/>
                    </a:solidFill>
                  </a:tcPr>
                </a:tc>
                <a:tc>
                  <a:txBody>
                    <a:bodyPr/>
                    <a:lstStyle/>
                    <a:p>
                      <a:pPr algn="ctr">
                        <a:defRPr sz="1000">
                          <a:latin typeface="Montserrat"/>
                        </a:defRPr>
                      </a:pPr>
                      <a:r>
                        <a:t>2,356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47.1%</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6 Ixhuatlancillo</a:t>
                      </a:r>
                    </a:p>
                  </a:txBody>
                  <a:tcPr marL="0" marR="0" marT="0" marB="0">
                    <a:solidFill>
                      <a:srgbClr val="FFFFFF"/>
                    </a:solidFill>
                  </a:tcPr>
                </a:tc>
                <a:tc>
                  <a:txBody>
                    <a:bodyPr/>
                    <a:lstStyle/>
                    <a:p>
                      <a:pPr algn="ctr">
                        <a:defRPr sz="1000">
                          <a:latin typeface="Montserrat"/>
                        </a:defRPr>
                      </a:pPr>
                      <a:r>
                        <a:t>98,938</a:t>
                      </a:r>
                    </a:p>
                  </a:txBody>
                  <a:tcPr marL="0" marR="0" marT="0" marB="0">
                    <a:solidFill>
                      <a:srgbClr val="FFFFFF"/>
                    </a:solidFill>
                  </a:tcPr>
                </a:tc>
                <a:tc>
                  <a:txBody>
                    <a:bodyPr/>
                    <a:lstStyle/>
                    <a:p>
                      <a:pPr algn="ctr">
                        <a:defRPr sz="1000">
                          <a:latin typeface="Montserrat"/>
                        </a:defRPr>
                      </a:pPr>
                      <a:r>
                        <a:t>11,925</a:t>
                      </a:r>
                    </a:p>
                  </a:txBody>
                  <a:tcPr marL="0" marR="0" marT="0" marB="0">
                    <a:solidFill>
                      <a:srgbClr val="FFFFFF"/>
                    </a:solidFill>
                  </a:tcPr>
                </a:tc>
                <a:tc>
                  <a:txBody>
                    <a:bodyPr/>
                    <a:lstStyle/>
                    <a:p>
                      <a:pPr algn="ctr">
                        <a:defRPr sz="1000">
                          <a:latin typeface="Montserrat"/>
                        </a:defRPr>
                      </a:pPr>
                      <a:r>
                        <a:t>40,768</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32 Alvarado</a:t>
                      </a:r>
                    </a:p>
                  </a:txBody>
                  <a:tcPr marL="0" marR="0" marT="0" marB="0">
                    <a:solidFill>
                      <a:srgbClr val="EFEFEF"/>
                    </a:solidFill>
                  </a:tcPr>
                </a:tc>
                <a:tc>
                  <a:txBody>
                    <a:bodyPr/>
                    <a:lstStyle/>
                    <a:p>
                      <a:pPr algn="ctr">
                        <a:defRPr sz="1000">
                          <a:latin typeface="Montserrat"/>
                        </a:defRPr>
                      </a:pPr>
                      <a:r>
                        <a:t>35,696</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17,379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46.2%</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21 Zempoala</a:t>
                      </a:r>
                    </a:p>
                  </a:txBody>
                  <a:tcPr marL="0" marR="0" marT="0" marB="0">
                    <a:solidFill>
                      <a:srgbClr val="FFFFFF"/>
                    </a:solidFill>
                  </a:tcPr>
                </a:tc>
                <a:tc>
                  <a:txBody>
                    <a:bodyPr/>
                    <a:lstStyle/>
                    <a:p>
                      <a:pPr algn="ctr">
                        <a:defRPr sz="1000">
                          <a:latin typeface="Montserrat"/>
                        </a:defRPr>
                      </a:pPr>
                      <a:r>
                        <a:t>20,661</a:t>
                      </a:r>
                    </a:p>
                  </a:txBody>
                  <a:tcPr marL="0" marR="0" marT="0" marB="0">
                    <a:solidFill>
                      <a:srgbClr val="FFFFFF"/>
                    </a:solidFill>
                  </a:tcPr>
                </a:tc>
                <a:tc>
                  <a:txBody>
                    <a:bodyPr/>
                    <a:lstStyle/>
                    <a:p>
                      <a:pPr algn="ctr">
                        <a:defRPr sz="1000">
                          <a:latin typeface="Montserrat"/>
                        </a:defRPr>
                      </a:pPr>
                      <a:r>
                        <a:t>221</a:t>
                      </a:r>
                    </a:p>
                  </a:txBody>
                  <a:tcPr marL="0" marR="0" marT="0" marB="0">
                    <a:solidFill>
                      <a:srgbClr val="FFFFFF"/>
                    </a:solidFill>
                  </a:tcPr>
                </a:tc>
                <a:tc>
                  <a:txBody>
                    <a:bodyPr/>
                    <a:lstStyle/>
                    <a:p>
                      <a:pPr algn="ctr">
                        <a:defRPr sz="1000">
                          <a:latin typeface="Montserrat"/>
                        </a:defRPr>
                      </a:pPr>
                      <a:r>
                        <a:t>9,154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57 Jaltipan</a:t>
                      </a:r>
                    </a:p>
                  </a:txBody>
                  <a:tcPr marL="0" marR="0" marT="0" marB="0">
                    <a:solidFill>
                      <a:srgbClr val="EFEFEF"/>
                    </a:solidFill>
                  </a:tcPr>
                </a:tc>
                <a:tc>
                  <a:txBody>
                    <a:bodyPr/>
                    <a:lstStyle/>
                    <a:p>
                      <a:pPr algn="ctr">
                        <a:defRPr sz="1000">
                          <a:latin typeface="Montserrat"/>
                        </a:defRPr>
                      </a:pPr>
                      <a:r>
                        <a:t>33,958</a:t>
                      </a:r>
                    </a:p>
                  </a:txBody>
                  <a:tcPr marL="0" marR="0" marT="0" marB="0">
                    <a:solidFill>
                      <a:srgbClr val="EFEFEF"/>
                    </a:solidFill>
                  </a:tcPr>
                </a:tc>
                <a:tc>
                  <a:txBody>
                    <a:bodyPr/>
                    <a:lstStyle/>
                    <a:p>
                      <a:pPr algn="ctr">
                        <a:defRPr sz="1000">
                          <a:latin typeface="Montserrat"/>
                        </a:defRPr>
                      </a:pPr>
                      <a:r>
                        <a:t>10,363</a:t>
                      </a:r>
                    </a:p>
                  </a:txBody>
                  <a:tcPr marL="0" marR="0" marT="0" marB="0">
                    <a:solidFill>
                      <a:srgbClr val="EFEFEF"/>
                    </a:solidFill>
                  </a:tcPr>
                </a:tc>
                <a:tc>
                  <a:txBody>
                    <a:bodyPr/>
                    <a:lstStyle/>
                    <a:p>
                      <a:pPr algn="ctr">
                        <a:defRPr sz="1000">
                          <a:latin typeface="Montserrat"/>
                        </a:defRPr>
                      </a:pPr>
                      <a:r>
                        <a:t>14,135</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47.1%</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34 Catemaco</a:t>
                      </a:r>
                    </a:p>
                  </a:txBody>
                  <a:tcPr marL="0" marR="0" marT="0" marB="0">
                    <a:solidFill>
                      <a:srgbClr val="FFFFFF"/>
                    </a:solidFill>
                  </a:tcPr>
                </a:tc>
                <a:tc>
                  <a:txBody>
                    <a:bodyPr/>
                    <a:lstStyle/>
                    <a:p>
                      <a:pPr algn="ctr">
                        <a:defRPr sz="1000">
                          <a:latin typeface="Montserrat"/>
                        </a:defRPr>
                      </a:pPr>
                      <a:r>
                        <a:t>12,063</a:t>
                      </a:r>
                    </a:p>
                  </a:txBody>
                  <a:tcPr marL="0" marR="0" marT="0" marB="0">
                    <a:solidFill>
                      <a:srgbClr val="FFFFFF"/>
                    </a:solidFill>
                  </a:tcPr>
                </a:tc>
                <a:tc>
                  <a:txBody>
                    <a:bodyPr/>
                    <a:lstStyle/>
                    <a:p>
                      <a:pPr algn="ctr">
                        <a:defRPr sz="1000">
                          <a:latin typeface="Montserrat"/>
                        </a:defRPr>
                      </a:pPr>
                      <a:r>
                        <a:t>178</a:t>
                      </a:r>
                    </a:p>
                  </a:txBody>
                  <a:tcPr marL="0" marR="0" marT="0" marB="0">
                    <a:solidFill>
                      <a:srgbClr val="FFFFFF"/>
                    </a:solidFill>
                  </a:tcPr>
                </a:tc>
                <a:tc>
                  <a:txBody>
                    <a:bodyPr/>
                    <a:lstStyle/>
                    <a:p>
                      <a:pPr algn="ctr">
                        <a:defRPr sz="1000">
                          <a:latin typeface="Montserrat"/>
                        </a:defRPr>
                      </a:pPr>
                      <a:r>
                        <a:t>7,791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59.9%</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59 Choapas</a:t>
                      </a:r>
                    </a:p>
                  </a:txBody>
                  <a:tcPr marL="0" marR="0" marT="0" marB="0">
                    <a:solidFill>
                      <a:srgbClr val="EFEFEF"/>
                    </a:solidFill>
                  </a:tcPr>
                </a:tc>
                <a:tc>
                  <a:txBody>
                    <a:bodyPr/>
                    <a:lstStyle/>
                    <a:p>
                      <a:pPr algn="ctr">
                        <a:defRPr sz="1000">
                          <a:latin typeface="Montserrat"/>
                        </a:defRPr>
                      </a:pPr>
                      <a:r>
                        <a:t>15,984</a:t>
                      </a:r>
                    </a:p>
                  </a:txBody>
                  <a:tcPr marL="0" marR="0" marT="0" marB="0">
                    <a:solidFill>
                      <a:srgbClr val="EFEFEF"/>
                    </a:solidFill>
                  </a:tcPr>
                </a:tc>
                <a:tc>
                  <a:txBody>
                    <a:bodyPr/>
                    <a:lstStyle/>
                    <a:p>
                      <a:pPr algn="ctr">
                        <a:defRPr sz="1000">
                          <a:latin typeface="Montserrat"/>
                        </a:defRPr>
                      </a:pPr>
                      <a:r>
                        <a:t>349</a:t>
                      </a:r>
                    </a:p>
                  </a:txBody>
                  <a:tcPr marL="0" marR="0" marT="0" marB="0">
                    <a:solidFill>
                      <a:srgbClr val="EFEFEF"/>
                    </a:solidFill>
                  </a:tcPr>
                </a:tc>
                <a:tc>
                  <a:txBody>
                    <a:bodyPr/>
                    <a:lstStyle/>
                    <a:p>
                      <a:pPr algn="ctr">
                        <a:defRPr sz="1000">
                          <a:latin typeface="Montserrat"/>
                        </a:defRPr>
                      </a:pPr>
                      <a:r>
                        <a:t>7,822</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46.0%</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58 Huatusco</a:t>
                      </a:r>
                    </a:p>
                  </a:txBody>
                  <a:tcPr marL="0" marR="0" marT="0" marB="0">
                    <a:solidFill>
                      <a:srgbClr val="FFFFFF"/>
                    </a:solidFill>
                  </a:tcPr>
                </a:tc>
                <a:tc>
                  <a:txBody>
                    <a:bodyPr/>
                    <a:lstStyle/>
                    <a:p>
                      <a:pPr algn="ctr">
                        <a:defRPr sz="1000">
                          <a:latin typeface="Montserrat"/>
                        </a:defRPr>
                      </a:pPr>
                      <a:r>
                        <a:t>18,211</a:t>
                      </a:r>
                    </a:p>
                  </a:txBody>
                  <a:tcPr marL="0" marR="0" marT="0" marB="0">
                    <a:solidFill>
                      <a:srgbClr val="FFFFFF"/>
                    </a:solidFill>
                  </a:tcPr>
                </a:tc>
                <a:tc>
                  <a:txBody>
                    <a:bodyPr/>
                    <a:lstStyle/>
                    <a:p>
                      <a:pPr algn="ctr">
                        <a:defRPr sz="1000">
                          <a:latin typeface="Montserrat"/>
                        </a:defRPr>
                      </a:pPr>
                      <a:r>
                        <a:t>-212</a:t>
                      </a:r>
                    </a:p>
                  </a:txBody>
                  <a:tcPr marL="0" marR="0" marT="0" marB="0">
                    <a:solidFill>
                      <a:srgbClr val="FFFFFF"/>
                    </a:solidFill>
                  </a:tcPr>
                </a:tc>
                <a:tc>
                  <a:txBody>
                    <a:bodyPr/>
                    <a:lstStyle/>
                    <a:p>
                      <a:pPr algn="ctr">
                        <a:defRPr sz="1000">
                          <a:latin typeface="Montserrat"/>
                        </a:defRPr>
                      </a:pPr>
                      <a:r>
                        <a:t>10,687</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56.2%</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56 V. Islas</a:t>
                      </a:r>
                    </a:p>
                  </a:txBody>
                  <a:tcPr marL="0" marR="0" marT="0" marB="0">
                    <a:solidFill>
                      <a:srgbClr val="EFEFEF"/>
                    </a:solidFill>
                  </a:tcPr>
                </a:tc>
                <a:tc>
                  <a:txBody>
                    <a:bodyPr/>
                    <a:lstStyle/>
                    <a:p>
                      <a:pPr algn="ctr">
                        <a:defRPr sz="1000">
                          <a:latin typeface="Montserrat"/>
                        </a:defRPr>
                      </a:pPr>
                      <a:r>
                        <a:t>35,173</a:t>
                      </a:r>
                    </a:p>
                  </a:txBody>
                  <a:tcPr marL="0" marR="0" marT="0" marB="0">
                    <a:solidFill>
                      <a:srgbClr val="EFEFEF"/>
                    </a:solidFill>
                  </a:tcPr>
                </a:tc>
                <a:tc>
                  <a:txBody>
                    <a:bodyPr/>
                    <a:lstStyle/>
                    <a:p>
                      <a:pPr algn="ctr">
                        <a:defRPr sz="1000">
                          <a:latin typeface="Montserrat"/>
                        </a:defRPr>
                      </a:pPr>
                      <a:r>
                        <a:t>9,682</a:t>
                      </a:r>
                    </a:p>
                  </a:txBody>
                  <a:tcPr marL="0" marR="0" marT="0" marB="0">
                    <a:solidFill>
                      <a:srgbClr val="EFEFEF"/>
                    </a:solidFill>
                  </a:tcPr>
                </a:tc>
                <a:tc>
                  <a:txBody>
                    <a:bodyPr/>
                    <a:lstStyle/>
                    <a:p>
                      <a:pPr algn="ctr">
                        <a:defRPr sz="1000">
                          <a:latin typeface="Montserrat"/>
                        </a:defRPr>
                      </a:pPr>
                      <a:r>
                        <a:t>17,188</a:t>
                      </a:r>
                    </a:p>
                  </a:txBody>
                  <a:tcPr marL="0" marR="0" marT="0" marB="0">
                    <a:solidFill>
                      <a:srgbClr val="ECD3D9"/>
                    </a:solidFill>
                  </a:tcPr>
                </a:tc>
                <a:tc>
                  <a:txBody>
                    <a:bodyPr/>
                    <a:lstStyle/>
                    <a:p>
                      <a:pPr algn="ctr">
                        <a:defRPr sz="1000">
                          <a:latin typeface="Montserrat"/>
                        </a:defRPr>
                      </a:pPr>
                      <a:r>
                        <a:t>34,000</a:t>
                      </a:r>
                    </a:p>
                  </a:txBody>
                  <a:tcPr marL="0" marR="0" marT="0" marB="0">
                    <a:solidFill>
                      <a:srgbClr val="ECD3D9"/>
                    </a:solidFill>
                  </a:tcPr>
                </a:tc>
                <a:tc>
                  <a:txBody>
                    <a:bodyPr/>
                    <a:lstStyle/>
                    <a:p>
                      <a:pPr algn="ctr">
                        <a:defRPr sz="1000">
                          <a:latin typeface="Montserrat"/>
                        </a:defRPr>
                      </a:pPr>
                      <a:r>
                        <a:t>50.6%</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a:latin typeface="Montserrat"/>
                        </a:defRPr>
                      </a:pPr>
                      <a:r>
                        <a:t>UMF 75 Pueblo Viejo</a:t>
                      </a:r>
                    </a:p>
                  </a:txBody>
                  <a:tcPr marL="0" marR="0" marT="0" marB="0">
                    <a:solidFill>
                      <a:srgbClr val="FFFFFF"/>
                    </a:solidFill>
                  </a:tcPr>
                </a:tc>
                <a:tc>
                  <a:txBody>
                    <a:bodyPr/>
                    <a:lstStyle/>
                    <a:p>
                      <a:pPr algn="ctr">
                        <a:defRPr sz="1000">
                          <a:latin typeface="Montserrat"/>
                        </a:defRPr>
                      </a:pPr>
                      <a:r>
                        <a:t>14,268</a:t>
                      </a:r>
                    </a:p>
                  </a:txBody>
                  <a:tcPr marL="0" marR="0" marT="0" marB="0">
                    <a:solidFill>
                      <a:srgbClr val="FFFFFF"/>
                    </a:solidFill>
                  </a:tcPr>
                </a:tc>
                <a:tc>
                  <a:txBody>
                    <a:bodyPr/>
                    <a:lstStyle/>
                    <a:p>
                      <a:pPr algn="ctr">
                        <a:defRPr sz="1000">
                          <a:latin typeface="Montserrat"/>
                        </a:defRPr>
                      </a:pPr>
                      <a:r>
                        <a:t>3,968</a:t>
                      </a:r>
                    </a:p>
                  </a:txBody>
                  <a:tcPr marL="0" marR="0" marT="0" marB="0">
                    <a:solidFill>
                      <a:srgbClr val="FFFFFF"/>
                    </a:solidFill>
                  </a:tcPr>
                </a:tc>
                <a:tc>
                  <a:txBody>
                    <a:bodyPr/>
                    <a:lstStyle/>
                    <a:p>
                      <a:pPr algn="ctr">
                        <a:defRPr sz="1000">
                          <a:latin typeface="Montserrat"/>
                        </a:defRPr>
                      </a:pPr>
                      <a:r>
                        <a:t>8,730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62.4%</a:t>
                      </a:r>
                    </a:p>
                  </a:txBody>
                  <a:tcPr marL="0" marR="0" marT="0" marB="0">
                    <a:solidFill>
                      <a:srgbClr val="ECD3D9"/>
                    </a:solidFill>
                  </a:tcPr>
                </a:tc>
                <a:extLst>
                  <a:ext uri="{0D108BD9-81ED-4DB2-BD59-A6C34878D82A}">
                    <a16:rowId xmlns:a16="http://schemas.microsoft.com/office/drawing/2014/main" val="10013"/>
                  </a:ext>
                </a:extLst>
              </a:tr>
              <a:tr h="151200">
                <a:tc>
                  <a:txBody>
                    <a:bodyPr/>
                    <a:lstStyle/>
                    <a:p>
                      <a:pPr algn="l">
                        <a:defRPr sz="1000">
                          <a:latin typeface="Montserrat"/>
                        </a:defRPr>
                      </a:pPr>
                      <a:r>
                        <a:t>UMF 74 Tampico Alto</a:t>
                      </a:r>
                    </a:p>
                  </a:txBody>
                  <a:tcPr marL="0" marR="0" marT="0" marB="0">
                    <a:solidFill>
                      <a:srgbClr val="EFEFEF"/>
                    </a:solidFill>
                  </a:tcPr>
                </a:tc>
                <a:tc>
                  <a:txBody>
                    <a:bodyPr/>
                    <a:lstStyle/>
                    <a:p>
                      <a:pPr algn="ctr">
                        <a:defRPr sz="1000">
                          <a:latin typeface="Montserrat"/>
                        </a:defRPr>
                      </a:pPr>
                      <a:r>
                        <a:t>7,898</a:t>
                      </a:r>
                    </a:p>
                  </a:txBody>
                  <a:tcPr marL="0" marR="0" marT="0" marB="0">
                    <a:solidFill>
                      <a:srgbClr val="EFEFEF"/>
                    </a:solidFill>
                  </a:tcPr>
                </a:tc>
                <a:tc>
                  <a:txBody>
                    <a:bodyPr/>
                    <a:lstStyle/>
                    <a:p>
                      <a:pPr algn="ctr">
                        <a:defRPr sz="1000">
                          <a:latin typeface="Montserrat"/>
                        </a:defRPr>
                      </a:pPr>
                      <a:r>
                        <a:t>3,111</a:t>
                      </a:r>
                    </a:p>
                  </a:txBody>
                  <a:tcPr marL="0" marR="0" marT="0" marB="0">
                    <a:solidFill>
                      <a:srgbClr val="EFEFEF"/>
                    </a:solidFill>
                  </a:tcPr>
                </a:tc>
                <a:tc>
                  <a:txBody>
                    <a:bodyPr/>
                    <a:lstStyle/>
                    <a:p>
                      <a:pPr algn="ctr">
                        <a:defRPr sz="1000">
                          <a:latin typeface="Montserrat"/>
                        </a:defRPr>
                      </a:pPr>
                      <a:r>
                        <a:t>4,424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49.2%</a:t>
                      </a:r>
                    </a:p>
                  </a:txBody>
                  <a:tcPr marL="0" marR="0" marT="0" marB="0">
                    <a:solidFill>
                      <a:srgbClr val="ECD3D9"/>
                    </a:solidFill>
                  </a:tcPr>
                </a:tc>
                <a:extLst>
                  <a:ext uri="{0D108BD9-81ED-4DB2-BD59-A6C34878D82A}">
                    <a16:rowId xmlns:a16="http://schemas.microsoft.com/office/drawing/2014/main" val="10014"/>
                  </a:ext>
                </a:extLst>
              </a:tr>
              <a:tr h="151200">
                <a:tc>
                  <a:txBody>
                    <a:bodyPr/>
                    <a:lstStyle/>
                    <a:p>
                      <a:pPr algn="l">
                        <a:defRPr sz="1000">
                          <a:latin typeface="Montserrat"/>
                        </a:defRPr>
                      </a:pPr>
                      <a:r>
                        <a:t>UMF 67 Jalapa</a:t>
                      </a:r>
                    </a:p>
                  </a:txBody>
                  <a:tcPr marL="0" marR="0" marT="0" marB="0">
                    <a:solidFill>
                      <a:srgbClr val="FFFFFF"/>
                    </a:solidFill>
                  </a:tcPr>
                </a:tc>
                <a:tc>
                  <a:txBody>
                    <a:bodyPr/>
                    <a:lstStyle/>
                    <a:p>
                      <a:pPr algn="ctr">
                        <a:defRPr sz="1000">
                          <a:latin typeface="Montserrat"/>
                        </a:defRPr>
                      </a:pPr>
                      <a:r>
                        <a:t>24,319</a:t>
                      </a:r>
                    </a:p>
                  </a:txBody>
                  <a:tcPr marL="0" marR="0" marT="0" marB="0">
                    <a:solidFill>
                      <a:srgbClr val="FFFFFF"/>
                    </a:solidFill>
                  </a:tcPr>
                </a:tc>
                <a:tc>
                  <a:txBody>
                    <a:bodyPr/>
                    <a:lstStyle/>
                    <a:p>
                      <a:pPr algn="ctr">
                        <a:defRPr sz="1000">
                          <a:latin typeface="Montserrat"/>
                        </a:defRPr>
                      </a:pPr>
                      <a:r>
                        <a:t>5,740</a:t>
                      </a:r>
                    </a:p>
                  </a:txBody>
                  <a:tcPr marL="0" marR="0" marT="0" marB="0">
                    <a:solidFill>
                      <a:srgbClr val="FFFFFF"/>
                    </a:solidFill>
                  </a:tcPr>
                </a:tc>
                <a:tc>
                  <a:txBody>
                    <a:bodyPr/>
                    <a:lstStyle/>
                    <a:p>
                      <a:pPr algn="ctr">
                        <a:defRPr sz="1000">
                          <a:latin typeface="Montserrat"/>
                        </a:defRPr>
                      </a:pPr>
                      <a:r>
                        <a:t>11,388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45.5%</a:t>
                      </a:r>
                    </a:p>
                  </a:txBody>
                  <a:tcPr marL="0" marR="0" marT="0" marB="0">
                    <a:solidFill>
                      <a:srgbClr val="ECD3D9"/>
                    </a:solidFill>
                  </a:tcPr>
                </a:tc>
                <a:extLst>
                  <a:ext uri="{0D108BD9-81ED-4DB2-BD59-A6C34878D82A}">
                    <a16:rowId xmlns:a16="http://schemas.microsoft.com/office/drawing/2014/main" val="10015"/>
                  </a:ext>
                </a:extLst>
              </a:tr>
              <a:tr h="151200">
                <a:tc>
                  <a:txBody>
                    <a:bodyPr/>
                    <a:lstStyle/>
                    <a:p>
                      <a:pPr algn="l">
                        <a:defRPr sz="1000">
                          <a:latin typeface="Montserrat"/>
                        </a:defRPr>
                      </a:pPr>
                      <a:r>
                        <a:t>UMF 46 Gutiérrez</a:t>
                      </a:r>
                    </a:p>
                  </a:txBody>
                  <a:tcPr marL="0" marR="0" marT="0" marB="0">
                    <a:solidFill>
                      <a:srgbClr val="EFEFEF"/>
                    </a:solidFill>
                  </a:tcPr>
                </a:tc>
                <a:tc>
                  <a:txBody>
                    <a:bodyPr/>
                    <a:lstStyle/>
                    <a:p>
                      <a:pPr algn="ctr">
                        <a:defRPr sz="1000">
                          <a:latin typeface="Montserrat"/>
                        </a:defRPr>
                      </a:pPr>
                      <a:r>
                        <a:t>8,266</a:t>
                      </a:r>
                    </a:p>
                  </a:txBody>
                  <a:tcPr marL="0" marR="0" marT="0" marB="0">
                    <a:solidFill>
                      <a:srgbClr val="EFEFEF"/>
                    </a:solidFill>
                  </a:tcPr>
                </a:tc>
                <a:tc>
                  <a:txBody>
                    <a:bodyPr/>
                    <a:lstStyle/>
                    <a:p>
                      <a:pPr algn="ctr">
                        <a:defRPr sz="1000">
                          <a:latin typeface="Montserrat"/>
                        </a:defRPr>
                      </a:pPr>
                      <a:r>
                        <a:t>2,407</a:t>
                      </a:r>
                    </a:p>
                  </a:txBody>
                  <a:tcPr marL="0" marR="0" marT="0" marB="0">
                    <a:solidFill>
                      <a:srgbClr val="EFEFEF"/>
                    </a:solidFill>
                  </a:tcPr>
                </a:tc>
                <a:tc>
                  <a:txBody>
                    <a:bodyPr/>
                    <a:lstStyle/>
                    <a:p>
                      <a:pPr algn="ctr">
                        <a:defRPr sz="1000">
                          <a:latin typeface="Montserrat"/>
                        </a:defRPr>
                      </a:pPr>
                      <a:r>
                        <a:t>5,107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56.7%</a:t>
                      </a:r>
                    </a:p>
                  </a:txBody>
                  <a:tcPr marL="0" marR="0" marT="0" marB="0">
                    <a:solidFill>
                      <a:srgbClr val="ECD3D9"/>
                    </a:solidFill>
                  </a:tcPr>
                </a:tc>
                <a:extLst>
                  <a:ext uri="{0D108BD9-81ED-4DB2-BD59-A6C34878D82A}">
                    <a16:rowId xmlns:a16="http://schemas.microsoft.com/office/drawing/2014/main" val="10016"/>
                  </a:ext>
                </a:extLst>
              </a:tr>
              <a:tr h="151200">
                <a:tc>
                  <a:txBody>
                    <a:bodyPr/>
                    <a:lstStyle/>
                    <a:p>
                      <a:pPr algn="l">
                        <a:defRPr sz="1000">
                          <a:latin typeface="Montserrat"/>
                        </a:defRPr>
                      </a:pPr>
                      <a:r>
                        <a:t>UMF 44 Tlapacoyan</a:t>
                      </a:r>
                    </a:p>
                  </a:txBody>
                  <a:tcPr marL="0" marR="0" marT="0" marB="0">
                    <a:solidFill>
                      <a:srgbClr val="FFFFFF"/>
                    </a:solidFill>
                  </a:tcPr>
                </a:tc>
                <a:tc>
                  <a:txBody>
                    <a:bodyPr/>
                    <a:lstStyle/>
                    <a:p>
                      <a:pPr algn="ctr">
                        <a:defRPr sz="1000">
                          <a:latin typeface="Montserrat"/>
                        </a:defRPr>
                      </a:pPr>
                      <a:r>
                        <a:t>12,286</a:t>
                      </a:r>
                    </a:p>
                  </a:txBody>
                  <a:tcPr marL="0" marR="0" marT="0" marB="0">
                    <a:solidFill>
                      <a:srgbClr val="FFFFFF"/>
                    </a:solidFill>
                  </a:tcPr>
                </a:tc>
                <a:tc>
                  <a:txBody>
                    <a:bodyPr/>
                    <a:lstStyle/>
                    <a:p>
                      <a:pPr algn="ctr">
                        <a:defRPr sz="1000">
                          <a:latin typeface="Montserrat"/>
                        </a:defRPr>
                      </a:pPr>
                      <a:r>
                        <a:t>1,781</a:t>
                      </a:r>
                    </a:p>
                  </a:txBody>
                  <a:tcPr marL="0" marR="0" marT="0" marB="0">
                    <a:solidFill>
                      <a:srgbClr val="FFFFFF"/>
                    </a:solidFill>
                  </a:tcPr>
                </a:tc>
                <a:tc>
                  <a:txBody>
                    <a:bodyPr/>
                    <a:lstStyle/>
                    <a:p>
                      <a:pPr algn="ctr">
                        <a:defRPr sz="1000">
                          <a:latin typeface="Montserrat"/>
                        </a:defRPr>
                      </a:pPr>
                      <a:r>
                        <a:t>5,850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45.0%</a:t>
                      </a:r>
                    </a:p>
                  </a:txBody>
                  <a:tcPr marL="0" marR="0" marT="0" marB="0">
                    <a:solidFill>
                      <a:srgbClr val="ECD3D9"/>
                    </a:solidFill>
                  </a:tcPr>
                </a:tc>
                <a:extLst>
                  <a:ext uri="{0D108BD9-81ED-4DB2-BD59-A6C34878D82A}">
                    <a16:rowId xmlns:a16="http://schemas.microsoft.com/office/drawing/2014/main" val="10017"/>
                  </a:ext>
                </a:extLst>
              </a:tr>
              <a:tr h="151200">
                <a:tc>
                  <a:txBody>
                    <a:bodyPr/>
                    <a:lstStyle/>
                    <a:p>
                      <a:pPr algn="l">
                        <a:defRPr sz="1000">
                          <a:latin typeface="Montserrat"/>
                        </a:defRPr>
                      </a:pPr>
                      <a:r>
                        <a:t>UMF 45 Misantla</a:t>
                      </a:r>
                    </a:p>
                  </a:txBody>
                  <a:tcPr marL="0" marR="0" marT="0" marB="0">
                    <a:solidFill>
                      <a:srgbClr val="EFEFEF"/>
                    </a:solidFill>
                  </a:tcPr>
                </a:tc>
                <a:tc>
                  <a:txBody>
                    <a:bodyPr/>
                    <a:lstStyle/>
                    <a:p>
                      <a:pPr algn="ctr">
                        <a:defRPr sz="1000">
                          <a:latin typeface="Montserrat"/>
                        </a:defRPr>
                      </a:pPr>
                      <a:r>
                        <a:t>19,542</a:t>
                      </a:r>
                    </a:p>
                  </a:txBody>
                  <a:tcPr marL="0" marR="0" marT="0" marB="0">
                    <a:solidFill>
                      <a:srgbClr val="EFEFEF"/>
                    </a:solidFill>
                  </a:tcPr>
                </a:tc>
                <a:tc>
                  <a:txBody>
                    <a:bodyPr/>
                    <a:lstStyle/>
                    <a:p>
                      <a:pPr algn="ctr">
                        <a:defRPr sz="1000">
                          <a:latin typeface="Montserrat"/>
                        </a:defRPr>
                      </a:pPr>
                      <a:r>
                        <a:t>4,521</a:t>
                      </a:r>
                    </a:p>
                  </a:txBody>
                  <a:tcPr marL="0" marR="0" marT="0" marB="0">
                    <a:solidFill>
                      <a:srgbClr val="EFEFEF"/>
                    </a:solidFill>
                  </a:tcPr>
                </a:tc>
                <a:tc>
                  <a:txBody>
                    <a:bodyPr/>
                    <a:lstStyle/>
                    <a:p>
                      <a:pPr algn="ctr">
                        <a:defRPr sz="1000">
                          <a:latin typeface="Montserrat"/>
                        </a:defRPr>
                      </a:pPr>
                      <a:r>
                        <a:t>10,198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extLst>
                  <a:ext uri="{0D108BD9-81ED-4DB2-BD59-A6C34878D82A}">
                    <a16:rowId xmlns:a16="http://schemas.microsoft.com/office/drawing/2014/main" val="10018"/>
                  </a:ext>
                </a:extLst>
              </a:tr>
              <a:tr h="151200">
                <a:tc>
                  <a:txBody>
                    <a:bodyPr/>
                    <a:lstStyle/>
                    <a:p>
                      <a:pPr algn="l">
                        <a:defRPr sz="1000">
                          <a:latin typeface="Montserrat"/>
                        </a:defRPr>
                      </a:pPr>
                      <a:r>
                        <a:t>UMF 43 Altotonga</a:t>
                      </a:r>
                    </a:p>
                  </a:txBody>
                  <a:tcPr marL="0" marR="0" marT="0" marB="0">
                    <a:solidFill>
                      <a:srgbClr val="FFFFFF"/>
                    </a:solidFill>
                  </a:tcPr>
                </a:tc>
                <a:tc>
                  <a:txBody>
                    <a:bodyPr/>
                    <a:lstStyle/>
                    <a:p>
                      <a:pPr algn="ctr">
                        <a:defRPr sz="1000">
                          <a:latin typeface="Montserrat"/>
                        </a:defRPr>
                      </a:pPr>
                      <a:r>
                        <a:t>10,673</a:t>
                      </a:r>
                    </a:p>
                  </a:txBody>
                  <a:tcPr marL="0" marR="0" marT="0" marB="0">
                    <a:solidFill>
                      <a:srgbClr val="FFFFFF"/>
                    </a:solidFill>
                  </a:tcPr>
                </a:tc>
                <a:tc>
                  <a:txBody>
                    <a:bodyPr/>
                    <a:lstStyle/>
                    <a:p>
                      <a:pPr algn="ctr">
                        <a:defRPr sz="1000">
                          <a:latin typeface="Montserrat"/>
                        </a:defRPr>
                      </a:pPr>
                      <a:r>
                        <a:t>231</a:t>
                      </a:r>
                    </a:p>
                  </a:txBody>
                  <a:tcPr marL="0" marR="0" marT="0" marB="0">
                    <a:solidFill>
                      <a:srgbClr val="FFFFFF"/>
                    </a:solidFill>
                  </a:tcPr>
                </a:tc>
                <a:tc>
                  <a:txBody>
                    <a:bodyPr/>
                    <a:lstStyle/>
                    <a:p>
                      <a:pPr algn="ctr">
                        <a:defRPr sz="1000">
                          <a:latin typeface="Montserrat"/>
                        </a:defRPr>
                      </a:pPr>
                      <a:r>
                        <a:t>5,214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extLst>
                  <a:ext uri="{0D108BD9-81ED-4DB2-BD59-A6C34878D82A}">
                    <a16:rowId xmlns:a16="http://schemas.microsoft.com/office/drawing/2014/main" val="10019"/>
                  </a:ext>
                </a:extLst>
              </a:tr>
              <a:tr h="151200">
                <a:tc>
                  <a:txBody>
                    <a:bodyPr/>
                    <a:lstStyle/>
                    <a:p>
                      <a:pPr algn="l">
                        <a:defRPr sz="1000">
                          <a:latin typeface="Montserrat"/>
                        </a:defRPr>
                      </a:pPr>
                      <a:r>
                        <a:t>UMF 39 Paso Ovejas</a:t>
                      </a:r>
                    </a:p>
                  </a:txBody>
                  <a:tcPr marL="0" marR="0" marT="0" marB="0">
                    <a:solidFill>
                      <a:srgbClr val="EFEFEF"/>
                    </a:solidFill>
                  </a:tcPr>
                </a:tc>
                <a:tc>
                  <a:txBody>
                    <a:bodyPr/>
                    <a:lstStyle/>
                    <a:p>
                      <a:pPr algn="ctr">
                        <a:defRPr sz="1000">
                          <a:latin typeface="Montserrat"/>
                        </a:defRPr>
                      </a:pPr>
                      <a:r>
                        <a:t>21,990</a:t>
                      </a:r>
                    </a:p>
                  </a:txBody>
                  <a:tcPr marL="0" marR="0" marT="0" marB="0">
                    <a:solidFill>
                      <a:srgbClr val="EFEFEF"/>
                    </a:solidFill>
                  </a:tcPr>
                </a:tc>
                <a:tc>
                  <a:txBody>
                    <a:bodyPr/>
                    <a:lstStyle/>
                    <a:p>
                      <a:pPr algn="ctr">
                        <a:defRPr sz="1000">
                          <a:latin typeface="Montserrat"/>
                        </a:defRPr>
                      </a:pPr>
                      <a:r>
                        <a:t>2,136</a:t>
                      </a:r>
                    </a:p>
                  </a:txBody>
                  <a:tcPr marL="0" marR="0" marT="0" marB="0">
                    <a:solidFill>
                      <a:srgbClr val="EFEFEF"/>
                    </a:solidFill>
                  </a:tcPr>
                </a:tc>
                <a:tc>
                  <a:txBody>
                    <a:bodyPr/>
                    <a:lstStyle/>
                    <a:p>
                      <a:pPr algn="ctr">
                        <a:defRPr sz="1000">
                          <a:latin typeface="Montserrat"/>
                        </a:defRPr>
                      </a:pPr>
                      <a:r>
                        <a:t>9,974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extLst>
                  <a:ext uri="{0D108BD9-81ED-4DB2-BD59-A6C34878D82A}">
                    <a16:rowId xmlns:a16="http://schemas.microsoft.com/office/drawing/2014/main" val="10020"/>
                  </a:ext>
                </a:extLst>
              </a:tr>
              <a:tr h="151200">
                <a:tc>
                  <a:txBody>
                    <a:bodyPr/>
                    <a:lstStyle/>
                    <a:p>
                      <a:pPr algn="l">
                        <a:defRPr sz="1000">
                          <a:latin typeface="Montserrat"/>
                        </a:defRPr>
                      </a:pPr>
                      <a:r>
                        <a:t>UMF 37 Rinconada</a:t>
                      </a:r>
                    </a:p>
                  </a:txBody>
                  <a:tcPr marL="0" marR="0" marT="0" marB="0">
                    <a:solidFill>
                      <a:srgbClr val="FFFFFF"/>
                    </a:solidFill>
                  </a:tcPr>
                </a:tc>
                <a:tc>
                  <a:txBody>
                    <a:bodyPr/>
                    <a:lstStyle/>
                    <a:p>
                      <a:pPr algn="ctr">
                        <a:defRPr sz="1000">
                          <a:latin typeface="Montserrat"/>
                        </a:defRPr>
                      </a:pPr>
                      <a:r>
                        <a:t>11,823</a:t>
                      </a:r>
                    </a:p>
                  </a:txBody>
                  <a:tcPr marL="0" marR="0" marT="0" marB="0">
                    <a:solidFill>
                      <a:srgbClr val="FFFFFF"/>
                    </a:solidFill>
                  </a:tcPr>
                </a:tc>
                <a:tc>
                  <a:txBody>
                    <a:bodyPr/>
                    <a:lstStyle/>
                    <a:p>
                      <a:pPr algn="ctr">
                        <a:defRPr sz="1000">
                          <a:latin typeface="Montserrat"/>
                        </a:defRPr>
                      </a:pPr>
                      <a:r>
                        <a:t>1,595</a:t>
                      </a:r>
                    </a:p>
                  </a:txBody>
                  <a:tcPr marL="0" marR="0" marT="0" marB="0">
                    <a:solidFill>
                      <a:srgbClr val="FFFFFF"/>
                    </a:solidFill>
                  </a:tcPr>
                </a:tc>
                <a:tc>
                  <a:txBody>
                    <a:bodyPr/>
                    <a:lstStyle/>
                    <a:p>
                      <a:pPr algn="ctr">
                        <a:defRPr sz="1000">
                          <a:latin typeface="Montserrat"/>
                        </a:defRPr>
                      </a:pPr>
                      <a:r>
                        <a:t>6,056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46.6%</a:t>
                      </a:r>
                    </a:p>
                  </a:txBody>
                  <a:tcPr marL="0" marR="0" marT="0" marB="0">
                    <a:solidFill>
                      <a:srgbClr val="ECD3D9"/>
                    </a:solidFill>
                  </a:tcPr>
                </a:tc>
                <a:extLst>
                  <a:ext uri="{0D108BD9-81ED-4DB2-BD59-A6C34878D82A}">
                    <a16:rowId xmlns:a16="http://schemas.microsoft.com/office/drawing/2014/main" val="10021"/>
                  </a:ext>
                </a:extLst>
              </a:tr>
              <a:tr h="151200">
                <a:tc>
                  <a:txBody>
                    <a:bodyPr/>
                    <a:lstStyle/>
                    <a:p>
                      <a:pPr algn="l">
                        <a:defRPr sz="1000">
                          <a:latin typeface="Montserrat"/>
                        </a:defRPr>
                      </a:pPr>
                      <a:r>
                        <a:t>UMF 48 Tamiahua</a:t>
                      </a:r>
                    </a:p>
                  </a:txBody>
                  <a:tcPr marL="0" marR="0" marT="0" marB="0">
                    <a:solidFill>
                      <a:srgbClr val="EFEFEF"/>
                    </a:solidFill>
                  </a:tcPr>
                </a:tc>
                <a:tc>
                  <a:txBody>
                    <a:bodyPr/>
                    <a:lstStyle/>
                    <a:p>
                      <a:pPr algn="ctr">
                        <a:defRPr sz="1000">
                          <a:latin typeface="Montserrat"/>
                        </a:defRPr>
                      </a:pPr>
                      <a:r>
                        <a:t>8,785</a:t>
                      </a:r>
                    </a:p>
                  </a:txBody>
                  <a:tcPr marL="0" marR="0" marT="0" marB="0">
                    <a:solidFill>
                      <a:srgbClr val="EFEFEF"/>
                    </a:solidFill>
                  </a:tcPr>
                </a:tc>
                <a:tc>
                  <a:txBody>
                    <a:bodyPr/>
                    <a:lstStyle/>
                    <a:p>
                      <a:pPr algn="ctr">
                        <a:defRPr sz="1000">
                          <a:latin typeface="Montserrat"/>
                        </a:defRPr>
                      </a:pPr>
                      <a:r>
                        <a:t>3,359</a:t>
                      </a:r>
                    </a:p>
                  </a:txBody>
                  <a:tcPr marL="0" marR="0" marT="0" marB="0">
                    <a:solidFill>
                      <a:srgbClr val="EFEFEF"/>
                    </a:solidFill>
                  </a:tcPr>
                </a:tc>
                <a:tc>
                  <a:txBody>
                    <a:bodyPr/>
                    <a:lstStyle/>
                    <a:p>
                      <a:pPr algn="ctr">
                        <a:defRPr sz="1000">
                          <a:latin typeface="Montserrat"/>
                        </a:defRPr>
                      </a:pPr>
                      <a:r>
                        <a:t>5,872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58.7%</a:t>
                      </a:r>
                    </a:p>
                  </a:txBody>
                  <a:tcPr marL="0" marR="0" marT="0" marB="0">
                    <a:solidFill>
                      <a:srgbClr val="ECD3D9"/>
                    </a:solidFill>
                  </a:tcPr>
                </a:tc>
                <a:extLst>
                  <a:ext uri="{0D108BD9-81ED-4DB2-BD59-A6C34878D82A}">
                    <a16:rowId xmlns:a16="http://schemas.microsoft.com/office/drawing/2014/main" val="10022"/>
                  </a:ext>
                </a:extLst>
              </a:tr>
              <a:tr h="151200">
                <a:tc>
                  <a:txBody>
                    <a:bodyPr/>
                    <a:lstStyle/>
                    <a:p>
                      <a:pPr algn="l">
                        <a:defRPr sz="1000">
                          <a:latin typeface="Montserrat"/>
                        </a:defRPr>
                      </a:pPr>
                      <a:r>
                        <a:t>UMF 59 Tantoyuca</a:t>
                      </a:r>
                    </a:p>
                  </a:txBody>
                  <a:tcPr marL="0" marR="0" marT="0" marB="0">
                    <a:solidFill>
                      <a:srgbClr val="FFFFFF"/>
                    </a:solidFill>
                  </a:tcPr>
                </a:tc>
                <a:tc>
                  <a:txBody>
                    <a:bodyPr/>
                    <a:lstStyle/>
                    <a:p>
                      <a:pPr algn="ctr">
                        <a:defRPr sz="1000">
                          <a:latin typeface="Montserrat"/>
                        </a:defRPr>
                      </a:pPr>
                      <a:r>
                        <a:t>19,536</a:t>
                      </a:r>
                    </a:p>
                  </a:txBody>
                  <a:tcPr marL="0" marR="0" marT="0" marB="0">
                    <a:solidFill>
                      <a:srgbClr val="FFFFFF"/>
                    </a:solidFill>
                  </a:tcPr>
                </a:tc>
                <a:tc>
                  <a:txBody>
                    <a:bodyPr/>
                    <a:lstStyle/>
                    <a:p>
                      <a:pPr algn="ctr">
                        <a:defRPr sz="1000">
                          <a:latin typeface="Montserrat"/>
                        </a:defRPr>
                      </a:pPr>
                      <a:r>
                        <a:t>4,068</a:t>
                      </a:r>
                    </a:p>
                  </a:txBody>
                  <a:tcPr marL="0" marR="0" marT="0" marB="0">
                    <a:solidFill>
                      <a:srgbClr val="FFFFFF"/>
                    </a:solidFill>
                  </a:tcPr>
                </a:tc>
                <a:tc>
                  <a:txBody>
                    <a:bodyPr/>
                    <a:lstStyle/>
                    <a:p>
                      <a:pPr algn="ctr">
                        <a:defRPr sz="1000">
                          <a:latin typeface="Montserrat"/>
                        </a:defRPr>
                      </a:pPr>
                      <a:r>
                        <a:t>9,735</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48.7%</a:t>
                      </a:r>
                    </a:p>
                  </a:txBody>
                  <a:tcPr marL="0" marR="0" marT="0" marB="0">
                    <a:solidFill>
                      <a:srgbClr val="ECD3D9"/>
                    </a:solidFill>
                  </a:tcPr>
                </a:tc>
                <a:extLst>
                  <a:ext uri="{0D108BD9-81ED-4DB2-BD59-A6C34878D82A}">
                    <a16:rowId xmlns:a16="http://schemas.microsoft.com/office/drawing/2014/main" val="10023"/>
                  </a:ext>
                </a:extLst>
              </a:tr>
              <a:tr h="151200">
                <a:tc>
                  <a:txBody>
                    <a:bodyPr/>
                    <a:lstStyle/>
                    <a:p>
                      <a:pPr algn="l">
                        <a:defRPr sz="1000">
                          <a:latin typeface="Montserrat"/>
                        </a:defRPr>
                      </a:pPr>
                      <a:r>
                        <a:t>UMF 49 Cerro Azul</a:t>
                      </a:r>
                    </a:p>
                  </a:txBody>
                  <a:tcPr marL="0" marR="0" marT="0" marB="0">
                    <a:solidFill>
                      <a:srgbClr val="EFEFEF"/>
                    </a:solidFill>
                  </a:tcPr>
                </a:tc>
                <a:tc>
                  <a:txBody>
                    <a:bodyPr/>
                    <a:lstStyle/>
                    <a:p>
                      <a:pPr algn="ctr">
                        <a:defRPr sz="1000">
                          <a:latin typeface="Montserrat"/>
                        </a:defRPr>
                      </a:pPr>
                      <a:r>
                        <a:t>12,259</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6,639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51.1%</a:t>
                      </a:r>
                    </a:p>
                  </a:txBody>
                  <a:tcPr marL="0" marR="0" marT="0" marB="0">
                    <a:solidFill>
                      <a:srgbClr val="ECD3D9"/>
                    </a:solidFill>
                  </a:tcPr>
                </a:tc>
                <a:extLst>
                  <a:ext uri="{0D108BD9-81ED-4DB2-BD59-A6C34878D82A}">
                    <a16:rowId xmlns:a16="http://schemas.microsoft.com/office/drawing/2014/main" val="10024"/>
                  </a:ext>
                </a:extLst>
              </a:tr>
              <a:tr h="151200">
                <a:tc>
                  <a:txBody>
                    <a:bodyPr/>
                    <a:lstStyle/>
                    <a:p>
                      <a:pPr algn="l">
                        <a:defRPr sz="1000">
                          <a:latin typeface="Montserrat"/>
                        </a:defRPr>
                      </a:pPr>
                      <a:r>
                        <a:t>UMF 20 Saltabarranca</a:t>
                      </a:r>
                    </a:p>
                  </a:txBody>
                  <a:tcPr marL="0" marR="0" marT="0" marB="0">
                    <a:solidFill>
                      <a:srgbClr val="FFFFFF"/>
                    </a:solidFill>
                  </a:tcPr>
                </a:tc>
                <a:tc>
                  <a:txBody>
                    <a:bodyPr/>
                    <a:lstStyle/>
                    <a:p>
                      <a:pPr algn="ctr">
                        <a:defRPr sz="1000">
                          <a:latin typeface="Montserrat"/>
                        </a:defRPr>
                      </a:pPr>
                      <a:r>
                        <a:t>13,016</a:t>
                      </a:r>
                    </a:p>
                  </a:txBody>
                  <a:tcPr marL="0" marR="0" marT="0" marB="0">
                    <a:solidFill>
                      <a:srgbClr val="FFFFFF"/>
                    </a:solidFill>
                  </a:tcPr>
                </a:tc>
                <a:tc>
                  <a:txBody>
                    <a:bodyPr/>
                    <a:lstStyle/>
                    <a:p>
                      <a:pPr algn="ctr">
                        <a:defRPr sz="1000">
                          <a:latin typeface="Montserrat"/>
                        </a:defRPr>
                      </a:pPr>
                      <a:r>
                        <a:t>-538</a:t>
                      </a:r>
                    </a:p>
                  </a:txBody>
                  <a:tcPr marL="0" marR="0" marT="0" marB="0">
                    <a:solidFill>
                      <a:srgbClr val="FFFFFF"/>
                    </a:solidFill>
                  </a:tcPr>
                </a:tc>
                <a:tc>
                  <a:txBody>
                    <a:bodyPr/>
                    <a:lstStyle/>
                    <a:p>
                      <a:pPr algn="ctr">
                        <a:defRPr sz="1000">
                          <a:latin typeface="Montserrat"/>
                        </a:defRPr>
                      </a:pPr>
                      <a:r>
                        <a:t>6,085</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extLst>
                  <a:ext uri="{0D108BD9-81ED-4DB2-BD59-A6C34878D82A}">
                    <a16:rowId xmlns:a16="http://schemas.microsoft.com/office/drawing/2014/main" val="10025"/>
                  </a:ext>
                </a:extLst>
              </a:tr>
              <a:tr h="151200">
                <a:tc>
                  <a:txBody>
                    <a:bodyPr/>
                    <a:lstStyle/>
                    <a:p>
                      <a:pPr algn="l">
                        <a:defRPr sz="1000">
                          <a:latin typeface="Montserrat"/>
                        </a:defRPr>
                      </a:pPr>
                      <a:r>
                        <a:t>UMF 60 Platón Sánchez</a:t>
                      </a:r>
                    </a:p>
                  </a:txBody>
                  <a:tcPr marL="0" marR="0" marT="0" marB="0">
                    <a:solidFill>
                      <a:srgbClr val="EFEFEF"/>
                    </a:solidFill>
                  </a:tcPr>
                </a:tc>
                <a:tc>
                  <a:txBody>
                    <a:bodyPr/>
                    <a:lstStyle/>
                    <a:p>
                      <a:pPr algn="ctr">
                        <a:defRPr sz="1000">
                          <a:latin typeface="Montserrat"/>
                        </a:defRPr>
                      </a:pPr>
                      <a:r>
                        <a:t>11,384</a:t>
                      </a:r>
                    </a:p>
                  </a:txBody>
                  <a:tcPr marL="0" marR="0" marT="0" marB="0">
                    <a:solidFill>
                      <a:srgbClr val="EFEFEF"/>
                    </a:solidFill>
                  </a:tcPr>
                </a:tc>
                <a:tc>
                  <a:txBody>
                    <a:bodyPr/>
                    <a:lstStyle/>
                    <a:p>
                      <a:pPr algn="ctr">
                        <a:defRPr sz="1000">
                          <a:latin typeface="Montserrat"/>
                        </a:defRPr>
                      </a:pPr>
                      <a:r>
                        <a:t>3,272</a:t>
                      </a:r>
                    </a:p>
                  </a:txBody>
                  <a:tcPr marL="0" marR="0" marT="0" marB="0">
                    <a:solidFill>
                      <a:srgbClr val="EFEFEF"/>
                    </a:solidFill>
                  </a:tcPr>
                </a:tc>
                <a:tc>
                  <a:txBody>
                    <a:bodyPr/>
                    <a:lstStyle/>
                    <a:p>
                      <a:pPr algn="ctr">
                        <a:defRPr sz="1000">
                          <a:latin typeface="Montserrat"/>
                        </a:defRPr>
                      </a:pPr>
                      <a:r>
                        <a:t>6,526</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54.4%</a:t>
                      </a:r>
                    </a:p>
                  </a:txBody>
                  <a:tcPr marL="0" marR="0" marT="0" marB="0">
                    <a:solidFill>
                      <a:srgbClr val="ECD3D9"/>
                    </a:solidFill>
                  </a:tcPr>
                </a:tc>
                <a:extLst>
                  <a:ext uri="{0D108BD9-81ED-4DB2-BD59-A6C34878D82A}">
                    <a16:rowId xmlns:a16="http://schemas.microsoft.com/office/drawing/2014/main" val="10026"/>
                  </a:ext>
                </a:extLst>
              </a:tr>
              <a:tr h="151200">
                <a:tc>
                  <a:txBody>
                    <a:bodyPr/>
                    <a:lstStyle/>
                    <a:p>
                      <a:pPr algn="l">
                        <a:defRPr sz="1000">
                          <a:latin typeface="Montserrat"/>
                        </a:defRPr>
                      </a:pPr>
                      <a:r>
                        <a:t>UMF 23 S. Rafael</a:t>
                      </a:r>
                    </a:p>
                  </a:txBody>
                  <a:tcPr marL="0" marR="0" marT="0" marB="0">
                    <a:solidFill>
                      <a:srgbClr val="FFFFFF"/>
                    </a:solidFill>
                  </a:tcPr>
                </a:tc>
                <a:tc>
                  <a:txBody>
                    <a:bodyPr/>
                    <a:lstStyle/>
                    <a:p>
                      <a:pPr algn="ctr">
                        <a:defRPr sz="1000">
                          <a:latin typeface="Montserrat"/>
                        </a:defRPr>
                      </a:pPr>
                      <a:r>
                        <a:t>22,753</a:t>
                      </a:r>
                    </a:p>
                  </a:txBody>
                  <a:tcPr marL="0" marR="0" marT="0" marB="0">
                    <a:solidFill>
                      <a:srgbClr val="FFFFFF"/>
                    </a:solidFill>
                  </a:tcPr>
                </a:tc>
                <a:tc>
                  <a:txBody>
                    <a:bodyPr/>
                    <a:lstStyle/>
                    <a:p>
                      <a:pPr algn="ctr">
                        <a:defRPr sz="1000">
                          <a:latin typeface="Montserrat"/>
                        </a:defRPr>
                      </a:pPr>
                      <a:r>
                        <a:t>5,065</a:t>
                      </a:r>
                    </a:p>
                  </a:txBody>
                  <a:tcPr marL="0" marR="0" marT="0" marB="0">
                    <a:solidFill>
                      <a:srgbClr val="FFFFFF"/>
                    </a:solidFill>
                  </a:tcPr>
                </a:tc>
                <a:tc>
                  <a:txBody>
                    <a:bodyPr/>
                    <a:lstStyle/>
                    <a:p>
                      <a:pPr algn="ctr">
                        <a:defRPr sz="1000">
                          <a:latin typeface="Montserrat"/>
                        </a:defRPr>
                      </a:pPr>
                      <a:r>
                        <a:t>11,480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27"/>
                  </a:ext>
                </a:extLst>
              </a:tr>
              <a:tr h="151200">
                <a:tc>
                  <a:txBody>
                    <a:bodyPr/>
                    <a:lstStyle/>
                    <a:p>
                      <a:pPr algn="l">
                        <a:defRPr sz="1000">
                          <a:latin typeface="Montserrat"/>
                        </a:defRPr>
                      </a:pPr>
                      <a:r>
                        <a:t>UMF 62 Medias Aguas</a:t>
                      </a:r>
                    </a:p>
                  </a:txBody>
                  <a:tcPr marL="0" marR="0" marT="0" marB="0">
                    <a:solidFill>
                      <a:srgbClr val="EFEFEF"/>
                    </a:solidFill>
                  </a:tcPr>
                </a:tc>
                <a:tc>
                  <a:txBody>
                    <a:bodyPr/>
                    <a:lstStyle/>
                    <a:p>
                      <a:pPr algn="ctr">
                        <a:defRPr sz="1000">
                          <a:latin typeface="Montserrat"/>
                        </a:defRPr>
                      </a:pPr>
                      <a:r>
                        <a:t>1,957</a:t>
                      </a:r>
                    </a:p>
                  </a:txBody>
                  <a:tcPr marL="0" marR="0" marT="0" marB="0">
                    <a:solidFill>
                      <a:srgbClr val="EFEFEF"/>
                    </a:solidFill>
                  </a:tcPr>
                </a:tc>
                <a:tc>
                  <a:txBody>
                    <a:bodyPr/>
                    <a:lstStyle/>
                    <a:p>
                      <a:pPr algn="ctr">
                        <a:defRPr sz="1000">
                          <a:latin typeface="Montserrat"/>
                        </a:defRPr>
                      </a:pPr>
                      <a:r>
                        <a:t>428</a:t>
                      </a:r>
                    </a:p>
                  </a:txBody>
                  <a:tcPr marL="0" marR="0" marT="0" marB="0">
                    <a:solidFill>
                      <a:srgbClr val="EFEFEF"/>
                    </a:solidFill>
                  </a:tcPr>
                </a:tc>
                <a:tc>
                  <a:txBody>
                    <a:bodyPr/>
                    <a:lstStyle/>
                    <a:p>
                      <a:pPr algn="ctr">
                        <a:defRPr sz="1000">
                          <a:latin typeface="Montserrat"/>
                        </a:defRPr>
                      </a:pPr>
                      <a:r>
                        <a:t>679</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22.6%</a:t>
                      </a:r>
                    </a:p>
                  </a:txBody>
                  <a:tcPr marL="0" marR="0" marT="0" marB="0">
                    <a:solidFill>
                      <a:srgbClr val="ECD3D9"/>
                    </a:solidFill>
                  </a:tcPr>
                </a:tc>
                <a:extLst>
                  <a:ext uri="{0D108BD9-81ED-4DB2-BD59-A6C34878D82A}">
                    <a16:rowId xmlns:a16="http://schemas.microsoft.com/office/drawing/2014/main" val="10028"/>
                  </a:ext>
                </a:extLst>
              </a:tr>
              <a:tr h="151200">
                <a:tc>
                  <a:txBody>
                    <a:bodyPr/>
                    <a:lstStyle/>
                    <a:p>
                      <a:pPr algn="l">
                        <a:defRPr sz="1000">
                          <a:latin typeface="Montserrat"/>
                        </a:defRPr>
                      </a:pPr>
                      <a:r>
                        <a:t>UMF 35 Santiago Tuxtla</a:t>
                      </a:r>
                    </a:p>
                  </a:txBody>
                  <a:tcPr marL="0" marR="0" marT="0" marB="0">
                    <a:solidFill>
                      <a:srgbClr val="FFFFFF"/>
                    </a:solidFill>
                  </a:tcPr>
                </a:tc>
                <a:tc>
                  <a:txBody>
                    <a:bodyPr/>
                    <a:lstStyle/>
                    <a:p>
                      <a:pPr algn="ctr">
                        <a:defRPr sz="1000">
                          <a:latin typeface="Montserrat"/>
                        </a:defRPr>
                      </a:pPr>
                      <a:r>
                        <a:t>20,124</a:t>
                      </a:r>
                    </a:p>
                  </a:txBody>
                  <a:tcPr marL="0" marR="0" marT="0" marB="0">
                    <a:solidFill>
                      <a:srgbClr val="FFFFFF"/>
                    </a:solidFill>
                  </a:tcPr>
                </a:tc>
                <a:tc>
                  <a:txBody>
                    <a:bodyPr/>
                    <a:lstStyle/>
                    <a:p>
                      <a:pPr algn="ctr">
                        <a:defRPr sz="1000">
                          <a:latin typeface="Montserrat"/>
                        </a:defRPr>
                      </a:pPr>
                      <a:r>
                        <a:t>3,270</a:t>
                      </a:r>
                    </a:p>
                  </a:txBody>
                  <a:tcPr marL="0" marR="0" marT="0" marB="0">
                    <a:solidFill>
                      <a:srgbClr val="FFFFFF"/>
                    </a:solidFill>
                  </a:tcPr>
                </a:tc>
                <a:tc>
                  <a:txBody>
                    <a:bodyPr/>
                    <a:lstStyle/>
                    <a:p>
                      <a:pPr algn="ctr">
                        <a:defRPr sz="1000">
                          <a:latin typeface="Montserrat"/>
                        </a:defRPr>
                      </a:pPr>
                      <a:r>
                        <a:t>9,127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extLst>
                  <a:ext uri="{0D108BD9-81ED-4DB2-BD59-A6C34878D82A}">
                    <a16:rowId xmlns:a16="http://schemas.microsoft.com/office/drawing/2014/main" val="10029"/>
                  </a:ext>
                </a:extLst>
              </a:tr>
              <a:tr h="151200">
                <a:tc>
                  <a:txBody>
                    <a:bodyPr/>
                    <a:lstStyle/>
                    <a:p>
                      <a:pPr algn="l">
                        <a:defRPr sz="1000">
                          <a:latin typeface="Montserrat"/>
                        </a:defRPr>
                      </a:pPr>
                      <a:r>
                        <a:t>UMF 55 Texistepec</a:t>
                      </a:r>
                    </a:p>
                  </a:txBody>
                  <a:tcPr marL="0" marR="0" marT="0" marB="0">
                    <a:solidFill>
                      <a:srgbClr val="EFEFEF"/>
                    </a:solidFill>
                  </a:tcPr>
                </a:tc>
                <a:tc>
                  <a:txBody>
                    <a:bodyPr/>
                    <a:lstStyle/>
                    <a:p>
                      <a:pPr algn="ctr">
                        <a:defRPr sz="1000">
                          <a:latin typeface="Montserrat"/>
                        </a:defRPr>
                      </a:pPr>
                      <a:r>
                        <a:t>9,045</a:t>
                      </a:r>
                    </a:p>
                  </a:txBody>
                  <a:tcPr marL="0" marR="0" marT="0" marB="0">
                    <a:solidFill>
                      <a:srgbClr val="EFEFEF"/>
                    </a:solidFill>
                  </a:tcPr>
                </a:tc>
                <a:tc>
                  <a:txBody>
                    <a:bodyPr/>
                    <a:lstStyle/>
                    <a:p>
                      <a:pPr algn="ctr">
                        <a:defRPr sz="1000">
                          <a:latin typeface="Montserrat"/>
                        </a:defRPr>
                      </a:pPr>
                      <a:r>
                        <a:t>3,689</a:t>
                      </a:r>
                    </a:p>
                  </a:txBody>
                  <a:tcPr marL="0" marR="0" marT="0" marB="0">
                    <a:solidFill>
                      <a:srgbClr val="EFEFEF"/>
                    </a:solidFill>
                  </a:tcPr>
                </a:tc>
                <a:tc>
                  <a:txBody>
                    <a:bodyPr/>
                    <a:lstStyle/>
                    <a:p>
                      <a:pPr algn="ctr">
                        <a:defRPr sz="1000">
                          <a:latin typeface="Montserrat"/>
                        </a:defRPr>
                      </a:pPr>
                      <a:r>
                        <a:t>3,792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extLst>
                  <a:ext uri="{0D108BD9-81ED-4DB2-BD59-A6C34878D82A}">
                    <a16:rowId xmlns:a16="http://schemas.microsoft.com/office/drawing/2014/main" val="10030"/>
                  </a:ext>
                </a:extLst>
              </a:tr>
              <a:tr h="151200">
                <a:tc>
                  <a:txBody>
                    <a:bodyPr/>
                    <a:lstStyle/>
                    <a:p>
                      <a:pPr algn="l">
                        <a:defRPr sz="1000">
                          <a:latin typeface="Montserrat"/>
                        </a:defRPr>
                      </a:pPr>
                      <a:r>
                        <a:t>UMF 70 Tres Zapotes</a:t>
                      </a:r>
                    </a:p>
                  </a:txBody>
                  <a:tcPr marL="0" marR="0" marT="0" marB="0">
                    <a:solidFill>
                      <a:srgbClr val="FFFFFF"/>
                    </a:solidFill>
                  </a:tcPr>
                </a:tc>
                <a:tc>
                  <a:txBody>
                    <a:bodyPr/>
                    <a:lstStyle/>
                    <a:p>
                      <a:pPr algn="ctr">
                        <a:defRPr sz="1000">
                          <a:latin typeface="Montserrat"/>
                        </a:defRPr>
                      </a:pPr>
                      <a:r>
                        <a:t>11,913</a:t>
                      </a:r>
                    </a:p>
                  </a:txBody>
                  <a:tcPr marL="0" marR="0" marT="0" marB="0">
                    <a:solidFill>
                      <a:srgbClr val="FFFFFF"/>
                    </a:solidFill>
                  </a:tcPr>
                </a:tc>
                <a:tc>
                  <a:txBody>
                    <a:bodyPr/>
                    <a:lstStyle/>
                    <a:p>
                      <a:pPr algn="ctr">
                        <a:defRPr sz="1000">
                          <a:latin typeface="Montserrat"/>
                        </a:defRPr>
                      </a:pPr>
                      <a:r>
                        <a:t>-78</a:t>
                      </a:r>
                    </a:p>
                  </a:txBody>
                  <a:tcPr marL="0" marR="0" marT="0" marB="0">
                    <a:solidFill>
                      <a:srgbClr val="FFFFFF"/>
                    </a:solidFill>
                  </a:tcPr>
                </a:tc>
                <a:tc>
                  <a:txBody>
                    <a:bodyPr/>
                    <a:lstStyle/>
                    <a:p>
                      <a:pPr algn="ctr">
                        <a:defRPr sz="1000">
                          <a:latin typeface="Montserrat"/>
                        </a:defRPr>
                      </a:pPr>
                      <a:r>
                        <a:t>4,886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37.6%</a:t>
                      </a:r>
                    </a:p>
                  </a:txBody>
                  <a:tcPr marL="0" marR="0" marT="0" marB="0">
                    <a:solidFill>
                      <a:srgbClr val="ECD3D9"/>
                    </a:solidFill>
                  </a:tcPr>
                </a:tc>
                <a:extLst>
                  <a:ext uri="{0D108BD9-81ED-4DB2-BD59-A6C34878D82A}">
                    <a16:rowId xmlns:a16="http://schemas.microsoft.com/office/drawing/2014/main" val="10031"/>
                  </a:ext>
                </a:extLst>
              </a:tr>
              <a:tr h="151200">
                <a:tc>
                  <a:txBody>
                    <a:bodyPr/>
                    <a:lstStyle/>
                    <a:p>
                      <a:pPr algn="l">
                        <a:defRPr sz="1000">
                          <a:latin typeface="Montserrat"/>
                        </a:defRPr>
                      </a:pPr>
                      <a:r>
                        <a:t>UMF 56 Actopan</a:t>
                      </a:r>
                    </a:p>
                  </a:txBody>
                  <a:tcPr marL="0" marR="0" marT="0" marB="0">
                    <a:solidFill>
                      <a:srgbClr val="EFEFEF"/>
                    </a:solidFill>
                  </a:tcPr>
                </a:tc>
                <a:tc>
                  <a:txBody>
                    <a:bodyPr/>
                    <a:lstStyle/>
                    <a:p>
                      <a:pPr algn="ctr">
                        <a:defRPr sz="1000">
                          <a:latin typeface="Montserrat"/>
                        </a:defRPr>
                      </a:pPr>
                      <a:r>
                        <a:t>6,455</a:t>
                      </a:r>
                    </a:p>
                  </a:txBody>
                  <a:tcPr marL="0" marR="0" marT="0" marB="0">
                    <a:solidFill>
                      <a:srgbClr val="EFEFEF"/>
                    </a:solidFill>
                  </a:tcPr>
                </a:tc>
                <a:tc>
                  <a:txBody>
                    <a:bodyPr/>
                    <a:lstStyle/>
                    <a:p>
                      <a:pPr algn="ctr">
                        <a:defRPr sz="1000">
                          <a:latin typeface="Montserrat"/>
                        </a:defRPr>
                      </a:pPr>
                      <a:r>
                        <a:t>834</a:t>
                      </a:r>
                    </a:p>
                  </a:txBody>
                  <a:tcPr marL="0" marR="0" marT="0" marB="0">
                    <a:solidFill>
                      <a:srgbClr val="EFEFEF"/>
                    </a:solidFill>
                  </a:tcPr>
                </a:tc>
                <a:tc>
                  <a:txBody>
                    <a:bodyPr/>
                    <a:lstStyle/>
                    <a:p>
                      <a:pPr algn="ctr">
                        <a:defRPr sz="1000">
                          <a:latin typeface="Montserrat"/>
                        </a:defRPr>
                      </a:pPr>
                      <a:r>
                        <a:t>3,116</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extLst>
                  <a:ext uri="{0D108BD9-81ED-4DB2-BD59-A6C34878D82A}">
                    <a16:rowId xmlns:a16="http://schemas.microsoft.com/office/drawing/2014/main" val="10032"/>
                  </a:ext>
                </a:extLst>
              </a:tr>
              <a:tr h="151200">
                <a:tc>
                  <a:txBody>
                    <a:bodyPr/>
                    <a:lstStyle/>
                    <a:p>
                      <a:pPr algn="l">
                        <a:defRPr sz="1000">
                          <a:latin typeface="Montserrat"/>
                        </a:defRPr>
                      </a:pPr>
                      <a:r>
                        <a:t>UMF 13 Paso del Macho</a:t>
                      </a:r>
                    </a:p>
                  </a:txBody>
                  <a:tcPr marL="0" marR="0" marT="0" marB="0">
                    <a:solidFill>
                      <a:srgbClr val="FFFFFF"/>
                    </a:solidFill>
                  </a:tcPr>
                </a:tc>
                <a:tc>
                  <a:txBody>
                    <a:bodyPr/>
                    <a:lstStyle/>
                    <a:p>
                      <a:pPr algn="ctr">
                        <a:defRPr sz="1000">
                          <a:latin typeface="Montserrat"/>
                        </a:defRPr>
                      </a:pPr>
                      <a:r>
                        <a:t>37,285</a:t>
                      </a:r>
                    </a:p>
                  </a:txBody>
                  <a:tcPr marL="0" marR="0" marT="0" marB="0">
                    <a:solidFill>
                      <a:srgbClr val="FFFFFF"/>
                    </a:solidFill>
                  </a:tcPr>
                </a:tc>
                <a:tc>
                  <a:txBody>
                    <a:bodyPr/>
                    <a:lstStyle/>
                    <a:p>
                      <a:pPr algn="ctr">
                        <a:defRPr sz="1000">
                          <a:latin typeface="Montserrat"/>
                        </a:defRPr>
                      </a:pPr>
                      <a:r>
                        <a:t>5,237</a:t>
                      </a:r>
                    </a:p>
                  </a:txBody>
                  <a:tcPr marL="0" marR="0" marT="0" marB="0">
                    <a:solidFill>
                      <a:srgbClr val="FFFFFF"/>
                    </a:solidFill>
                  </a:tcPr>
                </a:tc>
                <a:tc>
                  <a:txBody>
                    <a:bodyPr/>
                    <a:lstStyle/>
                    <a:p>
                      <a:pPr algn="ctr">
                        <a:defRPr sz="1000">
                          <a:latin typeface="Montserrat"/>
                        </a:defRPr>
                      </a:pPr>
                      <a:r>
                        <a:t>18,996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50.5%</a:t>
                      </a:r>
                    </a:p>
                  </a:txBody>
                  <a:tcPr marL="0" marR="0" marT="0" marB="0">
                    <a:solidFill>
                      <a:srgbClr val="ECD3D9"/>
                    </a:solidFill>
                  </a:tcPr>
                </a:tc>
                <a:extLst>
                  <a:ext uri="{0D108BD9-81ED-4DB2-BD59-A6C34878D82A}">
                    <a16:rowId xmlns:a16="http://schemas.microsoft.com/office/drawing/2014/main" val="10033"/>
                  </a:ext>
                </a:extLst>
              </a:tr>
              <a:tr h="151200">
                <a:tc>
                  <a:txBody>
                    <a:bodyPr/>
                    <a:lstStyle/>
                    <a:p>
                      <a:pPr algn="l">
                        <a:defRPr sz="1000">
                          <a:latin typeface="Montserrat"/>
                        </a:defRPr>
                      </a:pPr>
                      <a:r>
                        <a:t>UMF 45 Tlacojalpan</a:t>
                      </a:r>
                    </a:p>
                  </a:txBody>
                  <a:tcPr marL="0" marR="0" marT="0" marB="0">
                    <a:solidFill>
                      <a:srgbClr val="EFEFEF"/>
                    </a:solidFill>
                  </a:tcPr>
                </a:tc>
                <a:tc>
                  <a:txBody>
                    <a:bodyPr/>
                    <a:lstStyle/>
                    <a:p>
                      <a:pPr algn="ctr">
                        <a:defRPr sz="1000">
                          <a:latin typeface="Montserrat"/>
                        </a:defRPr>
                      </a:pPr>
                      <a:r>
                        <a:t>5,846</a:t>
                      </a:r>
                    </a:p>
                  </a:txBody>
                  <a:tcPr marL="0" marR="0" marT="0" marB="0">
                    <a:solidFill>
                      <a:srgbClr val="EFEFEF"/>
                    </a:solidFill>
                  </a:tcPr>
                </a:tc>
                <a:tc>
                  <a:txBody>
                    <a:bodyPr/>
                    <a:lstStyle/>
                    <a:p>
                      <a:pPr algn="ctr">
                        <a:defRPr sz="1000">
                          <a:latin typeface="Montserrat"/>
                        </a:defRPr>
                      </a:pPr>
                      <a:r>
                        <a:t>2,461</a:t>
                      </a:r>
                    </a:p>
                  </a:txBody>
                  <a:tcPr marL="0" marR="0" marT="0" marB="0">
                    <a:solidFill>
                      <a:srgbClr val="EFEFEF"/>
                    </a:solidFill>
                  </a:tcPr>
                </a:tc>
                <a:tc>
                  <a:txBody>
                    <a:bodyPr/>
                    <a:lstStyle/>
                    <a:p>
                      <a:pPr algn="ctr">
                        <a:defRPr sz="1000">
                          <a:latin typeface="Montserrat"/>
                        </a:defRPr>
                      </a:pPr>
                      <a:r>
                        <a:t>2,380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extLst>
                  <a:ext uri="{0D108BD9-81ED-4DB2-BD59-A6C34878D82A}">
                    <a16:rowId xmlns:a16="http://schemas.microsoft.com/office/drawing/2014/main" val="10034"/>
                  </a:ext>
                </a:extLst>
              </a:tr>
              <a:tr h="151200">
                <a:tc>
                  <a:txBody>
                    <a:bodyPr/>
                    <a:lstStyle/>
                    <a:p>
                      <a:pPr algn="l">
                        <a:defRPr sz="1000">
                          <a:latin typeface="Montserrat"/>
                        </a:defRPr>
                      </a:pPr>
                      <a:r>
                        <a:t>UMF 42 Paraiso Nuevo</a:t>
                      </a:r>
                    </a:p>
                  </a:txBody>
                  <a:tcPr marL="0" marR="0" marT="0" marB="0">
                    <a:solidFill>
                      <a:srgbClr val="FFFFFF"/>
                    </a:solidFill>
                  </a:tcPr>
                </a:tc>
                <a:tc>
                  <a:txBody>
                    <a:bodyPr/>
                    <a:lstStyle/>
                    <a:p>
                      <a:pPr algn="ctr">
                        <a:defRPr sz="1000">
                          <a:latin typeface="Montserrat"/>
                        </a:defRPr>
                      </a:pPr>
                      <a:r>
                        <a:t>6,313</a:t>
                      </a:r>
                    </a:p>
                  </a:txBody>
                  <a:tcPr marL="0" marR="0" marT="0" marB="0">
                    <a:solidFill>
                      <a:srgbClr val="FFFFFF"/>
                    </a:solidFill>
                  </a:tcPr>
                </a:tc>
                <a:tc>
                  <a:txBody>
                    <a:bodyPr/>
                    <a:lstStyle/>
                    <a:p>
                      <a:pPr algn="ctr">
                        <a:defRPr sz="1000">
                          <a:latin typeface="Montserrat"/>
                        </a:defRPr>
                      </a:pPr>
                      <a:r>
                        <a:t>2,531</a:t>
                      </a:r>
                    </a:p>
                  </a:txBody>
                  <a:tcPr marL="0" marR="0" marT="0" marB="0">
                    <a:solidFill>
                      <a:srgbClr val="FFFFFF"/>
                    </a:solidFill>
                  </a:tcPr>
                </a:tc>
                <a:tc>
                  <a:txBody>
                    <a:bodyPr/>
                    <a:lstStyle/>
                    <a:p>
                      <a:pPr algn="ctr">
                        <a:defRPr sz="1000">
                          <a:latin typeface="Montserrat"/>
                        </a:defRPr>
                      </a:pPr>
                      <a:r>
                        <a:t>3,038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43.4%</a:t>
                      </a:r>
                    </a:p>
                  </a:txBody>
                  <a:tcPr marL="0" marR="0" marT="0" marB="0">
                    <a:solidFill>
                      <a:srgbClr val="ECD3D9"/>
                    </a:solidFill>
                  </a:tcPr>
                </a:tc>
                <a:extLst>
                  <a:ext uri="{0D108BD9-81ED-4DB2-BD59-A6C34878D82A}">
                    <a16:rowId xmlns:a16="http://schemas.microsoft.com/office/drawing/2014/main" val="10035"/>
                  </a:ext>
                </a:extLst>
              </a:tr>
              <a:tr h="151200">
                <a:tc>
                  <a:txBody>
                    <a:bodyPr/>
                    <a:lstStyle/>
                    <a:p>
                      <a:pPr algn="l">
                        <a:defRPr sz="1000">
                          <a:latin typeface="Montserrat"/>
                        </a:defRPr>
                      </a:pPr>
                      <a:r>
                        <a:t>UMF 38 Tenejapan</a:t>
                      </a:r>
                    </a:p>
                  </a:txBody>
                  <a:tcPr marL="0" marR="0" marT="0" marB="0">
                    <a:solidFill>
                      <a:srgbClr val="EFEFEF"/>
                    </a:solidFill>
                  </a:tcPr>
                </a:tc>
                <a:tc>
                  <a:txBody>
                    <a:bodyPr/>
                    <a:lstStyle/>
                    <a:p>
                      <a:pPr algn="ctr">
                        <a:defRPr sz="1000">
                          <a:latin typeface="Montserrat"/>
                        </a:defRPr>
                      </a:pPr>
                      <a:r>
                        <a:t>3,658</a:t>
                      </a:r>
                    </a:p>
                  </a:txBody>
                  <a:tcPr marL="0" marR="0" marT="0" marB="0">
                    <a:solidFill>
                      <a:srgbClr val="EFEFEF"/>
                    </a:solidFill>
                  </a:tcPr>
                </a:tc>
                <a:tc>
                  <a:txBody>
                    <a:bodyPr/>
                    <a:lstStyle/>
                    <a:p>
                      <a:pPr algn="ctr">
                        <a:defRPr sz="1000">
                          <a:latin typeface="Montserrat"/>
                        </a:defRPr>
                      </a:pPr>
                      <a:r>
                        <a:t>1,755</a:t>
                      </a:r>
                    </a:p>
                  </a:txBody>
                  <a:tcPr marL="0" marR="0" marT="0" marB="0">
                    <a:solidFill>
                      <a:srgbClr val="EFEFEF"/>
                    </a:solidFill>
                  </a:tcPr>
                </a:tc>
                <a:tc>
                  <a:txBody>
                    <a:bodyPr/>
                    <a:lstStyle/>
                    <a:p>
                      <a:pPr algn="ctr">
                        <a:defRPr sz="1000">
                          <a:latin typeface="Montserrat"/>
                        </a:defRPr>
                      </a:pPr>
                      <a:r>
                        <a:t>1,666</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extLst>
                  <a:ext uri="{0D108BD9-81ED-4DB2-BD59-A6C34878D82A}">
                    <a16:rowId xmlns:a16="http://schemas.microsoft.com/office/drawing/2014/main" val="10036"/>
                  </a:ext>
                </a:extLst>
              </a:tr>
              <a:tr h="151200">
                <a:tc>
                  <a:txBody>
                    <a:bodyPr/>
                    <a:lstStyle/>
                    <a:p>
                      <a:pPr algn="l">
                        <a:defRPr sz="1000">
                          <a:latin typeface="Montserrat"/>
                        </a:defRPr>
                      </a:pPr>
                      <a:r>
                        <a:t>UMF 37 Ciudad Cuauhtémoc</a:t>
                      </a:r>
                    </a:p>
                  </a:txBody>
                  <a:tcPr marL="0" marR="0" marT="0" marB="0">
                    <a:solidFill>
                      <a:srgbClr val="FFFFFF"/>
                    </a:solidFill>
                  </a:tcPr>
                </a:tc>
                <a:tc>
                  <a:txBody>
                    <a:bodyPr/>
                    <a:lstStyle/>
                    <a:p>
                      <a:pPr algn="ctr">
                        <a:defRPr sz="1000">
                          <a:latin typeface="Montserrat"/>
                        </a:defRPr>
                      </a:pPr>
                      <a:r>
                        <a:t>17,652</a:t>
                      </a:r>
                    </a:p>
                  </a:txBody>
                  <a:tcPr marL="0" marR="0" marT="0" marB="0">
                    <a:solidFill>
                      <a:srgbClr val="FFFFFF"/>
                    </a:solidFill>
                  </a:tcPr>
                </a:tc>
                <a:tc>
                  <a:txBody>
                    <a:bodyPr/>
                    <a:lstStyle/>
                    <a:p>
                      <a:pPr algn="ctr">
                        <a:defRPr sz="1000">
                          <a:latin typeface="Montserrat"/>
                        </a:defRPr>
                      </a:pPr>
                      <a:r>
                        <a:t>6,508</a:t>
                      </a:r>
                    </a:p>
                  </a:txBody>
                  <a:tcPr marL="0" marR="0" marT="0" marB="0">
                    <a:solidFill>
                      <a:srgbClr val="FFFFFF"/>
                    </a:solidFill>
                  </a:tcPr>
                </a:tc>
                <a:tc>
                  <a:txBody>
                    <a:bodyPr/>
                    <a:lstStyle/>
                    <a:p>
                      <a:pPr algn="ctr">
                        <a:defRPr sz="1000">
                          <a:latin typeface="Montserrat"/>
                        </a:defRPr>
                      </a:pPr>
                      <a:r>
                        <a:t>10,445</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58.0%</a:t>
                      </a:r>
                    </a:p>
                  </a:txBody>
                  <a:tcPr marL="0" marR="0" marT="0" marB="0">
                    <a:solidFill>
                      <a:srgbClr val="ECD3D9"/>
                    </a:solidFill>
                  </a:tcPr>
                </a:tc>
                <a:extLst>
                  <a:ext uri="{0D108BD9-81ED-4DB2-BD59-A6C34878D82A}">
                    <a16:rowId xmlns:a16="http://schemas.microsoft.com/office/drawing/2014/main" val="10037"/>
                  </a:ext>
                </a:extLst>
              </a:tr>
              <a:tr h="151200">
                <a:tc>
                  <a:txBody>
                    <a:bodyPr/>
                    <a:lstStyle/>
                    <a:p>
                      <a:pPr algn="l">
                        <a:defRPr sz="1000">
                          <a:latin typeface="Montserrat"/>
                        </a:defRPr>
                      </a:pPr>
                      <a:r>
                        <a:t>UMF 22 Palmas</a:t>
                      </a:r>
                    </a:p>
                  </a:txBody>
                  <a:tcPr marL="0" marR="0" marT="0" marB="0">
                    <a:solidFill>
                      <a:srgbClr val="EFEFEF"/>
                    </a:solidFill>
                  </a:tcPr>
                </a:tc>
                <a:tc>
                  <a:txBody>
                    <a:bodyPr/>
                    <a:lstStyle/>
                    <a:p>
                      <a:pPr algn="ctr">
                        <a:defRPr sz="1000">
                          <a:latin typeface="Montserrat"/>
                        </a:defRPr>
                      </a:pPr>
                      <a:r>
                        <a:t>12,304</a:t>
                      </a:r>
                    </a:p>
                  </a:txBody>
                  <a:tcPr marL="0" marR="0" marT="0" marB="0">
                    <a:solidFill>
                      <a:srgbClr val="EFEFEF"/>
                    </a:solidFill>
                  </a:tcPr>
                </a:tc>
                <a:tc>
                  <a:txBody>
                    <a:bodyPr/>
                    <a:lstStyle/>
                    <a:p>
                      <a:pPr algn="ctr">
                        <a:defRPr sz="1000">
                          <a:latin typeface="Montserrat"/>
                        </a:defRPr>
                      </a:pPr>
                      <a:r>
                        <a:t>-4,924</a:t>
                      </a:r>
                    </a:p>
                  </a:txBody>
                  <a:tcPr marL="0" marR="0" marT="0" marB="0">
                    <a:solidFill>
                      <a:srgbClr val="EFEFEF"/>
                    </a:solidFill>
                  </a:tcPr>
                </a:tc>
                <a:tc>
                  <a:txBody>
                    <a:bodyPr/>
                    <a:lstStyle/>
                    <a:p>
                      <a:pPr algn="ctr">
                        <a:defRPr sz="1000">
                          <a:latin typeface="Montserrat"/>
                        </a:defRPr>
                      </a:pPr>
                      <a:r>
                        <a:t>5,537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extLst>
                  <a:ext uri="{0D108BD9-81ED-4DB2-BD59-A6C34878D82A}">
                    <a16:rowId xmlns:a16="http://schemas.microsoft.com/office/drawing/2014/main" val="1003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4746812" cy="400110"/>
          </a:xfrm>
          <a:prstGeom prst="rect">
            <a:avLst/>
          </a:prstGeom>
          <a:noFill/>
        </p:spPr>
        <p:txBody>
          <a:bodyPr wrap="none">
            <a:spAutoFit/>
          </a:bodyPr>
          <a:lstStyle/>
          <a:p>
            <a:pPr algn="l">
              <a:defRPr sz="2000" b="1">
                <a:solidFill>
                  <a:srgbClr val="5B0F00"/>
                </a:solidFill>
                <a:latin typeface="Montserrat"/>
              </a:defRPr>
            </a:pPr>
            <a:r>
              <a:rPr dirty="0"/>
              <a:t>88 UMF de lunes a </a:t>
            </a:r>
            <a:r>
              <a:rPr dirty="0" err="1"/>
              <a:t>viernes</a:t>
            </a:r>
            <a:r>
              <a:rPr lang="es-MX" dirty="0"/>
              <a:t> (3 de 3)</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1173665511"/>
              </p:ext>
            </p:extLst>
          </p:nvPr>
        </p:nvGraphicFramePr>
        <p:xfrm>
          <a:off x="151200" y="1692000"/>
          <a:ext cx="7473599" cy="3133214"/>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522203">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200847">
                <a:tc>
                  <a:txBody>
                    <a:bodyPr/>
                    <a:lstStyle/>
                    <a:p>
                      <a:pPr algn="l">
                        <a:defRPr sz="1000">
                          <a:latin typeface="Montserrat"/>
                        </a:defRPr>
                      </a:pPr>
                      <a:r>
                        <a:t>UMF 5 Ixtaczoquitlán</a:t>
                      </a:r>
                    </a:p>
                  </a:txBody>
                  <a:tcPr marL="0" marR="0" marT="0" marB="0">
                    <a:solidFill>
                      <a:srgbClr val="FFFFFF"/>
                    </a:solidFill>
                  </a:tcPr>
                </a:tc>
                <a:tc>
                  <a:txBody>
                    <a:bodyPr/>
                    <a:lstStyle/>
                    <a:p>
                      <a:pPr algn="ctr">
                        <a:defRPr sz="1000">
                          <a:latin typeface="Montserrat"/>
                        </a:defRPr>
                      </a:pPr>
                      <a:r>
                        <a:t>22,899</a:t>
                      </a:r>
                    </a:p>
                  </a:txBody>
                  <a:tcPr marL="0" marR="0" marT="0" marB="0">
                    <a:solidFill>
                      <a:srgbClr val="FFFFFF"/>
                    </a:solidFill>
                  </a:tcPr>
                </a:tc>
                <a:tc>
                  <a:txBody>
                    <a:bodyPr/>
                    <a:lstStyle/>
                    <a:p>
                      <a:pPr algn="ctr">
                        <a:defRPr sz="1000">
                          <a:latin typeface="Montserrat"/>
                        </a:defRPr>
                      </a:pPr>
                      <a:r>
                        <a:t>4,978</a:t>
                      </a:r>
                    </a:p>
                  </a:txBody>
                  <a:tcPr marL="0" marR="0" marT="0" marB="0">
                    <a:solidFill>
                      <a:srgbClr val="FFFFFF"/>
                    </a:solidFill>
                  </a:tcPr>
                </a:tc>
                <a:tc>
                  <a:txBody>
                    <a:bodyPr/>
                    <a:lstStyle/>
                    <a:p>
                      <a:pPr algn="ctr">
                        <a:defRPr sz="1000">
                          <a:latin typeface="Montserrat"/>
                        </a:defRPr>
                      </a:pPr>
                      <a:r>
                        <a:t>10,860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extLst>
                  <a:ext uri="{0D108BD9-81ED-4DB2-BD59-A6C34878D82A}">
                    <a16:rowId xmlns:a16="http://schemas.microsoft.com/office/drawing/2014/main" val="10001"/>
                  </a:ext>
                </a:extLst>
              </a:tr>
              <a:tr h="200847">
                <a:tc>
                  <a:txBody>
                    <a:bodyPr/>
                    <a:lstStyle/>
                    <a:p>
                      <a:pPr algn="l">
                        <a:defRPr sz="1000">
                          <a:latin typeface="Montserrat"/>
                        </a:defRPr>
                      </a:pPr>
                      <a:r>
                        <a:t>UMF 63 El Farallón</a:t>
                      </a:r>
                    </a:p>
                  </a:txBody>
                  <a:tcPr marL="0" marR="0" marT="0" marB="0">
                    <a:solidFill>
                      <a:srgbClr val="EFEFEF"/>
                    </a:solidFill>
                  </a:tcPr>
                </a:tc>
                <a:tc>
                  <a:txBody>
                    <a:bodyPr/>
                    <a:lstStyle/>
                    <a:p>
                      <a:pPr algn="ctr">
                        <a:defRPr sz="1000">
                          <a:latin typeface="Montserrat"/>
                        </a:defRPr>
                      </a:pPr>
                      <a:r>
                        <a:t>7,538</a:t>
                      </a:r>
                    </a:p>
                  </a:txBody>
                  <a:tcPr marL="0" marR="0" marT="0" marB="0">
                    <a:solidFill>
                      <a:srgbClr val="EFEFEF"/>
                    </a:solidFill>
                  </a:tcPr>
                </a:tc>
                <a:tc>
                  <a:txBody>
                    <a:bodyPr/>
                    <a:lstStyle/>
                    <a:p>
                      <a:pPr algn="ctr">
                        <a:defRPr sz="1000">
                          <a:latin typeface="Montserrat"/>
                        </a:defRPr>
                      </a:pPr>
                      <a:r>
                        <a:t>-531</a:t>
                      </a:r>
                    </a:p>
                  </a:txBody>
                  <a:tcPr marL="0" marR="0" marT="0" marB="0">
                    <a:solidFill>
                      <a:srgbClr val="EFEFEF"/>
                    </a:solidFill>
                  </a:tcPr>
                </a:tc>
                <a:tc>
                  <a:txBody>
                    <a:bodyPr/>
                    <a:lstStyle/>
                    <a:p>
                      <a:pPr algn="ctr">
                        <a:defRPr sz="1000">
                          <a:latin typeface="Montserrat"/>
                        </a:defRPr>
                      </a:pPr>
                      <a:r>
                        <a:t>2,957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extLst>
                  <a:ext uri="{0D108BD9-81ED-4DB2-BD59-A6C34878D82A}">
                    <a16:rowId xmlns:a16="http://schemas.microsoft.com/office/drawing/2014/main" val="10002"/>
                  </a:ext>
                </a:extLst>
              </a:tr>
              <a:tr h="200847">
                <a:tc>
                  <a:txBody>
                    <a:bodyPr/>
                    <a:lstStyle/>
                    <a:p>
                      <a:pPr algn="l">
                        <a:defRPr sz="1000">
                          <a:latin typeface="Montserrat"/>
                        </a:defRPr>
                      </a:pPr>
                      <a:r>
                        <a:t>UMF 12 La Concepción</a:t>
                      </a:r>
                    </a:p>
                  </a:txBody>
                  <a:tcPr marL="0" marR="0" marT="0" marB="0">
                    <a:solidFill>
                      <a:srgbClr val="FFFFFF"/>
                    </a:solidFill>
                  </a:tcPr>
                </a:tc>
                <a:tc>
                  <a:txBody>
                    <a:bodyPr/>
                    <a:lstStyle/>
                    <a:p>
                      <a:pPr algn="ctr">
                        <a:defRPr sz="1000">
                          <a:latin typeface="Montserrat"/>
                        </a:defRPr>
                      </a:pPr>
                      <a:r>
                        <a:t>24,034</a:t>
                      </a:r>
                    </a:p>
                  </a:txBody>
                  <a:tcPr marL="0" marR="0" marT="0" marB="0">
                    <a:solidFill>
                      <a:srgbClr val="FFFFFF"/>
                    </a:solidFill>
                  </a:tcPr>
                </a:tc>
                <a:tc>
                  <a:txBody>
                    <a:bodyPr/>
                    <a:lstStyle/>
                    <a:p>
                      <a:pPr algn="ctr">
                        <a:defRPr sz="1000">
                          <a:latin typeface="Montserrat"/>
                        </a:defRPr>
                      </a:pPr>
                      <a:r>
                        <a:t>5,778</a:t>
                      </a:r>
                    </a:p>
                  </a:txBody>
                  <a:tcPr marL="0" marR="0" marT="0" marB="0">
                    <a:solidFill>
                      <a:srgbClr val="FFFFFF"/>
                    </a:solidFill>
                  </a:tcPr>
                </a:tc>
                <a:tc>
                  <a:txBody>
                    <a:bodyPr/>
                    <a:lstStyle/>
                    <a:p>
                      <a:pPr algn="ctr">
                        <a:defRPr sz="1000">
                          <a:latin typeface="Montserrat"/>
                        </a:defRPr>
                      </a:pPr>
                      <a:r>
                        <a:t>11,173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44.6%</a:t>
                      </a:r>
                    </a:p>
                  </a:txBody>
                  <a:tcPr marL="0" marR="0" marT="0" marB="0">
                    <a:solidFill>
                      <a:srgbClr val="ECD3D9"/>
                    </a:solidFill>
                  </a:tcPr>
                </a:tc>
                <a:extLst>
                  <a:ext uri="{0D108BD9-81ED-4DB2-BD59-A6C34878D82A}">
                    <a16:rowId xmlns:a16="http://schemas.microsoft.com/office/drawing/2014/main" val="10003"/>
                  </a:ext>
                </a:extLst>
              </a:tr>
              <a:tr h="200847">
                <a:tc>
                  <a:txBody>
                    <a:bodyPr/>
                    <a:lstStyle/>
                    <a:p>
                      <a:pPr algn="l">
                        <a:defRPr sz="1000">
                          <a:latin typeface="Montserrat"/>
                        </a:defRPr>
                      </a:pPr>
                      <a:r>
                        <a:t>UMF 25 Cotaxtla</a:t>
                      </a:r>
                    </a:p>
                  </a:txBody>
                  <a:tcPr marL="0" marR="0" marT="0" marB="0">
                    <a:solidFill>
                      <a:srgbClr val="EFEFEF"/>
                    </a:solidFill>
                  </a:tcPr>
                </a:tc>
                <a:tc>
                  <a:txBody>
                    <a:bodyPr/>
                    <a:lstStyle/>
                    <a:p>
                      <a:pPr algn="ctr">
                        <a:defRPr sz="1000">
                          <a:latin typeface="Montserrat"/>
                        </a:defRPr>
                      </a:pPr>
                      <a:r>
                        <a:t>7,938</a:t>
                      </a:r>
                    </a:p>
                  </a:txBody>
                  <a:tcPr marL="0" marR="0" marT="0" marB="0">
                    <a:solidFill>
                      <a:srgbClr val="EFEFEF"/>
                    </a:solidFill>
                  </a:tcPr>
                </a:tc>
                <a:tc>
                  <a:txBody>
                    <a:bodyPr/>
                    <a:lstStyle/>
                    <a:p>
                      <a:pPr algn="ctr">
                        <a:defRPr sz="1000">
                          <a:latin typeface="Montserrat"/>
                        </a:defRPr>
                      </a:pPr>
                      <a:r>
                        <a:t>1,233</a:t>
                      </a:r>
                    </a:p>
                  </a:txBody>
                  <a:tcPr marL="0" marR="0" marT="0" marB="0">
                    <a:solidFill>
                      <a:srgbClr val="EFEFEF"/>
                    </a:solidFill>
                  </a:tcPr>
                </a:tc>
                <a:tc>
                  <a:txBody>
                    <a:bodyPr/>
                    <a:lstStyle/>
                    <a:p>
                      <a:pPr algn="ctr">
                        <a:defRPr sz="1000">
                          <a:latin typeface="Montserrat"/>
                        </a:defRPr>
                      </a:pPr>
                      <a:r>
                        <a:t>4,043</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44.9%</a:t>
                      </a:r>
                    </a:p>
                  </a:txBody>
                  <a:tcPr marL="0" marR="0" marT="0" marB="0">
                    <a:solidFill>
                      <a:srgbClr val="ECD3D9"/>
                    </a:solidFill>
                  </a:tcPr>
                </a:tc>
                <a:extLst>
                  <a:ext uri="{0D108BD9-81ED-4DB2-BD59-A6C34878D82A}">
                    <a16:rowId xmlns:a16="http://schemas.microsoft.com/office/drawing/2014/main" val="10004"/>
                  </a:ext>
                </a:extLst>
              </a:tr>
              <a:tr h="200847">
                <a:tc>
                  <a:txBody>
                    <a:bodyPr/>
                    <a:lstStyle/>
                    <a:p>
                      <a:pPr algn="l">
                        <a:defRPr sz="1000">
                          <a:latin typeface="Montserrat"/>
                        </a:defRPr>
                      </a:pPr>
                      <a:r>
                        <a:t>UMF 63 Tierra Blanca</a:t>
                      </a:r>
                    </a:p>
                  </a:txBody>
                  <a:tcPr marL="0" marR="0" marT="0" marB="0">
                    <a:solidFill>
                      <a:srgbClr val="FFFFFF"/>
                    </a:solidFill>
                  </a:tcPr>
                </a:tc>
                <a:tc>
                  <a:txBody>
                    <a:bodyPr/>
                    <a:lstStyle/>
                    <a:p>
                      <a:pPr algn="ctr">
                        <a:defRPr sz="1000">
                          <a:latin typeface="Montserrat"/>
                        </a:defRPr>
                      </a:pPr>
                      <a:r>
                        <a:t>78,371</a:t>
                      </a:r>
                    </a:p>
                  </a:txBody>
                  <a:tcPr marL="0" marR="0" marT="0" marB="0">
                    <a:solidFill>
                      <a:srgbClr val="FFFFFF"/>
                    </a:solidFill>
                  </a:tcPr>
                </a:tc>
                <a:tc>
                  <a:txBody>
                    <a:bodyPr/>
                    <a:lstStyle/>
                    <a:p>
                      <a:pPr algn="ctr">
                        <a:defRPr sz="1000">
                          <a:latin typeface="Montserrat"/>
                        </a:defRPr>
                      </a:pPr>
                      <a:r>
                        <a:t>9,667</a:t>
                      </a:r>
                    </a:p>
                  </a:txBody>
                  <a:tcPr marL="0" marR="0" marT="0" marB="0">
                    <a:solidFill>
                      <a:srgbClr val="FFFFFF"/>
                    </a:solidFill>
                  </a:tcPr>
                </a:tc>
                <a:tc>
                  <a:txBody>
                    <a:bodyPr/>
                    <a:lstStyle/>
                    <a:p>
                      <a:pPr algn="ctr">
                        <a:defRPr sz="1000">
                          <a:latin typeface="Montserrat"/>
                        </a:defRPr>
                      </a:pPr>
                      <a:r>
                        <a:t>34,317</a:t>
                      </a:r>
                    </a:p>
                  </a:txBody>
                  <a:tcPr marL="0" marR="0" marT="0" marB="0">
                    <a:solidFill>
                      <a:srgbClr val="ECD3D9"/>
                    </a:solidFill>
                  </a:tcPr>
                </a:tc>
                <a:tc>
                  <a:txBody>
                    <a:bodyPr/>
                    <a:lstStyle/>
                    <a:p>
                      <a:pPr algn="ctr">
                        <a:defRPr sz="1000">
                          <a:latin typeface="Montserrat"/>
                        </a:defRPr>
                      </a:pPr>
                      <a:r>
                        <a:t>75,000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05"/>
                  </a:ext>
                </a:extLst>
              </a:tr>
              <a:tr h="200847">
                <a:tc>
                  <a:txBody>
                    <a:bodyPr/>
                    <a:lstStyle/>
                    <a:p>
                      <a:pPr algn="l">
                        <a:defRPr sz="1000">
                          <a:latin typeface="Montserrat"/>
                        </a:defRPr>
                      </a:pPr>
                      <a:r>
                        <a:t>UMF 52 Cosoleacaque</a:t>
                      </a:r>
                    </a:p>
                  </a:txBody>
                  <a:tcPr marL="0" marR="0" marT="0" marB="0">
                    <a:solidFill>
                      <a:srgbClr val="EFEFEF"/>
                    </a:solidFill>
                  </a:tcPr>
                </a:tc>
                <a:tc>
                  <a:txBody>
                    <a:bodyPr/>
                    <a:lstStyle/>
                    <a:p>
                      <a:pPr algn="ctr">
                        <a:defRPr sz="1000">
                          <a:latin typeface="Montserrat"/>
                        </a:defRPr>
                      </a:pPr>
                      <a:r>
                        <a:t>74,534</a:t>
                      </a:r>
                    </a:p>
                  </a:txBody>
                  <a:tcPr marL="0" marR="0" marT="0" marB="0">
                    <a:solidFill>
                      <a:srgbClr val="EFEFEF"/>
                    </a:solidFill>
                  </a:tcPr>
                </a:tc>
                <a:tc>
                  <a:txBody>
                    <a:bodyPr/>
                    <a:lstStyle/>
                    <a:p>
                      <a:pPr algn="ctr">
                        <a:defRPr sz="1000">
                          <a:latin typeface="Montserrat"/>
                        </a:defRPr>
                      </a:pPr>
                      <a:r>
                        <a:t>12,362</a:t>
                      </a:r>
                    </a:p>
                  </a:txBody>
                  <a:tcPr marL="0" marR="0" marT="0" marB="0">
                    <a:solidFill>
                      <a:srgbClr val="EFEFEF"/>
                    </a:solidFill>
                  </a:tcPr>
                </a:tc>
                <a:tc>
                  <a:txBody>
                    <a:bodyPr/>
                    <a:lstStyle/>
                    <a:p>
                      <a:pPr algn="ctr">
                        <a:defRPr sz="1000">
                          <a:latin typeface="Montserrat"/>
                        </a:defRPr>
                      </a:pPr>
                      <a:r>
                        <a:t>35,514</a:t>
                      </a:r>
                    </a:p>
                  </a:txBody>
                  <a:tcPr marL="0" marR="0" marT="0" marB="0">
                    <a:solidFill>
                      <a:srgbClr val="ECD3D9"/>
                    </a:solidFill>
                  </a:tcPr>
                </a:tc>
                <a:tc>
                  <a:txBody>
                    <a:bodyPr/>
                    <a:lstStyle/>
                    <a:p>
                      <a:pPr algn="ctr">
                        <a:defRPr sz="1000">
                          <a:latin typeface="Montserrat"/>
                        </a:defRPr>
                      </a:pPr>
                      <a:r>
                        <a:t>71,000</a:t>
                      </a:r>
                    </a:p>
                  </a:txBody>
                  <a:tcPr marL="0" marR="0" marT="0" marB="0">
                    <a:solidFill>
                      <a:srgbClr val="ECD3D9"/>
                    </a:solidFill>
                  </a:tcPr>
                </a:tc>
                <a:tc>
                  <a:txBody>
                    <a:bodyPr/>
                    <a:lstStyle/>
                    <a:p>
                      <a:pPr algn="ctr">
                        <a:defRPr sz="1000">
                          <a:latin typeface="Montserrat"/>
                        </a:defRPr>
                      </a:pPr>
                      <a:r>
                        <a:t>50.0%</a:t>
                      </a:r>
                    </a:p>
                  </a:txBody>
                  <a:tcPr marL="0" marR="0" marT="0" marB="0">
                    <a:solidFill>
                      <a:srgbClr val="ECD3D9"/>
                    </a:solidFill>
                  </a:tcPr>
                </a:tc>
                <a:extLst>
                  <a:ext uri="{0D108BD9-81ED-4DB2-BD59-A6C34878D82A}">
                    <a16:rowId xmlns:a16="http://schemas.microsoft.com/office/drawing/2014/main" val="10006"/>
                  </a:ext>
                </a:extLst>
              </a:tr>
              <a:tr h="200847">
                <a:tc>
                  <a:txBody>
                    <a:bodyPr/>
                    <a:lstStyle/>
                    <a:p>
                      <a:pPr algn="l">
                        <a:defRPr sz="1000">
                          <a:latin typeface="Montserrat"/>
                        </a:defRPr>
                      </a:pPr>
                      <a:r>
                        <a:t>UMF 64 Córdoba</a:t>
                      </a:r>
                    </a:p>
                  </a:txBody>
                  <a:tcPr marL="0" marR="0" marT="0" marB="0">
                    <a:solidFill>
                      <a:srgbClr val="FFFFFF"/>
                    </a:solidFill>
                  </a:tcPr>
                </a:tc>
                <a:tc>
                  <a:txBody>
                    <a:bodyPr/>
                    <a:lstStyle/>
                    <a:p>
                      <a:pPr algn="ctr">
                        <a:defRPr sz="1000">
                          <a:latin typeface="Montserrat"/>
                        </a:defRPr>
                      </a:pPr>
                      <a:r>
                        <a:t>147,918</a:t>
                      </a:r>
                    </a:p>
                  </a:txBody>
                  <a:tcPr marL="0" marR="0" marT="0" marB="0">
                    <a:solidFill>
                      <a:srgbClr val="FFFFFF"/>
                    </a:solidFill>
                  </a:tcPr>
                </a:tc>
                <a:tc>
                  <a:txBody>
                    <a:bodyPr/>
                    <a:lstStyle/>
                    <a:p>
                      <a:pPr algn="ctr">
                        <a:defRPr sz="1000">
                          <a:latin typeface="Montserrat"/>
                        </a:defRPr>
                      </a:pPr>
                      <a:r>
                        <a:t>12,117</a:t>
                      </a:r>
                    </a:p>
                  </a:txBody>
                  <a:tcPr marL="0" marR="0" marT="0" marB="0">
                    <a:solidFill>
                      <a:srgbClr val="FFFFFF"/>
                    </a:solidFill>
                  </a:tcPr>
                </a:tc>
                <a:tc>
                  <a:txBody>
                    <a:bodyPr/>
                    <a:lstStyle/>
                    <a:p>
                      <a:pPr algn="ctr">
                        <a:defRPr sz="1000">
                          <a:latin typeface="Montserrat"/>
                        </a:defRPr>
                      </a:pPr>
                      <a:r>
                        <a:t>62,470</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extLst>
                  <a:ext uri="{0D108BD9-81ED-4DB2-BD59-A6C34878D82A}">
                    <a16:rowId xmlns:a16="http://schemas.microsoft.com/office/drawing/2014/main" val="10007"/>
                  </a:ext>
                </a:extLst>
              </a:tr>
              <a:tr h="200847">
                <a:tc>
                  <a:txBody>
                    <a:bodyPr/>
                    <a:lstStyle/>
                    <a:p>
                      <a:pPr algn="l">
                        <a:defRPr sz="1000">
                          <a:latin typeface="Montserrat"/>
                        </a:defRPr>
                      </a:pPr>
                      <a:r>
                        <a:t>UMF 60 Coatzacoalcos</a:t>
                      </a:r>
                    </a:p>
                  </a:txBody>
                  <a:tcPr marL="0" marR="0" marT="0" marB="0">
                    <a:solidFill>
                      <a:srgbClr val="EFEFEF"/>
                    </a:solidFill>
                  </a:tcPr>
                </a:tc>
                <a:tc>
                  <a:txBody>
                    <a:bodyPr/>
                    <a:lstStyle/>
                    <a:p>
                      <a:pPr algn="ctr">
                        <a:defRPr sz="1000">
                          <a:latin typeface="Montserrat"/>
                        </a:defRPr>
                      </a:pPr>
                      <a:r>
                        <a:t>88,768</a:t>
                      </a:r>
                    </a:p>
                  </a:txBody>
                  <a:tcPr marL="0" marR="0" marT="0" marB="0">
                    <a:solidFill>
                      <a:srgbClr val="EFEFEF"/>
                    </a:solidFill>
                  </a:tcPr>
                </a:tc>
                <a:tc>
                  <a:txBody>
                    <a:bodyPr/>
                    <a:lstStyle/>
                    <a:p>
                      <a:pPr algn="ctr">
                        <a:defRPr sz="1000">
                          <a:latin typeface="Montserrat"/>
                        </a:defRPr>
                      </a:pPr>
                      <a:r>
                        <a:t>21,026</a:t>
                      </a:r>
                    </a:p>
                  </a:txBody>
                  <a:tcPr marL="0" marR="0" marT="0" marB="0">
                    <a:solidFill>
                      <a:srgbClr val="EFEFEF"/>
                    </a:solidFill>
                  </a:tcPr>
                </a:tc>
                <a:tc>
                  <a:txBody>
                    <a:bodyPr/>
                    <a:lstStyle/>
                    <a:p>
                      <a:pPr algn="ctr">
                        <a:defRPr sz="1000">
                          <a:latin typeface="Montserrat"/>
                        </a:defRPr>
                      </a:pPr>
                      <a:r>
                        <a:t>42,124</a:t>
                      </a:r>
                    </a:p>
                  </a:txBody>
                  <a:tcPr marL="0" marR="0" marT="0" marB="0">
                    <a:solidFill>
                      <a:srgbClr val="ECD3D9"/>
                    </a:solidFill>
                  </a:tcPr>
                </a:tc>
                <a:tc>
                  <a:txBody>
                    <a:bodyPr/>
                    <a:lstStyle/>
                    <a:p>
                      <a:pPr algn="ctr">
                        <a:defRPr sz="1000">
                          <a:latin typeface="Montserrat"/>
                        </a:defRPr>
                      </a:pPr>
                      <a:r>
                        <a:t>85,000</a:t>
                      </a:r>
                    </a:p>
                  </a:txBody>
                  <a:tcPr marL="0" marR="0" marT="0" marB="0">
                    <a:solidFill>
                      <a:srgbClr val="ECD3D9"/>
                    </a:solidFill>
                  </a:tcPr>
                </a:tc>
                <a:tc>
                  <a:txBody>
                    <a:bodyPr/>
                    <a:lstStyle/>
                    <a:p>
                      <a:pPr algn="ctr">
                        <a:defRPr sz="1000">
                          <a:latin typeface="Montserrat"/>
                        </a:defRPr>
                      </a:pPr>
                      <a:r>
                        <a:t>49.6%</a:t>
                      </a:r>
                    </a:p>
                  </a:txBody>
                  <a:tcPr marL="0" marR="0" marT="0" marB="0">
                    <a:solidFill>
                      <a:srgbClr val="ECD3D9"/>
                    </a:solidFill>
                  </a:tcPr>
                </a:tc>
                <a:extLst>
                  <a:ext uri="{0D108BD9-81ED-4DB2-BD59-A6C34878D82A}">
                    <a16:rowId xmlns:a16="http://schemas.microsoft.com/office/drawing/2014/main" val="10008"/>
                  </a:ext>
                </a:extLst>
              </a:tr>
              <a:tr h="200847">
                <a:tc>
                  <a:txBody>
                    <a:bodyPr/>
                    <a:lstStyle/>
                    <a:p>
                      <a:pPr algn="l">
                        <a:defRPr sz="1000">
                          <a:latin typeface="Montserrat"/>
                        </a:defRPr>
                      </a:pPr>
                      <a:r>
                        <a:t>UMF 65 Congregación</a:t>
                      </a:r>
                    </a:p>
                  </a:txBody>
                  <a:tcPr marL="0" marR="0" marT="0" marB="0">
                    <a:solidFill>
                      <a:srgbClr val="FFFFFF"/>
                    </a:solidFill>
                  </a:tcPr>
                </a:tc>
                <a:tc>
                  <a:txBody>
                    <a:bodyPr/>
                    <a:lstStyle/>
                    <a:p>
                      <a:pPr algn="ctr">
                        <a:defRPr sz="1000">
                          <a:latin typeface="Montserrat"/>
                        </a:defRPr>
                      </a:pPr>
                      <a:r>
                        <a:t>21,356</a:t>
                      </a:r>
                    </a:p>
                  </a:txBody>
                  <a:tcPr marL="0" marR="0" marT="0" marB="0">
                    <a:solidFill>
                      <a:srgbClr val="FFFFFF"/>
                    </a:solidFill>
                  </a:tcPr>
                </a:tc>
                <a:tc>
                  <a:txBody>
                    <a:bodyPr/>
                    <a:lstStyle/>
                    <a:p>
                      <a:pPr algn="ctr">
                        <a:defRPr sz="1000">
                          <a:latin typeface="Montserrat"/>
                        </a:defRPr>
                      </a:pPr>
                      <a:r>
                        <a:t>3,518</a:t>
                      </a:r>
                    </a:p>
                  </a:txBody>
                  <a:tcPr marL="0" marR="0" marT="0" marB="0">
                    <a:solidFill>
                      <a:srgbClr val="FFFFFF"/>
                    </a:solidFill>
                  </a:tcPr>
                </a:tc>
                <a:tc>
                  <a:txBody>
                    <a:bodyPr/>
                    <a:lstStyle/>
                    <a:p>
                      <a:pPr algn="ctr">
                        <a:defRPr sz="1000">
                          <a:latin typeface="Montserrat"/>
                        </a:defRPr>
                      </a:pPr>
                      <a:r>
                        <a:t>6,850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27.3%</a:t>
                      </a:r>
                    </a:p>
                  </a:txBody>
                  <a:tcPr marL="0" marR="0" marT="0" marB="0">
                    <a:solidFill>
                      <a:srgbClr val="ECD3D9"/>
                    </a:solidFill>
                  </a:tcPr>
                </a:tc>
                <a:extLst>
                  <a:ext uri="{0D108BD9-81ED-4DB2-BD59-A6C34878D82A}">
                    <a16:rowId xmlns:a16="http://schemas.microsoft.com/office/drawing/2014/main" val="10009"/>
                  </a:ext>
                </a:extLst>
              </a:tr>
              <a:tr h="200847">
                <a:tc>
                  <a:txBody>
                    <a:bodyPr/>
                    <a:lstStyle/>
                    <a:p>
                      <a:pPr algn="l">
                        <a:defRPr sz="1000">
                          <a:latin typeface="Montserrat"/>
                        </a:defRPr>
                      </a:pPr>
                      <a:r>
                        <a:t>UMF 66 Nanchital</a:t>
                      </a:r>
                    </a:p>
                  </a:txBody>
                  <a:tcPr marL="0" marR="0" marT="0" marB="0">
                    <a:solidFill>
                      <a:srgbClr val="EFEFEF"/>
                    </a:solidFill>
                  </a:tcPr>
                </a:tc>
                <a:tc>
                  <a:txBody>
                    <a:bodyPr/>
                    <a:lstStyle/>
                    <a:p>
                      <a:pPr algn="ctr">
                        <a:defRPr sz="1000">
                          <a:latin typeface="Montserrat"/>
                        </a:defRPr>
                      </a:pPr>
                      <a:r>
                        <a:t>26,678</a:t>
                      </a:r>
                    </a:p>
                  </a:txBody>
                  <a:tcPr marL="0" marR="0" marT="0" marB="0">
                    <a:solidFill>
                      <a:srgbClr val="EFEFEF"/>
                    </a:solidFill>
                  </a:tcPr>
                </a:tc>
                <a:tc>
                  <a:txBody>
                    <a:bodyPr/>
                    <a:lstStyle/>
                    <a:p>
                      <a:pPr algn="ctr">
                        <a:defRPr sz="1000">
                          <a:latin typeface="Montserrat"/>
                        </a:defRPr>
                      </a:pPr>
                      <a:r>
                        <a:t>4,034</a:t>
                      </a:r>
                    </a:p>
                  </a:txBody>
                  <a:tcPr marL="0" marR="0" marT="0" marB="0">
                    <a:solidFill>
                      <a:srgbClr val="EFEFEF"/>
                    </a:solidFill>
                  </a:tcPr>
                </a:tc>
                <a:tc>
                  <a:txBody>
                    <a:bodyPr/>
                    <a:lstStyle/>
                    <a:p>
                      <a:pPr algn="ctr">
                        <a:defRPr sz="1000">
                          <a:latin typeface="Montserrat"/>
                        </a:defRPr>
                      </a:pPr>
                      <a:r>
                        <a:t>11,072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44.2%</a:t>
                      </a:r>
                    </a:p>
                  </a:txBody>
                  <a:tcPr marL="0" marR="0" marT="0" marB="0">
                    <a:solidFill>
                      <a:srgbClr val="ECD3D9"/>
                    </a:solidFill>
                  </a:tcPr>
                </a:tc>
                <a:extLst>
                  <a:ext uri="{0D108BD9-81ED-4DB2-BD59-A6C34878D82A}">
                    <a16:rowId xmlns:a16="http://schemas.microsoft.com/office/drawing/2014/main" val="10010"/>
                  </a:ext>
                </a:extLst>
              </a:tr>
              <a:tr h="200847">
                <a:tc>
                  <a:txBody>
                    <a:bodyPr/>
                    <a:lstStyle/>
                    <a:p>
                      <a:pPr algn="l">
                        <a:defRPr sz="1000">
                          <a:latin typeface="Montserrat"/>
                        </a:defRPr>
                      </a:pPr>
                      <a:r>
                        <a:t>UMF 67 Revolución</a:t>
                      </a:r>
                    </a:p>
                  </a:txBody>
                  <a:tcPr marL="0" marR="0" marT="0" marB="0">
                    <a:solidFill>
                      <a:srgbClr val="FFFFFF"/>
                    </a:solidFill>
                  </a:tcPr>
                </a:tc>
                <a:tc>
                  <a:txBody>
                    <a:bodyPr/>
                    <a:lstStyle/>
                    <a:p>
                      <a:pPr algn="ctr">
                        <a:defRPr sz="1000">
                          <a:latin typeface="Montserrat"/>
                        </a:defRPr>
                      </a:pPr>
                      <a:r>
                        <a:t>116,311</a:t>
                      </a:r>
                    </a:p>
                  </a:txBody>
                  <a:tcPr marL="0" marR="0" marT="0" marB="0">
                    <a:solidFill>
                      <a:srgbClr val="FFFFFF"/>
                    </a:solidFill>
                  </a:tcPr>
                </a:tc>
                <a:tc>
                  <a:txBody>
                    <a:bodyPr/>
                    <a:lstStyle/>
                    <a:p>
                      <a:pPr algn="ctr">
                        <a:defRPr sz="1000">
                          <a:latin typeface="Montserrat"/>
                        </a:defRPr>
                      </a:pPr>
                      <a:r>
                        <a:t>29,010</a:t>
                      </a:r>
                    </a:p>
                  </a:txBody>
                  <a:tcPr marL="0" marR="0" marT="0" marB="0">
                    <a:solidFill>
                      <a:srgbClr val="FFFFFF"/>
                    </a:solidFill>
                  </a:tcPr>
                </a:tc>
                <a:tc>
                  <a:txBody>
                    <a:bodyPr/>
                    <a:lstStyle/>
                    <a:p>
                      <a:pPr algn="ctr">
                        <a:defRPr sz="1000">
                          <a:latin typeface="Montserrat"/>
                        </a:defRPr>
                      </a:pPr>
                      <a:r>
                        <a:t>62,128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49.6%</a:t>
                      </a:r>
                    </a:p>
                  </a:txBody>
                  <a:tcPr marL="0" marR="0" marT="0" marB="0">
                    <a:solidFill>
                      <a:srgbClr val="ECD3D9"/>
                    </a:solidFill>
                  </a:tcPr>
                </a:tc>
                <a:extLst>
                  <a:ext uri="{0D108BD9-81ED-4DB2-BD59-A6C34878D82A}">
                    <a16:rowId xmlns:a16="http://schemas.microsoft.com/office/drawing/2014/main" val="10011"/>
                  </a:ext>
                </a:extLst>
              </a:tr>
              <a:tr h="200847">
                <a:tc>
                  <a:txBody>
                    <a:bodyPr/>
                    <a:lstStyle/>
                    <a:p>
                      <a:pPr algn="l">
                        <a:defRPr sz="1000">
                          <a:latin typeface="Montserrat"/>
                        </a:defRPr>
                      </a:pPr>
                      <a:r>
                        <a:t>UMF 34 Juan Díaz</a:t>
                      </a:r>
                    </a:p>
                  </a:txBody>
                  <a:tcPr marL="0" marR="0" marT="0" marB="0">
                    <a:solidFill>
                      <a:srgbClr val="EFEFEF"/>
                    </a:solidFill>
                  </a:tcPr>
                </a:tc>
                <a:tc>
                  <a:txBody>
                    <a:bodyPr/>
                    <a:lstStyle/>
                    <a:p>
                      <a:pPr algn="ctr">
                        <a:defRPr sz="1000">
                          <a:latin typeface="Montserrat"/>
                        </a:defRPr>
                      </a:pPr>
                      <a:r>
                        <a:t>31,184</a:t>
                      </a:r>
                    </a:p>
                  </a:txBody>
                  <a:tcPr marL="0" marR="0" marT="0" marB="0">
                    <a:solidFill>
                      <a:srgbClr val="EFEFEF"/>
                    </a:solidFill>
                  </a:tcPr>
                </a:tc>
                <a:tc>
                  <a:txBody>
                    <a:bodyPr/>
                    <a:lstStyle/>
                    <a:p>
                      <a:pPr algn="ctr">
                        <a:defRPr sz="1000">
                          <a:latin typeface="Montserrat"/>
                        </a:defRPr>
                      </a:pPr>
                      <a:r>
                        <a:t>6,244</a:t>
                      </a:r>
                    </a:p>
                  </a:txBody>
                  <a:tcPr marL="0" marR="0" marT="0" marB="0">
                    <a:solidFill>
                      <a:srgbClr val="EFEFEF"/>
                    </a:solidFill>
                  </a:tcPr>
                </a:tc>
                <a:tc>
                  <a:txBody>
                    <a:bodyPr/>
                    <a:lstStyle/>
                    <a:p>
                      <a:pPr algn="ctr">
                        <a:defRPr sz="1000">
                          <a:latin typeface="Montserrat"/>
                        </a:defRPr>
                      </a:pPr>
                      <a:r>
                        <a:t>13,693</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33.6%</a:t>
                      </a:r>
                    </a:p>
                  </a:txBody>
                  <a:tcPr marL="0" marR="0" marT="0" marB="0">
                    <a:solidFill>
                      <a:srgbClr val="ECD3D9"/>
                    </a:solidFill>
                  </a:tcPr>
                </a:tc>
                <a:extLst>
                  <a:ext uri="{0D108BD9-81ED-4DB2-BD59-A6C34878D82A}">
                    <a16:rowId xmlns:a16="http://schemas.microsoft.com/office/drawing/2014/main" val="10012"/>
                  </a:ext>
                </a:extLst>
              </a:tr>
              <a:tr h="200847">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2,306,054</a:t>
                      </a:r>
                    </a:p>
                  </a:txBody>
                  <a:tcPr marL="0" marR="0" marT="0" marB="0">
                    <a:solidFill>
                      <a:srgbClr val="D3E9E7"/>
                    </a:solidFill>
                  </a:tcPr>
                </a:tc>
                <a:tc>
                  <a:txBody>
                    <a:bodyPr/>
                    <a:lstStyle/>
                    <a:p>
                      <a:pPr algn="ctr">
                        <a:defRPr sz="1000" b="1">
                          <a:solidFill>
                            <a:srgbClr val="006556"/>
                          </a:solidFill>
                          <a:latin typeface="Montserrat"/>
                        </a:defRPr>
                      </a:pPr>
                      <a:r>
                        <a:t>315,781</a:t>
                      </a:r>
                    </a:p>
                  </a:txBody>
                  <a:tcPr marL="0" marR="0" marT="0" marB="0">
                    <a:solidFill>
                      <a:srgbClr val="D3E9E7"/>
                    </a:solidFill>
                  </a:tcPr>
                </a:tc>
                <a:tc>
                  <a:txBody>
                    <a:bodyPr/>
                    <a:lstStyle/>
                    <a:p>
                      <a:pPr algn="ctr">
                        <a:defRPr sz="1000" b="1">
                          <a:solidFill>
                            <a:srgbClr val="FFFFFF"/>
                          </a:solidFill>
                          <a:latin typeface="Montserrat"/>
                        </a:defRPr>
                      </a:pPr>
                      <a:r>
                        <a:t>1,089,398</a:t>
                      </a:r>
                    </a:p>
                  </a:txBody>
                  <a:tcPr marL="0" marR="0" marT="0" marB="0">
                    <a:solidFill>
                      <a:srgbClr val="9F2241"/>
                    </a:solidFill>
                  </a:tcPr>
                </a:tc>
                <a:tc>
                  <a:txBody>
                    <a:bodyPr/>
                    <a:lstStyle/>
                    <a:p>
                      <a:pPr algn="ctr">
                        <a:defRPr sz="1000" b="1">
                          <a:solidFill>
                            <a:srgbClr val="FFFFFF"/>
                          </a:solidFill>
                          <a:latin typeface="Montserrat"/>
                        </a:defRPr>
                      </a:pPr>
                      <a:r>
                        <a:t>2,417,540</a:t>
                      </a:r>
                    </a:p>
                  </a:txBody>
                  <a:tcPr marL="0" marR="0" marT="0" marB="0">
                    <a:solidFill>
                      <a:srgbClr val="9F2241"/>
                    </a:solidFill>
                  </a:tcPr>
                </a:tc>
                <a:tc>
                  <a:txBody>
                    <a:bodyPr/>
                    <a:lstStyle/>
                    <a:p>
                      <a:pPr algn="ctr">
                        <a:defRPr sz="1000" b="1">
                          <a:solidFill>
                            <a:srgbClr val="FFFFFF"/>
                          </a:solidFill>
                          <a:latin typeface="Montserrat"/>
                        </a:defRPr>
                      </a:pPr>
                      <a:r>
                        <a:rPr dirty="0"/>
                        <a:t>45.1%</a:t>
                      </a:r>
                    </a:p>
                  </a:txBody>
                  <a:tcPr marL="0" marR="0" marT="0" marB="0">
                    <a:solidFill>
                      <a:srgbClr val="9F2241"/>
                    </a:solidFill>
                  </a:tcPr>
                </a:tc>
                <a:extLst>
                  <a:ext uri="{0D108BD9-81ED-4DB2-BD59-A6C34878D82A}">
                    <a16:rowId xmlns:a16="http://schemas.microsoft.com/office/drawing/2014/main" val="10013"/>
                  </a:ext>
                </a:extLst>
              </a:tr>
            </a:tbl>
          </a:graphicData>
        </a:graphic>
      </p:graphicFrame>
      <p:graphicFrame>
        <p:nvGraphicFramePr>
          <p:cNvPr id="8" name="Chart 7"/>
          <p:cNvGraphicFramePr>
            <a:graphicFrameLocks noGrp="1"/>
          </p:cNvGraphicFramePr>
          <p:nvPr>
            <p:extLst>
              <p:ext uri="{D42A27DB-BD31-4B8C-83A1-F6EECF244321}">
                <p14:modId xmlns:p14="http://schemas.microsoft.com/office/powerpoint/2010/main" val="332015330"/>
              </p:ext>
            </p:extLst>
          </p:nvPr>
        </p:nvGraphicFramePr>
        <p:xfrm>
          <a:off x="4780800" y="5527606"/>
          <a:ext cx="1800000" cy="18000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4780800" y="6247606"/>
            <a:ext cx="1800000" cy="360000"/>
          </a:xfrm>
          <a:prstGeom prst="rect">
            <a:avLst/>
          </a:prstGeom>
          <a:noFill/>
        </p:spPr>
        <p:txBody>
          <a:bodyPr wrap="none">
            <a:spAutoFit/>
          </a:bodyPr>
          <a:lstStyle/>
          <a:p>
            <a:pPr algn="ctr"/>
            <a:r>
              <a:rPr sz="2400" b="1">
                <a:solidFill>
                  <a:srgbClr val="9F2241"/>
                </a:solidFill>
                <a:latin typeface="Montserrat"/>
              </a:rPr>
              <a:t>45.1%</a:t>
            </a:r>
          </a:p>
        </p:txBody>
      </p:sp>
      <p:sp>
        <p:nvSpPr>
          <p:cNvPr id="10" name="TextBox 9"/>
          <p:cNvSpPr txBox="1"/>
          <p:nvPr/>
        </p:nvSpPr>
        <p:spPr>
          <a:xfrm>
            <a:off x="4780800" y="7147606"/>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5527606"/>
            <a:ext cx="2854800" cy="1198800"/>
          </a:xfrm>
          <a:prstGeom prst="rect">
            <a:avLst/>
          </a:prstGeom>
          <a:noFill/>
        </p:spPr>
        <p:txBody>
          <a:bodyPr wrap="square">
            <a:spAutoFit/>
          </a:bodyPr>
          <a:lstStyle/>
          <a:p>
            <a:pPr algn="ctr">
              <a:defRPr sz="3600" b="1">
                <a:solidFill>
                  <a:srgbClr val="9F2241"/>
                </a:solidFill>
                <a:latin typeface="Montserrat"/>
              </a:defRPr>
            </a:pPr>
            <a:r>
              <a:t>2,417,540 </a:t>
            </a:r>
            <a:br/>
            <a:r>
              <a:t>Meta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CA618E1A-8082-4DB6-27D0-4DA2D993C40C}"/>
              </a:ext>
            </a:extLst>
          </p:cNvPr>
          <p:cNvSpPr txBox="1"/>
          <p:nvPr/>
        </p:nvSpPr>
        <p:spPr>
          <a:xfrm>
            <a:off x="4155564" y="4511712"/>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8 Nuevas UMTC con   24 consultorios</a:t>
            </a:r>
          </a:p>
        </p:txBody>
      </p:sp>
      <p:sp>
        <p:nvSpPr>
          <p:cNvPr id="17" name="CuadroTexto 16">
            <a:extLst>
              <a:ext uri="{FF2B5EF4-FFF2-40B4-BE49-F238E27FC236}">
                <a16:creationId xmlns:a16="http://schemas.microsoft.com/office/drawing/2014/main" id="{C08706B3-7097-4F7C-FF49-A79BD9AC0D7D}"/>
              </a:ext>
            </a:extLst>
          </p:cNvPr>
          <p:cNvSpPr txBox="1"/>
          <p:nvPr/>
        </p:nvSpPr>
        <p:spPr>
          <a:xfrm>
            <a:off x="4513272" y="5527375"/>
            <a:ext cx="3006672" cy="1815882"/>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27 Papantla</a:t>
            </a:r>
          </a:p>
          <a:p>
            <a:pPr marL="342900" indent="-342900">
              <a:buFont typeface="+mj-lt"/>
              <a:buAutoNum type="arabicParenR"/>
            </a:pPr>
            <a:r>
              <a:rPr lang="es-MX" dirty="0">
                <a:latin typeface="Montserrat" panose="00000500000000000000" pitchFamily="2" charset="0"/>
              </a:rPr>
              <a:t>HGZMF 50 Lerdo Tejada</a:t>
            </a:r>
          </a:p>
          <a:p>
            <a:pPr marL="342900" indent="-342900">
              <a:buFont typeface="+mj-lt"/>
              <a:buAutoNum type="arabicParenR"/>
            </a:pPr>
            <a:r>
              <a:rPr lang="es-MX" dirty="0">
                <a:latin typeface="Montserrat" panose="00000500000000000000" pitchFamily="2" charset="0"/>
              </a:rPr>
              <a:t>UMF 23 S. Rafael</a:t>
            </a:r>
          </a:p>
          <a:p>
            <a:pPr marL="342900" indent="-342900">
              <a:buFont typeface="+mj-lt"/>
              <a:buAutoNum type="arabicParenR"/>
            </a:pPr>
            <a:r>
              <a:rPr lang="es-MX" dirty="0">
                <a:latin typeface="Montserrat" panose="00000500000000000000" pitchFamily="2" charset="0"/>
              </a:rPr>
              <a:t>HGZMF 32 Minatitlán</a:t>
            </a:r>
          </a:p>
          <a:p>
            <a:pPr marL="342900" indent="-342900">
              <a:buFont typeface="+mj-lt"/>
              <a:buAutoNum type="arabicParenR"/>
            </a:pPr>
            <a:r>
              <a:rPr lang="es-MX" dirty="0">
                <a:latin typeface="Montserrat" panose="00000500000000000000" pitchFamily="2" charset="0"/>
              </a:rPr>
              <a:t>UMF 52 Cosoleacaque</a:t>
            </a:r>
          </a:p>
          <a:p>
            <a:pPr marL="342900" indent="-342900">
              <a:buFont typeface="+mj-lt"/>
              <a:buAutoNum type="arabicParenR"/>
            </a:pPr>
            <a:r>
              <a:rPr lang="es-MX" dirty="0">
                <a:latin typeface="Montserrat" panose="00000500000000000000" pitchFamily="2" charset="0"/>
              </a:rPr>
              <a:t>UMF 51 Acayucan</a:t>
            </a:r>
          </a:p>
          <a:p>
            <a:pPr marL="342900" indent="-342900">
              <a:buFont typeface="+mj-lt"/>
              <a:buAutoNum type="arabicParenR"/>
            </a:pPr>
            <a:r>
              <a:rPr lang="es-MX" dirty="0">
                <a:latin typeface="Montserrat" panose="00000500000000000000" pitchFamily="2" charset="0"/>
              </a:rPr>
              <a:t>UMF 6 Ixhuatlancillo</a:t>
            </a:r>
          </a:p>
          <a:p>
            <a:pPr marL="342900" indent="-342900">
              <a:buFont typeface="+mj-lt"/>
              <a:buAutoNum type="arabicParenR"/>
            </a:pPr>
            <a:r>
              <a:rPr lang="es-MX" dirty="0">
                <a:latin typeface="Montserrat" panose="00000500000000000000" pitchFamily="2" charset="0"/>
              </a:rPr>
              <a:t>UMF 56 V. Islas</a:t>
            </a:r>
          </a:p>
        </p:txBody>
      </p:sp>
      <p:sp>
        <p:nvSpPr>
          <p:cNvPr id="18" name="CuadroTexto 17">
            <a:extLst>
              <a:ext uri="{FF2B5EF4-FFF2-40B4-BE49-F238E27FC236}">
                <a16:creationId xmlns:a16="http://schemas.microsoft.com/office/drawing/2014/main" id="{F321BFEE-3133-5F4D-15AF-A5C912F65FA5}"/>
              </a:ext>
            </a:extLst>
          </p:cNvPr>
          <p:cNvSpPr txBox="1"/>
          <p:nvPr/>
        </p:nvSpPr>
        <p:spPr>
          <a:xfrm>
            <a:off x="4086780" y="7361112"/>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15 consultorios en</a:t>
            </a:r>
          </a:p>
        </p:txBody>
      </p:sp>
      <p:sp>
        <p:nvSpPr>
          <p:cNvPr id="19" name="CuadroTexto 18">
            <a:extLst>
              <a:ext uri="{FF2B5EF4-FFF2-40B4-BE49-F238E27FC236}">
                <a16:creationId xmlns:a16="http://schemas.microsoft.com/office/drawing/2014/main" id="{0A06E84B-6187-3F3A-D63E-7E75A2348502}"/>
              </a:ext>
            </a:extLst>
          </p:cNvPr>
          <p:cNvSpPr txBox="1"/>
          <p:nvPr/>
        </p:nvSpPr>
        <p:spPr>
          <a:xfrm>
            <a:off x="4513272" y="8086853"/>
            <a:ext cx="288599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61 Veracruz</a:t>
            </a:r>
          </a:p>
          <a:p>
            <a:pPr marL="342900" indent="-342900">
              <a:buFont typeface="+mj-lt"/>
              <a:buAutoNum type="arabicParenR"/>
            </a:pPr>
            <a:r>
              <a:rPr lang="es-MX" dirty="0">
                <a:latin typeface="Montserrat" panose="00000500000000000000" pitchFamily="2" charset="0"/>
              </a:rPr>
              <a:t>UMF 57 Veracruz</a:t>
            </a:r>
          </a:p>
          <a:p>
            <a:pPr marL="342900" indent="-342900">
              <a:buFont typeface="+mj-lt"/>
              <a:buAutoNum type="arabicParenR"/>
            </a:pPr>
            <a:r>
              <a:rPr lang="es-MX" dirty="0">
                <a:latin typeface="Montserrat" panose="00000500000000000000" pitchFamily="2" charset="0"/>
              </a:rPr>
              <a:t>UMF 10 Jalapa</a:t>
            </a:r>
          </a:p>
          <a:p>
            <a:pPr marL="342900" indent="-342900">
              <a:buFont typeface="+mj-lt"/>
              <a:buAutoNum type="arabicParenR"/>
            </a:pPr>
            <a:r>
              <a:rPr lang="es-MX" dirty="0">
                <a:latin typeface="Montserrat" panose="00000500000000000000" pitchFamily="2" charset="0"/>
              </a:rPr>
              <a:t>HGZMF 36 José Cardel</a:t>
            </a:r>
          </a:p>
          <a:p>
            <a:pPr marL="342900" indent="-342900">
              <a:buFont typeface="+mj-lt"/>
              <a:buAutoNum type="arabicParenR"/>
            </a:pPr>
            <a:r>
              <a:rPr lang="es-MX" dirty="0">
                <a:latin typeface="Montserrat" panose="00000500000000000000" pitchFamily="2" charset="0"/>
              </a:rPr>
              <a:t>HGSMF 33 S. Andrés Tuxtla</a:t>
            </a:r>
          </a:p>
        </p:txBody>
      </p:sp>
      <p:sp>
        <p:nvSpPr>
          <p:cNvPr id="20" name="TextBox 1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1" name="TextBox 2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22" name="TextBox 2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16 Unidades Médicas de tiempo completo (67 consultorios)</a:t>
            </a:r>
          </a:p>
        </p:txBody>
      </p:sp>
      <p:sp>
        <p:nvSpPr>
          <p:cNvPr id="23" name="TextBox 2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4" name="Connector 2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26" name="TextBox 2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(344,028 consultas)</a:t>
            </a:r>
          </a:p>
        </p:txBody>
      </p:sp>
      <p:graphicFrame>
        <p:nvGraphicFramePr>
          <p:cNvPr id="27" name="Table 26"/>
          <p:cNvGraphicFramePr>
            <a:graphicFrameLocks noGrp="1"/>
          </p:cNvGraphicFramePr>
          <p:nvPr>
            <p:extLst>
              <p:ext uri="{D42A27DB-BD31-4B8C-83A1-F6EECF244321}">
                <p14:modId xmlns:p14="http://schemas.microsoft.com/office/powerpoint/2010/main" val="2016646447"/>
              </p:ext>
            </p:extLst>
          </p:nvPr>
        </p:nvGraphicFramePr>
        <p:xfrm>
          <a:off x="151200" y="1695600"/>
          <a:ext cx="7473599" cy="3139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38977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49912">
                <a:tc>
                  <a:txBody>
                    <a:bodyPr/>
                    <a:lstStyle/>
                    <a:p>
                      <a:pPr algn="l">
                        <a:defRPr sz="1000">
                          <a:solidFill>
                            <a:srgbClr val="000000"/>
                          </a:solidFill>
                          <a:latin typeface="Montserrat"/>
                        </a:defRPr>
                      </a:pPr>
                      <a:r>
                        <a:t>UMF 17 Coatepec</a:t>
                      </a:r>
                    </a:p>
                  </a:txBody>
                  <a:tcPr marL="0" marR="0" marT="0" marB="0">
                    <a:solidFill>
                      <a:srgbClr val="FFFFFF"/>
                    </a:solidFill>
                  </a:tcPr>
                </a:tc>
                <a:tc>
                  <a:txBody>
                    <a:bodyPr/>
                    <a:lstStyle/>
                    <a:p>
                      <a:pPr algn="ctr">
                        <a:defRPr sz="1000">
                          <a:solidFill>
                            <a:srgbClr val="000000"/>
                          </a:solidFill>
                          <a:latin typeface="Montserrat"/>
                        </a:defRPr>
                      </a:pPr>
                      <a:r>
                        <a:t>103,334</a:t>
                      </a:r>
                    </a:p>
                  </a:txBody>
                  <a:tcPr marL="0" marR="0" marT="0" marB="0">
                    <a:solidFill>
                      <a:srgbClr val="FFFFFF"/>
                    </a:solidFill>
                  </a:tcPr>
                </a:tc>
                <a:tc>
                  <a:txBody>
                    <a:bodyPr/>
                    <a:lstStyle/>
                    <a:p>
                      <a:pPr algn="ctr">
                        <a:defRPr sz="1000">
                          <a:solidFill>
                            <a:srgbClr val="000000"/>
                          </a:solidFill>
                          <a:latin typeface="Montserrat"/>
                        </a:defRPr>
                      </a:pPr>
                      <a:r>
                        <a:t>16,156</a:t>
                      </a:r>
                    </a:p>
                  </a:txBody>
                  <a:tcPr marL="0" marR="0" marT="0" marB="0">
                    <a:solidFill>
                      <a:srgbClr val="FFFFFF"/>
                    </a:solidFill>
                  </a:tcPr>
                </a:tc>
                <a:tc>
                  <a:txBody>
                    <a:bodyPr/>
                    <a:lstStyle/>
                    <a:p>
                      <a:pPr algn="ctr">
                        <a:defRPr sz="1000">
                          <a:solidFill>
                            <a:srgbClr val="000000"/>
                          </a:solidFill>
                          <a:latin typeface="Montserrat"/>
                        </a:defRPr>
                      </a:pPr>
                      <a:r>
                        <a:t>46,608</a:t>
                      </a:r>
                    </a:p>
                  </a:txBody>
                  <a:tcPr marL="0" marR="0" marT="0" marB="0">
                    <a:solidFill>
                      <a:srgbClr val="ECD3D9"/>
                    </a:solidFill>
                  </a:tcPr>
                </a:tc>
                <a:tc>
                  <a:txBody>
                    <a:bodyPr/>
                    <a:lstStyle/>
                    <a:p>
                      <a:pPr algn="ctr">
                        <a:defRPr sz="1000">
                          <a:solidFill>
                            <a:srgbClr val="000000"/>
                          </a:solidFill>
                          <a:latin typeface="Montserrat"/>
                        </a:defRPr>
                      </a:pPr>
                      <a:r>
                        <a:t>101,000</a:t>
                      </a:r>
                    </a:p>
                  </a:txBody>
                  <a:tcPr marL="0" marR="0" marT="0" marB="0">
                    <a:solidFill>
                      <a:srgbClr val="ECD3D9"/>
                    </a:solidFill>
                  </a:tcPr>
                </a:tc>
                <a:tc>
                  <a:txBody>
                    <a:bodyPr/>
                    <a:lstStyle/>
                    <a:p>
                      <a:pPr algn="ctr">
                        <a:defRPr sz="1000">
                          <a:solidFill>
                            <a:srgbClr val="000000"/>
                          </a:solidFill>
                          <a:latin typeface="Montserrat"/>
                        </a:defRPr>
                      </a:pPr>
                      <a:r>
                        <a:t>46.1%</a:t>
                      </a:r>
                    </a:p>
                  </a:txBody>
                  <a:tcPr marL="0" marR="0" marT="0" marB="0">
                    <a:solidFill>
                      <a:srgbClr val="ECD3D9"/>
                    </a:solidFill>
                  </a:tcPr>
                </a:tc>
                <a:extLst>
                  <a:ext uri="{0D108BD9-81ED-4DB2-BD59-A6C34878D82A}">
                    <a16:rowId xmlns:a16="http://schemas.microsoft.com/office/drawing/2014/main" val="10001"/>
                  </a:ext>
                </a:extLst>
              </a:tr>
              <a:tr h="149912">
                <a:tc>
                  <a:txBody>
                    <a:bodyPr/>
                    <a:lstStyle/>
                    <a:p>
                      <a:pPr algn="l">
                        <a:defRPr sz="1000">
                          <a:solidFill>
                            <a:srgbClr val="000000"/>
                          </a:solidFill>
                          <a:latin typeface="Montserrat"/>
                        </a:defRPr>
                      </a:pPr>
                      <a:r>
                        <a:t>UMF 1 Orizaba</a:t>
                      </a:r>
                    </a:p>
                  </a:txBody>
                  <a:tcPr marL="0" marR="0" marT="0" marB="0">
                    <a:solidFill>
                      <a:srgbClr val="EFEFEF"/>
                    </a:solidFill>
                  </a:tcPr>
                </a:tc>
                <a:tc>
                  <a:txBody>
                    <a:bodyPr/>
                    <a:lstStyle/>
                    <a:p>
                      <a:pPr algn="ctr">
                        <a:defRPr sz="1000">
                          <a:solidFill>
                            <a:srgbClr val="000000"/>
                          </a:solidFill>
                          <a:latin typeface="Montserrat"/>
                        </a:defRPr>
                      </a:pPr>
                      <a:r>
                        <a:t>176,712</a:t>
                      </a:r>
                    </a:p>
                  </a:txBody>
                  <a:tcPr marL="0" marR="0" marT="0" marB="0">
                    <a:solidFill>
                      <a:srgbClr val="EFEFEF"/>
                    </a:solidFill>
                  </a:tcPr>
                </a:tc>
                <a:tc>
                  <a:txBody>
                    <a:bodyPr/>
                    <a:lstStyle/>
                    <a:p>
                      <a:pPr algn="ctr">
                        <a:defRPr sz="1000">
                          <a:solidFill>
                            <a:srgbClr val="000000"/>
                          </a:solidFill>
                          <a:latin typeface="Montserrat"/>
                        </a:defRPr>
                      </a:pPr>
                      <a:r>
                        <a:t>26,314</a:t>
                      </a:r>
                    </a:p>
                  </a:txBody>
                  <a:tcPr marL="0" marR="0" marT="0" marB="0">
                    <a:solidFill>
                      <a:srgbClr val="EFEFEF"/>
                    </a:solidFill>
                  </a:tcPr>
                </a:tc>
                <a:tc>
                  <a:txBody>
                    <a:bodyPr/>
                    <a:lstStyle/>
                    <a:p>
                      <a:pPr algn="ctr">
                        <a:defRPr sz="1000">
                          <a:solidFill>
                            <a:srgbClr val="000000"/>
                          </a:solidFill>
                          <a:latin typeface="Montserrat"/>
                        </a:defRPr>
                      </a:pPr>
                      <a:r>
                        <a:t>77,594</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45.6%</a:t>
                      </a:r>
                    </a:p>
                  </a:txBody>
                  <a:tcPr marL="0" marR="0" marT="0" marB="0">
                    <a:solidFill>
                      <a:srgbClr val="ECD3D9"/>
                    </a:solidFill>
                  </a:tcPr>
                </a:tc>
                <a:extLst>
                  <a:ext uri="{0D108BD9-81ED-4DB2-BD59-A6C34878D82A}">
                    <a16:rowId xmlns:a16="http://schemas.microsoft.com/office/drawing/2014/main" val="10002"/>
                  </a:ext>
                </a:extLst>
              </a:tr>
              <a:tr h="149912">
                <a:tc>
                  <a:txBody>
                    <a:bodyPr/>
                    <a:lstStyle/>
                    <a:p>
                      <a:pPr algn="l">
                        <a:defRPr sz="1000">
                          <a:solidFill>
                            <a:srgbClr val="000000"/>
                          </a:solidFill>
                          <a:latin typeface="Montserrat"/>
                        </a:defRPr>
                      </a:pPr>
                      <a:r>
                        <a:t>UMF 57 Veracruz</a:t>
                      </a:r>
                    </a:p>
                  </a:txBody>
                  <a:tcPr marL="0" marR="0" marT="0" marB="0">
                    <a:solidFill>
                      <a:srgbClr val="FFFFFF"/>
                    </a:solidFill>
                  </a:tcPr>
                </a:tc>
                <a:tc>
                  <a:txBody>
                    <a:bodyPr/>
                    <a:lstStyle/>
                    <a:p>
                      <a:pPr algn="ctr">
                        <a:defRPr sz="1000">
                          <a:solidFill>
                            <a:srgbClr val="000000"/>
                          </a:solidFill>
                          <a:latin typeface="Montserrat"/>
                        </a:defRPr>
                      </a:pPr>
                      <a:r>
                        <a:t>323,635</a:t>
                      </a:r>
                    </a:p>
                  </a:txBody>
                  <a:tcPr marL="0" marR="0" marT="0" marB="0">
                    <a:solidFill>
                      <a:srgbClr val="FFFFFF"/>
                    </a:solidFill>
                  </a:tcPr>
                </a:tc>
                <a:tc>
                  <a:txBody>
                    <a:bodyPr/>
                    <a:lstStyle/>
                    <a:p>
                      <a:pPr algn="ctr">
                        <a:defRPr sz="1000">
                          <a:solidFill>
                            <a:srgbClr val="000000"/>
                          </a:solidFill>
                          <a:latin typeface="Montserrat"/>
                        </a:defRPr>
                      </a:pPr>
                      <a:r>
                        <a:t>7,063</a:t>
                      </a:r>
                    </a:p>
                  </a:txBody>
                  <a:tcPr marL="0" marR="0" marT="0" marB="0">
                    <a:solidFill>
                      <a:srgbClr val="FFFFFF"/>
                    </a:solidFill>
                  </a:tcPr>
                </a:tc>
                <a:tc>
                  <a:txBody>
                    <a:bodyPr/>
                    <a:lstStyle/>
                    <a:p>
                      <a:pPr algn="ctr">
                        <a:defRPr sz="1000">
                          <a:solidFill>
                            <a:srgbClr val="000000"/>
                          </a:solidFill>
                          <a:latin typeface="Montserrat"/>
                        </a:defRPr>
                      </a:pPr>
                      <a:r>
                        <a:t>140,353</a:t>
                      </a:r>
                    </a:p>
                  </a:txBody>
                  <a:tcPr marL="0" marR="0" marT="0" marB="0">
                    <a:solidFill>
                      <a:srgbClr val="ECD3D9"/>
                    </a:solidFill>
                  </a:tcPr>
                </a:tc>
                <a:tc>
                  <a:txBody>
                    <a:bodyPr/>
                    <a:lstStyle/>
                    <a:p>
                      <a:pPr algn="ctr">
                        <a:defRPr sz="1000">
                          <a:solidFill>
                            <a:srgbClr val="000000"/>
                          </a:solidFill>
                          <a:latin typeface="Montserrat"/>
                        </a:defRPr>
                      </a:pPr>
                      <a:r>
                        <a:t>330,624</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extLst>
                  <a:ext uri="{0D108BD9-81ED-4DB2-BD59-A6C34878D82A}">
                    <a16:rowId xmlns:a16="http://schemas.microsoft.com/office/drawing/2014/main" val="10003"/>
                  </a:ext>
                </a:extLst>
              </a:tr>
              <a:tr h="299823">
                <a:tc>
                  <a:txBody>
                    <a:bodyPr/>
                    <a:lstStyle/>
                    <a:p>
                      <a:pPr algn="l">
                        <a:defRPr sz="1000">
                          <a:solidFill>
                            <a:srgbClr val="000000"/>
                          </a:solidFill>
                          <a:latin typeface="Montserrat"/>
                        </a:defRPr>
                      </a:pPr>
                      <a:r>
                        <a:t>UMF 40 Manlio Fabio Altamirano</a:t>
                      </a:r>
                    </a:p>
                  </a:txBody>
                  <a:tcPr marL="0" marR="0" marT="0" marB="0">
                    <a:solidFill>
                      <a:srgbClr val="EFEFEF"/>
                    </a:solidFill>
                  </a:tcPr>
                </a:tc>
                <a:tc>
                  <a:txBody>
                    <a:bodyPr/>
                    <a:lstStyle/>
                    <a:p>
                      <a:pPr algn="ctr">
                        <a:defRPr sz="1000">
                          <a:solidFill>
                            <a:srgbClr val="000000"/>
                          </a:solidFill>
                          <a:latin typeface="Montserrat"/>
                        </a:defRPr>
                      </a:pPr>
                      <a:r>
                        <a:t>27,880</a:t>
                      </a:r>
                    </a:p>
                  </a:txBody>
                  <a:tcPr marL="0" marR="0" marT="0" marB="0">
                    <a:solidFill>
                      <a:srgbClr val="EFEFEF"/>
                    </a:solidFill>
                  </a:tcPr>
                </a:tc>
                <a:tc>
                  <a:txBody>
                    <a:bodyPr/>
                    <a:lstStyle/>
                    <a:p>
                      <a:pPr algn="ctr">
                        <a:defRPr sz="1000">
                          <a:solidFill>
                            <a:srgbClr val="000000"/>
                          </a:solidFill>
                          <a:latin typeface="Montserrat"/>
                        </a:defRPr>
                      </a:pPr>
                      <a:r>
                        <a:t>4,822</a:t>
                      </a:r>
                    </a:p>
                  </a:txBody>
                  <a:tcPr marL="0" marR="0" marT="0" marB="0">
                    <a:solidFill>
                      <a:srgbClr val="EFEFEF"/>
                    </a:solidFill>
                  </a:tcPr>
                </a:tc>
                <a:tc>
                  <a:txBody>
                    <a:bodyPr/>
                    <a:lstStyle/>
                    <a:p>
                      <a:pPr algn="ctr">
                        <a:defRPr sz="1000">
                          <a:solidFill>
                            <a:srgbClr val="000000"/>
                          </a:solidFill>
                          <a:latin typeface="Montserrat"/>
                        </a:defRPr>
                      </a:pPr>
                      <a:r>
                        <a:t>14,242</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52.7%</a:t>
                      </a:r>
                    </a:p>
                  </a:txBody>
                  <a:tcPr marL="0" marR="0" marT="0" marB="0">
                    <a:solidFill>
                      <a:srgbClr val="ECD3D9"/>
                    </a:solidFill>
                  </a:tcPr>
                </a:tc>
                <a:extLst>
                  <a:ext uri="{0D108BD9-81ED-4DB2-BD59-A6C34878D82A}">
                    <a16:rowId xmlns:a16="http://schemas.microsoft.com/office/drawing/2014/main" val="10004"/>
                  </a:ext>
                </a:extLst>
              </a:tr>
              <a:tr h="149912">
                <a:tc>
                  <a:txBody>
                    <a:bodyPr/>
                    <a:lstStyle/>
                    <a:p>
                      <a:pPr algn="l">
                        <a:defRPr sz="1000">
                          <a:solidFill>
                            <a:srgbClr val="000000"/>
                          </a:solidFill>
                          <a:latin typeface="Montserrat"/>
                        </a:defRPr>
                      </a:pPr>
                      <a:r>
                        <a:t>UMF 47 Alamo</a:t>
                      </a:r>
                    </a:p>
                  </a:txBody>
                  <a:tcPr marL="0" marR="0" marT="0" marB="0">
                    <a:solidFill>
                      <a:srgbClr val="FFFFFF"/>
                    </a:solidFill>
                  </a:tcPr>
                </a:tc>
                <a:tc>
                  <a:txBody>
                    <a:bodyPr/>
                    <a:lstStyle/>
                    <a:p>
                      <a:pPr algn="ctr">
                        <a:defRPr sz="1000">
                          <a:solidFill>
                            <a:srgbClr val="000000"/>
                          </a:solidFill>
                          <a:latin typeface="Montserrat"/>
                        </a:defRPr>
                      </a:pPr>
                      <a:r>
                        <a:t>25,663</a:t>
                      </a:r>
                    </a:p>
                  </a:txBody>
                  <a:tcPr marL="0" marR="0" marT="0" marB="0">
                    <a:solidFill>
                      <a:srgbClr val="FFFFFF"/>
                    </a:solidFill>
                  </a:tcPr>
                </a:tc>
                <a:tc>
                  <a:txBody>
                    <a:bodyPr/>
                    <a:lstStyle/>
                    <a:p>
                      <a:pPr algn="ctr">
                        <a:defRPr sz="1000">
                          <a:solidFill>
                            <a:srgbClr val="000000"/>
                          </a:solidFill>
                          <a:latin typeface="Montserrat"/>
                        </a:defRPr>
                      </a:pPr>
                      <a:r>
                        <a:t>1,530</a:t>
                      </a:r>
                    </a:p>
                  </a:txBody>
                  <a:tcPr marL="0" marR="0" marT="0" marB="0">
                    <a:solidFill>
                      <a:srgbClr val="FFFFFF"/>
                    </a:solidFill>
                  </a:tcPr>
                </a:tc>
                <a:tc>
                  <a:txBody>
                    <a:bodyPr/>
                    <a:lstStyle/>
                    <a:p>
                      <a:pPr algn="ctr">
                        <a:defRPr sz="1000">
                          <a:solidFill>
                            <a:srgbClr val="000000"/>
                          </a:solidFill>
                          <a:latin typeface="Montserrat"/>
                        </a:defRPr>
                      </a:pPr>
                      <a:r>
                        <a:t>13,779</a:t>
                      </a:r>
                    </a:p>
                  </a:txBody>
                  <a:tcPr marL="0" marR="0" marT="0" marB="0">
                    <a:solidFill>
                      <a:srgbClr val="ECD3D9"/>
                    </a:solidFill>
                  </a:tcPr>
                </a:tc>
                <a:tc>
                  <a:txBody>
                    <a:bodyPr/>
                    <a:lstStyle/>
                    <a:p>
                      <a:pPr algn="ctr">
                        <a:defRPr sz="1000">
                          <a:solidFill>
                            <a:srgbClr val="000000"/>
                          </a:solidFill>
                          <a:latin typeface="Montserrat"/>
                        </a:defRPr>
                      </a:pPr>
                      <a:r>
                        <a:t>25,056</a:t>
                      </a:r>
                    </a:p>
                  </a:txBody>
                  <a:tcPr marL="0" marR="0" marT="0" marB="0">
                    <a:solidFill>
                      <a:srgbClr val="ECD3D9"/>
                    </a:solidFill>
                  </a:tcPr>
                </a:tc>
                <a:tc>
                  <a:txBody>
                    <a:bodyPr/>
                    <a:lstStyle/>
                    <a:p>
                      <a:pPr algn="ctr">
                        <a:defRPr sz="1000">
                          <a:solidFill>
                            <a:srgbClr val="000000"/>
                          </a:solidFill>
                          <a:latin typeface="Montserrat"/>
                        </a:defRPr>
                      </a:pPr>
                      <a:r>
                        <a:t>55.0%</a:t>
                      </a:r>
                    </a:p>
                  </a:txBody>
                  <a:tcPr marL="0" marR="0" marT="0" marB="0">
                    <a:solidFill>
                      <a:srgbClr val="ECD3D9"/>
                    </a:solidFill>
                  </a:tcPr>
                </a:tc>
                <a:extLst>
                  <a:ext uri="{0D108BD9-81ED-4DB2-BD59-A6C34878D82A}">
                    <a16:rowId xmlns:a16="http://schemas.microsoft.com/office/drawing/2014/main" val="10005"/>
                  </a:ext>
                </a:extLst>
              </a:tr>
              <a:tr h="149912">
                <a:tc>
                  <a:txBody>
                    <a:bodyPr/>
                    <a:lstStyle/>
                    <a:p>
                      <a:pPr algn="l">
                        <a:defRPr sz="1000">
                          <a:solidFill>
                            <a:srgbClr val="000000"/>
                          </a:solidFill>
                          <a:latin typeface="Montserrat"/>
                        </a:defRPr>
                      </a:pPr>
                      <a:r>
                        <a:t>UMF 66 Jalapa</a:t>
                      </a:r>
                    </a:p>
                  </a:txBody>
                  <a:tcPr marL="0" marR="0" marT="0" marB="0">
                    <a:solidFill>
                      <a:srgbClr val="EFEFEF"/>
                    </a:solidFill>
                  </a:tcPr>
                </a:tc>
                <a:tc>
                  <a:txBody>
                    <a:bodyPr/>
                    <a:lstStyle/>
                    <a:p>
                      <a:pPr algn="ctr">
                        <a:defRPr sz="1000">
                          <a:solidFill>
                            <a:srgbClr val="000000"/>
                          </a:solidFill>
                          <a:latin typeface="Montserrat"/>
                        </a:defRPr>
                      </a:pPr>
                      <a:r>
                        <a:t>393,737</a:t>
                      </a:r>
                    </a:p>
                  </a:txBody>
                  <a:tcPr marL="0" marR="0" marT="0" marB="0">
                    <a:solidFill>
                      <a:srgbClr val="EFEFEF"/>
                    </a:solidFill>
                  </a:tcPr>
                </a:tc>
                <a:tc>
                  <a:txBody>
                    <a:bodyPr/>
                    <a:lstStyle/>
                    <a:p>
                      <a:pPr algn="ctr">
                        <a:defRPr sz="1000">
                          <a:solidFill>
                            <a:srgbClr val="000000"/>
                          </a:solidFill>
                          <a:latin typeface="Montserrat"/>
                        </a:defRPr>
                      </a:pPr>
                      <a:r>
                        <a:t>4,103</a:t>
                      </a:r>
                    </a:p>
                  </a:txBody>
                  <a:tcPr marL="0" marR="0" marT="0" marB="0">
                    <a:solidFill>
                      <a:srgbClr val="EFEFEF"/>
                    </a:solidFill>
                  </a:tcPr>
                </a:tc>
                <a:tc>
                  <a:txBody>
                    <a:bodyPr/>
                    <a:lstStyle/>
                    <a:p>
                      <a:pPr algn="ctr">
                        <a:defRPr sz="1000">
                          <a:solidFill>
                            <a:srgbClr val="000000"/>
                          </a:solidFill>
                          <a:latin typeface="Montserrat"/>
                        </a:defRPr>
                      </a:pPr>
                      <a:r>
                        <a:t>175,871</a:t>
                      </a:r>
                    </a:p>
                  </a:txBody>
                  <a:tcPr marL="0" marR="0" marT="0" marB="0">
                    <a:solidFill>
                      <a:srgbClr val="ECD3D9"/>
                    </a:solidFill>
                  </a:tcPr>
                </a:tc>
                <a:tc>
                  <a:txBody>
                    <a:bodyPr/>
                    <a:lstStyle/>
                    <a:p>
                      <a:pPr algn="ctr">
                        <a:defRPr sz="1000">
                          <a:solidFill>
                            <a:srgbClr val="000000"/>
                          </a:solidFill>
                          <a:latin typeface="Montserrat"/>
                        </a:defRPr>
                      </a:pPr>
                      <a:r>
                        <a:t>385,728</a:t>
                      </a:r>
                    </a:p>
                  </a:txBody>
                  <a:tcPr marL="0" marR="0" marT="0" marB="0">
                    <a:solidFill>
                      <a:srgbClr val="ECD3D9"/>
                    </a:solidFill>
                  </a:tcPr>
                </a:tc>
                <a:tc>
                  <a:txBody>
                    <a:bodyPr/>
                    <a:lstStyle/>
                    <a:p>
                      <a:pPr algn="ctr">
                        <a:defRPr sz="1000">
                          <a:solidFill>
                            <a:srgbClr val="000000"/>
                          </a:solidFill>
                          <a:latin typeface="Montserrat"/>
                        </a:defRPr>
                      </a:pPr>
                      <a:r>
                        <a:t>45.6%</a:t>
                      </a:r>
                    </a:p>
                  </a:txBody>
                  <a:tcPr marL="0" marR="0" marT="0" marB="0">
                    <a:solidFill>
                      <a:srgbClr val="ECD3D9"/>
                    </a:solidFill>
                  </a:tcPr>
                </a:tc>
                <a:extLst>
                  <a:ext uri="{0D108BD9-81ED-4DB2-BD59-A6C34878D82A}">
                    <a16:rowId xmlns:a16="http://schemas.microsoft.com/office/drawing/2014/main" val="10006"/>
                  </a:ext>
                </a:extLst>
              </a:tr>
              <a:tr h="149912">
                <a:tc>
                  <a:txBody>
                    <a:bodyPr/>
                    <a:lstStyle/>
                    <a:p>
                      <a:pPr algn="l">
                        <a:defRPr sz="1000">
                          <a:solidFill>
                            <a:srgbClr val="000000"/>
                          </a:solidFill>
                          <a:latin typeface="Montserrat"/>
                        </a:defRPr>
                      </a:pPr>
                      <a:r>
                        <a:t>UMF 61 Veracruz</a:t>
                      </a:r>
                    </a:p>
                  </a:txBody>
                  <a:tcPr marL="0" marR="0" marT="0" marB="0">
                    <a:solidFill>
                      <a:srgbClr val="FFFFFF"/>
                    </a:solidFill>
                  </a:tcPr>
                </a:tc>
                <a:tc>
                  <a:txBody>
                    <a:bodyPr/>
                    <a:lstStyle/>
                    <a:p>
                      <a:pPr algn="ctr">
                        <a:defRPr sz="1000">
                          <a:solidFill>
                            <a:srgbClr val="000000"/>
                          </a:solidFill>
                          <a:latin typeface="Montserrat"/>
                        </a:defRPr>
                      </a:pPr>
                      <a:r>
                        <a:t>316,872</a:t>
                      </a:r>
                    </a:p>
                  </a:txBody>
                  <a:tcPr marL="0" marR="0" marT="0" marB="0">
                    <a:solidFill>
                      <a:srgbClr val="FFFFFF"/>
                    </a:solidFill>
                  </a:tcPr>
                </a:tc>
                <a:tc>
                  <a:txBody>
                    <a:bodyPr/>
                    <a:lstStyle/>
                    <a:p>
                      <a:pPr algn="ctr">
                        <a:defRPr sz="1000">
                          <a:solidFill>
                            <a:srgbClr val="000000"/>
                          </a:solidFill>
                          <a:latin typeface="Montserrat"/>
                        </a:defRPr>
                      </a:pPr>
                      <a:r>
                        <a:t>5,277</a:t>
                      </a:r>
                    </a:p>
                  </a:txBody>
                  <a:tcPr marL="0" marR="0" marT="0" marB="0">
                    <a:solidFill>
                      <a:srgbClr val="FFFFFF"/>
                    </a:solidFill>
                  </a:tcPr>
                </a:tc>
                <a:tc>
                  <a:txBody>
                    <a:bodyPr/>
                    <a:lstStyle/>
                    <a:p>
                      <a:pPr algn="ctr">
                        <a:defRPr sz="1000">
                          <a:solidFill>
                            <a:srgbClr val="000000"/>
                          </a:solidFill>
                          <a:latin typeface="Montserrat"/>
                        </a:defRPr>
                      </a:pPr>
                      <a:r>
                        <a:t>139,700</a:t>
                      </a:r>
                    </a:p>
                  </a:txBody>
                  <a:tcPr marL="0" marR="0" marT="0" marB="0">
                    <a:solidFill>
                      <a:srgbClr val="ECD3D9"/>
                    </a:solidFill>
                  </a:tcPr>
                </a:tc>
                <a:tc>
                  <a:txBody>
                    <a:bodyPr/>
                    <a:lstStyle/>
                    <a:p>
                      <a:pPr algn="ctr">
                        <a:defRPr sz="1000">
                          <a:solidFill>
                            <a:srgbClr val="000000"/>
                          </a:solidFill>
                          <a:latin typeface="Montserrat"/>
                        </a:defRPr>
                      </a:pPr>
                      <a:r>
                        <a:t>308,000</a:t>
                      </a:r>
                    </a:p>
                  </a:txBody>
                  <a:tcPr marL="0" marR="0" marT="0" marB="0">
                    <a:solidFill>
                      <a:srgbClr val="ECD3D9"/>
                    </a:solidFill>
                  </a:tcPr>
                </a:tc>
                <a:tc>
                  <a:txBody>
                    <a:bodyPr/>
                    <a:lstStyle/>
                    <a:p>
                      <a:pPr algn="ctr">
                        <a:defRPr sz="1000">
                          <a:solidFill>
                            <a:srgbClr val="000000"/>
                          </a:solidFill>
                          <a:latin typeface="Montserrat"/>
                        </a:defRPr>
                      </a:pPr>
                      <a:r>
                        <a:t>45.4%</a:t>
                      </a:r>
                    </a:p>
                  </a:txBody>
                  <a:tcPr marL="0" marR="0" marT="0" marB="0">
                    <a:solidFill>
                      <a:srgbClr val="ECD3D9"/>
                    </a:solidFill>
                  </a:tcPr>
                </a:tc>
                <a:extLst>
                  <a:ext uri="{0D108BD9-81ED-4DB2-BD59-A6C34878D82A}">
                    <a16:rowId xmlns:a16="http://schemas.microsoft.com/office/drawing/2014/main" val="10007"/>
                  </a:ext>
                </a:extLst>
              </a:tr>
              <a:tr h="149912">
                <a:tc>
                  <a:txBody>
                    <a:bodyPr/>
                    <a:lstStyle/>
                    <a:p>
                      <a:pPr algn="l">
                        <a:defRPr sz="1000">
                          <a:solidFill>
                            <a:srgbClr val="000000"/>
                          </a:solidFill>
                          <a:latin typeface="Montserrat"/>
                        </a:defRPr>
                      </a:pPr>
                      <a:r>
                        <a:t>UMF 61 Córdoba</a:t>
                      </a:r>
                    </a:p>
                  </a:txBody>
                  <a:tcPr marL="0" marR="0" marT="0" marB="0">
                    <a:solidFill>
                      <a:srgbClr val="EFEFEF"/>
                    </a:solidFill>
                  </a:tcPr>
                </a:tc>
                <a:tc>
                  <a:txBody>
                    <a:bodyPr/>
                    <a:lstStyle/>
                    <a:p>
                      <a:pPr algn="ctr">
                        <a:defRPr sz="1000">
                          <a:solidFill>
                            <a:srgbClr val="000000"/>
                          </a:solidFill>
                          <a:latin typeface="Montserrat"/>
                        </a:defRPr>
                      </a:pPr>
                      <a:r>
                        <a:t>228,459</a:t>
                      </a:r>
                    </a:p>
                  </a:txBody>
                  <a:tcPr marL="0" marR="0" marT="0" marB="0">
                    <a:solidFill>
                      <a:srgbClr val="EFEFEF"/>
                    </a:solidFill>
                  </a:tcPr>
                </a:tc>
                <a:tc>
                  <a:txBody>
                    <a:bodyPr/>
                    <a:lstStyle/>
                    <a:p>
                      <a:pPr algn="ctr">
                        <a:defRPr sz="1000">
                          <a:solidFill>
                            <a:srgbClr val="000000"/>
                          </a:solidFill>
                          <a:latin typeface="Montserrat"/>
                        </a:defRPr>
                      </a:pPr>
                      <a:r>
                        <a:t>36,640</a:t>
                      </a:r>
                    </a:p>
                  </a:txBody>
                  <a:tcPr marL="0" marR="0" marT="0" marB="0">
                    <a:solidFill>
                      <a:srgbClr val="EFEFEF"/>
                    </a:solidFill>
                  </a:tcPr>
                </a:tc>
                <a:tc>
                  <a:txBody>
                    <a:bodyPr/>
                    <a:lstStyle/>
                    <a:p>
                      <a:pPr algn="ctr">
                        <a:defRPr sz="1000">
                          <a:solidFill>
                            <a:srgbClr val="000000"/>
                          </a:solidFill>
                          <a:latin typeface="Montserrat"/>
                        </a:defRPr>
                      </a:pPr>
                      <a:r>
                        <a:t>105,094</a:t>
                      </a:r>
                    </a:p>
                  </a:txBody>
                  <a:tcPr marL="0" marR="0" marT="0" marB="0">
                    <a:solidFill>
                      <a:srgbClr val="ECD3D9"/>
                    </a:solidFill>
                  </a:tcPr>
                </a:tc>
                <a:tc>
                  <a:txBody>
                    <a:bodyPr/>
                    <a:lstStyle/>
                    <a:p>
                      <a:pPr algn="ctr">
                        <a:defRPr sz="1000">
                          <a:solidFill>
                            <a:srgbClr val="000000"/>
                          </a:solidFill>
                          <a:latin typeface="Montserrat"/>
                        </a:defRPr>
                      </a:pPr>
                      <a:r>
                        <a:t>217,000</a:t>
                      </a:r>
                    </a:p>
                  </a:txBody>
                  <a:tcPr marL="0" marR="0" marT="0" marB="0">
                    <a:solidFill>
                      <a:srgbClr val="ECD3D9"/>
                    </a:solidFill>
                  </a:tcPr>
                </a:tc>
                <a:tc>
                  <a:txBody>
                    <a:bodyPr/>
                    <a:lstStyle/>
                    <a:p>
                      <a:pPr algn="ctr">
                        <a:defRPr sz="1000">
                          <a:solidFill>
                            <a:srgbClr val="000000"/>
                          </a:solidFill>
                          <a:latin typeface="Montserrat"/>
                        </a:defRPr>
                      </a:pPr>
                      <a:r>
                        <a:t>48.4%</a:t>
                      </a:r>
                    </a:p>
                  </a:txBody>
                  <a:tcPr marL="0" marR="0" marT="0" marB="0">
                    <a:solidFill>
                      <a:srgbClr val="ECD3D9"/>
                    </a:solidFill>
                  </a:tcPr>
                </a:tc>
                <a:extLst>
                  <a:ext uri="{0D108BD9-81ED-4DB2-BD59-A6C34878D82A}">
                    <a16:rowId xmlns:a16="http://schemas.microsoft.com/office/drawing/2014/main" val="10008"/>
                  </a:ext>
                </a:extLst>
              </a:tr>
              <a:tr h="149912">
                <a:tc>
                  <a:txBody>
                    <a:bodyPr/>
                    <a:lstStyle/>
                    <a:p>
                      <a:pPr algn="l">
                        <a:defRPr sz="1000">
                          <a:solidFill>
                            <a:srgbClr val="000000"/>
                          </a:solidFill>
                          <a:latin typeface="Montserrat"/>
                        </a:defRPr>
                      </a:pPr>
                      <a:r>
                        <a:t>UMF 10 Jalapa</a:t>
                      </a:r>
                    </a:p>
                  </a:txBody>
                  <a:tcPr marL="0" marR="0" marT="0" marB="0">
                    <a:solidFill>
                      <a:srgbClr val="FFFFFF"/>
                    </a:solidFill>
                  </a:tcPr>
                </a:tc>
                <a:tc>
                  <a:txBody>
                    <a:bodyPr/>
                    <a:lstStyle/>
                    <a:p>
                      <a:pPr algn="ctr">
                        <a:defRPr sz="1000">
                          <a:solidFill>
                            <a:srgbClr val="000000"/>
                          </a:solidFill>
                          <a:latin typeface="Montserrat"/>
                        </a:defRPr>
                      </a:pPr>
                      <a:r>
                        <a:t>183,187</a:t>
                      </a:r>
                    </a:p>
                  </a:txBody>
                  <a:tcPr marL="0" marR="0" marT="0" marB="0">
                    <a:solidFill>
                      <a:srgbClr val="FFFFFF"/>
                    </a:solidFill>
                  </a:tcPr>
                </a:tc>
                <a:tc>
                  <a:txBody>
                    <a:bodyPr/>
                    <a:lstStyle/>
                    <a:p>
                      <a:pPr algn="ctr">
                        <a:defRPr sz="1000">
                          <a:solidFill>
                            <a:srgbClr val="000000"/>
                          </a:solidFill>
                          <a:latin typeface="Montserrat"/>
                        </a:defRPr>
                      </a:pPr>
                      <a:r>
                        <a:t>1,606</a:t>
                      </a:r>
                    </a:p>
                  </a:txBody>
                  <a:tcPr marL="0" marR="0" marT="0" marB="0">
                    <a:solidFill>
                      <a:srgbClr val="FFFFFF"/>
                    </a:solidFill>
                  </a:tcPr>
                </a:tc>
                <a:tc>
                  <a:txBody>
                    <a:bodyPr/>
                    <a:lstStyle/>
                    <a:p>
                      <a:pPr algn="ctr">
                        <a:defRPr sz="1000">
                          <a:solidFill>
                            <a:srgbClr val="000000"/>
                          </a:solidFill>
                          <a:latin typeface="Montserrat"/>
                        </a:defRPr>
                      </a:pPr>
                      <a:r>
                        <a:t>83,055</a:t>
                      </a:r>
                    </a:p>
                  </a:txBody>
                  <a:tcPr marL="0" marR="0" marT="0" marB="0">
                    <a:solidFill>
                      <a:srgbClr val="ECD3D9"/>
                    </a:solidFill>
                  </a:tcPr>
                </a:tc>
                <a:tc>
                  <a:txBody>
                    <a:bodyPr/>
                    <a:lstStyle/>
                    <a:p>
                      <a:pPr algn="ctr">
                        <a:defRPr sz="1000">
                          <a:solidFill>
                            <a:srgbClr val="000000"/>
                          </a:solidFill>
                          <a:latin typeface="Montserrat"/>
                        </a:defRPr>
                      </a:pPr>
                      <a:r>
                        <a:t>178,000</a:t>
                      </a:r>
                    </a:p>
                  </a:txBody>
                  <a:tcPr marL="0" marR="0" marT="0" marB="0">
                    <a:solidFill>
                      <a:srgbClr val="ECD3D9"/>
                    </a:solidFill>
                  </a:tcPr>
                </a:tc>
                <a:tc>
                  <a:txBody>
                    <a:bodyPr/>
                    <a:lstStyle/>
                    <a:p>
                      <a:pPr algn="ctr">
                        <a:defRPr sz="1000">
                          <a:solidFill>
                            <a:srgbClr val="000000"/>
                          </a:solidFill>
                          <a:latin typeface="Montserrat"/>
                        </a:defRPr>
                      </a:pPr>
                      <a:r>
                        <a:t>46.7%</a:t>
                      </a:r>
                    </a:p>
                  </a:txBody>
                  <a:tcPr marL="0" marR="0" marT="0" marB="0">
                    <a:solidFill>
                      <a:srgbClr val="ECD3D9"/>
                    </a:solidFill>
                  </a:tcPr>
                </a:tc>
                <a:extLst>
                  <a:ext uri="{0D108BD9-81ED-4DB2-BD59-A6C34878D82A}">
                    <a16:rowId xmlns:a16="http://schemas.microsoft.com/office/drawing/2014/main" val="10009"/>
                  </a:ext>
                </a:extLst>
              </a:tr>
              <a:tr h="149912">
                <a:tc>
                  <a:txBody>
                    <a:bodyPr/>
                    <a:lstStyle/>
                    <a:p>
                      <a:pPr algn="l">
                        <a:defRPr sz="1000">
                          <a:solidFill>
                            <a:srgbClr val="000000"/>
                          </a:solidFill>
                          <a:latin typeface="Montserrat"/>
                        </a:defRPr>
                      </a:pPr>
                      <a:r>
                        <a:t>UMF 52 Naranjos</a:t>
                      </a:r>
                    </a:p>
                  </a:txBody>
                  <a:tcPr marL="0" marR="0" marT="0" marB="0">
                    <a:solidFill>
                      <a:srgbClr val="EFEFEF"/>
                    </a:solidFill>
                  </a:tcPr>
                </a:tc>
                <a:tc>
                  <a:txBody>
                    <a:bodyPr/>
                    <a:lstStyle/>
                    <a:p>
                      <a:pPr algn="ctr">
                        <a:defRPr sz="1000">
                          <a:solidFill>
                            <a:srgbClr val="000000"/>
                          </a:solidFill>
                          <a:latin typeface="Montserrat"/>
                        </a:defRPr>
                      </a:pPr>
                      <a:r>
                        <a:t>19,214</a:t>
                      </a:r>
                    </a:p>
                  </a:txBody>
                  <a:tcPr marL="0" marR="0" marT="0" marB="0">
                    <a:solidFill>
                      <a:srgbClr val="EFEFEF"/>
                    </a:solidFill>
                  </a:tcPr>
                </a:tc>
                <a:tc>
                  <a:txBody>
                    <a:bodyPr/>
                    <a:lstStyle/>
                    <a:p>
                      <a:pPr algn="ctr">
                        <a:defRPr sz="1000">
                          <a:solidFill>
                            <a:srgbClr val="000000"/>
                          </a:solidFill>
                          <a:latin typeface="Montserrat"/>
                        </a:defRPr>
                      </a:pPr>
                      <a:r>
                        <a:t>4,950</a:t>
                      </a:r>
                    </a:p>
                  </a:txBody>
                  <a:tcPr marL="0" marR="0" marT="0" marB="0">
                    <a:solidFill>
                      <a:srgbClr val="EFEFEF"/>
                    </a:solidFill>
                  </a:tcPr>
                </a:tc>
                <a:tc>
                  <a:txBody>
                    <a:bodyPr/>
                    <a:lstStyle/>
                    <a:p>
                      <a:pPr algn="ctr">
                        <a:defRPr sz="1000">
                          <a:solidFill>
                            <a:srgbClr val="000000"/>
                          </a:solidFill>
                          <a:latin typeface="Montserrat"/>
                        </a:defRPr>
                      </a:pPr>
                      <a:r>
                        <a:t>10,099</a:t>
                      </a:r>
                    </a:p>
                  </a:txBody>
                  <a:tcPr marL="0" marR="0" marT="0" marB="0">
                    <a:solidFill>
                      <a:srgbClr val="ECD3D9"/>
                    </a:solidFill>
                  </a:tcPr>
                </a:tc>
                <a:tc>
                  <a:txBody>
                    <a:bodyPr/>
                    <a:lstStyle/>
                    <a:p>
                      <a:pPr algn="ctr">
                        <a:defRPr sz="1000">
                          <a:solidFill>
                            <a:srgbClr val="000000"/>
                          </a:solidFill>
                          <a:latin typeface="Montserrat"/>
                        </a:defRPr>
                      </a:pPr>
                      <a:r>
                        <a:t>19,000</a:t>
                      </a:r>
                    </a:p>
                  </a:txBody>
                  <a:tcPr marL="0" marR="0" marT="0" marB="0">
                    <a:solidFill>
                      <a:srgbClr val="ECD3D9"/>
                    </a:solidFill>
                  </a:tcPr>
                </a:tc>
                <a:tc>
                  <a:txBody>
                    <a:bodyPr/>
                    <a:lstStyle/>
                    <a:p>
                      <a:pPr algn="ctr">
                        <a:defRPr sz="1000">
                          <a:solidFill>
                            <a:srgbClr val="000000"/>
                          </a:solidFill>
                          <a:latin typeface="Montserrat"/>
                        </a:defRPr>
                      </a:pPr>
                      <a:r>
                        <a:t>53.2%</a:t>
                      </a:r>
                    </a:p>
                  </a:txBody>
                  <a:tcPr marL="0" marR="0" marT="0" marB="0">
                    <a:solidFill>
                      <a:srgbClr val="ECD3D9"/>
                    </a:solidFill>
                  </a:tcPr>
                </a:tc>
                <a:extLst>
                  <a:ext uri="{0D108BD9-81ED-4DB2-BD59-A6C34878D82A}">
                    <a16:rowId xmlns:a16="http://schemas.microsoft.com/office/drawing/2014/main" val="10010"/>
                  </a:ext>
                </a:extLst>
              </a:tr>
              <a:tr h="149912">
                <a:tc>
                  <a:txBody>
                    <a:bodyPr/>
                    <a:lstStyle/>
                    <a:p>
                      <a:pPr algn="l">
                        <a:defRPr sz="1000">
                          <a:solidFill>
                            <a:srgbClr val="000000"/>
                          </a:solidFill>
                          <a:latin typeface="Montserrat"/>
                        </a:defRPr>
                      </a:pPr>
                      <a:r>
                        <a:t>UMF 30 Perote</a:t>
                      </a:r>
                    </a:p>
                  </a:txBody>
                  <a:tcPr marL="0" marR="0" marT="0" marB="0">
                    <a:solidFill>
                      <a:srgbClr val="FFFFFF"/>
                    </a:solidFill>
                  </a:tcPr>
                </a:tc>
                <a:tc>
                  <a:txBody>
                    <a:bodyPr/>
                    <a:lstStyle/>
                    <a:p>
                      <a:pPr algn="ctr">
                        <a:defRPr sz="1000">
                          <a:solidFill>
                            <a:srgbClr val="000000"/>
                          </a:solidFill>
                          <a:latin typeface="Montserrat"/>
                        </a:defRPr>
                      </a:pPr>
                      <a:r>
                        <a:t>41,837</a:t>
                      </a:r>
                    </a:p>
                  </a:txBody>
                  <a:tcPr marL="0" marR="0" marT="0" marB="0">
                    <a:solidFill>
                      <a:srgbClr val="FFFFFF"/>
                    </a:solidFill>
                  </a:tcPr>
                </a:tc>
                <a:tc>
                  <a:txBody>
                    <a:bodyPr/>
                    <a:lstStyle/>
                    <a:p>
                      <a:pPr algn="ctr">
                        <a:defRPr sz="1000">
                          <a:solidFill>
                            <a:srgbClr val="000000"/>
                          </a:solidFill>
                          <a:latin typeface="Montserrat"/>
                        </a:defRPr>
                      </a:pPr>
                      <a:r>
                        <a:t>7,442</a:t>
                      </a:r>
                    </a:p>
                  </a:txBody>
                  <a:tcPr marL="0" marR="0" marT="0" marB="0">
                    <a:solidFill>
                      <a:srgbClr val="FFFFFF"/>
                    </a:solidFill>
                  </a:tcPr>
                </a:tc>
                <a:tc>
                  <a:txBody>
                    <a:bodyPr/>
                    <a:lstStyle/>
                    <a:p>
                      <a:pPr algn="ctr">
                        <a:defRPr sz="1000">
                          <a:solidFill>
                            <a:srgbClr val="000000"/>
                          </a:solidFill>
                          <a:latin typeface="Montserrat"/>
                        </a:defRPr>
                      </a:pPr>
                      <a:r>
                        <a:t>21,329</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52.0%</a:t>
                      </a:r>
                    </a:p>
                  </a:txBody>
                  <a:tcPr marL="0" marR="0" marT="0" marB="0">
                    <a:solidFill>
                      <a:srgbClr val="ECD3D9"/>
                    </a:solidFill>
                  </a:tcPr>
                </a:tc>
                <a:extLst>
                  <a:ext uri="{0D108BD9-81ED-4DB2-BD59-A6C34878D82A}">
                    <a16:rowId xmlns:a16="http://schemas.microsoft.com/office/drawing/2014/main" val="10011"/>
                  </a:ext>
                </a:extLst>
              </a:tr>
              <a:tr h="149912">
                <a:tc>
                  <a:txBody>
                    <a:bodyPr/>
                    <a:lstStyle/>
                    <a:p>
                      <a:pPr algn="l">
                        <a:defRPr sz="1000">
                          <a:solidFill>
                            <a:srgbClr val="000000"/>
                          </a:solidFill>
                          <a:latin typeface="Montserrat"/>
                        </a:defRPr>
                      </a:pPr>
                      <a:r>
                        <a:t>UMF-UMAA 15 Tejería</a:t>
                      </a:r>
                    </a:p>
                  </a:txBody>
                  <a:tcPr marL="0" marR="0" marT="0" marB="0">
                    <a:solidFill>
                      <a:srgbClr val="EFEFEF"/>
                    </a:solidFill>
                  </a:tcPr>
                </a:tc>
                <a:tc>
                  <a:txBody>
                    <a:bodyPr/>
                    <a:lstStyle/>
                    <a:p>
                      <a:pPr algn="ctr">
                        <a:defRPr sz="1000">
                          <a:solidFill>
                            <a:srgbClr val="000000"/>
                          </a:solidFill>
                          <a:latin typeface="Montserrat"/>
                        </a:defRPr>
                      </a:pPr>
                      <a:r>
                        <a:t>90,310</a:t>
                      </a:r>
                    </a:p>
                  </a:txBody>
                  <a:tcPr marL="0" marR="0" marT="0" marB="0">
                    <a:solidFill>
                      <a:srgbClr val="EFEFEF"/>
                    </a:solidFill>
                  </a:tcPr>
                </a:tc>
                <a:tc>
                  <a:txBody>
                    <a:bodyPr/>
                    <a:lstStyle/>
                    <a:p>
                      <a:pPr algn="ctr">
                        <a:defRPr sz="1000">
                          <a:solidFill>
                            <a:srgbClr val="000000"/>
                          </a:solidFill>
                          <a:latin typeface="Montserrat"/>
                        </a:defRPr>
                      </a:pPr>
                      <a:r>
                        <a:t>19,719</a:t>
                      </a:r>
                    </a:p>
                  </a:txBody>
                  <a:tcPr marL="0" marR="0" marT="0" marB="0">
                    <a:solidFill>
                      <a:srgbClr val="EFEFEF"/>
                    </a:solidFill>
                  </a:tcPr>
                </a:tc>
                <a:tc>
                  <a:txBody>
                    <a:bodyPr/>
                    <a:lstStyle/>
                    <a:p>
                      <a:pPr algn="ctr">
                        <a:defRPr sz="1000">
                          <a:solidFill>
                            <a:srgbClr val="000000"/>
                          </a:solidFill>
                          <a:latin typeface="Montserrat"/>
                        </a:defRPr>
                      </a:pPr>
                      <a:r>
                        <a:t>42,434</a:t>
                      </a:r>
                    </a:p>
                  </a:txBody>
                  <a:tcPr marL="0" marR="0" marT="0" marB="0">
                    <a:solidFill>
                      <a:srgbClr val="ECD3D9"/>
                    </a:solidFill>
                  </a:tcPr>
                </a:tc>
                <a:tc>
                  <a:txBody>
                    <a:bodyPr/>
                    <a:lstStyle/>
                    <a:p>
                      <a:pPr algn="ctr">
                        <a:defRPr sz="1000">
                          <a:solidFill>
                            <a:srgbClr val="000000"/>
                          </a:solidFill>
                          <a:latin typeface="Montserrat"/>
                        </a:defRPr>
                      </a:pPr>
                      <a:r>
                        <a:t>88,000</a:t>
                      </a:r>
                    </a:p>
                  </a:txBody>
                  <a:tcPr marL="0" marR="0" marT="0" marB="0">
                    <a:solidFill>
                      <a:srgbClr val="ECD3D9"/>
                    </a:solidFill>
                  </a:tcPr>
                </a:tc>
                <a:tc>
                  <a:txBody>
                    <a:bodyPr/>
                    <a:lstStyle/>
                    <a:p>
                      <a:pPr algn="ctr">
                        <a:defRPr sz="1000">
                          <a:solidFill>
                            <a:srgbClr val="000000"/>
                          </a:solidFill>
                          <a:latin typeface="Montserrat"/>
                        </a:defRPr>
                      </a:pPr>
                      <a:r>
                        <a:t>48.2%</a:t>
                      </a:r>
                    </a:p>
                  </a:txBody>
                  <a:tcPr marL="0" marR="0" marT="0" marB="0">
                    <a:solidFill>
                      <a:srgbClr val="ECD3D9"/>
                    </a:solidFill>
                  </a:tcPr>
                </a:tc>
                <a:extLst>
                  <a:ext uri="{0D108BD9-81ED-4DB2-BD59-A6C34878D82A}">
                    <a16:rowId xmlns:a16="http://schemas.microsoft.com/office/drawing/2014/main" val="10012"/>
                  </a:ext>
                </a:extLst>
              </a:tr>
              <a:tr h="149912">
                <a:tc>
                  <a:txBody>
                    <a:bodyPr/>
                    <a:lstStyle/>
                    <a:p>
                      <a:pPr algn="l">
                        <a:defRPr sz="1000">
                          <a:solidFill>
                            <a:srgbClr val="000000"/>
                          </a:solidFill>
                          <a:latin typeface="Montserrat"/>
                        </a:defRPr>
                      </a:pPr>
                      <a:r>
                        <a:t>UMF 74 Coatzintla</a:t>
                      </a:r>
                    </a:p>
                  </a:txBody>
                  <a:tcPr marL="0" marR="0" marT="0" marB="0">
                    <a:solidFill>
                      <a:srgbClr val="FFFFFF"/>
                    </a:solidFill>
                  </a:tcPr>
                </a:tc>
                <a:tc>
                  <a:txBody>
                    <a:bodyPr/>
                    <a:lstStyle/>
                    <a:p>
                      <a:pPr algn="ctr">
                        <a:defRPr sz="1000">
                          <a:solidFill>
                            <a:srgbClr val="000000"/>
                          </a:solidFill>
                          <a:latin typeface="Montserrat"/>
                        </a:defRPr>
                      </a:pPr>
                      <a:r>
                        <a:t>35,792</a:t>
                      </a:r>
                    </a:p>
                  </a:txBody>
                  <a:tcPr marL="0" marR="0" marT="0" marB="0">
                    <a:solidFill>
                      <a:srgbClr val="FFFFFF"/>
                    </a:solidFill>
                  </a:tcPr>
                </a:tc>
                <a:tc>
                  <a:txBody>
                    <a:bodyPr/>
                    <a:lstStyle/>
                    <a:p>
                      <a:pPr algn="ctr">
                        <a:defRPr sz="1000">
                          <a:solidFill>
                            <a:srgbClr val="000000"/>
                          </a:solidFill>
                          <a:latin typeface="Montserrat"/>
                        </a:defRPr>
                      </a:pPr>
                      <a:r>
                        <a:t>8,624</a:t>
                      </a:r>
                    </a:p>
                  </a:txBody>
                  <a:tcPr marL="0" marR="0" marT="0" marB="0">
                    <a:solidFill>
                      <a:srgbClr val="FFFFFF"/>
                    </a:solidFill>
                  </a:tcPr>
                </a:tc>
                <a:tc>
                  <a:txBody>
                    <a:bodyPr/>
                    <a:lstStyle/>
                    <a:p>
                      <a:pPr algn="ctr">
                        <a:defRPr sz="1000">
                          <a:solidFill>
                            <a:srgbClr val="000000"/>
                          </a:solidFill>
                          <a:latin typeface="Montserrat"/>
                        </a:defRPr>
                      </a:pPr>
                      <a:r>
                        <a:t>16,992</a:t>
                      </a:r>
                    </a:p>
                  </a:txBody>
                  <a:tcPr marL="0" marR="0" marT="0" marB="0">
                    <a:solidFill>
                      <a:srgbClr val="ECD3D9"/>
                    </a:solidFill>
                  </a:tcPr>
                </a:tc>
                <a:tc>
                  <a:txBody>
                    <a:bodyPr/>
                    <a:lstStyle/>
                    <a:p>
                      <a:pPr algn="ctr">
                        <a:defRPr sz="1000">
                          <a:solidFill>
                            <a:srgbClr val="000000"/>
                          </a:solidFill>
                          <a:latin typeface="Montserrat"/>
                        </a:defRPr>
                      </a:pPr>
                      <a:r>
                        <a:t>35,000</a:t>
                      </a:r>
                    </a:p>
                  </a:txBody>
                  <a:tcPr marL="0" marR="0" marT="0" marB="0">
                    <a:solidFill>
                      <a:srgbClr val="ECD3D9"/>
                    </a:solidFill>
                  </a:tcPr>
                </a:tc>
                <a:tc>
                  <a:txBody>
                    <a:bodyPr/>
                    <a:lstStyle/>
                    <a:p>
                      <a:pPr algn="ctr">
                        <a:defRPr sz="1000">
                          <a:solidFill>
                            <a:srgbClr val="000000"/>
                          </a:solidFill>
                          <a:latin typeface="Montserrat"/>
                        </a:defRPr>
                      </a:pPr>
                      <a:r>
                        <a:t>48.5%</a:t>
                      </a:r>
                    </a:p>
                  </a:txBody>
                  <a:tcPr marL="0" marR="0" marT="0" marB="0">
                    <a:solidFill>
                      <a:srgbClr val="ECD3D9"/>
                    </a:solidFill>
                  </a:tcPr>
                </a:tc>
                <a:extLst>
                  <a:ext uri="{0D108BD9-81ED-4DB2-BD59-A6C34878D82A}">
                    <a16:rowId xmlns:a16="http://schemas.microsoft.com/office/drawing/2014/main" val="10013"/>
                  </a:ext>
                </a:extLst>
              </a:tr>
              <a:tr h="149912">
                <a:tc>
                  <a:txBody>
                    <a:bodyPr/>
                    <a:lstStyle/>
                    <a:p>
                      <a:pPr algn="l">
                        <a:defRPr sz="1000">
                          <a:solidFill>
                            <a:srgbClr val="000000"/>
                          </a:solidFill>
                          <a:latin typeface="Montserrat"/>
                        </a:defRPr>
                      </a:pPr>
                      <a:r>
                        <a:t>UMF 73 Poza Rica</a:t>
                      </a:r>
                    </a:p>
                  </a:txBody>
                  <a:tcPr marL="0" marR="0" marT="0" marB="0">
                    <a:solidFill>
                      <a:srgbClr val="EFEFEF"/>
                    </a:solidFill>
                  </a:tcPr>
                </a:tc>
                <a:tc>
                  <a:txBody>
                    <a:bodyPr/>
                    <a:lstStyle/>
                    <a:p>
                      <a:pPr algn="ctr">
                        <a:defRPr sz="1000">
                          <a:solidFill>
                            <a:srgbClr val="000000"/>
                          </a:solidFill>
                          <a:latin typeface="Montserrat"/>
                        </a:defRPr>
                      </a:pPr>
                      <a:r>
                        <a:t>249,695</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121,198</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48.4%</a:t>
                      </a:r>
                    </a:p>
                  </a:txBody>
                  <a:tcPr marL="0" marR="0" marT="0" marB="0">
                    <a:solidFill>
                      <a:srgbClr val="ECD3D9"/>
                    </a:solidFill>
                  </a:tcPr>
                </a:tc>
                <a:extLst>
                  <a:ext uri="{0D108BD9-81ED-4DB2-BD59-A6C34878D82A}">
                    <a16:rowId xmlns:a16="http://schemas.microsoft.com/office/drawing/2014/main" val="10014"/>
                  </a:ext>
                </a:extLst>
              </a:tr>
              <a:tr h="149912">
                <a:tc>
                  <a:txBody>
                    <a:bodyPr/>
                    <a:lstStyle/>
                    <a:p>
                      <a:pPr algn="l">
                        <a:defRPr sz="1000">
                          <a:solidFill>
                            <a:srgbClr val="000000"/>
                          </a:solidFill>
                          <a:latin typeface="Montserrat"/>
                        </a:defRPr>
                      </a:pPr>
                      <a:r>
                        <a:t>UMF 37 Coatzacoalcos</a:t>
                      </a:r>
                    </a:p>
                  </a:txBody>
                  <a:tcPr marL="0" marR="0" marT="0" marB="0">
                    <a:solidFill>
                      <a:srgbClr val="FFFFFF"/>
                    </a:solidFill>
                  </a:tcPr>
                </a:tc>
                <a:tc>
                  <a:txBody>
                    <a:bodyPr/>
                    <a:lstStyle/>
                    <a:p>
                      <a:pPr algn="ctr">
                        <a:defRPr sz="1000">
                          <a:solidFill>
                            <a:srgbClr val="000000"/>
                          </a:solidFill>
                          <a:latin typeface="Montserrat"/>
                        </a:defRPr>
                      </a:pPr>
                      <a:r>
                        <a:t>69,243</a:t>
                      </a:r>
                    </a:p>
                  </a:txBody>
                  <a:tcPr marL="0" marR="0" marT="0" marB="0">
                    <a:solidFill>
                      <a:srgbClr val="FFFFFF"/>
                    </a:solidFill>
                  </a:tcPr>
                </a:tc>
                <a:tc>
                  <a:txBody>
                    <a:bodyPr/>
                    <a:lstStyle/>
                    <a:p>
                      <a:pPr algn="ctr">
                        <a:defRPr sz="1000">
                          <a:solidFill>
                            <a:srgbClr val="000000"/>
                          </a:solidFill>
                          <a:latin typeface="Montserrat"/>
                        </a:defRPr>
                      </a:pPr>
                      <a:r>
                        <a:t>12,325</a:t>
                      </a:r>
                    </a:p>
                  </a:txBody>
                  <a:tcPr marL="0" marR="0" marT="0" marB="0">
                    <a:solidFill>
                      <a:srgbClr val="FFFFFF"/>
                    </a:solidFill>
                  </a:tcPr>
                </a:tc>
                <a:tc>
                  <a:txBody>
                    <a:bodyPr/>
                    <a:lstStyle/>
                    <a:p>
                      <a:pPr algn="ctr">
                        <a:defRPr sz="1000">
                          <a:solidFill>
                            <a:srgbClr val="000000"/>
                          </a:solidFill>
                          <a:latin typeface="Montserrat"/>
                        </a:defRPr>
                      </a:pPr>
                      <a:r>
                        <a:t>35,833</a:t>
                      </a:r>
                    </a:p>
                  </a:txBody>
                  <a:tcPr marL="0" marR="0" marT="0" marB="0">
                    <a:solidFill>
                      <a:srgbClr val="ECD3D9"/>
                    </a:solidFill>
                  </a:tcPr>
                </a:tc>
                <a:tc>
                  <a:txBody>
                    <a:bodyPr/>
                    <a:lstStyle/>
                    <a:p>
                      <a:pPr algn="ctr">
                        <a:defRPr sz="1000">
                          <a:solidFill>
                            <a:srgbClr val="000000"/>
                          </a:solidFill>
                          <a:latin typeface="Montserrat"/>
                        </a:defRPr>
                      </a:pPr>
                      <a:r>
                        <a:t>66,000</a:t>
                      </a:r>
                    </a:p>
                  </a:txBody>
                  <a:tcPr marL="0" marR="0" marT="0" marB="0">
                    <a:solidFill>
                      <a:srgbClr val="ECD3D9"/>
                    </a:solidFill>
                  </a:tcPr>
                </a:tc>
                <a:tc>
                  <a:txBody>
                    <a:bodyPr/>
                    <a:lstStyle/>
                    <a:p>
                      <a:pPr algn="ctr">
                        <a:defRPr sz="1000">
                          <a:solidFill>
                            <a:srgbClr val="000000"/>
                          </a:solidFill>
                          <a:latin typeface="Montserrat"/>
                        </a:defRPr>
                      </a:pPr>
                      <a:r>
                        <a:t>54.3%</a:t>
                      </a:r>
                    </a:p>
                  </a:txBody>
                  <a:tcPr marL="0" marR="0" marT="0" marB="0">
                    <a:solidFill>
                      <a:srgbClr val="ECD3D9"/>
                    </a:solidFill>
                  </a:tcPr>
                </a:tc>
                <a:extLst>
                  <a:ext uri="{0D108BD9-81ED-4DB2-BD59-A6C34878D82A}">
                    <a16:rowId xmlns:a16="http://schemas.microsoft.com/office/drawing/2014/main" val="10015"/>
                  </a:ext>
                </a:extLst>
              </a:tr>
              <a:tr h="149912">
                <a:tc>
                  <a:txBody>
                    <a:bodyPr/>
                    <a:lstStyle/>
                    <a:p>
                      <a:pPr algn="l">
                        <a:defRPr sz="1000">
                          <a:solidFill>
                            <a:srgbClr val="000000"/>
                          </a:solidFill>
                          <a:latin typeface="Montserrat"/>
                        </a:defRPr>
                      </a:pPr>
                      <a:r>
                        <a:t>UMF 69 Coatzacoalcos</a:t>
                      </a:r>
                    </a:p>
                  </a:txBody>
                  <a:tcPr marL="0" marR="0" marT="0" marB="0">
                    <a:solidFill>
                      <a:srgbClr val="EFEFEF"/>
                    </a:solidFill>
                  </a:tcPr>
                </a:tc>
                <a:tc>
                  <a:txBody>
                    <a:bodyPr/>
                    <a:lstStyle/>
                    <a:p>
                      <a:pPr algn="ctr">
                        <a:defRPr sz="1000">
                          <a:solidFill>
                            <a:srgbClr val="000000"/>
                          </a:solidFill>
                          <a:latin typeface="Montserrat"/>
                        </a:defRPr>
                      </a:pPr>
                      <a:r>
                        <a:t>160,407</a:t>
                      </a:r>
                    </a:p>
                  </a:txBody>
                  <a:tcPr marL="0" marR="0" marT="0" marB="0">
                    <a:solidFill>
                      <a:srgbClr val="EFEFEF"/>
                    </a:solidFill>
                  </a:tcPr>
                </a:tc>
                <a:tc>
                  <a:txBody>
                    <a:bodyPr/>
                    <a:lstStyle/>
                    <a:p>
                      <a:pPr algn="ctr">
                        <a:defRPr sz="1000">
                          <a:solidFill>
                            <a:srgbClr val="000000"/>
                          </a:solidFill>
                          <a:latin typeface="Montserrat"/>
                        </a:defRPr>
                      </a:pPr>
                      <a:r>
                        <a:rPr dirty="0"/>
                        <a:t>22,869</a:t>
                      </a:r>
                    </a:p>
                  </a:txBody>
                  <a:tcPr marL="0" marR="0" marT="0" marB="0">
                    <a:solidFill>
                      <a:srgbClr val="EFEFEF"/>
                    </a:solidFill>
                  </a:tcPr>
                </a:tc>
                <a:tc>
                  <a:txBody>
                    <a:bodyPr/>
                    <a:lstStyle/>
                    <a:p>
                      <a:pPr algn="ctr">
                        <a:defRPr sz="1000">
                          <a:solidFill>
                            <a:srgbClr val="000000"/>
                          </a:solidFill>
                          <a:latin typeface="Montserrat"/>
                        </a:defRPr>
                      </a:pPr>
                      <a:r>
                        <a:t>66,859</a:t>
                      </a:r>
                    </a:p>
                  </a:txBody>
                  <a:tcPr marL="0" marR="0" marT="0" marB="0">
                    <a:solidFill>
                      <a:srgbClr val="ECD3D9"/>
                    </a:solidFill>
                  </a:tcPr>
                </a:tc>
                <a:tc>
                  <a:txBody>
                    <a:bodyPr/>
                    <a:lstStyle/>
                    <a:p>
                      <a:pPr algn="ctr">
                        <a:defRPr sz="1000">
                          <a:solidFill>
                            <a:srgbClr val="000000"/>
                          </a:solidFill>
                          <a:latin typeface="Montserrat"/>
                        </a:defRPr>
                      </a:pPr>
                      <a:r>
                        <a:t>152,000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extLst>
                  <a:ext uri="{0D108BD9-81ED-4DB2-BD59-A6C34878D82A}">
                    <a16:rowId xmlns:a16="http://schemas.microsoft.com/office/drawing/2014/main" val="10016"/>
                  </a:ext>
                </a:extLst>
              </a:tr>
              <a:tr h="149912">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2,445,977</a:t>
                      </a:r>
                    </a:p>
                  </a:txBody>
                  <a:tcPr marL="0" marR="0" marT="0" marB="0">
                    <a:solidFill>
                      <a:srgbClr val="D3E9E7"/>
                    </a:solidFill>
                  </a:tcPr>
                </a:tc>
                <a:tc>
                  <a:txBody>
                    <a:bodyPr/>
                    <a:lstStyle/>
                    <a:p>
                      <a:pPr algn="ctr">
                        <a:defRPr sz="1000" b="1">
                          <a:solidFill>
                            <a:srgbClr val="006556"/>
                          </a:solidFill>
                          <a:latin typeface="Montserrat"/>
                        </a:defRPr>
                      </a:pPr>
                      <a:r>
                        <a:rPr dirty="0"/>
                        <a:t>190,110</a:t>
                      </a:r>
                    </a:p>
                  </a:txBody>
                  <a:tcPr marL="0" marR="0" marT="0" marB="0">
                    <a:solidFill>
                      <a:srgbClr val="D3E9E7"/>
                    </a:solidFill>
                  </a:tcPr>
                </a:tc>
                <a:tc>
                  <a:txBody>
                    <a:bodyPr/>
                    <a:lstStyle/>
                    <a:p>
                      <a:pPr algn="ctr">
                        <a:defRPr sz="1000" b="1">
                          <a:solidFill>
                            <a:srgbClr val="FFFFFF"/>
                          </a:solidFill>
                          <a:latin typeface="Montserrat"/>
                        </a:defRPr>
                      </a:pPr>
                      <a:r>
                        <a:t>1,111,040</a:t>
                      </a:r>
                    </a:p>
                  </a:txBody>
                  <a:tcPr marL="0" marR="0" marT="0" marB="0">
                    <a:solidFill>
                      <a:srgbClr val="9F2241"/>
                    </a:solidFill>
                  </a:tcPr>
                </a:tc>
                <a:tc>
                  <a:txBody>
                    <a:bodyPr/>
                    <a:lstStyle/>
                    <a:p>
                      <a:pPr algn="ctr">
                        <a:defRPr sz="1000" b="1">
                          <a:solidFill>
                            <a:srgbClr val="FFFFFF"/>
                          </a:solidFill>
                          <a:latin typeface="Montserrat"/>
                        </a:defRPr>
                      </a:pPr>
                      <a:r>
                        <a:t>2,393,968</a:t>
                      </a:r>
                    </a:p>
                  </a:txBody>
                  <a:tcPr marL="0" marR="0" marT="0" marB="0">
                    <a:solidFill>
                      <a:srgbClr val="9F2241"/>
                    </a:solidFill>
                  </a:tcPr>
                </a:tc>
                <a:tc>
                  <a:txBody>
                    <a:bodyPr/>
                    <a:lstStyle/>
                    <a:p>
                      <a:pPr algn="ctr">
                        <a:defRPr sz="1000" b="1">
                          <a:solidFill>
                            <a:srgbClr val="FFFFFF"/>
                          </a:solidFill>
                          <a:latin typeface="Montserrat"/>
                        </a:defRPr>
                      </a:pPr>
                      <a:r>
                        <a:rPr dirty="0"/>
                        <a:t>46.4%</a:t>
                      </a:r>
                    </a:p>
                  </a:txBody>
                  <a:tcPr marL="0" marR="0" marT="0" marB="0">
                    <a:solidFill>
                      <a:srgbClr val="9F2241"/>
                    </a:solidFill>
                  </a:tcPr>
                </a:tc>
                <a:extLst>
                  <a:ext uri="{0D108BD9-81ED-4DB2-BD59-A6C34878D82A}">
                    <a16:rowId xmlns:a16="http://schemas.microsoft.com/office/drawing/2014/main" val="10017"/>
                  </a:ext>
                </a:extLst>
              </a:tr>
            </a:tbl>
          </a:graphicData>
        </a:graphic>
      </p:graphicFrame>
      <p:graphicFrame>
        <p:nvGraphicFramePr>
          <p:cNvPr id="28" name="Chart 2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Box 2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7475886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14249" y="1015800"/>
            <a:ext cx="7473600" cy="288000"/>
          </a:xfrm>
          <a:prstGeom prst="rect">
            <a:avLst/>
          </a:prstGeom>
          <a:noFill/>
        </p:spPr>
        <p:txBody>
          <a:bodyPr wrap="none">
            <a:spAutoFit/>
          </a:bodyPr>
          <a:lstStyle/>
          <a:p>
            <a:pPr algn="l">
              <a:defRPr sz="1800" b="1">
                <a:solidFill>
                  <a:srgbClr val="009193"/>
                </a:solidFill>
                <a:latin typeface="Montserrat"/>
              </a:defRPr>
            </a:pPr>
            <a:r>
              <a:rPr dirty="0" err="1"/>
              <a:t>Productividad</a:t>
            </a:r>
            <a:r>
              <a:rPr dirty="0"/>
              <a:t> de </a:t>
            </a:r>
            <a:r>
              <a:rPr dirty="0" err="1"/>
              <a:t>consultas</a:t>
            </a:r>
            <a:r>
              <a:rPr dirty="0"/>
              <a:t> de </a:t>
            </a:r>
            <a:r>
              <a:rPr dirty="0" err="1"/>
              <a:t>especialidad</a:t>
            </a:r>
            <a:r>
              <a:rPr dirty="0"/>
              <a:t>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extLst>
              <p:ext uri="{D42A27DB-BD31-4B8C-83A1-F6EECF244321}">
                <p14:modId xmlns:p14="http://schemas.microsoft.com/office/powerpoint/2010/main" val="1612348653"/>
              </p:ext>
            </p:extLst>
          </p:nvPr>
        </p:nvGraphicFramePr>
        <p:xfrm>
          <a:off x="143502" y="1373089"/>
          <a:ext cx="7340399" cy="5004059"/>
        </p:xfrm>
        <a:graphic>
          <a:graphicData uri="http://schemas.openxmlformats.org/drawingml/2006/table">
            <a:tbl>
              <a:tblPr firstRow="1" bandRow="1">
                <a:tableStyleId>{5C22544A-7EE6-4342-B048-85BDC9FD1C3A}</a:tableStyleId>
              </a:tblPr>
              <a:tblGrid>
                <a:gridCol w="2180598">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1123950">
                  <a:extLst>
                    <a:ext uri="{9D8B030D-6E8A-4147-A177-3AD203B41FA5}">
                      <a16:colId xmlns:a16="http://schemas.microsoft.com/office/drawing/2014/main" val="20002"/>
                    </a:ext>
                  </a:extLst>
                </a:gridCol>
                <a:gridCol w="1003751">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14826">
                <a:tc>
                  <a:txBody>
                    <a:bodyPr/>
                    <a:lstStyle/>
                    <a:p>
                      <a:pPr algn="ctr">
                        <a:defRPr sz="900" b="1">
                          <a:solidFill>
                            <a:srgbClr val="FFFFFF"/>
                          </a:solidFill>
                          <a:latin typeface="Montserrat"/>
                        </a:defRPr>
                      </a:pPr>
                      <a:r>
                        <a:t>Unidad</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Incremento 2025 vs 2024</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rPr dirty="0"/>
                        <a:t>Avance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900" b="1">
                          <a:solidFill>
                            <a:srgbClr val="FFFFFF"/>
                          </a:solidFill>
                          <a:latin typeface="Montserrat"/>
                        </a:defRPr>
                      </a:pPr>
                      <a:r>
                        <a:rPr dirty="0"/>
                        <a:t>Meta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900" b="1">
                          <a:solidFill>
                            <a:srgbClr val="FFFFFF"/>
                          </a:solidFill>
                          <a:latin typeface="Montserrat"/>
                        </a:defRPr>
                      </a:pPr>
                      <a:r>
                        <a:rPr dirty="0"/>
                        <a:t>% </a:t>
                      </a:r>
                      <a:r>
                        <a:rPr dirty="0" err="1"/>
                        <a:t>Cumplimiento</a:t>
                      </a:r>
                      <a:r>
                        <a:rPr dirty="0"/>
                        <a:t> de la meta</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80000"/>
                    </a:solidFill>
                  </a:tcPr>
                </a:tc>
                <a:extLst>
                  <a:ext uri="{0D108BD9-81ED-4DB2-BD59-A6C34878D82A}">
                    <a16:rowId xmlns:a16="http://schemas.microsoft.com/office/drawing/2014/main" val="10000"/>
                  </a:ext>
                </a:extLst>
              </a:tr>
              <a:tr h="209884">
                <a:tc>
                  <a:txBody>
                    <a:bodyPr/>
                    <a:lstStyle/>
                    <a:p>
                      <a:pPr algn="l">
                        <a:defRPr sz="1000">
                          <a:latin typeface="Montserrat"/>
                        </a:defRPr>
                      </a:pPr>
                      <a:r>
                        <a:t>HGSMF 7 Panuco</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5,796</a:t>
                      </a:r>
                    </a:p>
                  </a:txBody>
                  <a:tcPr>
                    <a:solidFill>
                      <a:srgbClr val="FFFFFF"/>
                    </a:solidFill>
                  </a:tcPr>
                </a:tc>
                <a:tc>
                  <a:txBody>
                    <a:bodyPr/>
                    <a:lstStyle/>
                    <a:p>
                      <a:pPr algn="ctr">
                        <a:defRPr sz="1000">
                          <a:latin typeface="Montserrat"/>
                        </a:defRPr>
                      </a:pPr>
                      <a:r>
                        <a:t>901</a:t>
                      </a:r>
                    </a:p>
                  </a:txBody>
                  <a:tcPr>
                    <a:solidFill>
                      <a:srgbClr val="FFFFFF"/>
                    </a:solidFill>
                  </a:tcPr>
                </a:tc>
                <a:tc>
                  <a:txBody>
                    <a:bodyPr/>
                    <a:lstStyle/>
                    <a:p>
                      <a:pPr algn="ctr">
                        <a:defRPr sz="1000">
                          <a:latin typeface="Montserrat"/>
                        </a:defRPr>
                      </a:pPr>
                      <a:r>
                        <a:t>3,308</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56.6%</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1"/>
                  </a:ext>
                </a:extLst>
              </a:tr>
              <a:tr h="209884">
                <a:tc>
                  <a:txBody>
                    <a:bodyPr/>
                    <a:lstStyle/>
                    <a:p>
                      <a:pPr algn="l">
                        <a:defRPr sz="1000">
                          <a:latin typeface="Montserrat"/>
                        </a:defRPr>
                      </a:pPr>
                      <a:r>
                        <a:t>HGZ 11 Jalapa.</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172,037</a:t>
                      </a:r>
                    </a:p>
                  </a:txBody>
                  <a:tcPr>
                    <a:solidFill>
                      <a:srgbClr val="EFEFEF"/>
                    </a:solidFill>
                  </a:tcPr>
                </a:tc>
                <a:tc>
                  <a:txBody>
                    <a:bodyPr/>
                    <a:lstStyle/>
                    <a:p>
                      <a:pPr algn="ctr">
                        <a:defRPr sz="1000">
                          <a:latin typeface="Montserrat"/>
                        </a:defRPr>
                      </a:pPr>
                      <a:r>
                        <a:t>26,861</a:t>
                      </a:r>
                    </a:p>
                  </a:txBody>
                  <a:tcPr>
                    <a:solidFill>
                      <a:srgbClr val="EFEFEF"/>
                    </a:solidFill>
                  </a:tcPr>
                </a:tc>
                <a:tc>
                  <a:txBody>
                    <a:bodyPr/>
                    <a:lstStyle/>
                    <a:p>
                      <a:pPr algn="ctr">
                        <a:defRPr sz="1000">
                          <a:latin typeface="Montserrat"/>
                        </a:defRPr>
                      </a:pPr>
                      <a:r>
                        <a:t>85,612</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50.1%</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2"/>
                  </a:ext>
                </a:extLst>
              </a:tr>
              <a:tr h="209884">
                <a:tc>
                  <a:txBody>
                    <a:bodyPr/>
                    <a:lstStyle/>
                    <a:p>
                      <a:pPr algn="l">
                        <a:defRPr sz="1000">
                          <a:latin typeface="Montserrat"/>
                        </a:defRPr>
                      </a:pPr>
                      <a:r>
                        <a:t>HGZ 71 Veracruz</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142,360</a:t>
                      </a:r>
                    </a:p>
                  </a:txBody>
                  <a:tcPr>
                    <a:solidFill>
                      <a:srgbClr val="FFFFFF"/>
                    </a:solidFill>
                  </a:tcPr>
                </a:tc>
                <a:tc>
                  <a:txBody>
                    <a:bodyPr/>
                    <a:lstStyle/>
                    <a:p>
                      <a:pPr algn="ctr">
                        <a:defRPr sz="1000">
                          <a:latin typeface="Montserrat"/>
                        </a:defRPr>
                      </a:pPr>
                      <a:r>
                        <a:t>9,934</a:t>
                      </a:r>
                    </a:p>
                  </a:txBody>
                  <a:tcPr>
                    <a:solidFill>
                      <a:srgbClr val="FFFFFF"/>
                    </a:solidFill>
                  </a:tcPr>
                </a:tc>
                <a:tc>
                  <a:txBody>
                    <a:bodyPr/>
                    <a:lstStyle/>
                    <a:p>
                      <a:pPr algn="ctr">
                        <a:defRPr sz="1000">
                          <a:latin typeface="Montserrat"/>
                        </a:defRPr>
                      </a:pPr>
                      <a:r>
                        <a:t>66,947</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46.3%</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3"/>
                  </a:ext>
                </a:extLst>
              </a:tr>
              <a:tr h="209884">
                <a:tc>
                  <a:txBody>
                    <a:bodyPr/>
                    <a:lstStyle/>
                    <a:p>
                      <a:pPr algn="l">
                        <a:defRPr sz="1000">
                          <a:latin typeface="Montserrat"/>
                        </a:defRPr>
                      </a:pPr>
                      <a:r>
                        <a:t>HGR Orizaba</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184,598</a:t>
                      </a:r>
                    </a:p>
                  </a:txBody>
                  <a:tcPr>
                    <a:solidFill>
                      <a:srgbClr val="EFEFEF"/>
                    </a:solidFill>
                  </a:tcPr>
                </a:tc>
                <a:tc>
                  <a:txBody>
                    <a:bodyPr/>
                    <a:lstStyle/>
                    <a:p>
                      <a:pPr algn="ctr">
                        <a:defRPr sz="1000">
                          <a:latin typeface="Montserrat"/>
                        </a:defRPr>
                      </a:pPr>
                      <a:r>
                        <a:rPr dirty="0"/>
                        <a:t>57,662</a:t>
                      </a:r>
                    </a:p>
                  </a:txBody>
                  <a:tcPr>
                    <a:solidFill>
                      <a:srgbClr val="EFEFEF"/>
                    </a:solidFill>
                  </a:tcPr>
                </a:tc>
                <a:tc>
                  <a:txBody>
                    <a:bodyPr/>
                    <a:lstStyle/>
                    <a:p>
                      <a:pPr algn="ctr">
                        <a:defRPr sz="1000">
                          <a:latin typeface="Montserrat"/>
                        </a:defRPr>
                      </a:pPr>
                      <a:r>
                        <a:t>85,175</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46.3%</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4"/>
                  </a:ext>
                </a:extLst>
              </a:tr>
              <a:tr h="209884">
                <a:tc>
                  <a:txBody>
                    <a:bodyPr/>
                    <a:lstStyle/>
                    <a:p>
                      <a:pPr algn="l">
                        <a:defRPr sz="1000">
                          <a:latin typeface="Montserrat"/>
                        </a:defRPr>
                      </a:pPr>
                      <a:r>
                        <a:t>HGZMF 32 Minatitlán</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70,634</a:t>
                      </a:r>
                    </a:p>
                  </a:txBody>
                  <a:tcPr>
                    <a:solidFill>
                      <a:srgbClr val="FFFFFF"/>
                    </a:solidFill>
                  </a:tcPr>
                </a:tc>
                <a:tc>
                  <a:txBody>
                    <a:bodyPr/>
                    <a:lstStyle/>
                    <a:p>
                      <a:pPr algn="ctr">
                        <a:defRPr sz="1000">
                          <a:latin typeface="Montserrat"/>
                        </a:defRPr>
                      </a:pPr>
                      <a:r>
                        <a:t>32,028</a:t>
                      </a:r>
                    </a:p>
                  </a:txBody>
                  <a:tcPr>
                    <a:solidFill>
                      <a:srgbClr val="FFFFFF"/>
                    </a:solidFill>
                  </a:tcPr>
                </a:tc>
                <a:tc>
                  <a:txBody>
                    <a:bodyPr/>
                    <a:lstStyle/>
                    <a:p>
                      <a:pPr algn="ctr">
                        <a:defRPr sz="1000">
                          <a:latin typeface="Montserrat"/>
                        </a:defRPr>
                      </a:pPr>
                      <a:r>
                        <a:t>32,379</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44.8%</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5"/>
                  </a:ext>
                </a:extLst>
              </a:tr>
              <a:tr h="209884">
                <a:tc>
                  <a:txBody>
                    <a:bodyPr/>
                    <a:lstStyle/>
                    <a:p>
                      <a:pPr algn="l">
                        <a:defRPr sz="1000">
                          <a:latin typeface="Montserrat"/>
                        </a:defRPr>
                      </a:pPr>
                      <a:r>
                        <a:t>HGZMF 35 Cosamaloapan</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67,329</a:t>
                      </a:r>
                    </a:p>
                  </a:txBody>
                  <a:tcPr>
                    <a:solidFill>
                      <a:srgbClr val="EFEFEF"/>
                    </a:solidFill>
                  </a:tcPr>
                </a:tc>
                <a:tc>
                  <a:txBody>
                    <a:bodyPr/>
                    <a:lstStyle/>
                    <a:p>
                      <a:pPr algn="ctr">
                        <a:defRPr sz="1000">
                          <a:latin typeface="Montserrat"/>
                        </a:defRPr>
                      </a:pPr>
                      <a:r>
                        <a:t>41,010</a:t>
                      </a:r>
                    </a:p>
                  </a:txBody>
                  <a:tcPr>
                    <a:solidFill>
                      <a:srgbClr val="EFEFEF"/>
                    </a:solidFill>
                  </a:tcPr>
                </a:tc>
                <a:tc>
                  <a:txBody>
                    <a:bodyPr/>
                    <a:lstStyle/>
                    <a:p>
                      <a:pPr algn="ctr">
                        <a:defRPr sz="1000">
                          <a:latin typeface="Montserrat"/>
                        </a:defRPr>
                      </a:pPr>
                      <a:r>
                        <a:t>32,272</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44.6%</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6"/>
                  </a:ext>
                </a:extLst>
              </a:tr>
              <a:tr h="209884">
                <a:tc>
                  <a:txBody>
                    <a:bodyPr/>
                    <a:lstStyle/>
                    <a:p>
                      <a:pPr algn="l">
                        <a:defRPr sz="1000">
                          <a:latin typeface="Montserrat"/>
                        </a:defRPr>
                      </a:pPr>
                      <a:r>
                        <a:t>HGSMF 26 Tuxpan</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23,295</a:t>
                      </a:r>
                    </a:p>
                  </a:txBody>
                  <a:tcPr>
                    <a:solidFill>
                      <a:srgbClr val="FFFFFF"/>
                    </a:solidFill>
                  </a:tcPr>
                </a:tc>
                <a:tc>
                  <a:txBody>
                    <a:bodyPr/>
                    <a:lstStyle/>
                    <a:p>
                      <a:pPr algn="ctr">
                        <a:defRPr sz="1000">
                          <a:latin typeface="Montserrat"/>
                        </a:defRPr>
                      </a:pPr>
                      <a:r>
                        <a:t>516</a:t>
                      </a:r>
                    </a:p>
                  </a:txBody>
                  <a:tcPr>
                    <a:solidFill>
                      <a:srgbClr val="FFFFFF"/>
                    </a:solidFill>
                  </a:tcPr>
                </a:tc>
                <a:tc>
                  <a:txBody>
                    <a:bodyPr/>
                    <a:lstStyle/>
                    <a:p>
                      <a:pPr algn="ctr">
                        <a:defRPr sz="1000">
                          <a:latin typeface="Montserrat"/>
                        </a:defRPr>
                      </a:pPr>
                      <a:r>
                        <a:t>11,428</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43.5%</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7"/>
                  </a:ext>
                </a:extLst>
              </a:tr>
              <a:tr h="209884">
                <a:tc>
                  <a:txBody>
                    <a:bodyPr/>
                    <a:lstStyle/>
                    <a:p>
                      <a:pPr algn="l">
                        <a:defRPr sz="1000">
                          <a:latin typeface="Montserrat"/>
                        </a:defRPr>
                      </a:pPr>
                      <a:r>
                        <a:t>HGZ 36 Coatzacoalos</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205,374</a:t>
                      </a:r>
                    </a:p>
                  </a:txBody>
                  <a:tcPr>
                    <a:solidFill>
                      <a:srgbClr val="EFEFEF"/>
                    </a:solidFill>
                  </a:tcPr>
                </a:tc>
                <a:tc>
                  <a:txBody>
                    <a:bodyPr/>
                    <a:lstStyle/>
                    <a:p>
                      <a:pPr algn="ctr">
                        <a:defRPr sz="1000">
                          <a:latin typeface="Montserrat"/>
                        </a:defRPr>
                      </a:pPr>
                      <a:r>
                        <a:t>134,701</a:t>
                      </a:r>
                    </a:p>
                  </a:txBody>
                  <a:tcPr>
                    <a:solidFill>
                      <a:srgbClr val="EFEFEF"/>
                    </a:solidFill>
                  </a:tcPr>
                </a:tc>
                <a:tc>
                  <a:txBody>
                    <a:bodyPr/>
                    <a:lstStyle/>
                    <a:p>
                      <a:pPr algn="ctr">
                        <a:defRPr sz="1000">
                          <a:latin typeface="Montserrat"/>
                        </a:defRPr>
                      </a:pPr>
                      <a:r>
                        <a:t>89,152</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42.4%</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8"/>
                  </a:ext>
                </a:extLst>
              </a:tr>
              <a:tr h="209884">
                <a:tc>
                  <a:txBody>
                    <a:bodyPr/>
                    <a:lstStyle/>
                    <a:p>
                      <a:pPr algn="l">
                        <a:defRPr sz="1000">
                          <a:latin typeface="Montserrat"/>
                        </a:defRPr>
                      </a:pPr>
                      <a:r>
                        <a:t>HGZ 8 Córdoba</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134,868</a:t>
                      </a:r>
                    </a:p>
                  </a:txBody>
                  <a:tcPr>
                    <a:solidFill>
                      <a:srgbClr val="FFFFFF"/>
                    </a:solidFill>
                  </a:tcPr>
                </a:tc>
                <a:tc>
                  <a:txBody>
                    <a:bodyPr/>
                    <a:lstStyle/>
                    <a:p>
                      <a:pPr algn="ctr">
                        <a:defRPr sz="1000">
                          <a:latin typeface="Montserrat"/>
                        </a:defRPr>
                      </a:pPr>
                      <a:r>
                        <a:rPr dirty="0"/>
                        <a:t>34,833</a:t>
                      </a:r>
                    </a:p>
                  </a:txBody>
                  <a:tcPr>
                    <a:solidFill>
                      <a:srgbClr val="FFFFFF"/>
                    </a:solidFill>
                  </a:tcPr>
                </a:tc>
                <a:tc>
                  <a:txBody>
                    <a:bodyPr/>
                    <a:lstStyle/>
                    <a:p>
                      <a:pPr algn="ctr">
                        <a:defRPr sz="1000">
                          <a:latin typeface="Montserrat"/>
                        </a:defRPr>
                      </a:pPr>
                      <a:r>
                        <a:t>59,531</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rPr dirty="0"/>
                        <a:t>41.2%</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9"/>
                  </a:ext>
                </a:extLst>
              </a:tr>
              <a:tr h="209884">
                <a:tc>
                  <a:txBody>
                    <a:bodyPr/>
                    <a:lstStyle/>
                    <a:p>
                      <a:pPr algn="l">
                        <a:defRPr sz="1000">
                          <a:latin typeface="Montserrat"/>
                        </a:defRPr>
                      </a:pPr>
                      <a:r>
                        <a:t>HGS 33 Tierra Blanca</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21,047</a:t>
                      </a:r>
                    </a:p>
                  </a:txBody>
                  <a:tcPr>
                    <a:solidFill>
                      <a:srgbClr val="EFEFEF"/>
                    </a:solidFill>
                  </a:tcPr>
                </a:tc>
                <a:tc>
                  <a:txBody>
                    <a:bodyPr/>
                    <a:lstStyle/>
                    <a:p>
                      <a:pPr algn="ctr">
                        <a:defRPr sz="1000">
                          <a:latin typeface="Montserrat"/>
                        </a:defRPr>
                      </a:pPr>
                      <a:r>
                        <a:t>11,474</a:t>
                      </a:r>
                    </a:p>
                  </a:txBody>
                  <a:tcPr>
                    <a:solidFill>
                      <a:srgbClr val="EFEFEF"/>
                    </a:solidFill>
                  </a:tcPr>
                </a:tc>
                <a:tc>
                  <a:txBody>
                    <a:bodyPr/>
                    <a:lstStyle/>
                    <a:p>
                      <a:pPr algn="ctr">
                        <a:defRPr sz="1000">
                          <a:latin typeface="Montserrat"/>
                        </a:defRPr>
                      </a:pPr>
                      <a:r>
                        <a:t>9,195</a:t>
                      </a:r>
                    </a:p>
                  </a:txBody>
                  <a:tcPr>
                    <a:solidFill>
                      <a:srgbClr val="ECD3D9"/>
                    </a:solidFill>
                  </a:tcPr>
                </a:tc>
                <a:tc>
                  <a:txBody>
                    <a:bodyPr/>
                    <a:lstStyle/>
                    <a:p>
                      <a:pPr algn="ctr">
                        <a:defRPr sz="1000">
                          <a:latin typeface="Montserrat"/>
                        </a:defRPr>
                      </a:pPr>
                      <a:r>
                        <a:t>23,360</a:t>
                      </a:r>
                    </a:p>
                  </a:txBody>
                  <a:tcPr>
                    <a:solidFill>
                      <a:srgbClr val="ECD3D9"/>
                    </a:solidFill>
                  </a:tcPr>
                </a:tc>
                <a:tc>
                  <a:txBody>
                    <a:bodyPr/>
                    <a:lstStyle/>
                    <a:p>
                      <a:pPr algn="ctr">
                        <a:defRPr sz="1000">
                          <a:latin typeface="Montserrat"/>
                        </a:defRPr>
                      </a:pPr>
                      <a:r>
                        <a:t>39.4%</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0"/>
                  </a:ext>
                </a:extLst>
              </a:tr>
              <a:tr h="209884">
                <a:tc>
                  <a:txBody>
                    <a:bodyPr/>
                    <a:lstStyle/>
                    <a:p>
                      <a:pPr algn="l">
                        <a:defRPr sz="1000">
                          <a:latin typeface="Montserrat"/>
                        </a:defRPr>
                      </a:pPr>
                      <a:r>
                        <a:t>HGZMF 50 Lerdo Tejada</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28,969</a:t>
                      </a:r>
                    </a:p>
                  </a:txBody>
                  <a:tcPr>
                    <a:solidFill>
                      <a:srgbClr val="FFFFFF"/>
                    </a:solidFill>
                  </a:tcPr>
                </a:tc>
                <a:tc>
                  <a:txBody>
                    <a:bodyPr/>
                    <a:lstStyle/>
                    <a:p>
                      <a:pPr algn="ctr">
                        <a:defRPr sz="1000">
                          <a:latin typeface="Montserrat"/>
                        </a:defRPr>
                      </a:pPr>
                      <a:r>
                        <a:t>4,471</a:t>
                      </a:r>
                    </a:p>
                  </a:txBody>
                  <a:tcPr>
                    <a:solidFill>
                      <a:srgbClr val="FFFFFF"/>
                    </a:solidFill>
                  </a:tcPr>
                </a:tc>
                <a:tc>
                  <a:txBody>
                    <a:bodyPr/>
                    <a:lstStyle/>
                    <a:p>
                      <a:pPr algn="ctr">
                        <a:defRPr sz="1000">
                          <a:latin typeface="Montserrat"/>
                        </a:defRPr>
                      </a:pPr>
                      <a:r>
                        <a:t>15,340</a:t>
                      </a:r>
                    </a:p>
                  </a:txBody>
                  <a:tcPr>
                    <a:solidFill>
                      <a:srgbClr val="ECD3D9"/>
                    </a:solidFill>
                  </a:tcPr>
                </a:tc>
                <a:tc>
                  <a:txBody>
                    <a:bodyPr/>
                    <a:lstStyle/>
                    <a:p>
                      <a:pPr algn="ctr">
                        <a:defRPr sz="1000">
                          <a:latin typeface="Montserrat"/>
                        </a:defRPr>
                      </a:pPr>
                      <a:r>
                        <a:t>39,420</a:t>
                      </a:r>
                    </a:p>
                  </a:txBody>
                  <a:tcPr>
                    <a:solidFill>
                      <a:srgbClr val="ECD3D9"/>
                    </a:solidFill>
                  </a:tcPr>
                </a:tc>
                <a:tc>
                  <a:txBody>
                    <a:bodyPr/>
                    <a:lstStyle/>
                    <a:p>
                      <a:pPr algn="ctr">
                        <a:defRPr sz="1000">
                          <a:latin typeface="Montserrat"/>
                        </a:defRPr>
                      </a:pPr>
                      <a:r>
                        <a:t>38.9%</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1"/>
                  </a:ext>
                </a:extLst>
              </a:tr>
              <a:tr h="209884">
                <a:tc>
                  <a:txBody>
                    <a:bodyPr/>
                    <a:lstStyle/>
                    <a:p>
                      <a:pPr algn="l">
                        <a:defRPr sz="1000">
                          <a:latin typeface="Montserrat"/>
                        </a:defRPr>
                      </a:pPr>
                      <a:r>
                        <a:t>HGZMF 36 José Cardel</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37,044</a:t>
                      </a:r>
                    </a:p>
                  </a:txBody>
                  <a:tcPr>
                    <a:solidFill>
                      <a:srgbClr val="EFEFEF"/>
                    </a:solidFill>
                  </a:tcPr>
                </a:tc>
                <a:tc>
                  <a:txBody>
                    <a:bodyPr/>
                    <a:lstStyle/>
                    <a:p>
                      <a:pPr algn="ctr">
                        <a:defRPr sz="1000">
                          <a:latin typeface="Montserrat"/>
                        </a:defRPr>
                      </a:pPr>
                      <a:r>
                        <a:t>7,150</a:t>
                      </a:r>
                    </a:p>
                  </a:txBody>
                  <a:tcPr>
                    <a:solidFill>
                      <a:srgbClr val="EFEFEF"/>
                    </a:solidFill>
                  </a:tcPr>
                </a:tc>
                <a:tc>
                  <a:txBody>
                    <a:bodyPr/>
                    <a:lstStyle/>
                    <a:p>
                      <a:pPr algn="ctr">
                        <a:defRPr sz="1000">
                          <a:latin typeface="Montserrat"/>
                        </a:defRPr>
                      </a:pPr>
                      <a:r>
                        <a:t>19,009</a:t>
                      </a:r>
                    </a:p>
                  </a:txBody>
                  <a:tcPr>
                    <a:solidFill>
                      <a:srgbClr val="ECD3D9"/>
                    </a:solidFill>
                  </a:tcPr>
                </a:tc>
                <a:tc>
                  <a:txBody>
                    <a:bodyPr/>
                    <a:lstStyle/>
                    <a:p>
                      <a:pPr algn="ctr">
                        <a:defRPr sz="1000">
                          <a:latin typeface="Montserrat"/>
                        </a:defRPr>
                      </a:pPr>
                      <a:r>
                        <a:t>49,640</a:t>
                      </a:r>
                    </a:p>
                  </a:txBody>
                  <a:tcPr>
                    <a:solidFill>
                      <a:srgbClr val="ECD3D9"/>
                    </a:solidFill>
                  </a:tcPr>
                </a:tc>
                <a:tc>
                  <a:txBody>
                    <a:bodyPr/>
                    <a:lstStyle/>
                    <a:p>
                      <a:pPr algn="ctr">
                        <a:defRPr sz="1000">
                          <a:latin typeface="Montserrat"/>
                        </a:defRPr>
                      </a:pPr>
                      <a:r>
                        <a:t>38.3%</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2"/>
                  </a:ext>
                </a:extLst>
              </a:tr>
              <a:tr h="209884">
                <a:tc>
                  <a:txBody>
                    <a:bodyPr/>
                    <a:lstStyle/>
                    <a:p>
                      <a:pPr algn="l">
                        <a:defRPr sz="1000">
                          <a:latin typeface="Montserrat"/>
                        </a:defRPr>
                      </a:pPr>
                      <a:r>
                        <a:t>HGSMF 12 Potrero</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9,714</a:t>
                      </a:r>
                    </a:p>
                  </a:txBody>
                  <a:tcPr>
                    <a:solidFill>
                      <a:srgbClr val="FFFFFF"/>
                    </a:solidFill>
                  </a:tcPr>
                </a:tc>
                <a:tc>
                  <a:txBody>
                    <a:bodyPr/>
                    <a:lstStyle/>
                    <a:p>
                      <a:pPr algn="ctr">
                        <a:defRPr sz="1000">
                          <a:latin typeface="Montserrat"/>
                        </a:defRPr>
                      </a:pPr>
                      <a:r>
                        <a:t>2,231</a:t>
                      </a:r>
                    </a:p>
                  </a:txBody>
                  <a:tcPr>
                    <a:solidFill>
                      <a:srgbClr val="FFFFFF"/>
                    </a:solidFill>
                  </a:tcPr>
                </a:tc>
                <a:tc>
                  <a:txBody>
                    <a:bodyPr/>
                    <a:lstStyle/>
                    <a:p>
                      <a:pPr algn="ctr">
                        <a:defRPr sz="1000">
                          <a:latin typeface="Montserrat"/>
                        </a:defRPr>
                      </a:pPr>
                      <a:r>
                        <a:t>5,023</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38.2%</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3"/>
                  </a:ext>
                </a:extLst>
              </a:tr>
              <a:tr h="209884">
                <a:tc>
                  <a:txBody>
                    <a:bodyPr/>
                    <a:lstStyle/>
                    <a:p>
                      <a:pPr algn="l">
                        <a:defRPr sz="1000">
                          <a:latin typeface="Montserrat"/>
                        </a:defRPr>
                      </a:pPr>
                      <a:r>
                        <a:t>HGSMF 33 S. Andrés Tuxtla</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18,094</a:t>
                      </a:r>
                    </a:p>
                  </a:txBody>
                  <a:tcPr>
                    <a:solidFill>
                      <a:srgbClr val="EFEFEF"/>
                    </a:solidFill>
                  </a:tcPr>
                </a:tc>
                <a:tc>
                  <a:txBody>
                    <a:bodyPr/>
                    <a:lstStyle/>
                    <a:p>
                      <a:pPr algn="ctr">
                        <a:defRPr sz="1000">
                          <a:latin typeface="Montserrat"/>
                        </a:defRPr>
                      </a:pPr>
                      <a:r>
                        <a:t>1,437</a:t>
                      </a:r>
                    </a:p>
                  </a:txBody>
                  <a:tcPr>
                    <a:solidFill>
                      <a:srgbClr val="EFEFEF"/>
                    </a:solidFill>
                  </a:tcPr>
                </a:tc>
                <a:tc>
                  <a:txBody>
                    <a:bodyPr/>
                    <a:lstStyle/>
                    <a:p>
                      <a:pPr algn="ctr">
                        <a:defRPr sz="1000">
                          <a:latin typeface="Montserrat"/>
                        </a:defRPr>
                      </a:pPr>
                      <a:r>
                        <a:t>10,200</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34.9%</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4"/>
                  </a:ext>
                </a:extLst>
              </a:tr>
              <a:tr h="209884">
                <a:tc>
                  <a:txBody>
                    <a:bodyPr/>
                    <a:lstStyle/>
                    <a:p>
                      <a:pPr algn="l">
                        <a:defRPr sz="1000">
                          <a:latin typeface="Montserrat"/>
                        </a:defRPr>
                      </a:pPr>
                      <a:r>
                        <a:t>HGZ 24 Poza Rica</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67,972</a:t>
                      </a:r>
                    </a:p>
                  </a:txBody>
                  <a:tcPr>
                    <a:solidFill>
                      <a:srgbClr val="FFFFFF"/>
                    </a:solidFill>
                  </a:tcPr>
                </a:tc>
                <a:tc>
                  <a:txBody>
                    <a:bodyPr/>
                    <a:lstStyle/>
                    <a:p>
                      <a:pPr algn="ctr">
                        <a:defRPr sz="1000">
                          <a:latin typeface="Montserrat"/>
                        </a:defRPr>
                      </a:pPr>
                      <a:r>
                        <a:t>12,606</a:t>
                      </a:r>
                    </a:p>
                  </a:txBody>
                  <a:tcPr>
                    <a:solidFill>
                      <a:srgbClr val="FFFFFF"/>
                    </a:solidFill>
                  </a:tcPr>
                </a:tc>
                <a:tc>
                  <a:txBody>
                    <a:bodyPr/>
                    <a:lstStyle/>
                    <a:p>
                      <a:pPr algn="ctr">
                        <a:defRPr sz="1000">
                          <a:latin typeface="Montserrat"/>
                        </a:defRPr>
                      </a:pPr>
                      <a:r>
                        <a:t>33,420</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33.7%</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5"/>
                  </a:ext>
                </a:extLst>
              </a:tr>
              <a:tr h="209884">
                <a:tc>
                  <a:txBody>
                    <a:bodyPr/>
                    <a:lstStyle/>
                    <a:p>
                      <a:pPr algn="l">
                        <a:defRPr sz="1000">
                          <a:latin typeface="Montserrat"/>
                        </a:defRPr>
                      </a:pPr>
                      <a:r>
                        <a:t>UMAA 15 Tejería</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1000">
                          <a:latin typeface="Montserrat"/>
                        </a:defRPr>
                      </a:pPr>
                      <a:r>
                        <a:t>26,950</a:t>
                      </a:r>
                    </a:p>
                  </a:txBody>
                  <a:tcPr>
                    <a:solidFill>
                      <a:srgbClr val="EFEFEF"/>
                    </a:solidFill>
                  </a:tcPr>
                </a:tc>
                <a:tc>
                  <a:txBody>
                    <a:bodyPr/>
                    <a:lstStyle/>
                    <a:p>
                      <a:pPr algn="ctr">
                        <a:defRPr sz="1000">
                          <a:latin typeface="Montserrat"/>
                        </a:defRPr>
                      </a:pPr>
                      <a:r>
                        <a:t>8,088</a:t>
                      </a:r>
                    </a:p>
                  </a:txBody>
                  <a:tcPr>
                    <a:solidFill>
                      <a:srgbClr val="EFEFEF"/>
                    </a:solidFill>
                  </a:tcPr>
                </a:tc>
                <a:tc>
                  <a:txBody>
                    <a:bodyPr/>
                    <a:lstStyle/>
                    <a:p>
                      <a:pPr algn="ctr">
                        <a:defRPr sz="1000">
                          <a:latin typeface="Montserrat"/>
                        </a:defRPr>
                      </a:pPr>
                      <a:r>
                        <a:t>13,760</a:t>
                      </a:r>
                    </a:p>
                  </a:txBody>
                  <a:tcPr>
                    <a:solidFill>
                      <a:srgbClr val="ECD3D9"/>
                    </a:solidFill>
                  </a:tcPr>
                </a:tc>
                <a:tc>
                  <a:txBody>
                    <a:bodyPr/>
                    <a:lstStyle/>
                    <a:p>
                      <a:pPr algn="ctr">
                        <a:defRPr sz="1000">
                          <a:latin typeface="Montserrat"/>
                        </a:defRPr>
                      </a:pPr>
                      <a:r>
                        <a:t>40,880</a:t>
                      </a:r>
                    </a:p>
                  </a:txBody>
                  <a:tcPr>
                    <a:solidFill>
                      <a:srgbClr val="ECD3D9"/>
                    </a:solidFill>
                  </a:tcPr>
                </a:tc>
                <a:tc>
                  <a:txBody>
                    <a:bodyPr/>
                    <a:lstStyle/>
                    <a:p>
                      <a:pPr algn="ctr">
                        <a:defRPr sz="1000">
                          <a:latin typeface="Montserrat"/>
                        </a:defRPr>
                      </a:pPr>
                      <a:r>
                        <a:t>33.7%</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6"/>
                  </a:ext>
                </a:extLst>
              </a:tr>
              <a:tr h="209884">
                <a:tc>
                  <a:txBody>
                    <a:bodyPr/>
                    <a:lstStyle/>
                    <a:p>
                      <a:pPr algn="l">
                        <a:defRPr sz="1000">
                          <a:latin typeface="Montserrat"/>
                        </a:defRPr>
                      </a:pPr>
                      <a:r>
                        <a:rPr dirty="0"/>
                        <a:t>HGSMF 16 </a:t>
                      </a:r>
                      <a:r>
                        <a:rPr dirty="0" err="1"/>
                        <a:t>Omealca</a:t>
                      </a:r>
                      <a:endParaRPr dirty="0"/>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rPr dirty="0"/>
                        <a:t>2,807</a:t>
                      </a:r>
                    </a:p>
                  </a:txBody>
                  <a:tcPr>
                    <a:solidFill>
                      <a:srgbClr val="FFFFFF"/>
                    </a:solidFill>
                  </a:tcPr>
                </a:tc>
                <a:tc>
                  <a:txBody>
                    <a:bodyPr/>
                    <a:lstStyle/>
                    <a:p>
                      <a:pPr algn="ctr">
                        <a:defRPr sz="1000">
                          <a:latin typeface="Montserrat"/>
                        </a:defRPr>
                      </a:pPr>
                      <a:r>
                        <a:rPr dirty="0"/>
                        <a:t>1,733</a:t>
                      </a:r>
                    </a:p>
                  </a:txBody>
                  <a:tcPr>
                    <a:solidFill>
                      <a:srgbClr val="FFFFFF"/>
                    </a:solidFill>
                  </a:tcPr>
                </a:tc>
                <a:tc>
                  <a:txBody>
                    <a:bodyPr/>
                    <a:lstStyle/>
                    <a:p>
                      <a:pPr algn="ctr">
                        <a:defRPr sz="1000">
                          <a:latin typeface="Montserrat"/>
                        </a:defRPr>
                      </a:pPr>
                      <a:r>
                        <a:rPr dirty="0"/>
                        <a:t>1,867</a:t>
                      </a:r>
                    </a:p>
                  </a:txBody>
                  <a:tcPr>
                    <a:solidFill>
                      <a:srgbClr val="ECD3D9"/>
                    </a:solidFill>
                  </a:tcPr>
                </a:tc>
                <a:tc>
                  <a:txBody>
                    <a:bodyPr/>
                    <a:lstStyle/>
                    <a:p>
                      <a:pPr algn="ctr">
                        <a:defRPr sz="1000">
                          <a:latin typeface="Montserrat"/>
                        </a:defRPr>
                      </a:pPr>
                      <a:r>
                        <a:rPr dirty="0"/>
                        <a:t>5,840</a:t>
                      </a:r>
                    </a:p>
                  </a:txBody>
                  <a:tcPr>
                    <a:solidFill>
                      <a:srgbClr val="ECD3D9"/>
                    </a:solidFill>
                  </a:tcPr>
                </a:tc>
                <a:tc>
                  <a:txBody>
                    <a:bodyPr/>
                    <a:lstStyle/>
                    <a:p>
                      <a:pPr algn="ctr">
                        <a:defRPr sz="1000">
                          <a:latin typeface="Montserrat"/>
                        </a:defRPr>
                      </a:pPr>
                      <a:r>
                        <a:rPr dirty="0"/>
                        <a:t>32.0%</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17"/>
                  </a:ext>
                </a:extLst>
              </a:tr>
              <a:tr h="249179">
                <a:tc>
                  <a:txBody>
                    <a:bodyPr/>
                    <a:lstStyle/>
                    <a:p>
                      <a:pPr algn="l">
                        <a:defRPr sz="1000">
                          <a:latin typeface="Montserrat"/>
                        </a:defRPr>
                      </a:pPr>
                      <a:r>
                        <a:rPr dirty="0"/>
                        <a:t>HGZMF 28 Martínez de la Torre</a:t>
                      </a:r>
                    </a:p>
                  </a:txBody>
                  <a:tcPr>
                    <a:lnL w="12700" cap="flat" cmpd="sng" algn="ctr">
                      <a:solidFill>
                        <a:schemeClr val="bg1">
                          <a:lumMod val="85000"/>
                        </a:schemeClr>
                      </a:solidFill>
                      <a:prstDash val="solid"/>
                      <a:round/>
                      <a:headEnd type="none" w="med" len="med"/>
                      <a:tailEnd type="none" w="med" len="med"/>
                    </a:lnL>
                    <a:solidFill>
                      <a:schemeClr val="bg1">
                        <a:lumMod val="95000"/>
                      </a:schemeClr>
                    </a:solidFill>
                  </a:tcPr>
                </a:tc>
                <a:tc>
                  <a:txBody>
                    <a:bodyPr/>
                    <a:lstStyle/>
                    <a:p>
                      <a:pPr algn="ctr">
                        <a:defRPr sz="1000">
                          <a:latin typeface="Montserrat"/>
                        </a:defRPr>
                      </a:pPr>
                      <a:r>
                        <a:rPr dirty="0"/>
                        <a:t>21,471</a:t>
                      </a:r>
                    </a:p>
                  </a:txBody>
                  <a:tcPr>
                    <a:solidFill>
                      <a:schemeClr val="bg1">
                        <a:lumMod val="95000"/>
                      </a:schemeClr>
                    </a:solidFill>
                  </a:tcPr>
                </a:tc>
                <a:tc>
                  <a:txBody>
                    <a:bodyPr/>
                    <a:lstStyle/>
                    <a:p>
                      <a:pPr algn="ctr">
                        <a:defRPr sz="1000">
                          <a:latin typeface="Montserrat"/>
                        </a:defRPr>
                      </a:pPr>
                      <a:r>
                        <a:rPr dirty="0"/>
                        <a:t>3,034</a:t>
                      </a:r>
                    </a:p>
                  </a:txBody>
                  <a:tcPr>
                    <a:solidFill>
                      <a:schemeClr val="bg1">
                        <a:lumMod val="95000"/>
                      </a:schemeClr>
                    </a:solidFill>
                  </a:tcPr>
                </a:tc>
                <a:tc>
                  <a:txBody>
                    <a:bodyPr/>
                    <a:lstStyle/>
                    <a:p>
                      <a:pPr algn="ctr">
                        <a:defRPr sz="1000">
                          <a:latin typeface="Montserrat"/>
                        </a:defRPr>
                      </a:pPr>
                      <a:r>
                        <a:t>10,310</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27.7%</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3729821577"/>
                  </a:ext>
                </a:extLst>
              </a:tr>
              <a:tr h="209884">
                <a:tc>
                  <a:txBody>
                    <a:bodyPr/>
                    <a:lstStyle/>
                    <a:p>
                      <a:pPr algn="l">
                        <a:defRPr sz="1000" b="1">
                          <a:solidFill>
                            <a:srgbClr val="006556"/>
                          </a:solidFill>
                          <a:latin typeface="Montserrat"/>
                        </a:defRPr>
                      </a:pPr>
                      <a:r>
                        <a:rPr dirty="0"/>
                        <a:t>Subtotal</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dirty="0"/>
                        <a:t>1,240,359</a:t>
                      </a:r>
                    </a:p>
                  </a:txBody>
                  <a:tcPr>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dirty="0"/>
                        <a:t>390,670</a:t>
                      </a:r>
                    </a:p>
                  </a:txBody>
                  <a:tcPr>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FFFFFF"/>
                          </a:solidFill>
                          <a:latin typeface="Montserrat"/>
                        </a:defRPr>
                      </a:pPr>
                      <a:r>
                        <a:rPr dirty="0"/>
                        <a:t>583,928</a:t>
                      </a:r>
                    </a:p>
                  </a:txBody>
                  <a:tcPr>
                    <a:lnB w="12700" cap="flat" cmpd="sng" algn="ctr">
                      <a:solidFill>
                        <a:schemeClr val="bg1">
                          <a:lumMod val="85000"/>
                        </a:schemeClr>
                      </a:solidFill>
                      <a:prstDash val="solid"/>
                      <a:round/>
                      <a:headEnd type="none" w="med" len="med"/>
                      <a:tailEnd type="none" w="med" len="med"/>
                    </a:lnB>
                    <a:solidFill>
                      <a:srgbClr val="980000"/>
                    </a:solidFill>
                  </a:tcPr>
                </a:tc>
                <a:tc>
                  <a:txBody>
                    <a:bodyPr/>
                    <a:lstStyle/>
                    <a:p>
                      <a:pPr algn="ctr">
                        <a:defRPr sz="1000" b="1">
                          <a:solidFill>
                            <a:srgbClr val="FFFFFF"/>
                          </a:solidFill>
                          <a:latin typeface="Montserrat"/>
                        </a:defRPr>
                      </a:pPr>
                      <a:r>
                        <a:rPr dirty="0"/>
                        <a:t>1,368,750</a:t>
                      </a:r>
                    </a:p>
                  </a:txBody>
                  <a:tcPr>
                    <a:lnB w="12700" cap="flat" cmpd="sng" algn="ctr">
                      <a:solidFill>
                        <a:schemeClr val="bg1">
                          <a:lumMod val="85000"/>
                        </a:schemeClr>
                      </a:solidFill>
                      <a:prstDash val="solid"/>
                      <a:round/>
                      <a:headEnd type="none" w="med" len="med"/>
                      <a:tailEnd type="none" w="med" len="med"/>
                    </a:lnB>
                    <a:solidFill>
                      <a:srgbClr val="980000"/>
                    </a:solidFill>
                  </a:tcPr>
                </a:tc>
                <a:tc>
                  <a:txBody>
                    <a:bodyPr/>
                    <a:lstStyle/>
                    <a:p>
                      <a:pPr algn="ctr">
                        <a:defRPr sz="1000" b="1">
                          <a:solidFill>
                            <a:srgbClr val="FFFFFF"/>
                          </a:solidFill>
                          <a:latin typeface="Montserrat"/>
                        </a:defRPr>
                      </a:pPr>
                      <a:r>
                        <a:rPr dirty="0"/>
                        <a:t>42.7%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980000"/>
                    </a:solidFill>
                  </a:tcPr>
                </a:tc>
                <a:extLst>
                  <a:ext uri="{0D108BD9-81ED-4DB2-BD59-A6C34878D82A}">
                    <a16:rowId xmlns:a16="http://schemas.microsoft.com/office/drawing/2014/main" val="2106253098"/>
                  </a:ext>
                </a:extLst>
              </a:tr>
            </a:tbl>
          </a:graphicData>
        </a:graphic>
      </p:graphicFrame>
      <p:graphicFrame>
        <p:nvGraphicFramePr>
          <p:cNvPr id="2" name="Table 6">
            <a:extLst>
              <a:ext uri="{FF2B5EF4-FFF2-40B4-BE49-F238E27FC236}">
                <a16:creationId xmlns:a16="http://schemas.microsoft.com/office/drawing/2014/main" id="{F01340E1-F550-9800-0411-D1EB929A1BBC}"/>
              </a:ext>
            </a:extLst>
          </p:cNvPr>
          <p:cNvGraphicFramePr>
            <a:graphicFrameLocks noGrp="1"/>
          </p:cNvGraphicFramePr>
          <p:nvPr>
            <p:extLst>
              <p:ext uri="{D42A27DB-BD31-4B8C-83A1-F6EECF244321}">
                <p14:modId xmlns:p14="http://schemas.microsoft.com/office/powerpoint/2010/main" val="1821310505"/>
              </p:ext>
            </p:extLst>
          </p:nvPr>
        </p:nvGraphicFramePr>
        <p:xfrm>
          <a:off x="143502" y="6384685"/>
          <a:ext cx="7340399" cy="1097280"/>
        </p:xfrm>
        <a:graphic>
          <a:graphicData uri="http://schemas.openxmlformats.org/drawingml/2006/table">
            <a:tbl>
              <a:tblPr firstRow="1" bandRow="1">
                <a:tableStyleId>{5C22544A-7EE6-4342-B048-85BDC9FD1C3A}</a:tableStyleId>
              </a:tblPr>
              <a:tblGrid>
                <a:gridCol w="2171073">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1123950">
                  <a:extLst>
                    <a:ext uri="{9D8B030D-6E8A-4147-A177-3AD203B41FA5}">
                      <a16:colId xmlns:a16="http://schemas.microsoft.com/office/drawing/2014/main" val="20002"/>
                    </a:ext>
                  </a:extLst>
                </a:gridCol>
                <a:gridCol w="984701">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72072">
                <a:tc>
                  <a:txBody>
                    <a:bodyPr/>
                    <a:lstStyle/>
                    <a:p>
                      <a:pPr algn="ctr">
                        <a:defRPr sz="900" b="1">
                          <a:solidFill>
                            <a:srgbClr val="FFFFFF"/>
                          </a:solidFill>
                          <a:latin typeface="Montserrat"/>
                        </a:defRPr>
                      </a:pPr>
                      <a:r>
                        <a:rPr dirty="0"/>
                        <a:t>Unidad</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rPr dirty="0"/>
                        <a:t>2025</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rPr dirty="0" err="1"/>
                        <a:t>Incremento</a:t>
                      </a:r>
                      <a:r>
                        <a:rPr dirty="0"/>
                        <a:t> 2025 vs 2024</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Avance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900" b="1">
                          <a:solidFill>
                            <a:srgbClr val="FFFFFF"/>
                          </a:solidFill>
                          <a:latin typeface="Montserrat"/>
                        </a:defRPr>
                      </a:pPr>
                      <a:r>
                        <a:t>Meta 2026</a:t>
                      </a:r>
                    </a:p>
                  </a:txBody>
                  <a:tcPr anchor="ctr">
                    <a:lnT w="12700" cap="flat" cmpd="sng" algn="ctr">
                      <a:solidFill>
                        <a:schemeClr val="bg1">
                          <a:lumMod val="85000"/>
                        </a:schemeClr>
                      </a:solidFill>
                      <a:prstDash val="solid"/>
                      <a:round/>
                      <a:headEnd type="none" w="med" len="med"/>
                      <a:tailEnd type="none" w="med" len="med"/>
                    </a:lnT>
                    <a:solidFill>
                      <a:srgbClr val="980000"/>
                    </a:solidFill>
                  </a:tcPr>
                </a:tc>
                <a:tc>
                  <a:txBody>
                    <a:bodyPr/>
                    <a:lstStyle/>
                    <a:p>
                      <a:pPr algn="ctr">
                        <a:defRPr sz="900" b="1">
                          <a:solidFill>
                            <a:srgbClr val="FFFFFF"/>
                          </a:solidFill>
                          <a:latin typeface="Montserrat"/>
                        </a:defRPr>
                      </a:pPr>
                      <a:r>
                        <a:t>% Cumplimiento de la meta</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80000"/>
                    </a:solidFill>
                  </a:tcPr>
                </a:tc>
                <a:extLst>
                  <a:ext uri="{0D108BD9-81ED-4DB2-BD59-A6C34878D82A}">
                    <a16:rowId xmlns:a16="http://schemas.microsoft.com/office/drawing/2014/main" val="10000"/>
                  </a:ext>
                </a:extLst>
              </a:tr>
              <a:tr h="181381">
                <a:tc>
                  <a:txBody>
                    <a:bodyPr/>
                    <a:lstStyle/>
                    <a:p>
                      <a:pPr algn="l">
                        <a:defRPr sz="1000">
                          <a:latin typeface="Montserrat"/>
                        </a:defRPr>
                      </a:pPr>
                      <a:r>
                        <a:rPr dirty="0"/>
                        <a:t>HES 14 Veracruz</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1000">
                          <a:latin typeface="Montserrat"/>
                        </a:defRPr>
                      </a:pPr>
                      <a:r>
                        <a:t>228,395</a:t>
                      </a:r>
                    </a:p>
                  </a:txBody>
                  <a:tcPr>
                    <a:solidFill>
                      <a:srgbClr val="FFFFFF"/>
                    </a:solidFill>
                  </a:tcPr>
                </a:tc>
                <a:tc>
                  <a:txBody>
                    <a:bodyPr/>
                    <a:lstStyle/>
                    <a:p>
                      <a:pPr algn="ctr">
                        <a:defRPr sz="1000">
                          <a:latin typeface="Montserrat"/>
                        </a:defRPr>
                      </a:pPr>
                      <a:r>
                        <a:t>63,347</a:t>
                      </a:r>
                    </a:p>
                  </a:txBody>
                  <a:tcPr>
                    <a:solidFill>
                      <a:srgbClr val="FFFFFF"/>
                    </a:solidFill>
                  </a:tcPr>
                </a:tc>
                <a:tc>
                  <a:txBody>
                    <a:bodyPr/>
                    <a:lstStyle/>
                    <a:p>
                      <a:pPr algn="ctr">
                        <a:defRPr sz="1000">
                          <a:latin typeface="Montserrat"/>
                        </a:defRPr>
                      </a:pPr>
                      <a:r>
                        <a:rPr dirty="0"/>
                        <a:t>111,409</a:t>
                      </a:r>
                    </a:p>
                  </a:txBody>
                  <a:tcPr>
                    <a:solidFill>
                      <a:srgbClr val="ECD3D9"/>
                    </a:solidFill>
                  </a:tcPr>
                </a:tc>
                <a:tc>
                  <a:txBody>
                    <a:bodyPr/>
                    <a:lstStyle/>
                    <a:p>
                      <a:pPr algn="ctr">
                        <a:defRPr sz="1000">
                          <a:latin typeface="Montserrat"/>
                        </a:defRPr>
                      </a:pPr>
                      <a:r>
                        <a:t>282,510</a:t>
                      </a:r>
                    </a:p>
                  </a:txBody>
                  <a:tcPr>
                    <a:solidFill>
                      <a:srgbClr val="ECD3D9"/>
                    </a:solidFill>
                  </a:tcPr>
                </a:tc>
                <a:tc>
                  <a:txBody>
                    <a:bodyPr/>
                    <a:lstStyle/>
                    <a:p>
                      <a:pPr algn="ctr">
                        <a:defRPr sz="1000">
                          <a:latin typeface="Montserrat"/>
                        </a:defRPr>
                      </a:pPr>
                      <a:r>
                        <a:t>39.4%</a:t>
                      </a:r>
                    </a:p>
                  </a:txBody>
                  <a:tcPr>
                    <a:lnR w="12700" cap="flat" cmpd="sng" algn="ctr">
                      <a:solidFill>
                        <a:schemeClr val="bg1">
                          <a:lumMod val="85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1"/>
                  </a:ext>
                </a:extLst>
              </a:tr>
              <a:tr h="181381">
                <a:tc>
                  <a:txBody>
                    <a:bodyPr/>
                    <a:lstStyle/>
                    <a:p>
                      <a:pPr algn="l">
                        <a:defRPr sz="1000" b="1">
                          <a:solidFill>
                            <a:srgbClr val="006556"/>
                          </a:solidFill>
                          <a:latin typeface="Montserrat"/>
                        </a:defRPr>
                      </a:pPr>
                      <a:r>
                        <a:t>Subtotal</a:t>
                      </a:r>
                    </a:p>
                  </a:txBody>
                  <a:tcPr>
                    <a:lnL w="12700" cap="flat" cmpd="sng" algn="ctr">
                      <a:solidFill>
                        <a:schemeClr val="bg1">
                          <a:lumMod val="85000"/>
                        </a:schemeClr>
                      </a:solidFill>
                      <a:prstDash val="solid"/>
                      <a:round/>
                      <a:headEnd type="none" w="med" len="med"/>
                      <a:tailEnd type="none" w="med" len="med"/>
                    </a:lnL>
                    <a:solidFill>
                      <a:srgbClr val="D3E9E7"/>
                    </a:solidFill>
                  </a:tcPr>
                </a:tc>
                <a:tc>
                  <a:txBody>
                    <a:bodyPr/>
                    <a:lstStyle/>
                    <a:p>
                      <a:pPr algn="ctr">
                        <a:defRPr sz="1000" b="1">
                          <a:solidFill>
                            <a:srgbClr val="006556"/>
                          </a:solidFill>
                          <a:latin typeface="Montserrat"/>
                        </a:defRPr>
                      </a:pPr>
                      <a:r>
                        <a:t>228,395</a:t>
                      </a:r>
                    </a:p>
                  </a:txBody>
                  <a:tcPr>
                    <a:solidFill>
                      <a:srgbClr val="D3E9E7"/>
                    </a:solidFill>
                  </a:tcPr>
                </a:tc>
                <a:tc>
                  <a:txBody>
                    <a:bodyPr/>
                    <a:lstStyle/>
                    <a:p>
                      <a:pPr algn="ctr">
                        <a:defRPr sz="1000" b="1">
                          <a:solidFill>
                            <a:srgbClr val="006556"/>
                          </a:solidFill>
                          <a:latin typeface="Montserrat"/>
                        </a:defRPr>
                      </a:pPr>
                      <a:r>
                        <a:t>63,347</a:t>
                      </a:r>
                    </a:p>
                  </a:txBody>
                  <a:tcPr>
                    <a:solidFill>
                      <a:srgbClr val="D3E9E7"/>
                    </a:solidFill>
                  </a:tcPr>
                </a:tc>
                <a:tc>
                  <a:txBody>
                    <a:bodyPr/>
                    <a:lstStyle/>
                    <a:p>
                      <a:pPr algn="ctr">
                        <a:defRPr sz="1000" b="1">
                          <a:solidFill>
                            <a:srgbClr val="FFFFFF"/>
                          </a:solidFill>
                          <a:latin typeface="Montserrat"/>
                        </a:defRPr>
                      </a:pPr>
                      <a:r>
                        <a:t>111,409</a:t>
                      </a:r>
                    </a:p>
                  </a:txBody>
                  <a:tcPr>
                    <a:solidFill>
                      <a:srgbClr val="9F2241"/>
                    </a:solidFill>
                  </a:tcPr>
                </a:tc>
                <a:tc>
                  <a:txBody>
                    <a:bodyPr/>
                    <a:lstStyle/>
                    <a:p>
                      <a:pPr algn="ctr">
                        <a:defRPr sz="1000" b="1">
                          <a:solidFill>
                            <a:srgbClr val="FFFFFF"/>
                          </a:solidFill>
                          <a:latin typeface="Montserrat"/>
                        </a:defRPr>
                      </a:pPr>
                      <a:r>
                        <a:rPr dirty="0"/>
                        <a:t>282,510</a:t>
                      </a:r>
                    </a:p>
                  </a:txBody>
                  <a:tcPr>
                    <a:solidFill>
                      <a:srgbClr val="9F2241"/>
                    </a:solidFill>
                  </a:tcPr>
                </a:tc>
                <a:tc>
                  <a:txBody>
                    <a:bodyPr/>
                    <a:lstStyle/>
                    <a:p>
                      <a:pPr algn="ctr">
                        <a:defRPr sz="1000" b="1">
                          <a:solidFill>
                            <a:srgbClr val="FFFFFF"/>
                          </a:solidFill>
                          <a:latin typeface="Montserrat"/>
                        </a:defRPr>
                      </a:pPr>
                      <a:r>
                        <a:t>39.4%</a:t>
                      </a:r>
                    </a:p>
                  </a:txBody>
                  <a:tcPr>
                    <a:lnR w="12700" cap="flat" cmpd="sng" algn="ctr">
                      <a:solidFill>
                        <a:schemeClr val="bg1">
                          <a:lumMod val="85000"/>
                        </a:schemeClr>
                      </a:solidFill>
                      <a:prstDash val="solid"/>
                      <a:round/>
                      <a:headEnd type="none" w="med" len="med"/>
                      <a:tailEnd type="none" w="med" len="med"/>
                    </a:lnR>
                    <a:solidFill>
                      <a:srgbClr val="9F2241"/>
                    </a:solidFill>
                  </a:tcPr>
                </a:tc>
                <a:extLst>
                  <a:ext uri="{0D108BD9-81ED-4DB2-BD59-A6C34878D82A}">
                    <a16:rowId xmlns:a16="http://schemas.microsoft.com/office/drawing/2014/main" val="10002"/>
                  </a:ext>
                </a:extLst>
              </a:tr>
              <a:tr h="181381">
                <a:tc>
                  <a:txBody>
                    <a:bodyPr/>
                    <a:lstStyle/>
                    <a:p>
                      <a:pPr algn="l">
                        <a:defRPr sz="1000" b="1">
                          <a:solidFill>
                            <a:srgbClr val="006556"/>
                          </a:solidFill>
                          <a:latin typeface="Montserrat"/>
                        </a:defRPr>
                      </a:pPr>
                      <a:r>
                        <a:t>Total</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t>1,468,754</a:t>
                      </a:r>
                    </a:p>
                  </a:txBody>
                  <a:tcPr>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dirty="0"/>
                        <a:t>454,017</a:t>
                      </a:r>
                    </a:p>
                  </a:txBody>
                  <a:tcPr>
                    <a:lnB w="12700" cap="flat" cmpd="sng" algn="ctr">
                      <a:solidFill>
                        <a:schemeClr val="bg1">
                          <a:lumMod val="85000"/>
                        </a:schemeClr>
                      </a:solidFill>
                      <a:prstDash val="solid"/>
                      <a:round/>
                      <a:headEnd type="none" w="med" len="med"/>
                      <a:tailEnd type="none" w="med" len="med"/>
                    </a:lnB>
                    <a:solidFill>
                      <a:srgbClr val="D3E9E7"/>
                    </a:solidFill>
                  </a:tcPr>
                </a:tc>
                <a:tc>
                  <a:txBody>
                    <a:bodyPr/>
                    <a:lstStyle/>
                    <a:p>
                      <a:pPr algn="ctr">
                        <a:defRPr sz="1000" b="1">
                          <a:solidFill>
                            <a:srgbClr val="FFFFFF"/>
                          </a:solidFill>
                          <a:latin typeface="Montserrat"/>
                        </a:defRPr>
                      </a:pPr>
                      <a:r>
                        <a:t>695,337</a:t>
                      </a:r>
                    </a:p>
                  </a:txBody>
                  <a:tcPr>
                    <a:lnB w="12700" cap="flat" cmpd="sng" algn="ctr">
                      <a:solidFill>
                        <a:schemeClr val="bg1">
                          <a:lumMod val="85000"/>
                        </a:schemeClr>
                      </a:solid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rPr dirty="0"/>
                        <a:t>1,651,260</a:t>
                      </a:r>
                    </a:p>
                  </a:txBody>
                  <a:tcPr>
                    <a:lnB w="12700" cap="flat" cmpd="sng" algn="ctr">
                      <a:solidFill>
                        <a:schemeClr val="bg1">
                          <a:lumMod val="85000"/>
                        </a:schemeClr>
                      </a:solid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rPr dirty="0"/>
                        <a:t>42.1%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9F2241"/>
                    </a:solidFill>
                  </a:tcPr>
                </a:tc>
                <a:extLst>
                  <a:ext uri="{0D108BD9-81ED-4DB2-BD59-A6C34878D82A}">
                    <a16:rowId xmlns:a16="http://schemas.microsoft.com/office/drawing/2014/main" val="10003"/>
                  </a:ext>
                </a:extLst>
              </a:tr>
            </a:tbl>
          </a:graphicData>
        </a:graphic>
      </p:graphicFrame>
      <p:sp>
        <p:nvSpPr>
          <p:cNvPr id="3" name="TextBox 10">
            <a:extLst>
              <a:ext uri="{FF2B5EF4-FFF2-40B4-BE49-F238E27FC236}">
                <a16:creationId xmlns:a16="http://schemas.microsoft.com/office/drawing/2014/main" id="{A9C02B77-938F-DE61-FD13-8C761F065302}"/>
              </a:ext>
            </a:extLst>
          </p:cNvPr>
          <p:cNvSpPr txBox="1"/>
          <p:nvPr/>
        </p:nvSpPr>
        <p:spPr>
          <a:xfrm>
            <a:off x="273599" y="7617000"/>
            <a:ext cx="2854800" cy="1198800"/>
          </a:xfrm>
          <a:prstGeom prst="rect">
            <a:avLst/>
          </a:prstGeom>
          <a:noFill/>
        </p:spPr>
        <p:txBody>
          <a:bodyPr wrap="square">
            <a:spAutoFit/>
          </a:bodyPr>
          <a:lstStyle/>
          <a:p>
            <a:pPr algn="ctr">
              <a:defRPr sz="3600" b="1">
                <a:solidFill>
                  <a:srgbClr val="9F2241"/>
                </a:solidFill>
                <a:latin typeface="Montserrat"/>
              </a:defRPr>
            </a:pPr>
            <a:r>
              <a:rPr dirty="0"/>
              <a:t>1,651,260 </a:t>
            </a:r>
            <a:br>
              <a:rPr dirty="0"/>
            </a:br>
            <a:r>
              <a:rPr dirty="0"/>
              <a:t>Meta 2026</a:t>
            </a:r>
          </a:p>
        </p:txBody>
      </p:sp>
      <p:graphicFrame>
        <p:nvGraphicFramePr>
          <p:cNvPr id="4" name="Chart 7">
            <a:extLst>
              <a:ext uri="{FF2B5EF4-FFF2-40B4-BE49-F238E27FC236}">
                <a16:creationId xmlns:a16="http://schemas.microsoft.com/office/drawing/2014/main" id="{18965942-5F4D-A489-3FF2-22EAD4563435}"/>
              </a:ext>
            </a:extLst>
          </p:cNvPr>
          <p:cNvGraphicFramePr>
            <a:graphicFrameLocks noGrp="1"/>
          </p:cNvGraphicFramePr>
          <p:nvPr>
            <p:extLst>
              <p:ext uri="{D42A27DB-BD31-4B8C-83A1-F6EECF244321}">
                <p14:modId xmlns:p14="http://schemas.microsoft.com/office/powerpoint/2010/main" val="2334844612"/>
              </p:ext>
            </p:extLst>
          </p:nvPr>
        </p:nvGraphicFramePr>
        <p:xfrm>
          <a:off x="4942725" y="74226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9">
            <a:extLst>
              <a:ext uri="{FF2B5EF4-FFF2-40B4-BE49-F238E27FC236}">
                <a16:creationId xmlns:a16="http://schemas.microsoft.com/office/drawing/2014/main" id="{5EBAE446-8C0F-A68E-5A02-4A65270B73D5}"/>
              </a:ext>
            </a:extLst>
          </p:cNvPr>
          <p:cNvSpPr txBox="1"/>
          <p:nvPr/>
        </p:nvSpPr>
        <p:spPr>
          <a:xfrm>
            <a:off x="3301549" y="7651765"/>
            <a:ext cx="1800000" cy="360000"/>
          </a:xfrm>
          <a:prstGeom prst="rect">
            <a:avLst/>
          </a:prstGeom>
          <a:noFill/>
        </p:spPr>
        <p:txBody>
          <a:bodyPr wrap="none">
            <a:spAutoFit/>
          </a:bodyPr>
          <a:lstStyle/>
          <a:p>
            <a:pPr algn="ctr"/>
            <a:r>
              <a:rPr sz="1400" b="1" dirty="0">
                <a:solidFill>
                  <a:srgbClr val="9F2241"/>
                </a:solidFill>
                <a:latin typeface="Montserrat"/>
              </a:rPr>
              <a:t>Avance</a:t>
            </a:r>
          </a:p>
        </p:txBody>
      </p:sp>
    </p:spTree>
    <p:extLst>
      <p:ext uri="{BB962C8B-B14F-4D97-AF65-F5344CB8AC3E}">
        <p14:creationId xmlns:p14="http://schemas.microsoft.com/office/powerpoint/2010/main" val="540716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55897020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extLst>
              <p:ext uri="{D42A27DB-BD31-4B8C-83A1-F6EECF244321}">
                <p14:modId xmlns:p14="http://schemas.microsoft.com/office/powerpoint/2010/main" val="1528607259"/>
              </p:ext>
            </p:extLst>
          </p:nvPr>
        </p:nvGraphicFramePr>
        <p:xfrm>
          <a:off x="143502" y="1047578"/>
          <a:ext cx="7340399" cy="515112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23299">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15532">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1,894</a:t>
                      </a:r>
                    </a:p>
                  </a:txBody>
                  <a:tcPr>
                    <a:solidFill>
                      <a:srgbClr val="FFFFFF"/>
                    </a:solidFill>
                  </a:tcPr>
                </a:tc>
                <a:tc>
                  <a:txBody>
                    <a:bodyPr/>
                    <a:lstStyle/>
                    <a:p>
                      <a:pPr algn="ctr">
                        <a:defRPr sz="1000">
                          <a:latin typeface="Montserrat"/>
                        </a:defRPr>
                      </a:pPr>
                      <a:r>
                        <a:t>290</a:t>
                      </a:r>
                    </a:p>
                  </a:txBody>
                  <a:tcPr>
                    <a:solidFill>
                      <a:srgbClr val="FFFFFF"/>
                    </a:solidFill>
                  </a:tcPr>
                </a:tc>
                <a:tc>
                  <a:txBody>
                    <a:bodyPr/>
                    <a:lstStyle/>
                    <a:p>
                      <a:pPr algn="ctr">
                        <a:defRPr sz="1000">
                          <a:latin typeface="Montserrat"/>
                        </a:defRPr>
                      </a:pPr>
                      <a:r>
                        <a:t>878</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48.0%</a:t>
                      </a:r>
                    </a:p>
                  </a:txBody>
                  <a:tcPr>
                    <a:solidFill>
                      <a:srgbClr val="ECD3D9"/>
                    </a:solidFill>
                  </a:tcPr>
                </a:tc>
                <a:extLst>
                  <a:ext uri="{0D108BD9-81ED-4DB2-BD59-A6C34878D82A}">
                    <a16:rowId xmlns:a16="http://schemas.microsoft.com/office/drawing/2014/main" val="10001"/>
                  </a:ext>
                </a:extLst>
              </a:tr>
              <a:tr h="350240">
                <a:tc>
                  <a:txBody>
                    <a:bodyPr/>
                    <a:lstStyle/>
                    <a:p>
                      <a:pPr algn="l">
                        <a:defRPr sz="1000">
                          <a:latin typeface="Montserrat"/>
                        </a:defRPr>
                      </a:pPr>
                      <a:r>
                        <a:t>HGZMF 28 Martínez de la Torre</a:t>
                      </a:r>
                    </a:p>
                  </a:txBody>
                  <a:tcPr>
                    <a:solidFill>
                      <a:srgbClr val="EFEFEF"/>
                    </a:solidFill>
                  </a:tcPr>
                </a:tc>
                <a:tc>
                  <a:txBody>
                    <a:bodyPr/>
                    <a:lstStyle/>
                    <a:p>
                      <a:pPr algn="ctr">
                        <a:defRPr sz="1000">
                          <a:latin typeface="Montserrat"/>
                        </a:defRPr>
                      </a:pPr>
                      <a:r>
                        <a:t>1,859</a:t>
                      </a:r>
                    </a:p>
                  </a:txBody>
                  <a:tcPr>
                    <a:solidFill>
                      <a:srgbClr val="EFEFEF"/>
                    </a:solidFill>
                  </a:tcPr>
                </a:tc>
                <a:tc>
                  <a:txBody>
                    <a:bodyPr/>
                    <a:lstStyle/>
                    <a:p>
                      <a:pPr algn="ctr">
                        <a:defRPr sz="1000">
                          <a:latin typeface="Montserrat"/>
                        </a:defRPr>
                      </a:pPr>
                      <a:r>
                        <a:t>221</a:t>
                      </a:r>
                    </a:p>
                  </a:txBody>
                  <a:tcPr>
                    <a:solidFill>
                      <a:srgbClr val="EFEFEF"/>
                    </a:solidFill>
                  </a:tcPr>
                </a:tc>
                <a:tc>
                  <a:txBody>
                    <a:bodyPr/>
                    <a:lstStyle/>
                    <a:p>
                      <a:pPr algn="ctr">
                        <a:defRPr sz="1000">
                          <a:latin typeface="Montserrat"/>
                        </a:defRPr>
                      </a:pPr>
                      <a:r>
                        <a:t>1,182</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43.5%</a:t>
                      </a:r>
                    </a:p>
                  </a:txBody>
                  <a:tcPr>
                    <a:solidFill>
                      <a:srgbClr val="ECD3D9"/>
                    </a:solidFill>
                  </a:tcPr>
                </a:tc>
                <a:extLst>
                  <a:ext uri="{0D108BD9-81ED-4DB2-BD59-A6C34878D82A}">
                    <a16:rowId xmlns:a16="http://schemas.microsoft.com/office/drawing/2014/main" val="10002"/>
                  </a:ext>
                </a:extLst>
              </a:tr>
              <a:tr h="215532">
                <a:tc>
                  <a:txBody>
                    <a:bodyPr/>
                    <a:lstStyle/>
                    <a:p>
                      <a:pPr algn="l">
                        <a:defRPr sz="1000">
                          <a:latin typeface="Montserrat"/>
                        </a:defRPr>
                      </a:pPr>
                      <a:r>
                        <a:t>HGZMF 36 José Cardel</a:t>
                      </a:r>
                    </a:p>
                  </a:txBody>
                  <a:tcPr>
                    <a:solidFill>
                      <a:srgbClr val="FFFFFF"/>
                    </a:solidFill>
                  </a:tcPr>
                </a:tc>
                <a:tc>
                  <a:txBody>
                    <a:bodyPr/>
                    <a:lstStyle/>
                    <a:p>
                      <a:pPr algn="ctr">
                        <a:defRPr sz="1000">
                          <a:latin typeface="Montserrat"/>
                        </a:defRPr>
                      </a:pPr>
                      <a:r>
                        <a:t>2,006</a:t>
                      </a:r>
                    </a:p>
                  </a:txBody>
                  <a:tcPr>
                    <a:solidFill>
                      <a:srgbClr val="FFFFFF"/>
                    </a:solidFill>
                  </a:tcPr>
                </a:tc>
                <a:tc>
                  <a:txBody>
                    <a:bodyPr/>
                    <a:lstStyle/>
                    <a:p>
                      <a:pPr algn="ctr">
                        <a:defRPr sz="1000">
                          <a:latin typeface="Montserrat"/>
                        </a:defRPr>
                      </a:pPr>
                      <a:r>
                        <a:t>-69</a:t>
                      </a:r>
                    </a:p>
                  </a:txBody>
                  <a:tcPr>
                    <a:solidFill>
                      <a:srgbClr val="FFFFFF"/>
                    </a:solidFill>
                  </a:tcPr>
                </a:tc>
                <a:tc>
                  <a:txBody>
                    <a:bodyPr/>
                    <a:lstStyle/>
                    <a:p>
                      <a:pPr algn="ctr">
                        <a:defRPr sz="1000">
                          <a:latin typeface="Montserrat"/>
                        </a:defRPr>
                      </a:pPr>
                      <a:r>
                        <a:t>1,180</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43.4%</a:t>
                      </a:r>
                    </a:p>
                  </a:txBody>
                  <a:tcPr>
                    <a:solidFill>
                      <a:srgbClr val="ECD3D9"/>
                    </a:solidFill>
                  </a:tcPr>
                </a:tc>
                <a:extLst>
                  <a:ext uri="{0D108BD9-81ED-4DB2-BD59-A6C34878D82A}">
                    <a16:rowId xmlns:a16="http://schemas.microsoft.com/office/drawing/2014/main" val="10003"/>
                  </a:ext>
                </a:extLst>
              </a:tr>
              <a:tr h="215532">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4,423</a:t>
                      </a:r>
                    </a:p>
                  </a:txBody>
                  <a:tcPr>
                    <a:solidFill>
                      <a:srgbClr val="EFEFEF"/>
                    </a:solidFill>
                  </a:tcPr>
                </a:tc>
                <a:tc>
                  <a:txBody>
                    <a:bodyPr/>
                    <a:lstStyle/>
                    <a:p>
                      <a:pPr algn="ctr">
                        <a:defRPr sz="1000">
                          <a:latin typeface="Montserrat"/>
                        </a:defRPr>
                      </a:pPr>
                      <a:r>
                        <a:t>2,040</a:t>
                      </a:r>
                    </a:p>
                  </a:txBody>
                  <a:tcPr>
                    <a:solidFill>
                      <a:srgbClr val="EFEFEF"/>
                    </a:solidFill>
                  </a:tcPr>
                </a:tc>
                <a:tc>
                  <a:txBody>
                    <a:bodyPr/>
                    <a:lstStyle/>
                    <a:p>
                      <a:pPr algn="ctr">
                        <a:defRPr sz="1000">
                          <a:latin typeface="Montserrat"/>
                        </a:defRPr>
                      </a:pPr>
                      <a:r>
                        <a:t>2,305</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42.4%</a:t>
                      </a:r>
                    </a:p>
                  </a:txBody>
                  <a:tcPr>
                    <a:solidFill>
                      <a:srgbClr val="ECD3D9"/>
                    </a:solidFill>
                  </a:tcPr>
                </a:tc>
                <a:extLst>
                  <a:ext uri="{0D108BD9-81ED-4DB2-BD59-A6C34878D82A}">
                    <a16:rowId xmlns:a16="http://schemas.microsoft.com/office/drawing/2014/main" val="10004"/>
                  </a:ext>
                </a:extLst>
              </a:tr>
              <a:tr h="215532">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1,176</a:t>
                      </a:r>
                    </a:p>
                  </a:txBody>
                  <a:tcPr>
                    <a:solidFill>
                      <a:srgbClr val="FFFFFF"/>
                    </a:solidFill>
                  </a:tcPr>
                </a:tc>
                <a:tc>
                  <a:txBody>
                    <a:bodyPr/>
                    <a:lstStyle/>
                    <a:p>
                      <a:pPr algn="ctr">
                        <a:defRPr sz="1000">
                          <a:latin typeface="Montserrat"/>
                        </a:defRPr>
                      </a:pPr>
                      <a:r>
                        <a:t>715</a:t>
                      </a:r>
                    </a:p>
                  </a:txBody>
                  <a:tcPr>
                    <a:solidFill>
                      <a:srgbClr val="FFFFFF"/>
                    </a:solidFill>
                  </a:tcPr>
                </a:tc>
                <a:tc>
                  <a:txBody>
                    <a:bodyPr/>
                    <a:lstStyle/>
                    <a:p>
                      <a:pPr algn="ctr">
                        <a:defRPr sz="1000">
                          <a:latin typeface="Montserrat"/>
                        </a:defRPr>
                      </a:pPr>
                      <a:r>
                        <a:t>656</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41.9%</a:t>
                      </a:r>
                    </a:p>
                  </a:txBody>
                  <a:tcPr>
                    <a:solidFill>
                      <a:srgbClr val="ECD3D9"/>
                    </a:solidFill>
                  </a:tcPr>
                </a:tc>
                <a:extLst>
                  <a:ext uri="{0D108BD9-81ED-4DB2-BD59-A6C34878D82A}">
                    <a16:rowId xmlns:a16="http://schemas.microsoft.com/office/drawing/2014/main" val="10005"/>
                  </a:ext>
                </a:extLst>
              </a:tr>
              <a:tr h="215532">
                <a:tc>
                  <a:txBody>
                    <a:bodyPr/>
                    <a:lstStyle/>
                    <a:p>
                      <a:pPr algn="l">
                        <a:defRPr sz="1000">
                          <a:latin typeface="Montserrat"/>
                        </a:defRPr>
                      </a:pPr>
                      <a:r>
                        <a:t>HGZ 71 Veracruz</a:t>
                      </a:r>
                    </a:p>
                  </a:txBody>
                  <a:tcPr>
                    <a:solidFill>
                      <a:srgbClr val="EFEFEF"/>
                    </a:solidFill>
                  </a:tcPr>
                </a:tc>
                <a:tc>
                  <a:txBody>
                    <a:bodyPr/>
                    <a:lstStyle/>
                    <a:p>
                      <a:pPr algn="ctr">
                        <a:defRPr sz="1000">
                          <a:latin typeface="Montserrat"/>
                        </a:defRPr>
                      </a:pPr>
                      <a:r>
                        <a:t>9,338</a:t>
                      </a:r>
                    </a:p>
                  </a:txBody>
                  <a:tcPr>
                    <a:solidFill>
                      <a:srgbClr val="EFEFEF"/>
                    </a:solidFill>
                  </a:tcPr>
                </a:tc>
                <a:tc>
                  <a:txBody>
                    <a:bodyPr/>
                    <a:lstStyle/>
                    <a:p>
                      <a:pPr algn="ctr">
                        <a:defRPr sz="1000">
                          <a:latin typeface="Montserrat"/>
                        </a:defRPr>
                      </a:pPr>
                      <a:r>
                        <a:t>552</a:t>
                      </a:r>
                    </a:p>
                  </a:txBody>
                  <a:tcPr>
                    <a:solidFill>
                      <a:srgbClr val="EFEFEF"/>
                    </a:solidFill>
                  </a:tcPr>
                </a:tc>
                <a:tc>
                  <a:txBody>
                    <a:bodyPr/>
                    <a:lstStyle/>
                    <a:p>
                      <a:pPr algn="ctr">
                        <a:defRPr sz="1000">
                          <a:latin typeface="Montserrat"/>
                        </a:defRPr>
                      </a:pPr>
                      <a:r>
                        <a:t>4,311</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41.6%</a:t>
                      </a:r>
                    </a:p>
                  </a:txBody>
                  <a:tcPr>
                    <a:solidFill>
                      <a:srgbClr val="ECD3D9"/>
                    </a:solidFill>
                  </a:tcPr>
                </a:tc>
                <a:extLst>
                  <a:ext uri="{0D108BD9-81ED-4DB2-BD59-A6C34878D82A}">
                    <a16:rowId xmlns:a16="http://schemas.microsoft.com/office/drawing/2014/main" val="10006"/>
                  </a:ext>
                </a:extLst>
              </a:tr>
              <a:tr h="215532">
                <a:tc>
                  <a:txBody>
                    <a:bodyPr/>
                    <a:lstStyle/>
                    <a:p>
                      <a:pPr algn="l">
                        <a:defRPr sz="1000">
                          <a:latin typeface="Montserrat"/>
                        </a:defRPr>
                      </a:pPr>
                      <a:r>
                        <a:t>HGZMF 32 Minatitlán</a:t>
                      </a:r>
                    </a:p>
                  </a:txBody>
                  <a:tcPr>
                    <a:solidFill>
                      <a:srgbClr val="FFFFFF"/>
                    </a:solidFill>
                  </a:tcPr>
                </a:tc>
                <a:tc>
                  <a:txBody>
                    <a:bodyPr/>
                    <a:lstStyle/>
                    <a:p>
                      <a:pPr algn="ctr">
                        <a:defRPr sz="1000">
                          <a:latin typeface="Montserrat"/>
                        </a:defRPr>
                      </a:pPr>
                      <a:r>
                        <a:t>4,550</a:t>
                      </a:r>
                    </a:p>
                  </a:txBody>
                  <a:tcPr>
                    <a:solidFill>
                      <a:srgbClr val="FFFFFF"/>
                    </a:solidFill>
                  </a:tcPr>
                </a:tc>
                <a:tc>
                  <a:txBody>
                    <a:bodyPr/>
                    <a:lstStyle/>
                    <a:p>
                      <a:pPr algn="ctr">
                        <a:defRPr sz="1000">
                          <a:latin typeface="Montserrat"/>
                        </a:defRPr>
                      </a:pPr>
                      <a:r>
                        <a:t>845</a:t>
                      </a:r>
                    </a:p>
                  </a:txBody>
                  <a:tcPr>
                    <a:solidFill>
                      <a:srgbClr val="FFFFFF"/>
                    </a:solidFill>
                  </a:tcPr>
                </a:tc>
                <a:tc>
                  <a:txBody>
                    <a:bodyPr/>
                    <a:lstStyle/>
                    <a:p>
                      <a:pPr algn="ctr">
                        <a:defRPr sz="1000">
                          <a:latin typeface="Montserrat"/>
                        </a:defRPr>
                      </a:pPr>
                      <a:r>
                        <a:t>2,106</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40.7%</a:t>
                      </a:r>
                    </a:p>
                  </a:txBody>
                  <a:tcPr>
                    <a:solidFill>
                      <a:srgbClr val="ECD3D9"/>
                    </a:solidFill>
                  </a:tcPr>
                </a:tc>
                <a:extLst>
                  <a:ext uri="{0D108BD9-81ED-4DB2-BD59-A6C34878D82A}">
                    <a16:rowId xmlns:a16="http://schemas.microsoft.com/office/drawing/2014/main" val="10007"/>
                  </a:ext>
                </a:extLst>
              </a:tr>
              <a:tr h="215532">
                <a:tc>
                  <a:txBody>
                    <a:bodyPr/>
                    <a:lstStyle/>
                    <a:p>
                      <a:pPr algn="l">
                        <a:defRPr sz="1000">
                          <a:latin typeface="Montserrat"/>
                        </a:defRPr>
                      </a:pPr>
                      <a:r>
                        <a:t>HGR Orizaba</a:t>
                      </a:r>
                    </a:p>
                  </a:txBody>
                  <a:tcPr>
                    <a:solidFill>
                      <a:srgbClr val="EFEFEF"/>
                    </a:solidFill>
                  </a:tcPr>
                </a:tc>
                <a:tc>
                  <a:txBody>
                    <a:bodyPr/>
                    <a:lstStyle/>
                    <a:p>
                      <a:pPr algn="ctr">
                        <a:defRPr sz="1000">
                          <a:latin typeface="Montserrat"/>
                        </a:defRPr>
                      </a:pPr>
                      <a:r>
                        <a:t>11,480</a:t>
                      </a:r>
                    </a:p>
                  </a:txBody>
                  <a:tcPr>
                    <a:solidFill>
                      <a:srgbClr val="EFEFEF"/>
                    </a:solidFill>
                  </a:tcPr>
                </a:tc>
                <a:tc>
                  <a:txBody>
                    <a:bodyPr/>
                    <a:lstStyle/>
                    <a:p>
                      <a:pPr algn="ctr">
                        <a:defRPr sz="1000">
                          <a:latin typeface="Montserrat"/>
                        </a:defRPr>
                      </a:pPr>
                      <a:r>
                        <a:t>3,541</a:t>
                      </a:r>
                    </a:p>
                  </a:txBody>
                  <a:tcPr>
                    <a:solidFill>
                      <a:srgbClr val="EFEFEF"/>
                    </a:solidFill>
                  </a:tcPr>
                </a:tc>
                <a:tc>
                  <a:txBody>
                    <a:bodyPr/>
                    <a:lstStyle/>
                    <a:p>
                      <a:pPr algn="ctr">
                        <a:defRPr sz="1000">
                          <a:latin typeface="Montserrat"/>
                        </a:defRPr>
                      </a:pPr>
                      <a:r>
                        <a:t>5,591</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39.5%</a:t>
                      </a:r>
                    </a:p>
                  </a:txBody>
                  <a:tcPr>
                    <a:solidFill>
                      <a:srgbClr val="ECD3D9"/>
                    </a:solidFill>
                  </a:tcPr>
                </a:tc>
                <a:extLst>
                  <a:ext uri="{0D108BD9-81ED-4DB2-BD59-A6C34878D82A}">
                    <a16:rowId xmlns:a16="http://schemas.microsoft.com/office/drawing/2014/main" val="10008"/>
                  </a:ext>
                </a:extLst>
              </a:tr>
              <a:tr h="215532">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9,233</a:t>
                      </a:r>
                    </a:p>
                  </a:txBody>
                  <a:tcPr>
                    <a:solidFill>
                      <a:srgbClr val="FFFFFF"/>
                    </a:solidFill>
                  </a:tcPr>
                </a:tc>
                <a:tc>
                  <a:txBody>
                    <a:bodyPr/>
                    <a:lstStyle/>
                    <a:p>
                      <a:pPr algn="ctr">
                        <a:defRPr sz="1000">
                          <a:latin typeface="Montserrat"/>
                        </a:defRPr>
                      </a:pPr>
                      <a:r>
                        <a:t>974</a:t>
                      </a:r>
                    </a:p>
                  </a:txBody>
                  <a:tcPr>
                    <a:solidFill>
                      <a:srgbClr val="FFFFFF"/>
                    </a:solidFill>
                  </a:tcPr>
                </a:tc>
                <a:tc>
                  <a:txBody>
                    <a:bodyPr/>
                    <a:lstStyle/>
                    <a:p>
                      <a:pPr algn="ctr">
                        <a:defRPr sz="1000">
                          <a:latin typeface="Montserrat"/>
                        </a:defRPr>
                      </a:pPr>
                      <a:r>
                        <a:t>4,213</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39.3%</a:t>
                      </a:r>
                    </a:p>
                  </a:txBody>
                  <a:tcPr>
                    <a:solidFill>
                      <a:srgbClr val="ECD3D9"/>
                    </a:solidFill>
                  </a:tcPr>
                </a:tc>
                <a:extLst>
                  <a:ext uri="{0D108BD9-81ED-4DB2-BD59-A6C34878D82A}">
                    <a16:rowId xmlns:a16="http://schemas.microsoft.com/office/drawing/2014/main" val="10009"/>
                  </a:ext>
                </a:extLst>
              </a:tr>
              <a:tr h="215532">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1,547</a:t>
                      </a:r>
                    </a:p>
                  </a:txBody>
                  <a:tcPr>
                    <a:solidFill>
                      <a:srgbClr val="EFEFEF"/>
                    </a:solidFill>
                  </a:tcPr>
                </a:tc>
                <a:tc>
                  <a:txBody>
                    <a:bodyPr/>
                    <a:lstStyle/>
                    <a:p>
                      <a:pPr algn="ctr">
                        <a:defRPr sz="1000">
                          <a:latin typeface="Montserrat"/>
                        </a:defRPr>
                      </a:pPr>
                      <a:r>
                        <a:t>27</a:t>
                      </a:r>
                    </a:p>
                  </a:txBody>
                  <a:tcPr>
                    <a:solidFill>
                      <a:srgbClr val="EFEFEF"/>
                    </a:solidFill>
                  </a:tcPr>
                </a:tc>
                <a:tc>
                  <a:txBody>
                    <a:bodyPr/>
                    <a:lstStyle/>
                    <a:p>
                      <a:pPr algn="ctr">
                        <a:defRPr sz="1000">
                          <a:latin typeface="Montserrat"/>
                        </a:defRPr>
                      </a:pPr>
                      <a:r>
                        <a:t>674</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39.1%</a:t>
                      </a:r>
                    </a:p>
                  </a:txBody>
                  <a:tcPr>
                    <a:solidFill>
                      <a:srgbClr val="ECD3D9"/>
                    </a:solidFill>
                  </a:tcPr>
                </a:tc>
                <a:extLst>
                  <a:ext uri="{0D108BD9-81ED-4DB2-BD59-A6C34878D82A}">
                    <a16:rowId xmlns:a16="http://schemas.microsoft.com/office/drawing/2014/main" val="10010"/>
                  </a:ext>
                </a:extLst>
              </a:tr>
              <a:tr h="215532">
                <a:tc>
                  <a:txBody>
                    <a:bodyPr/>
                    <a:lstStyle/>
                    <a:p>
                      <a:pPr algn="l">
                        <a:defRPr sz="1000">
                          <a:latin typeface="Montserrat"/>
                        </a:defRPr>
                      </a:pPr>
                      <a:r>
                        <a:t>HGZ 24 Poza Rica</a:t>
                      </a:r>
                    </a:p>
                  </a:txBody>
                  <a:tcPr>
                    <a:solidFill>
                      <a:srgbClr val="FFFFFF"/>
                    </a:solidFill>
                  </a:tcPr>
                </a:tc>
                <a:tc>
                  <a:txBody>
                    <a:bodyPr/>
                    <a:lstStyle/>
                    <a:p>
                      <a:pPr algn="ctr">
                        <a:defRPr sz="1000">
                          <a:latin typeface="Montserrat"/>
                        </a:defRPr>
                      </a:pPr>
                      <a:r>
                        <a:t>3,702</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1,700</a:t>
                      </a:r>
                    </a:p>
                  </a:txBody>
                  <a:tcPr>
                    <a:solidFill>
                      <a:srgbClr val="ECD3D9"/>
                    </a:solidFill>
                  </a:tcPr>
                </a:tc>
                <a:tc>
                  <a:txBody>
                    <a:bodyPr/>
                    <a:lstStyle/>
                    <a:p>
                      <a:pPr algn="ctr">
                        <a:defRPr sz="1000">
                          <a:latin typeface="Montserrat"/>
                        </a:defRPr>
                      </a:pPr>
                      <a:r>
                        <a:t>4,392</a:t>
                      </a:r>
                    </a:p>
                  </a:txBody>
                  <a:tcPr>
                    <a:solidFill>
                      <a:srgbClr val="ECD3D9"/>
                    </a:solidFill>
                  </a:tcPr>
                </a:tc>
                <a:tc>
                  <a:txBody>
                    <a:bodyPr/>
                    <a:lstStyle/>
                    <a:p>
                      <a:pPr algn="ctr">
                        <a:defRPr sz="1000">
                          <a:latin typeface="Montserrat"/>
                        </a:defRPr>
                      </a:pPr>
                      <a:r>
                        <a:t>38.7%</a:t>
                      </a:r>
                    </a:p>
                  </a:txBody>
                  <a:tcPr>
                    <a:solidFill>
                      <a:srgbClr val="ECD3D9"/>
                    </a:solidFill>
                  </a:tcPr>
                </a:tc>
                <a:extLst>
                  <a:ext uri="{0D108BD9-81ED-4DB2-BD59-A6C34878D82A}">
                    <a16:rowId xmlns:a16="http://schemas.microsoft.com/office/drawing/2014/main" val="10011"/>
                  </a:ext>
                </a:extLst>
              </a:tr>
              <a:tr h="215532">
                <a:tc>
                  <a:txBody>
                    <a:bodyPr/>
                    <a:lstStyle/>
                    <a:p>
                      <a:pPr algn="l">
                        <a:defRPr sz="1000">
                          <a:latin typeface="Montserrat"/>
                        </a:defRPr>
                      </a:pPr>
                      <a:r>
                        <a:t>HGZ 8 Córdoba</a:t>
                      </a:r>
                    </a:p>
                  </a:txBody>
                  <a:tcPr>
                    <a:solidFill>
                      <a:srgbClr val="EFEFEF"/>
                    </a:solidFill>
                  </a:tcPr>
                </a:tc>
                <a:tc>
                  <a:txBody>
                    <a:bodyPr/>
                    <a:lstStyle/>
                    <a:p>
                      <a:pPr algn="ctr">
                        <a:defRPr sz="1000">
                          <a:latin typeface="Montserrat"/>
                        </a:defRPr>
                      </a:pPr>
                      <a:r>
                        <a:t>6,403</a:t>
                      </a:r>
                    </a:p>
                  </a:txBody>
                  <a:tcPr>
                    <a:solidFill>
                      <a:srgbClr val="EFEFEF"/>
                    </a:solidFill>
                  </a:tcPr>
                </a:tc>
                <a:tc>
                  <a:txBody>
                    <a:bodyPr/>
                    <a:lstStyle/>
                    <a:p>
                      <a:pPr algn="ctr">
                        <a:defRPr sz="1000">
                          <a:latin typeface="Montserrat"/>
                        </a:defRPr>
                      </a:pPr>
                      <a:r>
                        <a:t>1,245</a:t>
                      </a:r>
                    </a:p>
                  </a:txBody>
                  <a:tcPr>
                    <a:solidFill>
                      <a:srgbClr val="EFEFEF"/>
                    </a:solidFill>
                  </a:tcPr>
                </a:tc>
                <a:tc>
                  <a:txBody>
                    <a:bodyPr/>
                    <a:lstStyle/>
                    <a:p>
                      <a:pPr algn="ctr">
                        <a:defRPr sz="1000">
                          <a:latin typeface="Montserrat"/>
                        </a:defRPr>
                      </a:pPr>
                      <a:r>
                        <a:t>2,821</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38.5%</a:t>
                      </a:r>
                    </a:p>
                  </a:txBody>
                  <a:tcPr>
                    <a:solidFill>
                      <a:srgbClr val="ECD3D9"/>
                    </a:solidFill>
                  </a:tcPr>
                </a:tc>
                <a:extLst>
                  <a:ext uri="{0D108BD9-81ED-4DB2-BD59-A6C34878D82A}">
                    <a16:rowId xmlns:a16="http://schemas.microsoft.com/office/drawing/2014/main" val="10012"/>
                  </a:ext>
                </a:extLst>
              </a:tr>
              <a:tr h="215532">
                <a:tc>
                  <a:txBody>
                    <a:bodyPr/>
                    <a:lstStyle/>
                    <a:p>
                      <a:pPr algn="l">
                        <a:defRPr sz="1000">
                          <a:latin typeface="Montserrat"/>
                        </a:defRPr>
                      </a:pPr>
                      <a:r>
                        <a:t>HGZMF 50 Lerdo Tejada</a:t>
                      </a:r>
                    </a:p>
                  </a:txBody>
                  <a:tcPr>
                    <a:solidFill>
                      <a:srgbClr val="FFFFFF"/>
                    </a:solidFill>
                  </a:tcPr>
                </a:tc>
                <a:tc>
                  <a:txBody>
                    <a:bodyPr/>
                    <a:lstStyle/>
                    <a:p>
                      <a:pPr algn="ctr">
                        <a:defRPr sz="1000">
                          <a:latin typeface="Montserrat"/>
                        </a:defRPr>
                      </a:pPr>
                      <a:r>
                        <a:t>1,624</a:t>
                      </a:r>
                    </a:p>
                  </a:txBody>
                  <a:tcPr>
                    <a:solidFill>
                      <a:srgbClr val="FFFFFF"/>
                    </a:solidFill>
                  </a:tcPr>
                </a:tc>
                <a:tc>
                  <a:txBody>
                    <a:bodyPr/>
                    <a:lstStyle/>
                    <a:p>
                      <a:pPr algn="ctr">
                        <a:defRPr sz="1000">
                          <a:latin typeface="Montserrat"/>
                        </a:defRPr>
                      </a:pPr>
                      <a:r>
                        <a:t>119</a:t>
                      </a:r>
                    </a:p>
                  </a:txBody>
                  <a:tcPr>
                    <a:solidFill>
                      <a:srgbClr val="FFFFFF"/>
                    </a:solidFill>
                  </a:tcPr>
                </a:tc>
                <a:tc>
                  <a:txBody>
                    <a:bodyPr/>
                    <a:lstStyle/>
                    <a:p>
                      <a:pPr algn="ctr">
                        <a:defRPr sz="1000">
                          <a:latin typeface="Montserrat"/>
                        </a:defRPr>
                      </a:pPr>
                      <a:r>
                        <a:t>989</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36.4%</a:t>
                      </a:r>
                    </a:p>
                  </a:txBody>
                  <a:tcPr>
                    <a:solidFill>
                      <a:srgbClr val="ECD3D9"/>
                    </a:solidFill>
                  </a:tcPr>
                </a:tc>
                <a:extLst>
                  <a:ext uri="{0D108BD9-81ED-4DB2-BD59-A6C34878D82A}">
                    <a16:rowId xmlns:a16="http://schemas.microsoft.com/office/drawing/2014/main" val="10013"/>
                  </a:ext>
                </a:extLst>
              </a:tr>
              <a:tr h="215532">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9,860</a:t>
                      </a:r>
                    </a:p>
                  </a:txBody>
                  <a:tcPr>
                    <a:solidFill>
                      <a:srgbClr val="EFEFEF"/>
                    </a:solidFill>
                  </a:tcPr>
                </a:tc>
                <a:tc>
                  <a:txBody>
                    <a:bodyPr/>
                    <a:lstStyle/>
                    <a:p>
                      <a:pPr algn="ctr">
                        <a:defRPr sz="1000">
                          <a:latin typeface="Montserrat"/>
                        </a:defRPr>
                      </a:pPr>
                      <a:r>
                        <a:rPr dirty="0"/>
                        <a:t>4,113</a:t>
                      </a:r>
                    </a:p>
                  </a:txBody>
                  <a:tcPr>
                    <a:solidFill>
                      <a:srgbClr val="EFEFEF"/>
                    </a:solidFill>
                  </a:tcPr>
                </a:tc>
                <a:tc>
                  <a:txBody>
                    <a:bodyPr/>
                    <a:lstStyle/>
                    <a:p>
                      <a:pPr algn="ctr">
                        <a:defRPr sz="1000">
                          <a:latin typeface="Montserrat"/>
                        </a:defRPr>
                      </a:pPr>
                      <a:r>
                        <a:t>4,336</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35.5%</a:t>
                      </a:r>
                    </a:p>
                  </a:txBody>
                  <a:tcPr>
                    <a:solidFill>
                      <a:srgbClr val="ECD3D9"/>
                    </a:solidFill>
                  </a:tcPr>
                </a:tc>
                <a:extLst>
                  <a:ext uri="{0D108BD9-81ED-4DB2-BD59-A6C34878D82A}">
                    <a16:rowId xmlns:a16="http://schemas.microsoft.com/office/drawing/2014/main" val="10014"/>
                  </a:ext>
                </a:extLst>
              </a:tr>
              <a:tr h="215532">
                <a:tc>
                  <a:txBody>
                    <a:bodyPr/>
                    <a:lstStyle/>
                    <a:p>
                      <a:pPr algn="l">
                        <a:defRPr sz="1000">
                          <a:latin typeface="Montserrat"/>
                        </a:defRPr>
                      </a:pPr>
                      <a:r>
                        <a:t>UMAA 15 Tejería</a:t>
                      </a:r>
                    </a:p>
                  </a:txBody>
                  <a:tcPr>
                    <a:solidFill>
                      <a:srgbClr val="FFFFFF"/>
                    </a:solidFill>
                  </a:tcPr>
                </a:tc>
                <a:tc>
                  <a:txBody>
                    <a:bodyPr/>
                    <a:lstStyle/>
                    <a:p>
                      <a:pPr algn="ctr">
                        <a:defRPr sz="1000">
                          <a:latin typeface="Montserrat"/>
                        </a:defRPr>
                      </a:pPr>
                      <a:r>
                        <a:t>1,917</a:t>
                      </a:r>
                    </a:p>
                  </a:txBody>
                  <a:tcPr>
                    <a:solidFill>
                      <a:srgbClr val="FFFFFF"/>
                    </a:solidFill>
                  </a:tcPr>
                </a:tc>
                <a:tc>
                  <a:txBody>
                    <a:bodyPr/>
                    <a:lstStyle/>
                    <a:p>
                      <a:pPr algn="ctr">
                        <a:defRPr sz="1000">
                          <a:latin typeface="Montserrat"/>
                        </a:defRPr>
                      </a:pPr>
                      <a:r>
                        <a:t>273</a:t>
                      </a:r>
                    </a:p>
                  </a:txBody>
                  <a:tcPr>
                    <a:solidFill>
                      <a:srgbClr val="FFFFFF"/>
                    </a:solidFill>
                  </a:tcPr>
                </a:tc>
                <a:tc>
                  <a:txBody>
                    <a:bodyPr/>
                    <a:lstStyle/>
                    <a:p>
                      <a:pPr algn="ctr">
                        <a:defRPr sz="1000">
                          <a:latin typeface="Montserrat"/>
                        </a:defRPr>
                      </a:pPr>
                      <a:r>
                        <a:t>1,102</a:t>
                      </a:r>
                    </a:p>
                  </a:txBody>
                  <a:tcPr>
                    <a:solidFill>
                      <a:srgbClr val="ECD3D9"/>
                    </a:solidFill>
                  </a:tcPr>
                </a:tc>
                <a:tc>
                  <a:txBody>
                    <a:bodyPr/>
                    <a:lstStyle/>
                    <a:p>
                      <a:pPr algn="ctr">
                        <a:defRPr sz="1000">
                          <a:latin typeface="Montserrat"/>
                        </a:defRPr>
                      </a:pPr>
                      <a:r>
                        <a:t>3,132</a:t>
                      </a:r>
                    </a:p>
                  </a:txBody>
                  <a:tcPr>
                    <a:solidFill>
                      <a:srgbClr val="ECD3D9"/>
                    </a:solidFill>
                  </a:tcPr>
                </a:tc>
                <a:tc>
                  <a:txBody>
                    <a:bodyPr/>
                    <a:lstStyle/>
                    <a:p>
                      <a:pPr algn="ctr">
                        <a:defRPr sz="1000">
                          <a:latin typeface="Montserrat"/>
                        </a:defRPr>
                      </a:pPr>
                      <a:r>
                        <a:t>35.2%</a:t>
                      </a:r>
                    </a:p>
                  </a:txBody>
                  <a:tcPr>
                    <a:solidFill>
                      <a:srgbClr val="ECD3D9"/>
                    </a:solidFill>
                  </a:tcPr>
                </a:tc>
                <a:extLst>
                  <a:ext uri="{0D108BD9-81ED-4DB2-BD59-A6C34878D82A}">
                    <a16:rowId xmlns:a16="http://schemas.microsoft.com/office/drawing/2014/main" val="10015"/>
                  </a:ext>
                </a:extLst>
              </a:tr>
              <a:tr h="215532">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1,051</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537</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34.3%</a:t>
                      </a:r>
                    </a:p>
                  </a:txBody>
                  <a:tcPr>
                    <a:solidFill>
                      <a:srgbClr val="ECD3D9"/>
                    </a:solidFill>
                  </a:tcPr>
                </a:tc>
                <a:extLst>
                  <a:ext uri="{0D108BD9-81ED-4DB2-BD59-A6C34878D82A}">
                    <a16:rowId xmlns:a16="http://schemas.microsoft.com/office/drawing/2014/main" val="10016"/>
                  </a:ext>
                </a:extLst>
              </a:tr>
              <a:tr h="215532">
                <a:tc>
                  <a:txBody>
                    <a:bodyPr/>
                    <a:lstStyle/>
                    <a:p>
                      <a:pPr algn="l">
                        <a:defRPr sz="1000">
                          <a:latin typeface="Montserrat"/>
                        </a:defRPr>
                      </a:pPr>
                      <a:r>
                        <a:rPr dirty="0"/>
                        <a:t>HGSMF 7 Panuco</a:t>
                      </a:r>
                    </a:p>
                  </a:txBody>
                  <a:tcPr>
                    <a:solidFill>
                      <a:srgbClr val="FFFFFF"/>
                    </a:solidFill>
                  </a:tcPr>
                </a:tc>
                <a:tc>
                  <a:txBody>
                    <a:bodyPr/>
                    <a:lstStyle/>
                    <a:p>
                      <a:pPr algn="ctr">
                        <a:defRPr sz="1000">
                          <a:latin typeface="Montserrat"/>
                        </a:defRPr>
                      </a:pPr>
                      <a:r>
                        <a:rPr dirty="0"/>
                        <a:t>344</a:t>
                      </a:r>
                    </a:p>
                  </a:txBody>
                  <a:tcPr>
                    <a:solidFill>
                      <a:srgbClr val="FFFFFF"/>
                    </a:solidFill>
                  </a:tcPr>
                </a:tc>
                <a:tc>
                  <a:txBody>
                    <a:bodyPr/>
                    <a:lstStyle/>
                    <a:p>
                      <a:pPr algn="ctr">
                        <a:defRPr sz="1000">
                          <a:latin typeface="Montserrat"/>
                        </a:defRPr>
                      </a:pPr>
                      <a:r>
                        <a:rPr dirty="0"/>
                        <a:t>32</a:t>
                      </a:r>
                    </a:p>
                  </a:txBody>
                  <a:tcPr>
                    <a:solidFill>
                      <a:srgbClr val="FFFFFF"/>
                    </a:solidFill>
                  </a:tcPr>
                </a:tc>
                <a:tc>
                  <a:txBody>
                    <a:bodyPr/>
                    <a:lstStyle/>
                    <a:p>
                      <a:pPr algn="ctr">
                        <a:defRPr sz="1000">
                          <a:latin typeface="Montserrat"/>
                        </a:defRPr>
                      </a:pPr>
                      <a:r>
                        <a:rPr dirty="0"/>
                        <a:t>264</a:t>
                      </a:r>
                    </a:p>
                  </a:txBody>
                  <a:tcPr>
                    <a:solidFill>
                      <a:srgbClr val="ECD3D9"/>
                    </a:solidFill>
                  </a:tcPr>
                </a:tc>
                <a:tc>
                  <a:txBody>
                    <a:bodyPr/>
                    <a:lstStyle/>
                    <a:p>
                      <a:pPr algn="ctr">
                        <a:defRPr sz="1000">
                          <a:latin typeface="Montserrat"/>
                        </a:defRPr>
                      </a:pPr>
                      <a:r>
                        <a:rPr dirty="0"/>
                        <a:t>783</a:t>
                      </a:r>
                    </a:p>
                  </a:txBody>
                  <a:tcPr>
                    <a:solidFill>
                      <a:srgbClr val="ECD3D9"/>
                    </a:solidFill>
                  </a:tcPr>
                </a:tc>
                <a:tc>
                  <a:txBody>
                    <a:bodyPr/>
                    <a:lstStyle/>
                    <a:p>
                      <a:pPr algn="ctr">
                        <a:defRPr sz="1000">
                          <a:latin typeface="Montserrat"/>
                        </a:defRPr>
                      </a:pPr>
                      <a:r>
                        <a:rPr dirty="0"/>
                        <a:t>33.7%</a:t>
                      </a:r>
                    </a:p>
                  </a:txBody>
                  <a:tcPr>
                    <a:solidFill>
                      <a:srgbClr val="ECD3D9"/>
                    </a:solidFill>
                  </a:tcPr>
                </a:tc>
                <a:extLst>
                  <a:ext uri="{0D108BD9-81ED-4DB2-BD59-A6C34878D82A}">
                    <a16:rowId xmlns:a16="http://schemas.microsoft.com/office/drawing/2014/main" val="10017"/>
                  </a:ext>
                </a:extLst>
              </a:tr>
              <a:tr h="215532">
                <a:tc>
                  <a:txBody>
                    <a:bodyPr/>
                    <a:lstStyle/>
                    <a:p>
                      <a:pPr algn="l">
                        <a:defRPr sz="1000">
                          <a:latin typeface="Montserrat"/>
                        </a:defRPr>
                      </a:pPr>
                      <a:r>
                        <a:rPr dirty="0"/>
                        <a:t>HGS 33 Tierra Blanca</a:t>
                      </a:r>
                    </a:p>
                  </a:txBody>
                  <a:tcPr>
                    <a:solidFill>
                      <a:srgbClr val="FFFFFF"/>
                    </a:solidFill>
                  </a:tcPr>
                </a:tc>
                <a:tc>
                  <a:txBody>
                    <a:bodyPr/>
                    <a:lstStyle/>
                    <a:p>
                      <a:pPr algn="ctr">
                        <a:defRPr sz="1000">
                          <a:latin typeface="Montserrat"/>
                        </a:defRPr>
                      </a:pPr>
                      <a:r>
                        <a:rPr dirty="0"/>
                        <a:t>1,730</a:t>
                      </a:r>
                    </a:p>
                  </a:txBody>
                  <a:tcPr>
                    <a:solidFill>
                      <a:srgbClr val="FFFFFF"/>
                    </a:solidFill>
                  </a:tcPr>
                </a:tc>
                <a:tc>
                  <a:txBody>
                    <a:bodyPr/>
                    <a:lstStyle/>
                    <a:p>
                      <a:pPr algn="ctr">
                        <a:defRPr sz="1000">
                          <a:latin typeface="Montserrat"/>
                        </a:defRPr>
                      </a:pPr>
                      <a:r>
                        <a:rPr dirty="0"/>
                        <a:t>1,020</a:t>
                      </a:r>
                    </a:p>
                  </a:txBody>
                  <a:tcPr>
                    <a:solidFill>
                      <a:srgbClr val="FFFFFF"/>
                    </a:solidFill>
                  </a:tcPr>
                </a:tc>
                <a:tc>
                  <a:txBody>
                    <a:bodyPr/>
                    <a:lstStyle/>
                    <a:p>
                      <a:pPr algn="ctr">
                        <a:defRPr sz="1000">
                          <a:latin typeface="Montserrat"/>
                        </a:defRPr>
                      </a:pPr>
                      <a:r>
                        <a:rPr dirty="0"/>
                        <a:t>785</a:t>
                      </a:r>
                    </a:p>
                  </a:txBody>
                  <a:tcPr>
                    <a:solidFill>
                      <a:srgbClr val="ECD3D9"/>
                    </a:solidFill>
                  </a:tcPr>
                </a:tc>
                <a:tc>
                  <a:txBody>
                    <a:bodyPr/>
                    <a:lstStyle/>
                    <a:p>
                      <a:pPr algn="ctr">
                        <a:defRPr sz="1000">
                          <a:latin typeface="Montserrat"/>
                        </a:defRPr>
                      </a:pPr>
                      <a:r>
                        <a:rPr dirty="0"/>
                        <a:t>2,508</a:t>
                      </a:r>
                    </a:p>
                  </a:txBody>
                  <a:tcPr>
                    <a:solidFill>
                      <a:srgbClr val="ECD3D9"/>
                    </a:solidFill>
                  </a:tcPr>
                </a:tc>
                <a:tc>
                  <a:txBody>
                    <a:bodyPr/>
                    <a:lstStyle/>
                    <a:p>
                      <a:pPr algn="ctr">
                        <a:defRPr sz="1000">
                          <a:latin typeface="Montserrat"/>
                        </a:defRPr>
                      </a:pPr>
                      <a:r>
                        <a:t>31.3%</a:t>
                      </a:r>
                    </a:p>
                  </a:txBody>
                  <a:tcPr>
                    <a:solidFill>
                      <a:srgbClr val="ECD3D9"/>
                    </a:solidFill>
                  </a:tcPr>
                </a:tc>
                <a:extLst>
                  <a:ext uri="{0D108BD9-81ED-4DB2-BD59-A6C34878D82A}">
                    <a16:rowId xmlns:a16="http://schemas.microsoft.com/office/drawing/2014/main" val="550057953"/>
                  </a:ext>
                </a:extLst>
              </a:tr>
              <a:tr h="215532">
                <a:tc>
                  <a:txBody>
                    <a:bodyPr/>
                    <a:lstStyle/>
                    <a:p>
                      <a:pPr algn="l">
                        <a:defRPr sz="1000" b="1">
                          <a:solidFill>
                            <a:srgbClr val="006556"/>
                          </a:solidFill>
                          <a:latin typeface="Montserrat"/>
                        </a:defRPr>
                      </a:pPr>
                      <a:r>
                        <a:rPr dirty="0"/>
                        <a:t>Subtotal</a:t>
                      </a:r>
                    </a:p>
                  </a:txBody>
                  <a:tcPr>
                    <a:solidFill>
                      <a:srgbClr val="D3E9E7"/>
                    </a:solidFill>
                  </a:tcPr>
                </a:tc>
                <a:tc>
                  <a:txBody>
                    <a:bodyPr/>
                    <a:lstStyle/>
                    <a:p>
                      <a:pPr algn="ctr">
                        <a:defRPr sz="1000" b="1">
                          <a:solidFill>
                            <a:srgbClr val="006556"/>
                          </a:solidFill>
                          <a:latin typeface="Montserrat"/>
                        </a:defRPr>
                      </a:pPr>
                      <a:r>
                        <a:rPr dirty="0"/>
                        <a:t>74,137</a:t>
                      </a:r>
                    </a:p>
                  </a:txBody>
                  <a:tcPr>
                    <a:solidFill>
                      <a:srgbClr val="D3E9E7"/>
                    </a:solidFill>
                  </a:tcPr>
                </a:tc>
                <a:tc>
                  <a:txBody>
                    <a:bodyPr/>
                    <a:lstStyle/>
                    <a:p>
                      <a:pPr algn="ctr">
                        <a:defRPr sz="1000" b="1">
                          <a:solidFill>
                            <a:srgbClr val="006556"/>
                          </a:solidFill>
                          <a:latin typeface="Montserrat"/>
                        </a:defRPr>
                      </a:pPr>
                      <a:r>
                        <a:rPr dirty="0"/>
                        <a:t>16,782</a:t>
                      </a:r>
                    </a:p>
                  </a:txBody>
                  <a:tcPr>
                    <a:solidFill>
                      <a:srgbClr val="D3E9E7"/>
                    </a:solidFill>
                  </a:tcPr>
                </a:tc>
                <a:tc>
                  <a:txBody>
                    <a:bodyPr/>
                    <a:lstStyle/>
                    <a:p>
                      <a:pPr algn="ctr">
                        <a:defRPr sz="1000" b="1">
                          <a:solidFill>
                            <a:srgbClr val="FFFFFF"/>
                          </a:solidFill>
                          <a:latin typeface="Montserrat"/>
                        </a:defRPr>
                      </a:pPr>
                      <a:r>
                        <a:rPr dirty="0"/>
                        <a:t>35,630</a:t>
                      </a:r>
                    </a:p>
                  </a:txBody>
                  <a:tcPr>
                    <a:solidFill>
                      <a:srgbClr val="980000"/>
                    </a:solidFill>
                  </a:tcPr>
                </a:tc>
                <a:tc>
                  <a:txBody>
                    <a:bodyPr/>
                    <a:lstStyle/>
                    <a:p>
                      <a:pPr algn="ctr">
                        <a:defRPr sz="1000" b="1">
                          <a:solidFill>
                            <a:srgbClr val="FFFFFF"/>
                          </a:solidFill>
                          <a:latin typeface="Montserrat"/>
                        </a:defRPr>
                      </a:pPr>
                      <a:r>
                        <a:rPr dirty="0"/>
                        <a:t>91,048</a:t>
                      </a:r>
                    </a:p>
                  </a:txBody>
                  <a:tcPr>
                    <a:solidFill>
                      <a:srgbClr val="980000"/>
                    </a:solidFill>
                  </a:tcPr>
                </a:tc>
                <a:tc>
                  <a:txBody>
                    <a:bodyPr/>
                    <a:lstStyle/>
                    <a:p>
                      <a:pPr algn="ctr">
                        <a:defRPr sz="1000" b="1">
                          <a:solidFill>
                            <a:srgbClr val="FFFFFF"/>
                          </a:solidFill>
                          <a:latin typeface="Montserrat"/>
                        </a:defRPr>
                      </a:pPr>
                      <a:r>
                        <a:rPr dirty="0"/>
                        <a:t>39.1%</a:t>
                      </a:r>
                    </a:p>
                  </a:txBody>
                  <a:tcPr>
                    <a:solidFill>
                      <a:srgbClr val="980000"/>
                    </a:solidFill>
                  </a:tcPr>
                </a:tc>
                <a:extLst>
                  <a:ext uri="{0D108BD9-81ED-4DB2-BD59-A6C34878D82A}">
                    <a16:rowId xmlns:a16="http://schemas.microsoft.com/office/drawing/2014/main" val="2887385278"/>
                  </a:ext>
                </a:extLst>
              </a:tr>
            </a:tbl>
          </a:graphicData>
        </a:graphic>
      </p:graphicFrame>
      <p:graphicFrame>
        <p:nvGraphicFramePr>
          <p:cNvPr id="2" name="Table 5">
            <a:extLst>
              <a:ext uri="{FF2B5EF4-FFF2-40B4-BE49-F238E27FC236}">
                <a16:creationId xmlns:a16="http://schemas.microsoft.com/office/drawing/2014/main" id="{2F72084B-A5BA-B558-35ED-9C4BAFD3608B}"/>
              </a:ext>
            </a:extLst>
          </p:cNvPr>
          <p:cNvGraphicFramePr>
            <a:graphicFrameLocks noGrp="1"/>
          </p:cNvGraphicFramePr>
          <p:nvPr>
            <p:extLst>
              <p:ext uri="{D42A27DB-BD31-4B8C-83A1-F6EECF244321}">
                <p14:modId xmlns:p14="http://schemas.microsoft.com/office/powerpoint/2010/main" val="530542382"/>
              </p:ext>
            </p:extLst>
          </p:nvPr>
        </p:nvGraphicFramePr>
        <p:xfrm>
          <a:off x="143502" y="6198698"/>
          <a:ext cx="7340399" cy="109728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1896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126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11,507</a:t>
                      </a:r>
                    </a:p>
                  </a:txBody>
                  <a:tcPr>
                    <a:solidFill>
                      <a:srgbClr val="FFFFFF"/>
                    </a:solidFill>
                  </a:tcPr>
                </a:tc>
                <a:tc>
                  <a:txBody>
                    <a:bodyPr/>
                    <a:lstStyle/>
                    <a:p>
                      <a:pPr algn="ctr">
                        <a:defRPr sz="1000">
                          <a:latin typeface="Montserrat"/>
                        </a:defRPr>
                      </a:pPr>
                      <a:r>
                        <a:t>2,267</a:t>
                      </a:r>
                    </a:p>
                  </a:txBody>
                  <a:tcPr>
                    <a:solidFill>
                      <a:srgbClr val="FFFFFF"/>
                    </a:solidFill>
                  </a:tcPr>
                </a:tc>
                <a:tc>
                  <a:txBody>
                    <a:bodyPr/>
                    <a:lstStyle/>
                    <a:p>
                      <a:pPr algn="ctr">
                        <a:defRPr sz="1000">
                          <a:latin typeface="Montserrat"/>
                        </a:defRPr>
                      </a:pPr>
                      <a:r>
                        <a:t>6,011</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29.0%</a:t>
                      </a:r>
                    </a:p>
                  </a:txBody>
                  <a:tcPr>
                    <a:solidFill>
                      <a:srgbClr val="ECD3D9"/>
                    </a:solidFill>
                  </a:tcPr>
                </a:tc>
                <a:extLst>
                  <a:ext uri="{0D108BD9-81ED-4DB2-BD59-A6C34878D82A}">
                    <a16:rowId xmlns:a16="http://schemas.microsoft.com/office/drawing/2014/main" val="10001"/>
                  </a:ext>
                </a:extLst>
              </a:tr>
              <a:tr h="126400">
                <a:tc>
                  <a:txBody>
                    <a:bodyPr/>
                    <a:lstStyle/>
                    <a:p>
                      <a:pPr algn="l">
                        <a:defRPr sz="1000" b="1">
                          <a:solidFill>
                            <a:srgbClr val="006556"/>
                          </a:solidFill>
                          <a:latin typeface="Montserrat"/>
                        </a:defRPr>
                      </a:pPr>
                      <a:r>
                        <a:rPr dirty="0"/>
                        <a:t>Subtotal</a:t>
                      </a:r>
                    </a:p>
                  </a:txBody>
                  <a:tcPr>
                    <a:solidFill>
                      <a:srgbClr val="D3E9E7"/>
                    </a:solidFill>
                  </a:tcPr>
                </a:tc>
                <a:tc>
                  <a:txBody>
                    <a:bodyPr/>
                    <a:lstStyle/>
                    <a:p>
                      <a:pPr algn="ctr">
                        <a:defRPr sz="1000" b="1">
                          <a:solidFill>
                            <a:srgbClr val="006556"/>
                          </a:solidFill>
                          <a:latin typeface="Montserrat"/>
                        </a:defRPr>
                      </a:pPr>
                      <a:r>
                        <a:t>11,507</a:t>
                      </a:r>
                    </a:p>
                  </a:txBody>
                  <a:tcPr>
                    <a:solidFill>
                      <a:srgbClr val="D3E9E7"/>
                    </a:solidFill>
                  </a:tcPr>
                </a:tc>
                <a:tc>
                  <a:txBody>
                    <a:bodyPr/>
                    <a:lstStyle/>
                    <a:p>
                      <a:pPr algn="ctr">
                        <a:defRPr sz="1000" b="1">
                          <a:solidFill>
                            <a:srgbClr val="006556"/>
                          </a:solidFill>
                          <a:latin typeface="Montserrat"/>
                        </a:defRPr>
                      </a:pPr>
                      <a:r>
                        <a:t>2,267</a:t>
                      </a:r>
                    </a:p>
                  </a:txBody>
                  <a:tcPr>
                    <a:solidFill>
                      <a:srgbClr val="D3E9E7"/>
                    </a:solidFill>
                  </a:tcPr>
                </a:tc>
                <a:tc>
                  <a:txBody>
                    <a:bodyPr/>
                    <a:lstStyle/>
                    <a:p>
                      <a:pPr algn="ctr">
                        <a:defRPr sz="1000" b="1">
                          <a:solidFill>
                            <a:srgbClr val="FFFFFF"/>
                          </a:solidFill>
                          <a:latin typeface="Montserrat"/>
                        </a:defRPr>
                      </a:pPr>
                      <a:r>
                        <a:t>6,011</a:t>
                      </a:r>
                    </a:p>
                  </a:txBody>
                  <a:tcPr>
                    <a:solidFill>
                      <a:srgbClr val="9F2241"/>
                    </a:solidFill>
                  </a:tcPr>
                </a:tc>
                <a:tc>
                  <a:txBody>
                    <a:bodyPr/>
                    <a:lstStyle/>
                    <a:p>
                      <a:pPr algn="ctr">
                        <a:defRPr sz="1000" b="1">
                          <a:solidFill>
                            <a:srgbClr val="FFFFFF"/>
                          </a:solidFill>
                          <a:latin typeface="Montserrat"/>
                        </a:defRPr>
                      </a:pPr>
                      <a:r>
                        <a:t>20,700</a:t>
                      </a:r>
                    </a:p>
                  </a:txBody>
                  <a:tcPr>
                    <a:solidFill>
                      <a:srgbClr val="9F2241"/>
                    </a:solidFill>
                  </a:tcPr>
                </a:tc>
                <a:tc>
                  <a:txBody>
                    <a:bodyPr/>
                    <a:lstStyle/>
                    <a:p>
                      <a:pPr algn="ctr">
                        <a:defRPr sz="1000" b="1">
                          <a:solidFill>
                            <a:srgbClr val="FFFFFF"/>
                          </a:solidFill>
                          <a:latin typeface="Montserrat"/>
                        </a:defRPr>
                      </a:pPr>
                      <a:r>
                        <a:t>29.0%</a:t>
                      </a:r>
                    </a:p>
                  </a:txBody>
                  <a:tcPr>
                    <a:solidFill>
                      <a:srgbClr val="9F2241"/>
                    </a:solidFill>
                  </a:tcPr>
                </a:tc>
                <a:extLst>
                  <a:ext uri="{0D108BD9-81ED-4DB2-BD59-A6C34878D82A}">
                    <a16:rowId xmlns:a16="http://schemas.microsoft.com/office/drawing/2014/main" val="10002"/>
                  </a:ext>
                </a:extLst>
              </a:tr>
              <a:tr h="126400">
                <a:tc>
                  <a:txBody>
                    <a:bodyPr/>
                    <a:lstStyle/>
                    <a:p>
                      <a:pPr algn="l">
                        <a:defRPr sz="1000" b="1">
                          <a:solidFill>
                            <a:srgbClr val="006556"/>
                          </a:solidFill>
                          <a:latin typeface="Montserrat"/>
                        </a:defRPr>
                      </a:pPr>
                      <a:r>
                        <a:rPr dirty="0"/>
                        <a:t>Total</a:t>
                      </a:r>
                    </a:p>
                  </a:txBody>
                  <a:tcPr>
                    <a:solidFill>
                      <a:srgbClr val="D3E9E7"/>
                    </a:solidFill>
                  </a:tcPr>
                </a:tc>
                <a:tc>
                  <a:txBody>
                    <a:bodyPr/>
                    <a:lstStyle/>
                    <a:p>
                      <a:pPr algn="ctr">
                        <a:defRPr sz="1000" b="1">
                          <a:solidFill>
                            <a:srgbClr val="006556"/>
                          </a:solidFill>
                          <a:latin typeface="Montserrat"/>
                        </a:defRPr>
                      </a:pPr>
                      <a:r>
                        <a:t>85,644</a:t>
                      </a:r>
                    </a:p>
                  </a:txBody>
                  <a:tcPr>
                    <a:solidFill>
                      <a:srgbClr val="D3E9E7"/>
                    </a:solidFill>
                  </a:tcPr>
                </a:tc>
                <a:tc>
                  <a:txBody>
                    <a:bodyPr/>
                    <a:lstStyle/>
                    <a:p>
                      <a:pPr algn="ctr">
                        <a:defRPr sz="1000" b="1">
                          <a:solidFill>
                            <a:srgbClr val="006556"/>
                          </a:solidFill>
                          <a:latin typeface="Montserrat"/>
                        </a:defRPr>
                      </a:pPr>
                      <a:r>
                        <a:t>19,049</a:t>
                      </a:r>
                    </a:p>
                  </a:txBody>
                  <a:tcPr>
                    <a:solidFill>
                      <a:srgbClr val="D3E9E7"/>
                    </a:solidFill>
                  </a:tcPr>
                </a:tc>
                <a:tc>
                  <a:txBody>
                    <a:bodyPr/>
                    <a:lstStyle/>
                    <a:p>
                      <a:pPr algn="ctr">
                        <a:defRPr sz="1000" b="1">
                          <a:solidFill>
                            <a:srgbClr val="FFFFFF"/>
                          </a:solidFill>
                          <a:latin typeface="Montserrat"/>
                        </a:defRPr>
                      </a:pPr>
                      <a:r>
                        <a:t>41,641</a:t>
                      </a:r>
                    </a:p>
                  </a:txBody>
                  <a:tcPr>
                    <a:solidFill>
                      <a:srgbClr val="9F2241"/>
                    </a:solidFill>
                  </a:tcPr>
                </a:tc>
                <a:tc>
                  <a:txBody>
                    <a:bodyPr/>
                    <a:lstStyle/>
                    <a:p>
                      <a:pPr algn="ctr">
                        <a:defRPr sz="1000" b="1">
                          <a:solidFill>
                            <a:srgbClr val="FFFFFF"/>
                          </a:solidFill>
                          <a:latin typeface="Montserrat"/>
                        </a:defRPr>
                      </a:pPr>
                      <a:r>
                        <a:t>111,748</a:t>
                      </a:r>
                    </a:p>
                  </a:txBody>
                  <a:tcPr>
                    <a:solidFill>
                      <a:srgbClr val="9F2241"/>
                    </a:solidFill>
                  </a:tcPr>
                </a:tc>
                <a:tc>
                  <a:txBody>
                    <a:bodyPr/>
                    <a:lstStyle/>
                    <a:p>
                      <a:pPr algn="ctr">
                        <a:defRPr sz="1000" b="1">
                          <a:solidFill>
                            <a:srgbClr val="FFFFFF"/>
                          </a:solidFill>
                          <a:latin typeface="Montserrat"/>
                        </a:defRPr>
                      </a:pPr>
                      <a:r>
                        <a:rPr dirty="0"/>
                        <a:t>37.3%</a:t>
                      </a:r>
                    </a:p>
                  </a:txBody>
                  <a:tcPr>
                    <a:solidFill>
                      <a:srgbClr val="9F2241"/>
                    </a:solidFill>
                  </a:tcPr>
                </a:tc>
                <a:extLst>
                  <a:ext uri="{0D108BD9-81ED-4DB2-BD59-A6C34878D82A}">
                    <a16:rowId xmlns:a16="http://schemas.microsoft.com/office/drawing/2014/main" val="10003"/>
                  </a:ext>
                </a:extLst>
              </a:tr>
            </a:tbl>
          </a:graphicData>
        </a:graphic>
      </p:graphicFrame>
      <p:sp>
        <p:nvSpPr>
          <p:cNvPr id="3" name="TextBox 9">
            <a:extLst>
              <a:ext uri="{FF2B5EF4-FFF2-40B4-BE49-F238E27FC236}">
                <a16:creationId xmlns:a16="http://schemas.microsoft.com/office/drawing/2014/main" id="{59C3C858-5B92-3A72-D32C-84512BC54D7E}"/>
              </a:ext>
            </a:extLst>
          </p:cNvPr>
          <p:cNvSpPr txBox="1"/>
          <p:nvPr/>
        </p:nvSpPr>
        <p:spPr>
          <a:xfrm>
            <a:off x="225974" y="7526400"/>
            <a:ext cx="2854800" cy="1198800"/>
          </a:xfrm>
          <a:prstGeom prst="rect">
            <a:avLst/>
          </a:prstGeom>
          <a:noFill/>
        </p:spPr>
        <p:txBody>
          <a:bodyPr wrap="square">
            <a:spAutoFit/>
          </a:bodyPr>
          <a:lstStyle/>
          <a:p>
            <a:pPr algn="ctr">
              <a:defRPr sz="3600" b="1">
                <a:solidFill>
                  <a:srgbClr val="9F2241"/>
                </a:solidFill>
                <a:latin typeface="Montserrat"/>
              </a:defRPr>
            </a:pPr>
            <a:r>
              <a:rPr dirty="0"/>
              <a:t>111,748 </a:t>
            </a:r>
            <a:br>
              <a:rPr dirty="0"/>
            </a:br>
            <a:r>
              <a:rPr dirty="0"/>
              <a:t>Meta 2026</a:t>
            </a:r>
          </a:p>
        </p:txBody>
      </p:sp>
      <p:graphicFrame>
        <p:nvGraphicFramePr>
          <p:cNvPr id="4" name="Chart 6">
            <a:extLst>
              <a:ext uri="{FF2B5EF4-FFF2-40B4-BE49-F238E27FC236}">
                <a16:creationId xmlns:a16="http://schemas.microsoft.com/office/drawing/2014/main" id="{31E03099-A5A3-8150-4154-A65521ACE56B}"/>
              </a:ext>
            </a:extLst>
          </p:cNvPr>
          <p:cNvGraphicFramePr>
            <a:graphicFrameLocks noGrp="1"/>
          </p:cNvGraphicFramePr>
          <p:nvPr>
            <p:extLst>
              <p:ext uri="{D42A27DB-BD31-4B8C-83A1-F6EECF244321}">
                <p14:modId xmlns:p14="http://schemas.microsoft.com/office/powerpoint/2010/main" val="4127909835"/>
              </p:ext>
            </p:extLst>
          </p:nvPr>
        </p:nvGraphicFramePr>
        <p:xfrm>
          <a:off x="4866525" y="7421625"/>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7">
            <a:extLst>
              <a:ext uri="{FF2B5EF4-FFF2-40B4-BE49-F238E27FC236}">
                <a16:creationId xmlns:a16="http://schemas.microsoft.com/office/drawing/2014/main" id="{8F08050A-9A52-A385-4EBA-568F0C9C9E52}"/>
              </a:ext>
            </a:extLst>
          </p:cNvPr>
          <p:cNvSpPr txBox="1"/>
          <p:nvPr/>
        </p:nvSpPr>
        <p:spPr>
          <a:xfrm>
            <a:off x="4866525" y="8087272"/>
            <a:ext cx="1800000" cy="360000"/>
          </a:xfrm>
          <a:prstGeom prst="rect">
            <a:avLst/>
          </a:prstGeom>
          <a:noFill/>
        </p:spPr>
        <p:txBody>
          <a:bodyPr wrap="none">
            <a:spAutoFit/>
          </a:bodyPr>
          <a:lstStyle/>
          <a:p>
            <a:pPr algn="ctr"/>
            <a:r>
              <a:rPr sz="2400" b="1" dirty="0">
                <a:solidFill>
                  <a:srgbClr val="9F2241"/>
                </a:solidFill>
                <a:latin typeface="Montserrat"/>
              </a:rPr>
              <a:t>37.3%</a:t>
            </a:r>
          </a:p>
        </p:txBody>
      </p:sp>
      <p:sp>
        <p:nvSpPr>
          <p:cNvPr id="6" name="TextBox 8">
            <a:extLst>
              <a:ext uri="{FF2B5EF4-FFF2-40B4-BE49-F238E27FC236}">
                <a16:creationId xmlns:a16="http://schemas.microsoft.com/office/drawing/2014/main" id="{151C6111-A774-827D-1B0C-A142EF33BF8C}"/>
              </a:ext>
            </a:extLst>
          </p:cNvPr>
          <p:cNvSpPr txBox="1"/>
          <p:nvPr/>
        </p:nvSpPr>
        <p:spPr>
          <a:xfrm>
            <a:off x="4866525" y="8987272"/>
            <a:ext cx="1800000" cy="360000"/>
          </a:xfrm>
          <a:prstGeom prst="rect">
            <a:avLst/>
          </a:prstGeom>
          <a:noFill/>
        </p:spPr>
        <p:txBody>
          <a:bodyPr wrap="none">
            <a:spAutoFit/>
          </a:bodyPr>
          <a:lstStyle/>
          <a:p>
            <a:pPr algn="ctr"/>
            <a:r>
              <a:rPr sz="1400" b="1" dirty="0">
                <a:solidFill>
                  <a:srgbClr val="9F2241"/>
                </a:solidFill>
                <a:latin typeface="Montserrat"/>
              </a:rPr>
              <a:t>Avance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a:solidFill>
                  <a:srgbClr val="BC955C"/>
                </a:solidFill>
                <a:latin typeface="Montserrat"/>
              </a:defRPr>
            </a:pPr>
            <a:r>
              <a:rPr kumimoji="0" sz="1400" b="0" i="0" u="none" strike="noStrike" kern="0" cap="none" spc="0" normalizeH="0" baseline="0" noProof="0">
                <a:ln>
                  <a:noFill/>
                </a:ln>
                <a:solidFill>
                  <a:srgbClr val="BC955C"/>
                </a:solidFill>
                <a:effectLst/>
                <a:uLnTx/>
                <a:uFillTx/>
                <a:latin typeface="Montserrat"/>
                <a:cs typeface="Arial"/>
                <a:sym typeface="Arial"/>
              </a:rPr>
              <a:t>260 en Hospitales, 5 en sede, 90 en UMF y 161 sustitutos</a:t>
            </a:r>
          </a:p>
        </p:txBody>
      </p:sp>
      <p:sp>
        <p:nvSpPr>
          <p:cNvPr id="5" name="TextBox 4"/>
          <p:cNvSpPr txBox="1"/>
          <p:nvPr/>
        </p:nvSpPr>
        <p:spPr>
          <a:xfrm>
            <a:off x="360000" y="1419945"/>
            <a:ext cx="3578224"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260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lang="es-MX" sz="2000" b="1" i="0" u="none" strike="noStrike" kern="0" cap="none" spc="0" normalizeH="0" baseline="0" noProof="0">
                <a:ln>
                  <a:noFill/>
                </a:ln>
                <a:solidFill>
                  <a:srgbClr val="BC955C"/>
                </a:solidFill>
                <a:effectLst/>
                <a:uLnTx/>
                <a:uFillTx/>
                <a:latin typeface="Montserrat"/>
                <a:cs typeface="Arial"/>
                <a:sym typeface="Arial"/>
              </a:rPr>
              <a:t> (1 de 8)</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92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12">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Angiología y Cirugía Vascular</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Gastroenterología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13</a:t>
                      </a:r>
                    </a:p>
                  </a:txBody>
                  <a:tcPr anchor="ctr">
                    <a:solidFill>
                      <a:srgbClr val="D3E9E7"/>
                    </a:solidFill>
                  </a:tcPr>
                </a:tc>
                <a:extLst>
                  <a:ext uri="{0D108BD9-81ED-4DB2-BD59-A6C34878D82A}">
                    <a16:rowId xmlns:a16="http://schemas.microsoft.com/office/drawing/2014/main" val="10012"/>
                  </a:ext>
                </a:extLst>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Subzona 33</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8</a:t>
                      </a:r>
                    </a:p>
                  </a:txBody>
                  <a:tcPr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360000" y="5156550"/>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Ginecología y Obstetricia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3960000" y="515655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Hospital General de Subzona C/MF 16</a:t>
                      </a:r>
                    </a:p>
                  </a:txBody>
                  <a:tcPr anchor="ctr">
                    <a:noFill/>
                  </a:tcPr>
                </a:tc>
                <a:tc>
                  <a:txBody>
                    <a:bodyPr/>
                    <a:lstStyle/>
                    <a:p>
                      <a:pPr algn="ctr">
                        <a:defRPr sz="800" b="0">
                          <a:solidFill>
                            <a:srgbClr val="000000"/>
                          </a:solidFill>
                          <a:latin typeface="Montserrat"/>
                        </a:defRPr>
                      </a:pPr>
                      <a:r>
                        <a:t>Cirugía General</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60000" y="6732000"/>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Subzona C/MF 19</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lang="es-MX"/>
                        <a:t>Pediatría</a:t>
                      </a:r>
                    </a:p>
                  </a:txBody>
                  <a:tcPr anchor="ct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3960000" y="6732000"/>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Subzona C/MF 26</a:t>
                      </a:r>
                    </a:p>
                  </a:txBody>
                  <a:tcPr anchor="ctr">
                    <a:noFill/>
                  </a:tcPr>
                </a:tc>
                <a:tc>
                  <a:txBody>
                    <a:bodyPr/>
                    <a:lstStyle/>
                    <a:p>
                      <a:pPr algn="ctr">
                        <a:defRPr sz="800" b="0">
                          <a:solidFill>
                            <a:srgbClr val="000000"/>
                          </a:solidFill>
                          <a:latin typeface="Montserrat"/>
                        </a:defRPr>
                      </a:pPr>
                      <a:r>
                        <a:t>Cirugía General</a:t>
                      </a:r>
                    </a:p>
                  </a:txBody>
                  <a:tcPr anchor="ct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nchor="ct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nchor="ct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50523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081545"/>
            <a:ext cx="3627916"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260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lang="es-MX" sz="2000" b="1" i="0" u="none" strike="noStrike" kern="0" cap="none" spc="0" normalizeH="0" baseline="0" noProof="0">
                <a:ln>
                  <a:noFill/>
                </a:ln>
                <a:solidFill>
                  <a:srgbClr val="BC955C"/>
                </a:solidFill>
                <a:effectLst/>
                <a:uLnTx/>
                <a:uFillTx/>
                <a:latin typeface="Montserrat"/>
                <a:cs typeface="Arial"/>
                <a:sym typeface="Arial"/>
              </a:rPr>
              <a:t>2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06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8">
                  <a:txBody>
                    <a:bodyPr/>
                    <a:lstStyle/>
                    <a:p>
                      <a:pPr algn="ctr">
                        <a:defRPr sz="800" b="1">
                          <a:solidFill>
                            <a:srgbClr val="000000"/>
                          </a:solidFill>
                          <a:latin typeface="Montserrat"/>
                        </a:defRPr>
                      </a:pPr>
                      <a:r>
                        <a:t>Hospital General de Subzona C/MF 33</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7"/>
                  </a:ext>
                </a:extLst>
              </a:tr>
              <a:tr h="216007">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13</a:t>
                      </a:r>
                    </a:p>
                  </a:txBody>
                  <a:tcPr anchor="ctr">
                    <a:solidFill>
                      <a:srgbClr val="D3E9E7"/>
                    </a:solidFill>
                  </a:tcP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Patología Clínica</a:t>
                      </a:r>
                    </a:p>
                  </a:txBody>
                  <a:tcPr anchor="ct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nvGraphicFramePr>
        <p:xfrm>
          <a:off x="360000" y="4233600"/>
          <a:ext cx="3456000" cy="216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Anatomía Patológica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Pediátrica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Psiquiatría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9</a:t>
                      </a:r>
                    </a:p>
                  </a:txBody>
                  <a:tcPr anchor="ctr">
                    <a:solidFill>
                      <a:srgbClr val="D3E9E7"/>
                    </a:solidFill>
                  </a:tcPr>
                </a:tc>
                <a:extLst>
                  <a:ext uri="{0D108BD9-81ED-4DB2-BD59-A6C34878D82A}">
                    <a16:rowId xmlns:a16="http://schemas.microsoft.com/office/drawing/2014/main" val="10009"/>
                  </a:ext>
                </a:extLst>
              </a:tr>
            </a:tbl>
          </a:graphicData>
        </a:graphic>
      </p:graphicFrame>
      <p:graphicFrame>
        <p:nvGraphicFramePr>
          <p:cNvPr id="10" name="Table 9"/>
          <p:cNvGraphicFramePr>
            <a:graphicFrameLocks noGrp="1"/>
          </p:cNvGraphicFramePr>
          <p:nvPr/>
        </p:nvGraphicFramePr>
        <p:xfrm>
          <a:off x="3960000" y="4233600"/>
          <a:ext cx="3456000" cy="2398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Ginecología y Obstetricia</a:t>
                      </a:r>
                    </a:p>
                  </a:txBody>
                  <a:tcPr anchor="ct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1" name="Table 10"/>
          <p:cNvGraphicFramePr>
            <a:graphicFrameLocks noGrp="1"/>
          </p:cNvGraphicFramePr>
          <p:nvPr/>
        </p:nvGraphicFramePr>
        <p:xfrm>
          <a:off x="360000" y="6897600"/>
          <a:ext cx="3456000" cy="2398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Medicina de Urgencias</a:t>
                      </a:r>
                    </a:p>
                  </a:txBody>
                  <a:tcPr anchor="ct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2" name="Table 11"/>
          <p:cNvGraphicFramePr>
            <a:graphicFrameLocks noGrp="1"/>
          </p:cNvGraphicFramePr>
          <p:nvPr/>
        </p:nvGraphicFramePr>
        <p:xfrm>
          <a:off x="3960000" y="6897600"/>
          <a:ext cx="3456000" cy="1631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Zona C/MF 28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lang="es-MX"/>
                        <a:t>Medicina del Trabajo y Ambiental</a:t>
                      </a:r>
                    </a:p>
                  </a:txBody>
                  <a:tcPr anchor="ct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00661"/>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a:t>
            </a:r>
            <a:r>
              <a:rPr kumimoji="0" sz="2000" b="1" i="0" u="none" strike="noStrike" kern="0" cap="none" spc="0" normalizeH="0" baseline="0" noProof="0" err="1">
                <a:ln>
                  <a:noFill/>
                </a:ln>
                <a:solidFill>
                  <a:srgbClr val="9F2241"/>
                </a:solidFill>
                <a:effectLst/>
                <a:uLnTx/>
                <a:uFillTx/>
                <a:latin typeface="Montserrat"/>
                <a:cs typeface="Arial"/>
                <a:sym typeface="Arial"/>
              </a:rPr>
              <a:t>especialistas</a:t>
            </a:r>
            <a:r>
              <a:rPr kumimoji="0" sz="2000" b="1" i="0" u="none" strike="noStrike" kern="0" cap="none" spc="0" normalizeH="0" baseline="0" noProof="0">
                <a:ln>
                  <a:noFill/>
                </a:ln>
                <a:solidFill>
                  <a:srgbClr val="9F2241"/>
                </a:solidFill>
                <a:effectLst/>
                <a:uLnTx/>
                <a:uFillTx/>
                <a:latin typeface="Montserrat"/>
                <a:cs typeface="Arial"/>
                <a:sym typeface="Arial"/>
              </a:rPr>
              <a:t> </a:t>
            </a:r>
            <a:r>
              <a:rPr kumimoji="0" sz="2000" b="1" i="0" u="none" strike="noStrike" kern="0" cap="none" spc="0" normalizeH="0" baseline="0" noProof="0" err="1">
                <a:ln>
                  <a:noFill/>
                </a:ln>
                <a:solidFill>
                  <a:srgbClr val="9F2241"/>
                </a:solidFill>
                <a:effectLst/>
                <a:uLnTx/>
                <a:uFillTx/>
                <a:latin typeface="Montserrat"/>
                <a:cs typeface="Arial"/>
                <a:sym typeface="Arial"/>
              </a:rPr>
              <a:t>contratados</a:t>
            </a:r>
            <a:r>
              <a:rPr kumimoji="0" sz="2000" b="1" i="0" u="none" strike="noStrike" kern="0" cap="none" spc="0" normalizeH="0" baseline="0" noProof="0">
                <a:ln>
                  <a:noFill/>
                </a:ln>
                <a:solidFill>
                  <a:srgbClr val="9F2241"/>
                </a:solidFill>
                <a:effectLst/>
                <a:uLnTx/>
                <a:uFillTx/>
                <a:latin typeface="Montserrat"/>
                <a:cs typeface="Arial"/>
                <a:sym typeface="Arial"/>
              </a:rPr>
              <a:t> </a:t>
            </a:r>
            <a:r>
              <a:rPr kumimoji="0" sz="2000" b="1" i="0" u="none" strike="noStrike" kern="0" cap="none" spc="0" normalizeH="0" baseline="0" noProof="0" err="1">
                <a:ln>
                  <a:noFill/>
                </a:ln>
                <a:solidFill>
                  <a:srgbClr val="9F2241"/>
                </a:solidFill>
                <a:effectLst/>
                <a:uLnTx/>
                <a:uFillTx/>
                <a:latin typeface="Montserrat"/>
                <a:cs typeface="Arial"/>
                <a:sym typeface="Arial"/>
              </a:rPr>
              <a:t>en</a:t>
            </a:r>
            <a:r>
              <a:rPr kumimoji="0" sz="2000" b="1" i="0" u="none" strike="noStrike" kern="0" cap="none" spc="0" normalizeH="0" baseline="0" noProof="0">
                <a:ln>
                  <a:noFill/>
                </a:ln>
                <a:solidFill>
                  <a:srgbClr val="9F2241"/>
                </a:solidFill>
                <a:effectLst/>
                <a:uLnTx/>
                <a:uFillTx/>
                <a:latin typeface="Montserrat"/>
                <a:cs typeface="Arial"/>
                <a:sym typeface="Arial"/>
              </a:rPr>
              <a:t> </a:t>
            </a:r>
            <a:r>
              <a:rPr kumimoji="0" sz="2000" b="1" i="0" u="none" strike="noStrike" kern="0" cap="none" spc="0" normalizeH="0" baseline="0" noProof="0" err="1">
                <a:ln>
                  <a:noFill/>
                </a:ln>
                <a:solidFill>
                  <a:srgbClr val="9F2241"/>
                </a:solidFill>
                <a:effectLst/>
                <a:uLnTx/>
                <a:uFillTx/>
                <a:latin typeface="Montserrat"/>
                <a:cs typeface="Arial"/>
                <a:sym typeface="Arial"/>
              </a:rPr>
              <a:t>el</a:t>
            </a:r>
            <a:r>
              <a:rPr kumimoji="0" sz="2000" b="1" i="0" u="none" strike="noStrike" kern="0" cap="none" spc="0" normalizeH="0" baseline="0" noProof="0">
                <a:ln>
                  <a:noFill/>
                </a:ln>
                <a:solidFill>
                  <a:srgbClr val="9F2241"/>
                </a:solidFill>
                <a:effectLst/>
                <a:uLnTx/>
                <a:uFillTx/>
                <a:latin typeface="Montserrat"/>
                <a:cs typeface="Arial"/>
                <a:sym typeface="Arial"/>
              </a:rPr>
              <a:t>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123634"/>
            <a:ext cx="3629520"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260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lang="es-MX" sz="2000" b="1" i="0" u="none" strike="noStrike" kern="0" cap="none" spc="0" normalizeH="0" baseline="0" noProof="0">
                <a:ln>
                  <a:noFill/>
                </a:ln>
                <a:solidFill>
                  <a:srgbClr val="BC955C"/>
                </a:solidFill>
                <a:effectLst/>
                <a:uLnTx/>
                <a:uFillTx/>
                <a:latin typeface="Montserrat"/>
                <a:cs typeface="Arial"/>
                <a:sym typeface="Arial"/>
              </a:rPr>
              <a:t>3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750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Zona C/MF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nchor="ct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8" name="Table 7"/>
          <p:cNvGraphicFramePr>
            <a:graphicFrameLocks noGrp="1"/>
          </p:cNvGraphicFramePr>
          <p:nvPr/>
        </p:nvGraphicFramePr>
        <p:xfrm>
          <a:off x="3960000" y="1569600"/>
          <a:ext cx="3456000" cy="249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0">
                  <a:txBody>
                    <a:bodyPr/>
                    <a:lstStyle/>
                    <a:p>
                      <a:pPr algn="ctr">
                        <a:defRPr sz="800" b="1">
                          <a:solidFill>
                            <a:srgbClr val="000000"/>
                          </a:solidFill>
                          <a:latin typeface="Montserrat"/>
                        </a:defRPr>
                      </a:pPr>
                      <a:r>
                        <a:t>Hospital General de Zona C/MF 35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lang="es-MX"/>
                        <a:t>Medicina del Trabajo y Ambiental</a:t>
                      </a:r>
                    </a:p>
                  </a:txBody>
                  <a:tcPr anchor="ct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nvGraphicFramePr>
        <p:xfrm>
          <a:off x="389520" y="4185239"/>
          <a:ext cx="3456000" cy="335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4">
                  <a:txBody>
                    <a:bodyPr/>
                    <a:lstStyle/>
                    <a:p>
                      <a:pPr algn="ctr">
                        <a:defRPr sz="800" b="1">
                          <a:solidFill>
                            <a:srgbClr val="000000"/>
                          </a:solidFill>
                          <a:latin typeface="Montserrat"/>
                        </a:defRPr>
                      </a:pPr>
                      <a:r>
                        <a:t>Hospital General de Zona C/MF 36</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Pediatría</a:t>
                      </a:r>
                    </a:p>
                  </a:txBody>
                  <a:tcPr anchor="ctr">
                    <a:solidFill>
                      <a:srgbClr val="F0F0F0"/>
                    </a:solidFill>
                  </a:tcPr>
                </a:tc>
                <a:tc>
                  <a:txBody>
                    <a:bodyPr/>
                    <a:lstStyle/>
                    <a:p>
                      <a:pPr algn="ctr">
                        <a:defRPr sz="800" b="0">
                          <a:solidFill>
                            <a:srgbClr val="000000"/>
                          </a:solidFill>
                          <a:latin typeface="Montserrat"/>
                        </a:defRPr>
                      </a:pPr>
                      <a:r>
                        <a:t>7</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extLst>
                  <a:ext uri="{0D108BD9-81ED-4DB2-BD59-A6C34878D82A}">
                    <a16:rowId xmlns:a16="http://schemas.microsoft.com/office/drawing/2014/main" val="10014"/>
                  </a:ext>
                </a:extLst>
              </a:tr>
            </a:tbl>
          </a:graphicData>
        </a:graphic>
      </p:graphicFrame>
      <p:graphicFrame>
        <p:nvGraphicFramePr>
          <p:cNvPr id="10" name="Table 9"/>
          <p:cNvGraphicFramePr>
            <a:graphicFrameLocks noGrp="1"/>
          </p:cNvGraphicFramePr>
          <p:nvPr/>
        </p:nvGraphicFramePr>
        <p:xfrm>
          <a:off x="3989520" y="4185239"/>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General de Zona C/MF 50</a:t>
                      </a:r>
                    </a:p>
                  </a:txBody>
                  <a:tcPr anchor="ctr">
                    <a:noFill/>
                  </a:tcPr>
                </a:tc>
                <a:tc>
                  <a:txBody>
                    <a:bodyPr/>
                    <a:lstStyle/>
                    <a:p>
                      <a:pPr algn="ctr">
                        <a:defRPr sz="800" b="0">
                          <a:solidFill>
                            <a:srgbClr val="000000"/>
                          </a:solidFill>
                          <a:latin typeface="Montserrat"/>
                        </a:defRPr>
                      </a:pPr>
                      <a:r>
                        <a:t>Ginecología y Obstetricia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6</a:t>
                      </a:r>
                    </a:p>
                  </a:txBody>
                  <a:tcPr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nvGraphicFramePr>
        <p:xfrm>
          <a:off x="360000" y="7926190"/>
          <a:ext cx="3456000" cy="647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Hospital Rural Chicontepec</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3989520" y="6057672"/>
          <a:ext cx="3456000" cy="1943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8">
                  <a:txBody>
                    <a:bodyPr/>
                    <a:lstStyle/>
                    <a:p>
                      <a:pPr algn="ctr">
                        <a:defRPr sz="800" b="1">
                          <a:solidFill>
                            <a:srgbClr val="000000"/>
                          </a:solidFill>
                          <a:latin typeface="Montserrat"/>
                        </a:defRPr>
                      </a:pPr>
                      <a:r>
                        <a:t>Hospital Rural Coscomatepec</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5</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nchor="ctr">
                    <a:solidFill>
                      <a:srgbClr val="F0F0F0"/>
                    </a:solidFill>
                  </a:tcPr>
                </a:tc>
                <a:tc>
                  <a:txBody>
                    <a:bodyPr/>
                    <a:lstStyle/>
                    <a:p>
                      <a:pPr algn="ctr">
                        <a:defRPr sz="800" b="0">
                          <a:solidFill>
                            <a:srgbClr val="000000"/>
                          </a:solidFill>
                          <a:latin typeface="Montserrat"/>
                        </a:defRPr>
                      </a:pPr>
                      <a:r>
                        <a:t>3</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nchor="ctr">
                    <a:solidFill>
                      <a:srgbClr val="FFFFFF"/>
                    </a:solidFill>
                  </a:tcPr>
                </a:tc>
                <a:tc>
                  <a:txBody>
                    <a:bodyPr/>
                    <a:lstStyle/>
                    <a:p>
                      <a:pPr algn="ctr">
                        <a:defRPr sz="800" b="0">
                          <a:solidFill>
                            <a:srgbClr val="000000"/>
                          </a:solidFill>
                          <a:latin typeface="Montserrat"/>
                        </a:defRPr>
                      </a:pPr>
                      <a:r>
                        <a:t>8</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5</a:t>
                      </a:r>
                    </a:p>
                  </a:txBody>
                  <a:tcPr anchor="ct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nchor="ctr">
                    <a:solidFill>
                      <a:srgbClr val="FFFFFF"/>
                    </a:solidFill>
                  </a:tcPr>
                </a:tc>
                <a:tc>
                  <a:txBody>
                    <a:bodyPr/>
                    <a:lstStyle/>
                    <a:p>
                      <a:pPr algn="ctr">
                        <a:defRPr sz="800" b="0">
                          <a:solidFill>
                            <a:srgbClr val="000000"/>
                          </a:solidFill>
                          <a:latin typeface="Montserrat"/>
                        </a:defRPr>
                      </a:pPr>
                      <a:r>
                        <a:t>5</a:t>
                      </a:r>
                    </a:p>
                  </a:txBody>
                  <a:tcPr anchor="ctr">
                    <a:solidFill>
                      <a:srgbClr val="FFFFFF"/>
                    </a:solidFill>
                  </a:tcPr>
                </a:tc>
                <a:extLst>
                  <a:ext uri="{0D108BD9-81ED-4DB2-BD59-A6C34878D82A}">
                    <a16:rowId xmlns:a16="http://schemas.microsoft.com/office/drawing/2014/main" val="10007"/>
                  </a:ext>
                </a:extLst>
              </a:tr>
              <a:tr h="216007">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30</a:t>
                      </a:r>
                    </a:p>
                  </a:txBody>
                  <a:tcPr anchor="ctr">
                    <a:solidFill>
                      <a:srgbClr val="D3E9E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081545"/>
            <a:ext cx="3653564"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260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Hospitales</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lang="es-MX" sz="2000" b="1" i="0" u="none" strike="noStrike" kern="0" cap="none" spc="0" normalizeH="0" baseline="0" noProof="0">
                <a:ln>
                  <a:noFill/>
                </a:ln>
                <a:solidFill>
                  <a:srgbClr val="BC955C"/>
                </a:solidFill>
                <a:effectLst/>
                <a:uLnTx/>
                <a:uFillTx/>
                <a:latin typeface="Montserrat"/>
                <a:cs typeface="Arial"/>
                <a:sym typeface="Arial"/>
              </a:rPr>
              <a:t>4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8">
                  <a:txBody>
                    <a:bodyPr/>
                    <a:lstStyle/>
                    <a:p>
                      <a:pPr algn="ctr">
                        <a:defRPr sz="800" b="1">
                          <a:solidFill>
                            <a:srgbClr val="000000"/>
                          </a:solidFill>
                          <a:latin typeface="Montserrat"/>
                        </a:defRPr>
                      </a:pPr>
                      <a:r>
                        <a:t>Hospital Rural Jáltipan</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nchor="ctr">
                    <a:solidFill>
                      <a:srgbClr val="F0F0F0"/>
                    </a:solidFill>
                  </a:tcPr>
                </a:tc>
                <a:tc>
                  <a:txBody>
                    <a:bodyPr/>
                    <a:lstStyle/>
                    <a:p>
                      <a:pPr algn="ctr">
                        <a:defRPr sz="800" b="0">
                          <a:solidFill>
                            <a:srgbClr val="000000"/>
                          </a:solidFill>
                          <a:latin typeface="Montserrat"/>
                        </a:defRPr>
                      </a:pPr>
                      <a:r>
                        <a:t>3</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5</a:t>
                      </a:r>
                    </a:p>
                  </a:txBody>
                  <a:tcPr anchor="ct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nchor="ctr">
                    <a:solidFill>
                      <a:srgbClr val="FFFFFF"/>
                    </a:solidFill>
                  </a:tcPr>
                </a:tc>
                <a:tc>
                  <a:txBody>
                    <a:bodyPr/>
                    <a:lstStyle/>
                    <a:p>
                      <a:pPr algn="ctr">
                        <a:defRPr sz="800" b="0">
                          <a:solidFill>
                            <a:srgbClr val="000000"/>
                          </a:solidFill>
                          <a:latin typeface="Montserrat"/>
                        </a:defRPr>
                      </a:pPr>
                      <a:r>
                        <a:t>4</a:t>
                      </a:r>
                    </a:p>
                  </a:txBody>
                  <a:tcPr anchor="ctr">
                    <a:solidFill>
                      <a:srgbClr val="FFFFFF"/>
                    </a:solidFill>
                  </a:tcPr>
                </a:tc>
                <a:extLst>
                  <a:ext uri="{0D108BD9-81ED-4DB2-BD59-A6C34878D82A}">
                    <a16:rowId xmlns:a16="http://schemas.microsoft.com/office/drawing/2014/main" val="10007"/>
                  </a:ext>
                </a:extLst>
              </a:tr>
              <a:tr h="216007">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22</a:t>
                      </a:r>
                    </a:p>
                  </a:txBody>
                  <a:tcPr anchor="ctr">
                    <a:solidFill>
                      <a:srgbClr val="D3E9E7"/>
                    </a:solidFill>
                  </a:tcP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Papantla</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5</a:t>
                      </a:r>
                    </a:p>
                  </a:txBody>
                  <a:tcPr anchor="ct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10</a:t>
                      </a:r>
                    </a:p>
                  </a:txBody>
                  <a:tcPr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nvGraphicFramePr>
        <p:xfrm>
          <a:off x="360000" y="3730350"/>
          <a:ext cx="3456000" cy="15093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03116">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Rural Plan Arroyos</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5</a:t>
                      </a:r>
                    </a:p>
                  </a:txBody>
                  <a:tcPr anchor="ct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11</a:t>
                      </a:r>
                    </a:p>
                  </a:txBody>
                  <a:tcPr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3960000" y="3441599"/>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Zongolica</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4</a:t>
                      </a:r>
                    </a:p>
                  </a:txBody>
                  <a:tcPr anchor="ct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8</a:t>
                      </a:r>
                    </a:p>
                  </a:txBody>
                  <a:tcPr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nvGraphicFramePr>
        <p:xfrm>
          <a:off x="360000" y="5456462"/>
          <a:ext cx="3456000" cy="3694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lang="es-MX"/>
                        <a:t>Especialidad</a:t>
                      </a: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Hospital de Especialidades 14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2" name="Table 11"/>
          <p:cNvGraphicFramePr>
            <a:graphicFrameLocks noGrp="1"/>
          </p:cNvGraphicFramePr>
          <p:nvPr/>
        </p:nvGraphicFramePr>
        <p:xfrm>
          <a:off x="3960000" y="5889599"/>
          <a:ext cx="3456000" cy="1943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8">
                  <a:txBody>
                    <a:bodyPr/>
                    <a:lstStyle/>
                    <a:p>
                      <a:pPr algn="ctr">
                        <a:defRPr sz="800" b="1">
                          <a:solidFill>
                            <a:srgbClr val="000000"/>
                          </a:solidFill>
                          <a:latin typeface="Montserrat"/>
                        </a:defRPr>
                      </a:pPr>
                      <a:r>
                        <a:t>Hospital de </a:t>
                      </a:r>
                      <a:r>
                        <a:rPr err="1"/>
                        <a:t>Especialidades</a:t>
                      </a:r>
                      <a:r>
                        <a:t> 14 (</a:t>
                      </a:r>
                      <a:r>
                        <a:rPr err="1"/>
                        <a:t>Parte</a:t>
                      </a:r>
                      <a:r>
                        <a:t> 2)</a:t>
                      </a:r>
                    </a:p>
                  </a:txBody>
                  <a:tcPr anchor="ctr">
                    <a:noFill/>
                  </a:tcPr>
                </a:tc>
                <a:tc>
                  <a:txBody>
                    <a:bodyPr/>
                    <a:lstStyle/>
                    <a:p>
                      <a:pPr algn="ctr">
                        <a:defRPr sz="800" b="0">
                          <a:solidFill>
                            <a:srgbClr val="000000"/>
                          </a:solidFill>
                          <a:latin typeface="Montserrat"/>
                        </a:defRPr>
                      </a:pPr>
                      <a:r>
                        <a:t>Neumología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Neumología Pediátrica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Oncología Médica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Reumatología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Servicios de Sangre</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Urología</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7"/>
                  </a:ext>
                </a:extLst>
              </a:tr>
              <a:tr h="216007">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30</a:t>
                      </a:r>
                    </a:p>
                  </a:txBody>
                  <a:tcPr anchor="ctr">
                    <a:solidFill>
                      <a:srgbClr val="D3E9E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360000" y="1081545"/>
            <a:ext cx="4347665"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5</a:t>
            </a:r>
            <a:r>
              <a:rPr kumimoji="0" lang="es-MX" sz="2000" b="1" i="0" u="none" strike="noStrike" kern="0" cap="none" spc="0" normalizeH="0" baseline="0" noProof="0">
                <a:ln>
                  <a:noFill/>
                </a:ln>
                <a:solidFill>
                  <a:srgbClr val="BC955C"/>
                </a:solidFill>
                <a:effectLst/>
                <a:uLnTx/>
                <a:uFillTx/>
                <a:latin typeface="Montserrat"/>
                <a:cs typeface="Arial"/>
                <a:sym typeface="Arial"/>
              </a:rPr>
              <a:t> 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Sede</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delegacional</a:t>
            </a:r>
            <a:r>
              <a:rPr kumimoji="0" lang="es-MX" sz="2000" b="1" i="0" u="none" strike="noStrike" kern="0" cap="none" spc="0" normalizeH="0" baseline="0" noProof="0">
                <a:ln>
                  <a:noFill/>
                </a:ln>
                <a:solidFill>
                  <a:srgbClr val="BC955C"/>
                </a:solidFill>
                <a:effectLst/>
                <a:uLnTx/>
                <a:uFillTx/>
                <a:latin typeface="Montserrat"/>
                <a:cs typeface="Arial"/>
                <a:sym typeface="Arial"/>
              </a:rPr>
              <a:t> (5 de 8)</a:t>
            </a:r>
            <a:endParaRPr kumimoji="0" sz="2000" b="1" i="0" u="none" strike="noStrike" kern="0" cap="none" spc="0" normalizeH="0" baseline="0" noProof="0">
              <a:ln>
                <a:noFill/>
              </a:ln>
              <a:solidFill>
                <a:srgbClr val="BC955C"/>
              </a:solidFill>
              <a:effectLst/>
              <a:uLnTx/>
              <a:uFillTx/>
              <a:latin typeface="Montserrat"/>
              <a:cs typeface="Arial"/>
              <a:sym typeface="Arial"/>
            </a:endParaRP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1841959" y="1578478"/>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nchor="ctr">
                    <a:solidFill>
                      <a:srgbClr val="D3E9E7"/>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360000" y="2851078"/>
            <a:ext cx="6840000" cy="36000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90 en Unidades de Medicina Familiar</a:t>
            </a:r>
          </a:p>
        </p:txBody>
      </p:sp>
      <p:cxnSp>
        <p:nvCxnSpPr>
          <p:cNvPr id="8" name="Connector 7"/>
          <p:cNvCxnSpPr/>
          <p:nvPr/>
        </p:nvCxnSpPr>
        <p:spPr>
          <a:xfrm>
            <a:off x="396000" y="3222537"/>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56400" y="34290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33948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60000" y="42947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Oncología Médica</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2" name="Table 11"/>
          <p:cNvGraphicFramePr>
            <a:graphicFrameLocks noGrp="1"/>
          </p:cNvGraphicFramePr>
          <p:nvPr/>
        </p:nvGraphicFramePr>
        <p:xfrm>
          <a:off x="3960000" y="42947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18</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360000" y="54467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nvGraphicFramePr>
        <p:xfrm>
          <a:off x="3960000" y="54467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nvGraphicFramePr>
        <p:xfrm>
          <a:off x="360000" y="63467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0">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rPr lang="es-MX"/>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3960000" y="63467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32</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nvGraphicFramePr>
        <p:xfrm>
          <a:off x="360000" y="7246796"/>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7</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9</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8" name="Table 17"/>
          <p:cNvGraphicFramePr>
            <a:graphicFrameLocks noGrp="1"/>
          </p:cNvGraphicFramePr>
          <p:nvPr/>
        </p:nvGraphicFramePr>
        <p:xfrm>
          <a:off x="3960000" y="7246796"/>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lang="es-MX"/>
                        <a:t>Especialidad</a:t>
                      </a: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9" name="Table 18"/>
          <p:cNvGraphicFramePr>
            <a:graphicFrameLocks noGrp="1"/>
          </p:cNvGraphicFramePr>
          <p:nvPr/>
        </p:nvGraphicFramePr>
        <p:xfrm>
          <a:off x="360000" y="8398795"/>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20" name="Table 19"/>
          <p:cNvGraphicFramePr>
            <a:graphicFrameLocks noGrp="1"/>
          </p:cNvGraphicFramePr>
          <p:nvPr/>
        </p:nvGraphicFramePr>
        <p:xfrm>
          <a:off x="3960000" y="8398795"/>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39</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081545"/>
            <a:ext cx="6224781"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90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Unidades</a:t>
            </a:r>
            <a:r>
              <a:rPr kumimoji="0" sz="2000" b="1" i="0" u="none" strike="noStrike" kern="0" cap="none" spc="0" normalizeH="0" baseline="0" noProof="0">
                <a:ln>
                  <a:noFill/>
                </a:ln>
                <a:solidFill>
                  <a:srgbClr val="BC955C"/>
                </a:solidFill>
                <a:effectLst/>
                <a:uLnTx/>
                <a:uFillTx/>
                <a:latin typeface="Montserrat"/>
                <a:cs typeface="Arial"/>
                <a:sym typeface="Arial"/>
              </a:rPr>
              <a:t> de Medicina Familiar (</a:t>
            </a:r>
            <a:r>
              <a:rPr kumimoji="0" lang="es-MX" sz="2000" b="1" i="0" u="none" strike="noStrike" kern="0" cap="none" spc="0" normalizeH="0" baseline="0" noProof="0">
                <a:ln>
                  <a:noFill/>
                </a:ln>
                <a:solidFill>
                  <a:srgbClr val="BC955C"/>
                </a:solidFill>
                <a:effectLst/>
                <a:uLnTx/>
                <a:uFillTx/>
                <a:latin typeface="Montserrat"/>
                <a:cs typeface="Arial"/>
                <a:sym typeface="Arial"/>
              </a:rPr>
              <a:t>6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360000" y="27215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46</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47</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lang="es-MX"/>
                        <a:t>Medicina de Urgencias</a:t>
                      </a:r>
                    </a:p>
                  </a:txBody>
                  <a:tcPr anchor="ct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2" name="Table 11"/>
          <p:cNvGraphicFramePr>
            <a:graphicFrameLocks noGrp="1"/>
          </p:cNvGraphicFramePr>
          <p:nvPr/>
        </p:nvGraphicFramePr>
        <p:xfrm>
          <a:off x="3960000" y="3873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de Urgencias</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nvGraphicFramePr>
        <p:xfrm>
          <a:off x="360000" y="5025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51</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nvGraphicFramePr>
        <p:xfrm>
          <a:off x="3960000" y="5025597"/>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5" name="Table 14"/>
          <p:cNvGraphicFramePr>
            <a:graphicFrameLocks noGrp="1"/>
          </p:cNvGraphicFramePr>
          <p:nvPr/>
        </p:nvGraphicFramePr>
        <p:xfrm>
          <a:off x="360000" y="6429597"/>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53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6" name="Table 15"/>
          <p:cNvGraphicFramePr>
            <a:graphicFrameLocks noGrp="1"/>
          </p:cNvGraphicFramePr>
          <p:nvPr/>
        </p:nvGraphicFramePr>
        <p:xfrm>
          <a:off x="3960000" y="6429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nvGraphicFramePr>
        <p:xfrm>
          <a:off x="360000" y="7581596"/>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8" name="Table 17"/>
          <p:cNvGraphicFramePr>
            <a:graphicFrameLocks noGrp="1"/>
          </p:cNvGraphicFramePr>
          <p:nvPr/>
        </p:nvGraphicFramePr>
        <p:xfrm>
          <a:off x="3960000" y="7581596"/>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59</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081545"/>
            <a:ext cx="6219972"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90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Unidades</a:t>
            </a:r>
            <a:r>
              <a:rPr kumimoji="0" sz="2000" b="1" i="0" u="none" strike="noStrike" kern="0" cap="none" spc="0" normalizeH="0" baseline="0" noProof="0">
                <a:ln>
                  <a:noFill/>
                </a:ln>
                <a:solidFill>
                  <a:srgbClr val="BC955C"/>
                </a:solidFill>
                <a:effectLst/>
                <a:uLnTx/>
                <a:uFillTx/>
                <a:latin typeface="Montserrat"/>
                <a:cs typeface="Arial"/>
                <a:sym typeface="Arial"/>
              </a:rPr>
              <a:t> de Medicina Familiar (</a:t>
            </a:r>
            <a:r>
              <a:rPr kumimoji="0" lang="es-MX" sz="2000" b="1" i="0" u="none" strike="noStrike" kern="0" cap="none" spc="0" normalizeH="0" baseline="0" noProof="0">
                <a:ln>
                  <a:noFill/>
                </a:ln>
                <a:solidFill>
                  <a:srgbClr val="BC955C"/>
                </a:solidFill>
                <a:effectLst/>
                <a:uLnTx/>
                <a:uFillTx/>
                <a:latin typeface="Montserrat"/>
                <a:cs typeface="Arial"/>
                <a:sym typeface="Arial"/>
              </a:rPr>
              <a:t>7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3960000" y="1569600"/>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nvGraphicFramePr>
        <p:xfrm>
          <a:off x="360000" y="32255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nvGraphicFramePr>
        <p:xfrm>
          <a:off x="3960000" y="32255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nvGraphicFramePr>
        <p:xfrm>
          <a:off x="360000" y="4377598"/>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4</a:t>
                      </a:r>
                    </a:p>
                  </a:txBody>
                  <a:tcPr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3960000" y="4377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3" name="Table 12"/>
          <p:cNvGraphicFramePr>
            <a:graphicFrameLocks noGrp="1"/>
          </p:cNvGraphicFramePr>
          <p:nvPr/>
        </p:nvGraphicFramePr>
        <p:xfrm>
          <a:off x="360000" y="5781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3</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nvGraphicFramePr>
        <p:xfrm>
          <a:off x="3960000" y="5781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a:t>
                      </a:r>
                      <a:r>
                        <a:rPr err="1"/>
                        <a:t>Urgencias</a:t>
                      </a:r>
                      <a:endParaRP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5" name="Table 14"/>
          <p:cNvGraphicFramePr>
            <a:graphicFrameLocks noGrp="1"/>
          </p:cNvGraphicFramePr>
          <p:nvPr/>
        </p:nvGraphicFramePr>
        <p:xfrm>
          <a:off x="360000" y="6933597"/>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39</a:t>
                      </a:r>
                    </a:p>
                  </a:txBody>
                  <a:tcPr anchor="ctr">
                    <a:noFill/>
                  </a:tcPr>
                </a:tc>
                <a:tc>
                  <a:txBody>
                    <a:bodyPr/>
                    <a:lstStyle/>
                    <a:p>
                      <a:pPr algn="ctr">
                        <a:defRPr sz="800" b="0">
                          <a:solidFill>
                            <a:srgbClr val="000000"/>
                          </a:solidFill>
                          <a:latin typeface="Montserrat"/>
                        </a:defRPr>
                      </a:pPr>
                      <a:r>
                        <a:t>Medicina de </a:t>
                      </a:r>
                      <a:r>
                        <a:rPr err="1"/>
                        <a:t>Urgencias</a:t>
                      </a:r>
                      <a:endParaRP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3960000" y="6933597"/>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C/hosp 43</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a:t>
                      </a:r>
                      <a:r>
                        <a:rPr err="1"/>
                        <a:t>Urgencias</a:t>
                      </a:r>
                      <a:endParaRPr/>
                    </a:p>
                  </a:txBody>
                  <a:tcPr anchor="ctr">
                    <a:solidFill>
                      <a:srgbClr val="F0F0F0"/>
                    </a:solidFill>
                  </a:tcPr>
                </a:tc>
                <a:tc>
                  <a:txBody>
                    <a:bodyPr/>
                    <a:lstStyle/>
                    <a:p>
                      <a:pPr algn="ctr">
                        <a:defRPr sz="800" b="0">
                          <a:solidFill>
                            <a:srgbClr val="000000"/>
                          </a:solidFill>
                          <a:latin typeface="Montserrat"/>
                        </a:defRPr>
                      </a:pPr>
                      <a:r>
                        <a:t>2</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3</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nvGraphicFramePr>
        <p:xfrm>
          <a:off x="360000" y="8085596"/>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44</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nvGraphicFramePr>
        <p:xfrm>
          <a:off x="3960000" y="8085596"/>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46</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3" name="TextBox 2"/>
          <p:cNvSpPr txBox="1"/>
          <p:nvPr/>
        </p:nvSpPr>
        <p:spPr>
          <a:xfrm>
            <a:off x="0" y="684000"/>
            <a:ext cx="7772400" cy="3096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b="1">
                <a:solidFill>
                  <a:srgbClr val="9F2241"/>
                </a:solidFill>
                <a:latin typeface="Montserrat"/>
              </a:defRPr>
            </a:pPr>
            <a:r>
              <a:rPr kumimoji="0" sz="2000" b="1" i="0" u="none" strike="noStrike" kern="0" cap="none" spc="0" normalizeH="0" baseline="0" noProof="0">
                <a:ln>
                  <a:noFill/>
                </a:ln>
                <a:solidFill>
                  <a:srgbClr val="9F2241"/>
                </a:solidFill>
                <a:effectLst/>
                <a:uLnTx/>
                <a:uFillTx/>
                <a:latin typeface="Montserrat"/>
                <a:cs typeface="Arial"/>
                <a:sym typeface="Arial"/>
              </a:rP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2000">
                <a:solidFill>
                  <a:srgbClr val="FFFFFF"/>
                </a:solidFill>
                <a:latin typeface="Montserrat"/>
              </a:defRPr>
            </a:pPr>
            <a:r>
              <a:rPr kumimoji="0" sz="2000" b="0" i="0" u="none" strike="noStrike" kern="0" cap="none" spc="0" normalizeH="0" baseline="0" noProof="0">
                <a:ln>
                  <a:noFill/>
                </a:ln>
                <a:solidFill>
                  <a:srgbClr val="FFFFFF"/>
                </a:solidFill>
                <a:effectLst/>
                <a:uLnTx/>
                <a:uFillTx/>
                <a:latin typeface="Montserrat"/>
                <a:cs typeface="Arial"/>
                <a:sym typeface="Arial"/>
              </a:rPr>
              <a:t>VERACRUZ</a:t>
            </a:r>
          </a:p>
        </p:txBody>
      </p:sp>
      <p:sp>
        <p:nvSpPr>
          <p:cNvPr id="5" name="TextBox 4"/>
          <p:cNvSpPr txBox="1"/>
          <p:nvPr/>
        </p:nvSpPr>
        <p:spPr>
          <a:xfrm>
            <a:off x="360000" y="1081545"/>
            <a:ext cx="6231193" cy="40011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90 </a:t>
            </a:r>
            <a:r>
              <a:rPr kumimoji="0" sz="2000" b="1" i="0" u="none" strike="noStrike" kern="0" cap="none" spc="0" normalizeH="0" baseline="0" noProof="0" err="1">
                <a:ln>
                  <a:noFill/>
                </a:ln>
                <a:solidFill>
                  <a:srgbClr val="BC955C"/>
                </a:solidFill>
                <a:effectLst/>
                <a:uLnTx/>
                <a:uFillTx/>
                <a:latin typeface="Montserrat"/>
                <a:cs typeface="Arial"/>
                <a:sym typeface="Arial"/>
              </a:rPr>
              <a:t>en</a:t>
            </a:r>
            <a:r>
              <a:rPr kumimoji="0" sz="2000" b="1" i="0" u="none" strike="noStrike" kern="0" cap="none" spc="0" normalizeH="0" baseline="0" noProof="0">
                <a:ln>
                  <a:noFill/>
                </a:ln>
                <a:solidFill>
                  <a:srgbClr val="BC955C"/>
                </a:solidFill>
                <a:effectLst/>
                <a:uLnTx/>
                <a:uFillTx/>
                <a:latin typeface="Montserrat"/>
                <a:cs typeface="Arial"/>
                <a:sym typeface="Arial"/>
              </a:rPr>
              <a:t> </a:t>
            </a:r>
            <a:r>
              <a:rPr kumimoji="0" sz="2000" b="1" i="0" u="none" strike="noStrike" kern="0" cap="none" spc="0" normalizeH="0" baseline="0" noProof="0" err="1">
                <a:ln>
                  <a:noFill/>
                </a:ln>
                <a:solidFill>
                  <a:srgbClr val="BC955C"/>
                </a:solidFill>
                <a:effectLst/>
                <a:uLnTx/>
                <a:uFillTx/>
                <a:latin typeface="Montserrat"/>
                <a:cs typeface="Arial"/>
                <a:sym typeface="Arial"/>
              </a:rPr>
              <a:t>Unidades</a:t>
            </a:r>
            <a:r>
              <a:rPr kumimoji="0" sz="2000" b="1" i="0" u="none" strike="noStrike" kern="0" cap="none" spc="0" normalizeH="0" baseline="0" noProof="0">
                <a:ln>
                  <a:noFill/>
                </a:ln>
                <a:solidFill>
                  <a:srgbClr val="BC955C"/>
                </a:solidFill>
                <a:effectLst/>
                <a:uLnTx/>
                <a:uFillTx/>
                <a:latin typeface="Montserrat"/>
                <a:cs typeface="Arial"/>
                <a:sym typeface="Arial"/>
              </a:rPr>
              <a:t> de Medicina Familiar (</a:t>
            </a:r>
            <a:r>
              <a:rPr kumimoji="0" lang="es-MX" sz="2000" b="1" i="0" u="none" strike="noStrike" kern="0" cap="none" spc="0" normalizeH="0" baseline="0" noProof="0">
                <a:ln>
                  <a:noFill/>
                </a:ln>
                <a:solidFill>
                  <a:srgbClr val="BC955C"/>
                </a:solidFill>
                <a:effectLst/>
                <a:uLnTx/>
                <a:uFillTx/>
                <a:latin typeface="Montserrat"/>
                <a:cs typeface="Arial"/>
                <a:sym typeface="Arial"/>
              </a:rPr>
              <a:t>8 de 8</a:t>
            </a:r>
            <a:r>
              <a:rPr kumimoji="0" sz="2000" b="1" i="0" u="none" strike="noStrike" kern="0" cap="none" spc="0" normalizeH="0" baseline="0" noProof="0">
                <a:ln>
                  <a:noFill/>
                </a:ln>
                <a:solidFill>
                  <a:srgbClr val="BC955C"/>
                </a:solidFill>
                <a:effectLst/>
                <a:uLnTx/>
                <a:uFillTx/>
                <a:latin typeface="Montserrat"/>
                <a:cs typeface="Arial"/>
                <a:sym typeface="Arial"/>
              </a:rP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C/hosp 47</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a:t>
                      </a:r>
                      <a:r>
                        <a:rPr err="1"/>
                        <a:t>Urgencias</a:t>
                      </a:r>
                      <a:endParaRP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3960000" y="156960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50</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nvGraphicFramePr>
        <p:xfrm>
          <a:off x="360000" y="2721599"/>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rPr err="1"/>
                        <a:t>Especialidad</a:t>
                      </a:r>
                      <a:endParaRP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C/hosp 51</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1</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C/hosp 56</a:t>
                      </a:r>
                    </a:p>
                  </a:txBody>
                  <a:tcPr anchor="ctr">
                    <a:noFill/>
                  </a:tcPr>
                </a:tc>
                <a:tc>
                  <a:txBody>
                    <a:bodyPr/>
                    <a:lstStyle/>
                    <a:p>
                      <a:pPr algn="ctr">
                        <a:defRPr sz="800" b="0">
                          <a:solidFill>
                            <a:srgbClr val="000000"/>
                          </a:solidFill>
                          <a:latin typeface="Montserrat"/>
                        </a:defRPr>
                      </a:pPr>
                      <a:r>
                        <a:t>Medicina Familiar</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a:t>
                      </a:r>
                      <a:r>
                        <a:rPr err="1"/>
                        <a:t>Urgencias</a:t>
                      </a:r>
                      <a:endParaRPr/>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t>2</a:t>
                      </a:r>
                    </a:p>
                  </a:txBody>
                  <a:tcPr anchor="ctr">
                    <a:solidFill>
                      <a:srgbClr val="D3E9E7"/>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360000" y="4053598"/>
            <a:ext cx="6840000" cy="360000"/>
          </a:xfrm>
          <a:prstGeom prst="rect">
            <a:avLst/>
          </a:prstGeom>
          <a:noFill/>
        </p:spPr>
        <p:txBody>
          <a:bodyPr wrap="none" anchor="ct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2000" b="1">
                <a:solidFill>
                  <a:srgbClr val="BC955C"/>
                </a:solidFill>
                <a:latin typeface="Montserrat"/>
              </a:defRPr>
            </a:pPr>
            <a:r>
              <a:rPr kumimoji="0" sz="2000" b="1" i="0" u="none" strike="noStrike" kern="0" cap="none" spc="0" normalizeH="0" baseline="0" noProof="0">
                <a:ln>
                  <a:noFill/>
                </a:ln>
                <a:solidFill>
                  <a:srgbClr val="BC955C"/>
                </a:solidFill>
                <a:effectLst/>
                <a:uLnTx/>
                <a:uFillTx/>
                <a:latin typeface="Montserrat"/>
                <a:cs typeface="Arial"/>
                <a:sym typeface="Arial"/>
              </a:rPr>
              <a:t>161 especialistas (sustitutos)</a:t>
            </a:r>
          </a:p>
        </p:txBody>
      </p:sp>
      <p:cxnSp>
        <p:nvCxnSpPr>
          <p:cNvPr id="12" name="Connector 11"/>
          <p:cNvCxnSpPr/>
          <p:nvPr/>
        </p:nvCxnSpPr>
        <p:spPr>
          <a:xfrm>
            <a:off x="360000" y="4449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4521598"/>
          <a:ext cx="3456000" cy="3694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30</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10</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23</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4" name="Table 13"/>
          <p:cNvGraphicFramePr>
            <a:graphicFrameLocks noGrp="1"/>
          </p:cNvGraphicFramePr>
          <p:nvPr/>
        </p:nvGraphicFramePr>
        <p:xfrm>
          <a:off x="3960000" y="4521598"/>
          <a:ext cx="3456000" cy="381384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161</a:t>
                      </a:r>
                    </a:p>
                  </a:txBody>
                  <a:tcPr>
                    <a:solidFill>
                      <a:srgbClr val="D3E9E7"/>
                    </a:solidFill>
                  </a:tcPr>
                </a:tc>
                <a:extLst>
                  <a:ext uri="{0D108BD9-81ED-4DB2-BD59-A6C34878D82A}">
                    <a16:rowId xmlns:a16="http://schemas.microsoft.com/office/drawing/2014/main" val="10015"/>
                  </a:ext>
                </a:extLst>
              </a:tr>
            </a:tbl>
          </a:graphicData>
        </a:graphic>
      </p:graphicFrame>
      <p:sp>
        <p:nvSpPr>
          <p:cNvPr id="15" name="TextBox 14"/>
          <p:cNvSpPr txBox="1"/>
          <p:nvPr/>
        </p:nvSpPr>
        <p:spPr>
          <a:xfrm>
            <a:off x="494591" y="8706855"/>
            <a:ext cx="7200000" cy="5400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000">
                <a:solidFill>
                  <a:srgbClr val="000000"/>
                </a:solidFill>
                <a:latin typeface="Montserrat"/>
              </a:defRPr>
            </a:pPr>
            <a:r>
              <a:rPr kumimoji="0" sz="1000" b="0" i="0" u="none" strike="noStrike" kern="0" cap="none" spc="0" normalizeH="0" baseline="0" noProof="0" err="1">
                <a:ln>
                  <a:noFill/>
                </a:ln>
                <a:solidFill>
                  <a:srgbClr val="000000"/>
                </a:solidFill>
                <a:effectLst/>
                <a:uLnTx/>
                <a:uFillTx/>
                <a:latin typeface="Montserrat"/>
                <a:cs typeface="Arial"/>
                <a:sym typeface="Arial"/>
              </a:rPr>
              <a:t>Sustitutos</a:t>
            </a:r>
            <a:r>
              <a:rPr kumimoji="0" sz="1000" b="0" i="0" u="none" strike="noStrike" kern="0" cap="none" spc="0" normalizeH="0" baseline="0" noProof="0">
                <a:ln>
                  <a:noFill/>
                </a:ln>
                <a:solidFill>
                  <a:srgbClr val="000000"/>
                </a:solidFill>
                <a:effectLst/>
                <a:uLnTx/>
                <a:uFillTx/>
                <a:latin typeface="Montserrat"/>
                <a:cs typeface="Arial"/>
                <a:sym typeface="Arial"/>
              </a:rPr>
              <a:t> se </a:t>
            </a:r>
            <a:r>
              <a:rPr kumimoji="0" sz="1000" b="0" i="0" u="none" strike="noStrike" kern="0" cap="none" spc="0" normalizeH="0" baseline="0" noProof="0" err="1">
                <a:ln>
                  <a:noFill/>
                </a:ln>
                <a:solidFill>
                  <a:srgbClr val="000000"/>
                </a:solidFill>
                <a:effectLst/>
                <a:uLnTx/>
                <a:uFillTx/>
                <a:latin typeface="Montserrat"/>
                <a:cs typeface="Arial"/>
                <a:sym typeface="Arial"/>
              </a:rPr>
              <a:t>integran</a:t>
            </a:r>
            <a:r>
              <a:rPr kumimoji="0" sz="1000" b="0" i="0" u="none" strike="noStrike" kern="0" cap="none" spc="0" normalizeH="0" baseline="0" noProof="0">
                <a:ln>
                  <a:noFill/>
                </a:ln>
                <a:solidFill>
                  <a:srgbClr val="000000"/>
                </a:solidFill>
                <a:effectLst/>
                <a:uLnTx/>
                <a:uFillTx/>
                <a:latin typeface="Montserrat"/>
                <a:cs typeface="Arial"/>
                <a:sym typeface="Arial"/>
              </a:rPr>
              <a:t> a </a:t>
            </a:r>
            <a:r>
              <a:rPr kumimoji="0" sz="1000" b="0" i="0" u="none" strike="noStrike" kern="0" cap="none" spc="0" normalizeH="0" baseline="0" noProof="0" err="1">
                <a:ln>
                  <a:noFill/>
                </a:ln>
                <a:solidFill>
                  <a:srgbClr val="000000"/>
                </a:solidFill>
                <a:effectLst/>
                <a:uLnTx/>
                <a:uFillTx/>
                <a:latin typeface="Montserrat"/>
                <a:cs typeface="Arial"/>
                <a:sym typeface="Arial"/>
              </a:rPr>
              <a:t>los</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Listados</a:t>
            </a:r>
            <a:r>
              <a:rPr kumimoji="0" sz="1000" b="0" i="0" u="none" strike="noStrike" kern="0" cap="none" spc="0" normalizeH="0" baseline="0" noProof="0">
                <a:ln>
                  <a:noFill/>
                </a:ln>
                <a:solidFill>
                  <a:srgbClr val="000000"/>
                </a:solidFill>
                <a:effectLst/>
                <a:uLnTx/>
                <a:uFillTx/>
                <a:latin typeface="Montserrat"/>
                <a:cs typeface="Arial"/>
                <a:sym typeface="Arial"/>
              </a:rPr>
              <a:t> de Bolsa de </a:t>
            </a:r>
            <a:r>
              <a:rPr kumimoji="0" sz="1000" b="0" i="0" u="none" strike="noStrike" kern="0" cap="none" spc="0" normalizeH="0" baseline="0" noProof="0" err="1">
                <a:ln>
                  <a:noFill/>
                </a:ln>
                <a:solidFill>
                  <a:srgbClr val="000000"/>
                </a:solidFill>
                <a:effectLst/>
                <a:uLnTx/>
                <a:uFillTx/>
                <a:latin typeface="Montserrat"/>
                <a:cs typeface="Arial"/>
                <a:sym typeface="Arial"/>
              </a:rPr>
              <a:t>Trabajo</a:t>
            </a:r>
            <a:r>
              <a:rPr kumimoji="0" sz="1000" b="0" i="0" u="none" strike="noStrike" kern="0" cap="none" spc="0" normalizeH="0" baseline="0" noProof="0">
                <a:ln>
                  <a:noFill/>
                </a:ln>
                <a:solidFill>
                  <a:srgbClr val="000000"/>
                </a:solidFill>
                <a:effectLst/>
                <a:uLnTx/>
                <a:uFillTx/>
                <a:latin typeface="Montserrat"/>
                <a:cs typeface="Arial"/>
                <a:sym typeface="Arial"/>
              </a:rPr>
              <a:t>, para </a:t>
            </a:r>
            <a:r>
              <a:rPr kumimoji="0" sz="1000" b="0" i="0" u="none" strike="noStrike" kern="0" cap="none" spc="0" normalizeH="0" baseline="0" noProof="0" err="1">
                <a:ln>
                  <a:noFill/>
                </a:ln>
                <a:solidFill>
                  <a:srgbClr val="000000"/>
                </a:solidFill>
                <a:effectLst/>
                <a:uLnTx/>
                <a:uFillTx/>
                <a:latin typeface="Montserrat"/>
                <a:cs typeface="Arial"/>
                <a:sym typeface="Arial"/>
              </a:rPr>
              <a:t>cubrir</a:t>
            </a:r>
            <a:r>
              <a:rPr kumimoji="0" sz="1000" b="0" i="0" u="none" strike="noStrike" kern="0" cap="none" spc="0" normalizeH="0" baseline="0" noProof="0">
                <a:ln>
                  <a:noFill/>
                </a:ln>
                <a:solidFill>
                  <a:srgbClr val="000000"/>
                </a:solidFill>
                <a:effectLst/>
                <a:uLnTx/>
                <a:uFillTx/>
                <a:latin typeface="Montserrat"/>
                <a:cs typeface="Arial"/>
                <a:sym typeface="Arial"/>
              </a:rPr>
              <a:t> las </a:t>
            </a:r>
            <a:r>
              <a:rPr kumimoji="0" sz="1000" b="0" i="0" u="none" strike="noStrike" kern="0" cap="none" spc="0" normalizeH="0" baseline="0" noProof="0" err="1">
                <a:ln>
                  <a:noFill/>
                </a:ln>
                <a:solidFill>
                  <a:srgbClr val="000000"/>
                </a:solidFill>
                <a:effectLst/>
                <a:uLnTx/>
                <a:uFillTx/>
                <a:latin typeface="Montserrat"/>
                <a:cs typeface="Arial"/>
                <a:sym typeface="Arial"/>
              </a:rPr>
              <a:t>futuras</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vacantes</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por</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jubilación</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renuncia</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fallecimiento</a:t>
            </a:r>
            <a:r>
              <a:rPr kumimoji="0" sz="1000" b="0" i="0" u="none" strike="noStrike" kern="0" cap="none" spc="0" normalizeH="0" baseline="0" noProof="0">
                <a:ln>
                  <a:noFill/>
                </a:ln>
                <a:solidFill>
                  <a:srgbClr val="000000"/>
                </a:solidFill>
                <a:effectLst/>
                <a:uLnTx/>
                <a:uFillTx/>
                <a:latin typeface="Montserrat"/>
                <a:cs typeface="Arial"/>
                <a:sym typeface="Arial"/>
              </a:rPr>
              <a:t>, etc., </a:t>
            </a:r>
            <a:r>
              <a:rPr kumimoji="0" sz="1000" b="0" i="0" u="none" strike="noStrike" kern="0" cap="none" spc="0" normalizeH="0" baseline="0" noProof="0" err="1">
                <a:ln>
                  <a:noFill/>
                </a:ln>
                <a:solidFill>
                  <a:srgbClr val="000000"/>
                </a:solidFill>
                <a:effectLst/>
                <a:uLnTx/>
                <a:uFillTx/>
                <a:latin typeface="Montserrat"/>
                <a:cs typeface="Arial"/>
                <a:sym typeface="Arial"/>
              </a:rPr>
              <a:t>así</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como</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ausentismo</a:t>
            </a:r>
            <a:r>
              <a:rPr kumimoji="0" sz="1000" b="0" i="0" u="none" strike="noStrike" kern="0" cap="none" spc="0" normalizeH="0" baseline="0" noProof="0">
                <a:ln>
                  <a:noFill/>
                </a:ln>
                <a:solidFill>
                  <a:srgbClr val="000000"/>
                </a:solidFill>
                <a:effectLst/>
                <a:uLnTx/>
                <a:uFillTx/>
                <a:latin typeface="Montserrat"/>
                <a:cs typeface="Arial"/>
                <a:sym typeface="Arial"/>
              </a:rPr>
              <a:t> </a:t>
            </a:r>
            <a:r>
              <a:rPr kumimoji="0" sz="1000" b="0" i="0" u="none" strike="noStrike" kern="0" cap="none" spc="0" normalizeH="0" baseline="0" noProof="0" err="1">
                <a:ln>
                  <a:noFill/>
                </a:ln>
                <a:solidFill>
                  <a:srgbClr val="000000"/>
                </a:solidFill>
                <a:effectLst/>
                <a:uLnTx/>
                <a:uFillTx/>
                <a:latin typeface="Montserrat"/>
                <a:cs typeface="Arial"/>
                <a:sym typeface="Arial"/>
              </a:rPr>
              <a:t>programado</a:t>
            </a:r>
            <a:r>
              <a:rPr kumimoji="0" sz="1000" b="0" i="0" u="none" strike="noStrike" kern="0" cap="none" spc="0" normalizeH="0" baseline="0" noProof="0">
                <a:ln>
                  <a:noFill/>
                </a:ln>
                <a:solidFill>
                  <a:srgbClr val="000000"/>
                </a:solidFill>
                <a:effectLst/>
                <a:uLnTx/>
                <a:uFillTx/>
                <a:latin typeface="Montserrat"/>
                <a:cs typeface="Arial"/>
                <a:sym typeface="Arial"/>
              </a:rPr>
              <a:t> y no </a:t>
            </a:r>
            <a:r>
              <a:rPr kumimoji="0" sz="1000" b="0" i="0" u="none" strike="noStrike" kern="0" cap="none" spc="0" normalizeH="0" baseline="0" noProof="0" err="1">
                <a:ln>
                  <a:noFill/>
                </a:ln>
                <a:solidFill>
                  <a:srgbClr val="000000"/>
                </a:solidFill>
                <a:effectLst/>
                <a:uLnTx/>
                <a:uFillTx/>
                <a:latin typeface="Montserrat"/>
                <a:cs typeface="Arial"/>
                <a:sym typeface="Arial"/>
              </a:rPr>
              <a:t>programado</a:t>
            </a:r>
            <a:r>
              <a:rPr kumimoji="0" sz="1000" b="0" i="0" u="none" strike="noStrike" kern="0" cap="none" spc="0" normalizeH="0" baseline="0" noProof="0">
                <a:ln>
                  <a:noFill/>
                </a:ln>
                <a:solidFill>
                  <a:srgbClr val="000000"/>
                </a:solidFill>
                <a:effectLst/>
                <a:uLnTx/>
                <a:uFillTx/>
                <a:latin typeface="Montserrat"/>
                <a:cs typeface="Arial"/>
                <a:sym typeface="Arial"/>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57951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a:t>
            </a:r>
            <a:r>
              <a:rPr dirty="0" err="1"/>
              <a:t>por</a:t>
            </a:r>
            <a:r>
              <a:rPr dirty="0"/>
              <a:t> </a:t>
            </a:r>
            <a:r>
              <a:rPr dirty="0" err="1"/>
              <a:t>especialidad</a:t>
            </a:r>
            <a:r>
              <a:rPr lang="es-MX" dirty="0"/>
              <a:t> (1 de 2)</a:t>
            </a:r>
            <a:endParaRPr dirty="0"/>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717636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6158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61584">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92</a:t>
                      </a:r>
                    </a:p>
                  </a:txBody>
                  <a:tcPr marL="45720" marR="45720" anchor="ctr">
                    <a:solidFill>
                      <a:srgbClr val="FFFFFF"/>
                    </a:solidFill>
                  </a:tcPr>
                </a:tc>
                <a:tc>
                  <a:txBody>
                    <a:bodyPr/>
                    <a:lstStyle/>
                    <a:p>
                      <a:pPr algn="ctr">
                        <a:defRPr sz="1100" b="1">
                          <a:solidFill>
                            <a:srgbClr val="000000"/>
                          </a:solidFill>
                          <a:latin typeface="Montserrat"/>
                        </a:defRPr>
                      </a:pPr>
                      <a:r>
                        <a:t>17.8%</a:t>
                      </a:r>
                    </a:p>
                  </a:txBody>
                  <a:tcPr marL="45720" marR="45720" anchor="ctr">
                    <a:solidFill>
                      <a:srgbClr val="FFFFFF"/>
                    </a:solidFill>
                  </a:tcPr>
                </a:tc>
                <a:extLst>
                  <a:ext uri="{0D108BD9-81ED-4DB2-BD59-A6C34878D82A}">
                    <a16:rowId xmlns:a16="http://schemas.microsoft.com/office/drawing/2014/main" val="10001"/>
                  </a:ext>
                </a:extLst>
              </a:tr>
              <a:tr h="161584">
                <a:tc>
                  <a:txBody>
                    <a:bodyPr/>
                    <a:lstStyle/>
                    <a:p>
                      <a:pPr algn="l">
                        <a:defRPr sz="1100" b="0">
                          <a:solidFill>
                            <a:srgbClr val="000000"/>
                          </a:solidFill>
                          <a:latin typeface="Montserrat"/>
                        </a:defRPr>
                      </a:pPr>
                      <a:r>
                        <a:t>Medicina Familiar</a:t>
                      </a:r>
                    </a:p>
                  </a:txBody>
                  <a:tcPr marL="45720" marR="45720" anchor="ctr">
                    <a:solidFill>
                      <a:srgbClr val="D9D9D9"/>
                    </a:solidFill>
                  </a:tcPr>
                </a:tc>
                <a:tc>
                  <a:txBody>
                    <a:bodyPr/>
                    <a:lstStyle/>
                    <a:p>
                      <a:pPr algn="ctr">
                        <a:defRPr sz="1100" b="0">
                          <a:solidFill>
                            <a:srgbClr val="000000"/>
                          </a:solidFill>
                          <a:latin typeface="Montserrat"/>
                        </a:defRPr>
                      </a:pPr>
                      <a:r>
                        <a:t>88</a:t>
                      </a:r>
                    </a:p>
                  </a:txBody>
                  <a:tcPr marL="45720" marR="45720" anchor="ctr">
                    <a:solidFill>
                      <a:srgbClr val="D9D9D9"/>
                    </a:solidFill>
                  </a:tcPr>
                </a:tc>
                <a:tc>
                  <a:txBody>
                    <a:bodyPr/>
                    <a:lstStyle/>
                    <a:p>
                      <a:pPr algn="ctr">
                        <a:defRPr sz="1100" b="1">
                          <a:solidFill>
                            <a:srgbClr val="000000"/>
                          </a:solidFill>
                          <a:latin typeface="Montserrat"/>
                        </a:defRPr>
                      </a:pPr>
                      <a:r>
                        <a:t>34.8%</a:t>
                      </a:r>
                    </a:p>
                  </a:txBody>
                  <a:tcPr marL="45720" marR="45720" anchor="ctr">
                    <a:solidFill>
                      <a:srgbClr val="D9D9D9"/>
                    </a:solidFill>
                  </a:tcPr>
                </a:tc>
                <a:extLst>
                  <a:ext uri="{0D108BD9-81ED-4DB2-BD59-A6C34878D82A}">
                    <a16:rowId xmlns:a16="http://schemas.microsoft.com/office/drawing/2014/main" val="10002"/>
                  </a:ext>
                </a:extLst>
              </a:tr>
              <a:tr h="161584">
                <a:tc>
                  <a:txBody>
                    <a:bodyPr/>
                    <a:lstStyle/>
                    <a:p>
                      <a:pPr algn="l">
                        <a:defRPr sz="1100" b="0">
                          <a:solidFill>
                            <a:srgbClr val="000000"/>
                          </a:solidFill>
                          <a:latin typeface="Montserrat"/>
                        </a:defRPr>
                      </a:pPr>
                      <a:r>
                        <a:t>Anestesiología</a:t>
                      </a:r>
                    </a:p>
                  </a:txBody>
                  <a:tcPr marL="45720" marR="45720" anchor="ctr">
                    <a:solidFill>
                      <a:srgbClr val="FFFFFF"/>
                    </a:solidFill>
                  </a:tcPr>
                </a:tc>
                <a:tc>
                  <a:txBody>
                    <a:bodyPr/>
                    <a:lstStyle/>
                    <a:p>
                      <a:pPr algn="ctr">
                        <a:defRPr sz="1100" b="0">
                          <a:solidFill>
                            <a:srgbClr val="000000"/>
                          </a:solidFill>
                          <a:latin typeface="Montserrat"/>
                        </a:defRPr>
                      </a:pPr>
                      <a:r>
                        <a:t>60</a:t>
                      </a:r>
                    </a:p>
                  </a:txBody>
                  <a:tcPr marL="45720" marR="45720" anchor="ctr">
                    <a:solidFill>
                      <a:srgbClr val="FFFFFF"/>
                    </a:solidFill>
                  </a:tcPr>
                </a:tc>
                <a:tc>
                  <a:txBody>
                    <a:bodyPr/>
                    <a:lstStyle/>
                    <a:p>
                      <a:pPr algn="ctr">
                        <a:defRPr sz="1100" b="1">
                          <a:solidFill>
                            <a:srgbClr val="000000"/>
                          </a:solidFill>
                          <a:latin typeface="Montserrat"/>
                        </a:defRPr>
                      </a:pPr>
                      <a:r>
                        <a:t>46.5%</a:t>
                      </a:r>
                    </a:p>
                  </a:txBody>
                  <a:tcPr marL="45720" marR="45720" anchor="ctr">
                    <a:solidFill>
                      <a:srgbClr val="FFFFFF"/>
                    </a:solidFill>
                  </a:tcPr>
                </a:tc>
                <a:extLst>
                  <a:ext uri="{0D108BD9-81ED-4DB2-BD59-A6C34878D82A}">
                    <a16:rowId xmlns:a16="http://schemas.microsoft.com/office/drawing/2014/main" val="10003"/>
                  </a:ext>
                </a:extLst>
              </a:tr>
              <a:tr h="161584">
                <a:tc>
                  <a:txBody>
                    <a:bodyPr/>
                    <a:lstStyle/>
                    <a:p>
                      <a:pPr algn="l">
                        <a:defRPr sz="1100" b="0">
                          <a:solidFill>
                            <a:srgbClr val="000000"/>
                          </a:solidFill>
                          <a:latin typeface="Montserrat"/>
                        </a:defRPr>
                      </a:pPr>
                      <a:r>
                        <a:t>Ginecología y Obstetricia</a:t>
                      </a:r>
                    </a:p>
                  </a:txBody>
                  <a:tcPr marL="45720" marR="45720" anchor="ctr">
                    <a:solidFill>
                      <a:srgbClr val="D9D9D9"/>
                    </a:solidFill>
                  </a:tcPr>
                </a:tc>
                <a:tc>
                  <a:txBody>
                    <a:bodyPr/>
                    <a:lstStyle/>
                    <a:p>
                      <a:pPr algn="ctr">
                        <a:defRPr sz="1100" b="0">
                          <a:solidFill>
                            <a:srgbClr val="000000"/>
                          </a:solidFill>
                          <a:latin typeface="Montserrat"/>
                        </a:defRPr>
                      </a:pPr>
                      <a:r>
                        <a:t>35</a:t>
                      </a:r>
                    </a:p>
                  </a:txBody>
                  <a:tcPr marL="45720" marR="45720" anchor="ctr">
                    <a:solidFill>
                      <a:srgbClr val="D9D9D9"/>
                    </a:solidFill>
                  </a:tcPr>
                </a:tc>
                <a:tc>
                  <a:txBody>
                    <a:bodyPr/>
                    <a:lstStyle/>
                    <a:p>
                      <a:pPr algn="ctr">
                        <a:defRPr sz="1100" b="1">
                          <a:solidFill>
                            <a:srgbClr val="000000"/>
                          </a:solidFill>
                          <a:latin typeface="Montserrat"/>
                        </a:defRPr>
                      </a:pPr>
                      <a:r>
                        <a:t>53.2%</a:t>
                      </a:r>
                    </a:p>
                  </a:txBody>
                  <a:tcPr marL="45720" marR="45720" anchor="ctr">
                    <a:solidFill>
                      <a:srgbClr val="D9D9D9"/>
                    </a:solidFill>
                  </a:tcPr>
                </a:tc>
                <a:extLst>
                  <a:ext uri="{0D108BD9-81ED-4DB2-BD59-A6C34878D82A}">
                    <a16:rowId xmlns:a16="http://schemas.microsoft.com/office/drawing/2014/main" val="10004"/>
                  </a:ext>
                </a:extLst>
              </a:tr>
              <a:tr h="161584">
                <a:tc>
                  <a:txBody>
                    <a:bodyPr/>
                    <a:lstStyle/>
                    <a:p>
                      <a:pPr algn="l">
                        <a:defRPr sz="1100" b="0">
                          <a:solidFill>
                            <a:srgbClr val="000000"/>
                          </a:solidFill>
                          <a:latin typeface="Montserrat"/>
                        </a:defRPr>
                      </a:pPr>
                      <a:r>
                        <a:t>Cirugía General</a:t>
                      </a:r>
                    </a:p>
                  </a:txBody>
                  <a:tcPr marL="45720" marR="45720" anchor="ctr">
                    <a:solidFill>
                      <a:srgbClr val="FFFFFF"/>
                    </a:solidFill>
                  </a:tcPr>
                </a:tc>
                <a:tc>
                  <a:txBody>
                    <a:bodyPr/>
                    <a:lstStyle/>
                    <a:p>
                      <a:pPr algn="ctr">
                        <a:defRPr sz="1100" b="0">
                          <a:solidFill>
                            <a:srgbClr val="000000"/>
                          </a:solidFill>
                          <a:latin typeface="Montserrat"/>
                        </a:defRPr>
                      </a:pPr>
                      <a:r>
                        <a:t>33</a:t>
                      </a:r>
                    </a:p>
                  </a:txBody>
                  <a:tcPr marL="45720" marR="45720" anchor="ctr">
                    <a:solidFill>
                      <a:srgbClr val="FFFFFF"/>
                    </a:solidFill>
                  </a:tcPr>
                </a:tc>
                <a:tc>
                  <a:txBody>
                    <a:bodyPr/>
                    <a:lstStyle/>
                    <a:p>
                      <a:pPr algn="ctr">
                        <a:defRPr sz="1100" b="1">
                          <a:solidFill>
                            <a:srgbClr val="000000"/>
                          </a:solidFill>
                          <a:latin typeface="Montserrat"/>
                        </a:defRPr>
                      </a:pPr>
                      <a:r>
                        <a:t>59.6%</a:t>
                      </a:r>
                    </a:p>
                  </a:txBody>
                  <a:tcPr marL="45720" marR="45720" anchor="ctr">
                    <a:solidFill>
                      <a:srgbClr val="FFFFFF"/>
                    </a:solidFill>
                  </a:tcPr>
                </a:tc>
                <a:extLst>
                  <a:ext uri="{0D108BD9-81ED-4DB2-BD59-A6C34878D82A}">
                    <a16:rowId xmlns:a16="http://schemas.microsoft.com/office/drawing/2014/main" val="10005"/>
                  </a:ext>
                </a:extLst>
              </a:tr>
              <a:tr h="161584">
                <a:tc>
                  <a:txBody>
                    <a:bodyPr/>
                    <a:lstStyle/>
                    <a:p>
                      <a:pPr algn="l">
                        <a:defRPr sz="1100" b="0">
                          <a:solidFill>
                            <a:srgbClr val="000000"/>
                          </a:solidFill>
                          <a:latin typeface="Montserrat"/>
                        </a:defRPr>
                      </a:pPr>
                      <a:r>
                        <a:t>Pediatría</a:t>
                      </a:r>
                    </a:p>
                  </a:txBody>
                  <a:tcPr marL="45720" marR="45720" anchor="ctr">
                    <a:solidFill>
                      <a:srgbClr val="D9D9D9"/>
                    </a:solidFill>
                  </a:tcPr>
                </a:tc>
                <a:tc>
                  <a:txBody>
                    <a:bodyPr/>
                    <a:lstStyle/>
                    <a:p>
                      <a:pPr algn="ctr">
                        <a:defRPr sz="1100" b="0">
                          <a:solidFill>
                            <a:srgbClr val="000000"/>
                          </a:solidFill>
                          <a:latin typeface="Montserrat"/>
                        </a:defRPr>
                      </a:pPr>
                      <a:r>
                        <a:t>31</a:t>
                      </a:r>
                    </a:p>
                  </a:txBody>
                  <a:tcPr marL="45720" marR="45720" anchor="ctr">
                    <a:solidFill>
                      <a:srgbClr val="D9D9D9"/>
                    </a:solidFill>
                  </a:tcPr>
                </a:tc>
                <a:tc>
                  <a:txBody>
                    <a:bodyPr/>
                    <a:lstStyle/>
                    <a:p>
                      <a:pPr algn="ctr">
                        <a:defRPr sz="1100" b="1">
                          <a:solidFill>
                            <a:srgbClr val="000000"/>
                          </a:solidFill>
                          <a:latin typeface="Montserrat"/>
                        </a:defRPr>
                      </a:pPr>
                      <a:r>
                        <a:t>65.6%</a:t>
                      </a:r>
                    </a:p>
                  </a:txBody>
                  <a:tcPr marL="45720" marR="45720" anchor="ctr">
                    <a:solidFill>
                      <a:srgbClr val="D9D9D9"/>
                    </a:solidFill>
                  </a:tcPr>
                </a:tc>
                <a:extLst>
                  <a:ext uri="{0D108BD9-81ED-4DB2-BD59-A6C34878D82A}">
                    <a16:rowId xmlns:a16="http://schemas.microsoft.com/office/drawing/2014/main" val="10006"/>
                  </a:ext>
                </a:extLst>
              </a:tr>
              <a:tr h="161584">
                <a:tc>
                  <a:txBody>
                    <a:bodyPr/>
                    <a:lstStyle/>
                    <a:p>
                      <a:pPr algn="l">
                        <a:defRPr sz="1100" b="0">
                          <a:solidFill>
                            <a:srgbClr val="000000"/>
                          </a:solidFill>
                          <a:latin typeface="Montserrat"/>
                        </a:defRPr>
                      </a:pPr>
                      <a:r>
                        <a:t>Traumatología y Ortopedia</a:t>
                      </a:r>
                    </a:p>
                  </a:txBody>
                  <a:tcPr marL="45720" marR="45720" anchor="ctr">
                    <a:solidFill>
                      <a:srgbClr val="FFFFFF"/>
                    </a:solidFill>
                  </a:tcPr>
                </a:tc>
                <a:tc>
                  <a:txBody>
                    <a:bodyPr/>
                    <a:lstStyle/>
                    <a:p>
                      <a:pPr algn="ctr">
                        <a:defRPr sz="1100" b="0">
                          <a:solidFill>
                            <a:srgbClr val="000000"/>
                          </a:solidFill>
                          <a:latin typeface="Montserrat"/>
                        </a:defRPr>
                      </a:pPr>
                      <a:r>
                        <a:t>23</a:t>
                      </a:r>
                    </a:p>
                  </a:txBody>
                  <a:tcPr marL="45720" marR="45720" anchor="ctr">
                    <a:solidFill>
                      <a:srgbClr val="FFFFFF"/>
                    </a:solidFill>
                  </a:tcPr>
                </a:tc>
                <a:tc>
                  <a:txBody>
                    <a:bodyPr/>
                    <a:lstStyle/>
                    <a:p>
                      <a:pPr algn="ctr">
                        <a:defRPr sz="1100" b="1">
                          <a:solidFill>
                            <a:srgbClr val="000000"/>
                          </a:solidFill>
                          <a:latin typeface="Montserrat"/>
                        </a:defRPr>
                      </a:pPr>
                      <a:r>
                        <a:t>70.1%</a:t>
                      </a:r>
                    </a:p>
                  </a:txBody>
                  <a:tcPr marL="45720" marR="45720" anchor="ctr">
                    <a:solidFill>
                      <a:srgbClr val="FFFFFF"/>
                    </a:solidFill>
                  </a:tcPr>
                </a:tc>
                <a:extLst>
                  <a:ext uri="{0D108BD9-81ED-4DB2-BD59-A6C34878D82A}">
                    <a16:rowId xmlns:a16="http://schemas.microsoft.com/office/drawing/2014/main" val="10007"/>
                  </a:ext>
                </a:extLst>
              </a:tr>
              <a:tr h="161584">
                <a:tc>
                  <a:txBody>
                    <a:bodyPr/>
                    <a:lstStyle/>
                    <a:p>
                      <a:pPr algn="l">
                        <a:defRPr sz="1100" b="0">
                          <a:solidFill>
                            <a:srgbClr val="000000"/>
                          </a:solidFill>
                          <a:latin typeface="Montserrat"/>
                        </a:defRPr>
                      </a:pPr>
                      <a:r>
                        <a:t>Medicina Interna</a:t>
                      </a:r>
                    </a:p>
                  </a:txBody>
                  <a:tcPr marL="45720" marR="45720" anchor="ctr">
                    <a:solidFill>
                      <a:srgbClr val="D9D9D9"/>
                    </a:solidFill>
                  </a:tcPr>
                </a:tc>
                <a:tc>
                  <a:txBody>
                    <a:bodyPr/>
                    <a:lstStyle/>
                    <a:p>
                      <a:pPr algn="ctr">
                        <a:defRPr sz="1100" b="0">
                          <a:solidFill>
                            <a:srgbClr val="000000"/>
                          </a:solidFill>
                          <a:latin typeface="Montserrat"/>
                        </a:defRPr>
                      </a:pPr>
                      <a:r>
                        <a:t>23</a:t>
                      </a:r>
                    </a:p>
                  </a:txBody>
                  <a:tcPr marL="45720" marR="45720" anchor="ctr">
                    <a:solidFill>
                      <a:srgbClr val="D9D9D9"/>
                    </a:solidFill>
                  </a:tcPr>
                </a:tc>
                <a:tc>
                  <a:txBody>
                    <a:bodyPr/>
                    <a:lstStyle/>
                    <a:p>
                      <a:pPr algn="ctr">
                        <a:defRPr sz="1100" b="1">
                          <a:solidFill>
                            <a:srgbClr val="000000"/>
                          </a:solidFill>
                          <a:latin typeface="Montserrat"/>
                        </a:defRPr>
                      </a:pPr>
                      <a:r>
                        <a:t>74.6%</a:t>
                      </a:r>
                    </a:p>
                  </a:txBody>
                  <a:tcPr marL="45720" marR="45720" anchor="ctr">
                    <a:solidFill>
                      <a:srgbClr val="D9D9D9"/>
                    </a:solidFill>
                  </a:tcPr>
                </a:tc>
                <a:extLst>
                  <a:ext uri="{0D108BD9-81ED-4DB2-BD59-A6C34878D82A}">
                    <a16:rowId xmlns:a16="http://schemas.microsoft.com/office/drawing/2014/main" val="10008"/>
                  </a:ext>
                </a:extLst>
              </a:tr>
              <a:tr h="161584">
                <a:tc>
                  <a:txBody>
                    <a:bodyPr/>
                    <a:lstStyle/>
                    <a:p>
                      <a:pPr algn="l">
                        <a:defRPr sz="1100" b="0">
                          <a:solidFill>
                            <a:srgbClr val="000000"/>
                          </a:solidFill>
                          <a:latin typeface="Montserrat"/>
                        </a:defRPr>
                      </a:pPr>
                      <a:r>
                        <a:t>Cardiología</a:t>
                      </a:r>
                    </a:p>
                  </a:txBody>
                  <a:tcPr marL="45720" marR="45720" anchor="ctr">
                    <a:solidFill>
                      <a:srgbClr val="FFFFFF"/>
                    </a:solidFill>
                  </a:tcPr>
                </a:tc>
                <a:tc>
                  <a:txBody>
                    <a:bodyPr/>
                    <a:lstStyle/>
                    <a:p>
                      <a:pPr algn="ctr">
                        <a:defRPr sz="1100" b="0">
                          <a:solidFill>
                            <a:srgbClr val="000000"/>
                          </a:solidFill>
                          <a:latin typeface="Montserrat"/>
                        </a:defRPr>
                      </a:pPr>
                      <a:r>
                        <a:t>14</a:t>
                      </a:r>
                    </a:p>
                  </a:txBody>
                  <a:tcPr marL="45720" marR="45720" anchor="ctr">
                    <a:solidFill>
                      <a:srgbClr val="FFFFFF"/>
                    </a:solidFill>
                  </a:tcPr>
                </a:tc>
                <a:tc>
                  <a:txBody>
                    <a:bodyPr/>
                    <a:lstStyle/>
                    <a:p>
                      <a:pPr algn="ctr">
                        <a:defRPr sz="1100" b="1">
                          <a:solidFill>
                            <a:srgbClr val="000000"/>
                          </a:solidFill>
                          <a:latin typeface="Montserrat"/>
                        </a:defRPr>
                      </a:pPr>
                      <a:r>
                        <a:t>77.3%</a:t>
                      </a:r>
                    </a:p>
                  </a:txBody>
                  <a:tcPr marL="45720" marR="45720" anchor="ctr">
                    <a:solidFill>
                      <a:srgbClr val="FFFFFF"/>
                    </a:solidFill>
                  </a:tcPr>
                </a:tc>
                <a:extLst>
                  <a:ext uri="{0D108BD9-81ED-4DB2-BD59-A6C34878D82A}">
                    <a16:rowId xmlns:a16="http://schemas.microsoft.com/office/drawing/2014/main" val="10009"/>
                  </a:ext>
                </a:extLst>
              </a:tr>
              <a:tr h="161584">
                <a:tc>
                  <a:txBody>
                    <a:bodyPr/>
                    <a:lstStyle/>
                    <a:p>
                      <a:pPr algn="l">
                        <a:defRPr sz="1100" b="0">
                          <a:solidFill>
                            <a:srgbClr val="000000"/>
                          </a:solidFill>
                          <a:latin typeface="Montserrat"/>
                        </a:defRPr>
                      </a:pPr>
                      <a:r>
                        <a:t>Epidemiología</a:t>
                      </a:r>
                    </a:p>
                  </a:txBody>
                  <a:tcPr marL="45720" marR="45720" anchor="ctr">
                    <a:solidFill>
                      <a:srgbClr val="D9D9D9"/>
                    </a:solidFill>
                  </a:tcPr>
                </a:tc>
                <a:tc>
                  <a:txBody>
                    <a:bodyPr/>
                    <a:lstStyle/>
                    <a:p>
                      <a:pPr algn="ctr">
                        <a:defRPr sz="1100" b="0">
                          <a:solidFill>
                            <a:srgbClr val="000000"/>
                          </a:solidFill>
                          <a:latin typeface="Montserrat"/>
                        </a:defRPr>
                      </a:pPr>
                      <a:r>
                        <a:t>12</a:t>
                      </a:r>
                    </a:p>
                  </a:txBody>
                  <a:tcPr marL="45720" marR="45720" anchor="ctr">
                    <a:solidFill>
                      <a:srgbClr val="D9D9D9"/>
                    </a:solidFill>
                  </a:tcPr>
                </a:tc>
                <a:tc>
                  <a:txBody>
                    <a:bodyPr/>
                    <a:lstStyle/>
                    <a:p>
                      <a:pPr algn="ctr">
                        <a:defRPr sz="1100" b="1">
                          <a:solidFill>
                            <a:srgbClr val="000000"/>
                          </a:solidFill>
                          <a:latin typeface="Montserrat"/>
                        </a:defRPr>
                      </a:pPr>
                      <a:r>
                        <a:t>79.6%</a:t>
                      </a:r>
                    </a:p>
                  </a:txBody>
                  <a:tcPr marL="45720" marR="45720" anchor="ctr">
                    <a:solidFill>
                      <a:srgbClr val="D9D9D9"/>
                    </a:solidFill>
                  </a:tcPr>
                </a:tc>
                <a:extLst>
                  <a:ext uri="{0D108BD9-81ED-4DB2-BD59-A6C34878D82A}">
                    <a16:rowId xmlns:a16="http://schemas.microsoft.com/office/drawing/2014/main" val="10010"/>
                  </a:ext>
                </a:extLst>
              </a:tr>
              <a:tr h="161584">
                <a:tc>
                  <a:txBody>
                    <a:bodyPr/>
                    <a:lstStyle/>
                    <a:p>
                      <a:pPr algn="l">
                        <a:defRPr sz="1100" b="0">
                          <a:solidFill>
                            <a:srgbClr val="000000"/>
                          </a:solidFill>
                          <a:latin typeface="Montserrat"/>
                        </a:defRPr>
                      </a:pPr>
                      <a:r>
                        <a:t>Medicina del Trabajo y Ambiental</a:t>
                      </a:r>
                    </a:p>
                  </a:txBody>
                  <a:tcPr marL="45720" marR="45720" anchor="ctr">
                    <a:solidFill>
                      <a:srgbClr val="FFFFFF"/>
                    </a:solidFill>
                  </a:tcPr>
                </a:tc>
                <a:tc>
                  <a:txBody>
                    <a:bodyPr/>
                    <a:lstStyle/>
                    <a:p>
                      <a:pPr algn="ctr">
                        <a:defRPr sz="1100" b="0">
                          <a:solidFill>
                            <a:srgbClr val="000000"/>
                          </a:solidFill>
                          <a:latin typeface="Montserrat"/>
                        </a:defRPr>
                      </a:pPr>
                      <a:r>
                        <a:t>11</a:t>
                      </a:r>
                    </a:p>
                  </a:txBody>
                  <a:tcPr marL="45720" marR="45720" anchor="ctr">
                    <a:solidFill>
                      <a:srgbClr val="FFFFFF"/>
                    </a:solidFill>
                  </a:tcPr>
                </a:tc>
                <a:tc>
                  <a:txBody>
                    <a:bodyPr/>
                    <a:lstStyle/>
                    <a:p>
                      <a:pPr algn="ctr">
                        <a:defRPr sz="1100" b="1">
                          <a:solidFill>
                            <a:srgbClr val="000000"/>
                          </a:solidFill>
                          <a:latin typeface="Montserrat"/>
                        </a:defRPr>
                      </a:pPr>
                      <a:r>
                        <a:t>81.7%</a:t>
                      </a:r>
                    </a:p>
                  </a:txBody>
                  <a:tcPr marL="45720" marR="45720" anchor="ctr">
                    <a:solidFill>
                      <a:srgbClr val="FFFFFF"/>
                    </a:solidFill>
                  </a:tcPr>
                </a:tc>
                <a:extLst>
                  <a:ext uri="{0D108BD9-81ED-4DB2-BD59-A6C34878D82A}">
                    <a16:rowId xmlns:a16="http://schemas.microsoft.com/office/drawing/2014/main" val="10011"/>
                  </a:ext>
                </a:extLst>
              </a:tr>
              <a:tr h="161584">
                <a:tc>
                  <a:txBody>
                    <a:bodyPr/>
                    <a:lstStyle/>
                    <a:p>
                      <a:pPr algn="l">
                        <a:defRPr sz="1100" b="0">
                          <a:solidFill>
                            <a:srgbClr val="000000"/>
                          </a:solidFill>
                          <a:latin typeface="Montserrat"/>
                        </a:defRPr>
                      </a:pPr>
                      <a:r>
                        <a:t>Imagenología Diagnóstico y Terapéutica</a:t>
                      </a:r>
                    </a:p>
                  </a:txBody>
                  <a:tcPr marL="45720" marR="45720" anchor="ctr">
                    <a:solidFill>
                      <a:srgbClr val="D9D9D9"/>
                    </a:solidFill>
                  </a:tcPr>
                </a:tc>
                <a:tc>
                  <a:txBody>
                    <a:bodyPr/>
                    <a:lstStyle/>
                    <a:p>
                      <a:pPr algn="ctr">
                        <a:defRPr sz="1100" b="0">
                          <a:solidFill>
                            <a:srgbClr val="000000"/>
                          </a:solidFill>
                          <a:latin typeface="Montserrat"/>
                        </a:defRPr>
                      </a:pPr>
                      <a:r>
                        <a:t>9</a:t>
                      </a:r>
                    </a:p>
                  </a:txBody>
                  <a:tcPr marL="45720" marR="45720" anchor="ctr">
                    <a:solidFill>
                      <a:srgbClr val="D9D9D9"/>
                    </a:solidFill>
                  </a:tcPr>
                </a:tc>
                <a:tc>
                  <a:txBody>
                    <a:bodyPr/>
                    <a:lstStyle/>
                    <a:p>
                      <a:pPr algn="ctr">
                        <a:defRPr sz="1100" b="1">
                          <a:solidFill>
                            <a:srgbClr val="000000"/>
                          </a:solidFill>
                          <a:latin typeface="Montserrat"/>
                        </a:defRPr>
                      </a:pPr>
                      <a:r>
                        <a:t>83.5%</a:t>
                      </a:r>
                    </a:p>
                  </a:txBody>
                  <a:tcPr marL="45720" marR="45720" anchor="ctr">
                    <a:solidFill>
                      <a:srgbClr val="D9D9D9"/>
                    </a:solidFill>
                  </a:tcPr>
                </a:tc>
                <a:extLst>
                  <a:ext uri="{0D108BD9-81ED-4DB2-BD59-A6C34878D82A}">
                    <a16:rowId xmlns:a16="http://schemas.microsoft.com/office/drawing/2014/main" val="10012"/>
                  </a:ext>
                </a:extLst>
              </a:tr>
              <a:tr h="161584">
                <a:tc>
                  <a:txBody>
                    <a:bodyPr/>
                    <a:lstStyle/>
                    <a:p>
                      <a:pPr algn="l">
                        <a:defRPr sz="1100" b="0">
                          <a:solidFill>
                            <a:srgbClr val="000000"/>
                          </a:solidFill>
                          <a:latin typeface="Montserrat"/>
                        </a:defRPr>
                      </a:pPr>
                      <a:r>
                        <a:t>Urología</a:t>
                      </a:r>
                    </a:p>
                  </a:txBody>
                  <a:tcPr marL="45720" marR="45720" anchor="ctr">
                    <a:solidFill>
                      <a:srgbClr val="FFFFFF"/>
                    </a:solidFill>
                  </a:tcPr>
                </a:tc>
                <a:tc>
                  <a:txBody>
                    <a:bodyPr/>
                    <a:lstStyle/>
                    <a:p>
                      <a:pPr algn="ctr">
                        <a:defRPr sz="1100" b="0">
                          <a:solidFill>
                            <a:srgbClr val="000000"/>
                          </a:solidFill>
                          <a:latin typeface="Montserrat"/>
                        </a:defRPr>
                      </a:pPr>
                      <a:r>
                        <a:t>8</a:t>
                      </a:r>
                    </a:p>
                  </a:txBody>
                  <a:tcPr marL="45720" marR="45720" anchor="ctr">
                    <a:solidFill>
                      <a:srgbClr val="FFFFFF"/>
                    </a:solidFill>
                  </a:tcPr>
                </a:tc>
                <a:tc>
                  <a:txBody>
                    <a:bodyPr/>
                    <a:lstStyle/>
                    <a:p>
                      <a:pPr algn="ctr">
                        <a:defRPr sz="1100" b="1">
                          <a:solidFill>
                            <a:srgbClr val="000000"/>
                          </a:solidFill>
                          <a:latin typeface="Montserrat"/>
                        </a:defRPr>
                      </a:pPr>
                      <a:r>
                        <a:t>85.0%</a:t>
                      </a:r>
                    </a:p>
                  </a:txBody>
                  <a:tcPr marL="45720" marR="45720" anchor="ctr">
                    <a:solidFill>
                      <a:srgbClr val="FFFFFF"/>
                    </a:solidFill>
                  </a:tcPr>
                </a:tc>
                <a:extLst>
                  <a:ext uri="{0D108BD9-81ED-4DB2-BD59-A6C34878D82A}">
                    <a16:rowId xmlns:a16="http://schemas.microsoft.com/office/drawing/2014/main" val="10013"/>
                  </a:ext>
                </a:extLst>
              </a:tr>
              <a:tr h="161584">
                <a:tc>
                  <a:txBody>
                    <a:bodyPr/>
                    <a:lstStyle/>
                    <a:p>
                      <a:pPr algn="l">
                        <a:defRPr sz="1100" b="0">
                          <a:solidFill>
                            <a:srgbClr val="000000"/>
                          </a:solidFill>
                          <a:latin typeface="Montserrat"/>
                        </a:defRPr>
                      </a:pPr>
                      <a:r>
                        <a:t>Geriatría</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86.2%</a:t>
                      </a:r>
                    </a:p>
                  </a:txBody>
                  <a:tcPr marL="45720" marR="45720" anchor="ctr">
                    <a:solidFill>
                      <a:srgbClr val="D9D9D9"/>
                    </a:solidFill>
                  </a:tcPr>
                </a:tc>
                <a:extLst>
                  <a:ext uri="{0D108BD9-81ED-4DB2-BD59-A6C34878D82A}">
                    <a16:rowId xmlns:a16="http://schemas.microsoft.com/office/drawing/2014/main" val="10014"/>
                  </a:ext>
                </a:extLst>
              </a:tr>
              <a:tr h="161584">
                <a:tc>
                  <a:txBody>
                    <a:bodyPr/>
                    <a:lstStyle/>
                    <a:p>
                      <a:pPr algn="l">
                        <a:defRPr sz="1100" b="0">
                          <a:solidFill>
                            <a:srgbClr val="000000"/>
                          </a:solidFill>
                          <a:latin typeface="Montserrat"/>
                        </a:defRPr>
                      </a:pPr>
                      <a:r>
                        <a:t>Otorrinolaringología y Cirugía de Cabeza y Cuello</a:t>
                      </a:r>
                    </a:p>
                  </a:txBody>
                  <a:tcPr marL="45720" marR="45720" anchor="ctr">
                    <a:solidFill>
                      <a:srgbClr val="FFFFFF"/>
                    </a:solidFill>
                  </a:tcPr>
                </a:tc>
                <a:tc>
                  <a:txBody>
                    <a:bodyPr/>
                    <a:lstStyle/>
                    <a:p>
                      <a:pPr algn="ctr">
                        <a:defRPr sz="1100" b="0">
                          <a:solidFill>
                            <a:srgbClr val="000000"/>
                          </a:solidFill>
                          <a:latin typeface="Montserrat"/>
                        </a:defRPr>
                      </a:pPr>
                      <a:r>
                        <a:t>5</a:t>
                      </a:r>
                    </a:p>
                  </a:txBody>
                  <a:tcPr marL="45720" marR="45720" anchor="ctr">
                    <a:solidFill>
                      <a:srgbClr val="FFFFFF"/>
                    </a:solidFill>
                  </a:tcPr>
                </a:tc>
                <a:tc>
                  <a:txBody>
                    <a:bodyPr/>
                    <a:lstStyle/>
                    <a:p>
                      <a:pPr algn="ctr">
                        <a:defRPr sz="1100" b="1">
                          <a:solidFill>
                            <a:srgbClr val="000000"/>
                          </a:solidFill>
                          <a:latin typeface="Montserrat"/>
                        </a:defRPr>
                      </a:pPr>
                      <a:r>
                        <a:t>87.2%</a:t>
                      </a:r>
                    </a:p>
                  </a:txBody>
                  <a:tcPr marL="45720" marR="45720" anchor="ctr">
                    <a:solidFill>
                      <a:srgbClr val="FFFFFF"/>
                    </a:solidFill>
                  </a:tcPr>
                </a:tc>
                <a:extLst>
                  <a:ext uri="{0D108BD9-81ED-4DB2-BD59-A6C34878D82A}">
                    <a16:rowId xmlns:a16="http://schemas.microsoft.com/office/drawing/2014/main" val="10015"/>
                  </a:ext>
                </a:extLst>
              </a:tr>
              <a:tr h="161584">
                <a:tc>
                  <a:txBody>
                    <a:bodyPr/>
                    <a:lstStyle/>
                    <a:p>
                      <a:pPr algn="l">
                        <a:defRPr sz="1100" b="0">
                          <a:solidFill>
                            <a:srgbClr val="000000"/>
                          </a:solidFill>
                          <a:latin typeface="Montserrat"/>
                        </a:defRPr>
                      </a:pPr>
                      <a:r>
                        <a:t>Medicina de Rehabilitación</a:t>
                      </a:r>
                    </a:p>
                  </a:txBody>
                  <a:tcPr marL="45720" marR="45720" anchor="ctr">
                    <a:solidFill>
                      <a:srgbClr val="D9D9D9"/>
                    </a:solidFill>
                  </a:tcPr>
                </a:tc>
                <a:tc>
                  <a:txBody>
                    <a:bodyPr/>
                    <a:lstStyle/>
                    <a:p>
                      <a:pPr algn="ctr">
                        <a:defRPr sz="1100" b="0">
                          <a:solidFill>
                            <a:srgbClr val="000000"/>
                          </a:solidFill>
                          <a:latin typeface="Montserrat"/>
                        </a:defRPr>
                      </a:pPr>
                      <a:r>
                        <a:t>5</a:t>
                      </a:r>
                    </a:p>
                  </a:txBody>
                  <a:tcPr marL="45720" marR="45720" anchor="ctr">
                    <a:solidFill>
                      <a:srgbClr val="D9D9D9"/>
                    </a:solidFill>
                  </a:tcPr>
                </a:tc>
                <a:tc>
                  <a:txBody>
                    <a:bodyPr/>
                    <a:lstStyle/>
                    <a:p>
                      <a:pPr algn="ctr">
                        <a:defRPr sz="1100" b="1">
                          <a:solidFill>
                            <a:srgbClr val="000000"/>
                          </a:solidFill>
                          <a:latin typeface="Montserrat"/>
                        </a:defRPr>
                      </a:pPr>
                      <a:r>
                        <a:t>88.1%</a:t>
                      </a:r>
                    </a:p>
                  </a:txBody>
                  <a:tcPr marL="45720" marR="45720" anchor="ctr">
                    <a:solidFill>
                      <a:srgbClr val="D9D9D9"/>
                    </a:solidFill>
                  </a:tcPr>
                </a:tc>
                <a:extLst>
                  <a:ext uri="{0D108BD9-81ED-4DB2-BD59-A6C34878D82A}">
                    <a16:rowId xmlns:a16="http://schemas.microsoft.com/office/drawing/2014/main" val="10016"/>
                  </a:ext>
                </a:extLst>
              </a:tr>
              <a:tr h="161584">
                <a:tc>
                  <a:txBody>
                    <a:bodyPr/>
                    <a:lstStyle/>
                    <a:p>
                      <a:pPr algn="l">
                        <a:defRPr sz="1100" b="0">
                          <a:solidFill>
                            <a:srgbClr val="000000"/>
                          </a:solidFill>
                          <a:latin typeface="Montserrat"/>
                        </a:defRPr>
                      </a:pPr>
                      <a:r>
                        <a:t>Oftalmología</a:t>
                      </a:r>
                    </a:p>
                  </a:txBody>
                  <a:tcPr marL="45720" marR="45720" anchor="ctr">
                    <a:solidFill>
                      <a:srgbClr val="FFFFFF"/>
                    </a:solidFill>
                  </a:tcPr>
                </a:tc>
                <a:tc>
                  <a:txBody>
                    <a:bodyPr/>
                    <a:lstStyle/>
                    <a:p>
                      <a:pPr algn="ctr">
                        <a:defRPr sz="1100" b="0">
                          <a:solidFill>
                            <a:srgbClr val="000000"/>
                          </a:solidFill>
                          <a:latin typeface="Montserrat"/>
                        </a:defRPr>
                      </a:pPr>
                      <a:r>
                        <a:t>5</a:t>
                      </a:r>
                    </a:p>
                  </a:txBody>
                  <a:tcPr marL="45720" marR="45720" anchor="ctr">
                    <a:solidFill>
                      <a:srgbClr val="FFFFFF"/>
                    </a:solidFill>
                  </a:tcPr>
                </a:tc>
                <a:tc>
                  <a:txBody>
                    <a:bodyPr/>
                    <a:lstStyle/>
                    <a:p>
                      <a:pPr algn="ctr">
                        <a:defRPr sz="1100" b="1">
                          <a:solidFill>
                            <a:srgbClr val="000000"/>
                          </a:solidFill>
                          <a:latin typeface="Montserrat"/>
                        </a:defRPr>
                      </a:pPr>
                      <a:r>
                        <a:t>89.1%</a:t>
                      </a:r>
                    </a:p>
                  </a:txBody>
                  <a:tcPr marL="45720" marR="45720" anchor="ctr">
                    <a:solidFill>
                      <a:srgbClr val="FFFFFF"/>
                    </a:solidFill>
                  </a:tcPr>
                </a:tc>
                <a:extLst>
                  <a:ext uri="{0D108BD9-81ED-4DB2-BD59-A6C34878D82A}">
                    <a16:rowId xmlns:a16="http://schemas.microsoft.com/office/drawing/2014/main" val="10017"/>
                  </a:ext>
                </a:extLst>
              </a:tr>
              <a:tr h="161584">
                <a:tc>
                  <a:txBody>
                    <a:bodyPr/>
                    <a:lstStyle/>
                    <a:p>
                      <a:pPr algn="l">
                        <a:defRPr sz="1100" b="0">
                          <a:solidFill>
                            <a:srgbClr val="000000"/>
                          </a:solidFill>
                          <a:latin typeface="Montserrat"/>
                        </a:defRPr>
                      </a:pPr>
                      <a:r>
                        <a:t>Anatomía Patológica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89.9%</a:t>
                      </a:r>
                    </a:p>
                  </a:txBody>
                  <a:tcPr marL="45720" marR="45720" anchor="ctr">
                    <a:solidFill>
                      <a:srgbClr val="D9D9D9"/>
                    </a:solidFill>
                  </a:tcPr>
                </a:tc>
                <a:extLst>
                  <a:ext uri="{0D108BD9-81ED-4DB2-BD59-A6C34878D82A}">
                    <a16:rowId xmlns:a16="http://schemas.microsoft.com/office/drawing/2014/main" val="10018"/>
                  </a:ext>
                </a:extLst>
              </a:tr>
              <a:tr h="161584">
                <a:tc>
                  <a:txBody>
                    <a:bodyPr/>
                    <a:lstStyle/>
                    <a:p>
                      <a:pPr algn="l">
                        <a:defRPr sz="1100" b="0">
                          <a:solidFill>
                            <a:srgbClr val="000000"/>
                          </a:solidFill>
                          <a:latin typeface="Montserrat"/>
                        </a:defRPr>
                      </a:pPr>
                      <a:r>
                        <a:t>Nefrología</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90.6%</a:t>
                      </a:r>
                    </a:p>
                  </a:txBody>
                  <a:tcPr marL="45720" marR="45720" anchor="ctr">
                    <a:solidFill>
                      <a:srgbClr val="FFFFFF"/>
                    </a:solidFill>
                  </a:tcPr>
                </a:tc>
                <a:extLst>
                  <a:ext uri="{0D108BD9-81ED-4DB2-BD59-A6C34878D82A}">
                    <a16:rowId xmlns:a16="http://schemas.microsoft.com/office/drawing/2014/main" val="10019"/>
                  </a:ext>
                </a:extLst>
              </a:tr>
              <a:tr h="161584">
                <a:tc>
                  <a:txBody>
                    <a:bodyPr/>
                    <a:lstStyle/>
                    <a:p>
                      <a:pPr algn="l">
                        <a:defRPr sz="1100" b="0">
                          <a:solidFill>
                            <a:srgbClr val="000000"/>
                          </a:solidFill>
                          <a:latin typeface="Montserrat"/>
                        </a:defRPr>
                      </a:pPr>
                      <a:r>
                        <a:t>Oncología Médica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91.4%</a:t>
                      </a:r>
                    </a:p>
                  </a:txBody>
                  <a:tcPr marL="45720" marR="45720" anchor="ctr">
                    <a:solidFill>
                      <a:srgbClr val="D9D9D9"/>
                    </a:solidFill>
                  </a:tcPr>
                </a:tc>
                <a:extLst>
                  <a:ext uri="{0D108BD9-81ED-4DB2-BD59-A6C34878D82A}">
                    <a16:rowId xmlns:a16="http://schemas.microsoft.com/office/drawing/2014/main" val="10020"/>
                  </a:ext>
                </a:extLst>
              </a:tr>
              <a:tr h="161584">
                <a:tc>
                  <a:txBody>
                    <a:bodyPr/>
                    <a:lstStyle/>
                    <a:p>
                      <a:pPr algn="l">
                        <a:defRPr sz="1100" b="0">
                          <a:solidFill>
                            <a:srgbClr val="000000"/>
                          </a:solidFill>
                          <a:latin typeface="Montserrat"/>
                        </a:defRPr>
                      </a:pPr>
                      <a:r>
                        <a:t>Servicios de Sangre</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92.0%</a:t>
                      </a:r>
                    </a:p>
                  </a:txBody>
                  <a:tcPr marL="45720" marR="45720" anchor="ctr">
                    <a:solidFill>
                      <a:srgbClr val="FFFFFF"/>
                    </a:solidFill>
                  </a:tcPr>
                </a:tc>
                <a:extLst>
                  <a:ext uri="{0D108BD9-81ED-4DB2-BD59-A6C34878D82A}">
                    <a16:rowId xmlns:a16="http://schemas.microsoft.com/office/drawing/2014/main" val="10021"/>
                  </a:ext>
                </a:extLst>
              </a:tr>
              <a:tr h="161584">
                <a:tc>
                  <a:txBody>
                    <a:bodyPr/>
                    <a:lstStyle/>
                    <a:p>
                      <a:pPr algn="l">
                        <a:defRPr sz="1100" b="0">
                          <a:solidFill>
                            <a:srgbClr val="000000"/>
                          </a:solidFill>
                          <a:latin typeface="Montserrat"/>
                        </a:defRPr>
                      </a:pPr>
                      <a:r>
                        <a:t>Reumatología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92.6%</a:t>
                      </a:r>
                    </a:p>
                  </a:txBody>
                  <a:tcPr marL="45720" marR="45720" anchor="ctr">
                    <a:solidFill>
                      <a:srgbClr val="D9D9D9"/>
                    </a:solidFill>
                  </a:tcPr>
                </a:tc>
                <a:extLst>
                  <a:ext uri="{0D108BD9-81ED-4DB2-BD59-A6C34878D82A}">
                    <a16:rowId xmlns:a16="http://schemas.microsoft.com/office/drawing/2014/main" val="10022"/>
                  </a:ext>
                </a:extLst>
              </a:tr>
              <a:tr h="161584">
                <a:tc>
                  <a:txBody>
                    <a:bodyPr/>
                    <a:lstStyle/>
                    <a:p>
                      <a:pPr algn="l">
                        <a:defRPr sz="1100" b="0">
                          <a:solidFill>
                            <a:srgbClr val="000000"/>
                          </a:solidFill>
                          <a:latin typeface="Montserrat"/>
                        </a:defRPr>
                      </a:pPr>
                      <a:r>
                        <a:t>Cirugía Pediátrica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93.2%</a:t>
                      </a:r>
                    </a:p>
                  </a:txBody>
                  <a:tcPr marL="45720" marR="45720" anchor="ctr">
                    <a:solidFill>
                      <a:srgbClr val="FFFFFF"/>
                    </a:solidFill>
                  </a:tcPr>
                </a:tc>
                <a:extLst>
                  <a:ext uri="{0D108BD9-81ED-4DB2-BD59-A6C34878D82A}">
                    <a16:rowId xmlns:a16="http://schemas.microsoft.com/office/drawing/2014/main" val="10023"/>
                  </a:ext>
                </a:extLst>
              </a:tr>
              <a:tr h="161584">
                <a:tc>
                  <a:txBody>
                    <a:bodyPr/>
                    <a:lstStyle/>
                    <a:p>
                      <a:pPr algn="l">
                        <a:defRPr sz="1100" b="0">
                          <a:solidFill>
                            <a:srgbClr val="000000"/>
                          </a:solidFill>
                          <a:latin typeface="Montserrat"/>
                        </a:defRPr>
                      </a:pPr>
                      <a:r>
                        <a:t>Alergia e Inmunología Clínica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93.7%</a:t>
                      </a:r>
                    </a:p>
                  </a:txBody>
                  <a:tcPr marL="45720" marR="45720" anchor="ctr">
                    <a:solidFill>
                      <a:srgbClr val="D9D9D9"/>
                    </a:solidFill>
                  </a:tcPr>
                </a:tc>
                <a:extLst>
                  <a:ext uri="{0D108BD9-81ED-4DB2-BD59-A6C34878D82A}">
                    <a16:rowId xmlns:a16="http://schemas.microsoft.com/office/drawing/2014/main" val="10024"/>
                  </a:ext>
                </a:extLst>
              </a:tr>
              <a:tr h="161600">
                <a:tc>
                  <a:txBody>
                    <a:bodyPr/>
                    <a:lstStyle/>
                    <a:p>
                      <a:pPr algn="l">
                        <a:defRPr sz="1100" b="0">
                          <a:solidFill>
                            <a:srgbClr val="000000"/>
                          </a:solidFill>
                          <a:latin typeface="Montserrat"/>
                        </a:defRPr>
                      </a:pPr>
                      <a:r>
                        <a:t>Audiología Otoneurología y Foniatría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94.3%</a:t>
                      </a:r>
                    </a:p>
                  </a:txBody>
                  <a:tcPr marL="45720" marR="45720" anchor="ctr">
                    <a:solidFill>
                      <a:srgbClr val="FFFFFF"/>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58480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a:t>
            </a:r>
            <a:r>
              <a:rPr dirty="0" err="1"/>
              <a:t>por</a:t>
            </a:r>
            <a:r>
              <a:rPr dirty="0"/>
              <a:t> </a:t>
            </a:r>
            <a:r>
              <a:rPr dirty="0" err="1"/>
              <a:t>especialidad</a:t>
            </a:r>
            <a:r>
              <a:rPr lang="es-MX" dirty="0"/>
              <a:t> (2 de 2)</a:t>
            </a:r>
            <a:endParaRPr dirty="0"/>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665820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75050">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75050">
                <a:tc>
                  <a:txBody>
                    <a:bodyPr/>
                    <a:lstStyle/>
                    <a:p>
                      <a:pPr algn="l">
                        <a:defRPr sz="1100" b="0">
                          <a:solidFill>
                            <a:srgbClr val="000000"/>
                          </a:solidFill>
                          <a:latin typeface="Montserrat"/>
                        </a:defRPr>
                      </a:pPr>
                      <a:r>
                        <a:t>Hematología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94.9%</a:t>
                      </a:r>
                    </a:p>
                  </a:txBody>
                  <a:tcPr marL="45720" marR="45720" anchor="ctr">
                    <a:solidFill>
                      <a:srgbClr val="D9D9D9"/>
                    </a:solidFill>
                  </a:tcPr>
                </a:tc>
                <a:extLst>
                  <a:ext uri="{0D108BD9-81ED-4DB2-BD59-A6C34878D82A}">
                    <a16:rowId xmlns:a16="http://schemas.microsoft.com/office/drawing/2014/main" val="10001"/>
                  </a:ext>
                </a:extLst>
              </a:tr>
              <a:tr h="175050">
                <a:tc>
                  <a:txBody>
                    <a:bodyPr/>
                    <a:lstStyle/>
                    <a:p>
                      <a:pPr algn="l">
                        <a:defRPr sz="1100" b="0">
                          <a:solidFill>
                            <a:srgbClr val="000000"/>
                          </a:solidFill>
                          <a:latin typeface="Montserrat"/>
                        </a:defRPr>
                      </a:pPr>
                      <a:r>
                        <a:t>Neumología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95.3%</a:t>
                      </a:r>
                    </a:p>
                  </a:txBody>
                  <a:tcPr marL="45720" marR="45720" anchor="ctr">
                    <a:solidFill>
                      <a:srgbClr val="FFFFFF"/>
                    </a:solidFill>
                  </a:tcPr>
                </a:tc>
                <a:extLst>
                  <a:ext uri="{0D108BD9-81ED-4DB2-BD59-A6C34878D82A}">
                    <a16:rowId xmlns:a16="http://schemas.microsoft.com/office/drawing/2014/main" val="10002"/>
                  </a:ext>
                </a:extLst>
              </a:tr>
              <a:tr h="175050">
                <a:tc>
                  <a:txBody>
                    <a:bodyPr/>
                    <a:lstStyle/>
                    <a:p>
                      <a:pPr algn="l">
                        <a:defRPr sz="1100" b="0">
                          <a:solidFill>
                            <a:srgbClr val="000000"/>
                          </a:solidFill>
                          <a:latin typeface="Montserrat"/>
                        </a:defRPr>
                      </a:pPr>
                      <a:r>
                        <a:t>Medicina del Enfermo en Estado Crítico</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95.7%</a:t>
                      </a:r>
                    </a:p>
                  </a:txBody>
                  <a:tcPr marL="45720" marR="45720" anchor="ctr">
                    <a:solidFill>
                      <a:srgbClr val="D9D9D9"/>
                    </a:solidFill>
                  </a:tcPr>
                </a:tc>
                <a:extLst>
                  <a:ext uri="{0D108BD9-81ED-4DB2-BD59-A6C34878D82A}">
                    <a16:rowId xmlns:a16="http://schemas.microsoft.com/office/drawing/2014/main" val="10003"/>
                  </a:ext>
                </a:extLst>
              </a:tr>
              <a:tr h="175050">
                <a:tc>
                  <a:txBody>
                    <a:bodyPr/>
                    <a:lstStyle/>
                    <a:p>
                      <a:pPr algn="l">
                        <a:defRPr sz="1100" b="0">
                          <a:solidFill>
                            <a:srgbClr val="000000"/>
                          </a:solidFill>
                          <a:latin typeface="Montserrat"/>
                        </a:defRPr>
                      </a:pPr>
                      <a:r>
                        <a:t>Hemodinamia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96.1%</a:t>
                      </a:r>
                    </a:p>
                  </a:txBody>
                  <a:tcPr marL="45720" marR="45720" anchor="ctr">
                    <a:solidFill>
                      <a:srgbClr val="FFFFFF"/>
                    </a:solidFill>
                  </a:tcPr>
                </a:tc>
                <a:extLst>
                  <a:ext uri="{0D108BD9-81ED-4DB2-BD59-A6C34878D82A}">
                    <a16:rowId xmlns:a16="http://schemas.microsoft.com/office/drawing/2014/main" val="10004"/>
                  </a:ext>
                </a:extLst>
              </a:tr>
              <a:tr h="175050">
                <a:tc>
                  <a:txBody>
                    <a:bodyPr/>
                    <a:lstStyle/>
                    <a:p>
                      <a:pPr algn="l">
                        <a:defRPr sz="1100" b="0">
                          <a:solidFill>
                            <a:srgbClr val="000000"/>
                          </a:solidFill>
                          <a:latin typeface="Montserrat"/>
                        </a:defRPr>
                      </a:pPr>
                      <a:r>
                        <a:t>Cirugía Cardiotorácica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96.5%</a:t>
                      </a:r>
                    </a:p>
                  </a:txBody>
                  <a:tcPr marL="45720" marR="45720" anchor="ctr">
                    <a:solidFill>
                      <a:srgbClr val="D9D9D9"/>
                    </a:solidFill>
                  </a:tcPr>
                </a:tc>
                <a:extLst>
                  <a:ext uri="{0D108BD9-81ED-4DB2-BD59-A6C34878D82A}">
                    <a16:rowId xmlns:a16="http://schemas.microsoft.com/office/drawing/2014/main" val="10005"/>
                  </a:ext>
                </a:extLst>
              </a:tr>
              <a:tr h="175050">
                <a:tc>
                  <a:txBody>
                    <a:bodyPr/>
                    <a:lstStyle/>
                    <a:p>
                      <a:pPr algn="l">
                        <a:defRPr sz="1100" b="0">
                          <a:solidFill>
                            <a:srgbClr val="000000"/>
                          </a:solidFill>
                          <a:latin typeface="Montserrat"/>
                        </a:defRPr>
                      </a:pPr>
                      <a:r>
                        <a:t>Nefrología Pediátrica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96.8%</a:t>
                      </a:r>
                    </a:p>
                  </a:txBody>
                  <a:tcPr marL="45720" marR="45720" anchor="ctr">
                    <a:solidFill>
                      <a:srgbClr val="FFFFFF"/>
                    </a:solidFill>
                  </a:tcPr>
                </a:tc>
                <a:extLst>
                  <a:ext uri="{0D108BD9-81ED-4DB2-BD59-A6C34878D82A}">
                    <a16:rowId xmlns:a16="http://schemas.microsoft.com/office/drawing/2014/main" val="10006"/>
                  </a:ext>
                </a:extLst>
              </a:tr>
              <a:tr h="175050">
                <a:tc>
                  <a:txBody>
                    <a:bodyPr/>
                    <a:lstStyle/>
                    <a:p>
                      <a:pPr algn="l">
                        <a:defRPr sz="1100" b="0">
                          <a:solidFill>
                            <a:srgbClr val="000000"/>
                          </a:solidFill>
                          <a:latin typeface="Montserrat"/>
                        </a:defRPr>
                      </a:pPr>
                      <a:r>
                        <a:t>Gastroenterología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97.0%</a:t>
                      </a:r>
                    </a:p>
                  </a:txBody>
                  <a:tcPr marL="45720" marR="45720" anchor="ctr">
                    <a:solidFill>
                      <a:srgbClr val="D9D9D9"/>
                    </a:solidFill>
                  </a:tcPr>
                </a:tc>
                <a:extLst>
                  <a:ext uri="{0D108BD9-81ED-4DB2-BD59-A6C34878D82A}">
                    <a16:rowId xmlns:a16="http://schemas.microsoft.com/office/drawing/2014/main" val="10007"/>
                  </a:ext>
                </a:extLst>
              </a:tr>
              <a:tr h="175050">
                <a:tc>
                  <a:txBody>
                    <a:bodyPr/>
                    <a:lstStyle/>
                    <a:p>
                      <a:pPr algn="l">
                        <a:defRPr sz="1100" b="0">
                          <a:solidFill>
                            <a:srgbClr val="000000"/>
                          </a:solidFill>
                          <a:latin typeface="Montserrat"/>
                        </a:defRPr>
                      </a:pPr>
                      <a:r>
                        <a:t>Coloproctología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97.2%</a:t>
                      </a:r>
                    </a:p>
                  </a:txBody>
                  <a:tcPr marL="45720" marR="45720" anchor="ctr">
                    <a:solidFill>
                      <a:srgbClr val="FFFFFF"/>
                    </a:solidFill>
                  </a:tcPr>
                </a:tc>
                <a:extLst>
                  <a:ext uri="{0D108BD9-81ED-4DB2-BD59-A6C34878D82A}">
                    <a16:rowId xmlns:a16="http://schemas.microsoft.com/office/drawing/2014/main" val="10008"/>
                  </a:ext>
                </a:extLst>
              </a:tr>
              <a:tr h="175050">
                <a:tc>
                  <a:txBody>
                    <a:bodyPr/>
                    <a:lstStyle/>
                    <a:p>
                      <a:pPr algn="l">
                        <a:defRPr sz="1100" b="0">
                          <a:solidFill>
                            <a:srgbClr val="000000"/>
                          </a:solidFill>
                          <a:latin typeface="Montserrat"/>
                        </a:defRPr>
                      </a:pPr>
                      <a:r>
                        <a:t>Cirugía Oncológica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97.4%</a:t>
                      </a:r>
                    </a:p>
                  </a:txBody>
                  <a:tcPr marL="45720" marR="45720" anchor="ctr">
                    <a:solidFill>
                      <a:srgbClr val="D9D9D9"/>
                    </a:solidFill>
                  </a:tcPr>
                </a:tc>
                <a:extLst>
                  <a:ext uri="{0D108BD9-81ED-4DB2-BD59-A6C34878D82A}">
                    <a16:rowId xmlns:a16="http://schemas.microsoft.com/office/drawing/2014/main" val="10009"/>
                  </a:ext>
                </a:extLst>
              </a:tr>
              <a:tr h="175050">
                <a:tc>
                  <a:txBody>
                    <a:bodyPr/>
                    <a:lstStyle/>
                    <a:p>
                      <a:pPr algn="l">
                        <a:defRPr sz="1100" b="0">
                          <a:solidFill>
                            <a:srgbClr val="000000"/>
                          </a:solidFill>
                          <a:latin typeface="Montserrat"/>
                        </a:defRPr>
                      </a:pPr>
                      <a:r>
                        <a:t>Calidad de la Atención Clínica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97.6%</a:t>
                      </a:r>
                    </a:p>
                  </a:txBody>
                  <a:tcPr marL="45720" marR="45720" anchor="ctr">
                    <a:solidFill>
                      <a:srgbClr val="FFFFFF"/>
                    </a:solidFill>
                  </a:tcPr>
                </a:tc>
                <a:extLst>
                  <a:ext uri="{0D108BD9-81ED-4DB2-BD59-A6C34878D82A}">
                    <a16:rowId xmlns:a16="http://schemas.microsoft.com/office/drawing/2014/main" val="10010"/>
                  </a:ext>
                </a:extLst>
              </a:tr>
              <a:tr h="175050">
                <a:tc>
                  <a:txBody>
                    <a:bodyPr/>
                    <a:lstStyle/>
                    <a:p>
                      <a:pPr algn="l">
                        <a:defRPr sz="1100" b="0">
                          <a:solidFill>
                            <a:srgbClr val="000000"/>
                          </a:solidFill>
                          <a:latin typeface="Montserrat"/>
                        </a:defRPr>
                      </a:pPr>
                      <a:r>
                        <a:t>Angiología y Cirugía Vascular</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97.8%</a:t>
                      </a:r>
                    </a:p>
                  </a:txBody>
                  <a:tcPr marL="45720" marR="45720" anchor="ctr">
                    <a:solidFill>
                      <a:srgbClr val="D9D9D9"/>
                    </a:solidFill>
                  </a:tcPr>
                </a:tc>
                <a:extLst>
                  <a:ext uri="{0D108BD9-81ED-4DB2-BD59-A6C34878D82A}">
                    <a16:rowId xmlns:a16="http://schemas.microsoft.com/office/drawing/2014/main" val="10011"/>
                  </a:ext>
                </a:extLst>
              </a:tr>
              <a:tr h="175050">
                <a:tc>
                  <a:txBody>
                    <a:bodyPr/>
                    <a:lstStyle/>
                    <a:p>
                      <a:pPr algn="l">
                        <a:defRPr sz="1100" b="0">
                          <a:solidFill>
                            <a:srgbClr val="000000"/>
                          </a:solidFill>
                          <a:latin typeface="Montserrat"/>
                        </a:defRPr>
                      </a:pPr>
                      <a:r>
                        <a:t>Anestesiología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98.0%</a:t>
                      </a:r>
                    </a:p>
                  </a:txBody>
                  <a:tcPr marL="45720" marR="45720" anchor="ctr">
                    <a:solidFill>
                      <a:srgbClr val="FFFFFF"/>
                    </a:solidFill>
                  </a:tcPr>
                </a:tc>
                <a:extLst>
                  <a:ext uri="{0D108BD9-81ED-4DB2-BD59-A6C34878D82A}">
                    <a16:rowId xmlns:a16="http://schemas.microsoft.com/office/drawing/2014/main" val="10012"/>
                  </a:ext>
                </a:extLst>
              </a:tr>
              <a:tr h="175050">
                <a:tc>
                  <a:txBody>
                    <a:bodyPr/>
                    <a:lstStyle/>
                    <a:p>
                      <a:pPr algn="l">
                        <a:defRPr sz="1100" b="0">
                          <a:solidFill>
                            <a:srgbClr val="000000"/>
                          </a:solidFill>
                          <a:latin typeface="Montserrat"/>
                        </a:defRPr>
                      </a:pPr>
                      <a:r>
                        <a:t>Gastroenterología y Nutrición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98.2%</a:t>
                      </a:r>
                    </a:p>
                  </a:txBody>
                  <a:tcPr marL="45720" marR="45720" anchor="ctr">
                    <a:solidFill>
                      <a:srgbClr val="D9D9D9"/>
                    </a:solidFill>
                  </a:tcPr>
                </a:tc>
                <a:extLst>
                  <a:ext uri="{0D108BD9-81ED-4DB2-BD59-A6C34878D82A}">
                    <a16:rowId xmlns:a16="http://schemas.microsoft.com/office/drawing/2014/main" val="10013"/>
                  </a:ext>
                </a:extLst>
              </a:tr>
              <a:tr h="175050">
                <a:tc>
                  <a:txBody>
                    <a:bodyPr/>
                    <a:lstStyle/>
                    <a:p>
                      <a:pPr algn="l">
                        <a:defRPr sz="1100" b="0">
                          <a:solidFill>
                            <a:srgbClr val="000000"/>
                          </a:solidFill>
                          <a:latin typeface="Montserrat"/>
                        </a:defRPr>
                      </a:pPr>
                      <a:r>
                        <a:t>Infectología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98.4%</a:t>
                      </a:r>
                    </a:p>
                  </a:txBody>
                  <a:tcPr marL="45720" marR="45720" anchor="ctr">
                    <a:solidFill>
                      <a:srgbClr val="FFFFFF"/>
                    </a:solidFill>
                  </a:tcPr>
                </a:tc>
                <a:extLst>
                  <a:ext uri="{0D108BD9-81ED-4DB2-BD59-A6C34878D82A}">
                    <a16:rowId xmlns:a16="http://schemas.microsoft.com/office/drawing/2014/main" val="10014"/>
                  </a:ext>
                </a:extLst>
              </a:tr>
              <a:tr h="175050">
                <a:tc>
                  <a:txBody>
                    <a:bodyPr/>
                    <a:lstStyle/>
                    <a:p>
                      <a:pPr algn="l">
                        <a:defRPr sz="1100" b="0">
                          <a:solidFill>
                            <a:srgbClr val="000000"/>
                          </a:solidFill>
                          <a:latin typeface="Montserrat"/>
                        </a:defRPr>
                      </a:pPr>
                      <a:r>
                        <a:t>Medicina del Enfermo Pediátrico en Estado Crítico</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98.6%</a:t>
                      </a:r>
                    </a:p>
                  </a:txBody>
                  <a:tcPr marL="45720" marR="45720" anchor="ctr">
                    <a:solidFill>
                      <a:srgbClr val="D9D9D9"/>
                    </a:solidFill>
                  </a:tcPr>
                </a:tc>
                <a:extLst>
                  <a:ext uri="{0D108BD9-81ED-4DB2-BD59-A6C34878D82A}">
                    <a16:rowId xmlns:a16="http://schemas.microsoft.com/office/drawing/2014/main" val="10015"/>
                  </a:ext>
                </a:extLst>
              </a:tr>
              <a:tr h="175050">
                <a:tc>
                  <a:txBody>
                    <a:bodyPr/>
                    <a:lstStyle/>
                    <a:p>
                      <a:pPr algn="l">
                        <a:defRPr sz="1100" b="0">
                          <a:solidFill>
                            <a:srgbClr val="000000"/>
                          </a:solidFill>
                          <a:latin typeface="Montserrat"/>
                        </a:defRPr>
                      </a:pPr>
                      <a:r>
                        <a:t>Medicina Materno Fetal</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98.8%</a:t>
                      </a:r>
                    </a:p>
                  </a:txBody>
                  <a:tcPr marL="45720" marR="45720" anchor="ctr">
                    <a:solidFill>
                      <a:srgbClr val="FFFFFF"/>
                    </a:solidFill>
                  </a:tcPr>
                </a:tc>
                <a:extLst>
                  <a:ext uri="{0D108BD9-81ED-4DB2-BD59-A6C34878D82A}">
                    <a16:rowId xmlns:a16="http://schemas.microsoft.com/office/drawing/2014/main" val="10016"/>
                  </a:ext>
                </a:extLst>
              </a:tr>
              <a:tr h="175050">
                <a:tc>
                  <a:txBody>
                    <a:bodyPr/>
                    <a:lstStyle/>
                    <a:p>
                      <a:pPr algn="l">
                        <a:defRPr sz="1100" b="0">
                          <a:solidFill>
                            <a:srgbClr val="000000"/>
                          </a:solidFill>
                          <a:latin typeface="Montserrat"/>
                        </a:defRPr>
                      </a:pPr>
                      <a:r>
                        <a:t>Infectología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99.0%</a:t>
                      </a:r>
                    </a:p>
                  </a:txBody>
                  <a:tcPr marL="45720" marR="45720" anchor="ctr">
                    <a:solidFill>
                      <a:srgbClr val="D9D9D9"/>
                    </a:solidFill>
                  </a:tcPr>
                </a:tc>
                <a:extLst>
                  <a:ext uri="{0D108BD9-81ED-4DB2-BD59-A6C34878D82A}">
                    <a16:rowId xmlns:a16="http://schemas.microsoft.com/office/drawing/2014/main" val="10017"/>
                  </a:ext>
                </a:extLst>
              </a:tr>
              <a:tr h="175050">
                <a:tc>
                  <a:txBody>
                    <a:bodyPr/>
                    <a:lstStyle/>
                    <a:p>
                      <a:pPr algn="l">
                        <a:defRPr sz="1100" b="0">
                          <a:solidFill>
                            <a:srgbClr val="000000"/>
                          </a:solidFill>
                          <a:latin typeface="Montserrat"/>
                        </a:defRPr>
                      </a:pPr>
                      <a:r>
                        <a:t>Neonatología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99.2%</a:t>
                      </a:r>
                    </a:p>
                  </a:txBody>
                  <a:tcPr marL="45720" marR="45720" anchor="ctr">
                    <a:solidFill>
                      <a:srgbClr val="FFFFFF"/>
                    </a:solidFill>
                  </a:tcPr>
                </a:tc>
                <a:extLst>
                  <a:ext uri="{0D108BD9-81ED-4DB2-BD59-A6C34878D82A}">
                    <a16:rowId xmlns:a16="http://schemas.microsoft.com/office/drawing/2014/main" val="10018"/>
                  </a:ext>
                </a:extLst>
              </a:tr>
              <a:tr h="175050">
                <a:tc>
                  <a:txBody>
                    <a:bodyPr/>
                    <a:lstStyle/>
                    <a:p>
                      <a:pPr algn="l">
                        <a:defRPr sz="1100" b="0">
                          <a:solidFill>
                            <a:srgbClr val="000000"/>
                          </a:solidFill>
                          <a:latin typeface="Montserrat"/>
                        </a:defRPr>
                      </a:pPr>
                      <a:r>
                        <a:t>Neumología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99.4%</a:t>
                      </a:r>
                    </a:p>
                  </a:txBody>
                  <a:tcPr marL="45720" marR="45720" anchor="ctr">
                    <a:solidFill>
                      <a:srgbClr val="D9D9D9"/>
                    </a:solidFill>
                  </a:tcPr>
                </a:tc>
                <a:extLst>
                  <a:ext uri="{0D108BD9-81ED-4DB2-BD59-A6C34878D82A}">
                    <a16:rowId xmlns:a16="http://schemas.microsoft.com/office/drawing/2014/main" val="10019"/>
                  </a:ext>
                </a:extLst>
              </a:tr>
              <a:tr h="175050">
                <a:tc>
                  <a:txBody>
                    <a:bodyPr/>
                    <a:lstStyle/>
                    <a:p>
                      <a:pPr algn="l">
                        <a:defRPr sz="1100" b="0">
                          <a:solidFill>
                            <a:srgbClr val="000000"/>
                          </a:solidFill>
                          <a:latin typeface="Montserrat"/>
                        </a:defRPr>
                      </a:pPr>
                      <a:r>
                        <a:t>Radioncología Directa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99.6%</a:t>
                      </a:r>
                    </a:p>
                  </a:txBody>
                  <a:tcPr marL="45720" marR="45720" anchor="ctr">
                    <a:solidFill>
                      <a:srgbClr val="FFFFFF"/>
                    </a:solidFill>
                  </a:tcPr>
                </a:tc>
                <a:extLst>
                  <a:ext uri="{0D108BD9-81ED-4DB2-BD59-A6C34878D82A}">
                    <a16:rowId xmlns:a16="http://schemas.microsoft.com/office/drawing/2014/main" val="10020"/>
                  </a:ext>
                </a:extLst>
              </a:tr>
              <a:tr h="175050">
                <a:tc>
                  <a:txBody>
                    <a:bodyPr/>
                    <a:lstStyle/>
                    <a:p>
                      <a:pPr algn="l">
                        <a:defRPr sz="1100" b="0">
                          <a:solidFill>
                            <a:srgbClr val="000000"/>
                          </a:solidFill>
                          <a:latin typeface="Montserrat"/>
                        </a:defRPr>
                      </a:pPr>
                      <a:r>
                        <a:t>Patología Clínica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99.8%</a:t>
                      </a:r>
                    </a:p>
                  </a:txBody>
                  <a:tcPr marL="45720" marR="45720" anchor="ctr">
                    <a:solidFill>
                      <a:srgbClr val="D9D9D9"/>
                    </a:solidFill>
                  </a:tcPr>
                </a:tc>
                <a:extLst>
                  <a:ext uri="{0D108BD9-81ED-4DB2-BD59-A6C34878D82A}">
                    <a16:rowId xmlns:a16="http://schemas.microsoft.com/office/drawing/2014/main" val="10021"/>
                  </a:ext>
                </a:extLst>
              </a:tr>
              <a:tr h="175050">
                <a:tc>
                  <a:txBody>
                    <a:bodyPr/>
                    <a:lstStyle/>
                    <a:p>
                      <a:pPr algn="l">
                        <a:defRPr sz="1100" b="0">
                          <a:solidFill>
                            <a:srgbClr val="000000"/>
                          </a:solidFill>
                          <a:latin typeface="Montserrat"/>
                        </a:defRPr>
                      </a:pPr>
                      <a:r>
                        <a:t>Psiquiatría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100.0%</a:t>
                      </a:r>
                    </a:p>
                  </a:txBody>
                  <a:tcPr marL="45720" marR="45720" anchor="ctr">
                    <a:solidFill>
                      <a:srgbClr val="FFFFFF"/>
                    </a:solidFill>
                  </a:tcPr>
                </a:tc>
                <a:extLst>
                  <a:ext uri="{0D108BD9-81ED-4DB2-BD59-A6C34878D82A}">
                    <a16:rowId xmlns:a16="http://schemas.microsoft.com/office/drawing/2014/main" val="10022"/>
                  </a:ext>
                </a:extLst>
              </a:tr>
              <a:tr h="175050">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516</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2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D6F033B8-CE29-6B8C-73CF-BB96C01462B0}"/>
              </a:ext>
            </a:extLst>
          </p:cNvPr>
          <p:cNvGraphicFramePr/>
          <p:nvPr>
            <p:extLst>
              <p:ext uri="{D42A27DB-BD31-4B8C-83A1-F6EECF244321}">
                <p14:modId xmlns:p14="http://schemas.microsoft.com/office/powerpoint/2010/main" val="2022651458"/>
              </p:ext>
            </p:extLst>
          </p:nvPr>
        </p:nvGraphicFramePr>
        <p:xfrm>
          <a:off x="143525" y="671316"/>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4" name="TextBox 3"/>
          <p:cNvSpPr txBox="1"/>
          <p:nvPr/>
        </p:nvSpPr>
        <p:spPr>
          <a:xfrm>
            <a:off x="4029725" y="3907065"/>
            <a:ext cx="2796736" cy="123111"/>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Corte de información: </a:t>
            </a:r>
            <a:r>
              <a:rPr dirty="0" err="1">
                <a:solidFill>
                  <a:schemeClr val="tx1"/>
                </a:solidFill>
              </a:rPr>
              <a:t>semana</a:t>
            </a:r>
            <a:r>
              <a:rPr dirty="0">
                <a:solidFill>
                  <a:schemeClr val="tx1"/>
                </a:solidFill>
              </a:rPr>
              <a:t> 24, 7 </a:t>
            </a:r>
            <a:r>
              <a:rPr dirty="0" err="1">
                <a:solidFill>
                  <a:schemeClr val="tx1"/>
                </a:solidFill>
              </a:rPr>
              <a:t>junio</a:t>
            </a:r>
            <a:r>
              <a:rPr dirty="0">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778607469"/>
              </p:ext>
            </p:extLst>
          </p:nvPr>
        </p:nvGraphicFramePr>
        <p:xfrm>
          <a:off x="176100" y="1435512"/>
          <a:ext cx="3639599" cy="3264626"/>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429986">
                <a:tc>
                  <a:txBody>
                    <a:bodyPr/>
                    <a:lstStyle/>
                    <a:p>
                      <a:pPr algn="ctr">
                        <a:defRPr sz="1100" b="1">
                          <a:solidFill>
                            <a:srgbClr val="FFFFFF"/>
                          </a:solidFill>
                          <a:latin typeface="Montserrat"/>
                        </a:defRPr>
                      </a:pPr>
                      <a:r>
                        <a:rPr sz="1000" dirty="0" err="1"/>
                        <a:t>Especialidad</a:t>
                      </a:r>
                      <a:endParaRPr sz="1000" dirty="0"/>
                    </a:p>
                  </a:txBody>
                  <a:tcPr marL="14400" marR="14400" anchor="ctr">
                    <a:solidFill>
                      <a:srgbClr val="006455"/>
                    </a:solidFill>
                  </a:tcPr>
                </a:tc>
                <a:tc>
                  <a:txBody>
                    <a:bodyPr/>
                    <a:lstStyle/>
                    <a:p>
                      <a:pPr algn="ctr">
                        <a:defRPr sz="1100" b="1">
                          <a:solidFill>
                            <a:srgbClr val="FFFFFF"/>
                          </a:solidFill>
                          <a:latin typeface="Montserrat"/>
                        </a:defRPr>
                      </a:pPr>
                      <a:r>
                        <a:rPr sz="1000"/>
                        <a:t>Total</a:t>
                      </a:r>
                    </a:p>
                  </a:txBody>
                  <a:tcPr marL="14400" marR="14400" anchor="ctr">
                    <a:solidFill>
                      <a:srgbClr val="006455"/>
                    </a:solidFill>
                  </a:tcPr>
                </a:tc>
                <a:tc>
                  <a:txBody>
                    <a:bodyPr/>
                    <a:lstStyle/>
                    <a:p>
                      <a:pPr algn="ctr">
                        <a:defRPr sz="1100" b="1">
                          <a:solidFill>
                            <a:srgbClr val="FFFFFF"/>
                          </a:solidFill>
                          <a:latin typeface="Montserrat"/>
                        </a:defRPr>
                      </a:pPr>
                      <a:r>
                        <a:rPr sz="1000" dirty="0"/>
                        <a:t>% </a:t>
                      </a:r>
                      <a:r>
                        <a:rPr sz="1000" dirty="0" err="1"/>
                        <a:t>acumulado</a:t>
                      </a:r>
                      <a:r>
                        <a:rPr sz="1000" dirty="0"/>
                        <a:t> total</a:t>
                      </a:r>
                    </a:p>
                  </a:txBody>
                  <a:tcPr marL="14400" marR="14400" anchor="ctr">
                    <a:solidFill>
                      <a:srgbClr val="006455"/>
                    </a:solidFill>
                  </a:tcPr>
                </a:tc>
                <a:extLst>
                  <a:ext uri="{0D108BD9-81ED-4DB2-BD59-A6C34878D82A}">
                    <a16:rowId xmlns:a16="http://schemas.microsoft.com/office/drawing/2014/main" val="10000"/>
                  </a:ext>
                </a:extLst>
              </a:tr>
              <a:tr h="176404">
                <a:tc>
                  <a:txBody>
                    <a:bodyPr/>
                    <a:lstStyle/>
                    <a:p>
                      <a:pPr algn="l">
                        <a:defRPr sz="1000">
                          <a:latin typeface="Montserrat"/>
                        </a:defRPr>
                      </a:pPr>
                      <a:r>
                        <a:rPr sz="1000"/>
                        <a:t>Cirugía General</a:t>
                      </a:r>
                    </a:p>
                  </a:txBody>
                  <a:tcPr anchor="ctr">
                    <a:solidFill>
                      <a:srgbClr val="FFFFFF"/>
                    </a:solidFill>
                  </a:tcPr>
                </a:tc>
                <a:tc>
                  <a:txBody>
                    <a:bodyPr/>
                    <a:lstStyle/>
                    <a:p>
                      <a:pPr algn="ctr">
                        <a:defRPr sz="1000">
                          <a:latin typeface="Montserrat"/>
                        </a:defRPr>
                      </a:pPr>
                      <a:r>
                        <a:rPr sz="1000"/>
                        <a:t>5,042</a:t>
                      </a:r>
                    </a:p>
                  </a:txBody>
                  <a:tcPr anchor="ctr">
                    <a:solidFill>
                      <a:srgbClr val="FFFFFF"/>
                    </a:solidFill>
                  </a:tcPr>
                </a:tc>
                <a:tc>
                  <a:txBody>
                    <a:bodyPr/>
                    <a:lstStyle/>
                    <a:p>
                      <a:pPr algn="ctr">
                        <a:defRPr sz="1000">
                          <a:latin typeface="Montserrat"/>
                        </a:defRPr>
                      </a:pPr>
                      <a:r>
                        <a:rPr sz="1000" dirty="0"/>
                        <a:t>37.9%</a:t>
                      </a:r>
                    </a:p>
                  </a:txBody>
                  <a:tcPr anchor="ctr">
                    <a:solidFill>
                      <a:srgbClr val="FFFFFF"/>
                    </a:solidFill>
                  </a:tcPr>
                </a:tc>
                <a:extLst>
                  <a:ext uri="{0D108BD9-81ED-4DB2-BD59-A6C34878D82A}">
                    <a16:rowId xmlns:a16="http://schemas.microsoft.com/office/drawing/2014/main" val="10001"/>
                  </a:ext>
                </a:extLst>
              </a:tr>
              <a:tr h="286657">
                <a:tc>
                  <a:txBody>
                    <a:bodyPr/>
                    <a:lstStyle/>
                    <a:p>
                      <a:pPr algn="l">
                        <a:defRPr sz="1000">
                          <a:latin typeface="Montserrat"/>
                        </a:defRPr>
                      </a:pPr>
                      <a:r>
                        <a:rPr sz="1000"/>
                        <a:t>Traumatología y ortopedia</a:t>
                      </a:r>
                    </a:p>
                  </a:txBody>
                  <a:tcPr anchor="ctr">
                    <a:solidFill>
                      <a:srgbClr val="D9D9D9"/>
                    </a:solidFill>
                  </a:tcPr>
                </a:tc>
                <a:tc>
                  <a:txBody>
                    <a:bodyPr/>
                    <a:lstStyle/>
                    <a:p>
                      <a:pPr algn="ctr">
                        <a:defRPr sz="1000">
                          <a:latin typeface="Montserrat"/>
                        </a:defRPr>
                      </a:pPr>
                      <a:r>
                        <a:rPr sz="1000"/>
                        <a:t>2,860</a:t>
                      </a:r>
                    </a:p>
                  </a:txBody>
                  <a:tcPr anchor="ctr">
                    <a:solidFill>
                      <a:srgbClr val="D9D9D9"/>
                    </a:solidFill>
                  </a:tcPr>
                </a:tc>
                <a:tc>
                  <a:txBody>
                    <a:bodyPr/>
                    <a:lstStyle/>
                    <a:p>
                      <a:pPr algn="ctr">
                        <a:defRPr sz="1000">
                          <a:latin typeface="Montserrat"/>
                        </a:defRPr>
                      </a:pPr>
                      <a:r>
                        <a:rPr sz="1000" dirty="0"/>
                        <a:t>59.4%</a:t>
                      </a:r>
                    </a:p>
                  </a:txBody>
                  <a:tcPr anchor="ctr">
                    <a:solidFill>
                      <a:srgbClr val="D9D9D9"/>
                    </a:solidFill>
                  </a:tcPr>
                </a:tc>
                <a:extLst>
                  <a:ext uri="{0D108BD9-81ED-4DB2-BD59-A6C34878D82A}">
                    <a16:rowId xmlns:a16="http://schemas.microsoft.com/office/drawing/2014/main" val="10002"/>
                  </a:ext>
                </a:extLst>
              </a:tr>
              <a:tr h="176404">
                <a:tc>
                  <a:txBody>
                    <a:bodyPr/>
                    <a:lstStyle/>
                    <a:p>
                      <a:pPr algn="l">
                        <a:defRPr sz="1000">
                          <a:latin typeface="Montserrat"/>
                        </a:defRPr>
                      </a:pPr>
                      <a:r>
                        <a:rPr sz="1000"/>
                        <a:t>Oftalmología</a:t>
                      </a:r>
                    </a:p>
                  </a:txBody>
                  <a:tcPr anchor="ctr">
                    <a:solidFill>
                      <a:srgbClr val="FFFFFF"/>
                    </a:solidFill>
                  </a:tcPr>
                </a:tc>
                <a:tc>
                  <a:txBody>
                    <a:bodyPr/>
                    <a:lstStyle/>
                    <a:p>
                      <a:pPr algn="ctr">
                        <a:defRPr sz="1000">
                          <a:latin typeface="Montserrat"/>
                        </a:defRPr>
                      </a:pPr>
                      <a:r>
                        <a:rPr sz="1000"/>
                        <a:t>1,333</a:t>
                      </a:r>
                    </a:p>
                  </a:txBody>
                  <a:tcPr anchor="ctr">
                    <a:solidFill>
                      <a:srgbClr val="FFFFFF"/>
                    </a:solidFill>
                  </a:tcPr>
                </a:tc>
                <a:tc>
                  <a:txBody>
                    <a:bodyPr/>
                    <a:lstStyle/>
                    <a:p>
                      <a:pPr algn="ctr">
                        <a:defRPr sz="1000">
                          <a:latin typeface="Montserrat"/>
                        </a:defRPr>
                      </a:pPr>
                      <a:r>
                        <a:rPr sz="1000" dirty="0"/>
                        <a:t>69.4%</a:t>
                      </a:r>
                    </a:p>
                  </a:txBody>
                  <a:tcPr anchor="ctr">
                    <a:solidFill>
                      <a:srgbClr val="FFFFFF"/>
                    </a:solidFill>
                  </a:tcPr>
                </a:tc>
                <a:extLst>
                  <a:ext uri="{0D108BD9-81ED-4DB2-BD59-A6C34878D82A}">
                    <a16:rowId xmlns:a16="http://schemas.microsoft.com/office/drawing/2014/main" val="10003"/>
                  </a:ext>
                </a:extLst>
              </a:tr>
              <a:tr h="176404">
                <a:tc>
                  <a:txBody>
                    <a:bodyPr/>
                    <a:lstStyle/>
                    <a:p>
                      <a:pPr algn="l">
                        <a:defRPr sz="1000">
                          <a:latin typeface="Montserrat"/>
                        </a:defRPr>
                      </a:pPr>
                      <a:r>
                        <a:rPr sz="1000"/>
                        <a:t>Ginecología</a:t>
                      </a:r>
                    </a:p>
                  </a:txBody>
                  <a:tcPr anchor="ctr">
                    <a:solidFill>
                      <a:srgbClr val="D9D9D9"/>
                    </a:solidFill>
                  </a:tcPr>
                </a:tc>
                <a:tc>
                  <a:txBody>
                    <a:bodyPr/>
                    <a:lstStyle/>
                    <a:p>
                      <a:pPr algn="ctr">
                        <a:defRPr sz="1000">
                          <a:latin typeface="Montserrat"/>
                        </a:defRPr>
                      </a:pPr>
                      <a:r>
                        <a:rPr sz="1000"/>
                        <a:t>1,059</a:t>
                      </a:r>
                    </a:p>
                  </a:txBody>
                  <a:tcPr anchor="ctr">
                    <a:solidFill>
                      <a:srgbClr val="D9D9D9"/>
                    </a:solidFill>
                  </a:tcPr>
                </a:tc>
                <a:tc>
                  <a:txBody>
                    <a:bodyPr/>
                    <a:lstStyle/>
                    <a:p>
                      <a:pPr algn="ctr">
                        <a:defRPr sz="1000">
                          <a:latin typeface="Montserrat"/>
                        </a:defRPr>
                      </a:pPr>
                      <a:r>
                        <a:rPr sz="1000"/>
                        <a:t>77.3%</a:t>
                      </a:r>
                    </a:p>
                  </a:txBody>
                  <a:tcPr anchor="ctr">
                    <a:solidFill>
                      <a:srgbClr val="D9D9D9"/>
                    </a:solidFill>
                  </a:tcPr>
                </a:tc>
                <a:extLst>
                  <a:ext uri="{0D108BD9-81ED-4DB2-BD59-A6C34878D82A}">
                    <a16:rowId xmlns:a16="http://schemas.microsoft.com/office/drawing/2014/main" val="10004"/>
                  </a:ext>
                </a:extLst>
              </a:tr>
              <a:tr h="176404">
                <a:tc>
                  <a:txBody>
                    <a:bodyPr/>
                    <a:lstStyle/>
                    <a:p>
                      <a:pPr algn="l">
                        <a:defRPr sz="1000">
                          <a:latin typeface="Montserrat"/>
                        </a:defRPr>
                      </a:pPr>
                      <a:r>
                        <a:rPr sz="1000"/>
                        <a:t>Obstetricia</a:t>
                      </a:r>
                    </a:p>
                  </a:txBody>
                  <a:tcPr anchor="ctr">
                    <a:solidFill>
                      <a:srgbClr val="FFFFFF"/>
                    </a:solidFill>
                  </a:tcPr>
                </a:tc>
                <a:tc>
                  <a:txBody>
                    <a:bodyPr/>
                    <a:lstStyle/>
                    <a:p>
                      <a:pPr algn="ctr">
                        <a:defRPr sz="1000">
                          <a:latin typeface="Montserrat"/>
                        </a:defRPr>
                      </a:pPr>
                      <a:r>
                        <a:rPr sz="1000"/>
                        <a:t>980</a:t>
                      </a:r>
                    </a:p>
                  </a:txBody>
                  <a:tcPr anchor="ctr">
                    <a:solidFill>
                      <a:srgbClr val="FFFFFF"/>
                    </a:solidFill>
                  </a:tcPr>
                </a:tc>
                <a:tc>
                  <a:txBody>
                    <a:bodyPr/>
                    <a:lstStyle/>
                    <a:p>
                      <a:pPr algn="ctr">
                        <a:defRPr sz="1000">
                          <a:latin typeface="Montserrat"/>
                        </a:defRPr>
                      </a:pPr>
                      <a:r>
                        <a:rPr sz="1000" dirty="0"/>
                        <a:t>84.7%</a:t>
                      </a:r>
                    </a:p>
                  </a:txBody>
                  <a:tcPr anchor="ctr">
                    <a:solidFill>
                      <a:srgbClr val="FFFFFF"/>
                    </a:solidFill>
                  </a:tcPr>
                </a:tc>
                <a:extLst>
                  <a:ext uri="{0D108BD9-81ED-4DB2-BD59-A6C34878D82A}">
                    <a16:rowId xmlns:a16="http://schemas.microsoft.com/office/drawing/2014/main" val="10005"/>
                  </a:ext>
                </a:extLst>
              </a:tr>
              <a:tr h="176404">
                <a:tc>
                  <a:txBody>
                    <a:bodyPr/>
                    <a:lstStyle/>
                    <a:p>
                      <a:pPr algn="l">
                        <a:defRPr sz="1000">
                          <a:latin typeface="Montserrat"/>
                        </a:defRPr>
                      </a:pPr>
                      <a:r>
                        <a:rPr sz="1000"/>
                        <a:t>Urología  </a:t>
                      </a:r>
                    </a:p>
                  </a:txBody>
                  <a:tcPr anchor="ctr">
                    <a:solidFill>
                      <a:srgbClr val="D9D9D9"/>
                    </a:solidFill>
                  </a:tcPr>
                </a:tc>
                <a:tc>
                  <a:txBody>
                    <a:bodyPr/>
                    <a:lstStyle/>
                    <a:p>
                      <a:pPr algn="ctr">
                        <a:defRPr sz="1000">
                          <a:latin typeface="Montserrat"/>
                        </a:defRPr>
                      </a:pPr>
                      <a:r>
                        <a:rPr sz="1000"/>
                        <a:t>758</a:t>
                      </a:r>
                    </a:p>
                  </a:txBody>
                  <a:tcPr anchor="ctr">
                    <a:solidFill>
                      <a:srgbClr val="D9D9D9"/>
                    </a:solidFill>
                  </a:tcPr>
                </a:tc>
                <a:tc>
                  <a:txBody>
                    <a:bodyPr/>
                    <a:lstStyle/>
                    <a:p>
                      <a:pPr algn="ctr">
                        <a:defRPr sz="1000">
                          <a:latin typeface="Montserrat"/>
                        </a:defRPr>
                      </a:pPr>
                      <a:r>
                        <a:rPr sz="1000" dirty="0"/>
                        <a:t>90.4%</a:t>
                      </a:r>
                    </a:p>
                  </a:txBody>
                  <a:tcPr anchor="ctr">
                    <a:solidFill>
                      <a:srgbClr val="D9D9D9"/>
                    </a:solidFill>
                  </a:tcPr>
                </a:tc>
                <a:extLst>
                  <a:ext uri="{0D108BD9-81ED-4DB2-BD59-A6C34878D82A}">
                    <a16:rowId xmlns:a16="http://schemas.microsoft.com/office/drawing/2014/main" val="10006"/>
                  </a:ext>
                </a:extLst>
              </a:tr>
              <a:tr h="176404">
                <a:tc>
                  <a:txBody>
                    <a:bodyPr/>
                    <a:lstStyle/>
                    <a:p>
                      <a:pPr algn="l">
                        <a:defRPr sz="1000">
                          <a:latin typeface="Montserrat"/>
                        </a:defRPr>
                      </a:pPr>
                      <a:r>
                        <a:rPr sz="1000"/>
                        <a:t>Otorrinolaringología</a:t>
                      </a:r>
                    </a:p>
                  </a:txBody>
                  <a:tcPr anchor="ctr">
                    <a:solidFill>
                      <a:srgbClr val="FFFFFF"/>
                    </a:solidFill>
                  </a:tcPr>
                </a:tc>
                <a:tc>
                  <a:txBody>
                    <a:bodyPr/>
                    <a:lstStyle/>
                    <a:p>
                      <a:pPr algn="ctr">
                        <a:defRPr sz="1000">
                          <a:latin typeface="Montserrat"/>
                        </a:defRPr>
                      </a:pPr>
                      <a:r>
                        <a:rPr sz="1000"/>
                        <a:t>496</a:t>
                      </a:r>
                    </a:p>
                  </a:txBody>
                  <a:tcPr anchor="ctr">
                    <a:solidFill>
                      <a:srgbClr val="FFFFFF"/>
                    </a:solidFill>
                  </a:tcPr>
                </a:tc>
                <a:tc>
                  <a:txBody>
                    <a:bodyPr/>
                    <a:lstStyle/>
                    <a:p>
                      <a:pPr algn="ctr">
                        <a:defRPr sz="1000">
                          <a:latin typeface="Montserrat"/>
                        </a:defRPr>
                      </a:pPr>
                      <a:r>
                        <a:rPr sz="1000"/>
                        <a:t>94.1%</a:t>
                      </a:r>
                    </a:p>
                  </a:txBody>
                  <a:tcPr anchor="ctr">
                    <a:solidFill>
                      <a:srgbClr val="FFFFFF"/>
                    </a:solidFill>
                  </a:tcPr>
                </a:tc>
                <a:extLst>
                  <a:ext uri="{0D108BD9-81ED-4DB2-BD59-A6C34878D82A}">
                    <a16:rowId xmlns:a16="http://schemas.microsoft.com/office/drawing/2014/main" val="10007"/>
                  </a:ext>
                </a:extLst>
              </a:tr>
              <a:tr h="176404">
                <a:tc>
                  <a:txBody>
                    <a:bodyPr/>
                    <a:lstStyle/>
                    <a:p>
                      <a:pPr algn="l">
                        <a:defRPr sz="1000">
                          <a:latin typeface="Montserrat"/>
                        </a:defRPr>
                      </a:pPr>
                      <a:r>
                        <a:rPr sz="1000"/>
                        <a:t>Cardiología</a:t>
                      </a:r>
                    </a:p>
                  </a:txBody>
                  <a:tcPr anchor="ctr">
                    <a:solidFill>
                      <a:srgbClr val="D9D9D9"/>
                    </a:solidFill>
                  </a:tcPr>
                </a:tc>
                <a:tc>
                  <a:txBody>
                    <a:bodyPr/>
                    <a:lstStyle/>
                    <a:p>
                      <a:pPr algn="ctr">
                        <a:defRPr sz="1000">
                          <a:latin typeface="Montserrat"/>
                        </a:defRPr>
                      </a:pPr>
                      <a:r>
                        <a:rPr sz="1000"/>
                        <a:t>268</a:t>
                      </a:r>
                    </a:p>
                  </a:txBody>
                  <a:tcPr anchor="ctr">
                    <a:solidFill>
                      <a:srgbClr val="D9D9D9"/>
                    </a:solidFill>
                  </a:tcPr>
                </a:tc>
                <a:tc>
                  <a:txBody>
                    <a:bodyPr/>
                    <a:lstStyle/>
                    <a:p>
                      <a:pPr algn="ctr">
                        <a:defRPr sz="1000">
                          <a:latin typeface="Montserrat"/>
                        </a:defRPr>
                      </a:pPr>
                      <a:r>
                        <a:rPr sz="1000" dirty="0"/>
                        <a:t>96.1%</a:t>
                      </a:r>
                    </a:p>
                  </a:txBody>
                  <a:tcPr anchor="ctr">
                    <a:solidFill>
                      <a:srgbClr val="D9D9D9"/>
                    </a:solidFill>
                  </a:tcPr>
                </a:tc>
                <a:extLst>
                  <a:ext uri="{0D108BD9-81ED-4DB2-BD59-A6C34878D82A}">
                    <a16:rowId xmlns:a16="http://schemas.microsoft.com/office/drawing/2014/main" val="10008"/>
                  </a:ext>
                </a:extLst>
              </a:tr>
              <a:tr h="176404">
                <a:tc>
                  <a:txBody>
                    <a:bodyPr/>
                    <a:lstStyle/>
                    <a:p>
                      <a:pPr algn="l">
                        <a:defRPr sz="1000">
                          <a:latin typeface="Montserrat"/>
                        </a:defRPr>
                      </a:pPr>
                      <a:r>
                        <a:rPr sz="1000"/>
                        <a:t>Cirugía oncológica</a:t>
                      </a:r>
                    </a:p>
                  </a:txBody>
                  <a:tcPr anchor="ctr">
                    <a:solidFill>
                      <a:srgbClr val="FFFFFF"/>
                    </a:solidFill>
                  </a:tcPr>
                </a:tc>
                <a:tc>
                  <a:txBody>
                    <a:bodyPr/>
                    <a:lstStyle/>
                    <a:p>
                      <a:pPr algn="ctr">
                        <a:defRPr sz="1000">
                          <a:latin typeface="Montserrat"/>
                        </a:defRPr>
                      </a:pPr>
                      <a:r>
                        <a:rPr sz="1000"/>
                        <a:t>265</a:t>
                      </a:r>
                    </a:p>
                  </a:txBody>
                  <a:tcPr anchor="ctr">
                    <a:solidFill>
                      <a:srgbClr val="FFFFFF"/>
                    </a:solidFill>
                  </a:tcPr>
                </a:tc>
                <a:tc>
                  <a:txBody>
                    <a:bodyPr/>
                    <a:lstStyle/>
                    <a:p>
                      <a:pPr algn="ctr">
                        <a:defRPr sz="1000">
                          <a:latin typeface="Montserrat"/>
                        </a:defRPr>
                      </a:pPr>
                      <a:r>
                        <a:rPr sz="1000" dirty="0"/>
                        <a:t>98.1%</a:t>
                      </a:r>
                    </a:p>
                  </a:txBody>
                  <a:tcPr anchor="ctr">
                    <a:solidFill>
                      <a:srgbClr val="FFFFFF"/>
                    </a:solidFill>
                  </a:tcPr>
                </a:tc>
                <a:extLst>
                  <a:ext uri="{0D108BD9-81ED-4DB2-BD59-A6C34878D82A}">
                    <a16:rowId xmlns:a16="http://schemas.microsoft.com/office/drawing/2014/main" val="10009"/>
                  </a:ext>
                </a:extLst>
              </a:tr>
              <a:tr h="176404">
                <a:tc>
                  <a:txBody>
                    <a:bodyPr/>
                    <a:lstStyle/>
                    <a:p>
                      <a:pPr algn="l">
                        <a:defRPr sz="1000">
                          <a:latin typeface="Montserrat"/>
                        </a:defRPr>
                      </a:pPr>
                      <a:r>
                        <a:rPr sz="1000"/>
                        <a:t>Cirugía Pediátrica  </a:t>
                      </a:r>
                    </a:p>
                  </a:txBody>
                  <a:tcPr anchor="ctr">
                    <a:solidFill>
                      <a:srgbClr val="D9D9D9"/>
                    </a:solidFill>
                  </a:tcPr>
                </a:tc>
                <a:tc>
                  <a:txBody>
                    <a:bodyPr/>
                    <a:lstStyle/>
                    <a:p>
                      <a:pPr algn="ctr">
                        <a:defRPr sz="1000">
                          <a:latin typeface="Montserrat"/>
                        </a:defRPr>
                      </a:pPr>
                      <a:r>
                        <a:rPr sz="1000"/>
                        <a:t>252</a:t>
                      </a:r>
                    </a:p>
                  </a:txBody>
                  <a:tcPr anchor="ctr">
                    <a:solidFill>
                      <a:srgbClr val="D9D9D9"/>
                    </a:solidFill>
                  </a:tcPr>
                </a:tc>
                <a:tc>
                  <a:txBody>
                    <a:bodyPr/>
                    <a:lstStyle/>
                    <a:p>
                      <a:pPr algn="ctr">
                        <a:defRPr sz="1000">
                          <a:latin typeface="Montserrat"/>
                        </a:defRPr>
                      </a:pPr>
                      <a:r>
                        <a:rPr sz="1000" dirty="0"/>
                        <a:t>100.0%</a:t>
                      </a:r>
                    </a:p>
                  </a:txBody>
                  <a:tcPr anchor="ctr">
                    <a:solidFill>
                      <a:srgbClr val="D9D9D9"/>
                    </a:solidFill>
                  </a:tcPr>
                </a:tc>
                <a:extLst>
                  <a:ext uri="{0D108BD9-81ED-4DB2-BD59-A6C34878D82A}">
                    <a16:rowId xmlns:a16="http://schemas.microsoft.com/office/drawing/2014/main" val="10010"/>
                  </a:ext>
                </a:extLst>
              </a:tr>
              <a:tr h="176404">
                <a:tc>
                  <a:txBody>
                    <a:bodyPr/>
                    <a:lstStyle/>
                    <a:p>
                      <a:pPr algn="l">
                        <a:defRPr sz="1000" b="1">
                          <a:solidFill>
                            <a:srgbClr val="006455"/>
                          </a:solidFill>
                          <a:latin typeface="Montserrat"/>
                        </a:defRPr>
                      </a:pPr>
                      <a:r>
                        <a:rPr sz="1000"/>
                        <a:t>Total</a:t>
                      </a:r>
                    </a:p>
                  </a:txBody>
                  <a:tcPr anchor="ctr">
                    <a:solidFill>
                      <a:srgbClr val="D3E9E7"/>
                    </a:solidFill>
                  </a:tcPr>
                </a:tc>
                <a:tc>
                  <a:txBody>
                    <a:bodyPr/>
                    <a:lstStyle/>
                    <a:p>
                      <a:pPr algn="ctr">
                        <a:defRPr sz="1000" b="1">
                          <a:solidFill>
                            <a:srgbClr val="006455"/>
                          </a:solidFill>
                          <a:latin typeface="Montserrat"/>
                        </a:defRPr>
                      </a:pPr>
                      <a:r>
                        <a:rPr sz="1000"/>
                        <a:t>13,313</a:t>
                      </a:r>
                    </a:p>
                  </a:txBody>
                  <a:tcPr anchor="ctr">
                    <a:solidFill>
                      <a:srgbClr val="D3E9E7"/>
                    </a:solidFill>
                  </a:tcPr>
                </a:tc>
                <a:tc>
                  <a:txBody>
                    <a:bodyPr/>
                    <a:lstStyle/>
                    <a:p>
                      <a:pPr algn="ctr">
                        <a:defRPr sz="1000" b="1">
                          <a:solidFill>
                            <a:srgbClr val="006455"/>
                          </a:solidFill>
                          <a:latin typeface="Montserrat"/>
                        </a:defRPr>
                      </a:pPr>
                      <a:r>
                        <a:rPr sz="1000" dirty="0"/>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95755773"/>
              </p:ext>
            </p:extLst>
          </p:nvPr>
        </p:nvGraphicFramePr>
        <p:xfrm>
          <a:off x="3891075" y="1435512"/>
          <a:ext cx="3639599" cy="234696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04015">
                <a:tc>
                  <a:txBody>
                    <a:bodyPr/>
                    <a:lstStyle/>
                    <a:p>
                      <a:pPr algn="ctr">
                        <a:defRPr sz="1100" b="1">
                          <a:solidFill>
                            <a:srgbClr val="FFFFFF"/>
                          </a:solidFill>
                          <a:latin typeface="Montserrat"/>
                        </a:defRPr>
                      </a:pPr>
                      <a:r>
                        <a:rPr sz="1000" dirty="0"/>
                        <a:t>Cirugía </a:t>
                      </a:r>
                      <a:r>
                        <a:rPr sz="1000" dirty="0" err="1"/>
                        <a:t>prioritaria</a:t>
                      </a:r>
                      <a:endParaRPr sz="1000" dirty="0"/>
                    </a:p>
                  </a:txBody>
                  <a:tcPr marL="14400" marR="14400" anchor="ctr">
                    <a:solidFill>
                      <a:srgbClr val="006455"/>
                    </a:solidFill>
                  </a:tcPr>
                </a:tc>
                <a:tc>
                  <a:txBody>
                    <a:bodyPr/>
                    <a:lstStyle/>
                    <a:p>
                      <a:pPr algn="ctr">
                        <a:defRPr sz="1100" b="1">
                          <a:solidFill>
                            <a:srgbClr val="FFFFFF"/>
                          </a:solidFill>
                          <a:latin typeface="Montserrat"/>
                        </a:defRPr>
                      </a:pPr>
                      <a:r>
                        <a:rPr sz="1000"/>
                        <a:t>Total</a:t>
                      </a:r>
                    </a:p>
                  </a:txBody>
                  <a:tcPr marL="14400" marR="14400" anchor="ctr">
                    <a:solidFill>
                      <a:srgbClr val="006455"/>
                    </a:solidFill>
                  </a:tcPr>
                </a:tc>
                <a:tc>
                  <a:txBody>
                    <a:bodyPr/>
                    <a:lstStyle/>
                    <a:p>
                      <a:pPr algn="ctr">
                        <a:defRPr sz="1100" b="1">
                          <a:solidFill>
                            <a:srgbClr val="FFFFFF"/>
                          </a:solidFill>
                          <a:latin typeface="Montserrat"/>
                        </a:defRPr>
                      </a:pPr>
                      <a:r>
                        <a:rPr sz="1000"/>
                        <a:t>% del total</a:t>
                      </a:r>
                    </a:p>
                  </a:txBody>
                  <a:tcPr marL="14400" marR="14400" anchor="ctr">
                    <a:solidFill>
                      <a:srgbClr val="006455"/>
                    </a:solidFill>
                  </a:tcPr>
                </a:tc>
                <a:extLst>
                  <a:ext uri="{0D108BD9-81ED-4DB2-BD59-A6C34878D82A}">
                    <a16:rowId xmlns:a16="http://schemas.microsoft.com/office/drawing/2014/main" val="10000"/>
                  </a:ext>
                </a:extLst>
              </a:tr>
              <a:tr h="192014">
                <a:tc>
                  <a:txBody>
                    <a:bodyPr/>
                    <a:lstStyle/>
                    <a:p>
                      <a:pPr algn="l">
                        <a:defRPr sz="1000">
                          <a:latin typeface="Montserrat"/>
                        </a:defRPr>
                      </a:pPr>
                      <a:r>
                        <a:rPr sz="1000" dirty="0" err="1"/>
                        <a:t>Colecistectomías</a:t>
                      </a:r>
                      <a:endParaRPr sz="1000" dirty="0"/>
                    </a:p>
                  </a:txBody>
                  <a:tcPr anchor="ctr">
                    <a:solidFill>
                      <a:srgbClr val="FFFFFF"/>
                    </a:solidFill>
                  </a:tcPr>
                </a:tc>
                <a:tc>
                  <a:txBody>
                    <a:bodyPr/>
                    <a:lstStyle/>
                    <a:p>
                      <a:pPr algn="ctr">
                        <a:defRPr sz="1000">
                          <a:latin typeface="Montserrat"/>
                        </a:defRPr>
                      </a:pPr>
                      <a:r>
                        <a:rPr sz="1000" dirty="0"/>
                        <a:t>1,097</a:t>
                      </a:r>
                    </a:p>
                  </a:txBody>
                  <a:tcPr anchor="ctr">
                    <a:solidFill>
                      <a:srgbClr val="FFFFFF"/>
                    </a:solidFill>
                  </a:tcPr>
                </a:tc>
                <a:tc>
                  <a:txBody>
                    <a:bodyPr/>
                    <a:lstStyle/>
                    <a:p>
                      <a:pPr algn="ctr">
                        <a:defRPr sz="1000">
                          <a:latin typeface="Montserrat"/>
                        </a:defRPr>
                      </a:pPr>
                      <a:r>
                        <a:rPr sz="1000"/>
                        <a:t>31.2%</a:t>
                      </a:r>
                    </a:p>
                  </a:txBody>
                  <a:tcPr anchor="ctr">
                    <a:solidFill>
                      <a:srgbClr val="FFFFFF"/>
                    </a:solidFill>
                  </a:tcPr>
                </a:tc>
                <a:extLst>
                  <a:ext uri="{0D108BD9-81ED-4DB2-BD59-A6C34878D82A}">
                    <a16:rowId xmlns:a16="http://schemas.microsoft.com/office/drawing/2014/main" val="10001"/>
                  </a:ext>
                </a:extLst>
              </a:tr>
              <a:tr h="192014">
                <a:tc>
                  <a:txBody>
                    <a:bodyPr/>
                    <a:lstStyle/>
                    <a:p>
                      <a:pPr algn="l">
                        <a:defRPr sz="1000">
                          <a:latin typeface="Montserrat"/>
                        </a:defRPr>
                      </a:pPr>
                      <a:r>
                        <a:rPr sz="1000"/>
                        <a:t>Catarata</a:t>
                      </a:r>
                    </a:p>
                  </a:txBody>
                  <a:tcPr anchor="ctr">
                    <a:solidFill>
                      <a:srgbClr val="D9D9D9"/>
                    </a:solidFill>
                  </a:tcPr>
                </a:tc>
                <a:tc>
                  <a:txBody>
                    <a:bodyPr/>
                    <a:lstStyle/>
                    <a:p>
                      <a:pPr algn="ctr">
                        <a:defRPr sz="1000">
                          <a:latin typeface="Montserrat"/>
                        </a:defRPr>
                      </a:pPr>
                      <a:r>
                        <a:rPr sz="1000" dirty="0"/>
                        <a:t>707</a:t>
                      </a:r>
                    </a:p>
                  </a:txBody>
                  <a:tcPr anchor="ctr">
                    <a:solidFill>
                      <a:srgbClr val="D9D9D9"/>
                    </a:solidFill>
                  </a:tcPr>
                </a:tc>
                <a:tc>
                  <a:txBody>
                    <a:bodyPr/>
                    <a:lstStyle/>
                    <a:p>
                      <a:pPr algn="ctr">
                        <a:defRPr sz="1000">
                          <a:latin typeface="Montserrat"/>
                        </a:defRPr>
                      </a:pPr>
                      <a:r>
                        <a:rPr sz="1000"/>
                        <a:t>51.3%</a:t>
                      </a:r>
                    </a:p>
                  </a:txBody>
                  <a:tcPr anchor="ctr">
                    <a:solidFill>
                      <a:srgbClr val="D9D9D9"/>
                    </a:solidFill>
                  </a:tcPr>
                </a:tc>
                <a:extLst>
                  <a:ext uri="{0D108BD9-81ED-4DB2-BD59-A6C34878D82A}">
                    <a16:rowId xmlns:a16="http://schemas.microsoft.com/office/drawing/2014/main" val="10002"/>
                  </a:ext>
                </a:extLst>
              </a:tr>
              <a:tr h="312023">
                <a:tc>
                  <a:txBody>
                    <a:bodyPr/>
                    <a:lstStyle/>
                    <a:p>
                      <a:pPr algn="l">
                        <a:defRPr sz="1000">
                          <a:latin typeface="Montserrat"/>
                        </a:defRPr>
                      </a:pPr>
                      <a:r>
                        <a:rPr sz="1000"/>
                        <a:t>Hernioplastías abdominales</a:t>
                      </a:r>
                    </a:p>
                  </a:txBody>
                  <a:tcPr anchor="ctr">
                    <a:solidFill>
                      <a:srgbClr val="FFFFFF"/>
                    </a:solidFill>
                  </a:tcPr>
                </a:tc>
                <a:tc>
                  <a:txBody>
                    <a:bodyPr/>
                    <a:lstStyle/>
                    <a:p>
                      <a:pPr algn="ctr">
                        <a:defRPr sz="1000">
                          <a:latin typeface="Montserrat"/>
                        </a:defRPr>
                      </a:pPr>
                      <a:r>
                        <a:rPr sz="1000" dirty="0"/>
                        <a:t>640</a:t>
                      </a:r>
                    </a:p>
                  </a:txBody>
                  <a:tcPr anchor="ctr">
                    <a:solidFill>
                      <a:srgbClr val="FFFFFF"/>
                    </a:solidFill>
                  </a:tcPr>
                </a:tc>
                <a:tc>
                  <a:txBody>
                    <a:bodyPr/>
                    <a:lstStyle/>
                    <a:p>
                      <a:pPr algn="ctr">
                        <a:defRPr sz="1000">
                          <a:latin typeface="Montserrat"/>
                        </a:defRPr>
                      </a:pPr>
                      <a:r>
                        <a:rPr sz="1000"/>
                        <a:t>69.5%</a:t>
                      </a:r>
                    </a:p>
                  </a:txBody>
                  <a:tcPr anchor="ctr">
                    <a:solidFill>
                      <a:srgbClr val="FFFFFF"/>
                    </a:solidFill>
                  </a:tcPr>
                </a:tc>
                <a:extLst>
                  <a:ext uri="{0D108BD9-81ED-4DB2-BD59-A6C34878D82A}">
                    <a16:rowId xmlns:a16="http://schemas.microsoft.com/office/drawing/2014/main" val="10003"/>
                  </a:ext>
                </a:extLst>
              </a:tr>
              <a:tr h="192014">
                <a:tc>
                  <a:txBody>
                    <a:bodyPr/>
                    <a:lstStyle/>
                    <a:p>
                      <a:pPr algn="l">
                        <a:defRPr sz="1000">
                          <a:latin typeface="Montserrat"/>
                        </a:defRPr>
                      </a:pPr>
                      <a:r>
                        <a:rPr sz="1000"/>
                        <a:t>Sustitución de rodilla</a:t>
                      </a:r>
                    </a:p>
                  </a:txBody>
                  <a:tcPr anchor="ctr">
                    <a:solidFill>
                      <a:srgbClr val="D9D9D9"/>
                    </a:solidFill>
                  </a:tcPr>
                </a:tc>
                <a:tc>
                  <a:txBody>
                    <a:bodyPr/>
                    <a:lstStyle/>
                    <a:p>
                      <a:pPr algn="ctr">
                        <a:defRPr sz="1000">
                          <a:latin typeface="Montserrat"/>
                        </a:defRPr>
                      </a:pPr>
                      <a:r>
                        <a:rPr sz="1000"/>
                        <a:t>419</a:t>
                      </a:r>
                    </a:p>
                  </a:txBody>
                  <a:tcPr anchor="ctr">
                    <a:solidFill>
                      <a:srgbClr val="D9D9D9"/>
                    </a:solidFill>
                  </a:tcPr>
                </a:tc>
                <a:tc>
                  <a:txBody>
                    <a:bodyPr/>
                    <a:lstStyle/>
                    <a:p>
                      <a:pPr algn="ctr">
                        <a:defRPr sz="1000">
                          <a:latin typeface="Montserrat"/>
                        </a:defRPr>
                      </a:pPr>
                      <a:r>
                        <a:rPr sz="1000" dirty="0"/>
                        <a:t>81.4%</a:t>
                      </a:r>
                    </a:p>
                  </a:txBody>
                  <a:tcPr anchor="ctr">
                    <a:solidFill>
                      <a:srgbClr val="D9D9D9"/>
                    </a:solidFill>
                  </a:tcPr>
                </a:tc>
                <a:extLst>
                  <a:ext uri="{0D108BD9-81ED-4DB2-BD59-A6C34878D82A}">
                    <a16:rowId xmlns:a16="http://schemas.microsoft.com/office/drawing/2014/main" val="10004"/>
                  </a:ext>
                </a:extLst>
              </a:tr>
              <a:tr h="192014">
                <a:tc>
                  <a:txBody>
                    <a:bodyPr/>
                    <a:lstStyle/>
                    <a:p>
                      <a:pPr algn="l">
                        <a:defRPr sz="1000">
                          <a:latin typeface="Montserrat"/>
                        </a:defRPr>
                      </a:pPr>
                      <a:r>
                        <a:rPr sz="1000" dirty="0" err="1"/>
                        <a:t>Histerectomías</a:t>
                      </a:r>
                      <a:endParaRPr sz="1000" dirty="0"/>
                    </a:p>
                  </a:txBody>
                  <a:tcPr anchor="ctr">
                    <a:solidFill>
                      <a:srgbClr val="FFFFFF"/>
                    </a:solidFill>
                  </a:tcPr>
                </a:tc>
                <a:tc>
                  <a:txBody>
                    <a:bodyPr/>
                    <a:lstStyle/>
                    <a:p>
                      <a:pPr algn="ctr">
                        <a:defRPr sz="1000">
                          <a:latin typeface="Montserrat"/>
                        </a:defRPr>
                      </a:pPr>
                      <a:r>
                        <a:rPr sz="1000"/>
                        <a:t>349</a:t>
                      </a:r>
                    </a:p>
                  </a:txBody>
                  <a:tcPr anchor="ctr">
                    <a:solidFill>
                      <a:srgbClr val="FFFFFF"/>
                    </a:solidFill>
                  </a:tcPr>
                </a:tc>
                <a:tc>
                  <a:txBody>
                    <a:bodyPr/>
                    <a:lstStyle/>
                    <a:p>
                      <a:pPr algn="ctr">
                        <a:defRPr sz="1000">
                          <a:latin typeface="Montserrat"/>
                        </a:defRPr>
                      </a:pPr>
                      <a:r>
                        <a:rPr sz="1000" dirty="0"/>
                        <a:t>91.3%</a:t>
                      </a:r>
                    </a:p>
                  </a:txBody>
                  <a:tcPr anchor="ctr">
                    <a:solidFill>
                      <a:srgbClr val="FFFFFF"/>
                    </a:solidFill>
                  </a:tcPr>
                </a:tc>
                <a:extLst>
                  <a:ext uri="{0D108BD9-81ED-4DB2-BD59-A6C34878D82A}">
                    <a16:rowId xmlns:a16="http://schemas.microsoft.com/office/drawing/2014/main" val="10005"/>
                  </a:ext>
                </a:extLst>
              </a:tr>
              <a:tr h="192014">
                <a:tc>
                  <a:txBody>
                    <a:bodyPr/>
                    <a:lstStyle/>
                    <a:p>
                      <a:pPr algn="l">
                        <a:defRPr sz="1000">
                          <a:latin typeface="Montserrat"/>
                        </a:defRPr>
                      </a:pPr>
                      <a:r>
                        <a:rPr sz="1000"/>
                        <a:t>Sustitución de cadera</a:t>
                      </a:r>
                    </a:p>
                  </a:txBody>
                  <a:tcPr anchor="ctr">
                    <a:solidFill>
                      <a:srgbClr val="D9D9D9"/>
                    </a:solidFill>
                  </a:tcPr>
                </a:tc>
                <a:tc>
                  <a:txBody>
                    <a:bodyPr/>
                    <a:lstStyle/>
                    <a:p>
                      <a:pPr algn="ctr">
                        <a:defRPr sz="1000">
                          <a:latin typeface="Montserrat"/>
                        </a:defRPr>
                      </a:pPr>
                      <a:r>
                        <a:rPr sz="1000"/>
                        <a:t>204</a:t>
                      </a:r>
                    </a:p>
                  </a:txBody>
                  <a:tcPr anchor="ctr">
                    <a:solidFill>
                      <a:srgbClr val="D9D9D9"/>
                    </a:solidFill>
                  </a:tcPr>
                </a:tc>
                <a:tc>
                  <a:txBody>
                    <a:bodyPr/>
                    <a:lstStyle/>
                    <a:p>
                      <a:pPr algn="ctr">
                        <a:defRPr sz="1000">
                          <a:latin typeface="Montserrat"/>
                        </a:defRPr>
                      </a:pPr>
                      <a:r>
                        <a:rPr sz="1000" dirty="0"/>
                        <a:t>97.1%</a:t>
                      </a:r>
                    </a:p>
                  </a:txBody>
                  <a:tcPr anchor="ctr">
                    <a:solidFill>
                      <a:srgbClr val="D9D9D9"/>
                    </a:solidFill>
                  </a:tcPr>
                </a:tc>
                <a:extLst>
                  <a:ext uri="{0D108BD9-81ED-4DB2-BD59-A6C34878D82A}">
                    <a16:rowId xmlns:a16="http://schemas.microsoft.com/office/drawing/2014/main" val="10006"/>
                  </a:ext>
                </a:extLst>
              </a:tr>
              <a:tr h="192014">
                <a:tc>
                  <a:txBody>
                    <a:bodyPr/>
                    <a:lstStyle/>
                    <a:p>
                      <a:pPr algn="l">
                        <a:defRPr sz="1000">
                          <a:latin typeface="Montserrat"/>
                        </a:defRPr>
                      </a:pPr>
                      <a:r>
                        <a:rPr sz="1000"/>
                        <a:t>Mastectomías</a:t>
                      </a:r>
                    </a:p>
                  </a:txBody>
                  <a:tcPr anchor="ctr">
                    <a:solidFill>
                      <a:srgbClr val="FFFFFF"/>
                    </a:solidFill>
                  </a:tcPr>
                </a:tc>
                <a:tc>
                  <a:txBody>
                    <a:bodyPr/>
                    <a:lstStyle/>
                    <a:p>
                      <a:pPr algn="ctr">
                        <a:defRPr sz="1000">
                          <a:latin typeface="Montserrat"/>
                        </a:defRPr>
                      </a:pPr>
                      <a:r>
                        <a:rPr sz="1000"/>
                        <a:t>101</a:t>
                      </a:r>
                    </a:p>
                  </a:txBody>
                  <a:tcPr anchor="ctr">
                    <a:solidFill>
                      <a:srgbClr val="FFFFFF"/>
                    </a:solidFill>
                  </a:tcPr>
                </a:tc>
                <a:tc>
                  <a:txBody>
                    <a:bodyPr/>
                    <a:lstStyle/>
                    <a:p>
                      <a:pPr algn="ctr">
                        <a:defRPr sz="1000">
                          <a:latin typeface="Montserrat"/>
                        </a:defRPr>
                      </a:pPr>
                      <a:r>
                        <a:rPr sz="1000" dirty="0"/>
                        <a:t>100.0%</a:t>
                      </a:r>
                    </a:p>
                  </a:txBody>
                  <a:tcPr anchor="ctr">
                    <a:solidFill>
                      <a:srgbClr val="FFFFFF"/>
                    </a:solidFill>
                  </a:tcPr>
                </a:tc>
                <a:extLst>
                  <a:ext uri="{0D108BD9-81ED-4DB2-BD59-A6C34878D82A}">
                    <a16:rowId xmlns:a16="http://schemas.microsoft.com/office/drawing/2014/main" val="10007"/>
                  </a:ext>
                </a:extLst>
              </a:tr>
              <a:tr h="192014">
                <a:tc>
                  <a:txBody>
                    <a:bodyPr/>
                    <a:lstStyle/>
                    <a:p>
                      <a:pPr algn="l">
                        <a:defRPr sz="1000" b="1">
                          <a:solidFill>
                            <a:srgbClr val="006455"/>
                          </a:solidFill>
                          <a:latin typeface="Montserrat"/>
                        </a:defRPr>
                      </a:pPr>
                      <a:r>
                        <a:rPr sz="1000"/>
                        <a:t>Total</a:t>
                      </a:r>
                    </a:p>
                  </a:txBody>
                  <a:tcPr anchor="ctr">
                    <a:solidFill>
                      <a:srgbClr val="D3E9E7"/>
                    </a:solidFill>
                  </a:tcPr>
                </a:tc>
                <a:tc>
                  <a:txBody>
                    <a:bodyPr/>
                    <a:lstStyle/>
                    <a:p>
                      <a:pPr algn="ctr">
                        <a:defRPr sz="1000" b="1">
                          <a:solidFill>
                            <a:srgbClr val="006455"/>
                          </a:solidFill>
                          <a:latin typeface="Montserrat"/>
                        </a:defRPr>
                      </a:pPr>
                      <a:r>
                        <a:rPr sz="1000"/>
                        <a:t>3,517</a:t>
                      </a:r>
                    </a:p>
                  </a:txBody>
                  <a:tcPr anchor="ctr">
                    <a:solidFill>
                      <a:srgbClr val="D3E9E7"/>
                    </a:solidFill>
                  </a:tcPr>
                </a:tc>
                <a:tc>
                  <a:txBody>
                    <a:bodyPr/>
                    <a:lstStyle/>
                    <a:p>
                      <a:pPr algn="ctr">
                        <a:defRPr sz="1000" b="1">
                          <a:solidFill>
                            <a:srgbClr val="006455"/>
                          </a:solidFill>
                          <a:latin typeface="Montserrat"/>
                        </a:defRPr>
                      </a:pPr>
                      <a:r>
                        <a:rPr sz="1000" dirty="0"/>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8" name="CuadroTexto 7">
            <a:extLst>
              <a:ext uri="{FF2B5EF4-FFF2-40B4-BE49-F238E27FC236}">
                <a16:creationId xmlns:a16="http://schemas.microsoft.com/office/drawing/2014/main" id="{C837F00D-19BF-67CB-B076-01905417EFF6}"/>
              </a:ext>
            </a:extLst>
          </p:cNvPr>
          <p:cNvSpPr txBox="1"/>
          <p:nvPr/>
        </p:nvSpPr>
        <p:spPr>
          <a:xfrm>
            <a:off x="143525" y="4824254"/>
            <a:ext cx="3886200" cy="400110"/>
          </a:xfrm>
          <a:prstGeom prst="rect">
            <a:avLst/>
          </a:prstGeom>
          <a:noFill/>
        </p:spPr>
        <p:txBody>
          <a:bodyPr wrap="square">
            <a:spAutoFit/>
          </a:bodyPr>
          <a:lstStyle/>
          <a:p>
            <a:r>
              <a:rPr lang="es-ES" sz="2000" b="1" i="0" u="none" strike="noStrike" dirty="0">
                <a:solidFill>
                  <a:srgbClr val="BC955C"/>
                </a:solidFill>
                <a:effectLst/>
                <a:latin typeface="Montserrat" panose="00000500000000000000" pitchFamily="2" charset="0"/>
              </a:rPr>
              <a:t>Vive saludable, Vive feliz</a:t>
            </a:r>
            <a:endParaRPr lang="es-MX" sz="2000" dirty="0"/>
          </a:p>
        </p:txBody>
      </p:sp>
      <p:cxnSp>
        <p:nvCxnSpPr>
          <p:cNvPr id="9" name="Connector 3">
            <a:extLst>
              <a:ext uri="{FF2B5EF4-FFF2-40B4-BE49-F238E27FC236}">
                <a16:creationId xmlns:a16="http://schemas.microsoft.com/office/drawing/2014/main" id="{6A2E3C72-24F8-3659-859B-870D957A759B}"/>
              </a:ext>
            </a:extLst>
          </p:cNvPr>
          <p:cNvCxnSpPr/>
          <p:nvPr/>
        </p:nvCxnSpPr>
        <p:spPr>
          <a:xfrm>
            <a:off x="38100" y="519578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0" name="CuadroTexto 11">
            <a:extLst>
              <a:ext uri="{FF2B5EF4-FFF2-40B4-BE49-F238E27FC236}">
                <a16:creationId xmlns:a16="http://schemas.microsoft.com/office/drawing/2014/main" id="{CFFB4E32-4EA2-8CAD-7104-D6F6F86EC71C}"/>
              </a:ext>
            </a:extLst>
          </p:cNvPr>
          <p:cNvSpPr txBox="1"/>
          <p:nvPr/>
        </p:nvSpPr>
        <p:spPr>
          <a:xfrm>
            <a:off x="417022" y="8198249"/>
            <a:ext cx="1841269"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26,660</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11" name="CuadroTexto 12">
            <a:extLst>
              <a:ext uri="{FF2B5EF4-FFF2-40B4-BE49-F238E27FC236}">
                <a16:creationId xmlns:a16="http://schemas.microsoft.com/office/drawing/2014/main" id="{FF3C77B3-DD02-4D11-AE4B-65666DFB5E5F}"/>
              </a:ext>
            </a:extLst>
          </p:cNvPr>
          <p:cNvSpPr txBox="1"/>
          <p:nvPr/>
        </p:nvSpPr>
        <p:spPr>
          <a:xfrm>
            <a:off x="2899220" y="8174958"/>
            <a:ext cx="1832957"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37,257</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pic>
        <p:nvPicPr>
          <p:cNvPr id="13" name="Imagen 12" descr="Icono&#10;&#10;El contenido generado por IA puede ser incorrecto.">
            <a:extLst>
              <a:ext uri="{FF2B5EF4-FFF2-40B4-BE49-F238E27FC236}">
                <a16:creationId xmlns:a16="http://schemas.microsoft.com/office/drawing/2014/main" id="{B398C794-A8BF-0431-4175-D9131812E88F}"/>
              </a:ext>
            </a:extLst>
          </p:cNvPr>
          <p:cNvPicPr>
            <a:picLocks noChangeAspect="1"/>
          </p:cNvPicPr>
          <p:nvPr/>
        </p:nvPicPr>
        <p:blipFill>
          <a:blip r:embed="rId4"/>
          <a:stretch>
            <a:fillRect/>
          </a:stretch>
        </p:blipFill>
        <p:spPr>
          <a:xfrm>
            <a:off x="3438161" y="7561895"/>
            <a:ext cx="730135" cy="669175"/>
          </a:xfrm>
          <a:prstGeom prst="rect">
            <a:avLst/>
          </a:prstGeom>
        </p:spPr>
      </p:pic>
      <p:pic>
        <p:nvPicPr>
          <p:cNvPr id="15" name="Imagen 14" descr="Icono&#10;&#10;El contenido generado por IA puede ser incorrecto.">
            <a:extLst>
              <a:ext uri="{FF2B5EF4-FFF2-40B4-BE49-F238E27FC236}">
                <a16:creationId xmlns:a16="http://schemas.microsoft.com/office/drawing/2014/main" id="{A674CAA8-8BCE-C586-69E7-E951C4F616A2}"/>
              </a:ext>
            </a:extLst>
          </p:cNvPr>
          <p:cNvPicPr>
            <a:picLocks noChangeAspect="1"/>
          </p:cNvPicPr>
          <p:nvPr/>
        </p:nvPicPr>
        <p:blipFill>
          <a:blip r:embed="rId5"/>
          <a:stretch>
            <a:fillRect/>
          </a:stretch>
        </p:blipFill>
        <p:spPr>
          <a:xfrm>
            <a:off x="1035973" y="7567175"/>
            <a:ext cx="603366" cy="713510"/>
          </a:xfrm>
          <a:prstGeom prst="rect">
            <a:avLst/>
          </a:prstGeom>
        </p:spPr>
      </p:pic>
      <p:graphicFrame>
        <p:nvGraphicFramePr>
          <p:cNvPr id="16" name="Tabla 15">
            <a:extLst>
              <a:ext uri="{FF2B5EF4-FFF2-40B4-BE49-F238E27FC236}">
                <a16:creationId xmlns:a16="http://schemas.microsoft.com/office/drawing/2014/main" id="{D276C145-D1DD-8640-1B67-AE53D98EBA51}"/>
              </a:ext>
            </a:extLst>
          </p:cNvPr>
          <p:cNvGraphicFramePr>
            <a:graphicFrameLocks noGrp="1"/>
          </p:cNvGraphicFramePr>
          <p:nvPr>
            <p:extLst>
              <p:ext uri="{D42A27DB-BD31-4B8C-83A1-F6EECF244321}">
                <p14:modId xmlns:p14="http://schemas.microsoft.com/office/powerpoint/2010/main" val="520034784"/>
              </p:ext>
            </p:extLst>
          </p:nvPr>
        </p:nvGraphicFramePr>
        <p:xfrm>
          <a:off x="723900" y="5331212"/>
          <a:ext cx="6324600" cy="803530"/>
        </p:xfrm>
        <a:graphic>
          <a:graphicData uri="http://schemas.openxmlformats.org/drawingml/2006/table">
            <a:tbl>
              <a:tblPr/>
              <a:tblGrid>
                <a:gridCol w="2390775">
                  <a:extLst>
                    <a:ext uri="{9D8B030D-6E8A-4147-A177-3AD203B41FA5}">
                      <a16:colId xmlns:a16="http://schemas.microsoft.com/office/drawing/2014/main" val="3225444757"/>
                    </a:ext>
                  </a:extLst>
                </a:gridCol>
                <a:gridCol w="1304925">
                  <a:extLst>
                    <a:ext uri="{9D8B030D-6E8A-4147-A177-3AD203B41FA5}">
                      <a16:colId xmlns:a16="http://schemas.microsoft.com/office/drawing/2014/main" val="3593933597"/>
                    </a:ext>
                  </a:extLst>
                </a:gridCol>
                <a:gridCol w="1314450">
                  <a:extLst>
                    <a:ext uri="{9D8B030D-6E8A-4147-A177-3AD203B41FA5}">
                      <a16:colId xmlns:a16="http://schemas.microsoft.com/office/drawing/2014/main" val="1000480072"/>
                    </a:ext>
                  </a:extLst>
                </a:gridCol>
                <a:gridCol w="1314450">
                  <a:extLst>
                    <a:ext uri="{9D8B030D-6E8A-4147-A177-3AD203B41FA5}">
                      <a16:colId xmlns:a16="http://schemas.microsoft.com/office/drawing/2014/main" val="565271417"/>
                    </a:ext>
                  </a:extLst>
                </a:gridCol>
              </a:tblGrid>
              <a:tr h="209550">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Total de Escuelas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dirty="0">
                          <a:solidFill>
                            <a:srgbClr val="FFFFFF"/>
                          </a:solidFill>
                          <a:effectLst/>
                          <a:latin typeface="Arial" panose="020B0604020202020204" pitchFamily="34" charset="0"/>
                        </a:rPr>
                        <a:t>Escuelas visitadas</a:t>
                      </a:r>
                      <a:r>
                        <a:rPr lang="en-US" sz="1400" b="1" i="0" dirty="0">
                          <a:solidFill>
                            <a:srgbClr val="FFFFFF"/>
                          </a:solidFill>
                          <a:effectLst/>
                          <a:latin typeface="Arial" panose="020B0604020202020204" pitchFamily="34" charset="0"/>
                        </a:rPr>
                        <a:t>​</a:t>
                      </a:r>
                      <a:endParaRPr lang="en-US" b="1" i="0" dirty="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Población </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Menores tamizados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2294035479"/>
                  </a:ext>
                </a:extLst>
              </a:tr>
              <a:tr h="209550">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9,289</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8,717</a:t>
                      </a:r>
                      <a:r>
                        <a:rPr lang="es-ES" sz="1400" b="0" i="0">
                          <a:solidFill>
                            <a:srgbClr val="000000"/>
                          </a:solidFill>
                          <a:effectLst/>
                          <a:latin typeface="Arial" panose="020B0604020202020204" pitchFamily="34" charset="0"/>
                        </a:rPr>
                        <a:t>​</a:t>
                      </a:r>
                      <a:endParaRPr lang="es-E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796,366</a:t>
                      </a:r>
                      <a:r>
                        <a:rPr lang="es-ES" sz="1400" b="0" i="0">
                          <a:solidFill>
                            <a:srgbClr val="000000"/>
                          </a:solidFill>
                          <a:effectLst/>
                          <a:latin typeface="Arial" panose="020B0604020202020204" pitchFamily="34" charset="0"/>
                        </a:rPr>
                        <a:t>​</a:t>
                      </a:r>
                      <a:endParaRPr lang="es-E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dirty="0">
                          <a:solidFill>
                            <a:srgbClr val="000000"/>
                          </a:solidFill>
                          <a:effectLst/>
                          <a:latin typeface="Arial" panose="020B0604020202020204" pitchFamily="34" charset="0"/>
                        </a:rPr>
                        <a:t>664,609</a:t>
                      </a:r>
                      <a:r>
                        <a:rPr lang="es-ES" sz="1400" b="0" i="0" dirty="0">
                          <a:solidFill>
                            <a:srgbClr val="000000"/>
                          </a:solidFill>
                          <a:effectLst/>
                          <a:latin typeface="Arial" panose="020B0604020202020204" pitchFamily="34" charset="0"/>
                        </a:rPr>
                        <a:t>​</a:t>
                      </a:r>
                      <a:endParaRPr lang="es-ES" b="0" i="0" dirty="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1288527454"/>
                  </a:ext>
                </a:extLst>
              </a:tr>
            </a:tbl>
          </a:graphicData>
        </a:graphic>
      </p:graphicFrame>
      <p:graphicFrame>
        <p:nvGraphicFramePr>
          <p:cNvPr id="17" name="Tabla 16">
            <a:extLst>
              <a:ext uri="{FF2B5EF4-FFF2-40B4-BE49-F238E27FC236}">
                <a16:creationId xmlns:a16="http://schemas.microsoft.com/office/drawing/2014/main" id="{AB8CFCAC-B758-A839-8728-DC0278E51E89}"/>
              </a:ext>
            </a:extLst>
          </p:cNvPr>
          <p:cNvGraphicFramePr>
            <a:graphicFrameLocks noGrp="1"/>
          </p:cNvGraphicFramePr>
          <p:nvPr>
            <p:extLst>
              <p:ext uri="{D42A27DB-BD31-4B8C-83A1-F6EECF244321}">
                <p14:modId xmlns:p14="http://schemas.microsoft.com/office/powerpoint/2010/main" val="1220104227"/>
              </p:ext>
            </p:extLst>
          </p:nvPr>
        </p:nvGraphicFramePr>
        <p:xfrm>
          <a:off x="2038350" y="6347761"/>
          <a:ext cx="3695700" cy="865756"/>
        </p:xfrm>
        <a:graphic>
          <a:graphicData uri="http://schemas.openxmlformats.org/drawingml/2006/table">
            <a:tbl>
              <a:tblPr/>
              <a:tblGrid>
                <a:gridCol w="1852201">
                  <a:extLst>
                    <a:ext uri="{9D8B030D-6E8A-4147-A177-3AD203B41FA5}">
                      <a16:colId xmlns:a16="http://schemas.microsoft.com/office/drawing/2014/main" val="2118270081"/>
                    </a:ext>
                  </a:extLst>
                </a:gridCol>
                <a:gridCol w="1843499">
                  <a:extLst>
                    <a:ext uri="{9D8B030D-6E8A-4147-A177-3AD203B41FA5}">
                      <a16:colId xmlns:a16="http://schemas.microsoft.com/office/drawing/2014/main" val="2039959454"/>
                    </a:ext>
                  </a:extLst>
                </a:gridCol>
              </a:tblGrid>
              <a:tr h="571941">
                <a:tc>
                  <a:txBody>
                    <a:bodyPr/>
                    <a:lstStyle/>
                    <a:p>
                      <a:pPr algn="ctr" fontAlgn="base">
                        <a:lnSpc>
                          <a:spcPts val="1650"/>
                        </a:lnSpc>
                        <a:buNone/>
                      </a:pPr>
                      <a:r>
                        <a:rPr lang="es-MX" sz="1400" b="1" i="0" u="none" strike="noStrike" dirty="0">
                          <a:solidFill>
                            <a:srgbClr val="FFFFFF"/>
                          </a:solidFill>
                          <a:effectLst/>
                          <a:latin typeface="Arial" panose="020B0604020202020204" pitchFamily="34" charset="0"/>
                        </a:rPr>
                        <a:t>Brigadas</a:t>
                      </a:r>
                      <a:r>
                        <a:rPr lang="en-US" sz="1400" b="1" i="0" dirty="0">
                          <a:solidFill>
                            <a:srgbClr val="FFFFFF"/>
                          </a:solidFill>
                          <a:effectLst/>
                          <a:latin typeface="Arial" panose="020B0604020202020204" pitchFamily="34" charset="0"/>
                        </a:rPr>
                        <a:t>​</a:t>
                      </a:r>
                      <a:endParaRPr lang="en-US" b="1" i="0" dirty="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dirty="0">
                          <a:solidFill>
                            <a:srgbClr val="FFFFFF"/>
                          </a:solidFill>
                          <a:effectLst/>
                          <a:latin typeface="Arial" panose="020B0604020202020204" pitchFamily="34" charset="0"/>
                        </a:rPr>
                        <a:t>Personal de enfermería IMSS</a:t>
                      </a:r>
                      <a:r>
                        <a:rPr lang="en-US" sz="1400" b="1" i="0" dirty="0">
                          <a:solidFill>
                            <a:srgbClr val="FFFFFF"/>
                          </a:solidFill>
                          <a:effectLst/>
                          <a:latin typeface="Arial" panose="020B0604020202020204" pitchFamily="34" charset="0"/>
                        </a:rPr>
                        <a:t>​</a:t>
                      </a:r>
                      <a:endParaRPr lang="en-US" b="1" i="0" dirty="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2945744878"/>
                  </a:ext>
                </a:extLst>
              </a:tr>
              <a:tr h="231589">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44</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dirty="0">
                          <a:solidFill>
                            <a:srgbClr val="000000"/>
                          </a:solidFill>
                          <a:effectLst/>
                          <a:latin typeface="Arial" panose="020B0604020202020204" pitchFamily="34" charset="0"/>
                        </a:rPr>
                        <a:t>220</a:t>
                      </a:r>
                      <a:r>
                        <a:rPr lang="en-US" sz="1400" b="0" i="0" dirty="0">
                          <a:solidFill>
                            <a:srgbClr val="000000"/>
                          </a:solidFill>
                          <a:effectLst/>
                          <a:latin typeface="Arial" panose="020B0604020202020204" pitchFamily="34" charset="0"/>
                        </a:rPr>
                        <a:t>​</a:t>
                      </a:r>
                      <a:endParaRPr lang="en-US" b="0" i="0" dirty="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3411913157"/>
                  </a:ext>
                </a:extLst>
              </a:tr>
            </a:tbl>
          </a:graphicData>
        </a:graphic>
      </p:graphicFrame>
      <p:sp>
        <p:nvSpPr>
          <p:cNvPr id="18" name="CuadroTexto 13">
            <a:extLst>
              <a:ext uri="{FF2B5EF4-FFF2-40B4-BE49-F238E27FC236}">
                <a16:creationId xmlns:a16="http://schemas.microsoft.com/office/drawing/2014/main" id="{4247467A-6466-56FB-94A5-78BE7F1A40E4}"/>
              </a:ext>
            </a:extLst>
          </p:cNvPr>
          <p:cNvSpPr txBox="1"/>
          <p:nvPr/>
        </p:nvSpPr>
        <p:spPr>
          <a:xfrm>
            <a:off x="5095964" y="8174958"/>
            <a:ext cx="184126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5,519</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19" name="Imagen 18" descr="Icono&#10;&#10;El contenido generado por IA puede ser incorrecto.">
            <a:extLst>
              <a:ext uri="{FF2B5EF4-FFF2-40B4-BE49-F238E27FC236}">
                <a16:creationId xmlns:a16="http://schemas.microsoft.com/office/drawing/2014/main" id="{422DCAC0-61D4-535D-2174-4A4F4F105590}"/>
              </a:ext>
            </a:extLst>
          </p:cNvPr>
          <p:cNvPicPr>
            <a:picLocks noChangeAspect="1"/>
          </p:cNvPicPr>
          <p:nvPr/>
        </p:nvPicPr>
        <p:blipFill>
          <a:blip r:embed="rId6"/>
          <a:stretch>
            <a:fillRect/>
          </a:stretch>
        </p:blipFill>
        <p:spPr>
          <a:xfrm>
            <a:off x="5533594" y="7708926"/>
            <a:ext cx="924445" cy="491944"/>
          </a:xfrm>
          <a:prstGeom prst="rect">
            <a:avLst/>
          </a:prstGeom>
        </p:spPr>
      </p:pic>
      <p:sp>
        <p:nvSpPr>
          <p:cNvPr id="20" name="TextBox 231">
            <a:extLst>
              <a:ext uri="{FF2B5EF4-FFF2-40B4-BE49-F238E27FC236}">
                <a16:creationId xmlns:a16="http://schemas.microsoft.com/office/drawing/2014/main" id="{43B22036-5FA9-6E0B-8FCC-F8DD28A48612}"/>
              </a:ext>
            </a:extLst>
          </p:cNvPr>
          <p:cNvSpPr txBox="1"/>
          <p:nvPr/>
        </p:nvSpPr>
        <p:spPr>
          <a:xfrm>
            <a:off x="384793" y="9713118"/>
            <a:ext cx="2609200" cy="123111"/>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dirty="0">
                <a:solidFill>
                  <a:schemeClr val="bg1"/>
                </a:solidFill>
              </a:rPr>
              <a:t>Corte de información: </a:t>
            </a:r>
            <a:r>
              <a:rPr lang="es-MX" dirty="0">
                <a:solidFill>
                  <a:schemeClr val="bg1"/>
                </a:solidFill>
              </a:rPr>
              <a:t>18</a:t>
            </a:r>
            <a:r>
              <a:rPr dirty="0">
                <a:solidFill>
                  <a:schemeClr val="bg1"/>
                </a:solidFill>
              </a:rPr>
              <a:t> </a:t>
            </a:r>
            <a:r>
              <a:rPr lang="es-MX" dirty="0">
                <a:solidFill>
                  <a:schemeClr val="bg1"/>
                </a:solidFill>
              </a:rPr>
              <a:t>junio</a:t>
            </a:r>
            <a:r>
              <a:rPr dirty="0">
                <a:solidFill>
                  <a:schemeClr val="bg1"/>
                </a:solidFill>
              </a:rPr>
              <a:t> 2026</a:t>
            </a:r>
          </a:p>
        </p:txBody>
      </p:sp>
      <p:sp>
        <p:nvSpPr>
          <p:cNvPr id="21" name="TextBox 231">
            <a:extLst>
              <a:ext uri="{FF2B5EF4-FFF2-40B4-BE49-F238E27FC236}">
                <a16:creationId xmlns:a16="http://schemas.microsoft.com/office/drawing/2014/main" id="{8AB431D5-2208-9C6D-B9BB-E0D585E912F9}"/>
              </a:ext>
            </a:extLst>
          </p:cNvPr>
          <p:cNvSpPr txBox="1"/>
          <p:nvPr/>
        </p:nvSpPr>
        <p:spPr>
          <a:xfrm>
            <a:off x="384793" y="9575473"/>
            <a:ext cx="2796736" cy="123111"/>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lang="es-MX" dirty="0">
                <a:solidFill>
                  <a:schemeClr val="bg1"/>
                </a:solidFill>
              </a:rPr>
              <a:t>En cada brigada participan 5 personas del IMSS.</a:t>
            </a:r>
            <a:endParaRPr dirty="0">
              <a:solidFill>
                <a:schemeClr val="bg1"/>
              </a:solidFill>
            </a:endParaRPr>
          </a:p>
        </p:txBody>
      </p:sp>
    </p:spTree>
    <p:extLst>
      <p:ext uri="{BB962C8B-B14F-4D97-AF65-F5344CB8AC3E}">
        <p14:creationId xmlns:p14="http://schemas.microsoft.com/office/powerpoint/2010/main" val="3805655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VERACRUZ</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26,848	 Personal de Salud: 16,285</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+62.7%</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241</a:t>
                      </a:r>
                    </a:p>
                  </a:txBody>
                  <a:tcPr marL="0" marR="0" marT="0" marB="0">
                    <a:noFill/>
                  </a:tcPr>
                </a:tc>
                <a:tc>
                  <a:txBody>
                    <a:bodyPr/>
                    <a:lstStyle/>
                    <a:p>
                      <a:pPr algn="ctr">
                        <a:defRPr sz="1500" b="1">
                          <a:solidFill>
                            <a:srgbClr val="B4975A"/>
                          </a:solidFill>
                          <a:latin typeface="Montserrat"/>
                        </a:defRPr>
                      </a:pPr>
                      <a:r>
                        <a:t>392</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+39.8%</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2,797</a:t>
                      </a:r>
                    </a:p>
                  </a:txBody>
                  <a:tcPr marL="0" marR="0" marT="0" marB="0">
                    <a:noFill/>
                  </a:tcPr>
                </a:tc>
                <a:tc>
                  <a:txBody>
                    <a:bodyPr/>
                    <a:lstStyle/>
                    <a:p>
                      <a:pPr algn="ctr">
                        <a:defRPr sz="1500" b="1">
                          <a:solidFill>
                            <a:srgbClr val="B4975A"/>
                          </a:solidFill>
                          <a:latin typeface="Montserrat"/>
                        </a:defRPr>
                      </a:pPr>
                      <a:r>
                        <a:t>3,910</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+10.4%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5,250</a:t>
                      </a:r>
                    </a:p>
                  </a:txBody>
                  <a:tcPr marL="0" marR="0" marT="0" marB="0">
                    <a:noFill/>
                  </a:tcPr>
                </a:tc>
                <a:tc>
                  <a:txBody>
                    <a:bodyPr/>
                    <a:lstStyle/>
                    <a:p>
                      <a:pPr algn="ctr">
                        <a:defRPr sz="1500" b="1">
                          <a:solidFill>
                            <a:srgbClr val="B4975A"/>
                          </a:solidFill>
                          <a:latin typeface="Montserrat"/>
                        </a:defRPr>
                      </a:pPr>
                      <a:r>
                        <a:t>5,797</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+14.3%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3,772</a:t>
                      </a:r>
                    </a:p>
                  </a:txBody>
                  <a:tcPr marL="0" marR="0" marT="0" marB="0">
                    <a:noFill/>
                  </a:tcPr>
                </a:tc>
                <a:tc>
                  <a:txBody>
                    <a:bodyPr/>
                    <a:lstStyle/>
                    <a:p>
                      <a:pPr algn="ctr">
                        <a:defRPr sz="1500" b="1">
                          <a:solidFill>
                            <a:srgbClr val="B4975A"/>
                          </a:solidFill>
                          <a:latin typeface="Montserrat"/>
                        </a:defRPr>
                      </a:pPr>
                      <a:r>
                        <a:t>4,310</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+45.6%</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706</a:t>
                      </a:r>
                    </a:p>
                  </a:txBody>
                  <a:tcPr marL="0" marR="0" marT="0" marB="0">
                    <a:noFill/>
                  </a:tcPr>
                </a:tc>
                <a:tc>
                  <a:txBody>
                    <a:bodyPr/>
                    <a:lstStyle/>
                    <a:p>
                      <a:pPr algn="ctr">
                        <a:defRPr sz="1500" b="1">
                          <a:solidFill>
                            <a:srgbClr val="B4975A"/>
                          </a:solidFill>
                          <a:latin typeface="Montserrat"/>
                        </a:defRPr>
                      </a:pPr>
                      <a:r>
                        <a:t>1,028</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-8.7%</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929</a:t>
                      </a:r>
                    </a:p>
                  </a:txBody>
                  <a:tcPr marL="0" marR="0" marT="0" marB="0">
                    <a:noFill/>
                  </a:tcPr>
                </a:tc>
                <a:tc>
                  <a:txBody>
                    <a:bodyPr/>
                    <a:lstStyle/>
                    <a:p>
                      <a:pPr algn="ctr">
                        <a:defRPr sz="1500" b="1">
                          <a:solidFill>
                            <a:srgbClr val="B4975A"/>
                          </a:solidFill>
                          <a:latin typeface="Montserrat"/>
                        </a:defRPr>
                      </a:pPr>
                      <a:r>
                        <a:t>848</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nvGraphicFramePr>
        <p:xfrm>
          <a:off x="4507200" y="55152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91</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77</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Medicina Interna</a:t>
                      </a:r>
                    </a:p>
                  </a:txBody>
                  <a:tcPr marL="45720" marR="45720">
                    <a:solidFill>
                      <a:srgbClr val="FFFFFF"/>
                    </a:solidFill>
                  </a:tcPr>
                </a:tc>
                <a:tc>
                  <a:txBody>
                    <a:bodyPr/>
                    <a:lstStyle/>
                    <a:p>
                      <a:pPr algn="ctr">
                        <a:defRPr sz="800">
                          <a:latin typeface="Montserrat"/>
                        </a:defRPr>
                      </a:pPr>
                      <a:r>
                        <a:t>31</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Anestesiología</a:t>
                      </a:r>
                    </a:p>
                  </a:txBody>
                  <a:tcPr marL="45720" marR="45720">
                    <a:solidFill>
                      <a:srgbClr val="EFEFEF"/>
                    </a:solidFill>
                  </a:tcPr>
                </a:tc>
                <a:tc>
                  <a:txBody>
                    <a:bodyPr/>
                    <a:lstStyle/>
                    <a:p>
                      <a:pPr algn="ctr">
                        <a:defRPr sz="800">
                          <a:latin typeface="Montserrat"/>
                        </a:defRPr>
                      </a:pPr>
                      <a:r>
                        <a:t>26</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Traumatología y Ortopedia</a:t>
                      </a:r>
                    </a:p>
                  </a:txBody>
                  <a:tcPr marL="45720" marR="45720">
                    <a:solidFill>
                      <a:srgbClr val="FFFFFF"/>
                    </a:solidFill>
                  </a:tcPr>
                </a:tc>
                <a:tc>
                  <a:txBody>
                    <a:bodyPr/>
                    <a:lstStyle/>
                    <a:p>
                      <a:pPr algn="ctr">
                        <a:defRPr sz="800">
                          <a:latin typeface="Montserrat"/>
                        </a:defRPr>
                      </a:pPr>
                      <a:r>
                        <a:t>20</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nvGraphicFramePr>
        <p:xfrm>
          <a:off x="4507200" y="68508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92</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64</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Cirugía General</a:t>
                      </a:r>
                    </a:p>
                  </a:txBody>
                  <a:tcPr marL="45720" marR="45720">
                    <a:solidFill>
                      <a:srgbClr val="FFFFFF"/>
                    </a:solidFill>
                  </a:tcPr>
                </a:tc>
                <a:tc>
                  <a:txBody>
                    <a:bodyPr/>
                    <a:lstStyle/>
                    <a:p>
                      <a:pPr algn="ctr">
                        <a:defRPr sz="800">
                          <a:latin typeface="Montserrat"/>
                        </a:defRPr>
                      </a:pPr>
                      <a:r>
                        <a:t>26</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Anestesiología</a:t>
                      </a:r>
                    </a:p>
                  </a:txBody>
                  <a:tcPr marL="45720" marR="45720">
                    <a:solidFill>
                      <a:srgbClr val="EFEFEF"/>
                    </a:solidFill>
                  </a:tcPr>
                </a:tc>
                <a:tc>
                  <a:txBody>
                    <a:bodyPr/>
                    <a:lstStyle/>
                    <a:p>
                      <a:pPr algn="ctr">
                        <a:defRPr sz="800">
                          <a:latin typeface="Montserrat"/>
                        </a:defRPr>
                      </a:pPr>
                      <a:r>
                        <a:t>24</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Epidemiología</a:t>
                      </a:r>
                    </a:p>
                  </a:txBody>
                  <a:tcPr marL="45720" marR="45720">
                    <a:solidFill>
                      <a:srgbClr val="FFFFFF"/>
                    </a:solidFill>
                  </a:tcPr>
                </a:tc>
                <a:tc>
                  <a:txBody>
                    <a:bodyPr/>
                    <a:lstStyle/>
                    <a:p>
                      <a:pPr algn="ctr">
                        <a:defRPr sz="800">
                          <a:latin typeface="Montserrat"/>
                        </a:defRPr>
                      </a:pPr>
                      <a:r>
                        <a:t>23</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t>222</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t>164</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t>236</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t>174</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t>796</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lIns="0" tIns="0" rIns="0" bIns="0">
            <a:spAutoFit/>
          </a:bodyPr>
          <a:lstStyle/>
          <a:p>
            <a:pPr algn="l">
              <a:defRPr sz="800">
                <a:solidFill>
                  <a:srgbClr val="000000"/>
                </a:solidFill>
                <a:latin typeface="Montserrat"/>
              </a:defRPr>
            </a:pPr>
            <a:r>
              <a:t>Fuente: Sistema de Información Operativa. Personal de base. Corte de información: mayo 2026.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23,229</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1,544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253</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324</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6,240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2,927</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33,940</a:t>
            </a:r>
          </a:p>
        </p:txBody>
      </p:sp>
      <p:graphicFrame>
        <p:nvGraphicFramePr>
          <p:cNvPr id="344" name="Table 343"/>
          <p:cNvGraphicFramePr>
            <a:graphicFrameLocks noGrp="1"/>
          </p:cNvGraphicFramePr>
          <p:nvPr>
            <p:extLst>
              <p:ext uri="{D42A27DB-BD31-4B8C-83A1-F6EECF244321}">
                <p14:modId xmlns:p14="http://schemas.microsoft.com/office/powerpoint/2010/main" val="1778063679"/>
              </p:ext>
            </p:extLst>
          </p:nvPr>
        </p:nvGraphicFramePr>
        <p:xfrm>
          <a:off x="102600" y="1682680"/>
          <a:ext cx="7567200" cy="341568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t>Especialidades</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t>Cirugías</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t>Egresos</a:t>
                      </a:r>
                    </a:p>
                  </a:txBody>
                  <a:tcPr anchor="ctr">
                    <a:lnT w="12700" cap="flat" cmpd="sng" algn="ctr">
                      <a:solidFill>
                        <a:schemeClr val="bg1">
                          <a:lumMod val="85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t>Defunciones</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Diabetes mellitus
(322,516)</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r>
                        <a:rPr sz="900" b="0">
                          <a:latin typeface="Montserrat"/>
                        </a:rPr>
                        <a:t>Traumatismos e intoxicaciones
(29,806)</a:t>
                      </a:r>
                    </a:p>
                  </a:txBody>
                  <a:tcPr>
                    <a:solidFill>
                      <a:srgbClr val="FFFFFF"/>
                    </a:solidFill>
                  </a:tcPr>
                </a:tc>
                <a:tc>
                  <a:txBody>
                    <a:bodyPr/>
                    <a:lstStyle/>
                    <a:p>
                      <a:pPr algn="ctr"/>
                      <a:r>
                        <a:rPr sz="900" b="0">
                          <a:latin typeface="Montserrat"/>
                        </a:rPr>
                        <a:t>Traumatismos y envenenamientos
(5,557)</a:t>
                      </a:r>
                    </a:p>
                  </a:txBody>
                  <a:tcPr>
                    <a:solidFill>
                      <a:srgbClr val="FFFFFF"/>
                    </a:solidFill>
                  </a:tcPr>
                </a:tc>
                <a:tc>
                  <a:txBody>
                    <a:bodyPr/>
                    <a:lstStyle/>
                    <a:p>
                      <a:pPr algn="ctr"/>
                      <a:r>
                        <a:rPr sz="900" b="0">
                          <a:latin typeface="Montserrat"/>
                        </a:rPr>
                        <a:t>Traumatismos e intoxicaciones
(6,846)</a:t>
                      </a:r>
                    </a:p>
                  </a:txBody>
                  <a:tcPr>
                    <a:solidFill>
                      <a:srgbClr val="FFFFFF"/>
                    </a:solidFill>
                  </a:tcPr>
                </a:tc>
                <a:tc>
                  <a:txBody>
                    <a:bodyPr/>
                    <a:lstStyle/>
                    <a:p>
                      <a:pPr algn="ctr"/>
                      <a:r>
                        <a:rPr sz="900" b="0">
                          <a:latin typeface="Montserrat"/>
                        </a:rPr>
                        <a:t>Enfermedades del corazón
(424)</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Enfermedades del corazón
(309,457)</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r>
                        <a:rPr sz="900" b="0">
                          <a:latin typeface="Montserrat"/>
                        </a:rPr>
                        <a:t>Tumores malignos
(26,325)</a:t>
                      </a:r>
                    </a:p>
                  </a:txBody>
                  <a:tcPr>
                    <a:solidFill>
                      <a:srgbClr val="EFEFEF"/>
                    </a:solidFill>
                  </a:tcPr>
                </a:tc>
                <a:tc>
                  <a:txBody>
                    <a:bodyPr/>
                    <a:lstStyle/>
                    <a:p>
                      <a:pPr algn="ctr"/>
                      <a:r>
                        <a:rPr sz="900" b="0">
                          <a:latin typeface="Montserrat"/>
                        </a:rPr>
                        <a:t>Enfermedades de la piel y del tejido subcutáneo
(2,814)</a:t>
                      </a:r>
                    </a:p>
                  </a:txBody>
                  <a:tcPr>
                    <a:solidFill>
                      <a:srgbClr val="EFEFEF"/>
                    </a:solidFill>
                  </a:tcPr>
                </a:tc>
                <a:tc>
                  <a:txBody>
                    <a:bodyPr/>
                    <a:lstStyle/>
                    <a:p>
                      <a:pPr algn="ctr"/>
                      <a:r>
                        <a:rPr sz="900" b="0">
                          <a:latin typeface="Montserrat"/>
                        </a:rPr>
                        <a:t>Embarazo, parto y puerperio
(4,989)</a:t>
                      </a:r>
                    </a:p>
                  </a:txBody>
                  <a:tcPr>
                    <a:solidFill>
                      <a:srgbClr val="EFEFEF"/>
                    </a:solidFill>
                  </a:tcPr>
                </a:tc>
                <a:tc>
                  <a:txBody>
                    <a:bodyPr/>
                    <a:lstStyle/>
                    <a:p>
                      <a:pPr algn="ctr"/>
                      <a:r>
                        <a:rPr sz="900" b="0">
                          <a:latin typeface="Montserrat"/>
                        </a:rPr>
                        <a:t>Tumores malignos
(299)</a:t>
                      </a:r>
                    </a:p>
                  </a:txBody>
                  <a:tcPr>
                    <a:lnR w="12700" cap="flat" cmpd="sng" algn="ctr">
                      <a:solidFill>
                        <a:schemeClr val="bg1">
                          <a:lumMod val="85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(69,788)</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r>
                        <a:rPr sz="900" b="0">
                          <a:latin typeface="Montserrat"/>
                        </a:rPr>
                        <a:t>Enfermedades y trastornos de las articulaciones
(20,736)</a:t>
                      </a:r>
                    </a:p>
                  </a:txBody>
                  <a:tcPr>
                    <a:solidFill>
                      <a:srgbClr val="FFFFFF"/>
                    </a:solidFill>
                  </a:tcPr>
                </a:tc>
                <a:tc>
                  <a:txBody>
                    <a:bodyPr/>
                    <a:lstStyle/>
                    <a:p>
                      <a:pPr algn="ctr"/>
                      <a:r>
                        <a:rPr sz="900" b="0">
                          <a:latin typeface="Montserrat"/>
                        </a:rPr>
                        <a:t>Cesárea
(2,115)</a:t>
                      </a:r>
                    </a:p>
                  </a:txBody>
                  <a:tcPr>
                    <a:solidFill>
                      <a:srgbClr val="FFFFFF"/>
                    </a:solidFill>
                  </a:tcPr>
                </a:tc>
                <a:tc>
                  <a:txBody>
                    <a:bodyPr/>
                    <a:lstStyle/>
                    <a:p>
                      <a:pPr algn="ctr"/>
                      <a:r>
                        <a:rPr sz="900" b="0">
                          <a:latin typeface="Montserrat"/>
                        </a:rPr>
                        <a:t>Insuficiencia renal
(3,819)</a:t>
                      </a:r>
                    </a:p>
                  </a:txBody>
                  <a:tcPr>
                    <a:solidFill>
                      <a:srgbClr val="FFFFFF"/>
                    </a:solidFill>
                  </a:tcPr>
                </a:tc>
                <a:tc>
                  <a:txBody>
                    <a:bodyPr/>
                    <a:lstStyle/>
                    <a:p>
                      <a:pPr algn="ctr"/>
                      <a:r>
                        <a:rPr sz="900" b="0">
                          <a:latin typeface="Montserrat"/>
                        </a:rPr>
                        <a:t>Diabetes mellitus
(290)</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Enfermedades mentales
(42,575)</a:t>
                      </a:r>
                    </a:p>
                  </a:txBody>
                  <a:tcP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r>
                        <a:rPr sz="900" b="0">
                          <a:latin typeface="Montserrat"/>
                        </a:rPr>
                        <a:t>Insuficiencia renal
(17,701)</a:t>
                      </a:r>
                    </a:p>
                  </a:txBody>
                  <a:tcPr>
                    <a:solidFill>
                      <a:srgbClr val="EFEFEF"/>
                    </a:solidFill>
                  </a:tcPr>
                </a:tc>
                <a:tc>
                  <a:txBody>
                    <a:bodyPr/>
                    <a:lstStyle/>
                    <a:p>
                      <a:pPr algn="ctr"/>
                      <a:r>
                        <a:rPr sz="900" b="0">
                          <a:latin typeface="Montserrat"/>
                        </a:rPr>
                        <a:t>Cirugía de Hernias (Hernioplastía)
(1,679)</a:t>
                      </a:r>
                    </a:p>
                  </a:txBody>
                  <a:tcPr>
                    <a:solidFill>
                      <a:srgbClr val="EFEFEF"/>
                    </a:solidFill>
                  </a:tcPr>
                </a:tc>
                <a:tc>
                  <a:txBody>
                    <a:bodyPr/>
                    <a:lstStyle/>
                    <a:p>
                      <a:pPr algn="ctr"/>
                      <a:r>
                        <a:rPr sz="900" b="0">
                          <a:latin typeface="Montserrat"/>
                        </a:rPr>
                        <a:t>Trastornos de la piel y tejidos superficiales
(3,212)</a:t>
                      </a:r>
                    </a:p>
                  </a:txBody>
                  <a:tcPr>
                    <a:solidFill>
                      <a:srgbClr val="EFEFEF"/>
                    </a:solidFill>
                  </a:tcPr>
                </a:tc>
                <a:tc>
                  <a:txBody>
                    <a:bodyPr/>
                    <a:lstStyle/>
                    <a:p>
                      <a:pPr algn="ctr"/>
                      <a:r>
                        <a:rPr sz="900" b="0">
                          <a:latin typeface="Montserrat"/>
                        </a:rPr>
                        <a:t>Neumonía e influenza
(267)</a:t>
                      </a:r>
                    </a:p>
                  </a:txBody>
                  <a:tcPr>
                    <a:lnR w="12700" cap="flat" cmpd="sng" algn="ctr">
                      <a:solidFill>
                        <a:schemeClr val="bg1">
                          <a:lumMod val="85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4"/>
                  </a:ext>
                </a:extLst>
              </a:tr>
              <a:tr h="489600">
                <a:tc>
                  <a:txBody>
                    <a:bodyPr/>
                    <a:lstStyle/>
                    <a:p>
                      <a:pPr algn="ctr"/>
                      <a:r>
                        <a:rPr lang="es-MX" sz="900" b="0" dirty="0">
                          <a:latin typeface="Montserrat"/>
                        </a:rPr>
                        <a:t>T</a:t>
                      </a:r>
                      <a:r>
                        <a:rPr sz="900" b="0" dirty="0" err="1">
                          <a:latin typeface="Montserrat"/>
                        </a:rPr>
                        <a:t>raumatismos</a:t>
                      </a:r>
                      <a:r>
                        <a:rPr sz="900" b="0" dirty="0">
                          <a:latin typeface="Montserrat"/>
                        </a:rPr>
                        <a:t> e </a:t>
                      </a:r>
                      <a:r>
                        <a:rPr sz="900" b="0" dirty="0" err="1">
                          <a:latin typeface="Montserrat"/>
                        </a:rPr>
                        <a:t>intoxicaciones</a:t>
                      </a:r>
                      <a:r>
                        <a:rPr sz="900" b="0" dirty="0">
                          <a:latin typeface="Montserrat"/>
                        </a:rPr>
                        <a:t>
(41,932)</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r>
                        <a:rPr sz="900" b="0">
                          <a:latin typeface="Montserrat"/>
                        </a:rPr>
                        <a:t>Enfermedades del corazón
(17,107)</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r>
                        <a:rPr sz="900" b="0">
                          <a:latin typeface="Montserrat"/>
                        </a:rPr>
                        <a:t>Cirugía de vesicula biliar (Colecistectomía)
(1,473)</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r>
                        <a:rPr sz="900" b="0">
                          <a:latin typeface="Montserrat"/>
                        </a:rPr>
                        <a:t>Tumores malignos
(2,162)</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r>
                        <a:rPr sz="900" b="0" dirty="0" err="1">
                          <a:latin typeface="Montserrat"/>
                        </a:rPr>
                        <a:t>Insuficiencia</a:t>
                      </a:r>
                      <a:r>
                        <a:rPr sz="900" b="0" dirty="0">
                          <a:latin typeface="Montserrat"/>
                        </a:rPr>
                        <a:t> renal
(239)</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35800" y="5455625"/>
            <a:ext cx="5331600" cy="432000"/>
          </a:xfrm>
          <a:prstGeom prst="rect">
            <a:avLst/>
          </a:prstGeom>
          <a:noFill/>
        </p:spPr>
        <p:txBody>
          <a:bodyPr wrap="square" lIns="0" tIns="0" rIns="0" bIns="0">
            <a:spAutoFit/>
          </a:bodyPr>
          <a:lstStyle/>
          <a:p>
            <a:pPr algn="l">
              <a:defRPr sz="700">
                <a:solidFill>
                  <a:srgbClr val="000000"/>
                </a:solidFill>
                <a:latin typeface="Montserrat"/>
              </a:defRPr>
            </a:pPr>
            <a:r>
              <a:rPr dirty="0"/>
              <a:t>El </a:t>
            </a:r>
            <a:r>
              <a:rPr dirty="0" err="1"/>
              <a:t>número</a:t>
            </a:r>
            <a:r>
              <a:rPr dirty="0"/>
              <a:t> de </a:t>
            </a:r>
            <a:r>
              <a:rPr dirty="0" err="1"/>
              <a:t>casos</a:t>
            </a:r>
            <a:r>
              <a:rPr dirty="0"/>
              <a:t> se </a:t>
            </a:r>
            <a:r>
              <a:rPr dirty="0" err="1"/>
              <a:t>presentan</a:t>
            </a:r>
            <a:r>
              <a:rPr dirty="0"/>
              <a:t> entre </a:t>
            </a:r>
            <a:r>
              <a:rPr dirty="0" err="1"/>
              <a:t>paréntesis</a:t>
            </a:r>
            <a:r>
              <a:rPr dirty="0"/>
              <a:t>.</a:t>
            </a:r>
            <a:br>
              <a:rPr dirty="0"/>
            </a:br>
            <a:r>
              <a:rPr dirty="0"/>
              <a:t>Fuente: IMSS/DPM/División de Información en Salud/</a:t>
            </a:r>
            <a:r>
              <a:rPr dirty="0" err="1"/>
              <a:t>Motivos</a:t>
            </a:r>
            <a:r>
              <a:rPr dirty="0"/>
              <a:t> de Consulta Externa (SUI27).</a:t>
            </a:r>
            <a:br>
              <a:rPr dirty="0"/>
            </a:br>
            <a:r>
              <a:rPr dirty="0"/>
              <a:t>Sistema de información Médico </a:t>
            </a:r>
            <a:r>
              <a:rPr dirty="0" err="1"/>
              <a:t>Operativo</a:t>
            </a:r>
            <a:r>
              <a:rPr dirty="0"/>
              <a:t> Central (SIMOC).</a:t>
            </a:r>
            <a:br>
              <a:rPr dirty="0"/>
            </a:br>
            <a:r>
              <a:rPr dirty="0" err="1"/>
              <a:t>Periodo</a:t>
            </a:r>
            <a:r>
              <a:rPr dirty="0"/>
              <a:t>: enero-</a:t>
            </a:r>
            <a:r>
              <a:rPr dirty="0" err="1"/>
              <a:t>diciembre</a:t>
            </a:r>
            <a:r>
              <a:rPr dirty="0"/>
              <a:t> 2025</a:t>
            </a:r>
          </a:p>
        </p:txBody>
      </p:sp>
      <p:sp>
        <p:nvSpPr>
          <p:cNvPr id="346" name="TextBox 345"/>
          <p:cNvSpPr txBox="1"/>
          <p:nvPr/>
        </p:nvSpPr>
        <p:spPr>
          <a:xfrm>
            <a:off x="158399" y="9732528"/>
            <a:ext cx="4244400" cy="107722"/>
          </a:xfrm>
          <a:prstGeom prst="rect">
            <a:avLst/>
          </a:prstGeom>
          <a:noFill/>
        </p:spPr>
        <p:txBody>
          <a:bodyPr wrap="square" lIns="0" tIns="0" rIns="0" bIns="0">
            <a:spAutoFit/>
          </a:bodyPr>
          <a:lstStyle/>
          <a:p>
            <a:pPr algn="l">
              <a:defRPr sz="700">
                <a:solidFill>
                  <a:srgbClr val="000000"/>
                </a:solidFill>
                <a:latin typeface="Montserrat"/>
              </a:defRPr>
            </a:pPr>
            <a:r>
              <a:rPr dirty="0">
                <a:solidFill>
                  <a:schemeClr val="bg1"/>
                </a:solidFill>
              </a:rPr>
              <a:t>Corte de información: </a:t>
            </a:r>
            <a:r>
              <a:rPr dirty="0" err="1">
                <a:solidFill>
                  <a:schemeClr val="bg1"/>
                </a:solidFill>
              </a:rPr>
              <a:t>marzo</a:t>
            </a:r>
            <a:r>
              <a:rPr dirty="0">
                <a:solidFill>
                  <a:schemeClr val="bg1"/>
                </a:solidFill>
              </a:rPr>
              <a:t> 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FFFFFF"/>
                </a:solidFill>
                <a:latin typeface="Montserrat"/>
              </a:defRPr>
            </a:pPr>
            <a:r>
              <a:rPr dirty="0"/>
              <a:t>Fuente: Portal de Control de Abasto. En 2026, se </a:t>
            </a:r>
            <a:r>
              <a:rPr dirty="0" err="1"/>
              <a:t>muestra</a:t>
            </a:r>
            <a:r>
              <a:rPr dirty="0"/>
              <a:t> lo </a:t>
            </a:r>
            <a:r>
              <a:rPr dirty="0" err="1"/>
              <a:t>correspondiente</a:t>
            </a:r>
            <a:r>
              <a:rPr dirty="0"/>
              <a:t> al </a:t>
            </a:r>
            <a:r>
              <a:rPr dirty="0" err="1"/>
              <a:t>periodo</a:t>
            </a:r>
            <a:r>
              <a:rPr dirty="0"/>
              <a:t> del 1 de enero al 31 de mayo de 2026.</a:t>
            </a:r>
          </a:p>
        </p:txBody>
      </p:sp>
      <p:sp>
        <p:nvSpPr>
          <p:cNvPr id="8" name="TextBox 7"/>
          <p:cNvSpPr txBox="1"/>
          <p:nvPr/>
        </p:nvSpPr>
        <p:spPr>
          <a:xfrm>
            <a:off x="274320" y="6058059"/>
            <a:ext cx="4572000" cy="365760"/>
          </a:xfrm>
          <a:prstGeom prst="rect">
            <a:avLst/>
          </a:prstGeom>
          <a:noFill/>
        </p:spPr>
        <p:txBody>
          <a:bodyPr wrap="none">
            <a:spAutoFit/>
          </a:bodyPr>
          <a:lstStyle/>
          <a:p>
            <a:pPr algn="l">
              <a:defRPr sz="2000" b="0">
                <a:solidFill>
                  <a:srgbClr val="BC955C"/>
                </a:solidFill>
                <a:latin typeface="Montserrat"/>
              </a:defRPr>
            </a:pPr>
            <a:r>
              <a:rPr dirty="0" err="1"/>
              <a:t>Recetas</a:t>
            </a:r>
            <a:r>
              <a:rPr dirty="0"/>
              <a:t> </a:t>
            </a:r>
            <a:r>
              <a:rPr dirty="0" err="1"/>
              <a:t>manuales</a:t>
            </a:r>
            <a:r>
              <a:rPr dirty="0"/>
              <a:t> y </a:t>
            </a:r>
            <a:r>
              <a:rPr dirty="0" err="1"/>
              <a:t>electrónicas</a:t>
            </a:r>
            <a:endParaRPr dirty="0"/>
          </a:p>
        </p:txBody>
      </p:sp>
      <p:cxnSp>
        <p:nvCxnSpPr>
          <p:cNvPr id="9" name="Connector 8"/>
          <p:cNvCxnSpPr/>
          <p:nvPr/>
        </p:nvCxnSpPr>
        <p:spPr>
          <a:xfrm>
            <a:off x="274320" y="65125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1185835451"/>
              </p:ext>
            </p:extLst>
          </p:nvPr>
        </p:nvGraphicFramePr>
        <p:xfrm>
          <a:off x="457200" y="6784182"/>
          <a:ext cx="6858000" cy="1557019"/>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641125">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dirty="0" err="1">
                          <a:solidFill>
                            <a:srgbClr val="FFFFFF"/>
                          </a:solidFill>
                          <a:latin typeface="Montserrat"/>
                        </a:rPr>
                        <a:t>Manuales</a:t>
                      </a:r>
                      <a:endParaRPr sz="1100" b="1" dirty="0">
                        <a:solidFill>
                          <a:srgbClr val="FFFFFF"/>
                        </a:solidFill>
                        <a:latin typeface="Montserrat"/>
                      </a:endParaRP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457947">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429,775</a:t>
                      </a:r>
                    </a:p>
                  </a:txBody>
                  <a:tcPr>
                    <a:solidFill>
                      <a:srgbClr val="FFFFFF"/>
                    </a:solidFill>
                  </a:tcPr>
                </a:tc>
                <a:tc>
                  <a:txBody>
                    <a:bodyPr/>
                    <a:lstStyle/>
                    <a:p>
                      <a:pPr algn="ctr"/>
                      <a:r>
                        <a:rPr sz="1100" b="0">
                          <a:solidFill>
                            <a:srgbClr val="434343"/>
                          </a:solidFill>
                          <a:latin typeface="Montserrat"/>
                        </a:rPr>
                        <a:t>4,455,012</a:t>
                      </a:r>
                    </a:p>
                  </a:txBody>
                  <a:tcPr>
                    <a:solidFill>
                      <a:srgbClr val="FFFFFF"/>
                    </a:solidFill>
                  </a:tcPr>
                </a:tc>
                <a:tc>
                  <a:txBody>
                    <a:bodyPr/>
                    <a:lstStyle/>
                    <a:p>
                      <a:pPr algn="ctr"/>
                      <a:r>
                        <a:rPr sz="1100" b="0">
                          <a:solidFill>
                            <a:srgbClr val="434343"/>
                          </a:solidFill>
                          <a:latin typeface="Montserrat"/>
                        </a:rPr>
                        <a:t>91.2%</a:t>
                      </a:r>
                    </a:p>
                  </a:txBody>
                  <a:tcPr>
                    <a:solidFill>
                      <a:srgbClr val="FFFFFF"/>
                    </a:solidFill>
                  </a:tcPr>
                </a:tc>
                <a:extLst>
                  <a:ext uri="{0D108BD9-81ED-4DB2-BD59-A6C34878D82A}">
                    <a16:rowId xmlns:a16="http://schemas.microsoft.com/office/drawing/2014/main" val="10001"/>
                  </a:ext>
                </a:extLst>
              </a:tr>
              <a:tr h="457947">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269,739</a:t>
                      </a:r>
                    </a:p>
                  </a:txBody>
                  <a:tcPr>
                    <a:solidFill>
                      <a:srgbClr val="D9D9D9"/>
                    </a:solidFill>
                  </a:tcPr>
                </a:tc>
                <a:tc>
                  <a:txBody>
                    <a:bodyPr/>
                    <a:lstStyle/>
                    <a:p>
                      <a:pPr algn="ctr"/>
                      <a:r>
                        <a:rPr sz="1100" b="1">
                          <a:solidFill>
                            <a:srgbClr val="006455"/>
                          </a:solidFill>
                          <a:latin typeface="Montserrat"/>
                        </a:rPr>
                        <a:t>4,518,229</a:t>
                      </a:r>
                    </a:p>
                  </a:txBody>
                  <a:tcPr>
                    <a:solidFill>
                      <a:srgbClr val="D9D9D9"/>
                    </a:solidFill>
                  </a:tcPr>
                </a:tc>
                <a:tc>
                  <a:txBody>
                    <a:bodyPr/>
                    <a:lstStyle/>
                    <a:p>
                      <a:pPr algn="ctr"/>
                      <a:r>
                        <a:rPr sz="1100" b="1" dirty="0">
                          <a:solidFill>
                            <a:srgbClr val="006455"/>
                          </a:solidFill>
                          <a:latin typeface="Montserrat"/>
                        </a:rPr>
                        <a:t>94.4%</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6490-54B2-0AE9-DE69-C32D233DBB8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3" name="TextBox 2"/>
          <p:cNvSpPr txBox="1"/>
          <p:nvPr/>
        </p:nvSpPr>
        <p:spPr>
          <a:xfrm>
            <a:off x="180000" y="612000"/>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0.png"/>
          <p:cNvPicPr>
            <a:picLocks noChangeAspect="1"/>
          </p:cNvPicPr>
          <p:nvPr/>
        </p:nvPicPr>
        <p:blipFill>
          <a:blip r:embed="rId2"/>
          <a:stretch>
            <a:fillRect/>
          </a:stretch>
        </p:blipFill>
        <p:spPr>
          <a:xfrm>
            <a:off x="129600" y="1360799"/>
            <a:ext cx="7441200" cy="3153593"/>
          </a:xfrm>
          <a:prstGeom prst="rect">
            <a:avLst/>
          </a:prstGeom>
        </p:spPr>
      </p:pic>
      <p:sp>
        <p:nvSpPr>
          <p:cNvPr id="7" name="TextBox 6"/>
          <p:cNvSpPr txBox="1"/>
          <p:nvPr/>
        </p:nvSpPr>
        <p:spPr>
          <a:xfrm>
            <a:off x="180000" y="4885200"/>
            <a:ext cx="6840000" cy="288000"/>
          </a:xfrm>
          <a:prstGeom prst="rect">
            <a:avLst/>
          </a:prstGeom>
          <a:noFill/>
        </p:spPr>
        <p:txBody>
          <a:bodyPr wrap="none" lIns="0" tIns="0" rIns="0" bIns="0">
            <a:spAutoFit/>
          </a:bodyPr>
          <a:lstStyle/>
          <a:p>
            <a:pPr algn="l">
              <a:defRPr sz="1800" b="0">
                <a:solidFill>
                  <a:srgbClr val="BC955C"/>
                </a:solidFill>
                <a:latin typeface="Montserrat"/>
              </a:defRPr>
            </a:pPr>
            <a:r>
              <a:rPr dirty="0" err="1"/>
              <a:t>Medicamentos</a:t>
            </a:r>
            <a:r>
              <a:rPr dirty="0"/>
              <a:t> con mayor </a:t>
            </a:r>
            <a:r>
              <a:rPr dirty="0" err="1"/>
              <a:t>demanda</a:t>
            </a:r>
            <a:endParaRPr dirty="0"/>
          </a:p>
        </p:txBody>
      </p:sp>
      <p:cxnSp>
        <p:nvCxnSpPr>
          <p:cNvPr id="8" name="Connector 7"/>
          <p:cNvCxnSpPr/>
          <p:nvPr/>
        </p:nvCxnSpPr>
        <p:spPr>
          <a:xfrm>
            <a:off x="180000" y="51552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1703731008"/>
              </p:ext>
            </p:extLst>
          </p:nvPr>
        </p:nvGraphicFramePr>
        <p:xfrm>
          <a:off x="180000" y="5723999"/>
          <a:ext cx="7200000" cy="2973594"/>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274409">
                <a:tc gridSpan="2">
                  <a:txBody>
                    <a:bodyPr/>
                    <a:lstStyle/>
                    <a:p>
                      <a:pPr algn="ctr">
                        <a:defRPr sz="1000" b="1">
                          <a:solidFill>
                            <a:srgbClr val="FFFFFF"/>
                          </a:solidFill>
                          <a:latin typeface="Montserrat"/>
                        </a:defRPr>
                      </a:pPr>
                      <a:r>
                        <a:rPr sz="1050"/>
                        <a:t>Con mayor demanda de enero a abril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99355">
                <a:tc>
                  <a:txBody>
                    <a:bodyPr/>
                    <a:lstStyle/>
                    <a:p>
                      <a:pPr algn="ctr">
                        <a:defRPr sz="900" b="1">
                          <a:solidFill>
                            <a:srgbClr val="FFFFFF"/>
                          </a:solidFill>
                          <a:latin typeface="Montserrat"/>
                        </a:defRPr>
                      </a:pPr>
                      <a:r>
                        <a:rPr sz="1050"/>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rPr sz="1050"/>
                        <a:t>Consumo</a:t>
                      </a:r>
                    </a:p>
                  </a:txBody>
                  <a:tcPr marL="18000" marR="18000" marT="18000" marB="18000" anchor="ctr">
                    <a:solidFill>
                      <a:srgbClr val="006455"/>
                    </a:solidFill>
                  </a:tcPr>
                </a:tc>
                <a:extLst>
                  <a:ext uri="{0D108BD9-81ED-4DB2-BD59-A6C34878D82A}">
                    <a16:rowId xmlns:a16="http://schemas.microsoft.com/office/drawing/2014/main" val="10001"/>
                  </a:ext>
                </a:extLst>
              </a:tr>
              <a:tr h="239983">
                <a:tc>
                  <a:txBody>
                    <a:bodyPr/>
                    <a:lstStyle/>
                    <a:p>
                      <a:pPr algn="l">
                        <a:defRPr sz="900" b="0">
                          <a:solidFill>
                            <a:srgbClr val="333333"/>
                          </a:solidFill>
                          <a:latin typeface="Montserrat"/>
                        </a:defRPr>
                      </a:pPr>
                      <a:r>
                        <a:rPr sz="1050"/>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456,248</a:t>
                      </a:r>
                    </a:p>
                  </a:txBody>
                  <a:tcPr marL="18000" marR="18000" marT="18000" marB="18000" anchor="ctr">
                    <a:solidFill>
                      <a:srgbClr val="F2F2F2"/>
                    </a:solidFill>
                  </a:tcPr>
                </a:tc>
                <a:extLst>
                  <a:ext uri="{0D108BD9-81ED-4DB2-BD59-A6C34878D82A}">
                    <a16:rowId xmlns:a16="http://schemas.microsoft.com/office/drawing/2014/main" val="10002"/>
                  </a:ext>
                </a:extLst>
              </a:tr>
              <a:tr h="239983">
                <a:tc>
                  <a:txBody>
                    <a:bodyPr/>
                    <a:lstStyle/>
                    <a:p>
                      <a:pPr algn="l">
                        <a:defRPr sz="900" b="0">
                          <a:solidFill>
                            <a:srgbClr val="333333"/>
                          </a:solidFill>
                          <a:latin typeface="Montserrat"/>
                        </a:defRPr>
                      </a:pPr>
                      <a:r>
                        <a:rPr sz="1050"/>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427,917</a:t>
                      </a:r>
                    </a:p>
                  </a:txBody>
                  <a:tcPr marL="18000" marR="18000" marT="18000" marB="18000" anchor="ctr">
                    <a:solidFill>
                      <a:srgbClr val="FFFFFF"/>
                    </a:solidFill>
                  </a:tcPr>
                </a:tc>
                <a:extLst>
                  <a:ext uri="{0D108BD9-81ED-4DB2-BD59-A6C34878D82A}">
                    <a16:rowId xmlns:a16="http://schemas.microsoft.com/office/drawing/2014/main" val="10003"/>
                  </a:ext>
                </a:extLst>
              </a:tr>
              <a:tr h="239983">
                <a:tc>
                  <a:txBody>
                    <a:bodyPr/>
                    <a:lstStyle/>
                    <a:p>
                      <a:pPr algn="l">
                        <a:defRPr sz="900" b="0">
                          <a:solidFill>
                            <a:srgbClr val="333333"/>
                          </a:solidFill>
                          <a:latin typeface="Montserrat"/>
                        </a:defRPr>
                      </a:pPr>
                      <a:r>
                        <a:rPr sz="1050"/>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410,853</a:t>
                      </a:r>
                    </a:p>
                  </a:txBody>
                  <a:tcPr marL="18000" marR="18000" marT="18000" marB="18000" anchor="ctr">
                    <a:solidFill>
                      <a:srgbClr val="F2F2F2"/>
                    </a:solidFill>
                  </a:tcPr>
                </a:tc>
                <a:extLst>
                  <a:ext uri="{0D108BD9-81ED-4DB2-BD59-A6C34878D82A}">
                    <a16:rowId xmlns:a16="http://schemas.microsoft.com/office/drawing/2014/main" val="10004"/>
                  </a:ext>
                </a:extLst>
              </a:tr>
              <a:tr h="239983">
                <a:tc>
                  <a:txBody>
                    <a:bodyPr/>
                    <a:lstStyle/>
                    <a:p>
                      <a:pPr algn="l">
                        <a:defRPr sz="900" b="0">
                          <a:solidFill>
                            <a:srgbClr val="333333"/>
                          </a:solidFill>
                          <a:latin typeface="Montserrat"/>
                        </a:defRPr>
                      </a:pPr>
                      <a:r>
                        <a:rPr sz="1050"/>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343,786</a:t>
                      </a:r>
                    </a:p>
                  </a:txBody>
                  <a:tcPr marL="18000" marR="18000" marT="18000" marB="18000" anchor="ctr">
                    <a:solidFill>
                      <a:srgbClr val="FFFFFF"/>
                    </a:solidFill>
                  </a:tcPr>
                </a:tc>
                <a:extLst>
                  <a:ext uri="{0D108BD9-81ED-4DB2-BD59-A6C34878D82A}">
                    <a16:rowId xmlns:a16="http://schemas.microsoft.com/office/drawing/2014/main" val="10005"/>
                  </a:ext>
                </a:extLst>
              </a:tr>
              <a:tr h="239983">
                <a:tc>
                  <a:txBody>
                    <a:bodyPr/>
                    <a:lstStyle/>
                    <a:p>
                      <a:pPr algn="l">
                        <a:defRPr sz="900" b="0">
                          <a:solidFill>
                            <a:srgbClr val="333333"/>
                          </a:solidFill>
                          <a:latin typeface="Montserrat"/>
                        </a:defRPr>
                      </a:pPr>
                      <a:r>
                        <a:rPr sz="1050"/>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312,255</a:t>
                      </a:r>
                    </a:p>
                  </a:txBody>
                  <a:tcPr marL="18000" marR="18000" marT="18000" marB="18000" anchor="ctr">
                    <a:solidFill>
                      <a:srgbClr val="F2F2F2"/>
                    </a:solidFill>
                  </a:tcPr>
                </a:tc>
                <a:extLst>
                  <a:ext uri="{0D108BD9-81ED-4DB2-BD59-A6C34878D82A}">
                    <a16:rowId xmlns:a16="http://schemas.microsoft.com/office/drawing/2014/main" val="10006"/>
                  </a:ext>
                </a:extLst>
              </a:tr>
              <a:tr h="239983">
                <a:tc>
                  <a:txBody>
                    <a:bodyPr/>
                    <a:lstStyle/>
                    <a:p>
                      <a:pPr algn="l">
                        <a:defRPr sz="900" b="0">
                          <a:solidFill>
                            <a:srgbClr val="333333"/>
                          </a:solidFill>
                          <a:latin typeface="Montserrat"/>
                        </a:defRPr>
                      </a:pPr>
                      <a:r>
                        <a:rPr sz="1050" dirty="0" err="1"/>
                        <a:t>Dapagliflozina</a:t>
                      </a:r>
                      <a:r>
                        <a:rPr sz="1050" dirty="0"/>
                        <a:t>, </a:t>
                      </a:r>
                      <a:r>
                        <a:rPr sz="1050" dirty="0" err="1"/>
                        <a:t>tableta</a:t>
                      </a:r>
                      <a:r>
                        <a:rPr sz="1050" dirty="0"/>
                        <a:t> (</a:t>
                      </a:r>
                      <a:r>
                        <a:rPr sz="1050" dirty="0" err="1"/>
                        <a:t>hipoglucemiante</a:t>
                      </a:r>
                      <a:r>
                        <a:rPr sz="1050" dirty="0"/>
                        <a:t>)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240,825</a:t>
                      </a:r>
                    </a:p>
                  </a:txBody>
                  <a:tcPr marL="18000" marR="18000" marT="18000" marB="18000" anchor="ctr">
                    <a:solidFill>
                      <a:srgbClr val="FFFFFF"/>
                    </a:solidFill>
                  </a:tcPr>
                </a:tc>
                <a:extLst>
                  <a:ext uri="{0D108BD9-81ED-4DB2-BD59-A6C34878D82A}">
                    <a16:rowId xmlns:a16="http://schemas.microsoft.com/office/drawing/2014/main" val="10007"/>
                  </a:ext>
                </a:extLst>
              </a:tr>
              <a:tr h="239983">
                <a:tc>
                  <a:txBody>
                    <a:bodyPr/>
                    <a:lstStyle/>
                    <a:p>
                      <a:pPr algn="l">
                        <a:defRPr sz="900" b="0">
                          <a:solidFill>
                            <a:srgbClr val="333333"/>
                          </a:solidFill>
                          <a:latin typeface="Montserrat"/>
                        </a:defRPr>
                      </a:pPr>
                      <a:r>
                        <a:rPr sz="1050"/>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217,382</a:t>
                      </a:r>
                    </a:p>
                  </a:txBody>
                  <a:tcPr marL="18000" marR="18000" marT="18000" marB="18000" anchor="ctr">
                    <a:solidFill>
                      <a:srgbClr val="F2F2F2"/>
                    </a:solidFill>
                  </a:tcPr>
                </a:tc>
                <a:extLst>
                  <a:ext uri="{0D108BD9-81ED-4DB2-BD59-A6C34878D82A}">
                    <a16:rowId xmlns:a16="http://schemas.microsoft.com/office/drawing/2014/main" val="10008"/>
                  </a:ext>
                </a:extLst>
              </a:tr>
              <a:tr h="239983">
                <a:tc>
                  <a:txBody>
                    <a:bodyPr/>
                    <a:lstStyle/>
                    <a:p>
                      <a:pPr algn="l">
                        <a:defRPr sz="900" b="0">
                          <a:solidFill>
                            <a:srgbClr val="333333"/>
                          </a:solidFill>
                          <a:latin typeface="Montserrat"/>
                        </a:defRPr>
                      </a:pPr>
                      <a:r>
                        <a:rPr sz="1050"/>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a:t>207,654</a:t>
                      </a:r>
                    </a:p>
                  </a:txBody>
                  <a:tcPr marL="18000" marR="18000" marT="18000" marB="18000" anchor="ctr">
                    <a:solidFill>
                      <a:srgbClr val="FFFFFF"/>
                    </a:solidFill>
                  </a:tcPr>
                </a:tc>
                <a:extLst>
                  <a:ext uri="{0D108BD9-81ED-4DB2-BD59-A6C34878D82A}">
                    <a16:rowId xmlns:a16="http://schemas.microsoft.com/office/drawing/2014/main" val="10009"/>
                  </a:ext>
                </a:extLst>
              </a:tr>
              <a:tr h="239983">
                <a:tc>
                  <a:txBody>
                    <a:bodyPr/>
                    <a:lstStyle/>
                    <a:p>
                      <a:pPr algn="l">
                        <a:defRPr sz="900" b="0">
                          <a:solidFill>
                            <a:srgbClr val="333333"/>
                          </a:solidFill>
                          <a:latin typeface="Montserrat"/>
                        </a:defRPr>
                      </a:pPr>
                      <a:r>
                        <a:rPr sz="1050"/>
                        <a:t>Linagliptina,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rPr sz="1050"/>
                        <a:t>207,168</a:t>
                      </a:r>
                    </a:p>
                  </a:txBody>
                  <a:tcPr marL="18000" marR="18000" marT="18000" marB="18000" anchor="ctr">
                    <a:solidFill>
                      <a:srgbClr val="F2F2F2"/>
                    </a:solidFill>
                  </a:tcPr>
                </a:tc>
                <a:extLst>
                  <a:ext uri="{0D108BD9-81ED-4DB2-BD59-A6C34878D82A}">
                    <a16:rowId xmlns:a16="http://schemas.microsoft.com/office/drawing/2014/main" val="10010"/>
                  </a:ext>
                </a:extLst>
              </a:tr>
              <a:tr h="239983">
                <a:tc>
                  <a:txBody>
                    <a:bodyPr/>
                    <a:lstStyle/>
                    <a:p>
                      <a:pPr algn="l">
                        <a:defRPr sz="900" b="0">
                          <a:solidFill>
                            <a:srgbClr val="333333"/>
                          </a:solidFill>
                          <a:latin typeface="Montserrat"/>
                        </a:defRPr>
                      </a:pPr>
                      <a:r>
                        <a:rPr sz="1050"/>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rPr sz="1050" dirty="0"/>
                        <a:t>193,561</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123111"/>
          </a:xfrm>
          <a:prstGeom prst="rect">
            <a:avLst/>
          </a:prstGeom>
          <a:noFill/>
        </p:spPr>
        <p:txBody>
          <a:bodyPr wrap="square" lIns="0" tIns="0" rIns="0" bIns="0">
            <a:spAutoFit/>
          </a:bodyPr>
          <a:lstStyle/>
          <a:p>
            <a:pPr algn="l">
              <a:defRPr sz="800">
                <a:solidFill>
                  <a:srgbClr val="FFFFFF"/>
                </a:solidFill>
                <a:latin typeface="Montserrat"/>
              </a:defRPr>
            </a:pPr>
            <a:r>
              <a:rPr dirty="0"/>
              <a:t>Fuente: Portal de Control de Abasto. En 2026, se </a:t>
            </a:r>
            <a:r>
              <a:rPr dirty="0" err="1"/>
              <a:t>muestra</a:t>
            </a:r>
            <a:r>
              <a:rPr dirty="0"/>
              <a:t> lo </a:t>
            </a:r>
            <a:r>
              <a:rPr dirty="0" err="1"/>
              <a:t>correspondiente</a:t>
            </a:r>
            <a:r>
              <a:rPr dirty="0"/>
              <a:t> al </a:t>
            </a:r>
            <a:r>
              <a:rPr dirty="0" err="1"/>
              <a:t>periodo</a:t>
            </a:r>
            <a:r>
              <a:rPr dirty="0"/>
              <a:t> del 1 de enero al </a:t>
            </a:r>
            <a:r>
              <a:rPr lang="es-MX" dirty="0"/>
              <a:t> 31 de mayo </a:t>
            </a:r>
            <a:r>
              <a:rPr dirty="0"/>
              <a:t>de 2026.</a:t>
            </a:r>
          </a:p>
        </p:txBody>
      </p:sp>
    </p:spTree>
    <p:extLst>
      <p:ext uri="{BB962C8B-B14F-4D97-AF65-F5344CB8AC3E}">
        <p14:creationId xmlns:p14="http://schemas.microsoft.com/office/powerpoint/2010/main" val="711726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rPr>
              <a:t>2</a:t>
            </a:r>
            <a:endParaRPr lang="es-ES"/>
          </a:p>
          <a:p>
            <a:pPr algn="ctr"/>
            <a:r>
              <a:rPr lang="en-US" sz="700" b="1" dirty="0" err="1">
                <a:solidFill>
                  <a:srgbClr val="BC955C"/>
                </a:solidFill>
                <a:latin typeface="Montserrat"/>
              </a:rPr>
              <a:t>Áreas</a:t>
            </a:r>
            <a:r>
              <a:rPr lang="en-US" sz="700" b="1" dirty="0">
                <a:solidFill>
                  <a:srgbClr val="BC955C"/>
                </a:solidFill>
                <a:latin typeface="Montserrat"/>
              </a:rPr>
              <a:t> de </a:t>
            </a:r>
          </a:p>
          <a:p>
            <a:pPr algn="ctr"/>
            <a:r>
              <a:rPr lang="en-US" sz="700" b="1" dirty="0" err="1">
                <a:solidFill>
                  <a:srgbClr val="BC955C"/>
                </a:solidFill>
                <a:latin typeface="Montserrat"/>
              </a:rPr>
              <a:t>Terapia</a:t>
            </a:r>
            <a:r>
              <a:rPr lang="en-US" sz="700" b="1" dirty="0">
                <a:solidFill>
                  <a:srgbClr val="BC955C"/>
                </a:solidFill>
                <a:latin typeface="Montserrat"/>
              </a:rPr>
              <a:t> </a:t>
            </a:r>
          </a:p>
          <a:p>
            <a:pPr algn="ctr"/>
            <a:r>
              <a:rPr lang="en-US" sz="700" b="1" dirty="0" err="1">
                <a:solidFill>
                  <a:srgbClr val="BC955C"/>
                </a:solidFill>
                <a:latin typeface="Montserrat"/>
              </a:rPr>
              <a:t>Intensiva</a:t>
            </a:r>
            <a:endParaRPr lang="en-US" sz="700" b="1" dirty="0">
              <a:solidFill>
                <a:srgbClr val="BC955C"/>
              </a:solidFill>
              <a:latin typeface="Montserrat"/>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5073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39432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20652"/>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7" name="Table 16"/>
          <p:cNvGraphicFramePr>
            <a:graphicFrameLocks noGrp="1"/>
          </p:cNvGraphicFramePr>
          <p:nvPr>
            <p:extLst>
              <p:ext uri="{D42A27DB-BD31-4B8C-83A1-F6EECF244321}">
                <p14:modId xmlns:p14="http://schemas.microsoft.com/office/powerpoint/2010/main" val="2250298642"/>
              </p:ext>
            </p:extLst>
          </p:nvPr>
        </p:nvGraphicFramePr>
        <p:xfrm>
          <a:off x="1785600" y="1584000"/>
          <a:ext cx="5295600" cy="1314084"/>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192642">
                <a:tc>
                  <a:txBody>
                    <a:bodyPr/>
                    <a:lstStyle/>
                    <a:p>
                      <a:pPr algn="ctr">
                        <a:defRPr sz="1000" b="1">
                          <a:solidFill>
                            <a:srgbClr val="FFFFFF"/>
                          </a:solidFill>
                          <a:latin typeface="Montserrat"/>
                        </a:defRPr>
                      </a:pPr>
                      <a:r>
                        <a:rPr dirty="0"/>
                        <a:t>Obras de </a:t>
                      </a:r>
                      <a:r>
                        <a:rPr dirty="0" err="1"/>
                        <a:t>Infraestructura</a:t>
                      </a:r>
                      <a:r>
                        <a:rPr dirty="0"/>
                        <a:t> 2025</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408606">
                <a:tc>
                  <a:txBody>
                    <a:bodyPr/>
                    <a:lstStyle/>
                    <a:p>
                      <a:pPr algn="l">
                        <a:lnSpc>
                          <a:spcPct val="100000"/>
                        </a:lnSpc>
                      </a:pPr>
                      <a:r>
                        <a:rPr sz="1000" dirty="0">
                          <a:latin typeface="Montserrat"/>
                        </a:rPr>
                        <a:t>Implementación de la Sala de </a:t>
                      </a:r>
                      <a:r>
                        <a:rPr sz="1000" dirty="0" err="1">
                          <a:latin typeface="Montserrat"/>
                        </a:rPr>
                        <a:t>Hemodinamia</a:t>
                      </a:r>
                      <a:r>
                        <a:rPr sz="1000" dirty="0">
                          <a:latin typeface="Montserrat"/>
                        </a:rPr>
                        <a:t> del Hospital General Regional No. 1 de Orizaba,(Etapa 4), y </a:t>
                      </a:r>
                      <a:r>
                        <a:rPr sz="1000" dirty="0" err="1">
                          <a:latin typeface="Montserrat"/>
                        </a:rPr>
                        <a:t>Adquisición</a:t>
                      </a:r>
                      <a:r>
                        <a:rPr sz="1000" dirty="0">
                          <a:latin typeface="Montserrat"/>
                        </a:rPr>
                        <a:t> de </a:t>
                      </a:r>
                      <a:r>
                        <a:rPr sz="1000" dirty="0" err="1">
                          <a:latin typeface="Montserrat"/>
                        </a:rPr>
                        <a:t>Equipamiento</a:t>
                      </a:r>
                      <a:r>
                        <a:rPr sz="1000" dirty="0">
                          <a:latin typeface="Montserrat"/>
                        </a:rPr>
                        <a:t> para </a:t>
                      </a:r>
                      <a:r>
                        <a:rPr sz="1000" dirty="0" err="1">
                          <a:latin typeface="Montserrat"/>
                        </a:rPr>
                        <a:t>una</a:t>
                      </a:r>
                      <a:r>
                        <a:rPr sz="1000" dirty="0">
                          <a:latin typeface="Montserrat"/>
                        </a:rPr>
                        <a:t> Nueva Sala de </a:t>
                      </a:r>
                      <a:r>
                        <a:rPr sz="1000" dirty="0" err="1">
                          <a:latin typeface="Montserrat"/>
                        </a:rPr>
                        <a:t>Hemodinamia</a:t>
                      </a:r>
                      <a:r>
                        <a:rPr sz="1000" dirty="0">
                          <a:latin typeface="Montserrat"/>
                        </a:rPr>
                        <a:t> en el Hospital General de Zona No. 11, Xalapa</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$81.0</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06688">
                <a:tc>
                  <a:txBody>
                    <a:bodyPr/>
                    <a:lstStyle/>
                    <a:p>
                      <a:pPr algn="l">
                        <a:lnSpc>
                          <a:spcPct val="100000"/>
                        </a:lnSpc>
                      </a:pPr>
                      <a:r>
                        <a:rPr sz="1000" dirty="0" err="1">
                          <a:latin typeface="Montserrat"/>
                        </a:rPr>
                        <a:t>Adecuación</a:t>
                      </a:r>
                      <a:r>
                        <a:rPr sz="1000" dirty="0">
                          <a:latin typeface="Montserrat"/>
                        </a:rPr>
                        <a:t> y </a:t>
                      </a:r>
                      <a:r>
                        <a:rPr sz="1000" dirty="0" err="1">
                          <a:latin typeface="Montserrat"/>
                        </a:rPr>
                        <a:t>ampliación</a:t>
                      </a:r>
                      <a:r>
                        <a:rPr sz="1000" dirty="0">
                          <a:latin typeface="Montserrat"/>
                        </a:rPr>
                        <a:t> del </a:t>
                      </a:r>
                      <a:r>
                        <a:rPr sz="1000" dirty="0" err="1">
                          <a:latin typeface="Montserrat"/>
                        </a:rPr>
                        <a:t>área</a:t>
                      </a:r>
                      <a:r>
                        <a:rPr sz="1000" dirty="0">
                          <a:latin typeface="Montserrat"/>
                        </a:rPr>
                        <a:t> de </a:t>
                      </a:r>
                      <a:r>
                        <a:rPr sz="1000" dirty="0" err="1">
                          <a:latin typeface="Montserrat"/>
                        </a:rPr>
                        <a:t>diálisis</a:t>
                      </a:r>
                      <a:r>
                        <a:rPr sz="1000" dirty="0">
                          <a:latin typeface="Montserrat"/>
                        </a:rPr>
                        <a:t> y </a:t>
                      </a:r>
                      <a:r>
                        <a:rPr sz="1000" dirty="0" err="1">
                          <a:latin typeface="Montserrat"/>
                        </a:rPr>
                        <a:t>hemodiálisis</a:t>
                      </a:r>
                      <a:r>
                        <a:rPr sz="1000" dirty="0">
                          <a:latin typeface="Montserrat"/>
                        </a:rPr>
                        <a:t> del HGSZ No. 33 Tierra </a:t>
                      </a:r>
                      <a:r>
                        <a:rPr sz="1000" dirty="0" err="1">
                          <a:latin typeface="Montserrat"/>
                        </a:rPr>
                        <a:t>blanca</a:t>
                      </a:r>
                      <a:endParaRPr sz="1000" dirty="0">
                        <a:latin typeface="Montserrat"/>
                      </a:endParaRP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$25.1</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192642">
                <a:tc>
                  <a:txBody>
                    <a:bodyPr/>
                    <a:lstStyle/>
                    <a:p>
                      <a:pPr algn="l">
                        <a:lnSpc>
                          <a:spcPct val="100000"/>
                        </a:lnSpc>
                        <a:defRPr sz="900" b="1">
                          <a:solidFill>
                            <a:srgbClr val="BC955C"/>
                          </a:solidFill>
                          <a:latin typeface="Montserrat"/>
                        </a:defRPr>
                      </a:pPr>
                      <a:r>
                        <a:rPr dirty="0"/>
                        <a:t>Subtotal</a:t>
                      </a: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ECE1D2"/>
                    </a:solidFill>
                  </a:tcPr>
                </a:tc>
                <a:tc>
                  <a:txBody>
                    <a:bodyPr/>
                    <a:lstStyle/>
                    <a:p>
                      <a:pPr algn="ctr">
                        <a:lnSpc>
                          <a:spcPct val="100000"/>
                        </a:lnSpc>
                        <a:defRPr sz="900" b="1">
                          <a:solidFill>
                            <a:srgbClr val="BC955C"/>
                          </a:solidFill>
                          <a:latin typeface="Montserrat"/>
                        </a:defRPr>
                      </a:pPr>
                      <a:r>
                        <a:rPr dirty="0"/>
                        <a:t>$106.1</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CE1D2"/>
                    </a:solidFill>
                  </a:tcPr>
                </a:tc>
                <a:extLst>
                  <a:ext uri="{0D108BD9-81ED-4DB2-BD59-A6C34878D82A}">
                    <a16:rowId xmlns:a16="http://schemas.microsoft.com/office/drawing/2014/main" val="10003"/>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046244635"/>
              </p:ext>
            </p:extLst>
          </p:nvPr>
        </p:nvGraphicFramePr>
        <p:xfrm>
          <a:off x="1785218" y="2898084"/>
          <a:ext cx="5295600" cy="3354359"/>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24737">
                <a:tc>
                  <a:txBody>
                    <a:bodyPr/>
                    <a:lstStyle/>
                    <a:p>
                      <a:pPr algn="ctr">
                        <a:defRPr sz="1000" b="1">
                          <a:solidFill>
                            <a:srgbClr val="FFFFFF"/>
                          </a:solidFill>
                          <a:latin typeface="Montserrat"/>
                        </a:defRPr>
                      </a:pPr>
                      <a:r>
                        <a:rPr dirty="0"/>
                        <a:t>Obras de </a:t>
                      </a:r>
                      <a:r>
                        <a:rPr dirty="0" err="1"/>
                        <a:t>Conservación</a:t>
                      </a:r>
                      <a:r>
                        <a:rPr dirty="0"/>
                        <a:t> 2025</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324737">
                <a:tc>
                  <a:txBody>
                    <a:bodyPr/>
                    <a:lstStyle/>
                    <a:p>
                      <a:pPr algn="l">
                        <a:lnSpc>
                          <a:spcPct val="100000"/>
                        </a:lnSpc>
                      </a:pPr>
                      <a:r>
                        <a:rPr sz="1000" dirty="0" err="1">
                          <a:latin typeface="Montserrat"/>
                        </a:rPr>
                        <a:t>Mantenimiento</a:t>
                      </a:r>
                      <a:r>
                        <a:rPr sz="1000" dirty="0">
                          <a:latin typeface="Montserrat"/>
                        </a:rPr>
                        <a:t> de </a:t>
                      </a:r>
                      <a:r>
                        <a:rPr sz="1000" dirty="0" err="1">
                          <a:latin typeface="Montserrat"/>
                        </a:rPr>
                        <a:t>Infraestructura</a:t>
                      </a:r>
                      <a:r>
                        <a:rPr sz="1000" dirty="0">
                          <a:latin typeface="Montserrat"/>
                        </a:rPr>
                        <a:t> (PAO 2025)</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$838.0</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324737">
                <a:tc>
                  <a:txBody>
                    <a:bodyPr/>
                    <a:lstStyle/>
                    <a:p>
                      <a:pPr algn="l">
                        <a:lnSpc>
                          <a:spcPct val="100000"/>
                        </a:lnSpc>
                      </a:pPr>
                      <a:r>
                        <a:rPr sz="1000" dirty="0" err="1">
                          <a:latin typeface="Montserrat"/>
                        </a:rPr>
                        <a:t>Intervención</a:t>
                      </a:r>
                      <a:r>
                        <a:rPr sz="1000" dirty="0">
                          <a:latin typeface="Montserrat"/>
                        </a:rPr>
                        <a:t> en </a:t>
                      </a:r>
                      <a:r>
                        <a:rPr sz="1000" dirty="0" err="1">
                          <a:latin typeface="Montserrat"/>
                        </a:rPr>
                        <a:t>áreas</a:t>
                      </a:r>
                      <a:r>
                        <a:rPr sz="1000" dirty="0">
                          <a:latin typeface="Montserrat"/>
                        </a:rPr>
                        <a:t> de residencias </a:t>
                      </a:r>
                      <a:r>
                        <a:rPr sz="1000" dirty="0" err="1">
                          <a:latin typeface="Montserrat"/>
                        </a:rPr>
                        <a:t>médicas</a:t>
                      </a:r>
                      <a:r>
                        <a:rPr sz="1000" dirty="0">
                          <a:latin typeface="Montserrat"/>
                        </a:rPr>
                        <a:t> en 13 </a:t>
                      </a:r>
                      <a:r>
                        <a:rPr sz="1000" dirty="0" err="1">
                          <a:latin typeface="Montserrat"/>
                        </a:rPr>
                        <a:t>unidades</a:t>
                      </a:r>
                      <a:r>
                        <a:rPr sz="1000" dirty="0">
                          <a:latin typeface="Montserrat"/>
                        </a:rPr>
                        <a:t>, Veracruz</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$51.2</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324737">
                <a:tc>
                  <a:txBody>
                    <a:bodyPr/>
                    <a:lstStyle/>
                    <a:p>
                      <a:pPr algn="l">
                        <a:lnSpc>
                          <a:spcPct val="100000"/>
                        </a:lnSpc>
                      </a:pPr>
                      <a:r>
                        <a:rPr sz="1000" dirty="0" err="1">
                          <a:latin typeface="Montserrat"/>
                        </a:rPr>
                        <a:t>Intervención</a:t>
                      </a:r>
                      <a:r>
                        <a:rPr sz="1000" dirty="0">
                          <a:latin typeface="Montserrat"/>
                        </a:rPr>
                        <a:t> en </a:t>
                      </a:r>
                      <a:r>
                        <a:rPr sz="1000" dirty="0" err="1">
                          <a:latin typeface="Montserrat"/>
                        </a:rPr>
                        <a:t>áreas</a:t>
                      </a:r>
                      <a:r>
                        <a:rPr sz="1000" dirty="0">
                          <a:latin typeface="Montserrat"/>
                        </a:rPr>
                        <a:t> de </a:t>
                      </a:r>
                      <a:r>
                        <a:rPr sz="1000" dirty="0" err="1">
                          <a:latin typeface="Montserrat"/>
                        </a:rPr>
                        <a:t>terapia</a:t>
                      </a:r>
                      <a:r>
                        <a:rPr sz="1000" dirty="0">
                          <a:latin typeface="Montserrat"/>
                        </a:rPr>
                        <a:t> </a:t>
                      </a:r>
                      <a:r>
                        <a:rPr sz="1000" dirty="0" err="1">
                          <a:latin typeface="Montserrat"/>
                        </a:rPr>
                        <a:t>intensiva</a:t>
                      </a:r>
                      <a:r>
                        <a:rPr sz="1000" dirty="0">
                          <a:latin typeface="Montserrat"/>
                        </a:rPr>
                        <a:t> en UMAE HE No.14 Veracruz y HGZ No.71 Veracruz</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$47.5</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324737">
                <a:tc>
                  <a:txBody>
                    <a:bodyPr/>
                    <a:lstStyle/>
                    <a:p>
                      <a:pPr algn="l">
                        <a:lnSpc>
                          <a:spcPct val="100000"/>
                        </a:lnSpc>
                      </a:pPr>
                      <a:r>
                        <a:rPr sz="1000" dirty="0" err="1">
                          <a:latin typeface="Montserrat"/>
                        </a:rPr>
                        <a:t>Intervención</a:t>
                      </a:r>
                      <a:r>
                        <a:rPr sz="1000" dirty="0">
                          <a:latin typeface="Montserrat"/>
                        </a:rPr>
                        <a:t> en </a:t>
                      </a:r>
                      <a:r>
                        <a:rPr sz="1000" dirty="0" err="1">
                          <a:latin typeface="Montserrat"/>
                        </a:rPr>
                        <a:t>áreas</a:t>
                      </a:r>
                      <a:r>
                        <a:rPr sz="1000" dirty="0">
                          <a:latin typeface="Montserrat"/>
                        </a:rPr>
                        <a:t> de </a:t>
                      </a:r>
                      <a:r>
                        <a:rPr sz="1000" dirty="0" err="1">
                          <a:latin typeface="Montserrat"/>
                        </a:rPr>
                        <a:t>hemodiálisis</a:t>
                      </a:r>
                      <a:r>
                        <a:rPr sz="1000" dirty="0">
                          <a:latin typeface="Montserrat"/>
                        </a:rPr>
                        <a:t> interna en H. de </a:t>
                      </a:r>
                      <a:r>
                        <a:rPr sz="1000" dirty="0" err="1">
                          <a:latin typeface="Montserrat"/>
                        </a:rPr>
                        <a:t>Especialidades</a:t>
                      </a:r>
                      <a:r>
                        <a:rPr sz="1000" dirty="0">
                          <a:latin typeface="Montserrat"/>
                        </a:rPr>
                        <a:t> No.14, HGZ No. 35 </a:t>
                      </a:r>
                      <a:r>
                        <a:rPr sz="1000" dirty="0" err="1">
                          <a:latin typeface="Montserrat"/>
                        </a:rPr>
                        <a:t>Cosamaloapan</a:t>
                      </a:r>
                      <a:r>
                        <a:rPr sz="1000" dirty="0">
                          <a:latin typeface="Montserrat"/>
                        </a:rPr>
                        <a:t> y HGZ No. 8 Córdoba. HGZ 24 Poza Rica y HGZ 71 Veracruz</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$42.6</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324737">
                <a:tc>
                  <a:txBody>
                    <a:bodyPr/>
                    <a:lstStyle/>
                    <a:p>
                      <a:pPr algn="l">
                        <a:lnSpc>
                          <a:spcPct val="100000"/>
                        </a:lnSpc>
                      </a:pPr>
                      <a:r>
                        <a:rPr sz="1000">
                          <a:latin typeface="Montserrat"/>
                        </a:rPr>
                        <a:t>Intervención en áreas de mejora en subdelegaciones en 3 unidades (Xalapa, Coatzacoalcos, Cosamaloapan)</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$19.3</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400596">
                <a:tc>
                  <a:txBody>
                    <a:bodyPr/>
                    <a:lstStyle/>
                    <a:p>
                      <a:pPr algn="l">
                        <a:lnSpc>
                          <a:spcPct val="100000"/>
                        </a:lnSpc>
                      </a:pPr>
                      <a:r>
                        <a:rPr sz="1000" dirty="0" err="1">
                          <a:latin typeface="Montserrat"/>
                        </a:rPr>
                        <a:t>Intervención</a:t>
                      </a:r>
                      <a:r>
                        <a:rPr sz="1000" dirty="0">
                          <a:latin typeface="Montserrat"/>
                        </a:rPr>
                        <a:t> en </a:t>
                      </a:r>
                      <a:r>
                        <a:rPr sz="1000" dirty="0" err="1">
                          <a:latin typeface="Montserrat"/>
                        </a:rPr>
                        <a:t>áreas</a:t>
                      </a:r>
                      <a:r>
                        <a:rPr sz="1000" dirty="0">
                          <a:latin typeface="Montserrat"/>
                        </a:rPr>
                        <a:t> de </a:t>
                      </a:r>
                      <a:r>
                        <a:rPr sz="1000" dirty="0" err="1">
                          <a:latin typeface="Montserrat"/>
                        </a:rPr>
                        <a:t>salud</a:t>
                      </a:r>
                      <a:r>
                        <a:rPr sz="1000" dirty="0">
                          <a:latin typeface="Montserrat"/>
                        </a:rPr>
                        <a:t> mental en 6 </a:t>
                      </a:r>
                      <a:r>
                        <a:rPr sz="1000" dirty="0" err="1">
                          <a:latin typeface="Montserrat"/>
                        </a:rPr>
                        <a:t>unidades</a:t>
                      </a:r>
                      <a:r>
                        <a:rPr sz="1000" dirty="0">
                          <a:latin typeface="Montserrat"/>
                        </a:rPr>
                        <a:t> (H. de </a:t>
                      </a:r>
                      <a:r>
                        <a:rPr sz="1000" dirty="0" err="1">
                          <a:latin typeface="Montserrat"/>
                        </a:rPr>
                        <a:t>Especialidades</a:t>
                      </a:r>
                      <a:r>
                        <a:rPr sz="1000" dirty="0">
                          <a:latin typeface="Montserrat"/>
                        </a:rPr>
                        <a:t> No.14, HGZ No.71 Veracruz; HGZ No.32 </a:t>
                      </a:r>
                      <a:r>
                        <a:rPr sz="1000" dirty="0" err="1">
                          <a:latin typeface="Montserrat"/>
                        </a:rPr>
                        <a:t>Minatitlán</a:t>
                      </a:r>
                      <a:r>
                        <a:rPr sz="1000" dirty="0">
                          <a:latin typeface="Montserrat"/>
                        </a:rPr>
                        <a:t>, HGZ No. 36 Coatzacoalcos, HGZ No.35 </a:t>
                      </a:r>
                      <a:r>
                        <a:rPr sz="1000" dirty="0" err="1">
                          <a:latin typeface="Montserrat"/>
                        </a:rPr>
                        <a:t>Cosamaloapan</a:t>
                      </a:r>
                      <a:r>
                        <a:rPr sz="1000" dirty="0">
                          <a:latin typeface="Montserrat"/>
                        </a:rPr>
                        <a:t>, HGR No. 1 Orizaba)</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$10.0</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324737">
                <a:tc>
                  <a:txBody>
                    <a:bodyPr/>
                    <a:lstStyle/>
                    <a:p>
                      <a:pPr algn="l">
                        <a:lnSpc>
                          <a:spcPct val="100000"/>
                        </a:lnSpc>
                      </a:pPr>
                      <a:r>
                        <a:rPr sz="1000" dirty="0" err="1">
                          <a:latin typeface="Montserrat"/>
                        </a:rPr>
                        <a:t>intervención</a:t>
                      </a:r>
                      <a:r>
                        <a:rPr sz="1000" dirty="0">
                          <a:latin typeface="Montserrat"/>
                        </a:rPr>
                        <a:t> en </a:t>
                      </a:r>
                      <a:r>
                        <a:rPr sz="1000" dirty="0" err="1">
                          <a:latin typeface="Montserrat"/>
                        </a:rPr>
                        <a:t>áreas</a:t>
                      </a:r>
                      <a:r>
                        <a:rPr sz="1000" dirty="0">
                          <a:latin typeface="Montserrat"/>
                        </a:rPr>
                        <a:t> de </a:t>
                      </a:r>
                      <a:r>
                        <a:rPr sz="1000" dirty="0" err="1">
                          <a:latin typeface="Montserrat"/>
                        </a:rPr>
                        <a:t>accesibilidad</a:t>
                      </a:r>
                      <a:r>
                        <a:rPr sz="1000" dirty="0">
                          <a:latin typeface="Montserrat"/>
                        </a:rPr>
                        <a:t> (</a:t>
                      </a:r>
                      <a:r>
                        <a:rPr sz="1000" dirty="0" err="1">
                          <a:latin typeface="Montserrat"/>
                        </a:rPr>
                        <a:t>rampas</a:t>
                      </a:r>
                      <a:r>
                        <a:rPr sz="1000" dirty="0">
                          <a:latin typeface="Montserrat"/>
                        </a:rPr>
                        <a:t>) en 3 </a:t>
                      </a:r>
                      <a:r>
                        <a:rPr sz="1000" dirty="0" err="1">
                          <a:latin typeface="Montserrat"/>
                        </a:rPr>
                        <a:t>unidades</a:t>
                      </a:r>
                      <a:r>
                        <a:rPr sz="1000" dirty="0">
                          <a:latin typeface="Montserrat"/>
                        </a:rPr>
                        <a:t> </a:t>
                      </a:r>
                      <a:r>
                        <a:rPr sz="1000" dirty="0" err="1">
                          <a:latin typeface="Montserrat"/>
                        </a:rPr>
                        <a:t>médicas</a:t>
                      </a:r>
                      <a:r>
                        <a:rPr sz="1000" dirty="0">
                          <a:latin typeface="Montserrat"/>
                        </a:rPr>
                        <a:t> HGZ 35 </a:t>
                      </a:r>
                      <a:r>
                        <a:rPr sz="1000" dirty="0" err="1">
                          <a:latin typeface="Montserrat"/>
                        </a:rPr>
                        <a:t>cosamaloapan</a:t>
                      </a:r>
                      <a:r>
                        <a:rPr sz="1000" dirty="0">
                          <a:latin typeface="Montserrat"/>
                        </a:rPr>
                        <a:t>, HGZ 36 Coatzacoalcos</a:t>
                      </a:r>
                    </a:p>
                  </a:txBody>
                  <a:tcPr marL="3600" marR="3600" marT="3600" marB="360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lnSpc>
                          <a:spcPct val="100000"/>
                        </a:lnSpc>
                      </a:pPr>
                      <a:r>
                        <a:rPr sz="1000" dirty="0">
                          <a:latin typeface="Montserrat"/>
                        </a:rPr>
                        <a:t>$6.8</a:t>
                      </a:r>
                    </a:p>
                  </a:txBody>
                  <a:tcPr marL="3600" marR="3600" marT="3600" marB="360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324737">
                <a:tc>
                  <a:txBody>
                    <a:bodyPr/>
                    <a:lstStyle/>
                    <a:p>
                      <a:pPr algn="l">
                        <a:lnSpc>
                          <a:spcPct val="100000"/>
                        </a:lnSpc>
                        <a:defRPr sz="900" b="1">
                          <a:solidFill>
                            <a:srgbClr val="BC955C"/>
                          </a:solidFill>
                          <a:latin typeface="Montserrat"/>
                        </a:defRPr>
                      </a:pPr>
                      <a:r>
                        <a:t>Subtotal</a:t>
                      </a: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ECE1D2"/>
                    </a:solidFill>
                  </a:tcPr>
                </a:tc>
                <a:tc>
                  <a:txBody>
                    <a:bodyPr/>
                    <a:lstStyle/>
                    <a:p>
                      <a:pPr algn="ctr">
                        <a:lnSpc>
                          <a:spcPct val="100000"/>
                        </a:lnSpc>
                        <a:defRPr sz="900" b="1">
                          <a:solidFill>
                            <a:srgbClr val="BC955C"/>
                          </a:solidFill>
                          <a:latin typeface="Montserrat"/>
                        </a:defRPr>
                      </a:pPr>
                      <a:r>
                        <a:rPr dirty="0"/>
                        <a:t>$1,015.4</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CE1D2"/>
                    </a:solidFill>
                  </a:tcPr>
                </a:tc>
                <a:extLst>
                  <a:ext uri="{0D108BD9-81ED-4DB2-BD59-A6C34878D82A}">
                    <a16:rowId xmlns:a16="http://schemas.microsoft.com/office/drawing/2014/main" val="10008"/>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581158517"/>
              </p:ext>
            </p:extLst>
          </p:nvPr>
        </p:nvGraphicFramePr>
        <p:xfrm>
          <a:off x="1785218" y="6266233"/>
          <a:ext cx="5295600" cy="1018529"/>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49329">
                <a:tc>
                  <a:txBody>
                    <a:bodyPr/>
                    <a:lstStyle/>
                    <a:p>
                      <a:pPr algn="ctr">
                        <a:defRPr sz="1000" b="1">
                          <a:solidFill>
                            <a:srgbClr val="FFFFFF"/>
                          </a:solidFill>
                          <a:latin typeface="Montserrat"/>
                        </a:defRPr>
                      </a:pPr>
                      <a:r>
                        <a:rPr dirty="0"/>
                        <a:t>Equipo Médico 2025, </a:t>
                      </a:r>
                      <a:r>
                        <a:rPr dirty="0" err="1"/>
                        <a:t>Instalación</a:t>
                      </a:r>
                      <a:r>
                        <a:rPr dirty="0"/>
                        <a:t> 2026</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470672">
                <a:tc>
                  <a:txBody>
                    <a:bodyPr/>
                    <a:lstStyle/>
                    <a:p>
                      <a:pPr algn="l">
                        <a:lnSpc>
                          <a:spcPct val="100000"/>
                        </a:lnSpc>
                      </a:pPr>
                      <a:r>
                        <a:rPr sz="1000" dirty="0" err="1">
                          <a:latin typeface="Montserrat"/>
                        </a:rPr>
                        <a:t>Adquisición</a:t>
                      </a:r>
                      <a:r>
                        <a:rPr sz="1000" dirty="0">
                          <a:latin typeface="Montserrat"/>
                        </a:rPr>
                        <a:t> de 17 </a:t>
                      </a:r>
                      <a:r>
                        <a:rPr sz="1000" dirty="0" err="1">
                          <a:latin typeface="Montserrat"/>
                        </a:rPr>
                        <a:t>piezas</a:t>
                      </a:r>
                      <a:r>
                        <a:rPr sz="1000" dirty="0">
                          <a:latin typeface="Montserrat"/>
                        </a:rPr>
                        <a:t> de </a:t>
                      </a:r>
                      <a:r>
                        <a:rPr sz="1000" dirty="0" err="1">
                          <a:latin typeface="Montserrat"/>
                        </a:rPr>
                        <a:t>equipo</a:t>
                      </a:r>
                      <a:r>
                        <a:rPr sz="1000" dirty="0">
                          <a:latin typeface="Montserrat"/>
                        </a:rPr>
                        <a:t> </a:t>
                      </a:r>
                      <a:r>
                        <a:rPr sz="1000" dirty="0" err="1">
                          <a:latin typeface="Montserrat"/>
                        </a:rPr>
                        <a:t>médico</a:t>
                      </a:r>
                      <a:r>
                        <a:rPr sz="1000" dirty="0">
                          <a:latin typeface="Montserrat"/>
                        </a:rPr>
                        <a:t>: 2 </a:t>
                      </a:r>
                      <a:r>
                        <a:rPr sz="1000" dirty="0" err="1">
                          <a:latin typeface="Montserrat"/>
                        </a:rPr>
                        <a:t>congeladores</a:t>
                      </a:r>
                      <a:r>
                        <a:rPr sz="1000" dirty="0">
                          <a:latin typeface="Montserrat"/>
                        </a:rPr>
                        <a:t> </a:t>
                      </a:r>
                      <a:r>
                        <a:rPr sz="1000" dirty="0" err="1">
                          <a:latin typeface="Montserrat"/>
                        </a:rPr>
                        <a:t>horizontales</a:t>
                      </a:r>
                      <a:r>
                        <a:rPr sz="1000" dirty="0">
                          <a:latin typeface="Montserrat"/>
                        </a:rPr>
                        <a:t>  para </a:t>
                      </a:r>
                      <a:r>
                        <a:rPr sz="1000" dirty="0" err="1">
                          <a:latin typeface="Montserrat"/>
                        </a:rPr>
                        <a:t>vacunas</a:t>
                      </a:r>
                      <a:r>
                        <a:rPr sz="1000" dirty="0">
                          <a:latin typeface="Montserrat"/>
                        </a:rPr>
                        <a:t>, 1 </a:t>
                      </a:r>
                      <a:r>
                        <a:rPr sz="1000" dirty="0" err="1">
                          <a:latin typeface="Montserrat"/>
                        </a:rPr>
                        <a:t>refrigerador</a:t>
                      </a:r>
                      <a:r>
                        <a:rPr sz="1000" dirty="0">
                          <a:latin typeface="Montserrat"/>
                        </a:rPr>
                        <a:t> para </a:t>
                      </a:r>
                      <a:r>
                        <a:rPr sz="1000" dirty="0" err="1">
                          <a:latin typeface="Montserrat"/>
                        </a:rPr>
                        <a:t>vacunas</a:t>
                      </a:r>
                      <a:r>
                        <a:rPr sz="1000" dirty="0">
                          <a:latin typeface="Montserrat"/>
                        </a:rPr>
                        <a:t>, 7 </a:t>
                      </a:r>
                      <a:r>
                        <a:rPr sz="1000" dirty="0" err="1">
                          <a:latin typeface="Montserrat"/>
                        </a:rPr>
                        <a:t>refrigeradores</a:t>
                      </a:r>
                      <a:r>
                        <a:rPr sz="1000" dirty="0">
                          <a:latin typeface="Montserrat"/>
                        </a:rPr>
                        <a:t> con </a:t>
                      </a:r>
                      <a:r>
                        <a:rPr sz="1000" dirty="0" err="1">
                          <a:latin typeface="Montserrat"/>
                        </a:rPr>
                        <a:t>congelador</a:t>
                      </a:r>
                      <a:r>
                        <a:rPr sz="1000" dirty="0">
                          <a:latin typeface="Montserrat"/>
                        </a:rPr>
                        <a:t> de 5.4 pies </a:t>
                      </a:r>
                      <a:r>
                        <a:rPr sz="1000" dirty="0" err="1">
                          <a:latin typeface="Montserrat"/>
                        </a:rPr>
                        <a:t>cúbicos</a:t>
                      </a:r>
                      <a:r>
                        <a:rPr sz="1000" dirty="0">
                          <a:latin typeface="Montserrat"/>
                        </a:rPr>
                        <a:t>, 5 mastógrafos </a:t>
                      </a:r>
                      <a:r>
                        <a:rPr sz="1000" dirty="0" err="1">
                          <a:latin typeface="Montserrat"/>
                        </a:rPr>
                        <a:t>digitales</a:t>
                      </a:r>
                      <a:r>
                        <a:rPr sz="1000" dirty="0">
                          <a:latin typeface="Montserrat"/>
                        </a:rPr>
                        <a:t> con </a:t>
                      </a:r>
                      <a:r>
                        <a:rPr sz="1000" dirty="0" err="1">
                          <a:latin typeface="Montserrat"/>
                        </a:rPr>
                        <a:t>estereotaxia</a:t>
                      </a:r>
                      <a:r>
                        <a:rPr sz="1000" dirty="0">
                          <a:latin typeface="Montserrat"/>
                        </a:rPr>
                        <a:t> y </a:t>
                      </a:r>
                      <a:r>
                        <a:rPr sz="1000" dirty="0" err="1">
                          <a:latin typeface="Montserrat"/>
                        </a:rPr>
                        <a:t>tomosíntesis</a:t>
                      </a:r>
                      <a:r>
                        <a:rPr sz="1000" dirty="0">
                          <a:latin typeface="Montserrat"/>
                        </a:rPr>
                        <a:t>, 1 </a:t>
                      </a:r>
                      <a:r>
                        <a:rPr sz="1000" dirty="0" err="1">
                          <a:latin typeface="Montserrat"/>
                        </a:rPr>
                        <a:t>tomógrafo</a:t>
                      </a:r>
                      <a:r>
                        <a:rPr sz="1000" dirty="0">
                          <a:latin typeface="Montserrat"/>
                        </a:rPr>
                        <a:t> axial </a:t>
                      </a:r>
                      <a:r>
                        <a:rPr sz="1000" dirty="0" err="1">
                          <a:latin typeface="Montserrat"/>
                        </a:rPr>
                        <a:t>computarizado</a:t>
                      </a:r>
                      <a:r>
                        <a:rPr sz="1000" dirty="0">
                          <a:latin typeface="Montserrat"/>
                        </a:rPr>
                        <a:t> de </a:t>
                      </a:r>
                      <a:r>
                        <a:rPr sz="1000" dirty="0" err="1">
                          <a:latin typeface="Montserrat"/>
                        </a:rPr>
                        <a:t>alta</a:t>
                      </a:r>
                      <a:r>
                        <a:rPr sz="1000" dirty="0">
                          <a:latin typeface="Montserrat"/>
                        </a:rPr>
                        <a:t> </a:t>
                      </a:r>
                      <a:r>
                        <a:rPr sz="1000" dirty="0" err="1">
                          <a:latin typeface="Montserrat"/>
                        </a:rPr>
                        <a:t>resolución</a:t>
                      </a:r>
                      <a:r>
                        <a:rPr sz="1000" dirty="0">
                          <a:latin typeface="Montserrat"/>
                        </a:rPr>
                        <a:t>, 1 mastógrafo digital</a:t>
                      </a: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lnSpc>
                          <a:spcPct val="100000"/>
                        </a:lnSpc>
                      </a:pPr>
                      <a:r>
                        <a:rPr sz="1000" dirty="0">
                          <a:latin typeface="Montserrat"/>
                        </a:rPr>
                        <a:t>$54.2</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163656840"/>
              </p:ext>
            </p:extLst>
          </p:nvPr>
        </p:nvGraphicFramePr>
        <p:xfrm>
          <a:off x="1785218" y="7298552"/>
          <a:ext cx="5295600" cy="561624"/>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49624">
                <a:tc>
                  <a:txBody>
                    <a:bodyPr/>
                    <a:lstStyle/>
                    <a:p>
                      <a:pPr algn="ctr">
                        <a:defRPr sz="1000" b="1">
                          <a:solidFill>
                            <a:srgbClr val="FFFFFF"/>
                          </a:solidFill>
                          <a:latin typeface="Montserrat"/>
                        </a:defRPr>
                      </a:pPr>
                      <a:r>
                        <a:rPr dirty="0" err="1"/>
                        <a:t>Equipamiento</a:t>
                      </a:r>
                      <a:r>
                        <a:rPr dirty="0"/>
                        <a:t> </a:t>
                      </a:r>
                      <a:r>
                        <a:rPr dirty="0" err="1"/>
                        <a:t>Electromecánico</a:t>
                      </a:r>
                      <a:r>
                        <a:rPr dirty="0"/>
                        <a:t> 2025</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249624">
                <a:tc>
                  <a:txBody>
                    <a:bodyPr/>
                    <a:lstStyle/>
                    <a:p>
                      <a:pPr algn="l">
                        <a:lnSpc>
                          <a:spcPct val="100000"/>
                        </a:lnSpc>
                      </a:pPr>
                      <a:r>
                        <a:rPr sz="1000" dirty="0" err="1">
                          <a:latin typeface="Montserrat"/>
                        </a:rPr>
                        <a:t>Adquisición</a:t>
                      </a:r>
                      <a:r>
                        <a:rPr sz="1000" dirty="0">
                          <a:latin typeface="Montserrat"/>
                        </a:rPr>
                        <a:t> de </a:t>
                      </a:r>
                      <a:r>
                        <a:rPr sz="1000" dirty="0" err="1">
                          <a:latin typeface="Montserrat"/>
                        </a:rPr>
                        <a:t>elevadores</a:t>
                      </a:r>
                      <a:r>
                        <a:rPr sz="1000" dirty="0">
                          <a:latin typeface="Montserrat"/>
                        </a:rPr>
                        <a:t> para el HGZ No. 8 Córdoba y HGR No. 1 Orizaba</a:t>
                      </a: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lnSpc>
                          <a:spcPct val="100000"/>
                        </a:lnSpc>
                      </a:pPr>
                      <a:r>
                        <a:rPr sz="1000" dirty="0">
                          <a:latin typeface="Montserrat"/>
                        </a:rPr>
                        <a:t>$35.1</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1,210.8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6511331"/>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extLst>
              <p:ext uri="{D42A27DB-BD31-4B8C-83A1-F6EECF244321}">
                <p14:modId xmlns:p14="http://schemas.microsoft.com/office/powerpoint/2010/main" val="105143404"/>
              </p:ext>
            </p:extLst>
          </p:nvPr>
        </p:nvGraphicFramePr>
        <p:xfrm>
          <a:off x="203198" y="3428872"/>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extLst>
              <p:ext uri="{D42A27DB-BD31-4B8C-83A1-F6EECF244321}">
                <p14:modId xmlns:p14="http://schemas.microsoft.com/office/powerpoint/2010/main" val="3644901312"/>
              </p:ext>
            </p:extLst>
          </p:nvPr>
        </p:nvGraphicFramePr>
        <p:xfrm>
          <a:off x="149075" y="6022246"/>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03198" y="6517800"/>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10220" y="6715510"/>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6098" y="7592766"/>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30902" y="8474400"/>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20" name="Table 19"/>
          <p:cNvGraphicFramePr>
            <a:graphicFrameLocks noGrp="1"/>
          </p:cNvGraphicFramePr>
          <p:nvPr>
            <p:extLst>
              <p:ext uri="{D42A27DB-BD31-4B8C-83A1-F6EECF244321}">
                <p14:modId xmlns:p14="http://schemas.microsoft.com/office/powerpoint/2010/main" val="2724092607"/>
              </p:ext>
            </p:extLst>
          </p:nvPr>
        </p:nvGraphicFramePr>
        <p:xfrm>
          <a:off x="1001400" y="3880253"/>
          <a:ext cx="6390000" cy="1632392"/>
        </p:xfrm>
        <a:graphic>
          <a:graphicData uri="http://schemas.openxmlformats.org/drawingml/2006/table">
            <a:tbl>
              <a:tblPr firstRow="1" bandRow="1">
                <a:tableStyleId>{5C22544A-7EE6-4342-B048-85BDC9FD1C3A}</a:tableStyleId>
              </a:tblPr>
              <a:tblGrid>
                <a:gridCol w="504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tblGrid>
              <a:tr h="199029">
                <a:tc>
                  <a:txBody>
                    <a:bodyPr/>
                    <a:lstStyle/>
                    <a:p>
                      <a:pPr algn="ctr">
                        <a:defRPr sz="1000" b="1">
                          <a:solidFill>
                            <a:srgbClr val="FFFFFF"/>
                          </a:solidFill>
                          <a:latin typeface="Montserrat"/>
                        </a:defRPr>
                      </a:pPr>
                      <a:r>
                        <a:rPr dirty="0"/>
                        <a:t>Obras de </a:t>
                      </a:r>
                      <a:r>
                        <a:rPr dirty="0" err="1"/>
                        <a:t>Infraestructura</a:t>
                      </a:r>
                      <a:endParaRPr dirty="0"/>
                    </a:p>
                  </a:txBody>
                  <a:tcPr anchor="ctr">
                    <a:solidFill>
                      <a:srgbClr val="9F2241"/>
                    </a:solidFill>
                  </a:tcPr>
                </a:tc>
                <a:tc>
                  <a:txBody>
                    <a:bodyPr/>
                    <a:lstStyle/>
                    <a:p>
                      <a:pPr algn="ctr">
                        <a:defRPr sz="1000" b="1">
                          <a:solidFill>
                            <a:srgbClr val="FFFFFF"/>
                          </a:solidFill>
                          <a:latin typeface="Montserrat"/>
                        </a:defRPr>
                      </a:pPr>
                      <a:r>
                        <a:t>Monto (mdp)</a:t>
                      </a:r>
                    </a:p>
                  </a:txBody>
                  <a:tcPr anchor="ctr">
                    <a:solidFill>
                      <a:srgbClr val="9F2241"/>
                    </a:solidFill>
                  </a:tcPr>
                </a:tc>
                <a:extLst>
                  <a:ext uri="{0D108BD9-81ED-4DB2-BD59-A6C34878D82A}">
                    <a16:rowId xmlns:a16="http://schemas.microsoft.com/office/drawing/2014/main" val="10000"/>
                  </a:ext>
                </a:extLst>
              </a:tr>
              <a:tr h="199029">
                <a:tc>
                  <a:txBody>
                    <a:bodyPr/>
                    <a:lstStyle/>
                    <a:p>
                      <a:pPr algn="l">
                        <a:defRPr sz="1000">
                          <a:latin typeface="Montserrat"/>
                        </a:defRPr>
                      </a:pPr>
                      <a:r>
                        <a:rPr dirty="0"/>
                        <a:t>Implementación de sala de </a:t>
                      </a:r>
                      <a:r>
                        <a:rPr dirty="0" err="1"/>
                        <a:t>resonancia</a:t>
                      </a:r>
                      <a:r>
                        <a:rPr dirty="0"/>
                        <a:t> </a:t>
                      </a:r>
                      <a:r>
                        <a:rPr dirty="0" err="1"/>
                        <a:t>magnética</a:t>
                      </a:r>
                      <a:r>
                        <a:rPr dirty="0"/>
                        <a:t> en el HGR 1 Orizaba</a:t>
                      </a:r>
                    </a:p>
                  </a:txBody>
                  <a:tcPr anchor="ctr">
                    <a:solidFill>
                      <a:srgbClr val="FFFFFF"/>
                    </a:solidFill>
                  </a:tcPr>
                </a:tc>
                <a:tc>
                  <a:txBody>
                    <a:bodyPr/>
                    <a:lstStyle/>
                    <a:p>
                      <a:pPr algn="ctr">
                        <a:defRPr sz="1000">
                          <a:latin typeface="Montserrat"/>
                        </a:defRPr>
                      </a:pPr>
                      <a:r>
                        <a:rPr dirty="0"/>
                        <a:t>$</a:t>
                      </a:r>
                      <a:r>
                        <a:rPr lang="es-MX" dirty="0"/>
                        <a:t>84.5</a:t>
                      </a:r>
                      <a:endParaRPr dirty="0"/>
                    </a:p>
                  </a:txBody>
                  <a:tcPr anchor="ctr">
                    <a:solidFill>
                      <a:srgbClr val="FFFFFF"/>
                    </a:solidFill>
                  </a:tcPr>
                </a:tc>
                <a:extLst>
                  <a:ext uri="{0D108BD9-81ED-4DB2-BD59-A6C34878D82A}">
                    <a16:rowId xmlns:a16="http://schemas.microsoft.com/office/drawing/2014/main" val="10001"/>
                  </a:ext>
                </a:extLst>
              </a:tr>
              <a:tr h="199029">
                <a:tc>
                  <a:txBody>
                    <a:bodyPr/>
                    <a:lstStyle/>
                    <a:p>
                      <a:pPr algn="l">
                        <a:defRPr sz="1000">
                          <a:latin typeface="Montserrat"/>
                        </a:defRPr>
                      </a:pPr>
                      <a:r>
                        <a:rPr dirty="0"/>
                        <a:t>Hospital General de Zona </a:t>
                      </a:r>
                      <a:r>
                        <a:rPr dirty="0" err="1"/>
                        <a:t>Minatitlán</a:t>
                      </a:r>
                      <a:endParaRPr dirty="0"/>
                    </a:p>
                  </a:txBody>
                  <a:tcPr anchor="ctr">
                    <a:solidFill>
                      <a:srgbClr val="D9D9D9"/>
                    </a:solidFill>
                  </a:tcPr>
                </a:tc>
                <a:tc>
                  <a:txBody>
                    <a:bodyPr/>
                    <a:lstStyle/>
                    <a:p>
                      <a:pPr algn="ctr">
                        <a:defRPr sz="1000">
                          <a:latin typeface="Montserrat"/>
                        </a:defRPr>
                      </a:pPr>
                      <a:r>
                        <a:rPr dirty="0"/>
                        <a:t>$</a:t>
                      </a:r>
                      <a:r>
                        <a:rPr lang="es-MX" dirty="0"/>
                        <a:t>3,945.7</a:t>
                      </a:r>
                      <a:endParaRPr dirty="0"/>
                    </a:p>
                  </a:txBody>
                  <a:tcPr anchor="ctr">
                    <a:solidFill>
                      <a:srgbClr val="D9D9D9"/>
                    </a:solidFill>
                  </a:tcPr>
                </a:tc>
                <a:extLst>
                  <a:ext uri="{0D108BD9-81ED-4DB2-BD59-A6C34878D82A}">
                    <a16:rowId xmlns:a16="http://schemas.microsoft.com/office/drawing/2014/main" val="10002"/>
                  </a:ext>
                </a:extLst>
              </a:tr>
              <a:tr h="260792">
                <a:tc>
                  <a:txBody>
                    <a:bodyPr/>
                    <a:lstStyle/>
                    <a:p>
                      <a:pPr algn="l">
                        <a:defRPr sz="1000">
                          <a:latin typeface="Montserrat"/>
                        </a:defRPr>
                      </a:pPr>
                      <a:r>
                        <a:rPr dirty="0" err="1"/>
                        <a:t>Construcción</a:t>
                      </a:r>
                      <a:r>
                        <a:rPr dirty="0"/>
                        <a:t> de la UMF 3+2 </a:t>
                      </a:r>
                      <a:r>
                        <a:rPr dirty="0" err="1"/>
                        <a:t>consultorios</a:t>
                      </a:r>
                      <a:r>
                        <a:rPr dirty="0"/>
                        <a:t> con AMC en </a:t>
                      </a:r>
                      <a:r>
                        <a:rPr dirty="0" err="1"/>
                        <a:t>sustitución</a:t>
                      </a:r>
                      <a:r>
                        <a:rPr dirty="0"/>
                        <a:t> de la UMF 58 </a:t>
                      </a:r>
                      <a:r>
                        <a:rPr dirty="0" err="1"/>
                        <a:t>Huatusco</a:t>
                      </a:r>
                      <a:endParaRPr dirty="0"/>
                    </a:p>
                  </a:txBody>
                  <a:tcPr anchor="ctr">
                    <a:solidFill>
                      <a:srgbClr val="FFFFFF"/>
                    </a:solidFill>
                  </a:tcPr>
                </a:tc>
                <a:tc>
                  <a:txBody>
                    <a:bodyPr/>
                    <a:lstStyle/>
                    <a:p>
                      <a:pPr algn="ctr">
                        <a:defRPr sz="1000">
                          <a:latin typeface="Montserrat"/>
                        </a:defRPr>
                      </a:pPr>
                      <a:r>
                        <a:rPr dirty="0"/>
                        <a:t>$</a:t>
                      </a:r>
                      <a:r>
                        <a:rPr lang="es-MX" dirty="0"/>
                        <a:t>93.1</a:t>
                      </a:r>
                      <a:endParaRPr dirty="0"/>
                    </a:p>
                  </a:txBody>
                  <a:tcPr anchor="ctr">
                    <a:solidFill>
                      <a:srgbClr val="FFFFFF"/>
                    </a:solidFill>
                  </a:tcPr>
                </a:tc>
                <a:extLst>
                  <a:ext uri="{0D108BD9-81ED-4DB2-BD59-A6C34878D82A}">
                    <a16:rowId xmlns:a16="http://schemas.microsoft.com/office/drawing/2014/main" val="10003"/>
                  </a:ext>
                </a:extLst>
              </a:tr>
              <a:tr h="260792">
                <a:tc>
                  <a:txBody>
                    <a:bodyPr/>
                    <a:lstStyle/>
                    <a:p>
                      <a:pPr algn="l">
                        <a:defRPr sz="1000">
                          <a:latin typeface="Montserrat"/>
                        </a:defRPr>
                      </a:pPr>
                      <a:r>
                        <a:rPr lang="es-MX" dirty="0"/>
                        <a:t> Construcción de alberca semi olímpica en el CSS Tuxpan</a:t>
                      </a:r>
                      <a:endParaRPr dirty="0"/>
                    </a:p>
                  </a:txBody>
                  <a:tcPr anchor="ctr">
                    <a:solidFill>
                      <a:schemeClr val="bg1">
                        <a:lumMod val="95000"/>
                      </a:schemeClr>
                    </a:solidFill>
                  </a:tcPr>
                </a:tc>
                <a:tc>
                  <a:txBody>
                    <a:bodyPr/>
                    <a:lstStyle/>
                    <a:p>
                      <a:pPr algn="ctr">
                        <a:defRPr sz="1000">
                          <a:latin typeface="Montserrat"/>
                        </a:defRPr>
                      </a:pPr>
                      <a:r>
                        <a:rPr lang="es-MX" dirty="0"/>
                        <a:t>$36.7</a:t>
                      </a:r>
                      <a:endParaRPr dirty="0"/>
                    </a:p>
                  </a:txBody>
                  <a:tcPr anchor="ctr">
                    <a:solidFill>
                      <a:schemeClr val="bg1">
                        <a:lumMod val="95000"/>
                      </a:schemeClr>
                    </a:solidFill>
                  </a:tcPr>
                </a:tc>
                <a:extLst>
                  <a:ext uri="{0D108BD9-81ED-4DB2-BD59-A6C34878D82A}">
                    <a16:rowId xmlns:a16="http://schemas.microsoft.com/office/drawing/2014/main" val="3573812075"/>
                  </a:ext>
                </a:extLst>
              </a:tr>
              <a:tr h="199031">
                <a:tc>
                  <a:txBody>
                    <a:bodyPr/>
                    <a:lstStyle/>
                    <a:p>
                      <a:pPr algn="l">
                        <a:defRPr sz="1000" b="1">
                          <a:solidFill>
                            <a:srgbClr val="FFFFFF"/>
                          </a:solidFill>
                          <a:latin typeface="Montserrat"/>
                        </a:defRPr>
                      </a:pPr>
                      <a:r>
                        <a:rPr dirty="0"/>
                        <a:t>TOTAL</a:t>
                      </a:r>
                    </a:p>
                  </a:txBody>
                  <a:tcPr anchor="ctr">
                    <a:solidFill>
                      <a:srgbClr val="9F2241"/>
                    </a:solidFill>
                  </a:tcPr>
                </a:tc>
                <a:tc>
                  <a:txBody>
                    <a:bodyPr/>
                    <a:lstStyle/>
                    <a:p>
                      <a:pPr algn="ctr">
                        <a:defRPr sz="1000" b="1">
                          <a:solidFill>
                            <a:srgbClr val="FFFFFF"/>
                          </a:solidFill>
                          <a:latin typeface="Montserrat"/>
                        </a:defRPr>
                      </a:pPr>
                      <a:r>
                        <a:rPr dirty="0"/>
                        <a:t>$</a:t>
                      </a:r>
                      <a:r>
                        <a:rPr lang="es-MX" dirty="0"/>
                        <a:t>4,160.0</a:t>
                      </a:r>
                      <a:endParaRPr dirty="0"/>
                    </a:p>
                  </a:txBody>
                  <a:tcPr anchor="ctr">
                    <a:solidFill>
                      <a:srgbClr val="9F2241"/>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7,170.6 mdp</a:t>
            </a:r>
          </a:p>
        </p:txBody>
      </p:sp>
      <p:graphicFrame>
        <p:nvGraphicFramePr>
          <p:cNvPr id="22" name="Table 21"/>
          <p:cNvGraphicFramePr>
            <a:graphicFrameLocks noGrp="1"/>
          </p:cNvGraphicFramePr>
          <p:nvPr>
            <p:extLst>
              <p:ext uri="{D42A27DB-BD31-4B8C-83A1-F6EECF244321}">
                <p14:modId xmlns:p14="http://schemas.microsoft.com/office/powerpoint/2010/main" val="2625150887"/>
              </p:ext>
            </p:extLst>
          </p:nvPr>
        </p:nvGraphicFramePr>
        <p:xfrm>
          <a:off x="2552100" y="6569550"/>
          <a:ext cx="4928400" cy="239364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rPr dirty="0"/>
                        <a:t>1</a:t>
                      </a:r>
                      <a:r>
                        <a:rPr lang="es-MX" dirty="0"/>
                        <a:t>5</a:t>
                      </a:r>
                      <a:r>
                        <a:rPr dirty="0"/>
                        <a:t> </a:t>
                      </a:r>
                      <a:r>
                        <a:rPr dirty="0" err="1"/>
                        <a:t>Predios</a:t>
                      </a:r>
                      <a:r>
                        <a:rPr dirty="0"/>
                        <a:t> en </a:t>
                      </a:r>
                      <a:r>
                        <a:rPr dirty="0" err="1"/>
                        <a:t>ruta</a:t>
                      </a:r>
                      <a:r>
                        <a:rPr dirty="0"/>
                        <a:t> y 4 CECI en </a:t>
                      </a:r>
                      <a:r>
                        <a:rPr dirty="0" err="1"/>
                        <a:t>Construción</a:t>
                      </a:r>
                      <a:r>
                        <a:rPr dirty="0"/>
                        <a:t>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rPr lang="es-MX" dirty="0"/>
                        <a:t>7</a:t>
                      </a:r>
                      <a:r>
                        <a:rPr dirty="0"/>
                        <a:t> </a:t>
                      </a:r>
                      <a:r>
                        <a:rPr dirty="0" err="1"/>
                        <a:t>Reserva</a:t>
                      </a:r>
                      <a:r>
                        <a:rPr dirty="0"/>
                        <a:t> IMSS</a:t>
                      </a:r>
                    </a:p>
                  </a:txBody>
                  <a:tcPr marL="72000" marR="72000" anchor="ctr">
                    <a:noFill/>
                  </a:tcPr>
                </a:tc>
                <a:tc>
                  <a:txBody>
                    <a:bodyPr/>
                    <a:lstStyle/>
                    <a:p>
                      <a:pPr algn="ctr">
                        <a:defRPr sz="1200" b="0">
                          <a:solidFill>
                            <a:srgbClr val="FFFFFF"/>
                          </a:solidFill>
                          <a:latin typeface="Montserrat"/>
                        </a:defRPr>
                      </a:pPr>
                      <a:r>
                        <a:rPr dirty="0" err="1"/>
                        <a:t>Atoyac</a:t>
                      </a:r>
                      <a:r>
                        <a:rPr dirty="0"/>
                        <a:t>, Coatzacoalcos, Córdoba, Isla, </a:t>
                      </a:r>
                      <a:r>
                        <a:rPr dirty="0" err="1"/>
                        <a:t>Jáltipan</a:t>
                      </a:r>
                      <a:r>
                        <a:rPr dirty="0"/>
                        <a:t>, Martínez de la Torre, Paso del Macho, Tres Valles, Xalapa</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rPr lang="es-MX" dirty="0"/>
                        <a:t>8</a:t>
                      </a:r>
                      <a:r>
                        <a:rPr dirty="0"/>
                        <a:t> </a:t>
                      </a:r>
                      <a:r>
                        <a:rPr dirty="0" err="1"/>
                        <a:t>Donación</a:t>
                      </a:r>
                      <a:endParaRPr dirty="0"/>
                    </a:p>
                  </a:txBody>
                  <a:tcPr marL="72000" marR="72000" anchor="ctr">
                    <a:noFill/>
                  </a:tcPr>
                </a:tc>
                <a:tc>
                  <a:txBody>
                    <a:bodyPr/>
                    <a:lstStyle/>
                    <a:p>
                      <a:pPr algn="ctr">
                        <a:defRPr sz="1200" b="0">
                          <a:solidFill>
                            <a:srgbClr val="FFFFFF"/>
                          </a:solidFill>
                          <a:latin typeface="Montserrat"/>
                        </a:defRPr>
                      </a:pPr>
                      <a:r>
                        <a:rPr lang="es-MX" dirty="0"/>
                        <a:t>Acayucan, Cosamaloapan, Emiliano Zapata, Mariano Escobedo, Veracruz (4)</a:t>
                      </a:r>
                      <a:endParaRPr dirty="0"/>
                    </a:p>
                  </a:txBody>
                  <a:tcPr marL="72000" marR="72000" anchor="ctr">
                    <a:noFill/>
                  </a:tcPr>
                </a:tc>
                <a:extLst>
                  <a:ext uri="{0D108BD9-81ED-4DB2-BD59-A6C34878D82A}">
                    <a16:rowId xmlns:a16="http://schemas.microsoft.com/office/drawing/2014/main" val="10003"/>
                  </a:ext>
                </a:extLst>
              </a:tr>
            </a:tbl>
          </a:graphicData>
        </a:graphic>
      </p:graphicFrame>
      <p:sp>
        <p:nvSpPr>
          <p:cNvPr id="23" name="Oval 22"/>
          <p:cNvSpPr/>
          <p:nvPr/>
        </p:nvSpPr>
        <p:spPr>
          <a:xfrm>
            <a:off x="852084" y="6735549"/>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90</a:t>
            </a:r>
          </a:p>
        </p:txBody>
      </p:sp>
      <p:sp>
        <p:nvSpPr>
          <p:cNvPr id="24" name="Rectangle 23"/>
          <p:cNvSpPr/>
          <p:nvPr/>
        </p:nvSpPr>
        <p:spPr>
          <a:xfrm>
            <a:off x="333202" y="7610317"/>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rPr dirty="0"/>
              <a:t>63 CECI IMSS</a:t>
            </a:r>
          </a:p>
          <a:p>
            <a:pPr algn="ctr">
              <a:defRPr sz="1500" b="1">
                <a:solidFill>
                  <a:srgbClr val="FFFFFF"/>
                </a:solidFill>
                <a:latin typeface="Montserrat"/>
              </a:defRPr>
            </a:pPr>
            <a:r>
              <a:rPr dirty="0"/>
              <a:t>27 CECI CAMPO</a:t>
            </a:r>
          </a:p>
        </p:txBody>
      </p:sp>
      <p:sp>
        <p:nvSpPr>
          <p:cNvPr id="25" name="TextBox 24"/>
          <p:cNvSpPr txBox="1"/>
          <p:nvPr/>
        </p:nvSpPr>
        <p:spPr>
          <a:xfrm>
            <a:off x="35073" y="9578410"/>
            <a:ext cx="7574400" cy="415498"/>
          </a:xfrm>
          <a:prstGeom prst="rect">
            <a:avLst/>
          </a:prstGeom>
          <a:noFill/>
        </p:spPr>
        <p:txBody>
          <a:bodyPr wrap="square" lIns="0" tIns="0" rIns="0" bIns="0">
            <a:spAutoFit/>
          </a:bodyPr>
          <a:lstStyle/>
          <a:p>
            <a:pPr>
              <a:defRPr sz="900">
                <a:solidFill>
                  <a:srgbClr val="FFFFFF"/>
                </a:solidFill>
                <a:latin typeface="Montserrat"/>
              </a:defRPr>
            </a:pPr>
            <a:r>
              <a:rPr dirty="0"/>
              <a:t>¹ </a:t>
            </a:r>
            <a:r>
              <a:rPr dirty="0" err="1"/>
              <a:t>Terrenos</a:t>
            </a:r>
            <a:r>
              <a:rPr dirty="0"/>
              <a:t> </a:t>
            </a:r>
            <a:r>
              <a:rPr dirty="0" err="1"/>
              <a:t>validados</a:t>
            </a:r>
            <a:r>
              <a:rPr dirty="0"/>
              <a:t>. CECI Córdoba 110 </a:t>
            </a:r>
            <a:r>
              <a:rPr dirty="0" err="1"/>
              <a:t>niños</a:t>
            </a:r>
            <a:r>
              <a:rPr dirty="0"/>
              <a:t>, Tres Valles 110 </a:t>
            </a:r>
            <a:r>
              <a:rPr dirty="0" err="1"/>
              <a:t>niños</a:t>
            </a:r>
            <a:r>
              <a:rPr dirty="0"/>
              <a:t>, </a:t>
            </a:r>
            <a:r>
              <a:rPr dirty="0" err="1"/>
              <a:t>Jáltipan</a:t>
            </a:r>
            <a:r>
              <a:rPr dirty="0"/>
              <a:t> 110 </a:t>
            </a:r>
            <a:r>
              <a:rPr dirty="0" err="1"/>
              <a:t>niños</a:t>
            </a:r>
            <a:r>
              <a:rPr dirty="0"/>
              <a:t> Coatzacoalcos 110 </a:t>
            </a:r>
            <a:r>
              <a:rPr dirty="0" err="1"/>
              <a:t>niños</a:t>
            </a:r>
            <a:r>
              <a:rPr dirty="0"/>
              <a:t>, </a:t>
            </a:r>
            <a:r>
              <a:rPr dirty="0" err="1"/>
              <a:t>fallo</a:t>
            </a:r>
            <a:r>
              <a:rPr dirty="0"/>
              <a:t> 29 de </a:t>
            </a:r>
            <a:r>
              <a:rPr dirty="0" err="1"/>
              <a:t>abril</a:t>
            </a:r>
            <a:r>
              <a:rPr dirty="0"/>
              <a:t> 2026. 3 CECI para </a:t>
            </a:r>
            <a:r>
              <a:rPr dirty="0" err="1"/>
              <a:t>entregar</a:t>
            </a:r>
            <a:r>
              <a:rPr dirty="0"/>
              <a:t> a SICT en </a:t>
            </a:r>
            <a:r>
              <a:rPr dirty="0" err="1"/>
              <a:t>Atoyac</a:t>
            </a:r>
            <a:r>
              <a:rPr dirty="0"/>
              <a:t>, Isla, y Paso del Macho. </a:t>
            </a:r>
            <a:r>
              <a:rPr lang="es-MX" dirty="0"/>
              <a:t>8 CECI en integración de expediente para donación en Cosamaloapan, Mariano Escobedo, Acayucan, Emiliano Zapata y Veracruz</a:t>
            </a:r>
            <a:r>
              <a:rPr dirty="0"/>
              <a:t>.</a:t>
            </a:r>
          </a:p>
        </p:txBody>
      </p:sp>
      <p:graphicFrame>
        <p:nvGraphicFramePr>
          <p:cNvPr id="3" name="Table 8">
            <a:extLst>
              <a:ext uri="{FF2B5EF4-FFF2-40B4-BE49-F238E27FC236}">
                <a16:creationId xmlns:a16="http://schemas.microsoft.com/office/drawing/2014/main" id="{31F0A628-877B-5105-3A90-DEB38CA6947A}"/>
              </a:ext>
            </a:extLst>
          </p:cNvPr>
          <p:cNvGraphicFramePr>
            <a:graphicFrameLocks noGrp="1"/>
          </p:cNvGraphicFramePr>
          <p:nvPr>
            <p:extLst>
              <p:ext uri="{D42A27DB-BD31-4B8C-83A1-F6EECF244321}">
                <p14:modId xmlns:p14="http://schemas.microsoft.com/office/powerpoint/2010/main" val="596537052"/>
              </p:ext>
            </p:extLst>
          </p:nvPr>
        </p:nvGraphicFramePr>
        <p:xfrm>
          <a:off x="1304248" y="1327133"/>
          <a:ext cx="6057902" cy="540162"/>
        </p:xfrm>
        <a:graphic>
          <a:graphicData uri="http://schemas.openxmlformats.org/drawingml/2006/table">
            <a:tbl>
              <a:tblPr firstRow="1" bandRow="1">
                <a:tableStyleId>{5C22544A-7EE6-4342-B048-85BDC9FD1C3A}</a:tableStyleId>
              </a:tblPr>
              <a:tblGrid>
                <a:gridCol w="4776812">
                  <a:extLst>
                    <a:ext uri="{9D8B030D-6E8A-4147-A177-3AD203B41FA5}">
                      <a16:colId xmlns:a16="http://schemas.microsoft.com/office/drawing/2014/main" val="20000"/>
                    </a:ext>
                  </a:extLst>
                </a:gridCol>
                <a:gridCol w="1281090">
                  <a:extLst>
                    <a:ext uri="{9D8B030D-6E8A-4147-A177-3AD203B41FA5}">
                      <a16:colId xmlns:a16="http://schemas.microsoft.com/office/drawing/2014/main" val="20001"/>
                    </a:ext>
                  </a:extLst>
                </a:gridCol>
              </a:tblGrid>
              <a:tr h="182803">
                <a:tc>
                  <a:txBody>
                    <a:bodyPr/>
                    <a:lstStyle/>
                    <a:p>
                      <a:pPr algn="ctr">
                        <a:defRPr sz="1000" b="1">
                          <a:solidFill>
                            <a:srgbClr val="FFFFFF"/>
                          </a:solidFill>
                          <a:latin typeface="Montserrat"/>
                        </a:defRPr>
                      </a:pPr>
                      <a:r>
                        <a:rPr dirty="0"/>
                        <a:t>Obras de </a:t>
                      </a:r>
                      <a:r>
                        <a:rPr dirty="0" err="1"/>
                        <a:t>Infraestructura</a:t>
                      </a:r>
                      <a:r>
                        <a:rPr dirty="0"/>
                        <a:t> 2026</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357359">
                <a:tc>
                  <a:txBody>
                    <a:bodyPr/>
                    <a:lstStyle/>
                    <a:p>
                      <a:pPr algn="l">
                        <a:lnSpc>
                          <a:spcPct val="100000"/>
                        </a:lnSpc>
                      </a:pPr>
                      <a:r>
                        <a:rPr sz="1000" dirty="0">
                          <a:latin typeface="Montserrat"/>
                        </a:rPr>
                        <a:t>4 CECI: Córdoba 110 </a:t>
                      </a:r>
                      <a:r>
                        <a:rPr sz="1000" dirty="0" err="1">
                          <a:latin typeface="Montserrat"/>
                        </a:rPr>
                        <a:t>niños</a:t>
                      </a:r>
                      <a:r>
                        <a:rPr sz="1000" dirty="0">
                          <a:latin typeface="Montserrat"/>
                        </a:rPr>
                        <a:t>, Tres Valles 110 </a:t>
                      </a:r>
                      <a:r>
                        <a:rPr sz="1000" dirty="0" err="1">
                          <a:latin typeface="Montserrat"/>
                        </a:rPr>
                        <a:t>niños</a:t>
                      </a:r>
                      <a:r>
                        <a:rPr sz="1000" dirty="0">
                          <a:latin typeface="Montserrat"/>
                        </a:rPr>
                        <a:t>, </a:t>
                      </a:r>
                      <a:r>
                        <a:rPr sz="1000" dirty="0" err="1">
                          <a:latin typeface="Montserrat"/>
                        </a:rPr>
                        <a:t>Jáltipan</a:t>
                      </a:r>
                      <a:r>
                        <a:rPr sz="1000" dirty="0">
                          <a:latin typeface="Montserrat"/>
                        </a:rPr>
                        <a:t> 110 </a:t>
                      </a:r>
                      <a:r>
                        <a:rPr sz="1000" dirty="0" err="1">
                          <a:latin typeface="Montserrat"/>
                        </a:rPr>
                        <a:t>niños</a:t>
                      </a:r>
                      <a:r>
                        <a:rPr sz="1000" dirty="0">
                          <a:latin typeface="Montserrat"/>
                        </a:rPr>
                        <a:t>, Coatzacoalcos 110 </a:t>
                      </a:r>
                      <a:r>
                        <a:rPr sz="1000" dirty="0" err="1">
                          <a:latin typeface="Montserrat"/>
                        </a:rPr>
                        <a:t>niños</a:t>
                      </a:r>
                      <a:endParaRPr sz="1000" dirty="0">
                        <a:latin typeface="Montserrat"/>
                      </a:endParaRP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lnSpc>
                          <a:spcPct val="100000"/>
                        </a:lnSpc>
                      </a:pPr>
                      <a:r>
                        <a:rPr sz="1000" dirty="0">
                          <a:latin typeface="Montserrat"/>
                        </a:rPr>
                        <a:t>$135.2</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9">
            <a:extLst>
              <a:ext uri="{FF2B5EF4-FFF2-40B4-BE49-F238E27FC236}">
                <a16:creationId xmlns:a16="http://schemas.microsoft.com/office/drawing/2014/main" id="{7A7D9B72-7BCF-866B-C678-4883E2561662}"/>
              </a:ext>
            </a:extLst>
          </p:cNvPr>
          <p:cNvGraphicFramePr>
            <a:graphicFrameLocks noGrp="1"/>
          </p:cNvGraphicFramePr>
          <p:nvPr>
            <p:extLst>
              <p:ext uri="{D42A27DB-BD31-4B8C-83A1-F6EECF244321}">
                <p14:modId xmlns:p14="http://schemas.microsoft.com/office/powerpoint/2010/main" val="4135034974"/>
              </p:ext>
            </p:extLst>
          </p:nvPr>
        </p:nvGraphicFramePr>
        <p:xfrm>
          <a:off x="1333499" y="1956061"/>
          <a:ext cx="6057901" cy="495556"/>
        </p:xfrm>
        <a:graphic>
          <a:graphicData uri="http://schemas.openxmlformats.org/drawingml/2006/table">
            <a:tbl>
              <a:tblPr firstRow="1" bandRow="1">
                <a:tableStyleId>{5C22544A-7EE6-4342-B048-85BDC9FD1C3A}</a:tableStyleId>
              </a:tblPr>
              <a:tblGrid>
                <a:gridCol w="4776811">
                  <a:extLst>
                    <a:ext uri="{9D8B030D-6E8A-4147-A177-3AD203B41FA5}">
                      <a16:colId xmlns:a16="http://schemas.microsoft.com/office/drawing/2014/main" val="20000"/>
                    </a:ext>
                  </a:extLst>
                </a:gridCol>
                <a:gridCol w="1281090">
                  <a:extLst>
                    <a:ext uri="{9D8B030D-6E8A-4147-A177-3AD203B41FA5}">
                      <a16:colId xmlns:a16="http://schemas.microsoft.com/office/drawing/2014/main" val="20001"/>
                    </a:ext>
                  </a:extLst>
                </a:gridCol>
              </a:tblGrid>
              <a:tr h="247778">
                <a:tc>
                  <a:txBody>
                    <a:bodyPr/>
                    <a:lstStyle/>
                    <a:p>
                      <a:pPr algn="ctr">
                        <a:defRPr sz="1000" b="1">
                          <a:solidFill>
                            <a:srgbClr val="FFFFFF"/>
                          </a:solidFill>
                          <a:latin typeface="Montserrat"/>
                        </a:defRPr>
                      </a:pPr>
                      <a:r>
                        <a:rPr dirty="0"/>
                        <a:t>Obras de </a:t>
                      </a:r>
                      <a:r>
                        <a:rPr dirty="0" err="1"/>
                        <a:t>Conservación</a:t>
                      </a:r>
                      <a:r>
                        <a:rPr dirty="0"/>
                        <a:t> 2026</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247778">
                <a:tc>
                  <a:txBody>
                    <a:bodyPr/>
                    <a:lstStyle/>
                    <a:p>
                      <a:pPr algn="l">
                        <a:lnSpc>
                          <a:spcPct val="100000"/>
                        </a:lnSpc>
                      </a:pPr>
                      <a:r>
                        <a:rPr sz="1000" dirty="0" err="1">
                          <a:latin typeface="Montserrat"/>
                        </a:rPr>
                        <a:t>Mantenimiento</a:t>
                      </a:r>
                      <a:r>
                        <a:rPr sz="1000" dirty="0">
                          <a:latin typeface="Montserrat"/>
                        </a:rPr>
                        <a:t> de </a:t>
                      </a:r>
                      <a:r>
                        <a:rPr sz="1000" dirty="0" err="1">
                          <a:latin typeface="Montserrat"/>
                        </a:rPr>
                        <a:t>infraestructura</a:t>
                      </a:r>
                      <a:r>
                        <a:rPr sz="1000" dirty="0">
                          <a:latin typeface="Montserrat"/>
                        </a:rPr>
                        <a:t> (PAO 2026)</a:t>
                      </a: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lnSpc>
                          <a:spcPct val="100000"/>
                        </a:lnSpc>
                      </a:pPr>
                      <a:r>
                        <a:rPr sz="1000" dirty="0">
                          <a:latin typeface="Montserrat"/>
                        </a:rPr>
                        <a:t>$437.8</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8" name="Table 10">
            <a:extLst>
              <a:ext uri="{FF2B5EF4-FFF2-40B4-BE49-F238E27FC236}">
                <a16:creationId xmlns:a16="http://schemas.microsoft.com/office/drawing/2014/main" id="{B558880B-1874-A5B0-CAC5-D08E8945A1D5}"/>
              </a:ext>
            </a:extLst>
          </p:cNvPr>
          <p:cNvGraphicFramePr>
            <a:graphicFrameLocks noGrp="1"/>
          </p:cNvGraphicFramePr>
          <p:nvPr>
            <p:extLst>
              <p:ext uri="{D42A27DB-BD31-4B8C-83A1-F6EECF244321}">
                <p14:modId xmlns:p14="http://schemas.microsoft.com/office/powerpoint/2010/main" val="1857069407"/>
              </p:ext>
            </p:extLst>
          </p:nvPr>
        </p:nvGraphicFramePr>
        <p:xfrm>
          <a:off x="1333500" y="2491509"/>
          <a:ext cx="6057900" cy="885613"/>
        </p:xfrm>
        <a:graphic>
          <a:graphicData uri="http://schemas.openxmlformats.org/drawingml/2006/table">
            <a:tbl>
              <a:tblPr firstRow="1" bandRow="1">
                <a:tableStyleId>{5C22544A-7EE6-4342-B048-85BDC9FD1C3A}</a:tableStyleId>
              </a:tblPr>
              <a:tblGrid>
                <a:gridCol w="4776810">
                  <a:extLst>
                    <a:ext uri="{9D8B030D-6E8A-4147-A177-3AD203B41FA5}">
                      <a16:colId xmlns:a16="http://schemas.microsoft.com/office/drawing/2014/main" val="20000"/>
                    </a:ext>
                  </a:extLst>
                </a:gridCol>
                <a:gridCol w="1281090">
                  <a:extLst>
                    <a:ext uri="{9D8B030D-6E8A-4147-A177-3AD203B41FA5}">
                      <a16:colId xmlns:a16="http://schemas.microsoft.com/office/drawing/2014/main" val="20001"/>
                    </a:ext>
                  </a:extLst>
                </a:gridCol>
              </a:tblGrid>
              <a:tr h="401235">
                <a:tc>
                  <a:txBody>
                    <a:bodyPr/>
                    <a:lstStyle/>
                    <a:p>
                      <a:pPr algn="ctr">
                        <a:defRPr sz="1000" b="1">
                          <a:solidFill>
                            <a:srgbClr val="FFFFFF"/>
                          </a:solidFill>
                          <a:latin typeface="Montserrat"/>
                        </a:defRPr>
                      </a:pPr>
                      <a:r>
                        <a:rPr dirty="0" err="1"/>
                        <a:t>Equipamiento</a:t>
                      </a:r>
                      <a:r>
                        <a:rPr dirty="0"/>
                        <a:t> </a:t>
                      </a:r>
                      <a:r>
                        <a:rPr dirty="0" err="1"/>
                        <a:t>Electromecánico</a:t>
                      </a:r>
                      <a:r>
                        <a:rPr dirty="0"/>
                        <a:t> 2026</a:t>
                      </a:r>
                    </a:p>
                  </a:txBody>
                  <a:tcPr marL="3600" marR="3600" marT="3600" marB="3600"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484378">
                <a:tc>
                  <a:txBody>
                    <a:bodyPr/>
                    <a:lstStyle/>
                    <a:p>
                      <a:pPr algn="l">
                        <a:lnSpc>
                          <a:spcPct val="100000"/>
                        </a:lnSpc>
                      </a:pPr>
                      <a:r>
                        <a:rPr sz="1000" dirty="0">
                          <a:latin typeface="Montserrat"/>
                        </a:rPr>
                        <a:t>45 </a:t>
                      </a:r>
                      <a:r>
                        <a:rPr sz="1000" dirty="0" err="1">
                          <a:latin typeface="Montserrat"/>
                        </a:rPr>
                        <a:t>Equipos</a:t>
                      </a:r>
                      <a:r>
                        <a:rPr sz="1000" dirty="0">
                          <a:latin typeface="Montserrat"/>
                        </a:rPr>
                        <a:t> </a:t>
                      </a:r>
                      <a:r>
                        <a:rPr sz="1000" dirty="0" err="1">
                          <a:latin typeface="Montserrat"/>
                        </a:rPr>
                        <a:t>electromecánicos</a:t>
                      </a:r>
                      <a:r>
                        <a:rPr sz="1000" dirty="0">
                          <a:latin typeface="Montserrat"/>
                        </a:rPr>
                        <a:t> para 15 </a:t>
                      </a:r>
                      <a:r>
                        <a:rPr sz="1000" dirty="0" err="1">
                          <a:latin typeface="Montserrat"/>
                        </a:rPr>
                        <a:t>unidades</a:t>
                      </a:r>
                      <a:r>
                        <a:rPr sz="1000" dirty="0">
                          <a:latin typeface="Montserrat"/>
                        </a:rPr>
                        <a:t>; 8 </a:t>
                      </a:r>
                      <a:r>
                        <a:rPr sz="1000" dirty="0" err="1">
                          <a:latin typeface="Montserrat"/>
                        </a:rPr>
                        <a:t>elevadores</a:t>
                      </a:r>
                      <a:r>
                        <a:rPr sz="1000" dirty="0">
                          <a:latin typeface="Montserrat"/>
                        </a:rPr>
                        <a:t>, 22 </a:t>
                      </a:r>
                      <a:r>
                        <a:rPr sz="1000" dirty="0" err="1">
                          <a:latin typeface="Montserrat"/>
                        </a:rPr>
                        <a:t>equipos</a:t>
                      </a:r>
                      <a:r>
                        <a:rPr sz="1000" dirty="0">
                          <a:latin typeface="Montserrat"/>
                        </a:rPr>
                        <a:t> de </a:t>
                      </a:r>
                      <a:r>
                        <a:rPr sz="1000" dirty="0" err="1">
                          <a:latin typeface="Montserrat"/>
                        </a:rPr>
                        <a:t>aire</a:t>
                      </a:r>
                      <a:r>
                        <a:rPr sz="1000" dirty="0">
                          <a:latin typeface="Montserrat"/>
                        </a:rPr>
                        <a:t> </a:t>
                      </a:r>
                      <a:r>
                        <a:rPr sz="1000" dirty="0" err="1">
                          <a:latin typeface="Montserrat"/>
                        </a:rPr>
                        <a:t>acondicionado</a:t>
                      </a:r>
                      <a:r>
                        <a:rPr sz="1000" dirty="0">
                          <a:latin typeface="Montserrat"/>
                        </a:rPr>
                        <a:t>, 4 </a:t>
                      </a:r>
                      <a:r>
                        <a:rPr sz="1000" dirty="0" err="1">
                          <a:latin typeface="Montserrat"/>
                        </a:rPr>
                        <a:t>equipos</a:t>
                      </a:r>
                      <a:r>
                        <a:rPr sz="1000" dirty="0">
                          <a:latin typeface="Montserrat"/>
                        </a:rPr>
                        <a:t> de casa de </a:t>
                      </a:r>
                      <a:r>
                        <a:rPr sz="1000" dirty="0" err="1">
                          <a:latin typeface="Montserrat"/>
                        </a:rPr>
                        <a:t>máquinas</a:t>
                      </a:r>
                      <a:r>
                        <a:rPr sz="1000" dirty="0">
                          <a:latin typeface="Montserrat"/>
                        </a:rPr>
                        <a:t>, 6 </a:t>
                      </a:r>
                      <a:r>
                        <a:rPr sz="1000" dirty="0" err="1">
                          <a:latin typeface="Montserrat"/>
                        </a:rPr>
                        <a:t>lavadoras</a:t>
                      </a:r>
                      <a:r>
                        <a:rPr sz="1000" dirty="0">
                          <a:latin typeface="Montserrat"/>
                        </a:rPr>
                        <a:t>, y 5 </a:t>
                      </a:r>
                      <a:r>
                        <a:rPr sz="1000" dirty="0" err="1">
                          <a:latin typeface="Montserrat"/>
                        </a:rPr>
                        <a:t>secadoras</a:t>
                      </a:r>
                      <a:endParaRPr sz="1000" dirty="0">
                        <a:latin typeface="Montserrat"/>
                      </a:endParaRPr>
                    </a:p>
                  </a:txBody>
                  <a:tcPr marL="3600" marR="3600" marT="3600" marB="360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lnSpc>
                          <a:spcPct val="100000"/>
                        </a:lnSpc>
                      </a:pPr>
                      <a:r>
                        <a:rPr sz="1000" dirty="0">
                          <a:latin typeface="Montserrat"/>
                        </a:rPr>
                        <a:t>$293.8</a:t>
                      </a:r>
                    </a:p>
                  </a:txBody>
                  <a:tcPr marL="3600" marR="3600" marT="3600" marB="360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10" name="Google Shape;394;p15">
            <a:extLst>
              <a:ext uri="{FF2B5EF4-FFF2-40B4-BE49-F238E27FC236}">
                <a16:creationId xmlns:a16="http://schemas.microsoft.com/office/drawing/2014/main" id="{D17FFA46-3A8A-B11C-A65E-47C123C0B5F1}"/>
              </a:ext>
            </a:extLst>
          </p:cNvPr>
          <p:cNvGraphicFramePr/>
          <p:nvPr>
            <p:extLst>
              <p:ext uri="{D42A27DB-BD31-4B8C-83A1-F6EECF244321}">
                <p14:modId xmlns:p14="http://schemas.microsoft.com/office/powerpoint/2010/main" val="3568299252"/>
              </p:ext>
            </p:extLst>
          </p:nvPr>
        </p:nvGraphicFramePr>
        <p:xfrm>
          <a:off x="135223" y="886789"/>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3" name="Google Shape;396;p15">
            <a:extLst>
              <a:ext uri="{FF2B5EF4-FFF2-40B4-BE49-F238E27FC236}">
                <a16:creationId xmlns:a16="http://schemas.microsoft.com/office/drawing/2014/main" id="{8DA15F69-E0F7-CC60-AA01-92008C0AB07B}"/>
              </a:ext>
            </a:extLst>
          </p:cNvPr>
          <p:cNvSpPr txBox="1"/>
          <p:nvPr/>
        </p:nvSpPr>
        <p:spPr>
          <a:xfrm>
            <a:off x="4362448" y="71429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14" name="Google Shape;395;p15">
            <a:extLst>
              <a:ext uri="{FF2B5EF4-FFF2-40B4-BE49-F238E27FC236}">
                <a16:creationId xmlns:a16="http://schemas.microsoft.com/office/drawing/2014/main" id="{59AA5615-C623-DE8B-C625-893C2231B1B8}"/>
              </a:ext>
            </a:extLst>
          </p:cNvPr>
          <p:cNvPicPr preferRelativeResize="0"/>
          <p:nvPr/>
        </p:nvPicPr>
        <p:blipFill rotWithShape="1">
          <a:blip r:embed="rId5">
            <a:clrChange>
              <a:clrFrom>
                <a:srgbClr val="FFFFFF"/>
              </a:clrFrom>
              <a:clrTo>
                <a:srgbClr val="FFFFFF">
                  <a:alpha val="0"/>
                </a:srgbClr>
              </a:clrTo>
            </a:clrChange>
            <a:alphaModFix/>
            <a:duotone>
              <a:prstClr val="black"/>
              <a:srgbClr val="FF0000">
                <a:tint val="45000"/>
                <a:satMod val="400000"/>
              </a:srgbClr>
            </a:duotone>
          </a:blip>
          <a:srcRect/>
          <a:stretch/>
        </p:blipFill>
        <p:spPr>
          <a:xfrm>
            <a:off x="6000202" y="547909"/>
            <a:ext cx="1599000" cy="733432"/>
          </a:xfrm>
          <a:prstGeom prst="rect">
            <a:avLst/>
          </a:prstGeom>
          <a:noFill/>
          <a:ln>
            <a:noFill/>
          </a:ln>
        </p:spPr>
      </p:pic>
      <p:sp>
        <p:nvSpPr>
          <p:cNvPr id="15" name="TextBox 11">
            <a:extLst>
              <a:ext uri="{FF2B5EF4-FFF2-40B4-BE49-F238E27FC236}">
                <a16:creationId xmlns:a16="http://schemas.microsoft.com/office/drawing/2014/main" id="{159A2758-8EE4-4257-8ACC-03016F515770}"/>
              </a:ext>
            </a:extLst>
          </p:cNvPr>
          <p:cNvSpPr txBox="1"/>
          <p:nvPr/>
        </p:nvSpPr>
        <p:spPr>
          <a:xfrm>
            <a:off x="6272249" y="687703"/>
            <a:ext cx="1306800" cy="338400"/>
          </a:xfrm>
          <a:prstGeom prst="rect">
            <a:avLst/>
          </a:prstGeom>
          <a:noFill/>
        </p:spPr>
        <p:txBody>
          <a:bodyPr wrap="none">
            <a:spAutoFit/>
          </a:bodyPr>
          <a:lstStyle/>
          <a:p>
            <a:pPr algn="ctr">
              <a:defRPr sz="1400" b="1">
                <a:solidFill>
                  <a:srgbClr val="FFFFFF"/>
                </a:solidFill>
                <a:latin typeface="Montserrat"/>
              </a:defRPr>
            </a:pPr>
            <a:r>
              <a:rPr dirty="0"/>
              <a:t>866.8</a:t>
            </a:r>
          </a:p>
          <a:p>
            <a:pPr algn="ctr">
              <a:defRPr sz="1400" b="1">
                <a:solidFill>
                  <a:srgbClr val="FFFFFF"/>
                </a:solidFill>
                <a:latin typeface="Montserrat"/>
              </a:defRPr>
            </a:pPr>
            <a:r>
              <a:rPr dirty="0"/>
              <a:t>mdp</a:t>
            </a:r>
          </a:p>
        </p:txBody>
      </p:sp>
      <p:sp>
        <p:nvSpPr>
          <p:cNvPr id="16" name="CuadroTexto 9">
            <a:extLst>
              <a:ext uri="{FF2B5EF4-FFF2-40B4-BE49-F238E27FC236}">
                <a16:creationId xmlns:a16="http://schemas.microsoft.com/office/drawing/2014/main" id="{0DE01BB5-FACF-2628-832C-F541CAB97C81}"/>
              </a:ext>
            </a:extLst>
          </p:cNvPr>
          <p:cNvSpPr txBox="1"/>
          <p:nvPr/>
        </p:nvSpPr>
        <p:spPr>
          <a:xfrm>
            <a:off x="-606044" y="1663677"/>
            <a:ext cx="260649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17" name="Imagen 16" descr="Forma, Círculo&#10;&#10;El contenido generado por IA puede ser incorrecto.">
            <a:extLst>
              <a:ext uri="{FF2B5EF4-FFF2-40B4-BE49-F238E27FC236}">
                <a16:creationId xmlns:a16="http://schemas.microsoft.com/office/drawing/2014/main" id="{3D440F3E-D27C-A3F9-6E5E-AA3DBC7D5AA2}"/>
              </a:ext>
            </a:extLst>
          </p:cNvPr>
          <p:cNvPicPr>
            <a:picLocks noChangeAspect="1"/>
          </p:cNvPicPr>
          <p:nvPr/>
        </p:nvPicPr>
        <p:blipFill>
          <a:blip r:embed="rId6"/>
          <a:stretch>
            <a:fillRect/>
          </a:stretch>
        </p:blipFill>
        <p:spPr>
          <a:xfrm>
            <a:off x="260870" y="2027418"/>
            <a:ext cx="872667" cy="849944"/>
          </a:xfrm>
          <a:prstGeom prst="rect">
            <a:avLst/>
          </a:prstGeom>
        </p:spPr>
      </p:pic>
      <p:sp>
        <p:nvSpPr>
          <p:cNvPr id="26" name="CuadroTexto 11">
            <a:extLst>
              <a:ext uri="{FF2B5EF4-FFF2-40B4-BE49-F238E27FC236}">
                <a16:creationId xmlns:a16="http://schemas.microsoft.com/office/drawing/2014/main" id="{A8EAD9F2-434F-66A7-5954-161004052972}"/>
              </a:ext>
            </a:extLst>
          </p:cNvPr>
          <p:cNvSpPr txBox="1"/>
          <p:nvPr/>
        </p:nvSpPr>
        <p:spPr>
          <a:xfrm>
            <a:off x="-495684" y="2119806"/>
            <a:ext cx="2385773" cy="5693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1100" b="1" dirty="0">
                <a:solidFill>
                  <a:srgbClr val="A42145"/>
                </a:solidFill>
                <a:latin typeface="Montserrat"/>
                <a:ea typeface="Montserrat"/>
                <a:cs typeface="Montserrat"/>
              </a:rPr>
              <a:t>CECI</a:t>
            </a:r>
            <a:endParaRPr lang="en-US" sz="1100" b="1" i="0" u="none" strike="noStrike" dirty="0">
              <a:solidFill>
                <a:srgbClr val="A42145"/>
              </a:solidFill>
              <a:latin typeface="Montserrat"/>
              <a:ea typeface="Montserrat"/>
              <a:cs typeface="Montserrat"/>
            </a:endParaRPr>
          </a:p>
        </p:txBody>
      </p:sp>
    </p:spTree>
    <p:extLst>
      <p:ext uri="{BB962C8B-B14F-4D97-AF65-F5344CB8AC3E}">
        <p14:creationId xmlns:p14="http://schemas.microsoft.com/office/powerpoint/2010/main" val="30077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724074" y="2973946"/>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92828" y="4963400"/>
            <a:ext cx="926657" cy="813175"/>
          </a:xfrm>
          <a:prstGeom prst="rect">
            <a:avLst/>
          </a:prstGeom>
          <a:noFill/>
          <a:ln>
            <a:noFill/>
          </a:ln>
        </p:spPr>
      </p:pic>
      <p:sp>
        <p:nvSpPr>
          <p:cNvPr id="460" name="Google Shape;460;p16"/>
          <p:cNvSpPr/>
          <p:nvPr/>
        </p:nvSpPr>
        <p:spPr>
          <a:xfrm>
            <a:off x="944675" y="1861908"/>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graphicFrame>
        <p:nvGraphicFramePr>
          <p:cNvPr id="467" name="Table 466"/>
          <p:cNvGraphicFramePr>
            <a:graphicFrameLocks noGrp="1"/>
          </p:cNvGraphicFramePr>
          <p:nvPr>
            <p:extLst>
              <p:ext uri="{D42A27DB-BD31-4B8C-83A1-F6EECF244321}">
                <p14:modId xmlns:p14="http://schemas.microsoft.com/office/powerpoint/2010/main" val="762985388"/>
              </p:ext>
            </p:extLst>
          </p:nvPr>
        </p:nvGraphicFramePr>
        <p:xfrm>
          <a:off x="2311200" y="1670400"/>
          <a:ext cx="5032800" cy="881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57 unidades</a:t>
                      </a:r>
                    </a:p>
                    <a:p>
                      <a:pPr algn="ctr">
                        <a:defRPr sz="1000">
                          <a:solidFill>
                            <a:srgbClr val="505050"/>
                          </a:solidFill>
                          <a:latin typeface="Montserrat"/>
                        </a:defRPr>
                      </a:pPr>
                      <a:r>
                        <a:t>3 directas</a:t>
                      </a:r>
                    </a:p>
                    <a:p>
                      <a:pPr algn="ctr">
                        <a:defRPr sz="1000">
                          <a:solidFill>
                            <a:srgbClr val="505050"/>
                          </a:solidFill>
                          <a:latin typeface="Montserrat"/>
                        </a:defRPr>
                      </a:pPr>
                      <a:r>
                        <a:t>54 indirectas</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r>
                        <a:rPr sz="1000" b="1" dirty="0">
                          <a:latin typeface="Montserrat"/>
                        </a:rPr>
                        <a:t>6,564 </a:t>
                      </a:r>
                      <a:r>
                        <a:rPr sz="1000" b="1" dirty="0" err="1">
                          <a:latin typeface="Montserrat"/>
                        </a:rPr>
                        <a:t>inscritos</a:t>
                      </a:r>
                      <a:endParaRPr sz="1000" b="1" dirty="0">
                        <a:latin typeface="Montserrat"/>
                      </a:endParaRPr>
                    </a:p>
                    <a:p>
                      <a:pPr algn="ctr">
                        <a:defRPr sz="1000">
                          <a:solidFill>
                            <a:srgbClr val="505050"/>
                          </a:solidFill>
                          <a:latin typeface="Montserrat"/>
                        </a:defRPr>
                      </a:pPr>
                      <a:r>
                        <a:rPr dirty="0"/>
                        <a:t>344 en </a:t>
                      </a:r>
                      <a:r>
                        <a:rPr dirty="0" err="1"/>
                        <a:t>espera</a:t>
                      </a:r>
                      <a:endParaRPr dirty="0"/>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1243312629"/>
              </p:ext>
            </p:extLst>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418319">
                <a:tc gridSpan="2">
                  <a:txBody>
                    <a:bodyPr/>
                    <a:lstStyle/>
                    <a:p>
                      <a:pPr algn="ctr">
                        <a:defRPr sz="1000" b="1">
                          <a:solidFill>
                            <a:srgbClr val="FFFFFF"/>
                          </a:solidFill>
                          <a:latin typeface="Montserrat"/>
                        </a:defRPr>
                      </a:pPr>
                      <a:r>
                        <a:t>BIENESTAR SOCIAL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418319">
                <a:tc>
                  <a:txBody>
                    <a:bodyPr/>
                    <a:lstStyle/>
                    <a:p>
                      <a:pPr algn="ctr">
                        <a:defRPr sz="800" b="1">
                          <a:latin typeface="Montserrat"/>
                        </a:defRPr>
                      </a:pPr>
                      <a:r>
                        <a:rPr dirty="0"/>
                        <a:t>1 Laboratorio de </a:t>
                      </a:r>
                      <a:r>
                        <a:rPr dirty="0" err="1"/>
                        <a:t>STyA</a:t>
                      </a:r>
                      <a:endParaRPr dirty="0"/>
                    </a:p>
                  </a:txBody>
                  <a:tcPr marL="28800" marR="28800" marT="0" marB="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800">
                          <a:latin typeface="Montserrat"/>
                        </a:defRPr>
                      </a:pPr>
                      <a:r>
                        <a:t>HGR 1, Orizaba, Ver.</a:t>
                      </a:r>
                    </a:p>
                  </a:txBody>
                  <a:tcPr marL="28800" marR="28800" marT="0" marB="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418319">
                <a:tc>
                  <a:txBody>
                    <a:bodyPr/>
                    <a:lstStyle/>
                    <a:p>
                      <a:pPr algn="ctr">
                        <a:defRPr sz="800" b="1">
                          <a:latin typeface="Montserrat"/>
                        </a:defRPr>
                      </a:pPr>
                      <a:r>
                        <a:t>1 CRESTCAP</a:t>
                      </a:r>
                    </a:p>
                  </a:txBody>
                  <a:tcPr marL="28800" marR="28800" marT="0" marB="0" anchor="ctr">
                    <a:lnL w="12700" cap="flat" cmpd="sng" algn="ctr">
                      <a:solidFill>
                        <a:schemeClr val="bg1">
                          <a:lumMod val="85000"/>
                        </a:schemeClr>
                      </a:solidFill>
                      <a:prstDash val="solid"/>
                      <a:round/>
                      <a:headEnd type="none" w="med" len="med"/>
                      <a:tailEnd type="none" w="med" len="med"/>
                    </a:lnL>
                    <a:solidFill>
                      <a:srgbClr val="EFEFEF"/>
                    </a:solidFill>
                  </a:tcPr>
                </a:tc>
                <a:tc>
                  <a:txBody>
                    <a:bodyPr/>
                    <a:lstStyle/>
                    <a:p>
                      <a:pPr algn="ctr">
                        <a:defRPr sz="800">
                          <a:latin typeface="Montserrat"/>
                        </a:defRPr>
                      </a:pPr>
                      <a:r>
                        <a:t>Jalapa y Coatzacoalcos</a:t>
                      </a:r>
                    </a:p>
                  </a:txBody>
                  <a:tcPr marL="28800" marR="28800" marT="0" marB="0" anchor="ctr">
                    <a:lnR w="12700" cap="flat" cmpd="sng" algn="ctr">
                      <a:solidFill>
                        <a:schemeClr val="bg1">
                          <a:lumMod val="85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418319">
                <a:tc>
                  <a:txBody>
                    <a:bodyPr/>
                    <a:lstStyle/>
                    <a:p>
                      <a:pPr algn="ctr">
                        <a:defRPr sz="800" b="1">
                          <a:latin typeface="Montserrat"/>
                        </a:defRPr>
                      </a:pPr>
                      <a:r>
                        <a:t>10  Centros de Seguridad Social</a:t>
                      </a:r>
                    </a:p>
                  </a:txBody>
                  <a:tcPr marL="28800" marR="28800" marT="0" marB="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800">
                          <a:latin typeface="Montserrat"/>
                        </a:defRPr>
                      </a:pPr>
                      <a:r>
                        <a:t>Coatepec, Xalapa, Tuxpan, Boca del Río, Tlapacoyan, Poza Rica, Córdoba, Coatzacoalcos, Cosamaloapan y Orizaba</a:t>
                      </a:r>
                    </a:p>
                  </a:txBody>
                  <a:tcPr marL="28800" marR="28800" marT="0" marB="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418323">
                <a:tc>
                  <a:txBody>
                    <a:bodyPr/>
                    <a:lstStyle/>
                    <a:p>
                      <a:pPr algn="ctr">
                        <a:defRPr sz="800" b="1">
                          <a:latin typeface="Montserrat"/>
                        </a:defRPr>
                      </a:pPr>
                      <a:r>
                        <a:t>1 Teatro</a:t>
                      </a:r>
                    </a:p>
                  </a:txBody>
                  <a:tcPr marL="28800" marR="28800" marT="0" marB="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algn="ctr">
                        <a:defRPr sz="800">
                          <a:latin typeface="Montserrat"/>
                        </a:defRPr>
                      </a:pPr>
                      <a:r>
                        <a:rPr dirty="0"/>
                        <a:t>Córdoba</a:t>
                      </a:r>
                    </a:p>
                  </a:txBody>
                  <a:tcPr marL="28800" marR="28800" marT="0" marB="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FEFEF"/>
                    </a:solidFill>
                  </a:tcPr>
                </a:tc>
                <a:extLst>
                  <a:ext uri="{0D108BD9-81ED-4DB2-BD59-A6C34878D82A}">
                    <a16:rowId xmlns:a16="http://schemas.microsoft.com/office/drawing/2014/main" val="10004"/>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2282896569"/>
              </p:ext>
            </p:extLst>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72400">
                <a:tc gridSpan="2">
                  <a:txBody>
                    <a:bodyPr/>
                    <a:lstStyle/>
                    <a:p>
                      <a:pPr algn="ctr">
                        <a:defRPr sz="1000" b="1">
                          <a:solidFill>
                            <a:srgbClr val="FFFFFF"/>
                          </a:solidFill>
                          <a:latin typeface="Montserrat"/>
                        </a:defRPr>
                      </a:pPr>
                      <a:r>
                        <a:t>CENTROS VACACIONALES, VELATORIOS Y TIENDAS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272400">
                <a:tc>
                  <a:txBody>
                    <a:bodyPr/>
                    <a:lstStyle/>
                    <a:p>
                      <a:pPr algn="ctr">
                        <a:defRPr sz="800" b="1">
                          <a:latin typeface="Montserrat"/>
                        </a:defRPr>
                      </a:pPr>
                      <a:r>
                        <a:rPr dirty="0"/>
                        <a:t>6 Tiendas IMSS-SNTSS</a:t>
                      </a:r>
                    </a:p>
                  </a:txBody>
                  <a:tcPr marL="28800" marR="28800" marT="0" marB="0"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800">
                          <a:latin typeface="Montserrat"/>
                        </a:defRPr>
                      </a:pPr>
                      <a:r>
                        <a:rPr dirty="0"/>
                        <a:t>No. 84 </a:t>
                      </a:r>
                      <a:r>
                        <a:rPr dirty="0" err="1"/>
                        <a:t>Cosamaloapan</a:t>
                      </a:r>
                      <a:r>
                        <a:rPr dirty="0"/>
                        <a:t>, No. 124 </a:t>
                      </a:r>
                      <a:r>
                        <a:rPr dirty="0" err="1"/>
                        <a:t>Minatitlán</a:t>
                      </a:r>
                      <a:r>
                        <a:rPr lang="es-MX" dirty="0"/>
                        <a:t> </a:t>
                      </a:r>
                      <a:r>
                        <a:rPr lang="es-MX"/>
                        <a:t>( cerrada)</a:t>
                      </a:r>
                      <a:r>
                        <a:t>, </a:t>
                      </a:r>
                      <a:r>
                        <a:rPr dirty="0"/>
                        <a:t>No. 57 Orizaba, No. 160 Tierra Blanca, No. 54 Xalapa y 55 Veracruz</a:t>
                      </a:r>
                    </a:p>
                  </a:txBody>
                  <a:tcPr marL="28800" marR="28800" marT="0" marB="0"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72400">
                <a:tc>
                  <a:txBody>
                    <a:bodyPr/>
                    <a:lstStyle/>
                    <a:p>
                      <a:pPr algn="ctr">
                        <a:defRPr sz="800" b="1">
                          <a:latin typeface="Montserrat"/>
                        </a:defRPr>
                      </a:pPr>
                      <a:r>
                        <a:t>1 Velatorio</a:t>
                      </a:r>
                    </a:p>
                  </a:txBody>
                  <a:tcPr marL="28800" marR="28800" marT="0" marB="0"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algn="ctr">
                        <a:defRPr sz="800">
                          <a:latin typeface="Montserrat"/>
                        </a:defRPr>
                      </a:pPr>
                      <a:r>
                        <a:rPr dirty="0"/>
                        <a:t>Veracruz</a:t>
                      </a:r>
                    </a:p>
                  </a:txBody>
                  <a:tcPr marL="28800" marR="28800" marT="0" marB="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FEFEF"/>
                    </a:solidFill>
                  </a:tcPr>
                </a:tc>
                <a:extLst>
                  <a:ext uri="{0D108BD9-81ED-4DB2-BD59-A6C34878D82A}">
                    <a16:rowId xmlns:a16="http://schemas.microsoft.com/office/drawing/2014/main" val="10002"/>
                  </a:ext>
                </a:extLst>
              </a:tr>
            </a:tbl>
          </a:graphicData>
        </a:graphic>
      </p:graphicFrame>
      <p:pic>
        <p:nvPicPr>
          <p:cNvPr id="470" name="Picture 469" descr="map_tipo2_30_ver.png"/>
          <p:cNvPicPr>
            <a:picLocks noChangeAspect="1"/>
          </p:cNvPicPr>
          <p:nvPr/>
        </p:nvPicPr>
        <p:blipFill>
          <a:blip r:embed="rId6"/>
          <a:stretch>
            <a:fillRect/>
          </a:stretch>
        </p:blipFill>
        <p:spPr>
          <a:xfrm>
            <a:off x="2822400" y="5929200"/>
            <a:ext cx="2656800" cy="2963394"/>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57</a:t>
            </a:r>
          </a:p>
        </p:txBody>
      </p:sp>
      <p:sp>
        <p:nvSpPr>
          <p:cNvPr id="472" name="TextBox 471"/>
          <p:cNvSpPr txBox="1"/>
          <p:nvPr/>
        </p:nvSpPr>
        <p:spPr>
          <a:xfrm>
            <a:off x="0" y="9640800"/>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79" name="Table 478"/>
          <p:cNvGraphicFramePr>
            <a:graphicFrameLocks noGrp="1"/>
          </p:cNvGraphicFramePr>
          <p:nvPr>
            <p:extLst>
              <p:ext uri="{D42A27DB-BD31-4B8C-83A1-F6EECF244321}">
                <p14:modId xmlns:p14="http://schemas.microsoft.com/office/powerpoint/2010/main" val="1533162200"/>
              </p:ext>
            </p:extLst>
          </p:nvPr>
        </p:nvGraphicFramePr>
        <p:xfrm>
          <a:off x="284400" y="1087200"/>
          <a:ext cx="6984000" cy="194315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rPr lang="es-MX" dirty="0"/>
                        <a:t>Principales Empleadores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lnL w="12700" cap="flat" cmpd="sng" algn="ctr">
                      <a:solidFill>
                        <a:schemeClr val="bg1">
                          <a:lumMod val="85000"/>
                        </a:schemeClr>
                      </a:solidFill>
                      <a:prstDash val="solid"/>
                      <a:round/>
                      <a:headEnd type="none" w="med" len="med"/>
                      <a:tailEnd type="none" w="med" len="med"/>
                    </a:lnL>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lnR w="12700" cap="flat" cmpd="sng" algn="ctr">
                      <a:solidFill>
                        <a:schemeClr val="bg1">
                          <a:lumMod val="85000"/>
                        </a:schemeClr>
                      </a:solidFill>
                      <a:prstDash val="solid"/>
                      <a:round/>
                      <a:headEnd type="none" w="med" len="med"/>
                      <a:tailEnd type="none" w="med" len="med"/>
                    </a:ln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Secretaría de Educación</a:t>
                      </a:r>
                    </a:p>
                  </a:txBody>
                  <a:tcPr anchor="ct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850">
                          <a:latin typeface="Montserrat"/>
                        </a:defRPr>
                      </a:pPr>
                      <a:r>
                        <a:t>55,730</a:t>
                      </a:r>
                    </a:p>
                  </a:txBody>
                  <a:tcPr anchor="ctr">
                    <a:solidFill>
                      <a:srgbClr val="FFFFFF"/>
                    </a:solidFill>
                  </a:tcPr>
                </a:tc>
                <a:tc>
                  <a:txBody>
                    <a:bodyPr/>
                    <a:lstStyle/>
                    <a:p>
                      <a:pPr algn="ctr">
                        <a:defRPr sz="850">
                          <a:latin typeface="Montserrat"/>
                        </a:defRPr>
                      </a:pPr>
                      <a:r>
                        <a:t>55,850</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8,821</a:t>
                      </a:r>
                    </a:p>
                  </a:txBody>
                  <a:tcPr anchor="ctr">
                    <a:solidFill>
                      <a:srgbClr val="FFFFFF"/>
                    </a:solidFill>
                  </a:tcPr>
                </a:tc>
                <a:tc>
                  <a:txBody>
                    <a:bodyPr/>
                    <a:lstStyle/>
                    <a:p>
                      <a:pPr algn="ctr">
                        <a:defRPr sz="850">
                          <a:latin typeface="Montserrat"/>
                        </a:defRPr>
                      </a:pPr>
                      <a:r>
                        <a:t>8,899</a:t>
                      </a:r>
                    </a:p>
                  </a:txBody>
                  <a:tcPr anchor="ctr">
                    <a:solidFill>
                      <a:srgbClr val="FFFFFF"/>
                    </a:solidFill>
                  </a:tcPr>
                </a:tc>
                <a:tc>
                  <a:txBody>
                    <a:bodyPr/>
                    <a:lstStyle/>
                    <a:p>
                      <a:pPr algn="ctr">
                        <a:defRPr sz="850" b="1">
                          <a:solidFill>
                            <a:srgbClr val="006455"/>
                          </a:solidFill>
                          <a:latin typeface="Montserrat"/>
                        </a:defRPr>
                      </a:pPr>
                      <a:r>
                        <a:t>0.9%</a:t>
                      </a:r>
                    </a:p>
                  </a:txBody>
                  <a:tcPr anchor="ct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t>Instituto Mexicano del Seguro Social</a:t>
                      </a:r>
                    </a:p>
                  </a:txBody>
                  <a:tcPr anchor="ct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defRPr sz="850">
                          <a:latin typeface="Montserrat"/>
                        </a:defRPr>
                      </a:pPr>
                      <a:r>
                        <a:t>26,697</a:t>
                      </a:r>
                    </a:p>
                  </a:txBody>
                  <a:tcPr anchor="ctr">
                    <a:solidFill>
                      <a:srgbClr val="D9D9D9"/>
                    </a:solidFill>
                  </a:tcPr>
                </a:tc>
                <a:tc>
                  <a:txBody>
                    <a:bodyPr/>
                    <a:lstStyle/>
                    <a:p>
                      <a:pPr algn="ctr">
                        <a:defRPr sz="850">
                          <a:latin typeface="Montserrat"/>
                        </a:defRPr>
                      </a:pPr>
                      <a:r>
                        <a:t>26,848</a:t>
                      </a:r>
                    </a:p>
                  </a:txBody>
                  <a:tcPr anchor="ctr">
                    <a:solidFill>
                      <a:srgbClr val="D9D9D9"/>
                    </a:solidFill>
                  </a:tcPr>
                </a:tc>
                <a:tc>
                  <a:txBody>
                    <a:bodyPr/>
                    <a:lstStyle/>
                    <a:p>
                      <a:pPr algn="ctr">
                        <a:defRPr sz="850" b="1">
                          <a:solidFill>
                            <a:srgbClr val="006455"/>
                          </a:solidFill>
                          <a:latin typeface="Montserrat"/>
                        </a:defRPr>
                      </a:pPr>
                      <a:r>
                        <a:t>0.6%</a:t>
                      </a:r>
                    </a:p>
                  </a:txBody>
                  <a:tcPr anchor="ctr">
                    <a:solidFill>
                      <a:srgbClr val="D9D9D9"/>
                    </a:solidFill>
                  </a:tcPr>
                </a:tc>
                <a:tc>
                  <a:txBody>
                    <a:bodyPr/>
                    <a:lstStyle/>
                    <a:p>
                      <a:pPr algn="ctr">
                        <a:defRPr sz="850">
                          <a:latin typeface="Montserrat"/>
                        </a:defRPr>
                      </a:pPr>
                      <a:r>
                        <a:t>Tiendas Chedraui S.A. de C.V.</a:t>
                      </a:r>
                    </a:p>
                  </a:txBody>
                  <a:tcPr anchor="ctr">
                    <a:solidFill>
                      <a:srgbClr val="D9D9D9"/>
                    </a:solidFill>
                  </a:tcPr>
                </a:tc>
                <a:tc>
                  <a:txBody>
                    <a:bodyPr/>
                    <a:lstStyle/>
                    <a:p>
                      <a:pPr algn="ctr">
                        <a:defRPr sz="850">
                          <a:latin typeface="Montserrat"/>
                        </a:defRPr>
                      </a:pPr>
                      <a:r>
                        <a:t>8,141</a:t>
                      </a:r>
                    </a:p>
                  </a:txBody>
                  <a:tcPr anchor="ctr">
                    <a:solidFill>
                      <a:srgbClr val="D9D9D9"/>
                    </a:solidFill>
                  </a:tcPr>
                </a:tc>
                <a:tc>
                  <a:txBody>
                    <a:bodyPr/>
                    <a:lstStyle/>
                    <a:p>
                      <a:pPr algn="ctr">
                        <a:defRPr sz="850">
                          <a:latin typeface="Montserrat"/>
                        </a:defRPr>
                      </a:pPr>
                      <a:r>
                        <a:t>8,172</a:t>
                      </a:r>
                    </a:p>
                  </a:txBody>
                  <a:tcPr anchor="ctr">
                    <a:solidFill>
                      <a:srgbClr val="D9D9D9"/>
                    </a:solidFill>
                  </a:tcPr>
                </a:tc>
                <a:tc>
                  <a:txBody>
                    <a:bodyPr/>
                    <a:lstStyle/>
                    <a:p>
                      <a:pPr algn="ctr">
                        <a:defRPr sz="850" b="1">
                          <a:solidFill>
                            <a:srgbClr val="006455"/>
                          </a:solidFill>
                          <a:latin typeface="Montserrat"/>
                        </a:defRPr>
                      </a:pPr>
                      <a:r>
                        <a:t>0.4%</a:t>
                      </a:r>
                    </a:p>
                  </a:txBody>
                  <a:tcPr anchor="ct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t>Gobierno del Estado de Veracruz Poder Ejecutivo</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21,257</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21,301</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b="1">
                          <a:solidFill>
                            <a:srgbClr val="006455"/>
                          </a:solidFill>
                          <a:latin typeface="Montserrat"/>
                        </a:defRPr>
                      </a:pPr>
                      <a:r>
                        <a:t>0.2%</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Coppel S.A. de C.V.</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6,869</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t>6,866</a:t>
                      </a:r>
                    </a:p>
                  </a:txBody>
                  <a:tcPr anchor="ct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850">
                          <a:latin typeface="Montserrat"/>
                        </a:defRPr>
                      </a:pPr>
                      <a:r>
                        <a:rPr dirty="0"/>
                        <a:t>0.0%</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-1.52%</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-0.10%</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+0.37%</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+0.75%</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+0.88%</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+0.88%</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+1.27%</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+3.08%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extLst>
              <p:ext uri="{D42A27DB-BD31-4B8C-83A1-F6EECF244321}">
                <p14:modId xmlns:p14="http://schemas.microsoft.com/office/powerpoint/2010/main" val="1195607554"/>
              </p:ext>
            </p:extLst>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C955C"/>
                    </a:solidFill>
                  </a:tcPr>
                </a:tc>
                <a:tc gridSpan="2">
                  <a:txBody>
                    <a:bodyPr/>
                    <a:lstStyle/>
                    <a:p>
                      <a:pPr algn="ctr">
                        <a:defRPr sz="1000" b="1">
                          <a:solidFill>
                            <a:srgbClr val="FFFFFF"/>
                          </a:solidFill>
                          <a:latin typeface="Montserrat"/>
                        </a:defRPr>
                      </a:pPr>
                      <a:r>
                        <a:t>Permanente</a:t>
                      </a:r>
                    </a:p>
                  </a:txBody>
                  <a:tcPr anchor="ct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lnT w="12700" cap="flat" cmpd="sng" algn="ctr">
                      <a:solidFill>
                        <a:schemeClr val="bg1">
                          <a:lumMod val="85000"/>
                        </a:schemeClr>
                      </a:solidFill>
                      <a:prstDash val="solid"/>
                      <a:round/>
                      <a:headEnd type="none" w="med" len="med"/>
                      <a:tailEnd type="none" w="med" len="med"/>
                    </a:lnT>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lnL w="12700" cap="flat" cmpd="sng" algn="ctr">
                      <a:solidFill>
                        <a:schemeClr val="bg1">
                          <a:lumMod val="85000"/>
                        </a:schemeClr>
                      </a:solidFill>
                      <a:prstDash val="solid"/>
                      <a:round/>
                      <a:headEnd type="none" w="med" len="med"/>
                      <a:tailEnd type="none" w="med" len="med"/>
                    </a:lnL>
                    <a:solidFill>
                      <a:srgbClr val="FFFFFF"/>
                    </a:solidFill>
                  </a:tcPr>
                </a:tc>
                <a:tc>
                  <a:txBody>
                    <a:bodyPr/>
                    <a:lstStyle/>
                    <a:p>
                      <a:pPr algn="ctr">
                        <a:defRPr sz="900">
                          <a:latin typeface="Montserrat"/>
                        </a:defRPr>
                      </a:pPr>
                      <a:r>
                        <a:t>629,196</a:t>
                      </a:r>
                    </a:p>
                  </a:txBody>
                  <a:tcPr>
                    <a:solidFill>
                      <a:srgbClr val="FFFFFF"/>
                    </a:solidFill>
                  </a:tcPr>
                </a:tc>
                <a:tc>
                  <a:txBody>
                    <a:bodyPr/>
                    <a:lstStyle/>
                    <a:p>
                      <a:pPr algn="ctr">
                        <a:defRPr sz="900">
                          <a:latin typeface="Montserrat"/>
                        </a:defRPr>
                      </a:pPr>
                      <a:r>
                        <a:t>29,096</a:t>
                      </a:r>
                    </a:p>
                  </a:txBody>
                  <a:tcPr>
                    <a:solidFill>
                      <a:srgbClr val="FFFFFF"/>
                    </a:solidFill>
                  </a:tcPr>
                </a:tc>
                <a:tc>
                  <a:txBody>
                    <a:bodyPr/>
                    <a:lstStyle/>
                    <a:p>
                      <a:pPr algn="ctr">
                        <a:defRPr sz="900">
                          <a:latin typeface="Montserrat"/>
                        </a:defRPr>
                      </a:pPr>
                      <a:r>
                        <a:t>103,473</a:t>
                      </a:r>
                    </a:p>
                  </a:txBody>
                  <a:tcPr>
                    <a:solidFill>
                      <a:srgbClr val="FFFFFF"/>
                    </a:solidFill>
                  </a:tcPr>
                </a:tc>
                <a:tc>
                  <a:txBody>
                    <a:bodyPr/>
                    <a:lstStyle/>
                    <a:p>
                      <a:pPr algn="ctr">
                        <a:defRPr sz="900">
                          <a:latin typeface="Montserrat"/>
                        </a:defRPr>
                      </a:pPr>
                      <a:r>
                        <a:t>8,605</a:t>
                      </a:r>
                    </a:p>
                  </a:txBody>
                  <a:tcPr>
                    <a:solidFill>
                      <a:srgbClr val="FFFFFF"/>
                    </a:solidFill>
                  </a:tcPr>
                </a:tc>
                <a:tc>
                  <a:txBody>
                    <a:bodyPr/>
                    <a:lstStyle/>
                    <a:p>
                      <a:pPr algn="ctr">
                        <a:defRPr sz="900">
                          <a:latin typeface="Montserrat"/>
                        </a:defRPr>
                      </a:pPr>
                      <a:r>
                        <a:t>770,370</a:t>
                      </a:r>
                    </a:p>
                  </a:txBody>
                  <a:tcPr>
                    <a:lnR w="12700" cap="flat" cmpd="sng" algn="ctr">
                      <a:solidFill>
                        <a:schemeClr val="bg1">
                          <a:lumMod val="8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lnL w="12700" cap="flat" cmpd="sng" algn="ctr">
                      <a:solidFill>
                        <a:schemeClr val="bg1">
                          <a:lumMod val="85000"/>
                        </a:schemeClr>
                      </a:solidFill>
                      <a:prstDash val="solid"/>
                      <a:round/>
                      <a:headEnd type="none" w="med" len="med"/>
                      <a:tailEnd type="none" w="med" len="med"/>
                    </a:lnL>
                    <a:solidFill>
                      <a:srgbClr val="D9D9D9"/>
                    </a:solidFill>
                  </a:tcPr>
                </a:tc>
                <a:tc>
                  <a:txBody>
                    <a:bodyPr/>
                    <a:lstStyle/>
                    <a:p>
                      <a:pPr algn="ctr">
                        <a:defRPr sz="900">
                          <a:latin typeface="Montserrat"/>
                        </a:defRPr>
                      </a:pPr>
                      <a:r>
                        <a:t>634,549</a:t>
                      </a:r>
                    </a:p>
                  </a:txBody>
                  <a:tcPr>
                    <a:solidFill>
                      <a:srgbClr val="D9D9D9"/>
                    </a:solidFill>
                  </a:tcPr>
                </a:tc>
                <a:tc>
                  <a:txBody>
                    <a:bodyPr/>
                    <a:lstStyle/>
                    <a:p>
                      <a:pPr algn="ctr">
                        <a:defRPr sz="900">
                          <a:latin typeface="Montserrat"/>
                        </a:defRPr>
                      </a:pPr>
                      <a:r>
                        <a:t>26,342</a:t>
                      </a:r>
                    </a:p>
                  </a:txBody>
                  <a:tcPr>
                    <a:solidFill>
                      <a:srgbClr val="D9D9D9"/>
                    </a:solidFill>
                  </a:tcPr>
                </a:tc>
                <a:tc>
                  <a:txBody>
                    <a:bodyPr/>
                    <a:lstStyle/>
                    <a:p>
                      <a:pPr algn="ctr">
                        <a:defRPr sz="900">
                          <a:latin typeface="Montserrat"/>
                        </a:defRPr>
                      </a:pPr>
                      <a:r>
                        <a:t>100,863</a:t>
                      </a:r>
                    </a:p>
                  </a:txBody>
                  <a:tcPr>
                    <a:solidFill>
                      <a:srgbClr val="D9D9D9"/>
                    </a:solidFill>
                  </a:tcPr>
                </a:tc>
                <a:tc>
                  <a:txBody>
                    <a:bodyPr/>
                    <a:lstStyle/>
                    <a:p>
                      <a:pPr algn="ctr">
                        <a:defRPr sz="900">
                          <a:latin typeface="Montserrat"/>
                        </a:defRPr>
                      </a:pPr>
                      <a:r>
                        <a:t>10,752</a:t>
                      </a:r>
                    </a:p>
                  </a:txBody>
                  <a:tcPr>
                    <a:solidFill>
                      <a:srgbClr val="D9D9D9"/>
                    </a:solidFill>
                  </a:tcPr>
                </a:tc>
                <a:tc>
                  <a:txBody>
                    <a:bodyPr/>
                    <a:lstStyle/>
                    <a:p>
                      <a:pPr algn="ctr">
                        <a:defRPr sz="900">
                          <a:latin typeface="Montserrat"/>
                        </a:defRPr>
                      </a:pPr>
                      <a:r>
                        <a:t>772,506</a:t>
                      </a:r>
                    </a:p>
                  </a:txBody>
                  <a:tcPr>
                    <a:lnR w="12700" cap="flat" cmpd="sng" algn="ctr">
                      <a:solidFill>
                        <a:schemeClr val="bg1">
                          <a:lumMod val="8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1">
                          <a:solidFill>
                            <a:srgbClr val="006455"/>
                          </a:solidFill>
                          <a:latin typeface="Montserrat"/>
                        </a:defRPr>
                      </a:pPr>
                      <a:r>
                        <a:t>+0.9%</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0">
                          <a:solidFill>
                            <a:srgbClr val="691C32"/>
                          </a:solidFill>
                          <a:latin typeface="Montserrat"/>
                        </a:defRPr>
                      </a:pPr>
                      <a:r>
                        <a:t>-9.5%</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0">
                          <a:solidFill>
                            <a:srgbClr val="691C32"/>
                          </a:solidFill>
                          <a:latin typeface="Montserrat"/>
                        </a:defRPr>
                      </a:pPr>
                      <a:r>
                        <a:t>-2.5%</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1">
                          <a:solidFill>
                            <a:srgbClr val="006455"/>
                          </a:solidFill>
                          <a:latin typeface="Montserrat"/>
                        </a:defRPr>
                      </a:pPr>
                      <a:r>
                        <a:t>+25.0%</a:t>
                      </a:r>
                    </a:p>
                  </a:txBody>
                  <a:tcPr>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defRPr sz="900" b="1">
                          <a:solidFill>
                            <a:srgbClr val="006455"/>
                          </a:solidFill>
                          <a:latin typeface="Montserrat"/>
                        </a:defRPr>
                      </a:pPr>
                      <a:r>
                        <a:rPr dirty="0"/>
                        <a:t>+0.3%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123111"/>
          </a:xfrm>
          <a:prstGeom prst="rect">
            <a:avLst/>
          </a:prstGeom>
          <a:noFill/>
        </p:spPr>
        <p:txBody>
          <a:bodyPr wrap="square" lIns="0" tIns="0" rIns="0" bIns="0">
            <a:spAutoFit/>
          </a:bodyPr>
          <a:lstStyle/>
          <a:p>
            <a:pPr algn="l">
              <a:defRPr sz="800">
                <a:solidFill>
                  <a:srgbClr val="FFFFFF"/>
                </a:solidFill>
                <a:latin typeface="Montserrat"/>
              </a:defRPr>
            </a:pPr>
            <a:r>
              <a:rPr dirty="0"/>
              <a:t>Fuente: Dirección de </a:t>
            </a:r>
            <a:r>
              <a:rPr dirty="0" err="1"/>
              <a:t>Incorporación</a:t>
            </a:r>
            <a:r>
              <a:rPr dirty="0"/>
              <a:t> y </a:t>
            </a:r>
            <a:r>
              <a:rPr dirty="0" err="1"/>
              <a:t>Recaudación</a:t>
            </a:r>
            <a:r>
              <a:rPr lang="es-MX" dirty="0"/>
              <a:t>, mayo 2026</a:t>
            </a:r>
            <a:r>
              <a:rPr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CD876A1-E3AF-88C2-A863-C9B44AAA3503}"/>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$625.50</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extLst>
              <p:ext uri="{D42A27DB-BD31-4B8C-83A1-F6EECF244321}">
                <p14:modId xmlns:p14="http://schemas.microsoft.com/office/powerpoint/2010/main" val="4061381366"/>
              </p:ext>
            </p:extLst>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noFill/>
                  </a:tcPr>
                </a:tc>
                <a:tc>
                  <a:txBody>
                    <a:bodyPr/>
                    <a:lstStyle/>
                    <a:p>
                      <a:pPr algn="ctr">
                        <a:defRPr sz="1100" b="1">
                          <a:solidFill>
                            <a:srgbClr val="FFFFFF"/>
                          </a:solidFill>
                          <a:latin typeface="Montserrat"/>
                        </a:defRPr>
                      </a:pPr>
                      <a:r>
                        <a:t>2018 diciembre</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2026 Mayo</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Variación %</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Nacional 2026</a:t>
                      </a:r>
                    </a:p>
                  </a:txBody>
                  <a:tcPr anchor="ctr">
                    <a:lnT w="12700" cap="flat" cmpd="sng" algn="ctr">
                      <a:solidFill>
                        <a:schemeClr val="bg1">
                          <a:lumMod val="85000"/>
                        </a:schemeClr>
                      </a:solidFill>
                      <a:prstDash val="solid"/>
                      <a:round/>
                      <a:headEnd type="none" w="med" len="med"/>
                      <a:tailEnd type="none" w="med" len="med"/>
                    </a:lnT>
                    <a:solidFill>
                      <a:srgbClr val="A42145"/>
                    </a:solidFill>
                  </a:tcPr>
                </a:tc>
                <a:tc>
                  <a:txBody>
                    <a:bodyPr/>
                    <a:lstStyle/>
                    <a:p>
                      <a:pPr algn="ctr">
                        <a:defRPr sz="1100" b="1">
                          <a:solidFill>
                            <a:srgbClr val="FFFFFF"/>
                          </a:solidFill>
                          <a:latin typeface="Montserrat"/>
                        </a:defRPr>
                      </a:pPr>
                      <a:r>
                        <a:t>Salario Mensual</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A42145"/>
                    </a:solidFill>
                  </a:tcPr>
                </a:tc>
                <a:tc>
                  <a:txBody>
                    <a:bodyPr/>
                    <a:lstStyle/>
                    <a:p>
                      <a:pPr algn="ctr">
                        <a:defRPr sz="1100">
                          <a:latin typeface="Montserrat"/>
                        </a:defRPr>
                      </a:pPr>
                      <a:r>
                        <a:t>$350.25</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latin typeface="Montserrat"/>
                        </a:defRPr>
                      </a:pPr>
                      <a:r>
                        <a:rPr dirty="0"/>
                        <a:t>$625.50</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a:latin typeface="Montserrat"/>
                        </a:defRPr>
                      </a:pPr>
                      <a:r>
                        <a:t>26.3%</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latin typeface="Montserrat"/>
                        </a:defRPr>
                      </a:pPr>
                      <a:r>
                        <a:t>$671.25</a:t>
                      </a:r>
                    </a:p>
                  </a:txBody>
                  <a:tcPr anchor="ctr">
                    <a:lnB w="12700" cap="flat" cmpd="sng" algn="ctr">
                      <a:solidFill>
                        <a:schemeClr val="bg1">
                          <a:lumMod val="85000"/>
                        </a:schemeClr>
                      </a:solidFill>
                      <a:prstDash val="solid"/>
                      <a:round/>
                      <a:headEnd type="none" w="med" len="med"/>
                      <a:tailEnd type="none" w="med" len="med"/>
                    </a:lnB>
                    <a:solidFill>
                      <a:srgbClr val="EEEEEE"/>
                    </a:solidFill>
                  </a:tcPr>
                </a:tc>
                <a:tc>
                  <a:txBody>
                    <a:bodyPr/>
                    <a:lstStyle/>
                    <a:p>
                      <a:pPr algn="ctr">
                        <a:defRPr sz="1100" b="1">
                          <a:solidFill>
                            <a:srgbClr val="9F2241"/>
                          </a:solidFill>
                          <a:latin typeface="Montserrat"/>
                        </a:defRPr>
                      </a:pPr>
                      <a:r>
                        <a:rPr dirty="0"/>
                        <a:t>$18,765.0</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1662706666"/>
              </p:ext>
            </p:extLst>
          </p:nvPr>
        </p:nvGraphicFramePr>
        <p:xfrm>
          <a:off x="320400" y="6649200"/>
          <a:ext cx="7038000" cy="264708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rPr lang="es-MX" dirty="0"/>
                        <a:t>Principales Deudores</a:t>
                      </a:r>
                    </a:p>
                  </a:txBody>
                  <a:tcP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solidFill>
                      <a:srgbClr val="006455"/>
                    </a:solidFill>
                  </a:tcPr>
                </a:tc>
                <a:tc>
                  <a:txBody>
                    <a:bodyPr/>
                    <a:lstStyle/>
                    <a:p>
                      <a:pPr algn="ctr">
                        <a:defRPr sz="1100" b="1">
                          <a:solidFill>
                            <a:srgbClr val="FFFFFF"/>
                          </a:solidFill>
                          <a:latin typeface="Montserrat"/>
                        </a:defRPr>
                      </a:pPr>
                      <a:r>
                        <a:t>Deudores</a:t>
                      </a:r>
                    </a:p>
                  </a:txBody>
                  <a:tcPr>
                    <a:solidFill>
                      <a:srgbClr val="006455"/>
                    </a:solidFill>
                  </a:tcPr>
                </a:tc>
                <a:tc>
                  <a:txBody>
                    <a:bodyPr/>
                    <a:lstStyle/>
                    <a:p>
                      <a:pPr algn="ctr">
                        <a:defRPr sz="1100" b="1">
                          <a:solidFill>
                            <a:srgbClr val="FFFFFF"/>
                          </a:solidFill>
                          <a:latin typeface="Montserrat"/>
                        </a:defRPr>
                      </a:pPr>
                      <a:r>
                        <a:t>Monto de deuda (mdp)</a:t>
                      </a:r>
                    </a:p>
                  </a:txBody>
                  <a:tcP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a:t>
                      </a:r>
                      <a:r>
                        <a:rPr dirty="0" err="1"/>
                        <a:t>público</a:t>
                      </a:r>
                      <a:r>
                        <a:rPr lang="es-MX" dirty="0"/>
                        <a:t>s</a:t>
                      </a:r>
                      <a:endParaRPr dirty="0"/>
                    </a:p>
                  </a:txBody>
                  <a:tcPr anchor="ctr">
                    <a:solidFill>
                      <a:srgbClr val="006455"/>
                    </a:solidFill>
                  </a:tcPr>
                </a:tc>
                <a:tc>
                  <a:txBody>
                    <a:bodyPr/>
                    <a:lstStyle/>
                    <a:p>
                      <a:pPr algn="ctr">
                        <a:defRPr sz="900">
                          <a:latin typeface="Montserrat"/>
                        </a:defRPr>
                      </a:pPr>
                      <a:r>
                        <a:rPr dirty="0"/>
                        <a:t>Comisión Municipal de Agua y </a:t>
                      </a:r>
                      <a:r>
                        <a:rPr dirty="0" err="1"/>
                        <a:t>Saneamiento</a:t>
                      </a:r>
                      <a:r>
                        <a:rPr dirty="0"/>
                        <a:t> de Coatzacoalcos</a:t>
                      </a:r>
                    </a:p>
                  </a:txBody>
                  <a:tcPr>
                    <a:solidFill>
                      <a:srgbClr val="FFFFFF"/>
                    </a:solidFill>
                  </a:tcPr>
                </a:tc>
                <a:tc>
                  <a:txBody>
                    <a:bodyPr/>
                    <a:lstStyle/>
                    <a:p>
                      <a:pPr algn="ctr">
                        <a:defRPr sz="900">
                          <a:latin typeface="Montserrat"/>
                        </a:defRPr>
                      </a:pPr>
                      <a:r>
                        <a:t>$29.94</a:t>
                      </a:r>
                    </a:p>
                  </a:txBody>
                  <a:tcP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Municipio de Tuxpan</a:t>
                      </a:r>
                    </a:p>
                  </a:txBody>
                  <a:tcPr>
                    <a:solidFill>
                      <a:srgbClr val="EEEEEE"/>
                    </a:solidFill>
                  </a:tcPr>
                </a:tc>
                <a:tc>
                  <a:txBody>
                    <a:bodyPr/>
                    <a:lstStyle/>
                    <a:p>
                      <a:pPr algn="ctr">
                        <a:defRPr sz="900">
                          <a:latin typeface="Montserrat"/>
                        </a:defRPr>
                      </a:pPr>
                      <a:r>
                        <a:t>$25.61</a:t>
                      </a:r>
                    </a:p>
                  </a:txBody>
                  <a:tcP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Municipio de Lerdo de Tejada</a:t>
                      </a:r>
                    </a:p>
                  </a:txBody>
                  <a:tcPr>
                    <a:solidFill>
                      <a:srgbClr val="FFFFFF"/>
                    </a:solidFill>
                  </a:tcPr>
                </a:tc>
                <a:tc>
                  <a:txBody>
                    <a:bodyPr/>
                    <a:lstStyle/>
                    <a:p>
                      <a:pPr algn="ctr">
                        <a:defRPr sz="900">
                          <a:latin typeface="Montserrat"/>
                        </a:defRPr>
                      </a:pPr>
                      <a:r>
                        <a:t>$11.75</a:t>
                      </a:r>
                    </a:p>
                  </a:txBody>
                  <a:tcP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privado</a:t>
                      </a:r>
                      <a:r>
                        <a:rPr lang="es-MX" dirty="0"/>
                        <a:t>s</a:t>
                      </a:r>
                      <a:endParaRPr dirty="0"/>
                    </a:p>
                  </a:txBody>
                  <a:tcPr anchor="ctr">
                    <a:solidFill>
                      <a:srgbClr val="006455"/>
                    </a:solidFill>
                  </a:tcPr>
                </a:tc>
                <a:tc>
                  <a:txBody>
                    <a:bodyPr/>
                    <a:lstStyle/>
                    <a:p>
                      <a:pPr algn="ctr">
                        <a:defRPr sz="900">
                          <a:latin typeface="Montserrat"/>
                        </a:defRPr>
                      </a:pPr>
                      <a:r>
                        <a:t>Unión Local de Productores de Caña de Azúcar C.N.C. del Ingenio Cuatotolapam AC</a:t>
                      </a:r>
                    </a:p>
                  </a:txBody>
                  <a:tcPr>
                    <a:solidFill>
                      <a:srgbClr val="EEEEEE"/>
                    </a:solidFill>
                  </a:tcPr>
                </a:tc>
                <a:tc>
                  <a:txBody>
                    <a:bodyPr/>
                    <a:lstStyle/>
                    <a:p>
                      <a:pPr algn="ctr">
                        <a:defRPr sz="900">
                          <a:latin typeface="Montserrat"/>
                        </a:defRPr>
                      </a:pPr>
                      <a:r>
                        <a:t>$58.41</a:t>
                      </a:r>
                    </a:p>
                  </a:txBody>
                  <a:tcP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Expectras SA de CV</a:t>
                      </a:r>
                    </a:p>
                  </a:txBody>
                  <a:tcPr>
                    <a:solidFill>
                      <a:srgbClr val="FFFFFF"/>
                    </a:solidFill>
                  </a:tcPr>
                </a:tc>
                <a:tc>
                  <a:txBody>
                    <a:bodyPr/>
                    <a:lstStyle/>
                    <a:p>
                      <a:pPr algn="ctr">
                        <a:defRPr sz="900">
                          <a:latin typeface="Montserrat"/>
                        </a:defRPr>
                      </a:pPr>
                      <a:r>
                        <a:t>$30.91</a:t>
                      </a:r>
                    </a:p>
                  </a:txBody>
                  <a:tcP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t>Asociacion de Cañeros Propietarios R Ej y Com del Ing la Margarita A.C</a:t>
                      </a:r>
                    </a:p>
                  </a:txBody>
                  <a:tcPr>
                    <a:solidFill>
                      <a:srgbClr val="EEEEEE"/>
                    </a:solidFill>
                  </a:tcPr>
                </a:tc>
                <a:tc>
                  <a:txBody>
                    <a:bodyPr/>
                    <a:lstStyle/>
                    <a:p>
                      <a:pPr algn="ctr">
                        <a:defRPr sz="900">
                          <a:latin typeface="Montserrat"/>
                        </a:defRPr>
                      </a:pPr>
                      <a:r>
                        <a:rPr dirty="0"/>
                        <a:t>$27.24</a:t>
                      </a:r>
                    </a:p>
                  </a:txBody>
                  <a:tcPr>
                    <a:solidFill>
                      <a:srgbClr val="EEEEEE"/>
                    </a:solidFill>
                  </a:tcPr>
                </a:tc>
                <a:extLst>
                  <a:ext uri="{0D108BD9-81ED-4DB2-BD59-A6C34878D82A}">
                    <a16:rowId xmlns:a16="http://schemas.microsoft.com/office/drawing/2014/main" val="10007"/>
                  </a:ext>
                </a:extLst>
              </a:tr>
            </a:tbl>
          </a:graphicData>
        </a:graphic>
      </p:graphicFrame>
      <p:sp>
        <p:nvSpPr>
          <p:cNvPr id="516" name="TextBox 515"/>
          <p:cNvSpPr txBox="1"/>
          <p:nvPr/>
        </p:nvSpPr>
        <p:spPr>
          <a:xfrm>
            <a:off x="251999" y="9621700"/>
            <a:ext cx="4316400" cy="244800"/>
          </a:xfrm>
          <a:prstGeom prst="rect">
            <a:avLst/>
          </a:prstGeom>
          <a:noFill/>
        </p:spPr>
        <p:txBody>
          <a:bodyPr wrap="square" lIns="0" tIns="0" rIns="0" bIns="0">
            <a:spAutoFit/>
          </a:bodyPr>
          <a:lstStyle/>
          <a:p>
            <a:pPr algn="l">
              <a:defRPr sz="800">
                <a:solidFill>
                  <a:srgbClr val="FFFFFF"/>
                </a:solidFill>
                <a:latin typeface="Montserrat"/>
              </a:defRPr>
            </a:pPr>
            <a:r>
              <a:rPr dirty="0"/>
              <a:t>Fuente: Dirección de </a:t>
            </a:r>
            <a:r>
              <a:rPr dirty="0" err="1"/>
              <a:t>Incorporación</a:t>
            </a:r>
            <a:r>
              <a:rPr dirty="0"/>
              <a:t> y </a:t>
            </a:r>
            <a:r>
              <a:rPr dirty="0" err="1"/>
              <a:t>Recaudación</a:t>
            </a:r>
            <a:r>
              <a:rPr dirty="0"/>
              <a:t>. Corte de información mayo 2026.</a:t>
            </a:r>
          </a:p>
        </p:txBody>
      </p:sp>
      <p:sp>
        <p:nvSpPr>
          <p:cNvPr id="4" name="TextBox 514">
            <a:extLst>
              <a:ext uri="{FF2B5EF4-FFF2-40B4-BE49-F238E27FC236}">
                <a16:creationId xmlns:a16="http://schemas.microsoft.com/office/drawing/2014/main" id="{39914867-E9AA-E93C-DE4C-16C3E1DAA64C}"/>
              </a:ext>
            </a:extLst>
          </p:cNvPr>
          <p:cNvSpPr txBox="1"/>
          <p:nvPr/>
        </p:nvSpPr>
        <p:spPr>
          <a:xfrm>
            <a:off x="394200" y="2331900"/>
            <a:ext cx="4316400" cy="244800"/>
          </a:xfrm>
          <a:prstGeom prst="rect">
            <a:avLst/>
          </a:prstGeom>
          <a:noFill/>
        </p:spPr>
        <p:txBody>
          <a:bodyPr wrap="square" lIns="0" tIns="0" rIns="0" bIns="0">
            <a:spAutoFit/>
          </a:bodyPr>
          <a:lstStyle/>
          <a:p>
            <a:pPr>
              <a:defRPr sz="800">
                <a:solidFill>
                  <a:srgbClr val="FFFFFF"/>
                </a:solidFill>
                <a:latin typeface="Montserrat"/>
              </a:defRPr>
            </a:pPr>
            <a:r>
              <a:rPr lang="es-MX" dirty="0">
                <a:solidFill>
                  <a:schemeClr val="tx1"/>
                </a:solidFill>
              </a:rPr>
              <a:t> Nota: se utilizó como deflactor del salario el cociente del INPC entre diciembre 2018 (103.02) y  preliminar de mayo  2026 (145.714) de 0.7069998.</a:t>
            </a:r>
            <a:endParaRPr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extLst>
              <p:ext uri="{D42A27DB-BD31-4B8C-83A1-F6EECF244321}">
                <p14:modId xmlns:p14="http://schemas.microsoft.com/office/powerpoint/2010/main" val="3285338382"/>
              </p:ext>
            </p:extLst>
          </p:nvPr>
        </p:nvGraphicFramePr>
        <p:xfrm>
          <a:off x="0" y="2878938"/>
          <a:ext cx="7772400" cy="347723"/>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47723">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3. Productividad</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extLst>
              <p:ext uri="{D42A27DB-BD31-4B8C-83A1-F6EECF244321}">
                <p14:modId xmlns:p14="http://schemas.microsoft.com/office/powerpoint/2010/main" val="2826646616"/>
              </p:ext>
            </p:extLst>
          </p:nvPr>
        </p:nvGraphicFramePr>
        <p:xfrm>
          <a:off x="0" y="7670162"/>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5. Organización comunitaria</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VERACRUZ PROGRAMA IMSS-COPLAMAR</a:t>
            </a:r>
          </a:p>
        </p:txBody>
      </p:sp>
      <p:sp>
        <p:nvSpPr>
          <p:cNvPr id="531" name="TextBox 530"/>
          <p:cNvSpPr txBox="1"/>
          <p:nvPr/>
        </p:nvSpPr>
        <p:spPr>
          <a:xfrm>
            <a:off x="309600" y="51192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sp>
        <p:nvSpPr>
          <p:cNvPr id="532" name="TextBox 531"/>
          <p:cNvSpPr txBox="1"/>
          <p:nvPr/>
        </p:nvSpPr>
        <p:spPr>
          <a:xfrm>
            <a:off x="309600" y="96228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464348"/>
        </p:xfrm>
        <a:graphic>
          <a:graphicData uri="http://schemas.openxmlformats.org/drawingml/2006/table">
            <a:tbl>
              <a:tblPr firstRow="1" bandRow="1">
                <a:tableStyleId>{5C22544A-7EE6-4342-B048-85BDC9FD1C3A}</a:tableStyleId>
              </a:tblPr>
              <a:tblGrid>
                <a:gridCol w="25511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tblGrid>
              <a:tr h="177654">
                <a:tc>
                  <a:txBody>
                    <a:bodyPr/>
                    <a:lstStyle/>
                    <a:p>
                      <a:pPr algn="ctr">
                        <a:defRPr sz="1100" b="1">
                          <a:solidFill>
                            <a:srgbClr val="FFFFFF"/>
                          </a:solidFill>
                          <a:latin typeface="Montserrat"/>
                        </a:defRPr>
                      </a:pPr>
                      <a:r>
                        <a:t>Unidades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177654">
                <a:tc>
                  <a:txBody>
                    <a:bodyPr/>
                    <a:lstStyle/>
                    <a:p>
                      <a:pPr algn="l">
                        <a:defRPr sz="1100" b="0">
                          <a:solidFill>
                            <a:srgbClr val="000000"/>
                          </a:solidFill>
                          <a:latin typeface="Montserrat"/>
                        </a:defRPr>
                      </a:pPr>
                      <a:r>
                        <a:t>Hospital Rural</a:t>
                      </a:r>
                    </a:p>
                  </a:txBody>
                  <a:tcPr marL="73152" marR="73152" marT="0" marB="0" anchor="ctr">
                    <a:solidFill>
                      <a:srgbClr val="FFFFFF"/>
                    </a:solidFill>
                  </a:tcPr>
                </a:tc>
                <a:tc>
                  <a:txBody>
                    <a:bodyPr/>
                    <a:lstStyle/>
                    <a:p>
                      <a:pPr algn="ctr">
                        <a:defRPr sz="1000" b="1">
                          <a:solidFill>
                            <a:srgbClr val="006455"/>
                          </a:solidFill>
                          <a:latin typeface="Montserrat"/>
                        </a:defRPr>
                      </a:pPr>
                      <a:r>
                        <a:t>6</a:t>
                      </a:r>
                    </a:p>
                  </a:txBody>
                  <a:tcPr marL="73152" marR="73152" marT="0" marB="0" anchor="ctr">
                    <a:solidFill>
                      <a:srgbClr val="D3E9E7"/>
                    </a:solidFill>
                  </a:tcPr>
                </a:tc>
                <a:extLst>
                  <a:ext uri="{0D108BD9-81ED-4DB2-BD59-A6C34878D82A}">
                    <a16:rowId xmlns:a16="http://schemas.microsoft.com/office/drawing/2014/main" val="10001"/>
                  </a:ext>
                </a:extLst>
              </a:tr>
              <a:tr h="177654">
                <a:tc>
                  <a:txBody>
                    <a:bodyPr/>
                    <a:lstStyle/>
                    <a:p>
                      <a:pPr algn="l">
                        <a:defRPr sz="1100" b="0">
                          <a:solidFill>
                            <a:srgbClr val="000000"/>
                          </a:solidFill>
                          <a:latin typeface="Montserrat"/>
                        </a:defRPr>
                      </a:pPr>
                      <a:r>
                        <a:t>Unidad Médica Rural</a:t>
                      </a:r>
                    </a:p>
                  </a:txBody>
                  <a:tcPr marL="73152" marR="73152" marT="0" marB="0" anchor="ctr">
                    <a:solidFill>
                      <a:srgbClr val="EFEFEF"/>
                    </a:solidFill>
                  </a:tcPr>
                </a:tc>
                <a:tc>
                  <a:txBody>
                    <a:bodyPr/>
                    <a:lstStyle/>
                    <a:p>
                      <a:pPr algn="ctr">
                        <a:defRPr sz="1000" b="1">
                          <a:solidFill>
                            <a:srgbClr val="006455"/>
                          </a:solidFill>
                          <a:latin typeface="Montserrat"/>
                        </a:defRPr>
                      </a:pPr>
                      <a:r>
                        <a:t>520</a:t>
                      </a:r>
                    </a:p>
                  </a:txBody>
                  <a:tcPr marL="73152" marR="73152" marT="0" marB="0" anchor="ctr">
                    <a:solidFill>
                      <a:srgbClr val="D3E9E7"/>
                    </a:solidFill>
                  </a:tcPr>
                </a:tc>
                <a:extLst>
                  <a:ext uri="{0D108BD9-81ED-4DB2-BD59-A6C34878D82A}">
                    <a16:rowId xmlns:a16="http://schemas.microsoft.com/office/drawing/2014/main" val="10002"/>
                  </a:ext>
                </a:extLst>
              </a:tr>
              <a:tr h="177654">
                <a:tc>
                  <a:txBody>
                    <a:bodyPr/>
                    <a:lstStyle/>
                    <a:p>
                      <a:pPr algn="l">
                        <a:defRPr sz="1100" b="0">
                          <a:solidFill>
                            <a:srgbClr val="000000"/>
                          </a:solidFill>
                          <a:latin typeface="Montserrat"/>
                        </a:defRPr>
                      </a:pPr>
                      <a:r>
                        <a:t>Brigada Salud</a:t>
                      </a:r>
                    </a:p>
                  </a:txBody>
                  <a:tcPr marL="73152" marR="73152" marT="0" marB="0" anchor="ctr">
                    <a:solidFill>
                      <a:srgbClr val="FFFFFF"/>
                    </a:solidFill>
                  </a:tcPr>
                </a:tc>
                <a:tc>
                  <a:txBody>
                    <a:bodyPr/>
                    <a:lstStyle/>
                    <a:p>
                      <a:pPr algn="ctr">
                        <a:defRPr sz="1000" b="1">
                          <a:solidFill>
                            <a:srgbClr val="006455"/>
                          </a:solidFill>
                          <a:latin typeface="Montserrat"/>
                        </a:defRPr>
                      </a:pPr>
                      <a:r>
                        <a:t>33</a:t>
                      </a:r>
                    </a:p>
                  </a:txBody>
                  <a:tcPr marL="73152" marR="73152" marT="0" marB="0" anchor="ctr">
                    <a:solidFill>
                      <a:srgbClr val="D3E9E7"/>
                    </a:solidFill>
                  </a:tcPr>
                </a:tc>
                <a:extLst>
                  <a:ext uri="{0D108BD9-81ED-4DB2-BD59-A6C34878D82A}">
                    <a16:rowId xmlns:a16="http://schemas.microsoft.com/office/drawing/2014/main" val="10003"/>
                  </a:ext>
                </a:extLst>
              </a:tr>
              <a:tr h="177654">
                <a:tc>
                  <a:txBody>
                    <a:bodyPr/>
                    <a:lstStyle/>
                    <a:p>
                      <a:pPr algn="l">
                        <a:defRPr sz="1100" b="0">
                          <a:solidFill>
                            <a:srgbClr val="000000"/>
                          </a:solidFill>
                          <a:latin typeface="Montserrat"/>
                        </a:defRPr>
                      </a:pPr>
                      <a:r>
                        <a:t>Unidad Médica Móvil</a:t>
                      </a:r>
                    </a:p>
                  </a:txBody>
                  <a:tcPr marL="73152" marR="73152" marT="0" marB="0" anchor="ctr">
                    <a:solidFill>
                      <a:srgbClr val="EFEFEF"/>
                    </a:solidFill>
                  </a:tcPr>
                </a:tc>
                <a:tc>
                  <a:txBody>
                    <a:bodyPr/>
                    <a:lstStyle/>
                    <a:p>
                      <a:pPr algn="ctr">
                        <a:defRPr sz="1000" b="1">
                          <a:solidFill>
                            <a:srgbClr val="006455"/>
                          </a:solidFill>
                          <a:latin typeface="Montserrat"/>
                        </a:defRPr>
                      </a:pPr>
                      <a:r>
                        <a:t>15</a:t>
                      </a:r>
                    </a:p>
                  </a:txBody>
                  <a:tcPr marL="73152" marR="73152" marT="0" marB="0" anchor="ctr">
                    <a:solidFill>
                      <a:srgbClr val="D3E9E7"/>
                    </a:solidFill>
                  </a:tcPr>
                </a:tc>
                <a:extLst>
                  <a:ext uri="{0D108BD9-81ED-4DB2-BD59-A6C34878D82A}">
                    <a16:rowId xmlns:a16="http://schemas.microsoft.com/office/drawing/2014/main" val="10004"/>
                  </a:ext>
                </a:extLst>
              </a:tr>
              <a:tr h="177654">
                <a:tc>
                  <a:txBody>
                    <a:bodyPr/>
                    <a:lstStyle/>
                    <a:p>
                      <a:pPr algn="l">
                        <a:defRPr sz="1100" b="0">
                          <a:solidFill>
                            <a:srgbClr val="000000"/>
                          </a:solidFill>
                          <a:latin typeface="Montserrat"/>
                        </a:defRPr>
                      </a:pPr>
                      <a:r>
                        <a:t>Centros de Atención Rural Obstétrica</a:t>
                      </a:r>
                    </a:p>
                  </a:txBody>
                  <a:tcPr marL="73152" marR="73152" marT="0" marB="0" anchor="ctr">
                    <a:solidFill>
                      <a:srgbClr val="FFFFFF"/>
                    </a:solidFill>
                  </a:tcPr>
                </a:tc>
                <a:tc>
                  <a:txBody>
                    <a:bodyPr/>
                    <a:lstStyle/>
                    <a:p>
                      <a:pPr algn="ctr">
                        <a:defRPr sz="1000" b="1">
                          <a:solidFill>
                            <a:srgbClr val="006455"/>
                          </a:solidFill>
                          <a:latin typeface="Montserrat"/>
                        </a:defRPr>
                      </a:pPr>
                      <a:r>
                        <a:t>7</a:t>
                      </a:r>
                    </a:p>
                  </a:txBody>
                  <a:tcPr marL="73152" marR="73152" marT="0" marB="0" anchor="ctr">
                    <a:solidFill>
                      <a:srgbClr val="D3E9E7"/>
                    </a:solidFill>
                  </a:tcPr>
                </a:tc>
                <a:extLst>
                  <a:ext uri="{0D108BD9-81ED-4DB2-BD59-A6C34878D82A}">
                    <a16:rowId xmlns:a16="http://schemas.microsoft.com/office/drawing/2014/main" val="10005"/>
                  </a:ext>
                </a:extLst>
              </a:tr>
              <a:tr h="177660">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581</a:t>
                      </a:r>
                    </a:p>
                  </a:txBody>
                  <a:tcPr marL="73152" marR="73152" marT="0" marB="0"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534" name="Table 533"/>
          <p:cNvGraphicFramePr>
            <a:graphicFrameLocks noGrp="1"/>
          </p:cNvGraphicFramePr>
          <p:nvPr>
            <p:extLst>
              <p:ext uri="{D42A27DB-BD31-4B8C-83A1-F6EECF244321}">
                <p14:modId xmlns:p14="http://schemas.microsoft.com/office/powerpoint/2010/main" val="733167447"/>
              </p:ext>
            </p:extLst>
          </p:nvPr>
        </p:nvGraphicFramePr>
        <p:xfrm>
          <a:off x="307008" y="3337767"/>
          <a:ext cx="4965192" cy="1744472"/>
        </p:xfrm>
        <a:graphic>
          <a:graphicData uri="http://schemas.openxmlformats.org/drawingml/2006/table">
            <a:tbl>
              <a:tblPr firstRow="1" bandRow="1">
                <a:tableStyleId>{5C22544A-7EE6-4342-B048-85BDC9FD1C3A}</a:tableStyleId>
              </a:tblPr>
              <a:tblGrid>
                <a:gridCol w="1655064">
                  <a:extLst>
                    <a:ext uri="{9D8B030D-6E8A-4147-A177-3AD203B41FA5}">
                      <a16:colId xmlns:a16="http://schemas.microsoft.com/office/drawing/2014/main" val="20000"/>
                    </a:ext>
                  </a:extLst>
                </a:gridCol>
                <a:gridCol w="1655064">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187960">
                <a:tc>
                  <a:txBody>
                    <a:bodyPr/>
                    <a:lstStyle/>
                    <a:p>
                      <a:pPr algn="ctr">
                        <a:defRPr sz="1100" b="1">
                          <a:solidFill>
                            <a:srgbClr val="FFFFFF"/>
                          </a:solidFill>
                          <a:latin typeface="Montserrat"/>
                        </a:defRPr>
                      </a:pPr>
                      <a:r>
                        <a:t>Concepto</a:t>
                      </a:r>
                    </a:p>
                  </a:txBody>
                  <a:tcPr marL="36576" marR="36576" marT="36576" marB="36576">
                    <a:solidFill>
                      <a:srgbClr val="006455"/>
                    </a:solidFill>
                  </a:tcPr>
                </a:tc>
                <a:tc>
                  <a:txBody>
                    <a:bodyPr/>
                    <a:lstStyle/>
                    <a:p>
                      <a:pPr algn="ctr">
                        <a:defRPr sz="1100" b="1">
                          <a:solidFill>
                            <a:srgbClr val="FFFFFF"/>
                          </a:solidFill>
                          <a:latin typeface="Montserrat"/>
                        </a:defRPr>
                      </a:pPr>
                      <a:r>
                        <a:t>Productividad</a:t>
                      </a:r>
                    </a:p>
                  </a:txBody>
                  <a:tcPr marL="36576" marR="36576" marT="36576" marB="36576">
                    <a:solidFill>
                      <a:srgbClr val="006455"/>
                    </a:solidFill>
                  </a:tcPr>
                </a:tc>
                <a:tc>
                  <a:txBody>
                    <a:bodyPr/>
                    <a:lstStyle/>
                    <a:p>
                      <a:pPr algn="ctr">
                        <a:defRPr sz="1100" b="1">
                          <a:solidFill>
                            <a:srgbClr val="FFFFFF"/>
                          </a:solidFill>
                          <a:latin typeface="Montserrat"/>
                        </a:defRPr>
                      </a:pPr>
                      <a:r>
                        <a:t>Día Típico</a:t>
                      </a:r>
                    </a:p>
                  </a:txBody>
                  <a:tcPr marL="36576" marR="36576" marT="36576" marB="36576">
                    <a:solidFill>
                      <a:srgbClr val="006455"/>
                    </a:solidFill>
                  </a:tcPr>
                </a:tc>
                <a:extLst>
                  <a:ext uri="{0D108BD9-81ED-4DB2-BD59-A6C34878D82A}">
                    <a16:rowId xmlns:a16="http://schemas.microsoft.com/office/drawing/2014/main" val="10000"/>
                  </a:ext>
                </a:extLst>
              </a:tr>
              <a:tr h="187960">
                <a:tc>
                  <a:txBody>
                    <a:bodyPr/>
                    <a:lstStyle/>
                    <a:p>
                      <a:pPr algn="l">
                        <a:defRPr sz="1100" b="1">
                          <a:solidFill>
                            <a:srgbClr val="006455"/>
                          </a:solidFill>
                          <a:latin typeface="Montserrat"/>
                        </a:defRPr>
                      </a:pPr>
                      <a:r>
                        <a:t>Total consultas</a:t>
                      </a:r>
                    </a:p>
                  </a:txBody>
                  <a:tcPr marL="73152" marR="73152" marT="0" marB="0" anchor="ctr">
                    <a:solidFill>
                      <a:srgbClr val="D3E9E7"/>
                    </a:solidFill>
                  </a:tcPr>
                </a:tc>
                <a:tc>
                  <a:txBody>
                    <a:bodyPr/>
                    <a:lstStyle/>
                    <a:p>
                      <a:pPr algn="ctr">
                        <a:defRPr sz="1000" b="1">
                          <a:solidFill>
                            <a:srgbClr val="006455"/>
                          </a:solidFill>
                          <a:latin typeface="Montserrat"/>
                        </a:defRPr>
                      </a:pPr>
                      <a:r>
                        <a:t>1,509,670</a:t>
                      </a:r>
                    </a:p>
                  </a:txBody>
                  <a:tcPr marL="73152" marR="73152" marT="0" marB="0" anchor="ctr">
                    <a:solidFill>
                      <a:srgbClr val="D3E9E7"/>
                    </a:solidFill>
                  </a:tcPr>
                </a:tc>
                <a:tc>
                  <a:txBody>
                    <a:bodyPr/>
                    <a:lstStyle/>
                    <a:p>
                      <a:pPr algn="ctr">
                        <a:defRPr sz="1000" b="1">
                          <a:solidFill>
                            <a:srgbClr val="006455"/>
                          </a:solidFill>
                          <a:latin typeface="Montserrat"/>
                        </a:defRPr>
                      </a:pPr>
                      <a:r>
                        <a:t>5,752</a:t>
                      </a:r>
                    </a:p>
                  </a:txBody>
                  <a:tcPr marL="73152" marR="73152" marT="0" marB="0" anchor="ctr">
                    <a:solidFill>
                      <a:srgbClr val="D3E9E7"/>
                    </a:solidFill>
                  </a:tcPr>
                </a:tc>
                <a:extLst>
                  <a:ext uri="{0D108BD9-81ED-4DB2-BD59-A6C34878D82A}">
                    <a16:rowId xmlns:a16="http://schemas.microsoft.com/office/drawing/2014/main" val="10001"/>
                  </a:ext>
                </a:extLst>
              </a:tr>
              <a:tr h="187960">
                <a:tc>
                  <a:txBody>
                    <a:bodyPr/>
                    <a:lstStyle/>
                    <a:p>
                      <a:pPr algn="ctr">
                        <a:defRPr sz="1100" b="0">
                          <a:solidFill>
                            <a:srgbClr val="000000"/>
                          </a:solidFill>
                          <a:latin typeface="Montserrat"/>
                        </a:defRPr>
                      </a:pPr>
                      <a:r>
                        <a:t>Familiar</a:t>
                      </a:r>
                    </a:p>
                  </a:txBody>
                  <a:tcPr marL="73152" marR="73152" marT="0" marB="0" anchor="ctr">
                    <a:solidFill>
                      <a:srgbClr val="FFFFFF"/>
                    </a:solidFill>
                  </a:tcPr>
                </a:tc>
                <a:tc>
                  <a:txBody>
                    <a:bodyPr/>
                    <a:lstStyle/>
                    <a:p>
                      <a:pPr algn="ctr">
                        <a:defRPr sz="1000" b="0">
                          <a:solidFill>
                            <a:srgbClr val="000000"/>
                          </a:solidFill>
                          <a:latin typeface="Montserrat"/>
                        </a:defRPr>
                      </a:pPr>
                      <a:r>
                        <a:t>1,431,763</a:t>
                      </a:r>
                    </a:p>
                  </a:txBody>
                  <a:tcPr marL="73152" marR="73152" marT="0" marB="0" anchor="ctr">
                    <a:solidFill>
                      <a:srgbClr val="FFFFFF"/>
                    </a:solidFill>
                  </a:tcPr>
                </a:tc>
                <a:tc>
                  <a:txBody>
                    <a:bodyPr/>
                    <a:lstStyle/>
                    <a:p>
                      <a:pPr algn="ctr">
                        <a:defRPr sz="1000" b="0">
                          <a:solidFill>
                            <a:srgbClr val="000000"/>
                          </a:solidFill>
                          <a:latin typeface="Montserrat"/>
                        </a:defRPr>
                      </a:pPr>
                      <a:r>
                        <a:t>5,486</a:t>
                      </a:r>
                    </a:p>
                  </a:txBody>
                  <a:tcPr marL="73152" marR="73152" marT="0" marB="0" anchor="ctr">
                    <a:solidFill>
                      <a:srgbClr val="FFFFFF"/>
                    </a:solidFill>
                  </a:tcPr>
                </a:tc>
                <a:extLst>
                  <a:ext uri="{0D108BD9-81ED-4DB2-BD59-A6C34878D82A}">
                    <a16:rowId xmlns:a16="http://schemas.microsoft.com/office/drawing/2014/main" val="10002"/>
                  </a:ext>
                </a:extLst>
              </a:tr>
              <a:tr h="187960">
                <a:tc>
                  <a:txBody>
                    <a:bodyPr/>
                    <a:lstStyle/>
                    <a:p>
                      <a:pPr algn="ctr">
                        <a:defRPr sz="1100" b="0">
                          <a:solidFill>
                            <a:srgbClr val="000000"/>
                          </a:solidFill>
                          <a:latin typeface="Montserrat"/>
                        </a:defRPr>
                      </a:pPr>
                      <a:r>
                        <a:t>Estomatología</a:t>
                      </a:r>
                    </a:p>
                  </a:txBody>
                  <a:tcPr marL="73152" marR="73152" marT="0" marB="0" anchor="ctr">
                    <a:solidFill>
                      <a:srgbClr val="EFEFEF"/>
                    </a:solidFill>
                  </a:tcPr>
                </a:tc>
                <a:tc>
                  <a:txBody>
                    <a:bodyPr/>
                    <a:lstStyle/>
                    <a:p>
                      <a:pPr algn="ctr">
                        <a:defRPr sz="1000" b="0">
                          <a:solidFill>
                            <a:srgbClr val="000000"/>
                          </a:solidFill>
                          <a:latin typeface="Montserrat"/>
                        </a:defRPr>
                      </a:pPr>
                      <a:r>
                        <a:t>18,372</a:t>
                      </a:r>
                    </a:p>
                  </a:txBody>
                  <a:tcPr marL="73152" marR="73152" marT="0" marB="0" anchor="ctr">
                    <a:solidFill>
                      <a:srgbClr val="EFEFEF"/>
                    </a:solidFill>
                  </a:tcPr>
                </a:tc>
                <a:tc>
                  <a:txBody>
                    <a:bodyPr/>
                    <a:lstStyle/>
                    <a:p>
                      <a:pPr algn="ctr">
                        <a:defRPr sz="1000" b="0">
                          <a:solidFill>
                            <a:srgbClr val="000000"/>
                          </a:solidFill>
                          <a:latin typeface="Montserrat"/>
                        </a:defRPr>
                      </a:pPr>
                      <a:r>
                        <a:t>70</a:t>
                      </a:r>
                    </a:p>
                  </a:txBody>
                  <a:tcPr marL="73152" marR="73152" marT="0" marB="0" anchor="ctr">
                    <a:solidFill>
                      <a:srgbClr val="EFEFEF"/>
                    </a:solidFill>
                  </a:tcPr>
                </a:tc>
                <a:extLst>
                  <a:ext uri="{0D108BD9-81ED-4DB2-BD59-A6C34878D82A}">
                    <a16:rowId xmlns:a16="http://schemas.microsoft.com/office/drawing/2014/main" val="10003"/>
                  </a:ext>
                </a:extLst>
              </a:tr>
              <a:tr h="187960">
                <a:tc>
                  <a:txBody>
                    <a:bodyPr/>
                    <a:lstStyle/>
                    <a:p>
                      <a:pPr algn="ctr">
                        <a:defRPr sz="1100" b="0">
                          <a:solidFill>
                            <a:srgbClr val="000000"/>
                          </a:solidFill>
                          <a:latin typeface="Montserrat"/>
                        </a:defRPr>
                      </a:pPr>
                      <a:r>
                        <a:t>Urgencias</a:t>
                      </a:r>
                    </a:p>
                  </a:txBody>
                  <a:tcPr marL="73152" marR="73152" marT="0" marB="0" anchor="ctr">
                    <a:solidFill>
                      <a:srgbClr val="FFFFFF"/>
                    </a:solidFill>
                  </a:tcPr>
                </a:tc>
                <a:tc>
                  <a:txBody>
                    <a:bodyPr/>
                    <a:lstStyle/>
                    <a:p>
                      <a:pPr algn="ctr">
                        <a:defRPr sz="1000" b="0">
                          <a:solidFill>
                            <a:srgbClr val="000000"/>
                          </a:solidFill>
                          <a:latin typeface="Montserrat"/>
                        </a:defRPr>
                      </a:pPr>
                      <a:r>
                        <a:t>29,716</a:t>
                      </a:r>
                    </a:p>
                  </a:txBody>
                  <a:tcPr marL="73152" marR="73152" marT="0" marB="0" anchor="ctr">
                    <a:solidFill>
                      <a:srgbClr val="FFFFFF"/>
                    </a:solidFill>
                  </a:tcPr>
                </a:tc>
                <a:tc>
                  <a:txBody>
                    <a:bodyPr/>
                    <a:lstStyle/>
                    <a:p>
                      <a:pPr algn="ctr">
                        <a:defRPr sz="1000" b="0">
                          <a:solidFill>
                            <a:srgbClr val="000000"/>
                          </a:solidFill>
                          <a:latin typeface="Montserrat"/>
                        </a:defRPr>
                      </a:pPr>
                      <a:r>
                        <a:t>81</a:t>
                      </a:r>
                    </a:p>
                  </a:txBody>
                  <a:tcPr marL="73152" marR="73152" marT="0" marB="0" anchor="ctr">
                    <a:solidFill>
                      <a:srgbClr val="FFFFFF"/>
                    </a:solidFill>
                  </a:tcPr>
                </a:tc>
                <a:extLst>
                  <a:ext uri="{0D108BD9-81ED-4DB2-BD59-A6C34878D82A}">
                    <a16:rowId xmlns:a16="http://schemas.microsoft.com/office/drawing/2014/main" val="10004"/>
                  </a:ext>
                </a:extLst>
              </a:tr>
              <a:tr h="187960">
                <a:tc>
                  <a:txBody>
                    <a:bodyPr/>
                    <a:lstStyle/>
                    <a:p>
                      <a:pPr algn="ctr">
                        <a:defRPr sz="1100" b="0">
                          <a:solidFill>
                            <a:srgbClr val="000000"/>
                          </a:solidFill>
                          <a:latin typeface="Montserrat"/>
                        </a:defRPr>
                      </a:pPr>
                      <a:r>
                        <a:t>Especialidades</a:t>
                      </a:r>
                    </a:p>
                  </a:txBody>
                  <a:tcPr marL="73152" marR="73152" marT="0" marB="0" anchor="ctr">
                    <a:solidFill>
                      <a:srgbClr val="EFEFEF"/>
                    </a:solidFill>
                  </a:tcPr>
                </a:tc>
                <a:tc>
                  <a:txBody>
                    <a:bodyPr/>
                    <a:lstStyle/>
                    <a:p>
                      <a:pPr algn="ctr">
                        <a:defRPr sz="1000" b="0">
                          <a:solidFill>
                            <a:srgbClr val="000000"/>
                          </a:solidFill>
                          <a:latin typeface="Montserrat"/>
                        </a:defRPr>
                      </a:pPr>
                      <a:r>
                        <a:t>29,819</a:t>
                      </a:r>
                    </a:p>
                  </a:txBody>
                  <a:tcPr marL="73152" marR="73152" marT="0" marB="0" anchor="ctr">
                    <a:solidFill>
                      <a:srgbClr val="EFEFEF"/>
                    </a:solidFill>
                  </a:tcPr>
                </a:tc>
                <a:tc>
                  <a:txBody>
                    <a:bodyPr/>
                    <a:lstStyle/>
                    <a:p>
                      <a:pPr algn="ctr">
                        <a:defRPr sz="1000" b="0">
                          <a:solidFill>
                            <a:srgbClr val="000000"/>
                          </a:solidFill>
                          <a:latin typeface="Montserrat"/>
                        </a:defRPr>
                      </a:pPr>
                      <a:r>
                        <a:t>114</a:t>
                      </a:r>
                    </a:p>
                  </a:txBody>
                  <a:tcPr marL="73152" marR="73152" marT="0" marB="0" anchor="ctr">
                    <a:solidFill>
                      <a:srgbClr val="EFEFEF"/>
                    </a:solidFill>
                  </a:tcPr>
                </a:tc>
                <a:extLst>
                  <a:ext uri="{0D108BD9-81ED-4DB2-BD59-A6C34878D82A}">
                    <a16:rowId xmlns:a16="http://schemas.microsoft.com/office/drawing/2014/main" val="10005"/>
                  </a:ext>
                </a:extLst>
              </a:tr>
              <a:tr h="187960">
                <a:tc>
                  <a:txBody>
                    <a:bodyPr/>
                    <a:lstStyle/>
                    <a:p>
                      <a:pPr algn="l">
                        <a:defRPr sz="1100" b="1">
                          <a:solidFill>
                            <a:srgbClr val="000000"/>
                          </a:solidFill>
                          <a:latin typeface="Montserrat"/>
                        </a:defRPr>
                      </a:pPr>
                      <a:r>
                        <a:t>Cirugías</a:t>
                      </a:r>
                    </a:p>
                  </a:txBody>
                  <a:tcPr marL="73152" marR="73152" marT="0" marB="0" anchor="ctr">
                    <a:solidFill>
                      <a:srgbClr val="FFFFFF"/>
                    </a:solidFill>
                  </a:tcPr>
                </a:tc>
                <a:tc>
                  <a:txBody>
                    <a:bodyPr/>
                    <a:lstStyle/>
                    <a:p>
                      <a:pPr algn="ctr">
                        <a:defRPr sz="1000" b="0">
                          <a:solidFill>
                            <a:srgbClr val="000000"/>
                          </a:solidFill>
                          <a:latin typeface="Montserrat"/>
                        </a:defRPr>
                      </a:pPr>
                      <a:r>
                        <a:t>7,131</a:t>
                      </a:r>
                    </a:p>
                  </a:txBody>
                  <a:tcPr marL="73152" marR="73152" marT="0" marB="0" anchor="ctr">
                    <a:solidFill>
                      <a:srgbClr val="FFFFFF"/>
                    </a:solidFill>
                  </a:tcPr>
                </a:tc>
                <a:tc>
                  <a:txBody>
                    <a:bodyPr/>
                    <a:lstStyle/>
                    <a:p>
                      <a:pPr algn="ctr">
                        <a:defRPr sz="1000" b="0">
                          <a:solidFill>
                            <a:srgbClr val="000000"/>
                          </a:solidFill>
                          <a:latin typeface="Montserrat"/>
                        </a:defRPr>
                      </a:pPr>
                      <a:r>
                        <a:t>20</a:t>
                      </a:r>
                    </a:p>
                  </a:txBody>
                  <a:tcPr marL="73152" marR="73152" marT="0" marB="0" anchor="ctr">
                    <a:solidFill>
                      <a:srgbClr val="FFFFFF"/>
                    </a:solidFill>
                  </a:tcPr>
                </a:tc>
                <a:extLst>
                  <a:ext uri="{0D108BD9-81ED-4DB2-BD59-A6C34878D82A}">
                    <a16:rowId xmlns:a16="http://schemas.microsoft.com/office/drawing/2014/main" val="10006"/>
                  </a:ext>
                </a:extLst>
              </a:tr>
              <a:tr h="187960">
                <a:tc>
                  <a:txBody>
                    <a:bodyPr/>
                    <a:lstStyle/>
                    <a:p>
                      <a:pPr algn="l">
                        <a:defRPr sz="1100" b="1">
                          <a:solidFill>
                            <a:srgbClr val="000000"/>
                          </a:solidFill>
                          <a:latin typeface="Montserrat"/>
                        </a:defRPr>
                      </a:pPr>
                      <a:r>
                        <a:t>Partos</a:t>
                      </a:r>
                    </a:p>
                  </a:txBody>
                  <a:tcPr marL="73152" marR="73152" marT="0" marB="0" anchor="ctr">
                    <a:solidFill>
                      <a:srgbClr val="EFEFEF"/>
                    </a:solidFill>
                  </a:tcPr>
                </a:tc>
                <a:tc>
                  <a:txBody>
                    <a:bodyPr/>
                    <a:lstStyle/>
                    <a:p>
                      <a:pPr algn="ctr">
                        <a:defRPr sz="1000" b="0">
                          <a:solidFill>
                            <a:srgbClr val="000000"/>
                          </a:solidFill>
                          <a:latin typeface="Montserrat"/>
                        </a:defRPr>
                      </a:pPr>
                      <a:r>
                        <a:t>6,017</a:t>
                      </a:r>
                    </a:p>
                  </a:txBody>
                  <a:tcPr marL="73152" marR="73152" marT="0" marB="0" anchor="ctr">
                    <a:solidFill>
                      <a:srgbClr val="EFEFEF"/>
                    </a:solidFill>
                  </a:tcPr>
                </a:tc>
                <a:tc>
                  <a:txBody>
                    <a:bodyPr/>
                    <a:lstStyle/>
                    <a:p>
                      <a:pPr algn="ctr">
                        <a:defRPr sz="1000" b="0">
                          <a:solidFill>
                            <a:srgbClr val="000000"/>
                          </a:solidFill>
                          <a:latin typeface="Montserrat"/>
                        </a:defRPr>
                      </a:pPr>
                      <a:r>
                        <a:t>16</a:t>
                      </a:r>
                    </a:p>
                  </a:txBody>
                  <a:tcPr marL="73152" marR="73152" marT="0" marB="0" anchor="ctr">
                    <a:solidFill>
                      <a:srgbClr val="EFEFEF"/>
                    </a:solidFill>
                  </a:tcPr>
                </a:tc>
                <a:extLst>
                  <a:ext uri="{0D108BD9-81ED-4DB2-BD59-A6C34878D82A}">
                    <a16:rowId xmlns:a16="http://schemas.microsoft.com/office/drawing/2014/main" val="10007"/>
                  </a:ext>
                </a:extLst>
              </a:tr>
              <a:tr h="187960">
                <a:tc>
                  <a:txBody>
                    <a:bodyPr/>
                    <a:lstStyle/>
                    <a:p>
                      <a:pPr algn="l">
                        <a:defRPr sz="1100" b="1">
                          <a:solidFill>
                            <a:srgbClr val="000000"/>
                          </a:solidFill>
                          <a:latin typeface="Montserrat"/>
                        </a:defRPr>
                      </a:pPr>
                      <a:r>
                        <a:t>Egresos Hosp.</a:t>
                      </a:r>
                    </a:p>
                  </a:txBody>
                  <a:tcPr marL="73152" marR="73152" marT="0" marB="0" anchor="ctr">
                    <a:solidFill>
                      <a:srgbClr val="FFFFFF"/>
                    </a:solidFill>
                  </a:tcPr>
                </a:tc>
                <a:tc>
                  <a:txBody>
                    <a:bodyPr/>
                    <a:lstStyle/>
                    <a:p>
                      <a:pPr algn="ctr">
                        <a:defRPr sz="1000" b="0">
                          <a:solidFill>
                            <a:srgbClr val="000000"/>
                          </a:solidFill>
                          <a:latin typeface="Montserrat"/>
                        </a:defRPr>
                      </a:pPr>
                      <a:r>
                        <a:t>14,193</a:t>
                      </a:r>
                    </a:p>
                  </a:txBody>
                  <a:tcPr marL="73152" marR="73152" marT="0" marB="0" anchor="ctr">
                    <a:solidFill>
                      <a:srgbClr val="FFFFFF"/>
                    </a:solidFill>
                  </a:tcPr>
                </a:tc>
                <a:tc>
                  <a:txBody>
                    <a:bodyPr/>
                    <a:lstStyle/>
                    <a:p>
                      <a:pPr algn="ctr">
                        <a:defRPr sz="1000" b="0">
                          <a:solidFill>
                            <a:srgbClr val="000000"/>
                          </a:solidFill>
                          <a:latin typeface="Montserrat"/>
                        </a:defRPr>
                      </a:pPr>
                      <a:r>
                        <a:rPr dirty="0"/>
                        <a:t>39</a:t>
                      </a:r>
                    </a:p>
                  </a:txBody>
                  <a:tcPr marL="73152" marR="73152" marT="0" marB="0"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535" name="Table 534"/>
          <p:cNvGraphicFramePr>
            <a:graphicFrameLocks noGrp="1"/>
          </p:cNvGraphicFramePr>
          <p:nvPr>
            <p:extLst>
              <p:ext uri="{D42A27DB-BD31-4B8C-83A1-F6EECF244321}">
                <p14:modId xmlns:p14="http://schemas.microsoft.com/office/powerpoint/2010/main" val="2375719898"/>
              </p:ext>
            </p:extLst>
          </p:nvPr>
        </p:nvGraphicFramePr>
        <p:xfrm>
          <a:off x="309600" y="5936833"/>
          <a:ext cx="7022592" cy="1648968"/>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1179576">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gridCol w="1179576">
                  <a:extLst>
                    <a:ext uri="{9D8B030D-6E8A-4147-A177-3AD203B41FA5}">
                      <a16:colId xmlns:a16="http://schemas.microsoft.com/office/drawing/2014/main" val="20004"/>
                    </a:ext>
                  </a:extLst>
                </a:gridCol>
                <a:gridCol w="896112">
                  <a:extLst>
                    <a:ext uri="{9D8B030D-6E8A-4147-A177-3AD203B41FA5}">
                      <a16:colId xmlns:a16="http://schemas.microsoft.com/office/drawing/2014/main" val="20005"/>
                    </a:ext>
                  </a:extLst>
                </a:gridCol>
              </a:tblGrid>
              <a:tr h="201168">
                <a:tc>
                  <a:txBody>
                    <a:bodyPr/>
                    <a:lstStyle/>
                    <a:p>
                      <a:pPr algn="ctr">
                        <a:defRPr sz="1100" b="1">
                          <a:solidFill>
                            <a:srgbClr val="FFFFFF"/>
                          </a:solidFill>
                          <a:latin typeface="Montserrat"/>
                        </a:defRPr>
                      </a:pPr>
                      <a:r>
                        <a:t>Disciplina</a:t>
                      </a:r>
                    </a:p>
                  </a:txBody>
                  <a:tcPr marL="36576" marR="36576" marT="36576" marB="36576">
                    <a:solidFill>
                      <a:srgbClr val="006455"/>
                    </a:solidFill>
                  </a:tcPr>
                </a:tc>
                <a:tc>
                  <a:txBody>
                    <a:bodyPr/>
                    <a:lstStyle/>
                    <a:p>
                      <a:pPr algn="ctr">
                        <a:defRPr sz="1100" b="1">
                          <a:solidFill>
                            <a:srgbClr val="FFFFFF"/>
                          </a:solidFill>
                          <a:latin typeface="Montserrat"/>
                        </a:defRPr>
                      </a:pPr>
                      <a:r>
                        <a:t>Base</a:t>
                      </a:r>
                    </a:p>
                  </a:txBody>
                  <a:tcPr marL="36576" marR="36576" marT="36576" marB="36576">
                    <a:solidFill>
                      <a:srgbClr val="006455"/>
                    </a:solidFill>
                  </a:tcPr>
                </a:tc>
                <a:tc>
                  <a:txBody>
                    <a:bodyPr/>
                    <a:lstStyle/>
                    <a:p>
                      <a:pPr algn="ctr">
                        <a:defRPr sz="1100" b="1">
                          <a:solidFill>
                            <a:srgbClr val="FFFFFF"/>
                          </a:solidFill>
                          <a:latin typeface="Montserrat"/>
                        </a:defRPr>
                      </a:pPr>
                      <a:r>
                        <a:t>Confianza</a:t>
                      </a:r>
                    </a:p>
                  </a:txBody>
                  <a:tcPr marL="36576" marR="36576" marT="36576" marB="36576">
                    <a:solidFill>
                      <a:srgbClr val="006455"/>
                    </a:solidFill>
                  </a:tcPr>
                </a:tc>
                <a:tc>
                  <a:txBody>
                    <a:bodyPr/>
                    <a:lstStyle/>
                    <a:p>
                      <a:pPr algn="ctr">
                        <a:defRPr sz="1100" b="1">
                          <a:solidFill>
                            <a:srgbClr val="FFFFFF"/>
                          </a:solidFill>
                          <a:latin typeface="Montserrat"/>
                        </a:defRPr>
                      </a:pPr>
                      <a:r>
                        <a:t>Estatuto A</a:t>
                      </a:r>
                    </a:p>
                  </a:txBody>
                  <a:tcPr marL="36576" marR="36576" marT="36576" marB="36576">
                    <a:solidFill>
                      <a:srgbClr val="006455"/>
                    </a:solidFill>
                  </a:tcPr>
                </a:tc>
                <a:tc>
                  <a:txBody>
                    <a:bodyPr/>
                    <a:lstStyle/>
                    <a:p>
                      <a:pPr algn="ctr">
                        <a:defRPr sz="1100" b="1">
                          <a:solidFill>
                            <a:srgbClr val="FFFFFF"/>
                          </a:solidFill>
                          <a:latin typeface="Montserrat"/>
                        </a:defRPr>
                      </a:pPr>
                      <a:r>
                        <a:t>Sustitutos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201168">
                <a:tc>
                  <a:txBody>
                    <a:bodyPr/>
                    <a:lstStyle/>
                    <a:p>
                      <a:pPr algn="l">
                        <a:defRPr sz="1100" b="0">
                          <a:solidFill>
                            <a:srgbClr val="000000"/>
                          </a:solidFill>
                          <a:latin typeface="Montserrat"/>
                        </a:defRPr>
                      </a:pPr>
                      <a:r>
                        <a:t>Médicos</a:t>
                      </a:r>
                    </a:p>
                  </a:txBody>
                  <a:tcPr marL="73152" marR="73152" marT="0" marB="0" anchor="ctr">
                    <a:solidFill>
                      <a:srgbClr val="FFFFFF"/>
                    </a:solidFill>
                  </a:tcPr>
                </a:tc>
                <a:tc>
                  <a:txBody>
                    <a:bodyPr/>
                    <a:lstStyle/>
                    <a:p>
                      <a:pPr algn="ctr">
                        <a:defRPr sz="1000" b="0">
                          <a:solidFill>
                            <a:srgbClr val="000000"/>
                          </a:solidFill>
                          <a:latin typeface="Montserrat"/>
                        </a:defRPr>
                      </a:pPr>
                      <a:r>
                        <a:t>505</a:t>
                      </a:r>
                    </a:p>
                  </a:txBody>
                  <a:tcPr marL="73152" marR="73152" marT="0" marB="0" anchor="ctr">
                    <a:solidFill>
                      <a:srgbClr val="FFFFFF"/>
                    </a:solidFill>
                  </a:tcPr>
                </a:tc>
                <a:tc>
                  <a:txBody>
                    <a:bodyPr/>
                    <a:lstStyle/>
                    <a:p>
                      <a:pPr algn="ctr">
                        <a:defRPr sz="1000" b="0">
                          <a:solidFill>
                            <a:srgbClr val="000000"/>
                          </a:solidFill>
                          <a:latin typeface="Montserrat"/>
                        </a:defRPr>
                      </a:pPr>
                      <a:r>
                        <a:t>39</a:t>
                      </a:r>
                    </a:p>
                  </a:txBody>
                  <a:tcPr marL="73152" marR="73152" marT="0" marB="0" anchor="ctr">
                    <a:solidFill>
                      <a:srgbClr val="FFFFFF"/>
                    </a:solidFill>
                  </a:tcPr>
                </a:tc>
                <a:tc>
                  <a:txBody>
                    <a:bodyPr/>
                    <a:lstStyle/>
                    <a:p>
                      <a:pPr algn="ctr">
                        <a:defRPr sz="1000" b="0">
                          <a:solidFill>
                            <a:srgbClr val="000000"/>
                          </a:solidFill>
                          <a:latin typeface="Montserrat"/>
                        </a:defRPr>
                      </a:pPr>
                      <a:r>
                        <a:t>6</a:t>
                      </a:r>
                    </a:p>
                  </a:txBody>
                  <a:tcPr marL="73152" marR="73152" marT="0" marB="0" anchor="ctr">
                    <a:solidFill>
                      <a:srgbClr val="FFFFFF"/>
                    </a:solidFill>
                  </a:tcPr>
                </a:tc>
                <a:tc>
                  <a:txBody>
                    <a:bodyPr/>
                    <a:lstStyle/>
                    <a:p>
                      <a:pPr algn="ctr">
                        <a:defRPr sz="1000" b="0">
                          <a:solidFill>
                            <a:srgbClr val="000000"/>
                          </a:solidFill>
                          <a:latin typeface="Montserrat"/>
                        </a:defRPr>
                      </a:pPr>
                      <a:r>
                        <a:t>41</a:t>
                      </a:r>
                    </a:p>
                  </a:txBody>
                  <a:tcPr marL="73152" marR="73152" marT="0" marB="0" anchor="ctr">
                    <a:solidFill>
                      <a:srgbClr val="FFFFFF"/>
                    </a:solidFill>
                  </a:tcPr>
                </a:tc>
                <a:tc>
                  <a:txBody>
                    <a:bodyPr/>
                    <a:lstStyle/>
                    <a:p>
                      <a:pPr algn="ctr">
                        <a:defRPr sz="1000" b="1">
                          <a:solidFill>
                            <a:srgbClr val="006455"/>
                          </a:solidFill>
                          <a:latin typeface="Montserrat"/>
                        </a:defRPr>
                      </a:pPr>
                      <a:r>
                        <a:t>591</a:t>
                      </a:r>
                    </a:p>
                  </a:txBody>
                  <a:tcPr marL="73152" marR="73152" marT="0" marB="0" anchor="ctr">
                    <a:solidFill>
                      <a:srgbClr val="D3E9E7"/>
                    </a:solidFill>
                  </a:tcPr>
                </a:tc>
                <a:extLst>
                  <a:ext uri="{0D108BD9-81ED-4DB2-BD59-A6C34878D82A}">
                    <a16:rowId xmlns:a16="http://schemas.microsoft.com/office/drawing/2014/main" val="10001"/>
                  </a:ext>
                </a:extLst>
              </a:tr>
              <a:tr h="201168">
                <a:tc>
                  <a:txBody>
                    <a:bodyPr/>
                    <a:lstStyle/>
                    <a:p>
                      <a:pPr algn="l">
                        <a:defRPr sz="1100" b="0">
                          <a:solidFill>
                            <a:srgbClr val="000000"/>
                          </a:solidFill>
                          <a:latin typeface="Montserrat"/>
                        </a:defRPr>
                      </a:pPr>
                      <a:r>
                        <a:t>Enfermeras</a:t>
                      </a:r>
                    </a:p>
                  </a:txBody>
                  <a:tcPr marL="73152" marR="73152" marT="0" marB="0" anchor="ctr">
                    <a:solidFill>
                      <a:srgbClr val="EFEFEF"/>
                    </a:solidFill>
                  </a:tcPr>
                </a:tc>
                <a:tc>
                  <a:txBody>
                    <a:bodyPr/>
                    <a:lstStyle/>
                    <a:p>
                      <a:pPr algn="ctr">
                        <a:defRPr sz="1000" b="0">
                          <a:solidFill>
                            <a:srgbClr val="000000"/>
                          </a:solidFill>
                          <a:latin typeface="Montserrat"/>
                        </a:defRPr>
                      </a:pPr>
                      <a:r>
                        <a:t>727</a:t>
                      </a:r>
                    </a:p>
                  </a:txBody>
                  <a:tcPr marL="73152" marR="73152" marT="0" marB="0" anchor="ctr">
                    <a:solidFill>
                      <a:srgbClr val="EFEFEF"/>
                    </a:solidFill>
                  </a:tcPr>
                </a:tc>
                <a:tc>
                  <a:txBody>
                    <a:bodyPr/>
                    <a:lstStyle/>
                    <a:p>
                      <a:pPr algn="ctr">
                        <a:defRPr sz="1000" b="0">
                          <a:solidFill>
                            <a:srgbClr val="000000"/>
                          </a:solidFill>
                          <a:latin typeface="Montserrat"/>
                        </a:defRPr>
                      </a:pPr>
                      <a:r>
                        <a:t>9</a:t>
                      </a:r>
                    </a:p>
                  </a:txBody>
                  <a:tcPr marL="73152" marR="73152" marT="0" marB="0" anchor="ctr">
                    <a:solidFill>
                      <a:srgbClr val="EFEFEF"/>
                    </a:solidFill>
                  </a:tcPr>
                </a:tc>
                <a:tc>
                  <a:txBody>
                    <a:bodyPr/>
                    <a:lstStyle/>
                    <a:p>
                      <a:pPr algn="ctr">
                        <a:defRPr sz="1000" b="0">
                          <a:solidFill>
                            <a:srgbClr val="000000"/>
                          </a:solidFill>
                          <a:latin typeface="Montserrat"/>
                        </a:defRPr>
                      </a:pPr>
                      <a:r>
                        <a:t>1</a:t>
                      </a:r>
                    </a:p>
                  </a:txBody>
                  <a:tcPr marL="73152" marR="73152" marT="0" marB="0" anchor="ctr">
                    <a:solidFill>
                      <a:srgbClr val="EFEFEF"/>
                    </a:solidFill>
                  </a:tcPr>
                </a:tc>
                <a:tc>
                  <a:txBody>
                    <a:bodyPr/>
                    <a:lstStyle/>
                    <a:p>
                      <a:pPr algn="ctr">
                        <a:defRPr sz="1000" b="0">
                          <a:solidFill>
                            <a:srgbClr val="000000"/>
                          </a:solidFill>
                          <a:latin typeface="Montserrat"/>
                        </a:defRPr>
                      </a:pPr>
                      <a:r>
                        <a:t>528</a:t>
                      </a:r>
                    </a:p>
                  </a:txBody>
                  <a:tcPr marL="73152" marR="73152" marT="0" marB="0" anchor="ctr">
                    <a:solidFill>
                      <a:srgbClr val="EFEFEF"/>
                    </a:solidFill>
                  </a:tcPr>
                </a:tc>
                <a:tc>
                  <a:txBody>
                    <a:bodyPr/>
                    <a:lstStyle/>
                    <a:p>
                      <a:pPr algn="ctr">
                        <a:defRPr sz="1000" b="1">
                          <a:solidFill>
                            <a:srgbClr val="006455"/>
                          </a:solidFill>
                          <a:latin typeface="Montserrat"/>
                        </a:defRPr>
                      </a:pPr>
                      <a:r>
                        <a:t>1,265</a:t>
                      </a:r>
                    </a:p>
                  </a:txBody>
                  <a:tcPr marL="73152" marR="73152" marT="0" marB="0" anchor="ctr">
                    <a:solidFill>
                      <a:srgbClr val="D3E9E7"/>
                    </a:solidFill>
                  </a:tcPr>
                </a:tc>
                <a:extLst>
                  <a:ext uri="{0D108BD9-81ED-4DB2-BD59-A6C34878D82A}">
                    <a16:rowId xmlns:a16="http://schemas.microsoft.com/office/drawing/2014/main" val="10002"/>
                  </a:ext>
                </a:extLst>
              </a:tr>
              <a:tr h="201168">
                <a:tc>
                  <a:txBody>
                    <a:bodyPr/>
                    <a:lstStyle/>
                    <a:p>
                      <a:pPr algn="l">
                        <a:defRPr sz="1100" b="0">
                          <a:solidFill>
                            <a:srgbClr val="000000"/>
                          </a:solidFill>
                          <a:latin typeface="Montserrat"/>
                        </a:defRPr>
                      </a:pPr>
                      <a:r>
                        <a:t>Paramédicos</a:t>
                      </a:r>
                    </a:p>
                  </a:txBody>
                  <a:tcPr marL="73152" marR="73152" marT="0" marB="0" anchor="ctr">
                    <a:solidFill>
                      <a:srgbClr val="FFFFFF"/>
                    </a:solidFill>
                  </a:tcPr>
                </a:tc>
                <a:tc>
                  <a:txBody>
                    <a:bodyPr/>
                    <a:lstStyle/>
                    <a:p>
                      <a:pPr algn="ctr">
                        <a:defRPr sz="1000" b="0">
                          <a:solidFill>
                            <a:srgbClr val="000000"/>
                          </a:solidFill>
                          <a:latin typeface="Montserrat"/>
                        </a:defRPr>
                      </a:pPr>
                      <a:r>
                        <a:t>66</a:t>
                      </a:r>
                    </a:p>
                  </a:txBody>
                  <a:tcPr marL="73152" marR="73152" marT="0" marB="0" anchor="ctr">
                    <a:solidFill>
                      <a:srgbClr val="FFFFFF"/>
                    </a:solidFill>
                  </a:tcPr>
                </a:tc>
                <a:tc>
                  <a:txBody>
                    <a:bodyPr/>
                    <a:lstStyle/>
                    <a:p>
                      <a:pPr algn="ctr">
                        <a:defRPr sz="1000" b="0">
                          <a:solidFill>
                            <a:srgbClr val="000000"/>
                          </a:solidFill>
                          <a:latin typeface="Montserrat"/>
                        </a:defRPr>
                      </a:pPr>
                      <a:r>
                        <a:t>0</a:t>
                      </a:r>
                    </a:p>
                  </a:txBody>
                  <a:tcPr marL="73152" marR="73152" marT="0" marB="0" anchor="ctr">
                    <a:solidFill>
                      <a:srgbClr val="FFFFFF"/>
                    </a:solidFill>
                  </a:tcPr>
                </a:tc>
                <a:tc>
                  <a:txBody>
                    <a:bodyPr/>
                    <a:lstStyle/>
                    <a:p>
                      <a:pPr algn="ctr">
                        <a:defRPr sz="1000" b="0">
                          <a:solidFill>
                            <a:srgbClr val="000000"/>
                          </a:solidFill>
                          <a:latin typeface="Montserrat"/>
                        </a:defRPr>
                      </a:pPr>
                      <a:r>
                        <a:rPr dirty="0"/>
                        <a:t>6</a:t>
                      </a:r>
                    </a:p>
                  </a:txBody>
                  <a:tcPr marL="73152" marR="73152" marT="0" marB="0" anchor="ctr">
                    <a:solidFill>
                      <a:srgbClr val="FFFFFF"/>
                    </a:solidFill>
                  </a:tcPr>
                </a:tc>
                <a:tc>
                  <a:txBody>
                    <a:bodyPr/>
                    <a:lstStyle/>
                    <a:p>
                      <a:pPr algn="ctr">
                        <a:defRPr sz="1000" b="0">
                          <a:solidFill>
                            <a:srgbClr val="000000"/>
                          </a:solidFill>
                          <a:latin typeface="Montserrat"/>
                        </a:defRPr>
                      </a:pPr>
                      <a:r>
                        <a:t>22</a:t>
                      </a:r>
                    </a:p>
                  </a:txBody>
                  <a:tcPr marL="73152" marR="73152" marT="0" marB="0" anchor="ctr">
                    <a:solidFill>
                      <a:srgbClr val="FFFFFF"/>
                    </a:solidFill>
                  </a:tcPr>
                </a:tc>
                <a:tc>
                  <a:txBody>
                    <a:bodyPr/>
                    <a:lstStyle/>
                    <a:p>
                      <a:pPr algn="ctr">
                        <a:defRPr sz="1000" b="1">
                          <a:solidFill>
                            <a:srgbClr val="006455"/>
                          </a:solidFill>
                          <a:latin typeface="Montserrat"/>
                        </a:defRPr>
                      </a:pPr>
                      <a:r>
                        <a:t>94</a:t>
                      </a:r>
                    </a:p>
                  </a:txBody>
                  <a:tcPr marL="73152" marR="73152" marT="0" marB="0" anchor="ctr">
                    <a:solidFill>
                      <a:srgbClr val="D3E9E7"/>
                    </a:solidFill>
                  </a:tcPr>
                </a:tc>
                <a:extLst>
                  <a:ext uri="{0D108BD9-81ED-4DB2-BD59-A6C34878D82A}">
                    <a16:rowId xmlns:a16="http://schemas.microsoft.com/office/drawing/2014/main" val="10003"/>
                  </a:ext>
                </a:extLst>
              </a:tr>
              <a:tr h="201168">
                <a:tc>
                  <a:txBody>
                    <a:bodyPr/>
                    <a:lstStyle/>
                    <a:p>
                      <a:pPr algn="l">
                        <a:defRPr sz="1100" b="0">
                          <a:solidFill>
                            <a:srgbClr val="000000"/>
                          </a:solidFill>
                          <a:latin typeface="Montserrat"/>
                        </a:defRPr>
                      </a:pPr>
                      <a:r>
                        <a:t>Administrativas</a:t>
                      </a:r>
                    </a:p>
                  </a:txBody>
                  <a:tcPr marL="73152" marR="73152" marT="0" marB="0" anchor="ctr">
                    <a:solidFill>
                      <a:srgbClr val="EFEFEF"/>
                    </a:solidFill>
                  </a:tcPr>
                </a:tc>
                <a:tc>
                  <a:txBody>
                    <a:bodyPr/>
                    <a:lstStyle/>
                    <a:p>
                      <a:pPr algn="ctr">
                        <a:defRPr sz="1000" b="0">
                          <a:solidFill>
                            <a:srgbClr val="000000"/>
                          </a:solidFill>
                          <a:latin typeface="Montserrat"/>
                        </a:defRPr>
                      </a:pPr>
                      <a:r>
                        <a:t>54</a:t>
                      </a:r>
                    </a:p>
                  </a:txBody>
                  <a:tcPr marL="73152" marR="73152" marT="0" marB="0" anchor="ctr">
                    <a:solidFill>
                      <a:srgbClr val="EFEFEF"/>
                    </a:solidFill>
                  </a:tcPr>
                </a:tc>
                <a:tc>
                  <a:txBody>
                    <a:bodyPr/>
                    <a:lstStyle/>
                    <a:p>
                      <a:pPr algn="ctr">
                        <a:defRPr sz="1000" b="0">
                          <a:solidFill>
                            <a:srgbClr val="000000"/>
                          </a:solidFill>
                          <a:latin typeface="Montserrat"/>
                        </a:defRPr>
                      </a:pPr>
                      <a:r>
                        <a:t>19</a:t>
                      </a:r>
                    </a:p>
                  </a:txBody>
                  <a:tcPr marL="73152" marR="73152" marT="0" marB="0" anchor="ctr">
                    <a:solidFill>
                      <a:srgbClr val="EFEFEF"/>
                    </a:solidFill>
                  </a:tcPr>
                </a:tc>
                <a:tc>
                  <a:txBody>
                    <a:bodyPr/>
                    <a:lstStyle/>
                    <a:p>
                      <a:pPr algn="ctr">
                        <a:defRPr sz="1000" b="0">
                          <a:solidFill>
                            <a:srgbClr val="000000"/>
                          </a:solidFill>
                          <a:latin typeface="Montserrat"/>
                        </a:defRPr>
                      </a:pPr>
                      <a:r>
                        <a:t>64</a:t>
                      </a:r>
                    </a:p>
                  </a:txBody>
                  <a:tcPr marL="73152" marR="73152" marT="0" marB="0" anchor="ctr">
                    <a:solidFill>
                      <a:srgbClr val="EFEFEF"/>
                    </a:solidFill>
                  </a:tcPr>
                </a:tc>
                <a:tc>
                  <a:txBody>
                    <a:bodyPr/>
                    <a:lstStyle/>
                    <a:p>
                      <a:pPr algn="ctr">
                        <a:defRPr sz="1000" b="0">
                          <a:solidFill>
                            <a:srgbClr val="000000"/>
                          </a:solidFill>
                          <a:latin typeface="Montserrat"/>
                        </a:defRPr>
                      </a:pPr>
                      <a:r>
                        <a:t>12</a:t>
                      </a:r>
                    </a:p>
                  </a:txBody>
                  <a:tcPr marL="73152" marR="73152" marT="0" marB="0" anchor="ctr">
                    <a:solidFill>
                      <a:srgbClr val="EFEFEF"/>
                    </a:solidFill>
                  </a:tcPr>
                </a:tc>
                <a:tc>
                  <a:txBody>
                    <a:bodyPr/>
                    <a:lstStyle/>
                    <a:p>
                      <a:pPr algn="ctr">
                        <a:defRPr sz="1000" b="1">
                          <a:solidFill>
                            <a:srgbClr val="006455"/>
                          </a:solidFill>
                          <a:latin typeface="Montserrat"/>
                        </a:defRPr>
                      </a:pPr>
                      <a:r>
                        <a:t>149</a:t>
                      </a:r>
                    </a:p>
                  </a:txBody>
                  <a:tcPr marL="73152" marR="73152" marT="0" marB="0" anchor="ctr">
                    <a:solidFill>
                      <a:srgbClr val="D3E9E7"/>
                    </a:solidFill>
                  </a:tcPr>
                </a:tc>
                <a:extLst>
                  <a:ext uri="{0D108BD9-81ED-4DB2-BD59-A6C34878D82A}">
                    <a16:rowId xmlns:a16="http://schemas.microsoft.com/office/drawing/2014/main" val="10004"/>
                  </a:ext>
                </a:extLst>
              </a:tr>
              <a:tr h="201168">
                <a:tc>
                  <a:txBody>
                    <a:bodyPr/>
                    <a:lstStyle/>
                    <a:p>
                      <a:pPr algn="l">
                        <a:defRPr sz="1100" b="0">
                          <a:solidFill>
                            <a:srgbClr val="000000"/>
                          </a:solidFill>
                          <a:latin typeface="Montserrat"/>
                        </a:defRPr>
                      </a:pPr>
                      <a:r>
                        <a:t>Servicios Generales</a:t>
                      </a:r>
                    </a:p>
                  </a:txBody>
                  <a:tcPr marL="73152" marR="73152" marT="0" marB="0" anchor="ctr">
                    <a:solidFill>
                      <a:srgbClr val="FFFFFF"/>
                    </a:solidFill>
                  </a:tcPr>
                </a:tc>
                <a:tc>
                  <a:txBody>
                    <a:bodyPr/>
                    <a:lstStyle/>
                    <a:p>
                      <a:pPr algn="ctr">
                        <a:defRPr sz="1000" b="0">
                          <a:solidFill>
                            <a:srgbClr val="000000"/>
                          </a:solidFill>
                          <a:latin typeface="Montserrat"/>
                        </a:defRPr>
                      </a:pPr>
                      <a:r>
                        <a:t>187</a:t>
                      </a:r>
                    </a:p>
                  </a:txBody>
                  <a:tcPr marL="73152" marR="73152" marT="0" marB="0" anchor="ctr">
                    <a:solidFill>
                      <a:srgbClr val="FFFFFF"/>
                    </a:solidFill>
                  </a:tcPr>
                </a:tc>
                <a:tc>
                  <a:txBody>
                    <a:bodyPr/>
                    <a:lstStyle/>
                    <a:p>
                      <a:pPr algn="ctr">
                        <a:defRPr sz="1000" b="0">
                          <a:solidFill>
                            <a:srgbClr val="000000"/>
                          </a:solidFill>
                          <a:latin typeface="Montserrat"/>
                        </a:defRPr>
                      </a:pPr>
                      <a:r>
                        <a:t>13</a:t>
                      </a:r>
                    </a:p>
                  </a:txBody>
                  <a:tcPr marL="73152" marR="73152" marT="0" marB="0" anchor="ctr">
                    <a:solidFill>
                      <a:srgbClr val="FFFFFF"/>
                    </a:solidFill>
                  </a:tcPr>
                </a:tc>
                <a:tc>
                  <a:txBody>
                    <a:bodyPr/>
                    <a:lstStyle/>
                    <a:p>
                      <a:pPr algn="ctr">
                        <a:defRPr sz="1000" b="0">
                          <a:solidFill>
                            <a:srgbClr val="000000"/>
                          </a:solidFill>
                          <a:latin typeface="Montserrat"/>
                        </a:defRPr>
                      </a:pPr>
                      <a:r>
                        <a:t>27</a:t>
                      </a:r>
                    </a:p>
                  </a:txBody>
                  <a:tcPr marL="73152" marR="73152" marT="0" marB="0" anchor="ctr">
                    <a:solidFill>
                      <a:srgbClr val="FFFFFF"/>
                    </a:solidFill>
                  </a:tcPr>
                </a:tc>
                <a:tc>
                  <a:txBody>
                    <a:bodyPr/>
                    <a:lstStyle/>
                    <a:p>
                      <a:pPr algn="ctr">
                        <a:defRPr sz="1000" b="0">
                          <a:solidFill>
                            <a:srgbClr val="000000"/>
                          </a:solidFill>
                          <a:latin typeface="Montserrat"/>
                        </a:defRPr>
                      </a:pPr>
                      <a:r>
                        <a:t>66</a:t>
                      </a:r>
                    </a:p>
                  </a:txBody>
                  <a:tcPr marL="73152" marR="73152" marT="0" marB="0" anchor="ctr">
                    <a:solidFill>
                      <a:srgbClr val="FFFFFF"/>
                    </a:solidFill>
                  </a:tcPr>
                </a:tc>
                <a:tc>
                  <a:txBody>
                    <a:bodyPr/>
                    <a:lstStyle/>
                    <a:p>
                      <a:pPr algn="ctr">
                        <a:defRPr sz="1000" b="1">
                          <a:solidFill>
                            <a:srgbClr val="006455"/>
                          </a:solidFill>
                          <a:latin typeface="Montserrat"/>
                        </a:defRPr>
                      </a:pPr>
                      <a:r>
                        <a:t>293</a:t>
                      </a:r>
                    </a:p>
                  </a:txBody>
                  <a:tcPr marL="73152" marR="73152" marT="0" marB="0" anchor="ctr">
                    <a:solidFill>
                      <a:srgbClr val="D3E9E7"/>
                    </a:solidFill>
                  </a:tcPr>
                </a:tc>
                <a:extLst>
                  <a:ext uri="{0D108BD9-81ED-4DB2-BD59-A6C34878D82A}">
                    <a16:rowId xmlns:a16="http://schemas.microsoft.com/office/drawing/2014/main" val="10005"/>
                  </a:ext>
                </a:extLst>
              </a:tr>
              <a:tr h="201168">
                <a:tc>
                  <a:txBody>
                    <a:bodyPr/>
                    <a:lstStyle/>
                    <a:p>
                      <a:pPr algn="l">
                        <a:defRPr sz="1100" b="0">
                          <a:solidFill>
                            <a:srgbClr val="000000"/>
                          </a:solidFill>
                          <a:latin typeface="Montserrat"/>
                        </a:defRPr>
                      </a:pPr>
                      <a:r>
                        <a:t>Acción Comunitaria</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0">
                          <a:solidFill>
                            <a:srgbClr val="000000"/>
                          </a:solidFill>
                          <a:latin typeface="Montserrat"/>
                        </a:defRPr>
                      </a:pPr>
                      <a:r>
                        <a:t>17</a:t>
                      </a:r>
                    </a:p>
                  </a:txBody>
                  <a:tcPr marL="73152" marR="73152" marT="0" marB="0" anchor="ctr">
                    <a:solidFill>
                      <a:srgbClr val="EFEFEF"/>
                    </a:solidFill>
                  </a:tcPr>
                </a:tc>
                <a:tc>
                  <a:txBody>
                    <a:bodyPr/>
                    <a:lstStyle/>
                    <a:p>
                      <a:pPr algn="ctr">
                        <a:defRPr sz="1000" b="0">
                          <a:solidFill>
                            <a:srgbClr val="000000"/>
                          </a:solidFill>
                          <a:latin typeface="Montserrat"/>
                        </a:defRPr>
                      </a:pPr>
                      <a:r>
                        <a:t>9</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1">
                          <a:solidFill>
                            <a:srgbClr val="006455"/>
                          </a:solidFill>
                          <a:latin typeface="Montserrat"/>
                        </a:defRPr>
                      </a:pPr>
                      <a:r>
                        <a:t>26</a:t>
                      </a:r>
                    </a:p>
                  </a:txBody>
                  <a:tcPr marL="73152" marR="73152" marT="0" marB="0" anchor="ctr">
                    <a:solidFill>
                      <a:srgbClr val="D3E9E7"/>
                    </a:solidFill>
                  </a:tcPr>
                </a:tc>
                <a:extLst>
                  <a:ext uri="{0D108BD9-81ED-4DB2-BD59-A6C34878D82A}">
                    <a16:rowId xmlns:a16="http://schemas.microsoft.com/office/drawing/2014/main" val="10006"/>
                  </a:ext>
                </a:extLst>
              </a:tr>
              <a:tr h="201168">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1,539</a:t>
                      </a:r>
                    </a:p>
                  </a:txBody>
                  <a:tcPr marL="73152" marR="73152" marT="0" marB="0" anchor="ctr">
                    <a:solidFill>
                      <a:srgbClr val="D3E9E7"/>
                    </a:solidFill>
                  </a:tcPr>
                </a:tc>
                <a:tc>
                  <a:txBody>
                    <a:bodyPr/>
                    <a:lstStyle/>
                    <a:p>
                      <a:pPr algn="ctr">
                        <a:defRPr sz="1000" b="1">
                          <a:solidFill>
                            <a:srgbClr val="006455"/>
                          </a:solidFill>
                          <a:latin typeface="Montserrat"/>
                        </a:defRPr>
                      </a:pPr>
                      <a:r>
                        <a:t>97</a:t>
                      </a:r>
                    </a:p>
                  </a:txBody>
                  <a:tcPr marL="73152" marR="73152" marT="0" marB="0" anchor="ctr">
                    <a:solidFill>
                      <a:srgbClr val="D3E9E7"/>
                    </a:solidFill>
                  </a:tcPr>
                </a:tc>
                <a:tc>
                  <a:txBody>
                    <a:bodyPr/>
                    <a:lstStyle/>
                    <a:p>
                      <a:pPr algn="ctr">
                        <a:defRPr sz="1000" b="1">
                          <a:solidFill>
                            <a:srgbClr val="006455"/>
                          </a:solidFill>
                          <a:latin typeface="Montserrat"/>
                        </a:defRPr>
                      </a:pPr>
                      <a:r>
                        <a:t>113</a:t>
                      </a:r>
                    </a:p>
                  </a:txBody>
                  <a:tcPr marL="73152" marR="73152" marT="0" marB="0" anchor="ctr">
                    <a:solidFill>
                      <a:srgbClr val="D3E9E7"/>
                    </a:solidFill>
                  </a:tcPr>
                </a:tc>
                <a:tc>
                  <a:txBody>
                    <a:bodyPr/>
                    <a:lstStyle/>
                    <a:p>
                      <a:pPr algn="ctr">
                        <a:defRPr sz="1000" b="1">
                          <a:solidFill>
                            <a:srgbClr val="006455"/>
                          </a:solidFill>
                          <a:latin typeface="Montserrat"/>
                        </a:defRPr>
                      </a:pPr>
                      <a:r>
                        <a:t>669</a:t>
                      </a:r>
                    </a:p>
                  </a:txBody>
                  <a:tcPr marL="73152" marR="73152" marT="0" marB="0" anchor="ctr">
                    <a:solidFill>
                      <a:srgbClr val="D3E9E7"/>
                    </a:solidFill>
                  </a:tcPr>
                </a:tc>
                <a:tc>
                  <a:txBody>
                    <a:bodyPr/>
                    <a:lstStyle/>
                    <a:p>
                      <a:pPr algn="ctr">
                        <a:defRPr sz="1000" b="1">
                          <a:solidFill>
                            <a:srgbClr val="006455"/>
                          </a:solidFill>
                          <a:latin typeface="Montserrat"/>
                        </a:defRPr>
                      </a:pPr>
                      <a:r>
                        <a:rPr dirty="0"/>
                        <a:t>2,418</a:t>
                      </a:r>
                    </a:p>
                  </a:txBody>
                  <a:tcPr marL="73152" marR="73152" marT="0" marB="0"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536" name="Table 535"/>
          <p:cNvGraphicFramePr>
            <a:graphicFrameLocks noGrp="1"/>
          </p:cNvGraphicFramePr>
          <p:nvPr>
            <p:extLst>
              <p:ext uri="{D42A27DB-BD31-4B8C-83A1-F6EECF244321}">
                <p14:modId xmlns:p14="http://schemas.microsoft.com/office/powerpoint/2010/main" val="457255645"/>
              </p:ext>
            </p:extLst>
          </p:nvPr>
        </p:nvGraphicFramePr>
        <p:xfrm>
          <a:off x="309600" y="8271822"/>
          <a:ext cx="7004303" cy="714756"/>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gridCol w="1106424">
                  <a:extLst>
                    <a:ext uri="{9D8B030D-6E8A-4147-A177-3AD203B41FA5}">
                      <a16:colId xmlns:a16="http://schemas.microsoft.com/office/drawing/2014/main" val="20006"/>
                    </a:ext>
                  </a:extLst>
                </a:gridCol>
              </a:tblGrid>
              <a:tr h="306324">
                <a:tc>
                  <a:txBody>
                    <a:bodyPr/>
                    <a:lstStyle/>
                    <a:p>
                      <a:pPr algn="ctr">
                        <a:defRPr sz="1100" b="1">
                          <a:solidFill>
                            <a:srgbClr val="FFFFFF"/>
                          </a:solidFill>
                          <a:latin typeface="Montserrat"/>
                        </a:defRPr>
                      </a:pPr>
                      <a:r>
                        <a:rPr lang="es-MX" dirty="0"/>
                        <a:t>Concepto</a:t>
                      </a:r>
                      <a:endParaRPr dirty="0"/>
                    </a:p>
                  </a:txBody>
                  <a:tcPr marL="36576" marR="36576" marT="36576" marB="36576">
                    <a:solidFill>
                      <a:srgbClr val="006455"/>
                    </a:solidFill>
                  </a:tcPr>
                </a:tc>
                <a:tc>
                  <a:txBody>
                    <a:bodyPr/>
                    <a:lstStyle/>
                    <a:p>
                      <a:pPr algn="ctr">
                        <a:defRPr sz="1100" b="1">
                          <a:solidFill>
                            <a:srgbClr val="FFFFFF"/>
                          </a:solidFill>
                          <a:latin typeface="Montserrat"/>
                        </a:defRPr>
                      </a:pPr>
                      <a:r>
                        <a:t>Voluntarios Rurales</a:t>
                      </a:r>
                    </a:p>
                  </a:txBody>
                  <a:tcPr marL="36576" marR="36576" marT="36576" marB="36576">
                    <a:solidFill>
                      <a:srgbClr val="006455"/>
                    </a:solidFill>
                  </a:tcPr>
                </a:tc>
                <a:tc>
                  <a:txBody>
                    <a:bodyPr/>
                    <a:lstStyle/>
                    <a:p>
                      <a:pPr algn="ctr">
                        <a:defRPr sz="1100" b="1">
                          <a:solidFill>
                            <a:srgbClr val="FFFFFF"/>
                          </a:solidFill>
                          <a:latin typeface="Montserrat"/>
                        </a:defRPr>
                      </a:pPr>
                      <a:r>
                        <a:t>Comités de Salud</a:t>
                      </a:r>
                    </a:p>
                  </a:txBody>
                  <a:tcPr marL="36576" marR="36576" marT="36576" marB="36576">
                    <a:solidFill>
                      <a:srgbClr val="006455"/>
                    </a:solidFill>
                  </a:tcPr>
                </a:tc>
                <a:tc>
                  <a:txBody>
                    <a:bodyPr/>
                    <a:lstStyle/>
                    <a:p>
                      <a:pPr algn="ctr">
                        <a:defRPr sz="1100" b="1">
                          <a:solidFill>
                            <a:srgbClr val="FFFFFF"/>
                          </a:solidFill>
                          <a:latin typeface="Montserrat"/>
                        </a:defRPr>
                      </a:pPr>
                      <a:r>
                        <a:t>Integrantes de Comités</a:t>
                      </a:r>
                    </a:p>
                  </a:txBody>
                  <a:tcPr marL="36576" marR="36576" marT="36576" marB="36576">
                    <a:solidFill>
                      <a:srgbClr val="006455"/>
                    </a:solidFill>
                  </a:tcPr>
                </a:tc>
                <a:tc>
                  <a:txBody>
                    <a:bodyPr/>
                    <a:lstStyle/>
                    <a:p>
                      <a:pPr algn="ctr">
                        <a:defRPr sz="1100" b="1">
                          <a:solidFill>
                            <a:srgbClr val="FFFFFF"/>
                          </a:solidFill>
                          <a:latin typeface="Montserrat"/>
                        </a:defRPr>
                      </a:pPr>
                      <a:r>
                        <a:t>Voluntarios</a:t>
                      </a:r>
                    </a:p>
                  </a:txBody>
                  <a:tcPr marL="36576" marR="36576" marT="36576" marB="36576">
                    <a:solidFill>
                      <a:srgbClr val="006455"/>
                    </a:solidFill>
                  </a:tcPr>
                </a:tc>
                <a:tc>
                  <a:txBody>
                    <a:bodyPr/>
                    <a:lstStyle/>
                    <a:p>
                      <a:pPr algn="ctr">
                        <a:defRPr sz="1100" b="1">
                          <a:solidFill>
                            <a:srgbClr val="FFFFFF"/>
                          </a:solidFill>
                          <a:latin typeface="Montserrat"/>
                        </a:defRPr>
                      </a:pPr>
                      <a:r>
                        <a:t>Parteras Voluntarias</a:t>
                      </a:r>
                    </a:p>
                  </a:txBody>
                  <a:tcPr marL="36576" marR="36576" marT="36576" marB="36576">
                    <a:solidFill>
                      <a:srgbClr val="006455"/>
                    </a:solidFill>
                  </a:tcPr>
                </a:tc>
                <a:tc>
                  <a:txBody>
                    <a:bodyPr/>
                    <a:lstStyle/>
                    <a:p>
                      <a:pPr algn="ctr">
                        <a:defRPr sz="1100" b="1">
                          <a:solidFill>
                            <a:srgbClr val="FFFFFF"/>
                          </a:solidFill>
                          <a:latin typeface="Montserrat"/>
                        </a:defRPr>
                      </a:pPr>
                      <a:r>
                        <a:t>Médicos Tradicionales</a:t>
                      </a:r>
                    </a:p>
                  </a:txBody>
                  <a:tcPr marL="36576" marR="36576" marT="36576" marB="36576">
                    <a:solidFill>
                      <a:srgbClr val="006455"/>
                    </a:solidFill>
                  </a:tcPr>
                </a:tc>
                <a:extLst>
                  <a:ext uri="{0D108BD9-81ED-4DB2-BD59-A6C34878D82A}">
                    <a16:rowId xmlns:a16="http://schemas.microsoft.com/office/drawing/2014/main" val="10000"/>
                  </a:ext>
                </a:extLst>
              </a:tr>
              <a:tr h="306324">
                <a:tc>
                  <a:txBody>
                    <a:bodyPr/>
                    <a:lstStyle/>
                    <a:p>
                      <a:pPr algn="l">
                        <a:defRPr sz="1000" b="1">
                          <a:solidFill>
                            <a:srgbClr val="006455"/>
                          </a:solidFill>
                          <a:latin typeface="Montserrat"/>
                        </a:defRPr>
                      </a:pPr>
                      <a:r>
                        <a:t>Total Programa</a:t>
                      </a:r>
                    </a:p>
                  </a:txBody>
                  <a:tcPr marL="73152" marR="73152" marT="0" marB="0" anchor="ctr">
                    <a:solidFill>
                      <a:srgbClr val="D3E9E7"/>
                    </a:solidFill>
                  </a:tcPr>
                </a:tc>
                <a:tc>
                  <a:txBody>
                    <a:bodyPr/>
                    <a:lstStyle/>
                    <a:p>
                      <a:pPr algn="ctr">
                        <a:defRPr sz="1000" b="1">
                          <a:solidFill>
                            <a:srgbClr val="006455"/>
                          </a:solidFill>
                          <a:latin typeface="Montserrat"/>
                        </a:defRPr>
                      </a:pPr>
                      <a:r>
                        <a:t>2,443</a:t>
                      </a:r>
                    </a:p>
                  </a:txBody>
                  <a:tcPr marL="73152" marR="73152" marT="0" marB="0" anchor="ctr">
                    <a:solidFill>
                      <a:srgbClr val="D3E9E7"/>
                    </a:solidFill>
                  </a:tcPr>
                </a:tc>
                <a:tc>
                  <a:txBody>
                    <a:bodyPr/>
                    <a:lstStyle/>
                    <a:p>
                      <a:pPr algn="ctr">
                        <a:defRPr sz="1000" b="1">
                          <a:solidFill>
                            <a:srgbClr val="006455"/>
                          </a:solidFill>
                          <a:latin typeface="Montserrat"/>
                        </a:defRPr>
                      </a:pPr>
                      <a:r>
                        <a:t>2,791</a:t>
                      </a:r>
                    </a:p>
                  </a:txBody>
                  <a:tcPr marL="73152" marR="73152" marT="0" marB="0" anchor="ctr">
                    <a:solidFill>
                      <a:srgbClr val="D3E9E7"/>
                    </a:solidFill>
                  </a:tcPr>
                </a:tc>
                <a:tc>
                  <a:txBody>
                    <a:bodyPr/>
                    <a:lstStyle/>
                    <a:p>
                      <a:pPr algn="ctr">
                        <a:defRPr sz="1000" b="1">
                          <a:solidFill>
                            <a:srgbClr val="006455"/>
                          </a:solidFill>
                          <a:latin typeface="Montserrat"/>
                        </a:defRPr>
                      </a:pPr>
                      <a:r>
                        <a:t>17,171</a:t>
                      </a:r>
                    </a:p>
                  </a:txBody>
                  <a:tcPr marL="73152" marR="73152" marT="0" marB="0" anchor="ctr">
                    <a:solidFill>
                      <a:srgbClr val="D3E9E7"/>
                    </a:solidFill>
                  </a:tcPr>
                </a:tc>
                <a:tc>
                  <a:txBody>
                    <a:bodyPr/>
                    <a:lstStyle/>
                    <a:p>
                      <a:pPr algn="ctr">
                        <a:defRPr sz="1000" b="1">
                          <a:solidFill>
                            <a:srgbClr val="006455"/>
                          </a:solidFill>
                          <a:latin typeface="Montserrat"/>
                        </a:defRPr>
                      </a:pPr>
                      <a:r>
                        <a:t>26,243</a:t>
                      </a:r>
                    </a:p>
                  </a:txBody>
                  <a:tcPr marL="73152" marR="73152" marT="0" marB="0" anchor="ctr">
                    <a:solidFill>
                      <a:srgbClr val="D3E9E7"/>
                    </a:solidFill>
                  </a:tcPr>
                </a:tc>
                <a:tc>
                  <a:txBody>
                    <a:bodyPr/>
                    <a:lstStyle/>
                    <a:p>
                      <a:pPr algn="ctr">
                        <a:defRPr sz="1000" b="1">
                          <a:solidFill>
                            <a:srgbClr val="006455"/>
                          </a:solidFill>
                          <a:latin typeface="Montserrat"/>
                        </a:defRPr>
                      </a:pPr>
                      <a:r>
                        <a:t>1,096</a:t>
                      </a:r>
                    </a:p>
                  </a:txBody>
                  <a:tcPr marL="73152" marR="73152" marT="0" marB="0" anchor="ctr">
                    <a:solidFill>
                      <a:srgbClr val="D3E9E7"/>
                    </a:solidFill>
                  </a:tcPr>
                </a:tc>
                <a:tc>
                  <a:txBody>
                    <a:bodyPr/>
                    <a:lstStyle/>
                    <a:p>
                      <a:pPr algn="ctr">
                        <a:defRPr sz="1000" b="1">
                          <a:solidFill>
                            <a:srgbClr val="006455"/>
                          </a:solidFill>
                          <a:latin typeface="Montserrat"/>
                        </a:defRPr>
                      </a:pPr>
                      <a:r>
                        <a:rPr dirty="0"/>
                        <a:t>127</a:t>
                      </a:r>
                    </a:p>
                  </a:txBody>
                  <a:tcPr marL="73152" marR="73152" marT="0" marB="0" anchor="ctr">
                    <a:solidFill>
                      <a:srgbClr val="D3E9E7"/>
                    </a:solidFill>
                  </a:tcPr>
                </a:tc>
                <a:extLst>
                  <a:ext uri="{0D108BD9-81ED-4DB2-BD59-A6C34878D82A}">
                    <a16:rowId xmlns:a16="http://schemas.microsoft.com/office/drawing/2014/main" val="10001"/>
                  </a:ext>
                </a:extLst>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sz="2000" b="1">
                <a:solidFill>
                  <a:srgbClr val="A08250"/>
                </a:solidFill>
                <a:latin typeface="Montserrat"/>
              </a:defRPr>
            </a:pPr>
            <a:r>
              <a:t>1,449,130</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sz="1500" b="1">
                <a:solidFill>
                  <a:srgbClr val="A08250"/>
                </a:solidFill>
                <a:latin typeface="Montserrat"/>
              </a:defRPr>
            </a:pPr>
            <a:r>
              <a:t>379,440</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sz="1500" b="1">
                <a:solidFill>
                  <a:srgbClr val="A08250"/>
                </a:solidFill>
                <a:latin typeface="Montserrat"/>
              </a:defRPr>
            </a:pPr>
            <a:r>
              <a:t>1,069,690</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524,103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sz="2600" b="1">
                <a:solidFill>
                  <a:srgbClr val="FFFFFF"/>
                </a:solidFill>
                <a:latin typeface="Montserrat"/>
              </a:defRPr>
            </a:pPr>
            <a:r>
              <a:t>1,509,670</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sz="2600" b="1">
                <a:solidFill>
                  <a:srgbClr val="FFFFFF"/>
                </a:solidFill>
                <a:latin typeface="Montserrat"/>
              </a:defRPr>
            </a:pPr>
            <a:r>
              <a:t>7,131</a:t>
            </a:r>
          </a:p>
          <a:p>
            <a:pPr algn="ctr">
              <a:defRPr sz="1600">
                <a:solidFill>
                  <a:srgbClr val="CFC48C"/>
                </a:solidFill>
                <a:latin typeface="Montserrat"/>
              </a:defRPr>
            </a:pPr>
            <a:r>
              <a:t>cirugías anuales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553</TotalTime>
  <Words>8100</Words>
  <Application>Microsoft Office PowerPoint</Application>
  <PresentationFormat>Personalizado</PresentationFormat>
  <Paragraphs>3404</Paragraphs>
  <Slides>36</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Montserrat</vt:lpstr>
      <vt:lpstr>Arial</vt:lpstr>
      <vt:lpstr>Noto Sans Black</vt:lpstr>
      <vt:lpstr>Noto Sans</vt:lpstr>
      <vt:lpstr>Calibri</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Laura Patricia Galvan Chavez</cp:lastModifiedBy>
  <cp:revision>123</cp:revision>
  <dcterms:modified xsi:type="dcterms:W3CDTF">2026-07-02T22:49:59Z</dcterms:modified>
</cp:coreProperties>
</file>