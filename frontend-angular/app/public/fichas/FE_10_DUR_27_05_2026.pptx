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3"/>
    <p:sldId id="261" r:id="rId7"/>
    <p:sldId id="287" r:id="rId8"/>
    <p:sldId id="262" r:id="rId9"/>
    <p:sldId id="263" r:id="rId10"/>
    <p:sldId id="280" r:id="rId11"/>
    <p:sldId id="267" r:id="rId12"/>
    <p:sldId id="298" r:id="rId13"/>
    <p:sldId id="302" r:id="rId44"/>
    <p:sldId id="303" r:id="rId45"/>
    <p:sldId id="281" r:id="rId14"/>
    <p:sldId id="304" r:id="rId46"/>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A1693F-1988-E31B-4179-066E83C934CE}" v="83" dt="2026-05-12T22:36:15.457"/>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2:21.175" v="0"/>
      <pc:docMkLst>
        <pc:docMk/>
      </pc:docMkLst>
      <pc:sldChg chg="add">
        <pc:chgData name="Carlos Esponda Rosales" userId="08a2b2cc-6d12-4dea-90fe-c484bece8186" providerId="ADAL" clId="{6846A1DD-3EC1-5A12-B3C5-9C410579EE4F}" dt="2026-05-08T17:32:21.175" v="0"/>
        <pc:sldMkLst>
          <pc:docMk/>
          <pc:sldMk cId="2875378135"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7:26:51.907" v="106" actId="14100"/>
      <pc:docMkLst>
        <pc:docMk/>
      </pc:docMkLst>
      <pc:sldChg chg="addSp delSp modSp mod">
        <pc:chgData name="Edgar Rosales Ortega" userId="d1d54fc2-1570-4978-babc-e22e1526833f" providerId="ADAL" clId="{66BE7C30-C669-4152-AC74-10076FC0590C}" dt="2026-04-30T23:07:40.345" v="94" actId="1035"/>
        <pc:sldMkLst>
          <pc:docMk/>
          <pc:sldMk cId="0" sldId="260"/>
        </pc:sldMkLst>
        <pc:spChg chg="add mod">
          <ac:chgData name="Edgar Rosales Ortega" userId="d1d54fc2-1570-4978-babc-e22e1526833f" providerId="ADAL" clId="{66BE7C30-C669-4152-AC74-10076FC0590C}" dt="2026-04-30T23:07:40.345" v="94" actId="1035"/>
          <ac:spMkLst>
            <pc:docMk/>
            <pc:sldMk cId="0" sldId="260"/>
            <ac:spMk id="7" creationId="{F02A18FA-683B-482B-356D-272DF52F6D49}"/>
          </ac:spMkLst>
        </pc:spChg>
        <pc:graphicFrameChg chg="add mod">
          <ac:chgData name="Edgar Rosales Ortega" userId="d1d54fc2-1570-4978-babc-e22e1526833f" providerId="ADAL" clId="{66BE7C30-C669-4152-AC74-10076FC0590C}" dt="2026-04-30T23:07:32.349" v="37" actId="1076"/>
          <ac:graphicFrameMkLst>
            <pc:docMk/>
            <pc:sldMk cId="0" sldId="260"/>
            <ac:graphicFrameMk id="6" creationId="{B7E3B410-D80B-EC1A-8FA0-68E1F1CE2BE1}"/>
          </ac:graphicFrameMkLst>
        </pc:graphicFrameChg>
        <pc:picChg chg="add mod">
          <ac:chgData name="Edgar Rosales Ortega" userId="d1d54fc2-1570-4978-babc-e22e1526833f" providerId="ADAL" clId="{66BE7C30-C669-4152-AC74-10076FC0590C}" dt="2026-04-30T23:07:40.345" v="94" actId="1035"/>
          <ac:picMkLst>
            <pc:docMk/>
            <pc:sldMk cId="0" sldId="260"/>
            <ac:picMk id="5" creationId="{3FB2D7BF-6E41-BF5F-F347-781D0DFE3537}"/>
          </ac:picMkLst>
        </pc:picChg>
      </pc:sldChg>
      <pc:sldChg chg="delSp mod">
        <pc:chgData name="Edgar Rosales Ortega" userId="d1d54fc2-1570-4978-babc-e22e1526833f" providerId="ADAL" clId="{66BE7C30-C669-4152-AC74-10076FC0590C}" dt="2026-05-07T17:14:16.538" v="97" actId="478"/>
        <pc:sldMkLst>
          <pc:docMk/>
          <pc:sldMk cId="0" sldId="262"/>
        </pc:sldMkLst>
      </pc:sldChg>
      <pc:sldChg chg="addSp delSp modSp mod">
        <pc:chgData name="Edgar Rosales Ortega" userId="d1d54fc2-1570-4978-babc-e22e1526833f" providerId="ADAL" clId="{66BE7C30-C669-4152-AC74-10076FC0590C}" dt="2026-05-07T17:26:17.846" v="100" actId="478"/>
        <pc:sldMkLst>
          <pc:docMk/>
          <pc:sldMk cId="0" sldId="263"/>
        </pc:sldMkLst>
      </pc:sldChg>
      <pc:sldChg chg="modSp mod ord">
        <pc:chgData name="Edgar Rosales Ortega" userId="d1d54fc2-1570-4978-babc-e22e1526833f" providerId="ADAL" clId="{66BE7C30-C669-4152-AC74-10076FC0590C}" dt="2026-04-30T15:47:34.370" v="30"/>
        <pc:sldMkLst>
          <pc:docMk/>
          <pc:sldMk cId="0" sldId="267"/>
        </pc:sldMkLst>
        <pc:graphicFrameChg chg="mod modGraphic">
          <ac:chgData name="Edgar Rosales Ortega" userId="d1d54fc2-1570-4978-babc-e22e1526833f" providerId="ADAL" clId="{66BE7C30-C669-4152-AC74-10076FC0590C}" dt="2026-04-30T00:09:31.142" v="19" actId="1036"/>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7:26:30.370" v="101"/>
        <pc:sldMkLst>
          <pc:docMk/>
          <pc:sldMk cId="0" sldId="272"/>
        </pc:sldMkLst>
        <pc:graphicFrameChg chg="mod">
          <ac:chgData name="Edgar Rosales Ortega" userId="d1d54fc2-1570-4978-babc-e22e1526833f" providerId="ADAL" clId="{66BE7C30-C669-4152-AC74-10076FC0590C}" dt="2026-05-07T17:26:30.370" v="10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5:46.982" v="96" actId="1076"/>
        <pc:sldMkLst>
          <pc:docMk/>
          <pc:sldMk cId="0" sldId="279"/>
        </pc:sldMkLst>
        <pc:spChg chg="add mod">
          <ac:chgData name="Edgar Rosales Ortega" userId="d1d54fc2-1570-4978-babc-e22e1526833f" providerId="ADAL" clId="{66BE7C30-C669-4152-AC74-10076FC0590C}" dt="2026-04-30T16:25:34.038" v="31" actId="1076"/>
          <ac:spMkLst>
            <pc:docMk/>
            <pc:sldMk cId="0" sldId="279"/>
            <ac:spMk id="2" creationId="{E71C6407-6BD4-D3AA-EED1-1BCF8016205F}"/>
          </ac:spMkLst>
        </pc:spChg>
        <pc:spChg chg="mod">
          <ac:chgData name="Edgar Rosales Ortega" userId="d1d54fc2-1570-4978-babc-e22e1526833f" providerId="ADAL" clId="{66BE7C30-C669-4152-AC74-10076FC0590C}" dt="2026-05-05T17:55:46.982" v="9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7:30.951" v="28"/>
        <pc:sldMkLst>
          <pc:docMk/>
          <pc:sldMk cId="540716406" sldId="280"/>
        </pc:sldMkLst>
        <pc:graphicFrameChg chg="modGraphic">
          <ac:chgData name="Edgar Rosales Ortega" userId="d1d54fc2-1570-4978-babc-e22e1526833f" providerId="ADAL" clId="{66BE7C30-C669-4152-AC74-10076FC0590C}" dt="2026-04-30T00:09:35.176" v="20" actId="6549"/>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5:36.128" v="95" actId="478"/>
        <pc:sldMkLst>
          <pc:docMk/>
          <pc:sldMk cId="3828482411" sldId="281"/>
        </pc:sldMkLst>
      </pc:sldChg>
      <pc:sldChg chg="modSp mod">
        <pc:chgData name="Edgar Rosales Ortega" userId="d1d54fc2-1570-4978-babc-e22e1526833f" providerId="ADAL" clId="{66BE7C30-C669-4152-AC74-10076FC0590C}" dt="2026-05-07T17:26:51.907" v="106" actId="14100"/>
        <pc:sldMkLst>
          <pc:docMk/>
          <pc:sldMk cId="364733940" sldId="284"/>
        </pc:sldMkLst>
        <pc:picChg chg="mod">
          <ac:chgData name="Edgar Rosales Ortega" userId="d1d54fc2-1570-4978-babc-e22e1526833f" providerId="ADAL" clId="{66BE7C30-C669-4152-AC74-10076FC0590C}" dt="2026-05-07T17:26:51.907" v="10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7:24.196" v="26"/>
        <pc:sldMkLst>
          <pc:docMk/>
          <pc:sldMk cId="748044913" sldId="287"/>
        </pc:sldMkLst>
        <pc:graphicFrameChg chg="modGraphic">
          <ac:chgData name="Edgar Rosales Ortega" userId="d1d54fc2-1570-4978-babc-e22e1526833f" providerId="ADAL" clId="{66BE7C30-C669-4152-AC74-10076FC0590C}" dt="2026-04-30T00:09:38.668" v="21"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7:26:41.553" v="104" actId="14100"/>
        <pc:sldMkLst>
          <pc:docMk/>
          <pc:sldMk cId="3240565764" sldId="297"/>
        </pc:sldMkLst>
        <pc:picChg chg="mod">
          <ac:chgData name="Edgar Rosales Ortega" userId="d1d54fc2-1570-4978-babc-e22e1526833f" providerId="ADAL" clId="{66BE7C30-C669-4152-AC74-10076FC0590C}" dt="2026-05-07T17:26:41.553" v="104"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F5A1693F-1988-E31B-4179-066E83C934CE}"/>
    <pc:docChg chg="modSld">
      <pc:chgData name="Gerardo Jahir Lara Garcia" userId="S::gerardo.larag@imss.gob.mx::84d5cd65-4601-4e92-b448-a9da4809e012" providerId="AD" clId="Web-{F5A1693F-1988-E31B-4179-066E83C934CE}" dt="2026-05-12T22:36:11.910" v="45" actId="20577"/>
      <pc:docMkLst>
        <pc:docMk/>
      </pc:docMkLst>
      <pc:sldChg chg="addSp delSp modSp">
        <pc:chgData name="Gerardo Jahir Lara Garcia" userId="S::gerardo.larag@imss.gob.mx::84d5cd65-4601-4e92-b448-a9da4809e012" providerId="AD" clId="Web-{F5A1693F-1988-E31B-4179-066E83C934CE}" dt="2026-05-12T22:36:11.910" v="45" actId="20577"/>
        <pc:sldMkLst>
          <pc:docMk/>
          <pc:sldMk cId="364733940" sldId="284"/>
        </pc:sldMkLst>
        <pc:spChg chg="add mod">
          <ac:chgData name="Gerardo Jahir Lara Garcia" userId="S::gerardo.larag@imss.gob.mx::84d5cd65-4601-4e92-b448-a9da4809e012" providerId="AD" clId="Web-{F5A1693F-1988-E31B-4179-066E83C934CE}" dt="2026-05-12T22:34:55.516" v="17" actId="20577"/>
          <ac:spMkLst>
            <pc:docMk/>
            <pc:sldMk cId="364733940" sldId="284"/>
            <ac:spMk id="3" creationId="{ABCC6279-D2EB-1F1F-D811-3FFF80887FF1}"/>
          </ac:spMkLst>
        </pc:spChg>
        <pc:spChg chg="add mod">
          <ac:chgData name="Gerardo Jahir Lara Garcia" userId="S::gerardo.larag@imss.gob.mx::84d5cd65-4601-4e92-b448-a9da4809e012" providerId="AD" clId="Web-{F5A1693F-1988-E31B-4179-066E83C934CE}" dt="2026-05-12T22:36:11.910" v="45" actId="20577"/>
          <ac:spMkLst>
            <pc:docMk/>
            <pc:sldMk cId="364733940" sldId="284"/>
            <ac:spMk id="6" creationId="{4578A0AA-9DC1-3453-263A-76BE5A8BE282}"/>
          </ac:spMkLst>
        </pc:spChg>
        <pc:spChg chg="add del">
          <ac:chgData name="Gerardo Jahir Lara Garcia" userId="S::gerardo.larag@imss.gob.mx::84d5cd65-4601-4e92-b448-a9da4809e012" providerId="AD" clId="Web-{F5A1693F-1988-E31B-4179-066E83C934CE}" dt="2026-05-12T22:35:02.767" v="22"/>
          <ac:spMkLst>
            <pc:docMk/>
            <pc:sldMk cId="364733940" sldId="284"/>
            <ac:spMk id="9" creationId="{907F7F6F-8FF8-56A0-795F-B2A127C97D4D}"/>
          </ac:spMkLst>
        </pc:spChg>
        <pc:spChg chg="add del">
          <ac:chgData name="Gerardo Jahir Lara Garcia" userId="S::gerardo.larag@imss.gob.mx::84d5cd65-4601-4e92-b448-a9da4809e012" providerId="AD" clId="Web-{F5A1693F-1988-E31B-4179-066E83C934CE}" dt="2026-05-12T22:35:02.767" v="20"/>
          <ac:spMkLst>
            <pc:docMk/>
            <pc:sldMk cId="364733940" sldId="284"/>
            <ac:spMk id="11" creationId="{2C157DF6-A7FD-940D-19DA-323ACD68454D}"/>
          </ac:spMkLst>
        </pc:spChg>
        <pc:picChg chg="add">
          <ac:chgData name="Gerardo Jahir Lara Garcia" userId="S::gerardo.larag@imss.gob.mx::84d5cd65-4601-4e92-b448-a9da4809e012" providerId="AD" clId="Web-{F5A1693F-1988-E31B-4179-066E83C934CE}" dt="2026-05-12T22:33:06.716" v="1"/>
          <ac:picMkLst>
            <pc:docMk/>
            <pc:sldMk cId="364733940" sldId="284"/>
            <ac:picMk id="4" creationId="{488C755F-8E2D-8CE1-6C1B-6DBB55EE2CD3}"/>
          </ac:picMkLst>
        </pc:picChg>
        <pc:picChg chg="add del">
          <ac:chgData name="Gerardo Jahir Lara Garcia" userId="S::gerardo.larag@imss.gob.mx::84d5cd65-4601-4e92-b448-a9da4809e012" providerId="AD" clId="Web-{F5A1693F-1988-E31B-4179-066E83C934CE}" dt="2026-05-12T22:35:02.767" v="23"/>
          <ac:picMkLst>
            <pc:docMk/>
            <pc:sldMk cId="364733940" sldId="284"/>
            <ac:picMk id="8" creationId="{4F2E1097-3694-6090-CBA5-667DCD67E48E}"/>
          </ac:picMkLst>
        </pc:picChg>
        <pc:picChg chg="add del">
          <ac:chgData name="Gerardo Jahir Lara Garcia" userId="S::gerardo.larag@imss.gob.mx::84d5cd65-4601-4e92-b448-a9da4809e012" providerId="AD" clId="Web-{F5A1693F-1988-E31B-4179-066E83C934CE}" dt="2026-05-12T22:35:02.767" v="21"/>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F5A1693F-1988-E31B-4179-066E83C934CE}" dt="2026-05-12T22:34:22.453" v="5"/>
        <pc:sldMkLst>
          <pc:docMk/>
          <pc:sldMk cId="3240565764" sldId="297"/>
        </pc:sldMkLst>
        <pc:spChg chg="add">
          <ac:chgData name="Gerardo Jahir Lara Garcia" userId="S::gerardo.larag@imss.gob.mx::84d5cd65-4601-4e92-b448-a9da4809e012" providerId="AD" clId="Web-{F5A1693F-1988-E31B-4179-066E83C934CE}" dt="2026-05-12T22:32:58.059" v="0"/>
          <ac:spMkLst>
            <pc:docMk/>
            <pc:sldMk cId="3240565764" sldId="297"/>
            <ac:spMk id="3" creationId="{21AE8FA6-CA77-F761-93C9-BF2570CBBE30}"/>
          </ac:spMkLst>
        </pc:spChg>
        <pc:spChg chg="add">
          <ac:chgData name="Gerardo Jahir Lara Garcia" userId="S::gerardo.larag@imss.gob.mx::84d5cd65-4601-4e92-b448-a9da4809e012" providerId="AD" clId="Web-{F5A1693F-1988-E31B-4179-066E83C934CE}" dt="2026-05-12T22:32:58.059" v="0"/>
          <ac:spMkLst>
            <pc:docMk/>
            <pc:sldMk cId="3240565764" sldId="297"/>
            <ac:spMk id="7" creationId="{FD4175D4-66CF-7FBC-B843-C149C5339DF1}"/>
          </ac:spMkLst>
        </pc:spChg>
        <pc:spChg chg="add mod">
          <ac:chgData name="Gerardo Jahir Lara Garcia" userId="S::gerardo.larag@imss.gob.mx::84d5cd65-4601-4e92-b448-a9da4809e012" providerId="AD" clId="Web-{F5A1693F-1988-E31B-4179-066E83C934CE}" dt="2026-05-12T22:34:11.609" v="2" actId="20577"/>
          <ac:spMkLst>
            <pc:docMk/>
            <pc:sldMk cId="3240565764" sldId="297"/>
            <ac:spMk id="9" creationId="{50F1217E-09B0-81A3-6E99-CB1DE729ADDF}"/>
          </ac:spMkLst>
        </pc:spChg>
        <pc:spChg chg="add del">
          <ac:chgData name="Gerardo Jahir Lara Garcia" userId="S::gerardo.larag@imss.gob.mx::84d5cd65-4601-4e92-b448-a9da4809e012" providerId="AD" clId="Web-{F5A1693F-1988-E31B-4179-066E83C934CE}" dt="2026-05-12T22:34:22.453" v="5"/>
          <ac:spMkLst>
            <pc:docMk/>
            <pc:sldMk cId="3240565764" sldId="297"/>
            <ac:spMk id="10" creationId="{991C7EE4-1170-AC4C-597D-3383D8E8A8F9}"/>
          </ac:spMkLst>
        </pc:spChg>
        <pc:spChg chg="add del">
          <ac:chgData name="Gerardo Jahir Lara Garcia" userId="S::gerardo.larag@imss.gob.mx::84d5cd65-4601-4e92-b448-a9da4809e012" providerId="AD" clId="Web-{F5A1693F-1988-E31B-4179-066E83C934CE}" dt="2026-05-12T22:34:22.453" v="3"/>
          <ac:spMkLst>
            <pc:docMk/>
            <pc:sldMk cId="3240565764" sldId="297"/>
            <ac:spMk id="12" creationId="{CA535D92-E281-11D7-D7CB-F8BAB9F176B8}"/>
          </ac:spMkLst>
        </pc:spChg>
        <pc:spChg chg="add">
          <ac:chgData name="Gerardo Jahir Lara Garcia" userId="S::gerardo.larag@imss.gob.mx::84d5cd65-4601-4e92-b448-a9da4809e012" providerId="AD" clId="Web-{F5A1693F-1988-E31B-4179-066E83C934CE}" dt="2026-05-12T22:32:58.059" v="0"/>
          <ac:spMkLst>
            <pc:docMk/>
            <pc:sldMk cId="3240565764" sldId="297"/>
            <ac:spMk id="13" creationId="{B9C2E918-974F-A566-8C8B-5DDE4ED4290B}"/>
          </ac:spMkLst>
        </pc:spChg>
        <pc:spChg chg="add">
          <ac:chgData name="Gerardo Jahir Lara Garcia" userId="S::gerardo.larag@imss.gob.mx::84d5cd65-4601-4e92-b448-a9da4809e012" providerId="AD" clId="Web-{F5A1693F-1988-E31B-4179-066E83C934CE}" dt="2026-05-12T22:32:58.059" v="0"/>
          <ac:spMkLst>
            <pc:docMk/>
            <pc:sldMk cId="3240565764" sldId="297"/>
            <ac:spMk id="15" creationId="{A0083CC0-370A-999A-F425-0B0E05DEB5CF}"/>
          </ac:spMkLst>
        </pc:spChg>
        <pc:picChg chg="add">
          <ac:chgData name="Gerardo Jahir Lara Garcia" userId="S::gerardo.larag@imss.gob.mx::84d5cd65-4601-4e92-b448-a9da4809e012" providerId="AD" clId="Web-{F5A1693F-1988-E31B-4179-066E83C934CE}" dt="2026-05-12T22:32:58.059" v="0"/>
          <ac:picMkLst>
            <pc:docMk/>
            <pc:sldMk cId="3240565764" sldId="297"/>
            <ac:picMk id="4" creationId="{AE9FD96F-084C-5DEE-6966-05F8D1633A42}"/>
          </ac:picMkLst>
        </pc:picChg>
        <pc:picChg chg="add">
          <ac:chgData name="Gerardo Jahir Lara Garcia" userId="S::gerardo.larag@imss.gob.mx::84d5cd65-4601-4e92-b448-a9da4809e012" providerId="AD" clId="Web-{F5A1693F-1988-E31B-4179-066E83C934CE}" dt="2026-05-12T22:32:58.059" v="0"/>
          <ac:picMkLst>
            <pc:docMk/>
            <pc:sldMk cId="3240565764" sldId="297"/>
            <ac:picMk id="8" creationId="{170CBE01-E044-2F44-556A-69D0B561DC01}"/>
          </ac:picMkLst>
        </pc:picChg>
        <pc:picChg chg="del">
          <ac:chgData name="Gerardo Jahir Lara Garcia" userId="S::gerardo.larag@imss.gob.mx::84d5cd65-4601-4e92-b448-a9da4809e012" providerId="AD" clId="Web-{F5A1693F-1988-E31B-4179-066E83C934CE}" dt="2026-05-12T22:34:22.453" v="4"/>
          <ac:picMkLst>
            <pc:docMk/>
            <pc:sldMk cId="3240565764" sldId="297"/>
            <ac:picMk id="11" creationId="{F7B31A16-FD1A-331A-6F76-259EB810FD76}"/>
          </ac:picMkLst>
        </pc:picChg>
        <pc:picChg chg="add">
          <ac:chgData name="Gerardo Jahir Lara Garcia" userId="S::gerardo.larag@imss.gob.mx::84d5cd65-4601-4e92-b448-a9da4809e012" providerId="AD" clId="Web-{F5A1693F-1988-E31B-4179-066E83C934CE}" dt="2026-05-12T22:32:58.059"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913424.0</c:v>
                </c:pt>
                <c:pt idx="1">
                  <c:v>285627.0</c:v>
                </c:pt>
                <c:pt idx="2">
                  <c:v>346427.0</c:v>
                </c:pt>
                <c:pt idx="3">
                  <c:v>382005.0</c:v>
                </c:pt>
                <c:pt idx="4">
                  <c:v>11999.0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36.91210786178947</c:v>
                </c:pt>
                <c:pt idx="1">
                  <c:v>63.08789213821053</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9.7181375165</c:v>
                </c:pt>
                <c:pt idx="1">
                  <c:v>90.28186248349999</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41.81303906646372</c:v>
                </c:pt>
                <c:pt idx="1">
                  <c:v>58.18696093353628</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40.15609541607123</c:v>
                </c:pt>
                <c:pt idx="1">
                  <c:v>59.84390458392877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45</c:v>
                </c:pt>
                <c:pt idx="1">
                  <c:v>100</c:v>
                </c:pt>
                <c:pt idx="2">
                  <c:v>81</c:v>
                </c:pt>
                <c:pt idx="3">
                  <c:v>93</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Transportes y Comunicaciones</c:v>
                </c:pt>
                <c:pt idx="2">
                  <c:v>Industrias de la Transformación</c:v>
                </c:pt>
                <c:pt idx="3">
                  <c:v>Ind Eléctrica y Captación y Suministro de Agua Potable</c:v>
                </c:pt>
                <c:pt idx="4">
                  <c:v>Agricultura, Ganaderia, Silvicultura, Pesca y Caza</c:v>
                </c:pt>
                <c:pt idx="5">
                  <c:v>Servicios Sociales y Comunales</c:v>
                </c:pt>
                <c:pt idx="6">
                  <c:v>Comercio</c:v>
                </c:pt>
                <c:pt idx="7">
                  <c:v>Industria de la Construcción</c:v>
                </c:pt>
                <c:pt idx="8">
                  <c:v>Industrias Extractivas</c:v>
                </c:pt>
              </c:strCache>
            </c:strRef>
          </c:cat>
          <c:val>
            <c:numRef>
              <c:f>Sheet1!$B$2:$B$10</c:f>
              <c:numCache>
                <c:formatCode>General</c:formatCode>
                <c:ptCount val="9"/>
                <c:pt idx="0">
                  <c:v>30914</c:v>
                </c:pt>
                <c:pt idx="1">
                  <c:v>18427</c:v>
                </c:pt>
                <c:pt idx="2">
                  <c:v>88922</c:v>
                </c:pt>
                <c:pt idx="3">
                  <c:v>3494</c:v>
                </c:pt>
                <c:pt idx="4">
                  <c:v>13746</c:v>
                </c:pt>
                <c:pt idx="5">
                  <c:v>24334</c:v>
                </c:pt>
                <c:pt idx="6">
                  <c:v>53558</c:v>
                </c:pt>
                <c:pt idx="7">
                  <c:v>17595</c:v>
                </c:pt>
                <c:pt idx="8">
                  <c:v>10825</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Transportes y Comunicaciones</c:v>
                </c:pt>
                <c:pt idx="2">
                  <c:v>Industrias de la Transformación</c:v>
                </c:pt>
                <c:pt idx="3">
                  <c:v>Ind Eléctrica y Captación y Suministro de Agua Potable</c:v>
                </c:pt>
                <c:pt idx="4">
                  <c:v>Agricultura, Ganaderia, Silvicultura, Pesca y Caza</c:v>
                </c:pt>
                <c:pt idx="5">
                  <c:v>Servicios Sociales y Comunales</c:v>
                </c:pt>
                <c:pt idx="6">
                  <c:v>Comercio</c:v>
                </c:pt>
                <c:pt idx="7">
                  <c:v>Industria de la Construcción</c:v>
                </c:pt>
                <c:pt idx="8">
                  <c:v>Industrias Extractivas</c:v>
                </c:pt>
              </c:strCache>
            </c:strRef>
          </c:cat>
          <c:val>
            <c:numRef>
              <c:f>Sheet1!$C$2:$C$10</c:f>
              <c:numCache>
                <c:formatCode>General</c:formatCode>
                <c:ptCount val="9"/>
                <c:pt idx="0">
                  <c:v>30324</c:v>
                </c:pt>
                <c:pt idx="1">
                  <c:v>18098</c:v>
                </c:pt>
                <c:pt idx="2">
                  <c:v>88686</c:v>
                </c:pt>
                <c:pt idx="3">
                  <c:v>3485</c:v>
                </c:pt>
                <c:pt idx="4">
                  <c:v>13858</c:v>
                </c:pt>
                <c:pt idx="5">
                  <c:v>24905</c:v>
                </c:pt>
                <c:pt idx="6">
                  <c:v>54965</c:v>
                </c:pt>
                <c:pt idx="7">
                  <c:v>19229</c:v>
                </c:pt>
                <c:pt idx="8">
                  <c:v>12190</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246076</c:v>
                </c:pt>
                <c:pt idx="1">
                  <c:v>245956</c:v>
                </c:pt>
                <c:pt idx="2">
                  <c:v>240621</c:v>
                </c:pt>
                <c:pt idx="3">
                  <c:v>243118</c:v>
                </c:pt>
                <c:pt idx="4">
                  <c:v>258662</c:v>
                </c:pt>
                <c:pt idx="5">
                  <c:v>260824</c:v>
                </c:pt>
                <c:pt idx="6">
                  <c:v>261976</c:v>
                </c:pt>
                <c:pt idx="7">
                  <c:v>261815</c:v>
                </c:pt>
                <c:pt idx="8">
                  <c:v>265740</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Durango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_Durang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62%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913,424</a:t>
            </a:r>
            <a:br/>
            <a:r>
              <a:t>47%</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285,627</a:t>
            </a:r>
            <a:br/>
            <a:r>
              <a:t>15%</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346,427</a:t>
            </a:r>
            <a:br/>
            <a:r>
              <a:t>18%</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382,005</a:t>
            </a:r>
            <a:br/>
            <a:r>
              <a:t>20%</a:t>
            </a:r>
          </a:p>
        </p:txBody>
      </p:sp>
      <p:pic>
        <p:nvPicPr>
          <p:cNvPr id="128" name="Picture 127" descr="10.png"/>
          <p:cNvPicPr>
            <a:picLocks noChangeAspect="1"/>
          </p:cNvPicPr>
          <p:nvPr/>
        </p:nvPicPr>
        <p:blipFill>
          <a:blip r:embed="rId9"/>
          <a:stretch>
            <a:fillRect/>
          </a:stretch>
        </p:blipFill>
        <p:spPr>
          <a:xfrm>
            <a:off x="1220400" y="3290400"/>
            <a:ext cx="1247031"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11,999</a:t>
            </a:r>
            <a:br/>
            <a:r>
              <a:t>0.62%</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1,939,482</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841,093</a:t>
                      </a:r>
                    </a:p>
                  </a:txBody>
                  <a:tcPr>
                    <a:solidFill>
                      <a:srgbClr val="EBD2D9"/>
                    </a:solidFill>
                  </a:tcPr>
                </a:tc>
                <a:tc>
                  <a:txBody>
                    <a:bodyPr/>
                    <a:lstStyle/>
                    <a:p>
                      <a:pPr algn="ctr">
                        <a:defRPr sz="900" b="1">
                          <a:solidFill>
                            <a:srgbClr val="000000"/>
                          </a:solidFill>
                          <a:latin typeface="Montserrat"/>
                        </a:defRPr>
                      </a:pPr>
                      <a:r>
                        <a:t>913,424</a:t>
                      </a:r>
                    </a:p>
                  </a:txBody>
                  <a:tcPr>
                    <a:solidFill>
                      <a:srgbClr val="EBD2D9"/>
                    </a:solidFill>
                  </a:tcPr>
                </a:tc>
                <a:tc>
                  <a:txBody>
                    <a:bodyPr/>
                    <a:lstStyle/>
                    <a:p>
                      <a:pPr algn="ctr">
                        <a:defRPr sz="900" b="1">
                          <a:solidFill>
                            <a:srgbClr val="000000"/>
                          </a:solidFill>
                          <a:latin typeface="Montserrat"/>
                        </a:defRPr>
                      </a:pPr>
                      <a:r>
                        <a:t>9%</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409,994</a:t>
                      </a:r>
                    </a:p>
                  </a:txBody>
                  <a:tcPr>
                    <a:solidFill>
                      <a:srgbClr val="EBD2D9"/>
                    </a:solidFill>
                  </a:tcPr>
                </a:tc>
                <a:tc>
                  <a:txBody>
                    <a:bodyPr/>
                    <a:lstStyle/>
                    <a:p>
                      <a:pPr algn="ctr">
                        <a:defRPr sz="900" b="1">
                          <a:solidFill>
                            <a:srgbClr val="000000"/>
                          </a:solidFill>
                          <a:latin typeface="Montserrat"/>
                        </a:defRPr>
                      </a:pPr>
                      <a:r>
                        <a:t>485,865</a:t>
                      </a:r>
                    </a:p>
                  </a:txBody>
                  <a:tcPr>
                    <a:solidFill>
                      <a:srgbClr val="EBD2D9"/>
                    </a:solidFill>
                  </a:tcPr>
                </a:tc>
                <a:tc>
                  <a:txBody>
                    <a:bodyPr/>
                    <a:lstStyle/>
                    <a:p>
                      <a:pPr algn="ctr">
                        <a:defRPr sz="900" b="1">
                          <a:solidFill>
                            <a:srgbClr val="000000"/>
                          </a:solidFill>
                          <a:latin typeface="Montserrat"/>
                        </a:defRPr>
                      </a:pPr>
                      <a:r>
                        <a:t>19%</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243,651</a:t>
                      </a:r>
                    </a:p>
                  </a:txBody>
                  <a:tcPr>
                    <a:solidFill>
                      <a:srgbClr val="F8F4EC"/>
                    </a:solidFill>
                  </a:tcPr>
                </a:tc>
                <a:tc>
                  <a:txBody>
                    <a:bodyPr/>
                    <a:lstStyle/>
                    <a:p>
                      <a:pPr algn="ctr">
                        <a:defRPr sz="900" b="1">
                          <a:solidFill>
                            <a:srgbClr val="000000"/>
                          </a:solidFill>
                          <a:latin typeface="Montserrat"/>
                        </a:defRPr>
                      </a:pPr>
                      <a:r>
                        <a:t>265,740</a:t>
                      </a:r>
                    </a:p>
                  </a:txBody>
                  <a:tcPr>
                    <a:solidFill>
                      <a:srgbClr val="F8F4EC"/>
                    </a:solidFill>
                  </a:tcPr>
                </a:tc>
                <a:tc>
                  <a:txBody>
                    <a:bodyPr/>
                    <a:lstStyle/>
                    <a:p>
                      <a:pPr algn="ctr">
                        <a:defRPr sz="900" b="1">
                          <a:solidFill>
                            <a:srgbClr val="000000"/>
                          </a:solidFill>
                          <a:latin typeface="Montserrat"/>
                        </a:defRPr>
                      </a:pPr>
                      <a:r>
                        <a:t>9%</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68,799</a:t>
                      </a:r>
                    </a:p>
                  </a:txBody>
                  <a:tcPr>
                    <a:solidFill>
                      <a:srgbClr val="FFFFFF"/>
                    </a:solidFill>
                  </a:tcPr>
                </a:tc>
                <a:tc>
                  <a:txBody>
                    <a:bodyPr/>
                    <a:lstStyle/>
                    <a:p>
                      <a:pPr algn="ctr">
                        <a:defRPr sz="900">
                          <a:solidFill>
                            <a:srgbClr val="000000"/>
                          </a:solidFill>
                          <a:latin typeface="Montserrat"/>
                        </a:defRPr>
                      </a:pPr>
                      <a:r>
                        <a:t>94,502</a:t>
                      </a:r>
                    </a:p>
                  </a:txBody>
                  <a:tcPr>
                    <a:solidFill>
                      <a:srgbClr val="FFFFFF"/>
                    </a:solidFill>
                  </a:tcPr>
                </a:tc>
                <a:tc>
                  <a:txBody>
                    <a:bodyPr/>
                    <a:lstStyle/>
                    <a:p>
                      <a:pPr algn="ctr">
                        <a:defRPr sz="900">
                          <a:solidFill>
                            <a:srgbClr val="000000"/>
                          </a:solidFill>
                          <a:latin typeface="Montserrat"/>
                        </a:defRPr>
                      </a:pPr>
                      <a:r>
                        <a:t>37%</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9,876</a:t>
                      </a:r>
                    </a:p>
                  </a:txBody>
                  <a:tcPr>
                    <a:solidFill>
                      <a:srgbClr val="FFFFFF"/>
                    </a:solidFill>
                  </a:tcPr>
                </a:tc>
                <a:tc>
                  <a:txBody>
                    <a:bodyPr/>
                    <a:lstStyle/>
                    <a:p>
                      <a:pPr algn="ctr">
                        <a:defRPr sz="900">
                          <a:solidFill>
                            <a:srgbClr val="000000"/>
                          </a:solidFill>
                          <a:latin typeface="Montserrat"/>
                        </a:defRPr>
                      </a:pPr>
                      <a:r>
                        <a:t>10,691</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87,668</a:t>
                      </a:r>
                    </a:p>
                  </a:txBody>
                  <a:tcPr>
                    <a:solidFill>
                      <a:srgbClr val="CCE0DD"/>
                    </a:solidFill>
                  </a:tcPr>
                </a:tc>
                <a:tc>
                  <a:txBody>
                    <a:bodyPr/>
                    <a:lstStyle/>
                    <a:p>
                      <a:pPr algn="ctr">
                        <a:defRPr sz="900" b="1">
                          <a:solidFill>
                            <a:srgbClr val="000000"/>
                          </a:solidFill>
                          <a:latin typeface="Montserrat"/>
                        </a:defRPr>
                      </a:pPr>
                      <a:r>
                        <a:t>81,457</a:t>
                      </a:r>
                    </a:p>
                  </a:txBody>
                  <a:tcPr>
                    <a:solidFill>
                      <a:srgbClr val="CCE0DD"/>
                    </a:solidFill>
                  </a:tcPr>
                </a:tc>
                <a:tc>
                  <a:txBody>
                    <a:bodyPr/>
                    <a:lstStyle/>
                    <a:p>
                      <a:pPr algn="ctr">
                        <a:defRPr sz="900" b="1">
                          <a:solidFill>
                            <a:srgbClr val="000000"/>
                          </a:solidFill>
                          <a:latin typeface="Montserrat"/>
                        </a:defRPr>
                      </a:pPr>
                      <a:r>
                        <a:t>-7%</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85,145</a:t>
                      </a:r>
                    </a:p>
                  </a:txBody>
                  <a:tcPr>
                    <a:solidFill>
                      <a:srgbClr val="FFFFFF"/>
                    </a:solidFill>
                  </a:tcPr>
                </a:tc>
                <a:tc>
                  <a:txBody>
                    <a:bodyPr/>
                    <a:lstStyle/>
                    <a:p>
                      <a:pPr algn="ctr">
                        <a:defRPr sz="900">
                          <a:solidFill>
                            <a:srgbClr val="000000"/>
                          </a:solidFill>
                          <a:latin typeface="Montserrat"/>
                        </a:defRPr>
                      </a:pPr>
                      <a:r>
                        <a:t>78,281</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1,290</a:t>
                      </a:r>
                    </a:p>
                  </a:txBody>
                  <a:tcPr>
                    <a:solidFill>
                      <a:srgbClr val="FFFFFF"/>
                    </a:solidFill>
                  </a:tcPr>
                </a:tc>
                <a:tc>
                  <a:txBody>
                    <a:bodyPr/>
                    <a:lstStyle/>
                    <a:p>
                      <a:pPr algn="ctr">
                        <a:defRPr sz="900">
                          <a:solidFill>
                            <a:srgbClr val="000000"/>
                          </a:solidFill>
                          <a:latin typeface="Montserrat"/>
                        </a:defRPr>
                      </a:pPr>
                      <a:r>
                        <a:t>345</a:t>
                      </a:r>
                    </a:p>
                  </a:txBody>
                  <a:tcPr>
                    <a:solidFill>
                      <a:srgbClr val="FFFFFF"/>
                    </a:solidFill>
                  </a:tcPr>
                </a:tc>
                <a:tc>
                  <a:txBody>
                    <a:bodyPr/>
                    <a:lstStyle/>
                    <a:p>
                      <a:pPr algn="ctr">
                        <a:defRPr sz="900">
                          <a:solidFill>
                            <a:srgbClr val="000000"/>
                          </a:solidFill>
                          <a:latin typeface="Montserrat"/>
                        </a:defRPr>
                      </a:pPr>
                      <a:r>
                        <a:t>-73%</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1,233</a:t>
                      </a:r>
                    </a:p>
                  </a:txBody>
                  <a:tcPr>
                    <a:solidFill>
                      <a:srgbClr val="FFFFFF"/>
                    </a:solidFill>
                  </a:tcPr>
                </a:tc>
                <a:tc>
                  <a:txBody>
                    <a:bodyPr/>
                    <a:lstStyle/>
                    <a:p>
                      <a:pPr algn="ctr">
                        <a:defRPr sz="900">
                          <a:solidFill>
                            <a:srgbClr val="000000"/>
                          </a:solidFill>
                          <a:latin typeface="Montserrat"/>
                        </a:defRPr>
                      </a:pPr>
                      <a:r>
                        <a:t>2,831</a:t>
                      </a:r>
                    </a:p>
                  </a:txBody>
                  <a:tcPr>
                    <a:solidFill>
                      <a:srgbClr val="FFFFFF"/>
                    </a:solidFill>
                  </a:tcPr>
                </a:tc>
                <a:tc>
                  <a:txBody>
                    <a:bodyPr/>
                    <a:lstStyle/>
                    <a:p>
                      <a:pPr algn="ctr">
                        <a:defRPr sz="900">
                          <a:solidFill>
                            <a:srgbClr val="000000"/>
                          </a:solidFill>
                          <a:latin typeface="Montserrat"/>
                        </a:defRPr>
                      </a:pPr>
                      <a:r>
                        <a:t>130%</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431,099</a:t>
                      </a:r>
                    </a:p>
                  </a:txBody>
                  <a:tcPr>
                    <a:solidFill>
                      <a:srgbClr val="EBD2D9"/>
                    </a:solidFill>
                  </a:tcPr>
                </a:tc>
                <a:tc>
                  <a:txBody>
                    <a:bodyPr/>
                    <a:lstStyle/>
                    <a:p>
                      <a:pPr algn="ctr">
                        <a:defRPr sz="900" b="1">
                          <a:solidFill>
                            <a:srgbClr val="000000"/>
                          </a:solidFill>
                          <a:latin typeface="Montserrat"/>
                        </a:defRPr>
                      </a:pPr>
                      <a:r>
                        <a:t>427,559</a:t>
                      </a:r>
                    </a:p>
                  </a:txBody>
                  <a:tcPr>
                    <a:solidFill>
                      <a:srgbClr val="EBD2D9"/>
                    </a:solidFill>
                  </a:tcPr>
                </a:tc>
                <a:tc>
                  <a:txBody>
                    <a:bodyPr/>
                    <a:lstStyle/>
                    <a:p>
                      <a:pPr algn="ctr">
                        <a:defRPr sz="900" b="1">
                          <a:solidFill>
                            <a:srgbClr val="000000"/>
                          </a:solidFill>
                          <a:latin typeface="Montserrat"/>
                        </a:defRPr>
                      </a:pPr>
                      <a:r>
                        <a:t>-1%</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143,325</a:t>
                      </a:r>
                    </a:p>
                  </a:txBody>
                  <a:tcPr>
                    <a:solidFill>
                      <a:srgbClr val="FFFFFF"/>
                    </a:solidFill>
                  </a:tcPr>
                </a:tc>
                <a:tc>
                  <a:txBody>
                    <a:bodyPr/>
                    <a:lstStyle/>
                    <a:p>
                      <a:pPr algn="ctr">
                        <a:defRPr sz="900">
                          <a:solidFill>
                            <a:srgbClr val="000000"/>
                          </a:solidFill>
                          <a:latin typeface="Montserrat"/>
                        </a:defRPr>
                      </a:pPr>
                      <a:r>
                        <a:t>152,261</a:t>
                      </a:r>
                    </a:p>
                  </a:txBody>
                  <a:tcPr>
                    <a:solidFill>
                      <a:srgbClr val="FFFFFF"/>
                    </a:solidFill>
                  </a:tcPr>
                </a:tc>
                <a:tc>
                  <a:txBody>
                    <a:bodyPr/>
                    <a:lstStyle/>
                    <a:p>
                      <a:pPr algn="ctr">
                        <a:defRPr sz="900">
                          <a:solidFill>
                            <a:srgbClr val="000000"/>
                          </a:solidFill>
                          <a:latin typeface="Montserrat"/>
                        </a:defRPr>
                      </a:pPr>
                      <a:r>
                        <a:t>6%</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219,408</a:t>
                      </a:r>
                    </a:p>
                  </a:txBody>
                  <a:tcPr>
                    <a:solidFill>
                      <a:srgbClr val="FFFFFF"/>
                    </a:solidFill>
                  </a:tcPr>
                </a:tc>
                <a:tc>
                  <a:txBody>
                    <a:bodyPr/>
                    <a:lstStyle/>
                    <a:p>
                      <a:pPr algn="ctr">
                        <a:defRPr sz="900">
                          <a:solidFill>
                            <a:srgbClr val="000000"/>
                          </a:solidFill>
                          <a:latin typeface="Montserrat"/>
                        </a:defRPr>
                      </a:pPr>
                      <a:r>
                        <a:t>189,733</a:t>
                      </a:r>
                    </a:p>
                  </a:txBody>
                  <a:tcPr>
                    <a:solidFill>
                      <a:srgbClr val="FFFFFF"/>
                    </a:solidFill>
                  </a:tcPr>
                </a:tc>
                <a:tc>
                  <a:txBody>
                    <a:bodyPr/>
                    <a:lstStyle/>
                    <a:p>
                      <a:pPr algn="ctr">
                        <a:defRPr sz="900">
                          <a:solidFill>
                            <a:srgbClr val="000000"/>
                          </a:solidFill>
                          <a:latin typeface="Montserrat"/>
                        </a:defRPr>
                      </a:pPr>
                      <a:r>
                        <a:t>-14%</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68,366</a:t>
                      </a:r>
                    </a:p>
                  </a:txBody>
                  <a:tcPr>
                    <a:solidFill>
                      <a:srgbClr val="FFFFFF"/>
                    </a:solidFill>
                  </a:tcPr>
                </a:tc>
                <a:tc>
                  <a:txBody>
                    <a:bodyPr/>
                    <a:lstStyle/>
                    <a:p>
                      <a:pPr algn="ctr">
                        <a:defRPr sz="900">
                          <a:solidFill>
                            <a:srgbClr val="000000"/>
                          </a:solidFill>
                          <a:latin typeface="Montserrat"/>
                        </a:defRPr>
                      </a:pPr>
                      <a:r>
                        <a:t>85,565</a:t>
                      </a:r>
                    </a:p>
                  </a:txBody>
                  <a:tcPr>
                    <a:solidFill>
                      <a:srgbClr val="FFFFFF"/>
                    </a:solidFill>
                  </a:tcPr>
                </a:tc>
                <a:tc>
                  <a:txBody>
                    <a:bodyPr/>
                    <a:lstStyle/>
                    <a:p>
                      <a:pPr algn="ctr">
                        <a:defRPr sz="900">
                          <a:solidFill>
                            <a:srgbClr val="000000"/>
                          </a:solidFill>
                          <a:latin typeface="Montserrat"/>
                        </a:defRPr>
                      </a:pPr>
                      <a:r>
                        <a:t>25%</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742</a:t>
                      </a:r>
                    </a:p>
                  </a:txBody>
                  <a:tcPr>
                    <a:solidFill>
                      <a:srgbClr val="F8F4EC"/>
                    </a:solidFill>
                  </a:tcPr>
                </a:tc>
                <a:tc>
                  <a:txBody>
                    <a:bodyPr/>
                    <a:lstStyle/>
                    <a:p>
                      <a:pPr algn="ctr">
                        <a:defRPr b="1" sz="900">
                          <a:latin typeface="Montserrat"/>
                        </a:defRPr>
                      </a:pPr>
                      <a:r>
                        <a:t>732</a:t>
                      </a:r>
                    </a:p>
                  </a:txBody>
                  <a:tcPr>
                    <a:solidFill>
                      <a:srgbClr val="F8F4EC"/>
                    </a:solidFill>
                  </a:tcPr>
                </a:tc>
                <a:tc>
                  <a:txBody>
                    <a:bodyPr/>
                    <a:lstStyle/>
                    <a:p>
                      <a:pPr algn="ctr">
                        <a:defRPr b="1" sz="900">
                          <a:solidFill>
                            <a:srgbClr val="A61C00"/>
                          </a:solidFill>
                          <a:latin typeface="Montserrat"/>
                        </a:defRPr>
                      </a:pPr>
                      <a:r>
                        <a:t>-1%</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4,107</a:t>
                      </a:r>
                    </a:p>
                  </a:txBody>
                  <a:tcPr>
                    <a:solidFill>
                      <a:srgbClr val="F8F4EC"/>
                    </a:solidFill>
                  </a:tcPr>
                </a:tc>
                <a:tc>
                  <a:txBody>
                    <a:bodyPr/>
                    <a:lstStyle/>
                    <a:p>
                      <a:pPr algn="ctr">
                        <a:defRPr b="1" sz="900">
                          <a:latin typeface="Montserrat"/>
                        </a:defRPr>
                      </a:pPr>
                      <a:r>
                        <a:t>5,794</a:t>
                      </a:r>
                    </a:p>
                  </a:txBody>
                  <a:tcPr>
                    <a:solidFill>
                      <a:srgbClr val="F8F4EC"/>
                    </a:solidFill>
                  </a:tcPr>
                </a:tc>
                <a:tc>
                  <a:txBody>
                    <a:bodyPr/>
                    <a:lstStyle/>
                    <a:p>
                      <a:pPr algn="ctr">
                        <a:defRPr b="1" sz="900">
                          <a:latin typeface="Montserrat"/>
                        </a:defRPr>
                      </a:pPr>
                      <a:r>
                        <a:t>41%</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10_dgo.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31</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136</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14</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68</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568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230</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35</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140</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582</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298</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165</a:t>
                      </a:r>
                    </a:p>
                  </a:txBody>
                  <a:tcPr marL="10800" marR="10800" marT="10800" marB="10800" anchor="ctr">
                    <a:solidFill>
                      <a:srgbClr val="FFFFFF"/>
                    </a:solidFill>
                  </a:tcPr>
                </a:tc>
                <a:tc>
                  <a:txBody>
                    <a:bodyPr/>
                    <a:lstStyle/>
                    <a:p>
                      <a:pPr algn="ctr">
                        <a:defRPr sz="1000">
                          <a:solidFill>
                            <a:srgbClr val="000000"/>
                          </a:solidFill>
                          <a:latin typeface="Montserrat"/>
                        </a:defRPr>
                      </a:pPr>
                      <a:r>
                        <a:t>165</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3</a:t>
                      </a:r>
                    </a:p>
                  </a:txBody>
                  <a:tcPr marL="10800" marR="10800" marT="10800" marB="10800" anchor="ctr">
                    <a:solidFill>
                      <a:srgbClr val="EFEFEF"/>
                    </a:solidFill>
                  </a:tcPr>
                </a:tc>
                <a:tc>
                  <a:txBody>
                    <a:bodyPr/>
                    <a:lstStyle/>
                    <a:p>
                      <a:pPr algn="ctr">
                        <a:defRPr sz="1000">
                          <a:solidFill>
                            <a:srgbClr val="000000"/>
                          </a:solidFill>
                          <a:latin typeface="Montserrat"/>
                        </a:defRPr>
                      </a:pPr>
                      <a:r>
                        <a:t>15</a:t>
                      </a:r>
                    </a:p>
                  </a:txBody>
                  <a:tcPr marL="10800" marR="10800" marT="10800" marB="10800" anchor="ctr">
                    <a:solidFill>
                      <a:srgbClr val="EFEFEF"/>
                    </a:solidFill>
                  </a:tcPr>
                </a:tc>
                <a:tc>
                  <a:txBody>
                    <a:bodyPr/>
                    <a:lstStyle/>
                    <a:p>
                      <a:pPr algn="ctr">
                        <a:defRPr sz="1000">
                          <a:solidFill>
                            <a:srgbClr val="000000"/>
                          </a:solidFill>
                          <a:latin typeface="Montserrat"/>
                        </a:defRPr>
                      </a:pPr>
                      <a:r>
                        <a:t>82</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168</a:t>
                      </a:r>
                    </a:p>
                  </a:txBody>
                  <a:tcPr marL="10800" marR="10800" marT="10800" marB="10800" anchor="ctr">
                    <a:solidFill>
                      <a:srgbClr val="D3E9E7"/>
                    </a:solidFill>
                  </a:tcPr>
                </a:tc>
                <a:tc>
                  <a:txBody>
                    <a:bodyPr/>
                    <a:lstStyle/>
                    <a:p>
                      <a:pPr algn="ctr">
                        <a:defRPr sz="1000" b="1">
                          <a:solidFill>
                            <a:srgbClr val="006556"/>
                          </a:solidFill>
                          <a:latin typeface="Montserrat"/>
                        </a:defRPr>
                      </a:pPr>
                      <a:r>
                        <a:t>180</a:t>
                      </a:r>
                    </a:p>
                  </a:txBody>
                  <a:tcPr marL="10800" marR="10800" marT="10800" marB="10800" anchor="ctr">
                    <a:solidFill>
                      <a:srgbClr val="D3E9E7"/>
                    </a:solidFill>
                  </a:tcPr>
                </a:tc>
                <a:tc>
                  <a:txBody>
                    <a:bodyPr/>
                    <a:lstStyle/>
                    <a:p>
                      <a:pPr algn="ctr">
                        <a:defRPr sz="1000" b="1">
                          <a:solidFill>
                            <a:srgbClr val="006556"/>
                          </a:solidFill>
                          <a:latin typeface="Montserrat"/>
                        </a:defRPr>
                      </a:pPr>
                      <a:r>
                        <a:t>82</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3472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3472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3</a:t>
                      </a:r>
                    </a:p>
                  </a:txBody>
                  <a:tcPr>
                    <a:solidFill>
                      <a:srgbClr val="EFEFEF"/>
                    </a:solidFill>
                  </a:tcPr>
                </a:tc>
              </a:tr>
              <a:tr h="23472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3</a:t>
                      </a:r>
                    </a:p>
                  </a:txBody>
                  <a:tcPr>
                    <a:solidFill>
                      <a:srgbClr val="FFFFFF"/>
                    </a:solidFill>
                  </a:tcPr>
                </a:tc>
              </a:tr>
              <a:tr h="23472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23472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26 UMF, 4 UMFH, 1 UMF-UMAA y no incluye 18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pic>
        <p:nvPicPr>
          <p:cNvPr id="5" name="Google Shape;124;g3d0b4d3c5c9_2_57">
            <a:extLst>
              <a:ext uri="{FF2B5EF4-FFF2-40B4-BE49-F238E27FC236}">
                <a16:creationId xmlns:a16="http://schemas.microsoft.com/office/drawing/2014/main" id="{3FB2D7BF-6E41-BF5F-F347-781D0DFE3537}"/>
              </a:ext>
            </a:extLst>
          </p:cNvPr>
          <p:cNvPicPr preferRelativeResize="0"/>
          <p:nvPr/>
        </p:nvPicPr>
        <p:blipFill>
          <a:blip r:embed="rId4">
            <a:alphaModFix/>
          </a:blip>
          <a:stretch>
            <a:fillRect/>
          </a:stretch>
        </p:blipFill>
        <p:spPr>
          <a:xfrm>
            <a:off x="185400" y="1921370"/>
            <a:ext cx="2271723" cy="1514475"/>
          </a:xfrm>
          <a:prstGeom prst="rect">
            <a:avLst/>
          </a:prstGeom>
          <a:noFill/>
          <a:ln>
            <a:noFill/>
          </a:ln>
        </p:spPr>
      </p:pic>
      <p:graphicFrame>
        <p:nvGraphicFramePr>
          <p:cNvPr id="6" name="Google Shape;125;g3d0b4d3c5c9_2_57">
            <a:extLst>
              <a:ext uri="{FF2B5EF4-FFF2-40B4-BE49-F238E27FC236}">
                <a16:creationId xmlns:a16="http://schemas.microsoft.com/office/drawing/2014/main" id="{B7E3B410-D80B-EC1A-8FA0-68E1F1CE2BE1}"/>
              </a:ext>
            </a:extLst>
          </p:cNvPr>
          <p:cNvGraphicFramePr/>
          <p:nvPr>
            <p:extLst>
              <p:ext uri="{D42A27DB-BD31-4B8C-83A1-F6EECF244321}">
                <p14:modId xmlns:p14="http://schemas.microsoft.com/office/powerpoint/2010/main" val="534857518"/>
              </p:ext>
            </p:extLst>
          </p:nvPr>
        </p:nvGraphicFramePr>
        <p:xfrm>
          <a:off x="288000" y="1191600"/>
          <a:ext cx="7396850" cy="548640"/>
        </p:xfrm>
        <a:graphic>
          <a:graphicData uri="http://schemas.openxmlformats.org/drawingml/2006/table">
            <a:tbl>
              <a:tblPr>
                <a:noFill/>
              </a:tblPr>
              <a:tblGrid>
                <a:gridCol w="739685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General de Zona No. 1, Ciudad Victoria</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7" name="CuadroTexto 6">
            <a:extLst>
              <a:ext uri="{FF2B5EF4-FFF2-40B4-BE49-F238E27FC236}">
                <a16:creationId xmlns:a16="http://schemas.microsoft.com/office/drawing/2014/main" id="{F02A18FA-683B-482B-356D-272DF52F6D49}"/>
              </a:ext>
            </a:extLst>
          </p:cNvPr>
          <p:cNvSpPr txBox="1"/>
          <p:nvPr/>
        </p:nvSpPr>
        <p:spPr>
          <a:xfrm>
            <a:off x="2587107" y="1930814"/>
            <a:ext cx="5029845" cy="2590453"/>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IMSS comenzó a operar el 15 de marzo de 1957.  Las consultas médicas se otorgaban en instalaciones adaptadas y en consultorios provisionales, principalmente con medicina general y atención preventiva.</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Durango fue el Hospital General de Zona (HGZ) No. 1, “Lic. Ignacio García Téllez”, ubicado en la ciudad de Victoria. Esta unidad inició operaciones también en 1957,  en un edificio situado en el Centro Histórico.</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hospital contaba con una capacidad instalada básica de 30 camas, y comenzó ofreciendo servicios de hospitalización general, urgencias, medicina interna, cirugía básica, gineco‑obstetricia, farmacia y apoyo de laboratorio.</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dur_10.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2 El Salto</a:t>
                      </a:r>
                    </a:p>
                  </a:txBody>
                  <a:tcPr anchor="ctr">
                    <a:solidFill>
                      <a:srgbClr val="FFFFFF"/>
                    </a:solidFill>
                  </a:tcPr>
                </a:tc>
                <a:tc>
                  <a:txBody>
                    <a:bodyPr/>
                    <a:lstStyle/>
                    <a:p>
                      <a:pPr algn="ctr">
                        <a:defRPr sz="900">
                          <a:latin typeface="Montserrat"/>
                        </a:defRPr>
                      </a:pPr>
                      <a:r>
                        <a:t>Agosto de 1972</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HGZ 1 Durango</a:t>
                      </a:r>
                    </a:p>
                  </a:txBody>
                  <a:tcPr anchor="ctr">
                    <a:solidFill>
                      <a:srgbClr val="EFEFEF"/>
                    </a:solidFill>
                  </a:tcPr>
                </a:tc>
                <a:tc>
                  <a:txBody>
                    <a:bodyPr/>
                    <a:lstStyle/>
                    <a:p>
                      <a:pPr algn="ctr">
                        <a:defRPr sz="900">
                          <a:latin typeface="Montserrat"/>
                        </a:defRPr>
                      </a:pPr>
                      <a:r>
                        <a:t>Octubre de 1975</a:t>
                      </a:r>
                    </a:p>
                  </a:txBody>
                  <a:tcPr anchor="ctr">
                    <a:solidFill>
                      <a:srgbClr val="EFEFEF"/>
                    </a:solidFill>
                  </a:tcPr>
                </a:tc>
                <a:tc>
                  <a:txBody>
                    <a:bodyPr/>
                    <a:lstStyle/>
                    <a:p>
                      <a:pPr algn="ctr">
                        <a:defRPr sz="900">
                          <a:latin typeface="Montserrat"/>
                        </a:defRPr>
                      </a:pPr>
                      <a:r>
                        <a:t>318</a:t>
                      </a:r>
                    </a:p>
                  </a:txBody>
                  <a:tcPr anchor="ctr">
                    <a:solidFill>
                      <a:srgbClr val="EFEFEF"/>
                    </a:solidFill>
                  </a:tcPr>
                </a:tc>
                <a:tc>
                  <a:txBody>
                    <a:bodyPr/>
                    <a:lstStyle/>
                    <a:p>
                      <a:pPr algn="ctr">
                        <a:defRPr sz="900">
                          <a:latin typeface="Montserrat"/>
                        </a:defRPr>
                      </a:pPr>
                      <a:r>
                        <a:t>108</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7</a:t>
                      </a:r>
                    </a:p>
                  </a:txBody>
                  <a:tcPr anchor="ctr">
                    <a:solidFill>
                      <a:srgbClr val="EFEFEF"/>
                    </a:solidFill>
                  </a:tcPr>
                </a:tc>
                <a:tc>
                  <a:txBody>
                    <a:bodyPr/>
                    <a:lstStyle/>
                    <a:p>
                      <a:pPr algn="ctr">
                        <a:defRPr sz="900">
                          <a:latin typeface="Montserrat"/>
                        </a:defRPr>
                      </a:pPr>
                      <a:r>
                        <a:t>42</a:t>
                      </a:r>
                    </a:p>
                  </a:txBody>
                  <a:tcPr anchor="ctr">
                    <a:solidFill>
                      <a:srgbClr val="EFEFEF"/>
                    </a:solidFill>
                  </a:tcPr>
                </a:tc>
              </a:tr>
              <a:tr h="230400">
                <a:tc>
                  <a:txBody>
                    <a:bodyPr/>
                    <a:lstStyle/>
                    <a:p>
                      <a:pPr algn="l">
                        <a:defRPr sz="900">
                          <a:latin typeface="Montserrat"/>
                        </a:defRPr>
                      </a:pPr>
                      <a:r>
                        <a:t>HGZ 46 Gómez Palacio</a:t>
                      </a:r>
                    </a:p>
                  </a:txBody>
                  <a:tcPr anchor="ctr">
                    <a:solidFill>
                      <a:srgbClr val="FFFFFF"/>
                    </a:solidFill>
                  </a:tcPr>
                </a:tc>
                <a:tc>
                  <a:txBody>
                    <a:bodyPr/>
                    <a:lstStyle/>
                    <a:p>
                      <a:pPr algn="ctr">
                        <a:defRPr sz="900">
                          <a:latin typeface="Montserrat"/>
                        </a:defRPr>
                      </a:pPr>
                      <a:r>
                        <a:t>Febrero de 1987</a:t>
                      </a:r>
                    </a:p>
                  </a:txBody>
                  <a:tcPr anchor="ctr">
                    <a:solidFill>
                      <a:srgbClr val="FFFFFF"/>
                    </a:solidFill>
                  </a:tcPr>
                </a:tc>
                <a:tc>
                  <a:txBody>
                    <a:bodyPr/>
                    <a:lstStyle/>
                    <a:p>
                      <a:pPr algn="ctr">
                        <a:defRPr sz="900">
                          <a:latin typeface="Montserrat"/>
                        </a:defRPr>
                      </a:pPr>
                      <a:r>
                        <a:t>134</a:t>
                      </a:r>
                    </a:p>
                  </a:txBody>
                  <a:tcPr anchor="ctr">
                    <a:solidFill>
                      <a:srgbClr val="FFFFFF"/>
                    </a:solidFill>
                  </a:tcPr>
                </a:tc>
                <a:tc>
                  <a:txBody>
                    <a:bodyPr/>
                    <a:lstStyle/>
                    <a:p>
                      <a:pPr algn="ctr">
                        <a:defRPr sz="900">
                          <a:latin typeface="Montserrat"/>
                        </a:defRPr>
                      </a:pPr>
                      <a:r>
                        <a:t>61</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19</a:t>
                      </a:r>
                    </a:p>
                  </a:txBody>
                  <a:tcPr anchor="ctr">
                    <a:solidFill>
                      <a:srgbClr val="FFFFFF"/>
                    </a:solidFill>
                  </a:tcPr>
                </a:tc>
              </a:tr>
              <a:tr h="230400">
                <a:tc>
                  <a:txBody>
                    <a:bodyPr/>
                    <a:lstStyle/>
                    <a:p>
                      <a:pPr algn="l">
                        <a:defRPr sz="900">
                          <a:latin typeface="Montserrat"/>
                        </a:defRPr>
                      </a:pPr>
                      <a:r>
                        <a:t>HGZ 51 Chapala</a:t>
                      </a:r>
                    </a:p>
                  </a:txBody>
                  <a:tcPr anchor="ctr">
                    <a:solidFill>
                      <a:srgbClr val="EFEFEF"/>
                    </a:solidFill>
                  </a:tcPr>
                </a:tc>
                <a:tc>
                  <a:txBody>
                    <a:bodyPr/>
                    <a:lstStyle/>
                    <a:p>
                      <a:pPr algn="ctr">
                        <a:defRPr sz="900">
                          <a:latin typeface="Montserrat"/>
                        </a:defRPr>
                      </a:pPr>
                      <a:r>
                        <a:t>Enero de 1995</a:t>
                      </a:r>
                    </a:p>
                  </a:txBody>
                  <a:tcPr anchor="ctr">
                    <a:solidFill>
                      <a:srgbClr val="EFEFEF"/>
                    </a:solidFill>
                  </a:tcPr>
                </a:tc>
                <a:tc>
                  <a:txBody>
                    <a:bodyPr/>
                    <a:lstStyle/>
                    <a:p>
                      <a:pPr algn="ctr">
                        <a:defRPr sz="900">
                          <a:latin typeface="Montserrat"/>
                        </a:defRPr>
                      </a:pPr>
                      <a:r>
                        <a:t>94</a:t>
                      </a:r>
                    </a:p>
                  </a:txBody>
                  <a:tcPr anchor="ctr">
                    <a:solidFill>
                      <a:srgbClr val="EFEFEF"/>
                    </a:solidFill>
                  </a:tcPr>
                </a:tc>
                <a:tc>
                  <a:txBody>
                    <a:bodyPr/>
                    <a:lstStyle/>
                    <a:p>
                      <a:pPr algn="ctr">
                        <a:defRPr sz="900">
                          <a:latin typeface="Montserrat"/>
                        </a:defRPr>
                      </a:pPr>
                      <a:r>
                        <a:t>48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15</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568</a:t>
                      </a:r>
                    </a:p>
                  </a:txBody>
                  <a:tcPr anchor="ctr">
                    <a:solidFill>
                      <a:srgbClr val="D3E9E7"/>
                    </a:solidFill>
                  </a:tcPr>
                </a:tc>
                <a:tc>
                  <a:txBody>
                    <a:bodyPr/>
                    <a:lstStyle/>
                    <a:p>
                      <a:pPr algn="ctr">
                        <a:defRPr sz="900" b="1">
                          <a:solidFill>
                            <a:srgbClr val="006556"/>
                          </a:solidFill>
                          <a:latin typeface="Montserrat"/>
                        </a:defRPr>
                      </a:pPr>
                      <a:r>
                        <a:t>230</a:t>
                      </a:r>
                    </a:p>
                  </a:txBody>
                  <a:tcPr anchor="ctr">
                    <a:solidFill>
                      <a:srgbClr val="D3E9E7"/>
                    </a:solidFill>
                  </a:tcPr>
                </a:tc>
                <a:tc>
                  <a:txBody>
                    <a:bodyPr/>
                    <a:lstStyle/>
                    <a:p>
                      <a:pPr algn="ctr">
                        <a:defRPr sz="900" b="1">
                          <a:solidFill>
                            <a:srgbClr val="006556"/>
                          </a:solidFill>
                          <a:latin typeface="Montserrat"/>
                        </a:defRPr>
                      </a:pPr>
                      <a:r>
                        <a:t>24</a:t>
                      </a:r>
                    </a:p>
                  </a:txBody>
                  <a:tcPr anchor="ctr">
                    <a:solidFill>
                      <a:srgbClr val="D3E9E7"/>
                    </a:solidFill>
                  </a:tcPr>
                </a:tc>
                <a:tc>
                  <a:txBody>
                    <a:bodyPr/>
                    <a:lstStyle/>
                    <a:p>
                      <a:pPr algn="ctr">
                        <a:defRPr sz="900" b="1">
                          <a:solidFill>
                            <a:srgbClr val="006556"/>
                          </a:solidFill>
                          <a:latin typeface="Montserrat"/>
                        </a:defRPr>
                      </a:pPr>
                      <a:r>
                        <a:t>15</a:t>
                      </a:r>
                    </a:p>
                  </a:txBody>
                  <a:tcPr anchor="ctr">
                    <a:solidFill>
                      <a:srgbClr val="D3E9E7"/>
                    </a:solidFill>
                  </a:tcPr>
                </a:tc>
                <a:tc>
                  <a:txBody>
                    <a:bodyPr/>
                    <a:lstStyle/>
                    <a:p>
                      <a:pPr algn="ctr">
                        <a:defRPr sz="900" b="1">
                          <a:solidFill>
                            <a:srgbClr val="006556"/>
                          </a:solidFill>
                          <a:latin typeface="Montserrat"/>
                        </a:defRPr>
                      </a:pPr>
                      <a:r>
                        <a:t>79</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154" name="Table 153"/>
          <p:cNvGraphicFramePr>
            <a:graphicFrameLocks noGrp="1"/>
          </p:cNvGraphicFramePr>
          <p:nvPr/>
        </p:nvGraphicFramePr>
        <p:xfrm>
          <a:off x="93600" y="1180800"/>
          <a:ext cx="7534799" cy="1295999"/>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5999">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5999">
                <a:tc>
                  <a:txBody>
                    <a:bodyPr/>
                    <a:lstStyle/>
                    <a:p>
                      <a:pPr algn="l">
                        <a:defRPr sz="1000">
                          <a:latin typeface="Montserrat"/>
                        </a:defRPr>
                      </a:pPr>
                      <a:r>
                        <a:t>HGZ 1 Durango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40</a:t>
                      </a:r>
                    </a:p>
                  </a:txBody>
                  <a:tcPr>
                    <a:solidFill>
                      <a:srgbClr val="FFFFFF"/>
                    </a:solidFill>
                  </a:tcPr>
                </a:tc>
                <a:tc>
                  <a:txBody>
                    <a:bodyPr/>
                    <a:lstStyle/>
                    <a:p>
                      <a:pPr algn="ctr">
                        <a:defRPr sz="1000">
                          <a:latin typeface="Montserrat"/>
                        </a:defRPr>
                      </a:pPr>
                      <a:r>
                        <a:t>1</a:t>
                      </a:r>
                    </a:p>
                  </a:txBody>
                  <a:tcPr>
                    <a:solidFill>
                      <a:srgbClr val="E6D194"/>
                    </a:solidFill>
                  </a:tcPr>
                </a:tc>
              </a:tr>
              <a:tr h="215999">
                <a:tc>
                  <a:txBody>
                    <a:bodyPr/>
                    <a:lstStyle/>
                    <a:p>
                      <a:pPr algn="l">
                        <a:defRPr sz="1000">
                          <a:latin typeface="Montserrat"/>
                        </a:defRPr>
                      </a:pPr>
                      <a:r>
                        <a:t>HGZ 46 Gómez Palacio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0</a:t>
                      </a:r>
                    </a:p>
                  </a:txBody>
                  <a:tcPr>
                    <a:solidFill>
                      <a:srgbClr val="EFEFEF"/>
                    </a:solidFill>
                  </a:tcPr>
                </a:tc>
              </a:tr>
              <a:tr h="215999">
                <a:tc>
                  <a:txBody>
                    <a:bodyPr/>
                    <a:lstStyle/>
                    <a:p>
                      <a:pPr algn="l">
                        <a:defRPr sz="1000">
                          <a:latin typeface="Montserrat"/>
                        </a:defRPr>
                      </a:pPr>
                      <a:r>
                        <a:t>HGZ 51 Chapala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HGSMF 2 El Salto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4">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42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423787882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F2D6C05B-51A4-834F-C9A2-7487BEF48754}"/>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7B21B29C-C9C5-853D-1FD6-443D76080247}"/>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4425EDBA-FDF3-CA16-29BC-B0CCD17DA240}"/>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5E79C333-74B2-521E-CD74-8D5DFC04F1A8}"/>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3CCD972D-0465-446E-9BD6-886FE1C6BC40}"/>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7A99FB29-1281-38DB-3E33-985AC39D4270}"/>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D3F07BF8-5C58-B2EC-5547-B9A59A06CB52}"/>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+2,927</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+119,803</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+86,272</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1,863,485</a:t>
                      </a:r>
                    </a:p>
                  </a:txBody>
                  <a:tcPr marL="0" marR="0" marT="0" marB="0" anchor="ctr">
                    <a:solidFill>
                      <a:srgbClr val="FFFFFF"/>
                    </a:solidFill>
                  </a:tcPr>
                </a:tc>
                <a:tc>
                  <a:txBody>
                    <a:bodyPr/>
                    <a:lstStyle/>
                    <a:p>
                      <a:pPr algn="ctr">
                        <a:defRPr sz="1000">
                          <a:solidFill>
                            <a:srgbClr val="404040"/>
                          </a:solidFill>
                          <a:latin typeface="Montserrat"/>
                        </a:defRPr>
                      </a:pPr>
                      <a:r>
                        <a:t>119,803</a:t>
                      </a:r>
                    </a:p>
                  </a:txBody>
                  <a:tcPr marL="0" marR="0" marT="0" marB="0" anchor="ctr">
                    <a:solidFill>
                      <a:srgbClr val="FFFFFF"/>
                    </a:solidFill>
                  </a:tcPr>
                </a:tc>
                <a:tc>
                  <a:txBody>
                    <a:bodyPr/>
                    <a:lstStyle/>
                    <a:p>
                      <a:pPr algn="ctr">
                        <a:defRPr sz="1000" b="1">
                          <a:solidFill>
                            <a:srgbClr val="980000"/>
                          </a:solidFill>
                          <a:latin typeface="Montserrat"/>
                        </a:defRPr>
                      </a:pPr>
                      <a:r>
                        <a:t>726,161</a:t>
                      </a:r>
                    </a:p>
                  </a:txBody>
                  <a:tcPr marL="0" marR="0" marT="0" marB="0" anchor="ctr">
                    <a:solidFill>
                      <a:srgbClr val="ECD3D9"/>
                    </a:solidFill>
                  </a:tcPr>
                </a:tc>
                <a:tc>
                  <a:txBody>
                    <a:bodyPr/>
                    <a:lstStyle/>
                    <a:p>
                      <a:pPr algn="ctr">
                        <a:defRPr sz="1000" b="1">
                          <a:solidFill>
                            <a:srgbClr val="980000"/>
                          </a:solidFill>
                          <a:latin typeface="Montserrat"/>
                        </a:defRPr>
                      </a:pPr>
                      <a:r>
                        <a:t>1,874,524</a:t>
                      </a:r>
                    </a:p>
                  </a:txBody>
                  <a:tcPr marL="0" marR="0" marT="0" marB="0" anchor="ctr">
                    <a:solidFill>
                      <a:srgbClr val="ECD3D9"/>
                    </a:solidFill>
                  </a:tcPr>
                </a:tc>
                <a:tc>
                  <a:txBody>
                    <a:bodyPr/>
                    <a:lstStyle/>
                    <a:p>
                      <a:pPr algn="ctr">
                        <a:defRPr sz="1000" b="1">
                          <a:solidFill>
                            <a:srgbClr val="980000"/>
                          </a:solidFill>
                          <a:latin typeface="Montserrat"/>
                        </a:defRPr>
                      </a:pPr>
                      <a:r>
                        <a:t>38.7%</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370,125</a:t>
                      </a:r>
                    </a:p>
                  </a:txBody>
                  <a:tcPr marL="0" marR="0" marT="0" marB="0" anchor="ctr">
                    <a:solidFill>
                      <a:srgbClr val="EFEFEF"/>
                    </a:solidFill>
                  </a:tcPr>
                </a:tc>
                <a:tc>
                  <a:txBody>
                    <a:bodyPr/>
                    <a:lstStyle/>
                    <a:p>
                      <a:pPr algn="ctr">
                        <a:defRPr sz="1000">
                          <a:solidFill>
                            <a:srgbClr val="404040"/>
                          </a:solidFill>
                          <a:latin typeface="Montserrat"/>
                        </a:defRPr>
                      </a:pPr>
                      <a:r>
                        <a:t>86,272</a:t>
                      </a:r>
                    </a:p>
                  </a:txBody>
                  <a:tcPr marL="0" marR="0" marT="0" marB="0" anchor="ctr">
                    <a:solidFill>
                      <a:srgbClr val="EFEFEF"/>
                    </a:solidFill>
                  </a:tcPr>
                </a:tc>
                <a:tc>
                  <a:txBody>
                    <a:bodyPr/>
                    <a:lstStyle/>
                    <a:p>
                      <a:pPr algn="ctr">
                        <a:defRPr sz="1000" b="1">
                          <a:solidFill>
                            <a:srgbClr val="980000"/>
                          </a:solidFill>
                          <a:latin typeface="Montserrat"/>
                        </a:defRPr>
                      </a:pPr>
                      <a:r>
                        <a:t>164,827</a:t>
                      </a:r>
                    </a:p>
                  </a:txBody>
                  <a:tcPr marL="0" marR="0" marT="0" marB="0" anchor="ctr">
                    <a:solidFill>
                      <a:srgbClr val="F4E3E7"/>
                    </a:solidFill>
                  </a:tcPr>
                </a:tc>
                <a:tc>
                  <a:txBody>
                    <a:bodyPr/>
                    <a:lstStyle/>
                    <a:p>
                      <a:pPr algn="ctr">
                        <a:defRPr sz="1000" b="1">
                          <a:solidFill>
                            <a:srgbClr val="980000"/>
                          </a:solidFill>
                          <a:latin typeface="Montserrat"/>
                        </a:defRPr>
                      </a:pPr>
                      <a:r>
                        <a:t>394,200</a:t>
                      </a:r>
                    </a:p>
                  </a:txBody>
                  <a:tcPr marL="0" marR="0" marT="0" marB="0" anchor="ctr">
                    <a:solidFill>
                      <a:srgbClr val="F4E3E7"/>
                    </a:solidFill>
                  </a:tcPr>
                </a:tc>
                <a:tc>
                  <a:txBody>
                    <a:bodyPr/>
                    <a:lstStyle/>
                    <a:p>
                      <a:pPr algn="ctr">
                        <a:defRPr sz="1000" b="1">
                          <a:solidFill>
                            <a:srgbClr val="980000"/>
                          </a:solidFill>
                          <a:latin typeface="Montserrat"/>
                        </a:defRPr>
                      </a:pPr>
                      <a:r>
                        <a:t>41.8%</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25,307</a:t>
                      </a:r>
                    </a:p>
                  </a:txBody>
                  <a:tcPr marL="0" marR="0" marT="0" marB="0" anchor="ctr">
                    <a:solidFill>
                      <a:srgbClr val="FFFFFF"/>
                    </a:solidFill>
                  </a:tcPr>
                </a:tc>
                <a:tc>
                  <a:txBody>
                    <a:bodyPr/>
                    <a:lstStyle/>
                    <a:p>
                      <a:pPr algn="ctr">
                        <a:defRPr sz="1000">
                          <a:solidFill>
                            <a:srgbClr val="404040"/>
                          </a:solidFill>
                          <a:latin typeface="Montserrat"/>
                        </a:defRPr>
                      </a:pPr>
                      <a:r>
                        <a:t>2,927</a:t>
                      </a:r>
                    </a:p>
                  </a:txBody>
                  <a:tcPr marL="0" marR="0" marT="0" marB="0" anchor="ctr">
                    <a:solidFill>
                      <a:srgbClr val="FFFFFF"/>
                    </a:solidFill>
                  </a:tcPr>
                </a:tc>
                <a:tc>
                  <a:txBody>
                    <a:bodyPr/>
                    <a:lstStyle/>
                    <a:p>
                      <a:pPr algn="ctr">
                        <a:defRPr sz="1000" b="1">
                          <a:solidFill>
                            <a:srgbClr val="980000"/>
                          </a:solidFill>
                          <a:latin typeface="Montserrat"/>
                        </a:defRPr>
                      </a:pPr>
                      <a:r>
                        <a:t>10,959</a:t>
                      </a:r>
                    </a:p>
                  </a:txBody>
                  <a:tcPr marL="0" marR="0" marT="0" marB="0" anchor="ctr">
                    <a:solidFill>
                      <a:srgbClr val="ECD3D9"/>
                    </a:solidFill>
                  </a:tcPr>
                </a:tc>
                <a:tc>
                  <a:txBody>
                    <a:bodyPr/>
                    <a:lstStyle/>
                    <a:p>
                      <a:pPr algn="ctr">
                        <a:defRPr sz="1000" b="1">
                          <a:solidFill>
                            <a:srgbClr val="980000"/>
                          </a:solidFill>
                          <a:latin typeface="Montserrat"/>
                        </a:defRPr>
                      </a:pPr>
                      <a:r>
                        <a:t>27,291</a:t>
                      </a:r>
                    </a:p>
                  </a:txBody>
                  <a:tcPr marL="0" marR="0" marT="0" marB="0" anchor="ctr">
                    <a:solidFill>
                      <a:srgbClr val="ECD3D9"/>
                    </a:solidFill>
                  </a:tcPr>
                </a:tc>
                <a:tc>
                  <a:txBody>
                    <a:bodyPr/>
                    <a:lstStyle/>
                    <a:p>
                      <a:pPr algn="ctr">
                        <a:defRPr sz="1000" b="1">
                          <a:solidFill>
                            <a:srgbClr val="980000"/>
                          </a:solidFill>
                          <a:latin typeface="Montserrat"/>
                        </a:defRPr>
                      </a:pPr>
                      <a:r>
                        <a:t>40.2%</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31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26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21, 17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4233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20 Ceballos</a:t>
                      </a:r>
                    </a:p>
                  </a:txBody>
                  <a:tcPr marL="0" marR="0" marT="0" marB="0">
                    <a:solidFill>
                      <a:srgbClr val="FFFFFF"/>
                    </a:solidFill>
                  </a:tcPr>
                </a:tc>
                <a:tc>
                  <a:txBody>
                    <a:bodyPr/>
                    <a:lstStyle/>
                    <a:p>
                      <a:pPr algn="ctr">
                        <a:defRPr sz="1000">
                          <a:latin typeface="Montserrat"/>
                        </a:defRPr>
                      </a:pPr>
                      <a:r>
                        <a:t>5,981</a:t>
                      </a:r>
                    </a:p>
                  </a:txBody>
                  <a:tcPr marL="0" marR="0" marT="0" marB="0">
                    <a:solidFill>
                      <a:srgbClr val="FFFFFF"/>
                    </a:solidFill>
                  </a:tcPr>
                </a:tc>
                <a:tc>
                  <a:txBody>
                    <a:bodyPr/>
                    <a:lstStyle/>
                    <a:p>
                      <a:pPr algn="ctr">
                        <a:defRPr sz="1000">
                          <a:latin typeface="Montserrat"/>
                        </a:defRPr>
                      </a:pPr>
                      <a:r>
                        <a:t>716</a:t>
                      </a:r>
                    </a:p>
                  </a:txBody>
                  <a:tcPr marL="0" marR="0" marT="0" marB="0">
                    <a:solidFill>
                      <a:srgbClr val="FFFFFF"/>
                    </a:solidFill>
                  </a:tcPr>
                </a:tc>
                <a:tc>
                  <a:txBody>
                    <a:bodyPr/>
                    <a:lstStyle/>
                    <a:p>
                      <a:pPr algn="ctr">
                        <a:defRPr sz="1000">
                          <a:latin typeface="Montserrat"/>
                        </a:defRPr>
                      </a:pPr>
                      <a:r>
                        <a:t>2,764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39.5%</a:t>
                      </a:r>
                    </a:p>
                  </a:txBody>
                  <a:tcPr marL="0" marR="0" marT="0" marB="0">
                    <a:solidFill>
                      <a:srgbClr val="ECD3D9"/>
                    </a:solidFill>
                  </a:tcPr>
                </a:tc>
              </a:tr>
              <a:tr h="151200">
                <a:tc>
                  <a:txBody>
                    <a:bodyPr/>
                    <a:lstStyle/>
                    <a:p>
                      <a:pPr algn="l">
                        <a:defRPr sz="1000">
                          <a:latin typeface="Montserrat"/>
                        </a:defRPr>
                      </a:pPr>
                      <a:r>
                        <a:t>UMFH 24 Pueblo Nuevo</a:t>
                      </a:r>
                    </a:p>
                  </a:txBody>
                  <a:tcPr marL="0" marR="0" marT="0" marB="0">
                    <a:solidFill>
                      <a:srgbClr val="EFEFEF"/>
                    </a:solidFill>
                  </a:tcPr>
                </a:tc>
                <a:tc>
                  <a:txBody>
                    <a:bodyPr/>
                    <a:lstStyle/>
                    <a:p>
                      <a:pPr algn="ctr">
                        <a:defRPr sz="1000">
                          <a:latin typeface="Montserrat"/>
                        </a:defRPr>
                      </a:pPr>
                      <a:r>
                        <a:t>11,344</a:t>
                      </a:r>
                    </a:p>
                  </a:txBody>
                  <a:tcPr marL="0" marR="0" marT="0" marB="0">
                    <a:solidFill>
                      <a:srgbClr val="EFEFEF"/>
                    </a:solidFill>
                  </a:tcPr>
                </a:tc>
                <a:tc>
                  <a:txBody>
                    <a:bodyPr/>
                    <a:lstStyle/>
                    <a:p>
                      <a:pPr algn="ctr">
                        <a:defRPr sz="1000">
                          <a:latin typeface="Montserrat"/>
                        </a:defRPr>
                      </a:pPr>
                      <a:r>
                        <a:t>1,141</a:t>
                      </a:r>
                    </a:p>
                  </a:txBody>
                  <a:tcPr marL="0" marR="0" marT="0" marB="0">
                    <a:solidFill>
                      <a:srgbClr val="EFEFEF"/>
                    </a:solidFill>
                  </a:tcPr>
                </a:tc>
                <a:tc>
                  <a:txBody>
                    <a:bodyPr/>
                    <a:lstStyle/>
                    <a:p>
                      <a:pPr algn="ctr">
                        <a:defRPr sz="1000">
                          <a:latin typeface="Montserrat"/>
                        </a:defRPr>
                      </a:pPr>
                      <a:r>
                        <a:t>4,580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38.2%</a:t>
                      </a:r>
                    </a:p>
                  </a:txBody>
                  <a:tcPr marL="0" marR="0" marT="0" marB="0">
                    <a:solidFill>
                      <a:srgbClr val="ECD3D9"/>
                    </a:solidFill>
                  </a:tcPr>
                </a:tc>
              </a:tr>
              <a:tr h="151200">
                <a:tc>
                  <a:txBody>
                    <a:bodyPr/>
                    <a:lstStyle/>
                    <a:p>
                      <a:pPr algn="l">
                        <a:defRPr sz="1000">
                          <a:latin typeface="Montserrat"/>
                        </a:defRPr>
                      </a:pPr>
                      <a:r>
                        <a:t>UMF 5 Guanacevi</a:t>
                      </a:r>
                    </a:p>
                  </a:txBody>
                  <a:tcPr marL="0" marR="0" marT="0" marB="0">
                    <a:solidFill>
                      <a:srgbClr val="FFFFFF"/>
                    </a:solidFill>
                  </a:tcPr>
                </a:tc>
                <a:tc>
                  <a:txBody>
                    <a:bodyPr/>
                    <a:lstStyle/>
                    <a:p>
                      <a:pPr algn="ctr">
                        <a:defRPr sz="1000">
                          <a:latin typeface="Montserrat"/>
                        </a:defRPr>
                      </a:pPr>
                      <a:r>
                        <a:t>5,546</a:t>
                      </a:r>
                    </a:p>
                  </a:txBody>
                  <a:tcPr marL="0" marR="0" marT="0" marB="0">
                    <a:solidFill>
                      <a:srgbClr val="FFFFFF"/>
                    </a:solidFill>
                  </a:tcPr>
                </a:tc>
                <a:tc>
                  <a:txBody>
                    <a:bodyPr/>
                    <a:lstStyle/>
                    <a:p>
                      <a:pPr algn="ctr">
                        <a:defRPr sz="1000">
                          <a:latin typeface="Montserrat"/>
                        </a:defRPr>
                      </a:pPr>
                      <a:r>
                        <a:t>444</a:t>
                      </a:r>
                    </a:p>
                  </a:txBody>
                  <a:tcPr marL="0" marR="0" marT="0" marB="0">
                    <a:solidFill>
                      <a:srgbClr val="FFFFFF"/>
                    </a:solidFill>
                  </a:tcPr>
                </a:tc>
                <a:tc>
                  <a:txBody>
                    <a:bodyPr/>
                    <a:lstStyle/>
                    <a:p>
                      <a:pPr algn="ctr">
                        <a:defRPr sz="1000">
                          <a:latin typeface="Montserrat"/>
                        </a:defRPr>
                      </a:pPr>
                      <a:r>
                        <a:t>1,712</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24.5%</a:t>
                      </a:r>
                    </a:p>
                  </a:txBody>
                  <a:tcPr marL="0" marR="0" marT="0" marB="0">
                    <a:solidFill>
                      <a:srgbClr val="ECD3D9"/>
                    </a:solidFill>
                  </a:tcPr>
                </a:tc>
              </a:tr>
              <a:tr h="151200">
                <a:tc>
                  <a:txBody>
                    <a:bodyPr/>
                    <a:lstStyle/>
                    <a:p>
                      <a:pPr algn="l">
                        <a:defRPr sz="1000">
                          <a:latin typeface="Montserrat"/>
                        </a:defRPr>
                      </a:pPr>
                      <a:r>
                        <a:t>UMFH 6 Canatlán</a:t>
                      </a:r>
                    </a:p>
                  </a:txBody>
                  <a:tcPr marL="0" marR="0" marT="0" marB="0">
                    <a:solidFill>
                      <a:srgbClr val="EFEFEF"/>
                    </a:solidFill>
                  </a:tcPr>
                </a:tc>
                <a:tc>
                  <a:txBody>
                    <a:bodyPr/>
                    <a:lstStyle/>
                    <a:p>
                      <a:pPr algn="ctr">
                        <a:defRPr sz="1000">
                          <a:latin typeface="Montserrat"/>
                        </a:defRPr>
                      </a:pPr>
                      <a:r>
                        <a:t>23,836</a:t>
                      </a:r>
                    </a:p>
                  </a:txBody>
                  <a:tcPr marL="0" marR="0" marT="0" marB="0">
                    <a:solidFill>
                      <a:srgbClr val="EFEFEF"/>
                    </a:solidFill>
                  </a:tcPr>
                </a:tc>
                <a:tc>
                  <a:txBody>
                    <a:bodyPr/>
                    <a:lstStyle/>
                    <a:p>
                      <a:pPr algn="ctr">
                        <a:defRPr sz="1000">
                          <a:latin typeface="Montserrat"/>
                        </a:defRPr>
                      </a:pPr>
                      <a:r>
                        <a:t>3,792</a:t>
                      </a:r>
                    </a:p>
                  </a:txBody>
                  <a:tcPr marL="0" marR="0" marT="0" marB="0">
                    <a:solidFill>
                      <a:srgbClr val="EFEFEF"/>
                    </a:solidFill>
                  </a:tcPr>
                </a:tc>
                <a:tc>
                  <a:txBody>
                    <a:bodyPr/>
                    <a:lstStyle/>
                    <a:p>
                      <a:pPr algn="ctr">
                        <a:defRPr sz="1000">
                          <a:latin typeface="Montserrat"/>
                        </a:defRPr>
                      </a:pPr>
                      <a:r>
                        <a:t>9,499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37.9%</a:t>
                      </a:r>
                    </a:p>
                  </a:txBody>
                  <a:tcPr marL="0" marR="0" marT="0" marB="0">
                    <a:solidFill>
                      <a:srgbClr val="ECD3D9"/>
                    </a:solidFill>
                  </a:tcPr>
                </a:tc>
              </a:tr>
              <a:tr h="151200">
                <a:tc>
                  <a:txBody>
                    <a:bodyPr/>
                    <a:lstStyle/>
                    <a:p>
                      <a:pPr algn="l">
                        <a:defRPr sz="1000">
                          <a:latin typeface="Montserrat"/>
                        </a:defRPr>
                      </a:pPr>
                      <a:r>
                        <a:t>UMFH 3 Sn. Miguel Cruces</a:t>
                      </a:r>
                    </a:p>
                  </a:txBody>
                  <a:tcPr marL="0" marR="0" marT="0" marB="0">
                    <a:solidFill>
                      <a:srgbClr val="FFFFFF"/>
                    </a:solidFill>
                  </a:tcPr>
                </a:tc>
                <a:tc>
                  <a:txBody>
                    <a:bodyPr/>
                    <a:lstStyle/>
                    <a:p>
                      <a:pPr algn="ctr">
                        <a:defRPr sz="1000">
                          <a:latin typeface="Montserrat"/>
                        </a:defRPr>
                      </a:pPr>
                      <a:r>
                        <a:t>8,547</a:t>
                      </a:r>
                    </a:p>
                  </a:txBody>
                  <a:tcPr marL="0" marR="0" marT="0" marB="0">
                    <a:solidFill>
                      <a:srgbClr val="FFFFFF"/>
                    </a:solidFill>
                  </a:tcPr>
                </a:tc>
                <a:tc>
                  <a:txBody>
                    <a:bodyPr/>
                    <a:lstStyle/>
                    <a:p>
                      <a:pPr algn="ctr">
                        <a:defRPr sz="1000">
                          <a:latin typeface="Montserrat"/>
                        </a:defRPr>
                      </a:pPr>
                      <a:r>
                        <a:t>3,564</a:t>
                      </a:r>
                    </a:p>
                  </a:txBody>
                  <a:tcPr marL="0" marR="0" marT="0" marB="0">
                    <a:solidFill>
                      <a:srgbClr val="FFFFFF"/>
                    </a:solidFill>
                  </a:tcPr>
                </a:tc>
                <a:tc>
                  <a:txBody>
                    <a:bodyPr/>
                    <a:lstStyle/>
                    <a:p>
                      <a:pPr algn="ctr">
                        <a:defRPr sz="1000">
                          <a:latin typeface="Montserrat"/>
                        </a:defRPr>
                      </a:pPr>
                      <a:r>
                        <a:t>2,680</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26.8%</a:t>
                      </a:r>
                    </a:p>
                  </a:txBody>
                  <a:tcPr marL="0" marR="0" marT="0" marB="0">
                    <a:solidFill>
                      <a:srgbClr val="ECD3D9"/>
                    </a:solidFill>
                  </a:tcPr>
                </a:tc>
              </a:tr>
              <a:tr h="151200">
                <a:tc>
                  <a:txBody>
                    <a:bodyPr/>
                    <a:lstStyle/>
                    <a:p>
                      <a:pPr algn="l">
                        <a:defRPr sz="1000">
                          <a:latin typeface="Montserrat"/>
                        </a:defRPr>
                      </a:pPr>
                      <a:r>
                        <a:t>UMF 7 Nuevo Ideal</a:t>
                      </a:r>
                    </a:p>
                  </a:txBody>
                  <a:tcPr marL="0" marR="0" marT="0" marB="0">
                    <a:solidFill>
                      <a:srgbClr val="EFEFEF"/>
                    </a:solidFill>
                  </a:tcPr>
                </a:tc>
                <a:tc>
                  <a:txBody>
                    <a:bodyPr/>
                    <a:lstStyle/>
                    <a:p>
                      <a:pPr algn="ctr">
                        <a:defRPr sz="1000">
                          <a:latin typeface="Montserrat"/>
                        </a:defRPr>
                      </a:pPr>
                      <a:r>
                        <a:t>20,013</a:t>
                      </a:r>
                    </a:p>
                  </a:txBody>
                  <a:tcPr marL="0" marR="0" marT="0" marB="0">
                    <a:solidFill>
                      <a:srgbClr val="EFEFEF"/>
                    </a:solidFill>
                  </a:tcPr>
                </a:tc>
                <a:tc>
                  <a:txBody>
                    <a:bodyPr/>
                    <a:lstStyle/>
                    <a:p>
                      <a:pPr algn="ctr">
                        <a:defRPr sz="1000">
                          <a:latin typeface="Montserrat"/>
                        </a:defRPr>
                      </a:pPr>
                      <a:r>
                        <a:t>3,140</a:t>
                      </a:r>
                    </a:p>
                  </a:txBody>
                  <a:tcPr marL="0" marR="0" marT="0" marB="0">
                    <a:solidFill>
                      <a:srgbClr val="EFEFEF"/>
                    </a:solidFill>
                  </a:tcPr>
                </a:tc>
                <a:tc>
                  <a:txBody>
                    <a:bodyPr/>
                    <a:lstStyle/>
                    <a:p>
                      <a:pPr algn="ctr">
                        <a:defRPr sz="1000">
                          <a:latin typeface="Montserrat"/>
                        </a:defRPr>
                      </a:pPr>
                      <a:r>
                        <a:t>7,415</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29.6%</a:t>
                      </a:r>
                    </a:p>
                  </a:txBody>
                  <a:tcPr marL="0" marR="0" marT="0" marB="0">
                    <a:solidFill>
                      <a:srgbClr val="ECD3D9"/>
                    </a:solidFill>
                  </a:tcPr>
                </a:tc>
              </a:tr>
              <a:tr h="151200">
                <a:tc>
                  <a:txBody>
                    <a:bodyPr/>
                    <a:lstStyle/>
                    <a:p>
                      <a:pPr algn="l">
                        <a:defRPr sz="1000">
                          <a:latin typeface="Montserrat"/>
                        </a:defRPr>
                      </a:pPr>
                      <a:r>
                        <a:t>UMF 34 A. Mtz. Adame</a:t>
                      </a:r>
                    </a:p>
                  </a:txBody>
                  <a:tcPr marL="0" marR="0" marT="0" marB="0">
                    <a:solidFill>
                      <a:srgbClr val="FFFFFF"/>
                    </a:solidFill>
                  </a:tcPr>
                </a:tc>
                <a:tc>
                  <a:txBody>
                    <a:bodyPr/>
                    <a:lstStyle/>
                    <a:p>
                      <a:pPr algn="ctr">
                        <a:defRPr sz="1000">
                          <a:latin typeface="Montserrat"/>
                        </a:defRPr>
                      </a:pPr>
                      <a:r>
                        <a:t>18,395</a:t>
                      </a:r>
                    </a:p>
                  </a:txBody>
                  <a:tcPr marL="0" marR="0" marT="0" marB="0">
                    <a:solidFill>
                      <a:srgbClr val="FFFFFF"/>
                    </a:solidFill>
                  </a:tcPr>
                </a:tc>
                <a:tc>
                  <a:txBody>
                    <a:bodyPr/>
                    <a:lstStyle/>
                    <a:p>
                      <a:pPr algn="ctr">
                        <a:defRPr sz="1000">
                          <a:latin typeface="Montserrat"/>
                        </a:defRPr>
                      </a:pPr>
                      <a:r>
                        <a:t>2,019</a:t>
                      </a:r>
                    </a:p>
                  </a:txBody>
                  <a:tcPr marL="0" marR="0" marT="0" marB="0">
                    <a:solidFill>
                      <a:srgbClr val="FFFFFF"/>
                    </a:solidFill>
                  </a:tcPr>
                </a:tc>
                <a:tc>
                  <a:txBody>
                    <a:bodyPr/>
                    <a:lstStyle/>
                    <a:p>
                      <a:pPr algn="ctr">
                        <a:defRPr sz="1000">
                          <a:latin typeface="Montserrat"/>
                        </a:defRPr>
                      </a:pPr>
                      <a:r>
                        <a:t>7,449</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39.2%</a:t>
                      </a:r>
                    </a:p>
                  </a:txBody>
                  <a:tcPr marL="0" marR="0" marT="0" marB="0">
                    <a:solidFill>
                      <a:srgbClr val="ECD3D9"/>
                    </a:solidFill>
                  </a:tcPr>
                </a:tc>
              </a:tr>
              <a:tr h="151200">
                <a:tc>
                  <a:txBody>
                    <a:bodyPr/>
                    <a:lstStyle/>
                    <a:p>
                      <a:pPr algn="l">
                        <a:defRPr sz="1000">
                          <a:latin typeface="Montserrat"/>
                        </a:defRPr>
                      </a:pPr>
                      <a:r>
                        <a:t>UMF 31 Sta. Cruz Lujan</a:t>
                      </a:r>
                    </a:p>
                  </a:txBody>
                  <a:tcPr marL="0" marR="0" marT="0" marB="0">
                    <a:solidFill>
                      <a:srgbClr val="EFEFEF"/>
                    </a:solidFill>
                  </a:tcPr>
                </a:tc>
                <a:tc>
                  <a:txBody>
                    <a:bodyPr/>
                    <a:lstStyle/>
                    <a:p>
                      <a:pPr algn="ctr">
                        <a:defRPr sz="1000">
                          <a:latin typeface="Montserrat"/>
                        </a:defRPr>
                      </a:pPr>
                      <a:r>
                        <a:t>19,998</a:t>
                      </a:r>
                    </a:p>
                  </a:txBody>
                  <a:tcPr marL="0" marR="0" marT="0" marB="0">
                    <a:solidFill>
                      <a:srgbClr val="EFEFEF"/>
                    </a:solidFill>
                  </a:tcPr>
                </a:tc>
                <a:tc>
                  <a:txBody>
                    <a:bodyPr/>
                    <a:lstStyle/>
                    <a:p>
                      <a:pPr algn="ctr">
                        <a:defRPr sz="1000">
                          <a:latin typeface="Montserrat"/>
                        </a:defRPr>
                      </a:pPr>
                      <a:r>
                        <a:t>1,854</a:t>
                      </a:r>
                    </a:p>
                  </a:txBody>
                  <a:tcPr marL="0" marR="0" marT="0" marB="0">
                    <a:solidFill>
                      <a:srgbClr val="EFEFEF"/>
                    </a:solidFill>
                  </a:tcPr>
                </a:tc>
                <a:tc>
                  <a:txBody>
                    <a:bodyPr/>
                    <a:lstStyle/>
                    <a:p>
                      <a:pPr algn="ctr">
                        <a:defRPr sz="1000">
                          <a:latin typeface="Montserrat"/>
                        </a:defRPr>
                      </a:pPr>
                      <a:r>
                        <a:t>9,108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36.4%</a:t>
                      </a:r>
                    </a:p>
                  </a:txBody>
                  <a:tcPr marL="0" marR="0" marT="0" marB="0">
                    <a:solidFill>
                      <a:srgbClr val="ECD3D9"/>
                    </a:solidFill>
                  </a:tcPr>
                </a:tc>
              </a:tr>
              <a:tr h="151200">
                <a:tc>
                  <a:txBody>
                    <a:bodyPr/>
                    <a:lstStyle/>
                    <a:p>
                      <a:pPr algn="l">
                        <a:defRPr sz="1000">
                          <a:latin typeface="Montserrat"/>
                        </a:defRPr>
                      </a:pPr>
                      <a:r>
                        <a:t>UMF 30 Bermejillo</a:t>
                      </a:r>
                    </a:p>
                  </a:txBody>
                  <a:tcPr marL="0" marR="0" marT="0" marB="0">
                    <a:solidFill>
                      <a:srgbClr val="FFFFFF"/>
                    </a:solidFill>
                  </a:tcPr>
                </a:tc>
                <a:tc>
                  <a:txBody>
                    <a:bodyPr/>
                    <a:lstStyle/>
                    <a:p>
                      <a:pPr algn="ctr">
                        <a:defRPr sz="1000">
                          <a:latin typeface="Montserrat"/>
                        </a:defRPr>
                      </a:pPr>
                      <a:r>
                        <a:t>16,343</a:t>
                      </a:r>
                    </a:p>
                  </a:txBody>
                  <a:tcPr marL="0" marR="0" marT="0" marB="0">
                    <a:solidFill>
                      <a:srgbClr val="FFFFFF"/>
                    </a:solidFill>
                  </a:tcPr>
                </a:tc>
                <a:tc>
                  <a:txBody>
                    <a:bodyPr/>
                    <a:lstStyle/>
                    <a:p>
                      <a:pPr algn="ctr">
                        <a:defRPr sz="1000">
                          <a:latin typeface="Montserrat"/>
                        </a:defRPr>
                      </a:pPr>
                      <a:r>
                        <a:t>-505</a:t>
                      </a:r>
                    </a:p>
                  </a:txBody>
                  <a:tcPr marL="0" marR="0" marT="0" marB="0">
                    <a:solidFill>
                      <a:srgbClr val="FFFFFF"/>
                    </a:solidFill>
                  </a:tcPr>
                </a:tc>
                <a:tc>
                  <a:txBody>
                    <a:bodyPr/>
                    <a:lstStyle/>
                    <a:p>
                      <a:pPr algn="ctr">
                        <a:defRPr sz="1000">
                          <a:latin typeface="Montserrat"/>
                        </a:defRPr>
                      </a:pPr>
                      <a:r>
                        <a:t>6,524</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38.4%</a:t>
                      </a:r>
                    </a:p>
                  </a:txBody>
                  <a:tcPr marL="0" marR="0" marT="0" marB="0">
                    <a:solidFill>
                      <a:srgbClr val="ECD3D9"/>
                    </a:solidFill>
                  </a:tcPr>
                </a:tc>
              </a:tr>
              <a:tr h="151200">
                <a:tc>
                  <a:txBody>
                    <a:bodyPr/>
                    <a:lstStyle/>
                    <a:p>
                      <a:pPr algn="l">
                        <a:defRPr sz="1000">
                          <a:latin typeface="Montserrat"/>
                        </a:defRPr>
                      </a:pPr>
                      <a:r>
                        <a:t>UMF 33 Picardías</a:t>
                      </a:r>
                    </a:p>
                  </a:txBody>
                  <a:tcPr marL="0" marR="0" marT="0" marB="0">
                    <a:solidFill>
                      <a:srgbClr val="EFEFEF"/>
                    </a:solidFill>
                  </a:tcPr>
                </a:tc>
                <a:tc>
                  <a:txBody>
                    <a:bodyPr/>
                    <a:lstStyle/>
                    <a:p>
                      <a:pPr algn="ctr">
                        <a:defRPr sz="1000">
                          <a:latin typeface="Montserrat"/>
                        </a:defRPr>
                      </a:pPr>
                      <a:r>
                        <a:t>12,101</a:t>
                      </a:r>
                    </a:p>
                  </a:txBody>
                  <a:tcPr marL="0" marR="0" marT="0" marB="0">
                    <a:solidFill>
                      <a:srgbClr val="EFEFEF"/>
                    </a:solidFill>
                  </a:tcPr>
                </a:tc>
                <a:tc>
                  <a:txBody>
                    <a:bodyPr/>
                    <a:lstStyle/>
                    <a:p>
                      <a:pPr algn="ctr">
                        <a:defRPr sz="1000">
                          <a:latin typeface="Montserrat"/>
                        </a:defRPr>
                      </a:pPr>
                      <a:r>
                        <a:t>-236</a:t>
                      </a:r>
                    </a:p>
                  </a:txBody>
                  <a:tcPr marL="0" marR="0" marT="0" marB="0">
                    <a:solidFill>
                      <a:srgbClr val="EFEFEF"/>
                    </a:solidFill>
                  </a:tcPr>
                </a:tc>
                <a:tc>
                  <a:txBody>
                    <a:bodyPr/>
                    <a:lstStyle/>
                    <a:p>
                      <a:pPr algn="ctr">
                        <a:defRPr sz="1000">
                          <a:latin typeface="Montserrat"/>
                        </a:defRPr>
                      </a:pPr>
                      <a:r>
                        <a:t>6,002</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46.2%</a:t>
                      </a:r>
                    </a:p>
                  </a:txBody>
                  <a:tcPr marL="0" marR="0" marT="0" marB="0">
                    <a:solidFill>
                      <a:srgbClr val="ECD3D9"/>
                    </a:solidFill>
                  </a:tcPr>
                </a:tc>
              </a:tr>
              <a:tr h="151200">
                <a:tc>
                  <a:txBody>
                    <a:bodyPr/>
                    <a:lstStyle/>
                    <a:p>
                      <a:pPr algn="l">
                        <a:defRPr sz="1000">
                          <a:latin typeface="Montserrat"/>
                        </a:defRPr>
                      </a:pPr>
                      <a:r>
                        <a:t>UMF 35 Pedriceña</a:t>
                      </a:r>
                    </a:p>
                  </a:txBody>
                  <a:tcPr marL="0" marR="0" marT="0" marB="0">
                    <a:solidFill>
                      <a:srgbClr val="FFFFFF"/>
                    </a:solidFill>
                  </a:tcPr>
                </a:tc>
                <a:tc>
                  <a:txBody>
                    <a:bodyPr/>
                    <a:lstStyle/>
                    <a:p>
                      <a:pPr algn="ctr">
                        <a:defRPr sz="1000">
                          <a:latin typeface="Montserrat"/>
                        </a:defRPr>
                      </a:pPr>
                      <a:r>
                        <a:t>12,366</a:t>
                      </a:r>
                    </a:p>
                  </a:txBody>
                  <a:tcPr marL="0" marR="0" marT="0" marB="0">
                    <a:solidFill>
                      <a:srgbClr val="FFFFFF"/>
                    </a:solidFill>
                  </a:tcPr>
                </a:tc>
                <a:tc>
                  <a:txBody>
                    <a:bodyPr/>
                    <a:lstStyle/>
                    <a:p>
                      <a:pPr algn="ctr">
                        <a:defRPr sz="1000">
                          <a:latin typeface="Montserrat"/>
                        </a:defRPr>
                      </a:pPr>
                      <a:r>
                        <a:t>1,419</a:t>
                      </a:r>
                    </a:p>
                  </a:txBody>
                  <a:tcPr marL="0" marR="0" marT="0" marB="0">
                    <a:solidFill>
                      <a:srgbClr val="FFFFFF"/>
                    </a:solidFill>
                  </a:tcPr>
                </a:tc>
                <a:tc>
                  <a:txBody>
                    <a:bodyPr/>
                    <a:lstStyle/>
                    <a:p>
                      <a:pPr algn="ctr">
                        <a:defRPr sz="1000">
                          <a:latin typeface="Montserrat"/>
                        </a:defRPr>
                      </a:pPr>
                      <a:r>
                        <a:t>5,793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44.6%</a:t>
                      </a:r>
                    </a:p>
                  </a:txBody>
                  <a:tcPr marL="0" marR="0" marT="0" marB="0">
                    <a:solidFill>
                      <a:srgbClr val="ECD3D9"/>
                    </a:solidFill>
                  </a:tcPr>
                </a:tc>
              </a:tr>
              <a:tr h="151200">
                <a:tc>
                  <a:txBody>
                    <a:bodyPr/>
                    <a:lstStyle/>
                    <a:p>
                      <a:pPr algn="l">
                        <a:defRPr sz="1000">
                          <a:latin typeface="Montserrat"/>
                        </a:defRPr>
                      </a:pPr>
                      <a:r>
                        <a:t>UMF 32 El Vergel</a:t>
                      </a:r>
                    </a:p>
                  </a:txBody>
                  <a:tcPr marL="0" marR="0" marT="0" marB="0">
                    <a:solidFill>
                      <a:srgbClr val="EFEFEF"/>
                    </a:solidFill>
                  </a:tcPr>
                </a:tc>
                <a:tc>
                  <a:txBody>
                    <a:bodyPr/>
                    <a:lstStyle/>
                    <a:p>
                      <a:pPr algn="ctr">
                        <a:defRPr sz="1000">
                          <a:latin typeface="Montserrat"/>
                        </a:defRPr>
                      </a:pPr>
                      <a:r>
                        <a:t>19,952</a:t>
                      </a:r>
                    </a:p>
                  </a:txBody>
                  <a:tcPr marL="0" marR="0" marT="0" marB="0">
                    <a:solidFill>
                      <a:srgbClr val="EFEFEF"/>
                    </a:solidFill>
                  </a:tcPr>
                </a:tc>
                <a:tc>
                  <a:txBody>
                    <a:bodyPr/>
                    <a:lstStyle/>
                    <a:p>
                      <a:pPr algn="ctr">
                        <a:defRPr sz="1000">
                          <a:latin typeface="Montserrat"/>
                        </a:defRPr>
                      </a:pPr>
                      <a:r>
                        <a:t>648</a:t>
                      </a:r>
                    </a:p>
                  </a:txBody>
                  <a:tcPr marL="0" marR="0" marT="0" marB="0">
                    <a:solidFill>
                      <a:srgbClr val="EFEFEF"/>
                    </a:solidFill>
                  </a:tcPr>
                </a:tc>
                <a:tc>
                  <a:txBody>
                    <a:bodyPr/>
                    <a:lstStyle/>
                    <a:p>
                      <a:pPr algn="ctr">
                        <a:defRPr sz="1000">
                          <a:latin typeface="Montserrat"/>
                        </a:defRPr>
                      </a:pPr>
                      <a:r>
                        <a:t>7,836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31.3%</a:t>
                      </a:r>
                    </a:p>
                  </a:txBody>
                  <a:tcPr marL="0" marR="0" marT="0" marB="0">
                    <a:solidFill>
                      <a:srgbClr val="ECD3D9"/>
                    </a:solidFill>
                  </a:tcPr>
                </a:tc>
              </a:tr>
              <a:tr h="151200">
                <a:tc>
                  <a:txBody>
                    <a:bodyPr/>
                    <a:lstStyle/>
                    <a:p>
                      <a:pPr algn="l">
                        <a:defRPr sz="1000">
                          <a:latin typeface="Montserrat"/>
                        </a:defRPr>
                      </a:pPr>
                      <a:r>
                        <a:t>UMFH 13 Tlahuallilo</a:t>
                      </a:r>
                    </a:p>
                  </a:txBody>
                  <a:tcPr marL="0" marR="0" marT="0" marB="0">
                    <a:solidFill>
                      <a:srgbClr val="FFFFFF"/>
                    </a:solidFill>
                  </a:tcPr>
                </a:tc>
                <a:tc>
                  <a:txBody>
                    <a:bodyPr/>
                    <a:lstStyle/>
                    <a:p>
                      <a:pPr algn="ctr">
                        <a:defRPr sz="1000">
                          <a:latin typeface="Montserrat"/>
                        </a:defRPr>
                      </a:pPr>
                      <a:r>
                        <a:t>26,116</a:t>
                      </a:r>
                    </a:p>
                  </a:txBody>
                  <a:tcPr marL="0" marR="0" marT="0" marB="0">
                    <a:solidFill>
                      <a:srgbClr val="FFFFFF"/>
                    </a:solidFill>
                  </a:tcPr>
                </a:tc>
                <a:tc>
                  <a:txBody>
                    <a:bodyPr/>
                    <a:lstStyle/>
                    <a:p>
                      <a:pPr algn="ctr">
                        <a:defRPr sz="1000">
                          <a:latin typeface="Montserrat"/>
                        </a:defRPr>
                      </a:pPr>
                      <a:r>
                        <a:t>4,079</a:t>
                      </a:r>
                    </a:p>
                  </a:txBody>
                  <a:tcPr marL="0" marR="0" marT="0" marB="0">
                    <a:solidFill>
                      <a:srgbClr val="FFFFFF"/>
                    </a:solidFill>
                  </a:tcPr>
                </a:tc>
                <a:tc>
                  <a:txBody>
                    <a:bodyPr/>
                    <a:lstStyle/>
                    <a:p>
                      <a:pPr algn="ctr">
                        <a:defRPr sz="1000">
                          <a:latin typeface="Montserrat"/>
                        </a:defRPr>
                      </a:pPr>
                      <a:r>
                        <a:t>10,285</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27.4%</a:t>
                      </a:r>
                    </a:p>
                  </a:txBody>
                  <a:tcPr marL="0" marR="0" marT="0" marB="0">
                    <a:solidFill>
                      <a:srgbClr val="ECD3D9"/>
                    </a:solidFill>
                  </a:tcPr>
                </a:tc>
              </a:tr>
              <a:tr h="151200">
                <a:tc>
                  <a:txBody>
                    <a:bodyPr/>
                    <a:lstStyle/>
                    <a:p>
                      <a:pPr algn="l">
                        <a:defRPr sz="1000">
                          <a:latin typeface="Montserrat"/>
                        </a:defRPr>
                      </a:pPr>
                      <a:r>
                        <a:t>UMF 19 La Ciudad</a:t>
                      </a:r>
                    </a:p>
                  </a:txBody>
                  <a:tcPr marL="0" marR="0" marT="0" marB="0">
                    <a:solidFill>
                      <a:srgbClr val="EFEFEF"/>
                    </a:solidFill>
                  </a:tcPr>
                </a:tc>
                <a:tc>
                  <a:txBody>
                    <a:bodyPr/>
                    <a:lstStyle/>
                    <a:p>
                      <a:pPr algn="ctr">
                        <a:defRPr sz="1000">
                          <a:latin typeface="Montserrat"/>
                        </a:defRPr>
                      </a:pPr>
                      <a:r>
                        <a:t>5,465</a:t>
                      </a:r>
                    </a:p>
                  </a:txBody>
                  <a:tcPr marL="0" marR="0" marT="0" marB="0">
                    <a:solidFill>
                      <a:srgbClr val="EFEFEF"/>
                    </a:solidFill>
                  </a:tcPr>
                </a:tc>
                <a:tc>
                  <a:txBody>
                    <a:bodyPr/>
                    <a:lstStyle/>
                    <a:p>
                      <a:pPr algn="ctr">
                        <a:defRPr sz="1000">
                          <a:latin typeface="Montserrat"/>
                        </a:defRPr>
                      </a:pPr>
                      <a:r>
                        <a:t>1,583</a:t>
                      </a:r>
                    </a:p>
                  </a:txBody>
                  <a:tcPr marL="0" marR="0" marT="0" marB="0">
                    <a:solidFill>
                      <a:srgbClr val="EFEFEF"/>
                    </a:solidFill>
                  </a:tcPr>
                </a:tc>
                <a:tc>
                  <a:txBody>
                    <a:bodyPr/>
                    <a:lstStyle/>
                    <a:p>
                      <a:pPr algn="ctr">
                        <a:defRPr sz="1000">
                          <a:latin typeface="Montserrat"/>
                        </a:defRPr>
                      </a:pPr>
                      <a:r>
                        <a:t>1,997</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28.5%</a:t>
                      </a:r>
                    </a:p>
                  </a:txBody>
                  <a:tcPr marL="0" marR="0" marT="0" marB="0">
                    <a:solidFill>
                      <a:srgbClr val="ECD3D9"/>
                    </a:solidFill>
                  </a:tcPr>
                </a:tc>
              </a:tr>
              <a:tr h="151200">
                <a:tc>
                  <a:txBody>
                    <a:bodyPr/>
                    <a:lstStyle/>
                    <a:p>
                      <a:pPr algn="l">
                        <a:defRPr sz="1000">
                          <a:latin typeface="Montserrat"/>
                        </a:defRPr>
                      </a:pPr>
                      <a:r>
                        <a:t>UMF 41 Santiago</a:t>
                      </a:r>
                    </a:p>
                  </a:txBody>
                  <a:tcPr marL="0" marR="0" marT="0" marB="0">
                    <a:solidFill>
                      <a:srgbClr val="FFFFFF"/>
                    </a:solidFill>
                  </a:tcPr>
                </a:tc>
                <a:tc>
                  <a:txBody>
                    <a:bodyPr/>
                    <a:lstStyle/>
                    <a:p>
                      <a:pPr algn="ctr">
                        <a:defRPr sz="1000">
                          <a:latin typeface="Montserrat"/>
                        </a:defRPr>
                      </a:pPr>
                      <a:r>
                        <a:t>28,056</a:t>
                      </a:r>
                    </a:p>
                  </a:txBody>
                  <a:tcPr marL="0" marR="0" marT="0" marB="0">
                    <a:solidFill>
                      <a:srgbClr val="FFFFFF"/>
                    </a:solidFill>
                  </a:tcPr>
                </a:tc>
                <a:tc>
                  <a:txBody>
                    <a:bodyPr/>
                    <a:lstStyle/>
                    <a:p>
                      <a:pPr algn="ctr">
                        <a:defRPr sz="1000">
                          <a:latin typeface="Montserrat"/>
                        </a:defRPr>
                      </a:pPr>
                      <a:r>
                        <a:t>2,700</a:t>
                      </a:r>
                    </a:p>
                  </a:txBody>
                  <a:tcPr marL="0" marR="0" marT="0" marB="0">
                    <a:solidFill>
                      <a:srgbClr val="FFFFFF"/>
                    </a:solidFill>
                  </a:tcPr>
                </a:tc>
                <a:tc>
                  <a:txBody>
                    <a:bodyPr/>
                    <a:lstStyle/>
                    <a:p>
                      <a:pPr algn="ctr">
                        <a:defRPr sz="1000">
                          <a:latin typeface="Montserrat"/>
                        </a:defRPr>
                      </a:pPr>
                      <a:r>
                        <a:t>9,844</a:t>
                      </a:r>
                    </a:p>
                  </a:txBody>
                  <a:tcPr marL="0" marR="0" marT="0" marB="0">
                    <a:solidFill>
                      <a:srgbClr val="ECD3D9"/>
                    </a:solidFill>
                  </a:tcPr>
                </a:tc>
                <a:tc>
                  <a:txBody>
                    <a:bodyPr/>
                    <a:lstStyle/>
                    <a:p>
                      <a:pPr algn="ctr">
                        <a:defRPr sz="1000">
                          <a:latin typeface="Montserrat"/>
                        </a:defRPr>
                      </a:pPr>
                      <a:r>
                        <a:t>40,716</a:t>
                      </a:r>
                    </a:p>
                  </a:txBody>
                  <a:tcPr marL="0" marR="0" marT="0" marB="0">
                    <a:solidFill>
                      <a:srgbClr val="ECD3D9"/>
                    </a:solidFill>
                  </a:tcPr>
                </a:tc>
                <a:tc>
                  <a:txBody>
                    <a:bodyPr/>
                    <a:lstStyle/>
                    <a:p>
                      <a:pPr algn="ctr">
                        <a:defRPr sz="1000">
                          <a:latin typeface="Montserrat"/>
                        </a:defRPr>
                      </a:pPr>
                      <a:r>
                        <a:t>24.2%</a:t>
                      </a:r>
                    </a:p>
                  </a:txBody>
                  <a:tcPr marL="0" marR="0" marT="0" marB="0">
                    <a:solidFill>
                      <a:srgbClr val="ECD3D9"/>
                    </a:solidFill>
                  </a:tcPr>
                </a:tc>
              </a:tr>
              <a:tr h="151200">
                <a:tc>
                  <a:txBody>
                    <a:bodyPr/>
                    <a:lstStyle/>
                    <a:p>
                      <a:pPr algn="l">
                        <a:defRPr sz="1000">
                          <a:latin typeface="Montserrat"/>
                        </a:defRPr>
                      </a:pPr>
                      <a:r>
                        <a:t>UMF 4 Villa Unión</a:t>
                      </a:r>
                    </a:p>
                  </a:txBody>
                  <a:tcPr marL="0" marR="0" marT="0" marB="0">
                    <a:solidFill>
                      <a:srgbClr val="EFEFEF"/>
                    </a:solidFill>
                  </a:tcPr>
                </a:tc>
                <a:tc>
                  <a:txBody>
                    <a:bodyPr/>
                    <a:lstStyle/>
                    <a:p>
                      <a:pPr algn="ctr">
                        <a:defRPr sz="1000">
                          <a:latin typeface="Montserrat"/>
                        </a:defRPr>
                      </a:pPr>
                      <a:r>
                        <a:t>6,173</a:t>
                      </a:r>
                    </a:p>
                  </a:txBody>
                  <a:tcPr marL="0" marR="0" marT="0" marB="0">
                    <a:solidFill>
                      <a:srgbClr val="EFEFEF"/>
                    </a:solidFill>
                  </a:tcPr>
                </a:tc>
                <a:tc>
                  <a:txBody>
                    <a:bodyPr/>
                    <a:lstStyle/>
                    <a:p>
                      <a:pPr algn="ctr">
                        <a:defRPr sz="1000">
                          <a:latin typeface="Montserrat"/>
                        </a:defRPr>
                      </a:pPr>
                      <a:r>
                        <a:t>405</a:t>
                      </a:r>
                    </a:p>
                  </a:txBody>
                  <a:tcPr marL="0" marR="0" marT="0" marB="0">
                    <a:solidFill>
                      <a:srgbClr val="EFEFEF"/>
                    </a:solidFill>
                  </a:tcPr>
                </a:tc>
                <a:tc>
                  <a:txBody>
                    <a:bodyPr/>
                    <a:lstStyle/>
                    <a:p>
                      <a:pPr algn="ctr">
                        <a:defRPr sz="1000">
                          <a:latin typeface="Montserrat"/>
                        </a:defRPr>
                      </a:pPr>
                      <a:r>
                        <a:t>2,604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37.2%</a:t>
                      </a:r>
                    </a:p>
                  </a:txBody>
                  <a:tcPr marL="0" marR="0" marT="0" marB="0">
                    <a:solidFill>
                      <a:srgbClr val="ECD3D9"/>
                    </a:solidFill>
                  </a:tcPr>
                </a:tc>
              </a:tr>
              <a:tr h="151200">
                <a:tc>
                  <a:txBody>
                    <a:bodyPr/>
                    <a:lstStyle/>
                    <a:p>
                      <a:pPr algn="l">
                        <a:defRPr sz="1000">
                          <a:latin typeface="Montserrat"/>
                        </a:defRPr>
                      </a:pPr>
                      <a:r>
                        <a:t>UMF 42 Tepehuanes</a:t>
                      </a:r>
                    </a:p>
                  </a:txBody>
                  <a:tcPr marL="0" marR="0" marT="0" marB="0">
                    <a:solidFill>
                      <a:srgbClr val="FFFFFF"/>
                    </a:solidFill>
                  </a:tcPr>
                </a:tc>
                <a:tc>
                  <a:txBody>
                    <a:bodyPr/>
                    <a:lstStyle/>
                    <a:p>
                      <a:pPr algn="ctr">
                        <a:defRPr sz="1000">
                          <a:latin typeface="Montserrat"/>
                        </a:defRPr>
                      </a:pPr>
                      <a:r>
                        <a:t>5,598</a:t>
                      </a:r>
                    </a:p>
                  </a:txBody>
                  <a:tcPr marL="0" marR="0" marT="0" marB="0">
                    <a:solidFill>
                      <a:srgbClr val="FFFFFF"/>
                    </a:solidFill>
                  </a:tcPr>
                </a:tc>
                <a:tc>
                  <a:txBody>
                    <a:bodyPr/>
                    <a:lstStyle/>
                    <a:p>
                      <a:pPr algn="ctr">
                        <a:defRPr sz="1000">
                          <a:latin typeface="Montserrat"/>
                        </a:defRPr>
                      </a:pPr>
                      <a:r>
                        <a:t>771</a:t>
                      </a:r>
                    </a:p>
                  </a:txBody>
                  <a:tcPr marL="0" marR="0" marT="0" marB="0">
                    <a:solidFill>
                      <a:srgbClr val="FFFFFF"/>
                    </a:solidFill>
                  </a:tcPr>
                </a:tc>
                <a:tc>
                  <a:txBody>
                    <a:bodyPr/>
                    <a:lstStyle/>
                    <a:p>
                      <a:pPr algn="ctr">
                        <a:defRPr sz="1000">
                          <a:latin typeface="Montserrat"/>
                        </a:defRPr>
                      </a:pPr>
                      <a:r>
                        <a:t>1,599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22.8%</a:t>
                      </a:r>
                    </a:p>
                  </a:txBody>
                  <a:tcPr marL="0" marR="0" marT="0" marB="0">
                    <a:solidFill>
                      <a:srgbClr val="ECD3D9"/>
                    </a:solidFill>
                  </a:tcPr>
                </a:tc>
              </a:tr>
              <a:tr h="151200">
                <a:tc>
                  <a:txBody>
                    <a:bodyPr/>
                    <a:lstStyle/>
                    <a:p>
                      <a:pPr algn="l">
                        <a:defRPr sz="1000">
                          <a:latin typeface="Montserrat"/>
                        </a:defRPr>
                      </a:pPr>
                      <a:r>
                        <a:t>UMF 40 Sn. Juan Río</a:t>
                      </a:r>
                    </a:p>
                  </a:txBody>
                  <a:tcPr marL="0" marR="0" marT="0" marB="0">
                    <a:solidFill>
                      <a:srgbClr val="EFEFEF"/>
                    </a:solidFill>
                  </a:tcPr>
                </a:tc>
                <a:tc>
                  <a:txBody>
                    <a:bodyPr/>
                    <a:lstStyle/>
                    <a:p>
                      <a:pPr algn="ctr">
                        <a:defRPr sz="1000">
                          <a:latin typeface="Montserrat"/>
                        </a:defRPr>
                      </a:pPr>
                      <a:r>
                        <a:t>7,438</a:t>
                      </a:r>
                    </a:p>
                  </a:txBody>
                  <a:tcPr marL="0" marR="0" marT="0" marB="0">
                    <a:solidFill>
                      <a:srgbClr val="EFEFEF"/>
                    </a:solidFill>
                  </a:tcPr>
                </a:tc>
                <a:tc>
                  <a:txBody>
                    <a:bodyPr/>
                    <a:lstStyle/>
                    <a:p>
                      <a:pPr algn="ctr">
                        <a:defRPr sz="1000">
                          <a:latin typeface="Montserrat"/>
                        </a:defRPr>
                      </a:pPr>
                      <a:r>
                        <a:t>1,671</a:t>
                      </a:r>
                    </a:p>
                  </a:txBody>
                  <a:tcPr marL="0" marR="0" marT="0" marB="0">
                    <a:solidFill>
                      <a:srgbClr val="EFEFEF"/>
                    </a:solidFill>
                  </a:tcPr>
                </a:tc>
                <a:tc>
                  <a:txBody>
                    <a:bodyPr/>
                    <a:lstStyle/>
                    <a:p>
                      <a:pPr algn="ctr">
                        <a:defRPr sz="1000">
                          <a:latin typeface="Montserrat"/>
                        </a:defRPr>
                      </a:pPr>
                      <a:r>
                        <a:t>2,818</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31.3%</a:t>
                      </a:r>
                    </a:p>
                  </a:txBody>
                  <a:tcPr marL="0" marR="0" marT="0" marB="0">
                    <a:solidFill>
                      <a:srgbClr val="ECD3D9"/>
                    </a:solidFill>
                  </a:tcPr>
                </a:tc>
              </a:tr>
              <a:tr h="151200">
                <a:tc>
                  <a:txBody>
                    <a:bodyPr/>
                    <a:lstStyle/>
                    <a:p>
                      <a:pPr algn="l">
                        <a:defRPr sz="1000">
                          <a:latin typeface="Montserrat"/>
                        </a:defRPr>
                      </a:pPr>
                      <a:r>
                        <a:t>UMF 29 Gómez Palacio</a:t>
                      </a:r>
                    </a:p>
                  </a:txBody>
                  <a:tcPr marL="0" marR="0" marT="0" marB="0">
                    <a:solidFill>
                      <a:srgbClr val="FFFFFF"/>
                    </a:solidFill>
                  </a:tcPr>
                </a:tc>
                <a:tc>
                  <a:txBody>
                    <a:bodyPr/>
                    <a:lstStyle/>
                    <a:p>
                      <a:pPr algn="ctr">
                        <a:defRPr sz="1000">
                          <a:latin typeface="Montserrat"/>
                        </a:defRPr>
                      </a:pPr>
                      <a:r>
                        <a:t>13,379</a:t>
                      </a:r>
                    </a:p>
                  </a:txBody>
                  <a:tcPr marL="0" marR="0" marT="0" marB="0">
                    <a:solidFill>
                      <a:srgbClr val="FFFFFF"/>
                    </a:solidFill>
                  </a:tcPr>
                </a:tc>
                <a:tc>
                  <a:txBody>
                    <a:bodyPr/>
                    <a:lstStyle/>
                    <a:p>
                      <a:pPr algn="ctr">
                        <a:defRPr sz="1000">
                          <a:latin typeface="Montserrat"/>
                        </a:defRPr>
                      </a:pPr>
                      <a:r>
                        <a:t>1,004</a:t>
                      </a:r>
                    </a:p>
                  </a:txBody>
                  <a:tcPr marL="0" marR="0" marT="0" marB="0">
                    <a:solidFill>
                      <a:srgbClr val="FFFFFF"/>
                    </a:solidFill>
                  </a:tcPr>
                </a:tc>
                <a:tc>
                  <a:txBody>
                    <a:bodyPr/>
                    <a:lstStyle/>
                    <a:p>
                      <a:pPr algn="ctr">
                        <a:defRPr sz="1000">
                          <a:latin typeface="Montserrat"/>
                        </a:defRPr>
                      </a:pPr>
                      <a:r>
                        <a:t>5,462</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39.0%</a:t>
                      </a:r>
                    </a:p>
                  </a:txBody>
                  <a:tcPr marL="0" marR="0" marT="0" marB="0">
                    <a:solidFill>
                      <a:srgbClr val="ECD3D9"/>
                    </a:solidFill>
                  </a:tcPr>
                </a:tc>
              </a:tr>
              <a:tr h="151200">
                <a:tc>
                  <a:txBody>
                    <a:bodyPr/>
                    <a:lstStyle/>
                    <a:p>
                      <a:pPr algn="l">
                        <a:defRPr sz="1000">
                          <a:latin typeface="Montserrat"/>
                        </a:defRPr>
                      </a:pPr>
                      <a:r>
                        <a:t>UMF 45 Mapimi</a:t>
                      </a:r>
                    </a:p>
                  </a:txBody>
                  <a:tcPr marL="0" marR="0" marT="0" marB="0">
                    <a:solidFill>
                      <a:srgbClr val="EFEFEF"/>
                    </a:solidFill>
                  </a:tcPr>
                </a:tc>
                <a:tc>
                  <a:txBody>
                    <a:bodyPr/>
                    <a:lstStyle/>
                    <a:p>
                      <a:pPr algn="ctr">
                        <a:defRPr sz="1000">
                          <a:latin typeface="Montserrat"/>
                        </a:defRPr>
                      </a:pPr>
                      <a:r>
                        <a:t>15,764</a:t>
                      </a:r>
                    </a:p>
                  </a:txBody>
                  <a:tcPr marL="0" marR="0" marT="0" marB="0">
                    <a:solidFill>
                      <a:srgbClr val="EFEFEF"/>
                    </a:solidFill>
                  </a:tcPr>
                </a:tc>
                <a:tc>
                  <a:txBody>
                    <a:bodyPr/>
                    <a:lstStyle/>
                    <a:p>
                      <a:pPr algn="ctr">
                        <a:defRPr sz="1000">
                          <a:latin typeface="Montserrat"/>
                        </a:defRPr>
                      </a:pPr>
                      <a:r>
                        <a:t>2,662</a:t>
                      </a:r>
                    </a:p>
                  </a:txBody>
                  <a:tcPr marL="0" marR="0" marT="0" marB="0">
                    <a:solidFill>
                      <a:srgbClr val="EFEFEF"/>
                    </a:solidFill>
                  </a:tcPr>
                </a:tc>
                <a:tc>
                  <a:txBody>
                    <a:bodyPr/>
                    <a:lstStyle/>
                    <a:p>
                      <a:pPr algn="ctr">
                        <a:defRPr sz="1000">
                          <a:latin typeface="Montserrat"/>
                        </a:defRPr>
                      </a:pPr>
                      <a:r>
                        <a:t>7,230</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42.5%</a:t>
                      </a:r>
                    </a:p>
                  </a:txBody>
                  <a:tcPr marL="0" marR="0" marT="0" marB="0">
                    <a:solidFill>
                      <a:srgbClr val="ECD3D9"/>
                    </a:solidFill>
                  </a:tcPr>
                </a:tc>
              </a:tr>
              <a:tr h="151200">
                <a:tc>
                  <a:txBody>
                    <a:bodyPr/>
                    <a:lstStyle/>
                    <a:p>
                      <a:pPr algn="l">
                        <a:defRPr sz="1000">
                          <a:latin typeface="Montserrat"/>
                        </a:defRPr>
                      </a:pPr>
                      <a:r>
                        <a:t>UMF 10 Gómez Palacio</a:t>
                      </a:r>
                    </a:p>
                  </a:txBody>
                  <a:tcPr marL="0" marR="0" marT="0" marB="0">
                    <a:solidFill>
                      <a:srgbClr val="FFFFFF"/>
                    </a:solidFill>
                  </a:tcPr>
                </a:tc>
                <a:tc>
                  <a:txBody>
                    <a:bodyPr/>
                    <a:lstStyle/>
                    <a:p>
                      <a:pPr algn="ctr">
                        <a:defRPr sz="1000">
                          <a:latin typeface="Montserrat"/>
                        </a:defRPr>
                      </a:pPr>
                      <a:r>
                        <a:t>195,131</a:t>
                      </a:r>
                    </a:p>
                  </a:txBody>
                  <a:tcPr marL="0" marR="0" marT="0" marB="0">
                    <a:solidFill>
                      <a:srgbClr val="FFFFFF"/>
                    </a:solidFill>
                  </a:tcPr>
                </a:tc>
                <a:tc>
                  <a:txBody>
                    <a:bodyPr/>
                    <a:lstStyle/>
                    <a:p>
                      <a:pPr algn="ctr">
                        <a:defRPr sz="1000">
                          <a:latin typeface="Montserrat"/>
                        </a:defRPr>
                      </a:pPr>
                      <a:r>
                        <a:t>5,525</a:t>
                      </a:r>
                    </a:p>
                  </a:txBody>
                  <a:tcPr marL="0" marR="0" marT="0" marB="0">
                    <a:solidFill>
                      <a:srgbClr val="FFFFFF"/>
                    </a:solidFill>
                  </a:tcPr>
                </a:tc>
                <a:tc>
                  <a:txBody>
                    <a:bodyPr/>
                    <a:lstStyle/>
                    <a:p>
                      <a:pPr algn="ctr">
                        <a:defRPr sz="1000">
                          <a:latin typeface="Montserrat"/>
                        </a:defRPr>
                      </a:pPr>
                      <a:r>
                        <a:t>73,915</a:t>
                      </a:r>
                    </a:p>
                  </a:txBody>
                  <a:tcPr marL="0" marR="0" marT="0" marB="0">
                    <a:solidFill>
                      <a:srgbClr val="ECD3D9"/>
                    </a:solidFill>
                  </a:tcPr>
                </a:tc>
                <a:tc>
                  <a:txBody>
                    <a:bodyPr/>
                    <a:lstStyle/>
                    <a:p>
                      <a:pPr algn="ctr">
                        <a:defRPr sz="1000">
                          <a:latin typeface="Montserrat"/>
                        </a:defRPr>
                      </a:pPr>
                      <a:r>
                        <a:t>189,000</a:t>
                      </a:r>
                    </a:p>
                  </a:txBody>
                  <a:tcPr marL="0" marR="0" marT="0" marB="0">
                    <a:solidFill>
                      <a:srgbClr val="ECD3D9"/>
                    </a:solidFill>
                  </a:tcPr>
                </a:tc>
                <a:tc>
                  <a:txBody>
                    <a:bodyPr/>
                    <a:lstStyle/>
                    <a:p>
                      <a:pPr algn="ctr">
                        <a:defRPr sz="1000">
                          <a:latin typeface="Montserrat"/>
                        </a:defRPr>
                      </a:pPr>
                      <a:r>
                        <a:t>39.1%</a:t>
                      </a:r>
                    </a:p>
                  </a:txBody>
                  <a:tcPr marL="0" marR="0" marT="0" marB="0">
                    <a:solidFill>
                      <a:srgbClr val="ECD3D9"/>
                    </a:solidFill>
                  </a:tcPr>
                </a:tc>
              </a:tr>
              <a:tr h="151200">
                <a:tc>
                  <a:txBody>
                    <a:bodyPr/>
                    <a:lstStyle/>
                    <a:p>
                      <a:pPr algn="l">
                        <a:defRPr sz="1000">
                          <a:latin typeface="Montserrat"/>
                        </a:defRPr>
                      </a:pPr>
                      <a:r>
                        <a:t>UMF 14 Cuencame</a:t>
                      </a:r>
                    </a:p>
                  </a:txBody>
                  <a:tcPr marL="0" marR="0" marT="0" marB="0">
                    <a:solidFill>
                      <a:srgbClr val="EFEFEF"/>
                    </a:solidFill>
                  </a:tcPr>
                </a:tc>
                <a:tc>
                  <a:txBody>
                    <a:bodyPr/>
                    <a:lstStyle/>
                    <a:p>
                      <a:pPr algn="ctr">
                        <a:defRPr sz="1000">
                          <a:latin typeface="Montserrat"/>
                        </a:defRPr>
                      </a:pPr>
                      <a:r>
                        <a:t>7,799</a:t>
                      </a:r>
                    </a:p>
                  </a:txBody>
                  <a:tcPr marL="0" marR="0" marT="0" marB="0">
                    <a:solidFill>
                      <a:srgbClr val="EFEFEF"/>
                    </a:solidFill>
                  </a:tcPr>
                </a:tc>
                <a:tc>
                  <a:txBody>
                    <a:bodyPr/>
                    <a:lstStyle/>
                    <a:p>
                      <a:pPr algn="ctr">
                        <a:defRPr sz="1000">
                          <a:latin typeface="Montserrat"/>
                        </a:defRPr>
                      </a:pPr>
                      <a:r>
                        <a:t>-191</a:t>
                      </a:r>
                    </a:p>
                  </a:txBody>
                  <a:tcPr marL="0" marR="0" marT="0" marB="0">
                    <a:solidFill>
                      <a:srgbClr val="EFEFEF"/>
                    </a:solidFill>
                  </a:tcPr>
                </a:tc>
                <a:tc>
                  <a:txBody>
                    <a:bodyPr/>
                    <a:lstStyle/>
                    <a:p>
                      <a:pPr algn="ctr">
                        <a:defRPr sz="1000">
                          <a:latin typeface="Montserrat"/>
                        </a:defRPr>
                      </a:pPr>
                      <a:r>
                        <a:t>3,550</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39.4%</a:t>
                      </a:r>
                    </a:p>
                  </a:txBody>
                  <a:tcPr marL="0" marR="0" marT="0" marB="0">
                    <a:solidFill>
                      <a:srgbClr val="ECD3D9"/>
                    </a:solidFill>
                  </a:tcPr>
                </a:tc>
              </a:tr>
              <a:tr h="151200">
                <a:tc>
                  <a:txBody>
                    <a:bodyPr/>
                    <a:lstStyle/>
                    <a:p>
                      <a:pPr algn="l">
                        <a:defRPr sz="1000">
                          <a:latin typeface="Montserrat"/>
                        </a:defRPr>
                      </a:pPr>
                      <a:r>
                        <a:t>UMF 52 Nombre de Dios</a:t>
                      </a:r>
                    </a:p>
                  </a:txBody>
                  <a:tcPr marL="0" marR="0" marT="0" marB="0">
                    <a:solidFill>
                      <a:srgbClr val="FFFFFF"/>
                    </a:solidFill>
                  </a:tcPr>
                </a:tc>
                <a:tc>
                  <a:txBody>
                    <a:bodyPr/>
                    <a:lstStyle/>
                    <a:p>
                      <a:pPr algn="ctr">
                        <a:defRPr sz="1000">
                          <a:latin typeface="Montserrat"/>
                        </a:defRPr>
                      </a:pPr>
                      <a:r>
                        <a:t>9,542</a:t>
                      </a:r>
                    </a:p>
                  </a:txBody>
                  <a:tcPr marL="0" marR="0" marT="0" marB="0">
                    <a:solidFill>
                      <a:srgbClr val="FFFFFF"/>
                    </a:solidFill>
                  </a:tcPr>
                </a:tc>
                <a:tc>
                  <a:txBody>
                    <a:bodyPr/>
                    <a:lstStyle/>
                    <a:p>
                      <a:pPr algn="ctr">
                        <a:defRPr sz="1000">
                          <a:latin typeface="Montserrat"/>
                        </a:defRPr>
                      </a:pPr>
                      <a:r>
                        <a:t>2,325</a:t>
                      </a:r>
                    </a:p>
                  </a:txBody>
                  <a:tcPr marL="0" marR="0" marT="0" marB="0">
                    <a:solidFill>
                      <a:srgbClr val="FFFFFF"/>
                    </a:solidFill>
                  </a:tcPr>
                </a:tc>
                <a:tc>
                  <a:txBody>
                    <a:bodyPr/>
                    <a:lstStyle/>
                    <a:p>
                      <a:pPr algn="ctr">
                        <a:defRPr sz="1000">
                          <a:latin typeface="Montserrat"/>
                        </a:defRPr>
                      </a:pPr>
                      <a:r>
                        <a:t>3,393</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30.8%</a:t>
                      </a:r>
                    </a:p>
                  </a:txBody>
                  <a:tcPr marL="0" marR="0" marT="0" marB="0">
                    <a:solidFill>
                      <a:srgbClr val="ECD3D9"/>
                    </a:solidFill>
                  </a:tcPr>
                </a:tc>
              </a:tr>
              <a:tr h="151200">
                <a:tc>
                  <a:txBody>
                    <a:bodyPr/>
                    <a:lstStyle/>
                    <a:p>
                      <a:pPr algn="l">
                        <a:defRPr sz="1000">
                          <a:latin typeface="Montserrat"/>
                        </a:defRPr>
                      </a:pPr>
                      <a:r>
                        <a:t>UMF 48 Nazas</a:t>
                      </a:r>
                    </a:p>
                  </a:txBody>
                  <a:tcPr marL="0" marR="0" marT="0" marB="0">
                    <a:solidFill>
                      <a:srgbClr val="EFEFEF"/>
                    </a:solidFill>
                  </a:tcPr>
                </a:tc>
                <a:tc>
                  <a:txBody>
                    <a:bodyPr/>
                    <a:lstStyle/>
                    <a:p>
                      <a:pPr algn="ctr">
                        <a:defRPr sz="1000">
                          <a:latin typeface="Montserrat"/>
                        </a:defRPr>
                      </a:pPr>
                      <a:r>
                        <a:t>5,926</a:t>
                      </a:r>
                    </a:p>
                  </a:txBody>
                  <a:tcPr marL="0" marR="0" marT="0" marB="0">
                    <a:solidFill>
                      <a:srgbClr val="EFEFEF"/>
                    </a:solidFill>
                  </a:tcPr>
                </a:tc>
                <a:tc>
                  <a:txBody>
                    <a:bodyPr/>
                    <a:lstStyle/>
                    <a:p>
                      <a:pPr algn="ctr">
                        <a:defRPr sz="1000">
                          <a:latin typeface="Montserrat"/>
                        </a:defRPr>
                      </a:pPr>
                      <a:r>
                        <a:t>-539</a:t>
                      </a:r>
                    </a:p>
                  </a:txBody>
                  <a:tcPr marL="0" marR="0" marT="0" marB="0">
                    <a:solidFill>
                      <a:srgbClr val="EFEFEF"/>
                    </a:solidFill>
                  </a:tcPr>
                </a:tc>
                <a:tc>
                  <a:txBody>
                    <a:bodyPr/>
                    <a:lstStyle/>
                    <a:p>
                      <a:pPr algn="ctr">
                        <a:defRPr sz="1000">
                          <a:latin typeface="Montserrat"/>
                        </a:defRPr>
                      </a:pPr>
                      <a:r>
                        <a:t>2,831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40.4%</a:t>
                      </a:r>
                    </a:p>
                  </a:txBody>
                  <a:tcPr marL="0" marR="0" marT="0" marB="0">
                    <a:solidFill>
                      <a:srgbClr val="ECD3D9"/>
                    </a:solidFill>
                  </a:tcPr>
                </a:tc>
              </a:tr>
              <a:tr h="151200">
                <a:tc>
                  <a:txBody>
                    <a:bodyPr/>
                    <a:lstStyle/>
                    <a:p>
                      <a:pPr algn="l">
                        <a:defRPr sz="1000">
                          <a:latin typeface="Montserrat"/>
                        </a:defRPr>
                      </a:pPr>
                      <a:r>
                        <a:t>UMF 1 Durango</a:t>
                      </a:r>
                    </a:p>
                  </a:txBody>
                  <a:tcPr marL="0" marR="0" marT="0" marB="0">
                    <a:solidFill>
                      <a:srgbClr val="FFFFFF"/>
                    </a:solidFill>
                  </a:tcPr>
                </a:tc>
                <a:tc>
                  <a:txBody>
                    <a:bodyPr/>
                    <a:lstStyle/>
                    <a:p>
                      <a:pPr algn="ctr">
                        <a:defRPr sz="1000">
                          <a:latin typeface="Montserrat"/>
                        </a:defRPr>
                      </a:pPr>
                      <a:r>
                        <a:t>182,924</a:t>
                      </a:r>
                    </a:p>
                  </a:txBody>
                  <a:tcPr marL="0" marR="0" marT="0" marB="0">
                    <a:solidFill>
                      <a:srgbClr val="FFFFFF"/>
                    </a:solidFill>
                  </a:tcPr>
                </a:tc>
                <a:tc>
                  <a:txBody>
                    <a:bodyPr/>
                    <a:lstStyle/>
                    <a:p>
                      <a:pPr algn="ctr">
                        <a:defRPr sz="1000">
                          <a:latin typeface="Montserrat"/>
                        </a:defRPr>
                      </a:pPr>
                      <a:r>
                        <a:t>22,386</a:t>
                      </a:r>
                    </a:p>
                  </a:txBody>
                  <a:tcPr marL="0" marR="0" marT="0" marB="0">
                    <a:solidFill>
                      <a:srgbClr val="FFFFFF"/>
                    </a:solidFill>
                  </a:tcPr>
                </a:tc>
                <a:tc>
                  <a:txBody>
                    <a:bodyPr/>
                    <a:lstStyle/>
                    <a:p>
                      <a:pPr algn="ctr">
                        <a:defRPr sz="1000">
                          <a:latin typeface="Montserrat"/>
                        </a:defRPr>
                      </a:pPr>
                      <a:r>
                        <a:t>70,636</a:t>
                      </a:r>
                    </a:p>
                  </a:txBody>
                  <a:tcPr marL="0" marR="0" marT="0" marB="0">
                    <a:solidFill>
                      <a:srgbClr val="ECD3D9"/>
                    </a:solidFill>
                  </a:tcPr>
                </a:tc>
                <a:tc>
                  <a:txBody>
                    <a:bodyPr/>
                    <a:lstStyle/>
                    <a:p>
                      <a:pPr algn="ctr">
                        <a:defRPr sz="1000">
                          <a:latin typeface="Montserrat"/>
                        </a:defRPr>
                      </a:pPr>
                      <a:r>
                        <a:t>177,000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50 Durango</a:t>
                      </a:r>
                    </a:p>
                  </a:txBody>
                  <a:tcPr marL="0" marR="0" marT="0" marB="0">
                    <a:solidFill>
                      <a:srgbClr val="EFEFEF"/>
                    </a:solidFill>
                  </a:tcPr>
                </a:tc>
                <a:tc>
                  <a:txBody>
                    <a:bodyPr/>
                    <a:lstStyle/>
                    <a:p>
                      <a:pPr algn="ctr">
                        <a:defRPr sz="1000">
                          <a:latin typeface="Montserrat"/>
                        </a:defRPr>
                      </a:pPr>
                      <a:r>
                        <a:t>147,232</a:t>
                      </a:r>
                    </a:p>
                  </a:txBody>
                  <a:tcPr marL="0" marR="0" marT="0" marB="0">
                    <a:solidFill>
                      <a:srgbClr val="EFEFEF"/>
                    </a:solidFill>
                  </a:tcPr>
                </a:tc>
                <a:tc>
                  <a:txBody>
                    <a:bodyPr/>
                    <a:lstStyle/>
                    <a:p>
                      <a:pPr algn="ctr">
                        <a:defRPr sz="1000">
                          <a:latin typeface="Montserrat"/>
                        </a:defRPr>
                      </a:pPr>
                      <a:r>
                        <a:t>6,418</a:t>
                      </a:r>
                    </a:p>
                  </a:txBody>
                  <a:tcPr marL="0" marR="0" marT="0" marB="0">
                    <a:solidFill>
                      <a:srgbClr val="EFEFEF"/>
                    </a:solidFill>
                  </a:tcPr>
                </a:tc>
                <a:tc>
                  <a:txBody>
                    <a:bodyPr/>
                    <a:lstStyle/>
                    <a:p>
                      <a:pPr algn="ctr">
                        <a:defRPr sz="1000">
                          <a:latin typeface="Montserrat"/>
                        </a:defRPr>
                      </a:pPr>
                      <a:r>
                        <a:t>54,541</a:t>
                      </a:r>
                    </a:p>
                  </a:txBody>
                  <a:tcPr marL="0" marR="0" marT="0" marB="0">
                    <a:solidFill>
                      <a:srgbClr val="ECD3D9"/>
                    </a:solidFill>
                  </a:tcPr>
                </a:tc>
                <a:tc>
                  <a:txBody>
                    <a:bodyPr/>
                    <a:lstStyle/>
                    <a:p>
                      <a:pPr algn="ctr">
                        <a:defRPr sz="1000">
                          <a:latin typeface="Montserrat"/>
                        </a:defRPr>
                      </a:pPr>
                      <a:r>
                        <a:t>142,000</a:t>
                      </a:r>
                    </a:p>
                  </a:txBody>
                  <a:tcPr marL="0" marR="0" marT="0" marB="0">
                    <a:solidFill>
                      <a:srgbClr val="ECD3D9"/>
                    </a:solidFill>
                  </a:tcPr>
                </a:tc>
                <a:tc>
                  <a:txBody>
                    <a:bodyPr/>
                    <a:lstStyle/>
                    <a:p>
                      <a:pPr algn="ctr">
                        <a:defRPr sz="1000">
                          <a:latin typeface="Montserrat"/>
                        </a:defRPr>
                      </a:pPr>
                      <a:r>
                        <a:t>38.4%</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830,965</a:t>
                      </a:r>
                    </a:p>
                  </a:txBody>
                  <a:tcPr marL="0" marR="0" marT="0" marB="0">
                    <a:solidFill>
                      <a:srgbClr val="D3E9E7"/>
                    </a:solidFill>
                  </a:tcPr>
                </a:tc>
                <a:tc>
                  <a:txBody>
                    <a:bodyPr/>
                    <a:lstStyle/>
                    <a:p>
                      <a:pPr algn="ctr">
                        <a:defRPr sz="1000" b="1">
                          <a:solidFill>
                            <a:srgbClr val="006556"/>
                          </a:solidFill>
                          <a:latin typeface="Montserrat"/>
                        </a:defRPr>
                      </a:pPr>
                      <a:r>
                        <a:t>68,795</a:t>
                      </a:r>
                    </a:p>
                  </a:txBody>
                  <a:tcPr marL="0" marR="0" marT="0" marB="0">
                    <a:solidFill>
                      <a:srgbClr val="D3E9E7"/>
                    </a:solidFill>
                  </a:tcPr>
                </a:tc>
                <a:tc>
                  <a:txBody>
                    <a:bodyPr/>
                    <a:lstStyle/>
                    <a:p>
                      <a:pPr algn="ctr">
                        <a:defRPr sz="1000" b="1">
                          <a:solidFill>
                            <a:srgbClr val="FFFFFF"/>
                          </a:solidFill>
                          <a:latin typeface="Montserrat"/>
                        </a:defRPr>
                      </a:pPr>
                      <a:r>
                        <a:t>322,067</a:t>
                      </a:r>
                    </a:p>
                  </a:txBody>
                  <a:tcPr marL="0" marR="0" marT="0" marB="0">
                    <a:solidFill>
                      <a:srgbClr val="9F2241"/>
                    </a:solidFill>
                  </a:tcPr>
                </a:tc>
                <a:tc>
                  <a:txBody>
                    <a:bodyPr/>
                    <a:lstStyle/>
                    <a:p>
                      <a:pPr algn="ctr">
                        <a:defRPr sz="1000" b="1">
                          <a:solidFill>
                            <a:srgbClr val="FFFFFF"/>
                          </a:solidFill>
                          <a:latin typeface="Montserrat"/>
                        </a:defRPr>
                      </a:pPr>
                      <a:r>
                        <a:t>872,524</a:t>
                      </a:r>
                    </a:p>
                  </a:txBody>
                  <a:tcPr marL="0" marR="0" marT="0" marB="0">
                    <a:solidFill>
                      <a:srgbClr val="9F2241"/>
                    </a:solidFill>
                  </a:tcPr>
                </a:tc>
                <a:tc>
                  <a:txBody>
                    <a:bodyPr/>
                    <a:lstStyle/>
                    <a:p>
                      <a:pPr algn="ctr">
                        <a:defRPr sz="1000" b="1">
                          <a:solidFill>
                            <a:srgbClr val="FFFFFF"/>
                          </a:solidFill>
                          <a:latin typeface="Montserrat"/>
                        </a:defRPr>
                      </a:pPr>
                      <a:r>
                        <a:t>36.9%</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66456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7365600"/>
            <a:ext cx="1800000" cy="360000"/>
          </a:xfrm>
          <a:prstGeom prst="rect">
            <a:avLst/>
          </a:prstGeom>
          <a:noFill/>
        </p:spPr>
        <p:txBody>
          <a:bodyPr wrap="none">
            <a:spAutoFit/>
          </a:bodyPr>
          <a:lstStyle/>
          <a:p>
            <a:pPr algn="ctr"/>
            <a:r>
              <a:rPr sz="2400" b="1">
                <a:solidFill>
                  <a:srgbClr val="9F2241"/>
                </a:solidFill>
                <a:latin typeface="Montserrat"/>
              </a:rPr>
              <a:t>36.9%</a:t>
            </a:r>
          </a:p>
        </p:txBody>
      </p:sp>
      <p:sp>
        <p:nvSpPr>
          <p:cNvPr id="11" name="TextBox 10"/>
          <p:cNvSpPr txBox="1"/>
          <p:nvPr/>
        </p:nvSpPr>
        <p:spPr>
          <a:xfrm>
            <a:off x="4780800" y="826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6645600"/>
            <a:ext cx="2854800" cy="1198800"/>
          </a:xfrm>
          <a:prstGeom prst="rect">
            <a:avLst/>
          </a:prstGeom>
          <a:noFill/>
        </p:spPr>
        <p:txBody>
          <a:bodyPr wrap="square">
            <a:spAutoFit/>
          </a:bodyPr>
          <a:lstStyle/>
          <a:p>
            <a:pPr algn="ctr">
              <a:defRPr sz="3600" b="1">
                <a:solidFill>
                  <a:srgbClr val="9F2241"/>
                </a:solidFill>
                <a:latin typeface="Montserrat"/>
              </a:defRPr>
            </a:pPr>
            <a:r>
              <a:t>872,524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1" name="CuadroTexto 10">
            <a:extLst>
              <a:ext uri="{FF2B5EF4-FFF2-40B4-BE49-F238E27FC236}">
                <a16:creationId xmlns:a16="http://schemas.microsoft.com/office/drawing/2014/main" id="{5F0B7A8F-6C89-575B-B432-CB6373B62C7B}"/>
              </a:ext>
            </a:extLst>
          </p:cNvPr>
          <p:cNvSpPr txBox="1"/>
          <p:nvPr/>
        </p:nvSpPr>
        <p:spPr>
          <a:xfrm>
            <a:off x="4087176" y="4822043"/>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4 Nueva UMTC con   12 consultorios</a:t>
            </a:r>
          </a:p>
        </p:txBody>
      </p:sp>
      <p:graphicFrame>
        <p:nvGraphicFramePr>
          <p:cNvPr id="12" name="Tabla 11">
            <a:extLst>
              <a:ext uri="{FF2B5EF4-FFF2-40B4-BE49-F238E27FC236}">
                <a16:creationId xmlns:a16="http://schemas.microsoft.com/office/drawing/2014/main" id="{131B55BA-745E-BE07-EB1A-E9C7C1D1B0DD}"/>
              </a:ext>
            </a:extLst>
          </p:cNvPr>
          <p:cNvGraphicFramePr>
            <a:graphicFrameLocks noGrp="1"/>
          </p:cNvGraphicFramePr>
          <p:nvPr>
            <p:extLst>
              <p:ext uri="{D42A27DB-BD31-4B8C-83A1-F6EECF244321}">
                <p14:modId xmlns:p14="http://schemas.microsoft.com/office/powerpoint/2010/main" val="3124849646"/>
              </p:ext>
            </p:extLst>
          </p:nvPr>
        </p:nvGraphicFramePr>
        <p:xfrm>
          <a:off x="4727084" y="5915144"/>
          <a:ext cx="2808830" cy="152209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50 Durango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19 Gómez Palacio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1 Durango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HGSMF 2 El Salto</a:t>
                      </a:r>
                    </a:p>
                    <a:p>
                      <a:pPr marL="228600" indent="-228600" algn="l" fontAlgn="b">
                        <a:buFont typeface="+mj-lt"/>
                        <a:buAutoNum type="arabicParenR"/>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3" name="CuadroTexto 12">
            <a:extLst>
              <a:ext uri="{FF2B5EF4-FFF2-40B4-BE49-F238E27FC236}">
                <a16:creationId xmlns:a16="http://schemas.microsoft.com/office/drawing/2014/main" id="{45E6D0F1-E15F-30EE-D69A-D4F501D5B69A}"/>
              </a:ext>
            </a:extLst>
          </p:cNvPr>
          <p:cNvSpPr txBox="1"/>
          <p:nvPr/>
        </p:nvSpPr>
        <p:spPr>
          <a:xfrm>
            <a:off x="4323342" y="6989039"/>
            <a:ext cx="3006672" cy="707886"/>
          </a:xfrm>
          <a:prstGeom prst="rect">
            <a:avLst/>
          </a:prstGeom>
          <a:noFill/>
        </p:spPr>
        <p:txBody>
          <a:bodyPr wrap="square">
            <a:spAutoFit/>
          </a:bodyPr>
          <a:lstStyle/>
          <a:p>
            <a:pPr algn="ctr">
              <a:defRPr sz="2000" b="1">
                <a:solidFill>
                  <a:srgbClr val="5B0F00"/>
                </a:solidFill>
                <a:latin typeface="Montserrat"/>
              </a:defRPr>
            </a:pPr>
            <a:r>
              <a:rPr lang="es-MX" dirty="0"/>
              <a:t>Incremento de 5 consultorios en</a:t>
            </a:r>
          </a:p>
        </p:txBody>
      </p:sp>
      <p:graphicFrame>
        <p:nvGraphicFramePr>
          <p:cNvPr id="14" name="Tabla 13">
            <a:extLst>
              <a:ext uri="{FF2B5EF4-FFF2-40B4-BE49-F238E27FC236}">
                <a16:creationId xmlns:a16="http://schemas.microsoft.com/office/drawing/2014/main" id="{0F552986-1102-FE08-1257-93AA034E8FC5}"/>
              </a:ext>
            </a:extLst>
          </p:cNvPr>
          <p:cNvGraphicFramePr>
            <a:graphicFrameLocks noGrp="1"/>
          </p:cNvGraphicFramePr>
          <p:nvPr>
            <p:extLst>
              <p:ext uri="{D42A27DB-BD31-4B8C-83A1-F6EECF244321}">
                <p14:modId xmlns:p14="http://schemas.microsoft.com/office/powerpoint/2010/main" val="3706670693"/>
              </p:ext>
            </p:extLst>
          </p:nvPr>
        </p:nvGraphicFramePr>
        <p:xfrm>
          <a:off x="4684419" y="7696925"/>
          <a:ext cx="2808830" cy="88201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49 Durango</a:t>
                      </a:r>
                    </a:p>
                    <a:p>
                      <a:pPr marL="228600" marR="0" lvl="0" indent="-228600" algn="l" defTabSz="914400" rtl="0" eaLnBrk="1" fontAlgn="b" latinLnBrk="0" hangingPunct="1">
                        <a:lnSpc>
                          <a:spcPct val="100000"/>
                        </a:lnSpc>
                        <a:spcBef>
                          <a:spcPts val="0"/>
                        </a:spcBef>
                        <a:spcAft>
                          <a:spcPts val="0"/>
                        </a:spcAft>
                        <a:buClr>
                          <a:srgbClr val="000000"/>
                        </a:buClr>
                        <a:buSzTx/>
                        <a:buFont typeface="+mj-lt"/>
                        <a:buAutoNum type="arabicParenR"/>
                        <a:tabLst/>
                        <a:defRPr/>
                      </a:pPr>
                      <a:r>
                        <a:rPr lang="es-MX" sz="1400" b="0" u="none" strike="noStrike" dirty="0">
                          <a:effectLst/>
                          <a:latin typeface="Montserrat" panose="00000500000000000000" pitchFamily="2" charset="0"/>
                        </a:rPr>
                        <a:t>UMF  44 Durango</a:t>
                      </a: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5" name="TextBox 1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16" name="TextBox 15"/>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31 Unidades de Medicina Familiar</a:t>
            </a:r>
          </a:p>
        </p:txBody>
      </p:sp>
      <p:sp>
        <p:nvSpPr>
          <p:cNvPr id="17" name="TextBox 16"/>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5 Unidades Médicas de tiempo completo (23 consultorios)</a:t>
            </a:r>
          </a:p>
        </p:txBody>
      </p:sp>
      <p:sp>
        <p:nvSpPr>
          <p:cNvPr id="18" name="TextBox 17"/>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9" name="Connector 18"/>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sp>
        <p:nvSpPr>
          <p:cNvPr id="21" name="TextBox 20"/>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(145,657 consultas)</a:t>
            </a:r>
          </a:p>
        </p:txBody>
      </p:sp>
      <p:graphicFrame>
        <p:nvGraphicFramePr>
          <p:cNvPr id="22" name="Table 21"/>
          <p:cNvGraphicFramePr>
            <a:graphicFrameLocks noGrp="1"/>
          </p:cNvGraphicFramePr>
          <p:nvPr/>
        </p:nvGraphicFramePr>
        <p:xfrm>
          <a:off x="151200" y="1695600"/>
          <a:ext cx="7473599" cy="1058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11 Cd. Lerdo</a:t>
                      </a:r>
                    </a:p>
                  </a:txBody>
                  <a:tcPr marL="0" marR="0" marT="0" marB="0">
                    <a:solidFill>
                      <a:srgbClr val="FFFFFF"/>
                    </a:solidFill>
                  </a:tcPr>
                </a:tc>
                <a:tc>
                  <a:txBody>
                    <a:bodyPr/>
                    <a:lstStyle/>
                    <a:p>
                      <a:pPr algn="ctr">
                        <a:defRPr sz="1000">
                          <a:solidFill>
                            <a:srgbClr val="000000"/>
                          </a:solidFill>
                          <a:latin typeface="Montserrat"/>
                        </a:defRPr>
                      </a:pPr>
                      <a:r>
                        <a:t>125,269</a:t>
                      </a:r>
                    </a:p>
                  </a:txBody>
                  <a:tcPr marL="0" marR="0" marT="0" marB="0">
                    <a:solidFill>
                      <a:srgbClr val="FFFFFF"/>
                    </a:solidFill>
                  </a:tcPr>
                </a:tc>
                <a:tc>
                  <a:txBody>
                    <a:bodyPr/>
                    <a:lstStyle/>
                    <a:p>
                      <a:pPr algn="ctr">
                        <a:defRPr sz="1000">
                          <a:solidFill>
                            <a:srgbClr val="000000"/>
                          </a:solidFill>
                          <a:latin typeface="Montserrat"/>
                        </a:defRPr>
                      </a:pPr>
                      <a:r>
                        <a:t>6,317</a:t>
                      </a:r>
                    </a:p>
                  </a:txBody>
                  <a:tcPr marL="0" marR="0" marT="0" marB="0">
                    <a:solidFill>
                      <a:srgbClr val="FFFFFF"/>
                    </a:solidFill>
                  </a:tcPr>
                </a:tc>
                <a:tc>
                  <a:txBody>
                    <a:bodyPr/>
                    <a:lstStyle/>
                    <a:p>
                      <a:pPr algn="ctr">
                        <a:defRPr sz="1000">
                          <a:solidFill>
                            <a:srgbClr val="000000"/>
                          </a:solidFill>
                          <a:latin typeface="Montserrat"/>
                        </a:defRPr>
                      </a:pPr>
                      <a:r>
                        <a:t>49,718</a:t>
                      </a:r>
                    </a:p>
                  </a:txBody>
                  <a:tcPr marL="0" marR="0" marT="0" marB="0">
                    <a:solidFill>
                      <a:srgbClr val="ECD3D9"/>
                    </a:solidFill>
                  </a:tcPr>
                </a:tc>
                <a:tc>
                  <a:txBody>
                    <a:bodyPr/>
                    <a:lstStyle/>
                    <a:p>
                      <a:pPr algn="ctr">
                        <a:defRPr sz="1000">
                          <a:solidFill>
                            <a:srgbClr val="000000"/>
                          </a:solidFill>
                          <a:latin typeface="Montserrat"/>
                        </a:defRPr>
                      </a:pPr>
                      <a:r>
                        <a:t>122,000</a:t>
                      </a:r>
                    </a:p>
                  </a:txBody>
                  <a:tcPr marL="0" marR="0" marT="0" marB="0">
                    <a:solidFill>
                      <a:srgbClr val="ECD3D9"/>
                    </a:solidFill>
                  </a:tcPr>
                </a:tc>
                <a:tc>
                  <a:txBody>
                    <a:bodyPr/>
                    <a:lstStyle/>
                    <a:p>
                      <a:pPr algn="ctr">
                        <a:defRPr sz="1000">
                          <a:solidFill>
                            <a:srgbClr val="000000"/>
                          </a:solidFill>
                          <a:latin typeface="Montserrat"/>
                        </a:defRPr>
                      </a:pPr>
                      <a:r>
                        <a:t>40.8%</a:t>
                      </a:r>
                    </a:p>
                  </a:txBody>
                  <a:tcPr marL="0" marR="0" marT="0" marB="0">
                    <a:solidFill>
                      <a:srgbClr val="ECD3D9"/>
                    </a:solidFill>
                  </a:tcPr>
                </a:tc>
              </a:tr>
              <a:tr h="151200">
                <a:tc>
                  <a:txBody>
                    <a:bodyPr/>
                    <a:lstStyle/>
                    <a:p>
                      <a:pPr algn="l">
                        <a:defRPr sz="1000">
                          <a:solidFill>
                            <a:srgbClr val="000000"/>
                          </a:solidFill>
                          <a:latin typeface="Montserrat"/>
                        </a:defRPr>
                      </a:pPr>
                      <a:r>
                        <a:t>UMF 44 Durango</a:t>
                      </a:r>
                    </a:p>
                  </a:txBody>
                  <a:tcPr marL="0" marR="0" marT="0" marB="0">
                    <a:solidFill>
                      <a:srgbClr val="EFEFEF"/>
                    </a:solidFill>
                  </a:tcPr>
                </a:tc>
                <a:tc>
                  <a:txBody>
                    <a:bodyPr/>
                    <a:lstStyle/>
                    <a:p>
                      <a:pPr algn="ctr">
                        <a:defRPr sz="1000">
                          <a:solidFill>
                            <a:srgbClr val="000000"/>
                          </a:solidFill>
                          <a:latin typeface="Montserrat"/>
                        </a:defRPr>
                      </a:pPr>
                      <a:r>
                        <a:t>323,075</a:t>
                      </a:r>
                    </a:p>
                  </a:txBody>
                  <a:tcPr marL="0" marR="0" marT="0" marB="0">
                    <a:solidFill>
                      <a:srgbClr val="EFEFEF"/>
                    </a:solidFill>
                  </a:tcPr>
                </a:tc>
                <a:tc>
                  <a:txBody>
                    <a:bodyPr/>
                    <a:lstStyle/>
                    <a:p>
                      <a:pPr algn="ctr">
                        <a:defRPr sz="1000">
                          <a:solidFill>
                            <a:srgbClr val="000000"/>
                          </a:solidFill>
                          <a:latin typeface="Montserrat"/>
                        </a:defRPr>
                      </a:pPr>
                      <a:r>
                        <a:t>9,066</a:t>
                      </a:r>
                    </a:p>
                  </a:txBody>
                  <a:tcPr marL="0" marR="0" marT="0" marB="0">
                    <a:solidFill>
                      <a:srgbClr val="EFEFEF"/>
                    </a:solidFill>
                  </a:tcPr>
                </a:tc>
                <a:tc>
                  <a:txBody>
                    <a:bodyPr/>
                    <a:lstStyle/>
                    <a:p>
                      <a:pPr algn="ctr">
                        <a:defRPr sz="1000">
                          <a:solidFill>
                            <a:srgbClr val="000000"/>
                          </a:solidFill>
                          <a:latin typeface="Montserrat"/>
                        </a:defRPr>
                      </a:pPr>
                      <a:r>
                        <a:t>130,473</a:t>
                      </a:r>
                    </a:p>
                  </a:txBody>
                  <a:tcPr marL="0" marR="0" marT="0" marB="0">
                    <a:solidFill>
                      <a:srgbClr val="ECD3D9"/>
                    </a:solidFill>
                  </a:tcPr>
                </a:tc>
                <a:tc>
                  <a:txBody>
                    <a:bodyPr/>
                    <a:lstStyle/>
                    <a:p>
                      <a:pPr algn="ctr">
                        <a:defRPr sz="1000">
                          <a:solidFill>
                            <a:srgbClr val="000000"/>
                          </a:solidFill>
                          <a:latin typeface="Montserrat"/>
                        </a:defRPr>
                      </a:pPr>
                      <a:r>
                        <a:t>312,000</a:t>
                      </a:r>
                    </a:p>
                  </a:txBody>
                  <a:tcPr marL="0" marR="0" marT="0" marB="0">
                    <a:solidFill>
                      <a:srgbClr val="ECD3D9"/>
                    </a:solidFill>
                  </a:tcPr>
                </a:tc>
                <a:tc>
                  <a:txBody>
                    <a:bodyPr/>
                    <a:lstStyle/>
                    <a:p>
                      <a:pPr algn="ctr">
                        <a:defRPr sz="1000">
                          <a:solidFill>
                            <a:srgbClr val="000000"/>
                          </a:solidFill>
                          <a:latin typeface="Montserrat"/>
                        </a:defRPr>
                      </a:pPr>
                      <a:r>
                        <a:t>41.8%</a:t>
                      </a:r>
                    </a:p>
                  </a:txBody>
                  <a:tcPr marL="0" marR="0" marT="0" marB="0">
                    <a:solidFill>
                      <a:srgbClr val="ECD3D9"/>
                    </a:solidFill>
                  </a:tcPr>
                </a:tc>
              </a:tr>
              <a:tr h="151200">
                <a:tc>
                  <a:txBody>
                    <a:bodyPr/>
                    <a:lstStyle/>
                    <a:p>
                      <a:pPr algn="l">
                        <a:defRPr sz="1000">
                          <a:solidFill>
                            <a:srgbClr val="000000"/>
                          </a:solidFill>
                          <a:latin typeface="Montserrat"/>
                        </a:defRPr>
                      </a:pPr>
                      <a:r>
                        <a:t>UMF 43 Gómez Palacio</a:t>
                      </a:r>
                    </a:p>
                  </a:txBody>
                  <a:tcPr marL="0" marR="0" marT="0" marB="0">
                    <a:solidFill>
                      <a:srgbClr val="FFFFFF"/>
                    </a:solidFill>
                  </a:tcPr>
                </a:tc>
                <a:tc>
                  <a:txBody>
                    <a:bodyPr/>
                    <a:lstStyle/>
                    <a:p>
                      <a:pPr algn="ctr">
                        <a:defRPr sz="1000">
                          <a:solidFill>
                            <a:srgbClr val="000000"/>
                          </a:solidFill>
                          <a:latin typeface="Montserrat"/>
                        </a:defRPr>
                      </a:pPr>
                      <a:r>
                        <a:t>161,891</a:t>
                      </a:r>
                    </a:p>
                  </a:txBody>
                  <a:tcPr marL="0" marR="0" marT="0" marB="0">
                    <a:solidFill>
                      <a:srgbClr val="FFFFFF"/>
                    </a:solidFill>
                  </a:tcPr>
                </a:tc>
                <a:tc>
                  <a:txBody>
                    <a:bodyPr/>
                    <a:lstStyle/>
                    <a:p>
                      <a:pPr algn="ctr">
                        <a:defRPr sz="1000">
                          <a:solidFill>
                            <a:srgbClr val="000000"/>
                          </a:solidFill>
                          <a:latin typeface="Montserrat"/>
                        </a:defRPr>
                      </a:pPr>
                      <a:r>
                        <a:t>13,681</a:t>
                      </a:r>
                    </a:p>
                  </a:txBody>
                  <a:tcPr marL="0" marR="0" marT="0" marB="0">
                    <a:solidFill>
                      <a:srgbClr val="FFFFFF"/>
                    </a:solidFill>
                  </a:tcPr>
                </a:tc>
                <a:tc>
                  <a:txBody>
                    <a:bodyPr/>
                    <a:lstStyle/>
                    <a:p>
                      <a:pPr algn="ctr">
                        <a:defRPr sz="1000">
                          <a:solidFill>
                            <a:srgbClr val="000000"/>
                          </a:solidFill>
                          <a:latin typeface="Montserrat"/>
                        </a:defRPr>
                      </a:pPr>
                      <a:r>
                        <a:t>63,691</a:t>
                      </a:r>
                    </a:p>
                  </a:txBody>
                  <a:tcPr marL="0" marR="0" marT="0" marB="0">
                    <a:solidFill>
                      <a:srgbClr val="ECD3D9"/>
                    </a:solidFill>
                  </a:tcPr>
                </a:tc>
                <a:tc>
                  <a:txBody>
                    <a:bodyPr/>
                    <a:lstStyle/>
                    <a:p>
                      <a:pPr algn="ctr">
                        <a:defRPr sz="1000">
                          <a:solidFill>
                            <a:srgbClr val="000000"/>
                          </a:solidFill>
                          <a:latin typeface="Montserrat"/>
                        </a:defRPr>
                      </a:pPr>
                      <a:r>
                        <a:t>157,000</a:t>
                      </a:r>
                    </a:p>
                  </a:txBody>
                  <a:tcPr marL="0" marR="0" marT="0" marB="0">
                    <a:solidFill>
                      <a:srgbClr val="ECD3D9"/>
                    </a:solidFill>
                  </a:tcPr>
                </a:tc>
                <a:tc>
                  <a:txBody>
                    <a:bodyPr/>
                    <a:lstStyle/>
                    <a:p>
                      <a:pPr algn="ctr">
                        <a:defRPr sz="1000">
                          <a:solidFill>
                            <a:srgbClr val="000000"/>
                          </a:solidFill>
                          <a:latin typeface="Montserrat"/>
                        </a:defRPr>
                      </a:pPr>
                      <a:r>
                        <a:t>40.6%</a:t>
                      </a:r>
                    </a:p>
                  </a:txBody>
                  <a:tcPr marL="0" marR="0" marT="0" marB="0">
                    <a:solidFill>
                      <a:srgbClr val="ECD3D9"/>
                    </a:solidFill>
                  </a:tcPr>
                </a:tc>
              </a:tr>
              <a:tr h="151200">
                <a:tc>
                  <a:txBody>
                    <a:bodyPr/>
                    <a:lstStyle/>
                    <a:p>
                      <a:pPr algn="l">
                        <a:defRPr sz="1000">
                          <a:solidFill>
                            <a:srgbClr val="000000"/>
                          </a:solidFill>
                          <a:latin typeface="Montserrat"/>
                        </a:defRPr>
                      </a:pPr>
                      <a:r>
                        <a:t>UMF 49 Durango</a:t>
                      </a:r>
                    </a:p>
                  </a:txBody>
                  <a:tcPr marL="0" marR="0" marT="0" marB="0">
                    <a:solidFill>
                      <a:srgbClr val="EFEFEF"/>
                    </a:solidFill>
                  </a:tcPr>
                </a:tc>
                <a:tc>
                  <a:txBody>
                    <a:bodyPr/>
                    <a:lstStyle/>
                    <a:p>
                      <a:pPr algn="ctr">
                        <a:defRPr sz="1000">
                          <a:solidFill>
                            <a:srgbClr val="000000"/>
                          </a:solidFill>
                          <a:latin typeface="Montserrat"/>
                        </a:defRPr>
                      </a:pPr>
                      <a:r>
                        <a:t>218,251</a:t>
                      </a:r>
                    </a:p>
                  </a:txBody>
                  <a:tcPr marL="0" marR="0" marT="0" marB="0">
                    <a:solidFill>
                      <a:srgbClr val="EFEFEF"/>
                    </a:solidFill>
                  </a:tcPr>
                </a:tc>
                <a:tc>
                  <a:txBody>
                    <a:bodyPr/>
                    <a:lstStyle/>
                    <a:p>
                      <a:pPr algn="ctr">
                        <a:defRPr sz="1000">
                          <a:solidFill>
                            <a:srgbClr val="000000"/>
                          </a:solidFill>
                          <a:latin typeface="Montserrat"/>
                        </a:defRPr>
                      </a:pPr>
                      <a:r>
                        <a:t>7,101</a:t>
                      </a:r>
                    </a:p>
                  </a:txBody>
                  <a:tcPr marL="0" marR="0" marT="0" marB="0">
                    <a:solidFill>
                      <a:srgbClr val="EFEFEF"/>
                    </a:solidFill>
                  </a:tcPr>
                </a:tc>
                <a:tc>
                  <a:txBody>
                    <a:bodyPr/>
                    <a:lstStyle/>
                    <a:p>
                      <a:pPr algn="ctr">
                        <a:defRPr sz="1000">
                          <a:solidFill>
                            <a:srgbClr val="000000"/>
                          </a:solidFill>
                          <a:latin typeface="Montserrat"/>
                        </a:defRPr>
                      </a:pPr>
                      <a:r>
                        <a:t>78,332</a:t>
                      </a:r>
                    </a:p>
                  </a:txBody>
                  <a:tcPr marL="0" marR="0" marT="0" marB="0">
                    <a:solidFill>
                      <a:srgbClr val="ECD3D9"/>
                    </a:solidFill>
                  </a:tcPr>
                </a:tc>
                <a:tc>
                  <a:txBody>
                    <a:bodyPr/>
                    <a:lstStyle/>
                    <a:p>
                      <a:pPr algn="ctr">
                        <a:defRPr sz="1000">
                          <a:solidFill>
                            <a:srgbClr val="000000"/>
                          </a:solidFill>
                          <a:latin typeface="Montserrat"/>
                        </a:defRPr>
                      </a:pPr>
                      <a:r>
                        <a:t>212,000</a:t>
                      </a:r>
                    </a:p>
                  </a:txBody>
                  <a:tcPr marL="0" marR="0" marT="0" marB="0">
                    <a:solidFill>
                      <a:srgbClr val="ECD3D9"/>
                    </a:solidFill>
                  </a:tcPr>
                </a:tc>
                <a:tc>
                  <a:txBody>
                    <a:bodyPr/>
                    <a:lstStyle/>
                    <a:p>
                      <a:pPr algn="ctr">
                        <a:defRPr sz="1000">
                          <a:solidFill>
                            <a:srgbClr val="000000"/>
                          </a:solidFill>
                          <a:latin typeface="Montserrat"/>
                        </a:defRPr>
                      </a:pPr>
                      <a:r>
                        <a:t>36.9%</a:t>
                      </a:r>
                    </a:p>
                  </a:txBody>
                  <a:tcPr marL="0" marR="0" marT="0" marB="0">
                    <a:solidFill>
                      <a:srgbClr val="ECD3D9"/>
                    </a:solidFill>
                  </a:tcPr>
                </a:tc>
              </a:tr>
              <a:tr h="151200">
                <a:tc>
                  <a:txBody>
                    <a:bodyPr/>
                    <a:lstStyle/>
                    <a:p>
                      <a:pPr algn="l">
                        <a:defRPr sz="1000">
                          <a:solidFill>
                            <a:srgbClr val="000000"/>
                          </a:solidFill>
                          <a:latin typeface="Montserrat"/>
                        </a:defRPr>
                      </a:pPr>
                      <a:r>
                        <a:t>UMF-UMAA 53 Gómez Palacio</a:t>
                      </a:r>
                    </a:p>
                  </a:txBody>
                  <a:tcPr marL="0" marR="0" marT="0" marB="0">
                    <a:solidFill>
                      <a:srgbClr val="FFFFFF"/>
                    </a:solidFill>
                  </a:tcPr>
                </a:tc>
                <a:tc>
                  <a:txBody>
                    <a:bodyPr/>
                    <a:lstStyle/>
                    <a:p>
                      <a:pPr algn="ctr">
                        <a:defRPr sz="1000">
                          <a:solidFill>
                            <a:srgbClr val="000000"/>
                          </a:solidFill>
                          <a:latin typeface="Montserrat"/>
                        </a:defRPr>
                      </a:pPr>
                      <a:r>
                        <a:t>145,043</a:t>
                      </a:r>
                    </a:p>
                  </a:txBody>
                  <a:tcPr marL="0" marR="0" marT="0" marB="0">
                    <a:solidFill>
                      <a:srgbClr val="FFFFFF"/>
                    </a:solidFill>
                  </a:tcPr>
                </a:tc>
                <a:tc>
                  <a:txBody>
                    <a:bodyPr/>
                    <a:lstStyle/>
                    <a:p>
                      <a:pPr algn="ctr">
                        <a:defRPr sz="1000">
                          <a:solidFill>
                            <a:srgbClr val="000000"/>
                          </a:solidFill>
                          <a:latin typeface="Montserrat"/>
                        </a:defRPr>
                      </a:pPr>
                      <a:r>
                        <a:t>12,158</a:t>
                      </a:r>
                    </a:p>
                  </a:txBody>
                  <a:tcPr marL="0" marR="0" marT="0" marB="0">
                    <a:solidFill>
                      <a:srgbClr val="FFFFFF"/>
                    </a:solidFill>
                  </a:tcPr>
                </a:tc>
                <a:tc>
                  <a:txBody>
                    <a:bodyPr/>
                    <a:lstStyle/>
                    <a:p>
                      <a:pPr algn="ctr">
                        <a:defRPr sz="1000">
                          <a:solidFill>
                            <a:srgbClr val="000000"/>
                          </a:solidFill>
                          <a:latin typeface="Montserrat"/>
                        </a:defRPr>
                      </a:pPr>
                      <a:r>
                        <a:t>58,469</a:t>
                      </a:r>
                    </a:p>
                  </a:txBody>
                  <a:tcPr marL="0" marR="0" marT="0" marB="0">
                    <a:solidFill>
                      <a:srgbClr val="ECD3D9"/>
                    </a:solidFill>
                  </a:tcPr>
                </a:tc>
                <a:tc>
                  <a:txBody>
                    <a:bodyPr/>
                    <a:lstStyle/>
                    <a:p>
                      <a:pPr algn="ctr">
                        <a:defRPr sz="1000">
                          <a:solidFill>
                            <a:srgbClr val="000000"/>
                          </a:solidFill>
                          <a:latin typeface="Montserrat"/>
                        </a:defRPr>
                      </a:pPr>
                      <a:r>
                        <a:t>141,000</a:t>
                      </a:r>
                    </a:p>
                  </a:txBody>
                  <a:tcPr marL="0" marR="0" marT="0" marB="0">
                    <a:solidFill>
                      <a:srgbClr val="ECD3D9"/>
                    </a:solidFill>
                  </a:tcPr>
                </a:tc>
                <a:tc>
                  <a:txBody>
                    <a:bodyPr/>
                    <a:lstStyle/>
                    <a:p>
                      <a:pPr algn="ctr">
                        <a:defRPr sz="1000">
                          <a:solidFill>
                            <a:srgbClr val="000000"/>
                          </a:solidFill>
                          <a:latin typeface="Montserrat"/>
                        </a:defRPr>
                      </a:pPr>
                      <a:r>
                        <a:t>41.5%</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973,529</a:t>
                      </a:r>
                    </a:p>
                  </a:txBody>
                  <a:tcPr marL="0" marR="0" marT="0" marB="0">
                    <a:solidFill>
                      <a:srgbClr val="D3E9E7"/>
                    </a:solidFill>
                  </a:tcPr>
                </a:tc>
                <a:tc>
                  <a:txBody>
                    <a:bodyPr/>
                    <a:lstStyle/>
                    <a:p>
                      <a:pPr algn="ctr">
                        <a:defRPr sz="1000" b="1">
                          <a:solidFill>
                            <a:srgbClr val="006556"/>
                          </a:solidFill>
                          <a:latin typeface="Montserrat"/>
                        </a:defRPr>
                      </a:pPr>
                      <a:r>
                        <a:t>48,323</a:t>
                      </a:r>
                    </a:p>
                  </a:txBody>
                  <a:tcPr marL="0" marR="0" marT="0" marB="0">
                    <a:solidFill>
                      <a:srgbClr val="D3E9E7"/>
                    </a:solidFill>
                  </a:tcPr>
                </a:tc>
                <a:tc>
                  <a:txBody>
                    <a:bodyPr/>
                    <a:lstStyle/>
                    <a:p>
                      <a:pPr algn="ctr">
                        <a:defRPr sz="1000" b="1">
                          <a:solidFill>
                            <a:srgbClr val="FFFFFF"/>
                          </a:solidFill>
                          <a:latin typeface="Montserrat"/>
                        </a:defRPr>
                      </a:pPr>
                      <a:r>
                        <a:t>380,683</a:t>
                      </a:r>
                    </a:p>
                  </a:txBody>
                  <a:tcPr marL="0" marR="0" marT="0" marB="0">
                    <a:solidFill>
                      <a:srgbClr val="9F2241"/>
                    </a:solidFill>
                  </a:tcPr>
                </a:tc>
                <a:tc>
                  <a:txBody>
                    <a:bodyPr/>
                    <a:lstStyle/>
                    <a:p>
                      <a:pPr algn="ctr">
                        <a:defRPr sz="1000" b="1">
                          <a:solidFill>
                            <a:srgbClr val="FFFFFF"/>
                          </a:solidFill>
                          <a:latin typeface="Montserrat"/>
                        </a:defRPr>
                      </a:pPr>
                      <a:r>
                        <a:t>944,000</a:t>
                      </a:r>
                    </a:p>
                  </a:txBody>
                  <a:tcPr marL="0" marR="0" marT="0" marB="0">
                    <a:solidFill>
                      <a:srgbClr val="9F2241"/>
                    </a:solidFill>
                  </a:tcPr>
                </a:tc>
                <a:tc>
                  <a:txBody>
                    <a:bodyPr/>
                    <a:lstStyle/>
                    <a:p>
                      <a:pPr algn="ctr">
                        <a:defRPr sz="1000" b="1">
                          <a:solidFill>
                            <a:srgbClr val="FFFFFF"/>
                          </a:solidFill>
                          <a:latin typeface="Montserrat"/>
                        </a:defRPr>
                      </a:pPr>
                      <a:r>
                        <a:t>40.3%</a:t>
                      </a:r>
                    </a:p>
                  </a:txBody>
                  <a:tcPr marL="0" marR="0" marT="0" marB="0">
                    <a:solidFill>
                      <a:srgbClr val="9F2241"/>
                    </a:solidFill>
                  </a:tcPr>
                </a:tc>
              </a:tr>
            </a:tbl>
          </a:graphicData>
        </a:graphic>
      </p:graphicFrame>
      <p:graphicFrame>
        <p:nvGraphicFramePr>
          <p:cNvPr id="23" name="Chart 22"/>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4" name="TextBox 23"/>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04264763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236" name="Table 235"/>
          <p:cNvGraphicFramePr>
            <a:graphicFrameLocks noGrp="1"/>
          </p:cNvGraphicFramePr>
          <p:nvPr/>
        </p:nvGraphicFramePr>
        <p:xfrm>
          <a:off x="144000" y="14940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Durango</a:t>
                      </a:r>
                    </a:p>
                  </a:txBody>
                  <a:tcPr>
                    <a:solidFill>
                      <a:srgbClr val="FFFFFF"/>
                    </a:solidFill>
                  </a:tcPr>
                </a:tc>
                <a:tc>
                  <a:txBody>
                    <a:bodyPr/>
                    <a:lstStyle/>
                    <a:p>
                      <a:pPr algn="ctr">
                        <a:defRPr sz="1000">
                          <a:latin typeface="Montserrat"/>
                        </a:defRPr>
                      </a:pPr>
                      <a:r>
                        <a:t>216,557</a:t>
                      </a:r>
                    </a:p>
                  </a:txBody>
                  <a:tcPr>
                    <a:solidFill>
                      <a:srgbClr val="FFFFFF"/>
                    </a:solidFill>
                  </a:tcPr>
                </a:tc>
                <a:tc>
                  <a:txBody>
                    <a:bodyPr/>
                    <a:lstStyle/>
                    <a:p>
                      <a:pPr algn="ctr">
                        <a:defRPr sz="1000">
                          <a:latin typeface="Montserrat"/>
                        </a:defRPr>
                      </a:pPr>
                      <a:r>
                        <a:t>58,574</a:t>
                      </a:r>
                    </a:p>
                  </a:txBody>
                  <a:tcPr>
                    <a:solidFill>
                      <a:srgbClr val="FFFFFF"/>
                    </a:solidFill>
                  </a:tcPr>
                </a:tc>
                <a:tc>
                  <a:txBody>
                    <a:bodyPr/>
                    <a:lstStyle/>
                    <a:p>
                      <a:pPr algn="ctr">
                        <a:defRPr sz="1000">
                          <a:latin typeface="Montserrat"/>
                        </a:defRPr>
                      </a:pPr>
                      <a:r>
                        <a:t>98,057</a:t>
                      </a:r>
                    </a:p>
                  </a:txBody>
                  <a:tcPr>
                    <a:solidFill>
                      <a:srgbClr val="ECD3D9"/>
                    </a:solidFill>
                  </a:tcPr>
                </a:tc>
                <a:tc>
                  <a:txBody>
                    <a:bodyPr/>
                    <a:lstStyle/>
                    <a:p>
                      <a:pPr algn="ctr">
                        <a:defRPr sz="1000">
                          <a:latin typeface="Montserrat"/>
                        </a:defRPr>
                      </a:pPr>
                      <a:r>
                        <a:t>216,810</a:t>
                      </a:r>
                    </a:p>
                  </a:txBody>
                  <a:tcPr>
                    <a:solidFill>
                      <a:srgbClr val="ECD3D9"/>
                    </a:solidFill>
                  </a:tcPr>
                </a:tc>
                <a:tc>
                  <a:txBody>
                    <a:bodyPr/>
                    <a:lstStyle/>
                    <a:p>
                      <a:pPr algn="ctr">
                        <a:defRPr sz="1000">
                          <a:latin typeface="Montserrat"/>
                        </a:defRPr>
                      </a:pPr>
                      <a:r>
                        <a:t>45.2%</a:t>
                      </a:r>
                    </a:p>
                  </a:txBody>
                  <a:tcPr>
                    <a:solidFill>
                      <a:srgbClr val="ECD3D9"/>
                    </a:solidFill>
                  </a:tcPr>
                </a:tc>
              </a:tr>
              <a:tr h="284400">
                <a:tc>
                  <a:txBody>
                    <a:bodyPr/>
                    <a:lstStyle/>
                    <a:p>
                      <a:pPr algn="l">
                        <a:defRPr sz="1000">
                          <a:latin typeface="Montserrat"/>
                        </a:defRPr>
                      </a:pPr>
                      <a:r>
                        <a:t>HGZ 46 Gómez Palacio</a:t>
                      </a:r>
                    </a:p>
                  </a:txBody>
                  <a:tcPr>
                    <a:solidFill>
                      <a:srgbClr val="EFEFEF"/>
                    </a:solidFill>
                  </a:tcPr>
                </a:tc>
                <a:tc>
                  <a:txBody>
                    <a:bodyPr/>
                    <a:lstStyle/>
                    <a:p>
                      <a:pPr algn="ctr">
                        <a:defRPr sz="1000">
                          <a:latin typeface="Montserrat"/>
                        </a:defRPr>
                      </a:pPr>
                      <a:r>
                        <a:t>77,191</a:t>
                      </a:r>
                    </a:p>
                  </a:txBody>
                  <a:tcPr>
                    <a:solidFill>
                      <a:srgbClr val="EFEFEF"/>
                    </a:solidFill>
                  </a:tcPr>
                </a:tc>
                <a:tc>
                  <a:txBody>
                    <a:bodyPr/>
                    <a:lstStyle/>
                    <a:p>
                      <a:pPr algn="ctr">
                        <a:defRPr sz="1000">
                          <a:latin typeface="Montserrat"/>
                        </a:defRPr>
                      </a:pPr>
                      <a:r>
                        <a:t>9,488</a:t>
                      </a:r>
                    </a:p>
                  </a:txBody>
                  <a:tcPr>
                    <a:solidFill>
                      <a:srgbClr val="EFEFEF"/>
                    </a:solidFill>
                  </a:tcPr>
                </a:tc>
                <a:tc>
                  <a:txBody>
                    <a:bodyPr/>
                    <a:lstStyle/>
                    <a:p>
                      <a:pPr algn="ctr">
                        <a:defRPr sz="1000">
                          <a:latin typeface="Montserrat"/>
                        </a:defRPr>
                      </a:pPr>
                      <a:r>
                        <a:t>34,909</a:t>
                      </a:r>
                    </a:p>
                  </a:txBody>
                  <a:tcPr>
                    <a:solidFill>
                      <a:srgbClr val="ECD3D9"/>
                    </a:solidFill>
                  </a:tcPr>
                </a:tc>
                <a:tc>
                  <a:txBody>
                    <a:bodyPr/>
                    <a:lstStyle/>
                    <a:p>
                      <a:pPr algn="ctr">
                        <a:defRPr sz="1000">
                          <a:latin typeface="Montserrat"/>
                        </a:defRPr>
                      </a:pPr>
                      <a:r>
                        <a:t>85,410</a:t>
                      </a:r>
                    </a:p>
                  </a:txBody>
                  <a:tcPr>
                    <a:solidFill>
                      <a:srgbClr val="ECD3D9"/>
                    </a:solidFill>
                  </a:tcPr>
                </a:tc>
                <a:tc>
                  <a:txBody>
                    <a:bodyPr/>
                    <a:lstStyle/>
                    <a:p>
                      <a:pPr algn="ctr">
                        <a:defRPr sz="1000">
                          <a:latin typeface="Montserrat"/>
                        </a:defRPr>
                      </a:pPr>
                      <a:r>
                        <a:t>40.9%</a:t>
                      </a:r>
                    </a:p>
                  </a:txBody>
                  <a:tcPr>
                    <a:solidFill>
                      <a:srgbClr val="ECD3D9"/>
                    </a:solidFill>
                  </a:tcPr>
                </a:tc>
              </a:tr>
              <a:tr h="284400">
                <a:tc>
                  <a:txBody>
                    <a:bodyPr/>
                    <a:lstStyle/>
                    <a:p>
                      <a:pPr algn="l">
                        <a:defRPr sz="1000">
                          <a:latin typeface="Montserrat"/>
                        </a:defRPr>
                      </a:pPr>
                      <a:r>
                        <a:t>HGZ 51 Chapala</a:t>
                      </a:r>
                    </a:p>
                  </a:txBody>
                  <a:tcPr>
                    <a:solidFill>
                      <a:srgbClr val="FFFFFF"/>
                    </a:solidFill>
                  </a:tcPr>
                </a:tc>
                <a:tc>
                  <a:txBody>
                    <a:bodyPr/>
                    <a:lstStyle/>
                    <a:p>
                      <a:pPr algn="ctr">
                        <a:defRPr sz="1000">
                          <a:latin typeface="Montserrat"/>
                        </a:defRPr>
                      </a:pPr>
                      <a:r>
                        <a:t>64,194</a:t>
                      </a:r>
                    </a:p>
                  </a:txBody>
                  <a:tcPr>
                    <a:solidFill>
                      <a:srgbClr val="FFFFFF"/>
                    </a:solidFill>
                  </a:tcPr>
                </a:tc>
                <a:tc>
                  <a:txBody>
                    <a:bodyPr/>
                    <a:lstStyle/>
                    <a:p>
                      <a:pPr algn="ctr">
                        <a:defRPr sz="1000">
                          <a:latin typeface="Montserrat"/>
                        </a:defRPr>
                      </a:pPr>
                      <a:r>
                        <a:t>14,594</a:t>
                      </a:r>
                    </a:p>
                  </a:txBody>
                  <a:tcPr>
                    <a:solidFill>
                      <a:srgbClr val="FFFFFF"/>
                    </a:solidFill>
                  </a:tcPr>
                </a:tc>
                <a:tc>
                  <a:txBody>
                    <a:bodyPr/>
                    <a:lstStyle/>
                    <a:p>
                      <a:pPr algn="ctr">
                        <a:defRPr sz="1000">
                          <a:latin typeface="Montserrat"/>
                        </a:defRPr>
                      </a:pPr>
                      <a:r>
                        <a:t>26,668</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36.9%</a:t>
                      </a:r>
                    </a:p>
                  </a:txBody>
                  <a:tcPr>
                    <a:solidFill>
                      <a:srgbClr val="ECD3D9"/>
                    </a:solidFill>
                  </a:tcPr>
                </a:tc>
              </a:tr>
              <a:tr h="284400">
                <a:tc>
                  <a:txBody>
                    <a:bodyPr/>
                    <a:lstStyle/>
                    <a:p>
                      <a:pPr algn="l">
                        <a:defRPr sz="1000">
                          <a:latin typeface="Montserrat"/>
                        </a:defRPr>
                      </a:pPr>
                      <a:r>
                        <a:t>HGSMF 2 El Salto</a:t>
                      </a:r>
                    </a:p>
                  </a:txBody>
                  <a:tcPr>
                    <a:solidFill>
                      <a:srgbClr val="EFEFEF"/>
                    </a:solidFill>
                  </a:tcPr>
                </a:tc>
                <a:tc>
                  <a:txBody>
                    <a:bodyPr/>
                    <a:lstStyle/>
                    <a:p>
                      <a:pPr algn="ctr">
                        <a:defRPr sz="1000">
                          <a:latin typeface="Montserrat"/>
                        </a:defRPr>
                      </a:pPr>
                      <a:r>
                        <a:t>12,183</a:t>
                      </a:r>
                    </a:p>
                  </a:txBody>
                  <a:tcPr>
                    <a:solidFill>
                      <a:srgbClr val="EFEFEF"/>
                    </a:solidFill>
                  </a:tcPr>
                </a:tc>
                <a:tc>
                  <a:txBody>
                    <a:bodyPr/>
                    <a:lstStyle/>
                    <a:p>
                      <a:pPr algn="ctr">
                        <a:defRPr sz="1000">
                          <a:latin typeface="Montserrat"/>
                        </a:defRPr>
                      </a:pPr>
                      <a:r>
                        <a:t>3,616</a:t>
                      </a:r>
                    </a:p>
                  </a:txBody>
                  <a:tcPr>
                    <a:solidFill>
                      <a:srgbClr val="EFEFEF"/>
                    </a:solidFill>
                  </a:tcPr>
                </a:tc>
                <a:tc>
                  <a:txBody>
                    <a:bodyPr/>
                    <a:lstStyle/>
                    <a:p>
                      <a:pPr algn="ctr">
                        <a:defRPr sz="1000">
                          <a:latin typeface="Montserrat"/>
                        </a:defRPr>
                      </a:pPr>
                      <a:r>
                        <a:t>5,193</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26.4%</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370,125</a:t>
                      </a:r>
                    </a:p>
                  </a:txBody>
                  <a:tcPr>
                    <a:solidFill>
                      <a:srgbClr val="D3E9E7"/>
                    </a:solidFill>
                  </a:tcPr>
                </a:tc>
                <a:tc>
                  <a:txBody>
                    <a:bodyPr/>
                    <a:lstStyle/>
                    <a:p>
                      <a:pPr algn="ctr">
                        <a:defRPr sz="1000" b="1">
                          <a:solidFill>
                            <a:srgbClr val="006556"/>
                          </a:solidFill>
                          <a:latin typeface="Montserrat"/>
                        </a:defRPr>
                      </a:pPr>
                      <a:r>
                        <a:t>86,272</a:t>
                      </a:r>
                    </a:p>
                  </a:txBody>
                  <a:tcPr>
                    <a:solidFill>
                      <a:srgbClr val="D3E9E7"/>
                    </a:solidFill>
                  </a:tcPr>
                </a:tc>
                <a:tc>
                  <a:txBody>
                    <a:bodyPr/>
                    <a:lstStyle/>
                    <a:p>
                      <a:pPr algn="ctr">
                        <a:defRPr sz="1000" b="1">
                          <a:solidFill>
                            <a:srgbClr val="FFFFFF"/>
                          </a:solidFill>
                          <a:latin typeface="Montserrat"/>
                        </a:defRPr>
                      </a:pPr>
                      <a:r>
                        <a:t>164,827</a:t>
                      </a:r>
                    </a:p>
                  </a:txBody>
                  <a:tcPr>
                    <a:solidFill>
                      <a:srgbClr val="9F2241"/>
                    </a:solidFill>
                  </a:tcPr>
                </a:tc>
                <a:tc>
                  <a:txBody>
                    <a:bodyPr/>
                    <a:lstStyle/>
                    <a:p>
                      <a:pPr algn="ctr">
                        <a:defRPr sz="1000" b="1">
                          <a:solidFill>
                            <a:srgbClr val="FFFFFF"/>
                          </a:solidFill>
                          <a:latin typeface="Montserrat"/>
                        </a:defRPr>
                      </a:pPr>
                      <a:r>
                        <a:t>394,200</a:t>
                      </a:r>
                    </a:p>
                  </a:txBody>
                  <a:tcPr>
                    <a:solidFill>
                      <a:srgbClr val="9F2241"/>
                    </a:solidFill>
                  </a:tcPr>
                </a:tc>
                <a:tc>
                  <a:txBody>
                    <a:bodyPr/>
                    <a:lstStyle/>
                    <a:p>
                      <a:pPr algn="ctr">
                        <a:defRPr sz="1000" b="1">
                          <a:solidFill>
                            <a:srgbClr val="FFFFFF"/>
                          </a:solidFill>
                          <a:latin typeface="Montserrat"/>
                        </a:defRPr>
                      </a:pPr>
                      <a:r>
                        <a:t>41.8%</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942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662000"/>
            <a:ext cx="1800000" cy="360000"/>
          </a:xfrm>
          <a:prstGeom prst="rect">
            <a:avLst/>
          </a:prstGeom>
          <a:noFill/>
        </p:spPr>
        <p:txBody>
          <a:bodyPr wrap="none">
            <a:spAutoFit/>
          </a:bodyPr>
          <a:lstStyle/>
          <a:p>
            <a:pPr algn="ctr"/>
            <a:r>
              <a:rPr sz="2400" b="1">
                <a:solidFill>
                  <a:srgbClr val="9F2241"/>
                </a:solidFill>
                <a:latin typeface="Montserrat"/>
              </a:rPr>
              <a:t>41.8%</a:t>
            </a:r>
          </a:p>
        </p:txBody>
      </p:sp>
      <p:sp>
        <p:nvSpPr>
          <p:cNvPr id="239" name="TextBox 238"/>
          <p:cNvSpPr txBox="1"/>
          <p:nvPr/>
        </p:nvSpPr>
        <p:spPr>
          <a:xfrm>
            <a:off x="4780800" y="5562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942000"/>
            <a:ext cx="2854800" cy="1198800"/>
          </a:xfrm>
          <a:prstGeom prst="rect">
            <a:avLst/>
          </a:prstGeom>
          <a:noFill/>
        </p:spPr>
        <p:txBody>
          <a:bodyPr wrap="square">
            <a:spAutoFit/>
          </a:bodyPr>
          <a:lstStyle/>
          <a:p>
            <a:pPr algn="ctr">
              <a:defRPr sz="3600" b="1">
                <a:solidFill>
                  <a:srgbClr val="9F2241"/>
                </a:solidFill>
                <a:latin typeface="Montserrat"/>
              </a:defRPr>
            </a:pPr>
            <a:r>
              <a:t>394,200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693734267"/>
              </p:ext>
            </p:extLst>
          </p:nvPr>
        </p:nvGraphicFramePr>
        <p:xfrm>
          <a:off x="143502" y="620141"/>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233" name="Table 232"/>
          <p:cNvGraphicFramePr>
            <a:graphicFrameLocks noGrp="1"/>
          </p:cNvGraphicFramePr>
          <p:nvPr/>
        </p:nvGraphicFramePr>
        <p:xfrm>
          <a:off x="144000" y="11376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2 El Salto</a:t>
                      </a:r>
                    </a:p>
                  </a:txBody>
                  <a:tcPr>
                    <a:solidFill>
                      <a:srgbClr val="FFFFFF"/>
                    </a:solidFill>
                  </a:tcPr>
                </a:tc>
                <a:tc>
                  <a:txBody>
                    <a:bodyPr/>
                    <a:lstStyle/>
                    <a:p>
                      <a:pPr algn="ctr">
                        <a:defRPr sz="1000">
                          <a:latin typeface="Montserrat"/>
                        </a:defRPr>
                      </a:pPr>
                      <a:r>
                        <a:t>1,272</a:t>
                      </a:r>
                    </a:p>
                  </a:txBody>
                  <a:tcPr>
                    <a:solidFill>
                      <a:srgbClr val="FFFFFF"/>
                    </a:solidFill>
                  </a:tcPr>
                </a:tc>
                <a:tc>
                  <a:txBody>
                    <a:bodyPr/>
                    <a:lstStyle/>
                    <a:p>
                      <a:pPr algn="ctr">
                        <a:defRPr sz="1000">
                          <a:latin typeface="Montserrat"/>
                        </a:defRPr>
                      </a:pPr>
                      <a:r>
                        <a:t>781</a:t>
                      </a:r>
                    </a:p>
                  </a:txBody>
                  <a:tcPr>
                    <a:solidFill>
                      <a:srgbClr val="FFFFFF"/>
                    </a:solidFill>
                  </a:tcPr>
                </a:tc>
                <a:tc>
                  <a:txBody>
                    <a:bodyPr/>
                    <a:lstStyle/>
                    <a:p>
                      <a:pPr algn="ctr">
                        <a:defRPr sz="1000">
                          <a:latin typeface="Montserrat"/>
                        </a:defRPr>
                      </a:pPr>
                      <a:r>
                        <a:t>711</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52.3%</a:t>
                      </a:r>
                    </a:p>
                  </a:txBody>
                  <a:tcPr>
                    <a:solidFill>
                      <a:srgbClr val="ECD3D9"/>
                    </a:solidFill>
                  </a:tcPr>
                </a:tc>
              </a:tr>
              <a:tr h="284400">
                <a:tc>
                  <a:txBody>
                    <a:bodyPr/>
                    <a:lstStyle/>
                    <a:p>
                      <a:pPr algn="l">
                        <a:defRPr sz="1000">
                          <a:latin typeface="Montserrat"/>
                        </a:defRPr>
                      </a:pPr>
                      <a:r>
                        <a:t>HGZ 46 Gómez Palacio</a:t>
                      </a:r>
                    </a:p>
                  </a:txBody>
                  <a:tcPr>
                    <a:solidFill>
                      <a:srgbClr val="EFEFEF"/>
                    </a:solidFill>
                  </a:tcPr>
                </a:tc>
                <a:tc>
                  <a:txBody>
                    <a:bodyPr/>
                    <a:lstStyle/>
                    <a:p>
                      <a:pPr algn="ctr">
                        <a:defRPr sz="1000">
                          <a:latin typeface="Montserrat"/>
                        </a:defRPr>
                      </a:pPr>
                      <a:r>
                        <a:t>6,282</a:t>
                      </a:r>
                    </a:p>
                  </a:txBody>
                  <a:tcPr>
                    <a:solidFill>
                      <a:srgbClr val="EFEFEF"/>
                    </a:solidFill>
                  </a:tcPr>
                </a:tc>
                <a:tc>
                  <a:txBody>
                    <a:bodyPr/>
                    <a:lstStyle/>
                    <a:p>
                      <a:pPr algn="ctr">
                        <a:defRPr sz="1000">
                          <a:latin typeface="Montserrat"/>
                        </a:defRPr>
                      </a:pPr>
                      <a:r>
                        <a:t>190</a:t>
                      </a:r>
                    </a:p>
                  </a:txBody>
                  <a:tcPr>
                    <a:solidFill>
                      <a:srgbClr val="EFEFEF"/>
                    </a:solidFill>
                  </a:tcPr>
                </a:tc>
                <a:tc>
                  <a:txBody>
                    <a:bodyPr/>
                    <a:lstStyle/>
                    <a:p>
                      <a:pPr algn="ctr">
                        <a:defRPr sz="1000">
                          <a:latin typeface="Montserrat"/>
                        </a:defRPr>
                      </a:pPr>
                      <a:r>
                        <a:t>2,935</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42.5%</a:t>
                      </a:r>
                    </a:p>
                  </a:txBody>
                  <a:tcPr>
                    <a:solidFill>
                      <a:srgbClr val="ECD3D9"/>
                    </a:solidFill>
                  </a:tcPr>
                </a:tc>
              </a:tr>
              <a:tr h="284400">
                <a:tc>
                  <a:txBody>
                    <a:bodyPr/>
                    <a:lstStyle/>
                    <a:p>
                      <a:pPr algn="l">
                        <a:defRPr sz="1000">
                          <a:latin typeface="Montserrat"/>
                        </a:defRPr>
                      </a:pPr>
                      <a:r>
                        <a:t>HGZ 51 Chapala</a:t>
                      </a:r>
                    </a:p>
                  </a:txBody>
                  <a:tcPr>
                    <a:solidFill>
                      <a:srgbClr val="FFFFFF"/>
                    </a:solidFill>
                  </a:tcPr>
                </a:tc>
                <a:tc>
                  <a:txBody>
                    <a:bodyPr/>
                    <a:lstStyle/>
                    <a:p>
                      <a:pPr algn="ctr">
                        <a:defRPr sz="1000">
                          <a:latin typeface="Montserrat"/>
                        </a:defRPr>
                      </a:pPr>
                      <a:r>
                        <a:t>5,271</a:t>
                      </a:r>
                    </a:p>
                  </a:txBody>
                  <a:tcPr>
                    <a:solidFill>
                      <a:srgbClr val="FFFFFF"/>
                    </a:solidFill>
                  </a:tcPr>
                </a:tc>
                <a:tc>
                  <a:txBody>
                    <a:bodyPr/>
                    <a:lstStyle/>
                    <a:p>
                      <a:pPr algn="ctr">
                        <a:defRPr sz="1000">
                          <a:latin typeface="Montserrat"/>
                        </a:defRPr>
                      </a:pPr>
                      <a:r>
                        <a:t>1,185</a:t>
                      </a:r>
                    </a:p>
                  </a:txBody>
                  <a:tcPr>
                    <a:solidFill>
                      <a:srgbClr val="FFFFFF"/>
                    </a:solidFill>
                  </a:tcPr>
                </a:tc>
                <a:tc>
                  <a:txBody>
                    <a:bodyPr/>
                    <a:lstStyle/>
                    <a:p>
                      <a:pPr algn="ctr">
                        <a:defRPr sz="1000">
                          <a:latin typeface="Montserrat"/>
                        </a:defRPr>
                      </a:pPr>
                      <a:r>
                        <a:t>2,333</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39.8%</a:t>
                      </a:r>
                    </a:p>
                  </a:txBody>
                  <a:tcPr>
                    <a:solidFill>
                      <a:srgbClr val="ECD3D9"/>
                    </a:solidFill>
                  </a:tcPr>
                </a:tc>
              </a:tr>
              <a:tr h="284400">
                <a:tc>
                  <a:txBody>
                    <a:bodyPr/>
                    <a:lstStyle/>
                    <a:p>
                      <a:pPr algn="l">
                        <a:defRPr sz="1000">
                          <a:latin typeface="Montserrat"/>
                        </a:defRPr>
                      </a:pPr>
                      <a:r>
                        <a:t>HGZ 1 Durango</a:t>
                      </a:r>
                    </a:p>
                  </a:txBody>
                  <a:tcPr>
                    <a:solidFill>
                      <a:srgbClr val="EFEFEF"/>
                    </a:solidFill>
                  </a:tcPr>
                </a:tc>
                <a:tc>
                  <a:txBody>
                    <a:bodyPr/>
                    <a:lstStyle/>
                    <a:p>
                      <a:pPr algn="ctr">
                        <a:defRPr sz="1000">
                          <a:latin typeface="Montserrat"/>
                        </a:defRPr>
                      </a:pPr>
                      <a:r>
                        <a:t>12,482</a:t>
                      </a:r>
                    </a:p>
                  </a:txBody>
                  <a:tcPr>
                    <a:solidFill>
                      <a:srgbClr val="EFEFEF"/>
                    </a:solidFill>
                  </a:tcPr>
                </a:tc>
                <a:tc>
                  <a:txBody>
                    <a:bodyPr/>
                    <a:lstStyle/>
                    <a:p>
                      <a:pPr algn="ctr">
                        <a:defRPr sz="1000">
                          <a:latin typeface="Montserrat"/>
                        </a:defRPr>
                      </a:pPr>
                      <a:r>
                        <a:t>771</a:t>
                      </a:r>
                    </a:p>
                  </a:txBody>
                  <a:tcPr>
                    <a:solidFill>
                      <a:srgbClr val="EFEFEF"/>
                    </a:solidFill>
                  </a:tcPr>
                </a:tc>
                <a:tc>
                  <a:txBody>
                    <a:bodyPr/>
                    <a:lstStyle/>
                    <a:p>
                      <a:pPr algn="ctr">
                        <a:defRPr sz="1000">
                          <a:latin typeface="Montserrat"/>
                        </a:defRPr>
                      </a:pPr>
                      <a:r>
                        <a:t>4,980</a:t>
                      </a:r>
                    </a:p>
                  </a:txBody>
                  <a:tcPr>
                    <a:solidFill>
                      <a:srgbClr val="ECD3D9"/>
                    </a:solidFill>
                  </a:tcPr>
                </a:tc>
                <a:tc>
                  <a:txBody>
                    <a:bodyPr/>
                    <a:lstStyle/>
                    <a:p>
                      <a:pPr algn="ctr">
                        <a:defRPr sz="1000">
                          <a:latin typeface="Montserrat"/>
                        </a:defRPr>
                      </a:pPr>
                      <a:r>
                        <a:t>13,176</a:t>
                      </a:r>
                    </a:p>
                  </a:txBody>
                  <a:tcPr>
                    <a:solidFill>
                      <a:srgbClr val="ECD3D9"/>
                    </a:solidFill>
                  </a:tcPr>
                </a:tc>
                <a:tc>
                  <a:txBody>
                    <a:bodyPr/>
                    <a:lstStyle/>
                    <a:p>
                      <a:pPr algn="ctr">
                        <a:defRPr sz="1000">
                          <a:latin typeface="Montserrat"/>
                        </a:defRPr>
                      </a:pPr>
                      <a:r>
                        <a:t>37.8%</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25,307</a:t>
                      </a:r>
                    </a:p>
                  </a:txBody>
                  <a:tcPr>
                    <a:solidFill>
                      <a:srgbClr val="D3E9E7"/>
                    </a:solidFill>
                  </a:tcPr>
                </a:tc>
                <a:tc>
                  <a:txBody>
                    <a:bodyPr/>
                    <a:lstStyle/>
                    <a:p>
                      <a:pPr algn="ctr">
                        <a:defRPr sz="1000" b="1">
                          <a:solidFill>
                            <a:srgbClr val="006556"/>
                          </a:solidFill>
                          <a:latin typeface="Montserrat"/>
                        </a:defRPr>
                      </a:pPr>
                      <a:r>
                        <a:t>2,927</a:t>
                      </a:r>
                    </a:p>
                  </a:txBody>
                  <a:tcPr>
                    <a:solidFill>
                      <a:srgbClr val="D3E9E7"/>
                    </a:solidFill>
                  </a:tcPr>
                </a:tc>
                <a:tc>
                  <a:txBody>
                    <a:bodyPr/>
                    <a:lstStyle/>
                    <a:p>
                      <a:pPr algn="ctr">
                        <a:defRPr sz="1000" b="1">
                          <a:solidFill>
                            <a:srgbClr val="FFFFFF"/>
                          </a:solidFill>
                          <a:latin typeface="Montserrat"/>
                        </a:defRPr>
                      </a:pPr>
                      <a:r>
                        <a:t>10,959</a:t>
                      </a:r>
                    </a:p>
                  </a:txBody>
                  <a:tcPr>
                    <a:solidFill>
                      <a:srgbClr val="9F2241"/>
                    </a:solidFill>
                  </a:tcPr>
                </a:tc>
                <a:tc>
                  <a:txBody>
                    <a:bodyPr/>
                    <a:lstStyle/>
                    <a:p>
                      <a:pPr algn="ctr">
                        <a:defRPr sz="1000" b="1">
                          <a:solidFill>
                            <a:srgbClr val="FFFFFF"/>
                          </a:solidFill>
                          <a:latin typeface="Montserrat"/>
                        </a:defRPr>
                      </a:pPr>
                      <a:r>
                        <a:t>27,291</a:t>
                      </a:r>
                    </a:p>
                  </a:txBody>
                  <a:tcPr>
                    <a:solidFill>
                      <a:srgbClr val="9F2241"/>
                    </a:solidFill>
                  </a:tcPr>
                </a:tc>
                <a:tc>
                  <a:txBody>
                    <a:bodyPr/>
                    <a:lstStyle/>
                    <a:p>
                      <a:pPr algn="ctr">
                        <a:defRPr sz="1000" b="1">
                          <a:solidFill>
                            <a:srgbClr val="FFFFFF"/>
                          </a:solidFill>
                          <a:latin typeface="Montserrat"/>
                        </a:defRPr>
                      </a:pPr>
                      <a:r>
                        <a:t>40.2%</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585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305600"/>
            <a:ext cx="1800000" cy="360000"/>
          </a:xfrm>
          <a:prstGeom prst="rect">
            <a:avLst/>
          </a:prstGeom>
          <a:noFill/>
        </p:spPr>
        <p:txBody>
          <a:bodyPr wrap="none">
            <a:spAutoFit/>
          </a:bodyPr>
          <a:lstStyle/>
          <a:p>
            <a:pPr algn="ctr"/>
            <a:r>
              <a:rPr sz="2400" b="1">
                <a:solidFill>
                  <a:srgbClr val="9F2241"/>
                </a:solidFill>
                <a:latin typeface="Montserrat"/>
              </a:rPr>
              <a:t>40.2%</a:t>
            </a:r>
          </a:p>
        </p:txBody>
      </p:sp>
      <p:sp>
        <p:nvSpPr>
          <p:cNvPr id="236" name="TextBox 235"/>
          <p:cNvSpPr txBox="1"/>
          <p:nvPr/>
        </p:nvSpPr>
        <p:spPr>
          <a:xfrm>
            <a:off x="4780800" y="520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585600"/>
            <a:ext cx="2854800" cy="1198800"/>
          </a:xfrm>
          <a:prstGeom prst="rect">
            <a:avLst/>
          </a:prstGeom>
          <a:noFill/>
        </p:spPr>
        <p:txBody>
          <a:bodyPr wrap="square">
            <a:spAutoFit/>
          </a:bodyPr>
          <a:lstStyle/>
          <a:p>
            <a:pPr algn="ctr">
              <a:defRPr sz="3600" b="1">
                <a:solidFill>
                  <a:srgbClr val="9F2241"/>
                </a:solidFill>
                <a:latin typeface="Montserrat"/>
              </a:defRPr>
            </a:pPr>
            <a:r>
              <a:t>27,291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151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58 en Hospitales, 0 en sede, 23 en UMF y 70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58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Subzona C/MF 2</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32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46</a:t>
                      </a:r>
                    </a:p>
                  </a:txBody>
                  <a:tcPr anchor="ctr">
                    <a:no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328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51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487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No. 1</a:t>
                      </a:r>
                    </a:p>
                  </a:txBody>
                  <a:tcPr anchor="ctr">
                    <a:noFill/>
                  </a:tcPr>
                </a:tc>
                <a:tc>
                  <a:txBody>
                    <a:bodyPr/>
                    <a:lstStyle/>
                    <a:p>
                      <a:pPr algn="ctr">
                        <a:defRPr sz="800" b="0">
                          <a:solidFill>
                            <a:srgbClr val="000000"/>
                          </a:solidFill>
                          <a:latin typeface="Montserrat"/>
                        </a:defRPr>
                      </a:pPr>
                      <a:r>
                        <a:t>Alergia e Inmunología Clínica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487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No. 51 Gómez Palacio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extLst>
      <p:ext uri="{BB962C8B-B14F-4D97-AF65-F5344CB8AC3E}">
        <p14:creationId xmlns:p14="http://schemas.microsoft.com/office/powerpoint/2010/main" val="3110693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34</a:t>
                      </a:r>
                    </a:p>
                  </a:txBody>
                  <a:tcPr anchor="ctr" marL="45720" marR="45720" marT="45720" marB="45720">
                    <a:solidFill>
                      <a:srgbClr val="FFFFFF"/>
                    </a:solidFill>
                  </a:tcPr>
                </a:tc>
                <a:tc>
                  <a:txBody>
                    <a:bodyPr/>
                    <a:lstStyle/>
                    <a:p>
                      <a:pPr algn="ctr">
                        <a:defRPr sz="1100" b="1">
                          <a:solidFill>
                            <a:srgbClr val="000000"/>
                          </a:solidFill>
                          <a:latin typeface="Montserrat"/>
                        </a:defRPr>
                      </a:pPr>
                      <a:r>
                        <a:t>22.5%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D9D9D9"/>
                    </a:solidFill>
                  </a:tcPr>
                </a:tc>
                <a:tc>
                  <a:txBody>
                    <a:bodyPr/>
                    <a:lstStyle/>
                    <a:p>
                      <a:pPr algn="ctr">
                        <a:defRPr sz="1100" b="0">
                          <a:solidFill>
                            <a:srgbClr val="000000"/>
                          </a:solidFill>
                          <a:latin typeface="Montserrat"/>
                        </a:defRPr>
                      </a:pPr>
                      <a:r>
                        <a:t>20</a:t>
                      </a:r>
                    </a:p>
                  </a:txBody>
                  <a:tcPr anchor="ctr" marL="45720" marR="45720" marT="45720" marB="45720">
                    <a:solidFill>
                      <a:srgbClr val="D9D9D9"/>
                    </a:solidFill>
                  </a:tcPr>
                </a:tc>
                <a:tc>
                  <a:txBody>
                    <a:bodyPr/>
                    <a:lstStyle/>
                    <a:p>
                      <a:pPr algn="ctr">
                        <a:defRPr sz="1100" b="1">
                          <a:solidFill>
                            <a:srgbClr val="000000"/>
                          </a:solidFill>
                          <a:latin typeface="Montserrat"/>
                        </a:defRPr>
                      </a:pPr>
                      <a:r>
                        <a:t>35.7%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45.0%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11</a:t>
                      </a:r>
                    </a:p>
                  </a:txBody>
                  <a:tcPr anchor="ctr" marL="45720" marR="45720" marT="45720" marB="45720">
                    <a:solidFill>
                      <a:srgbClr val="D9D9D9"/>
                    </a:solidFill>
                  </a:tcPr>
                </a:tc>
                <a:tc>
                  <a:txBody>
                    <a:bodyPr/>
                    <a:lstStyle/>
                    <a:p>
                      <a:pPr algn="ctr">
                        <a:defRPr sz="1100" b="1">
                          <a:solidFill>
                            <a:srgbClr val="000000"/>
                          </a:solidFill>
                          <a:latin typeface="Montserrat"/>
                        </a:defRPr>
                      </a:pPr>
                      <a:r>
                        <a:t>52.3%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59.6%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66.2%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7</a:t>
                      </a:r>
                    </a:p>
                  </a:txBody>
                  <a:tcPr anchor="ctr" marL="45720" marR="45720" marT="45720" marB="45720">
                    <a:solidFill>
                      <a:srgbClr val="FFFFFF"/>
                    </a:solidFill>
                  </a:tcPr>
                </a:tc>
                <a:tc>
                  <a:txBody>
                    <a:bodyPr/>
                    <a:lstStyle/>
                    <a:p>
                      <a:pPr algn="ctr">
                        <a:defRPr sz="1100" b="1">
                          <a:solidFill>
                            <a:srgbClr val="000000"/>
                          </a:solidFill>
                          <a:latin typeface="Montserrat"/>
                        </a:defRPr>
                      </a:pPr>
                      <a:r>
                        <a:t>70.8%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74.8%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77.4%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79.4%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Urgencias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81.4%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83.4%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Neurocirugía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85.4%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87.4%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Neumología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89.4%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Dermatología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90.7%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92.0%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93.3%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Alergia e Inmunología Clínica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Alergia e Inmunología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98.6%</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Cardiología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24761208-7A00-E3E2-5980-1646AF1515AF}"/>
              </a:ext>
            </a:extLst>
          </p:cNvPr>
          <p:cNvGraphicFramePr/>
          <p:nvPr>
            <p:extLst>
              <p:ext uri="{D42A27DB-BD31-4B8C-83A1-F6EECF244321}">
                <p14:modId xmlns:p14="http://schemas.microsoft.com/office/powerpoint/2010/main" val="1245447098"/>
              </p:ext>
            </p:extLst>
          </p:nvPr>
        </p:nvGraphicFramePr>
        <p:xfrm>
          <a:off x="287050" y="97368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DURANGO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880</a:t>
                      </a:r>
                    </a:p>
                  </a:txBody>
                  <a:tcPr anchor="ctr">
                    <a:solidFill>
                      <a:srgbClr val="FFFFFF"/>
                    </a:solidFill>
                  </a:tcPr>
                </a:tc>
                <a:tc>
                  <a:txBody>
                    <a:bodyPr/>
                    <a:lstStyle/>
                    <a:p>
                      <a:pPr algn="ctr">
                        <a:defRPr sz="1000">
                          <a:latin typeface="Montserrat"/>
                        </a:defRPr>
                      </a:pPr>
                      <a:r>
                        <a:t>34.5%</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532</a:t>
                      </a:r>
                    </a:p>
                  </a:txBody>
                  <a:tcPr anchor="ctr">
                    <a:solidFill>
                      <a:srgbClr val="D9D9D9"/>
                    </a:solidFill>
                  </a:tcPr>
                </a:tc>
                <a:tc>
                  <a:txBody>
                    <a:bodyPr/>
                    <a:lstStyle/>
                    <a:p>
                      <a:pPr algn="ctr">
                        <a:defRPr sz="1000">
                          <a:latin typeface="Montserrat"/>
                        </a:defRPr>
                      </a:pPr>
                      <a:r>
                        <a:t>55.4%</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352</a:t>
                      </a:r>
                    </a:p>
                  </a:txBody>
                  <a:tcPr anchor="ctr">
                    <a:solidFill>
                      <a:srgbClr val="FFFFFF"/>
                    </a:solidFill>
                  </a:tcPr>
                </a:tc>
                <a:tc>
                  <a:txBody>
                    <a:bodyPr/>
                    <a:lstStyle/>
                    <a:p>
                      <a:pPr algn="ctr">
                        <a:defRPr sz="1000">
                          <a:latin typeface="Montserrat"/>
                        </a:defRPr>
                      </a:pPr>
                      <a:r>
                        <a:t>69.2%</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238</a:t>
                      </a:r>
                    </a:p>
                  </a:txBody>
                  <a:tcPr anchor="ctr">
                    <a:solidFill>
                      <a:srgbClr val="D9D9D9"/>
                    </a:solidFill>
                  </a:tcPr>
                </a:tc>
                <a:tc>
                  <a:txBody>
                    <a:bodyPr/>
                    <a:lstStyle/>
                    <a:p>
                      <a:pPr algn="ctr">
                        <a:defRPr sz="1000">
                          <a:latin typeface="Montserrat"/>
                        </a:defRPr>
                      </a:pPr>
                      <a:r>
                        <a:t>78.5%</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223</a:t>
                      </a:r>
                    </a:p>
                  </a:txBody>
                  <a:tcPr anchor="ctr">
                    <a:solidFill>
                      <a:srgbClr val="FFFFFF"/>
                    </a:solidFill>
                  </a:tcPr>
                </a:tc>
                <a:tc>
                  <a:txBody>
                    <a:bodyPr/>
                    <a:lstStyle/>
                    <a:p>
                      <a:pPr algn="ctr">
                        <a:defRPr sz="1000">
                          <a:latin typeface="Montserrat"/>
                        </a:defRPr>
                      </a:pPr>
                      <a:r>
                        <a:t>87.3%</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96</a:t>
                      </a:r>
                    </a:p>
                  </a:txBody>
                  <a:tcPr anchor="ctr">
                    <a:solidFill>
                      <a:srgbClr val="D9D9D9"/>
                    </a:solidFill>
                  </a:tcPr>
                </a:tc>
                <a:tc>
                  <a:txBody>
                    <a:bodyPr/>
                    <a:lstStyle/>
                    <a:p>
                      <a:pPr algn="ctr">
                        <a:defRPr sz="1000">
                          <a:latin typeface="Montserrat"/>
                        </a:defRPr>
                      </a:pPr>
                      <a:r>
                        <a:t>91.0%</a:t>
                      </a:r>
                    </a:p>
                  </a:txBody>
                  <a:tcPr anchor="ctr">
                    <a:solidFill>
                      <a:srgbClr val="D9D9D9"/>
                    </a:solidFill>
                  </a:tcPr>
                </a:tc>
              </a:tr>
              <a:tr h="216000">
                <a:tc>
                  <a:txBody>
                    <a:bodyPr/>
                    <a:lstStyle/>
                    <a:p>
                      <a:pPr algn="l">
                        <a:defRPr sz="1000">
                          <a:latin typeface="Montserrat"/>
                        </a:defRPr>
                      </a:pPr>
                      <a:r>
                        <a:t>Cirugía Pediátrica  </a:t>
                      </a:r>
                    </a:p>
                  </a:txBody>
                  <a:tcPr anchor="ctr">
                    <a:solidFill>
                      <a:srgbClr val="FFFFFF"/>
                    </a:solidFill>
                  </a:tcPr>
                </a:tc>
                <a:tc>
                  <a:txBody>
                    <a:bodyPr/>
                    <a:lstStyle/>
                    <a:p>
                      <a:pPr algn="ctr">
                        <a:defRPr sz="1000">
                          <a:latin typeface="Montserrat"/>
                        </a:defRPr>
                      </a:pPr>
                      <a:r>
                        <a:t>84</a:t>
                      </a:r>
                    </a:p>
                  </a:txBody>
                  <a:tcPr anchor="ctr">
                    <a:solidFill>
                      <a:srgbClr val="FFFFFF"/>
                    </a:solidFill>
                  </a:tcPr>
                </a:tc>
                <a:tc>
                  <a:txBody>
                    <a:bodyPr/>
                    <a:lstStyle/>
                    <a:p>
                      <a:pPr algn="ctr">
                        <a:defRPr sz="1000">
                          <a:latin typeface="Montserrat"/>
                        </a:defRPr>
                      </a:pPr>
                      <a:r>
                        <a:t>94.3%</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59</a:t>
                      </a:r>
                    </a:p>
                  </a:txBody>
                  <a:tcPr anchor="ctr">
                    <a:solidFill>
                      <a:srgbClr val="D9D9D9"/>
                    </a:solidFill>
                  </a:tcPr>
                </a:tc>
                <a:tc>
                  <a:txBody>
                    <a:bodyPr/>
                    <a:lstStyle/>
                    <a:p>
                      <a:pPr algn="ctr">
                        <a:defRPr sz="1000">
                          <a:latin typeface="Montserrat"/>
                        </a:defRPr>
                      </a:pPr>
                      <a:r>
                        <a:t>96.6%</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51</a:t>
                      </a:r>
                    </a:p>
                  </a:txBody>
                  <a:tcPr anchor="ctr">
                    <a:solidFill>
                      <a:srgbClr val="FFFFFF"/>
                    </a:solidFill>
                  </a:tcPr>
                </a:tc>
                <a:tc>
                  <a:txBody>
                    <a:bodyPr/>
                    <a:lstStyle/>
                    <a:p>
                      <a:pPr algn="ctr">
                        <a:defRPr sz="1000">
                          <a:latin typeface="Montserrat"/>
                        </a:defRPr>
                      </a:pPr>
                      <a:r>
                        <a:t>98.6%</a:t>
                      </a:r>
                    </a:p>
                  </a:txBody>
                  <a:tcPr anchor="ctr">
                    <a:solidFill>
                      <a:srgbClr val="FFFFFF"/>
                    </a:solidFill>
                  </a:tcPr>
                </a:tc>
              </a:tr>
              <a:tr h="216000">
                <a:tc>
                  <a:txBody>
                    <a:bodyPr/>
                    <a:lstStyle/>
                    <a:p>
                      <a:pPr algn="l">
                        <a:defRPr sz="1000">
                          <a:latin typeface="Montserrat"/>
                        </a:defRPr>
                      </a:pPr>
                      <a:r>
                        <a:t>Cirugía Plástica y Reconstructiva</a:t>
                      </a:r>
                    </a:p>
                  </a:txBody>
                  <a:tcPr anchor="ctr">
                    <a:solidFill>
                      <a:srgbClr val="D9D9D9"/>
                    </a:solidFill>
                  </a:tcPr>
                </a:tc>
                <a:tc>
                  <a:txBody>
                    <a:bodyPr/>
                    <a:lstStyle/>
                    <a:p>
                      <a:pPr algn="ctr">
                        <a:defRPr sz="1000">
                          <a:latin typeface="Montserrat"/>
                        </a:defRPr>
                      </a:pPr>
                      <a:r>
                        <a:t>35</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2,550</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148</a:t>
                      </a:r>
                    </a:p>
                  </a:txBody>
                  <a:tcPr anchor="ctr">
                    <a:solidFill>
                      <a:srgbClr val="FFFFFF"/>
                    </a:solidFill>
                  </a:tcPr>
                </a:tc>
                <a:tc>
                  <a:txBody>
                    <a:bodyPr/>
                    <a:lstStyle/>
                    <a:p>
                      <a:pPr algn="ctr">
                        <a:defRPr sz="1000">
                          <a:latin typeface="Montserrat"/>
                        </a:defRPr>
                      </a:pPr>
                      <a:r>
                        <a:t>28.7%</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129</a:t>
                      </a:r>
                    </a:p>
                  </a:txBody>
                  <a:tcPr anchor="ctr">
                    <a:solidFill>
                      <a:srgbClr val="D9D9D9"/>
                    </a:solidFill>
                  </a:tcPr>
                </a:tc>
                <a:tc>
                  <a:txBody>
                    <a:bodyPr/>
                    <a:lstStyle/>
                    <a:p>
                      <a:pPr algn="ctr">
                        <a:defRPr sz="1000">
                          <a:latin typeface="Montserrat"/>
                        </a:defRPr>
                      </a:pPr>
                      <a:r>
                        <a:t>53.8%</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96</a:t>
                      </a:r>
                    </a:p>
                  </a:txBody>
                  <a:tcPr anchor="ctr">
                    <a:solidFill>
                      <a:srgbClr val="FFFFFF"/>
                    </a:solidFill>
                  </a:tcPr>
                </a:tc>
                <a:tc>
                  <a:txBody>
                    <a:bodyPr/>
                    <a:lstStyle/>
                    <a:p>
                      <a:pPr algn="ctr">
                        <a:defRPr sz="1000">
                          <a:latin typeface="Montserrat"/>
                        </a:defRPr>
                      </a:pPr>
                      <a:r>
                        <a:t>72.4%</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52</a:t>
                      </a:r>
                    </a:p>
                  </a:txBody>
                  <a:tcPr anchor="ctr">
                    <a:solidFill>
                      <a:srgbClr val="D9D9D9"/>
                    </a:solidFill>
                  </a:tcPr>
                </a:tc>
                <a:tc>
                  <a:txBody>
                    <a:bodyPr/>
                    <a:lstStyle/>
                    <a:p>
                      <a:pPr algn="ctr">
                        <a:defRPr sz="1000">
                          <a:latin typeface="Montserrat"/>
                        </a:defRPr>
                      </a:pPr>
                      <a:r>
                        <a:t>82.5%</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49</a:t>
                      </a:r>
                    </a:p>
                  </a:txBody>
                  <a:tcPr anchor="ctr">
                    <a:solidFill>
                      <a:srgbClr val="FFFFFF"/>
                    </a:solidFill>
                  </a:tcPr>
                </a:tc>
                <a:tc>
                  <a:txBody>
                    <a:bodyPr/>
                    <a:lstStyle/>
                    <a:p>
                      <a:pPr algn="ctr">
                        <a:defRPr sz="1000">
                          <a:latin typeface="Montserrat"/>
                        </a:defRPr>
                      </a:pPr>
                      <a:r>
                        <a:t>92.0%</a:t>
                      </a:r>
                    </a:p>
                  </a:txBody>
                  <a:tcPr anchor="ctr">
                    <a:solidFill>
                      <a:srgbClr val="FFFFFF"/>
                    </a:solidFill>
                  </a:tcPr>
                </a:tc>
              </a:tr>
              <a:tr h="216000">
                <a:tc>
                  <a:txBody>
                    <a:bodyPr/>
                    <a:lstStyle/>
                    <a:p>
                      <a:pPr algn="l">
                        <a:defRPr sz="1000">
                          <a:latin typeface="Montserrat"/>
                        </a:defRPr>
                      </a:pPr>
                      <a:r>
                        <a:t>Mastectomías</a:t>
                      </a:r>
                    </a:p>
                  </a:txBody>
                  <a:tcPr anchor="ctr">
                    <a:solidFill>
                      <a:srgbClr val="D9D9D9"/>
                    </a:solidFill>
                  </a:tcPr>
                </a:tc>
                <a:tc>
                  <a:txBody>
                    <a:bodyPr/>
                    <a:lstStyle/>
                    <a:p>
                      <a:pPr algn="ctr">
                        <a:defRPr sz="1000">
                          <a:latin typeface="Montserrat"/>
                        </a:defRPr>
                      </a:pPr>
                      <a:r>
                        <a:t>25</a:t>
                      </a:r>
                    </a:p>
                  </a:txBody>
                  <a:tcPr anchor="ctr">
                    <a:solidFill>
                      <a:srgbClr val="D9D9D9"/>
                    </a:solidFill>
                  </a:tcPr>
                </a:tc>
                <a:tc>
                  <a:txBody>
                    <a:bodyPr/>
                    <a:lstStyle/>
                    <a:p>
                      <a:pPr algn="ctr">
                        <a:defRPr sz="1000">
                          <a:latin typeface="Montserrat"/>
                        </a:defRPr>
                      </a:pPr>
                      <a:r>
                        <a:t>96.9%</a:t>
                      </a:r>
                    </a:p>
                  </a:txBody>
                  <a:tcPr anchor="ctr">
                    <a:solidFill>
                      <a:srgbClr val="D9D9D9"/>
                    </a:solidFill>
                  </a:tcPr>
                </a:tc>
              </a:tr>
              <a:tr h="216000">
                <a:tc>
                  <a:txBody>
                    <a:bodyPr/>
                    <a:lstStyle/>
                    <a:p>
                      <a:pPr algn="l">
                        <a:defRPr sz="1000">
                          <a:latin typeface="Montserrat"/>
                        </a:defRPr>
                      </a:pPr>
                      <a:r>
                        <a:t>Sustitución de cadera</a:t>
                      </a:r>
                    </a:p>
                  </a:txBody>
                  <a:tcPr anchor="ctr">
                    <a:solidFill>
                      <a:srgbClr val="FFFFFF"/>
                    </a:solidFill>
                  </a:tcPr>
                </a:tc>
                <a:tc>
                  <a:txBody>
                    <a:bodyPr/>
                    <a:lstStyle/>
                    <a:p>
                      <a:pPr algn="ctr">
                        <a:defRPr sz="1000">
                          <a:latin typeface="Montserrat"/>
                        </a:defRPr>
                      </a:pPr>
                      <a:r>
                        <a:t>16</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515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DURANGO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8,042	 Personal de Salud: 4,811</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+93.5%</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31</a:t>
                      </a:r>
                    </a:p>
                  </a:txBody>
                  <a:tcPr marL="0" marR="0" marT="0" marB="0">
                    <a:noFill/>
                  </a:tcPr>
                </a:tc>
                <a:tc>
                  <a:txBody>
                    <a:bodyPr/>
                    <a:lstStyle/>
                    <a:p>
                      <a:pPr algn="ctr">
                        <a:defRPr b="1" sz="1500">
                          <a:solidFill>
                            <a:srgbClr val="B4975A"/>
                          </a:solidFill>
                          <a:latin typeface="Montserrat"/>
                        </a:defRPr>
                      </a:pPr>
                      <a:r>
                        <a:t>60</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+29.7%</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906</a:t>
                      </a:r>
                    </a:p>
                  </a:txBody>
                  <a:tcPr marL="0" marR="0" marT="0" marB="0">
                    <a:noFill/>
                  </a:tcPr>
                </a:tc>
                <a:tc>
                  <a:txBody>
                    <a:bodyPr/>
                    <a:lstStyle/>
                    <a:p>
                      <a:pPr algn="ctr">
                        <a:defRPr b="1" sz="1500">
                          <a:solidFill>
                            <a:srgbClr val="B4975A"/>
                          </a:solidFill>
                          <a:latin typeface="Montserrat"/>
                        </a:defRPr>
                      </a:pPr>
                      <a:r>
                        <a:t>1,175</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+13.4%</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1,564</a:t>
                      </a:r>
                    </a:p>
                  </a:txBody>
                  <a:tcPr marL="0" marR="0" marT="0" marB="0">
                    <a:noFill/>
                  </a:tcPr>
                </a:tc>
                <a:tc>
                  <a:txBody>
                    <a:bodyPr/>
                    <a:lstStyle/>
                    <a:p>
                      <a:pPr algn="ctr">
                        <a:defRPr b="1" sz="1500">
                          <a:solidFill>
                            <a:srgbClr val="B4975A"/>
                          </a:solidFill>
                          <a:latin typeface="Montserrat"/>
                        </a:defRPr>
                      </a:pPr>
                      <a:r>
                        <a:t>1,774</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+15.3%</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1,060</a:t>
                      </a:r>
                    </a:p>
                  </a:txBody>
                  <a:tcPr marL="0" marR="0" marT="0" marB="0">
                    <a:noFill/>
                  </a:tcPr>
                </a:tc>
                <a:tc>
                  <a:txBody>
                    <a:bodyPr/>
                    <a:lstStyle/>
                    <a:p>
                      <a:pPr algn="ctr">
                        <a:defRPr b="1" sz="1500">
                          <a:solidFill>
                            <a:srgbClr val="B4975A"/>
                          </a:solidFill>
                          <a:latin typeface="Montserrat"/>
                        </a:defRPr>
                      </a:pPr>
                      <a:r>
                        <a:t>1,222</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+83.5%</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164</a:t>
                      </a:r>
                    </a:p>
                  </a:txBody>
                  <a:tcPr marL="0" marR="0" marT="0" marB="0">
                    <a:noFill/>
                  </a:tcPr>
                </a:tc>
                <a:tc>
                  <a:txBody>
                    <a:bodyPr/>
                    <a:lstStyle/>
                    <a:p>
                      <a:pPr algn="ctr">
                        <a:defRPr b="1" sz="1500">
                          <a:solidFill>
                            <a:srgbClr val="B4975A"/>
                          </a:solidFill>
                          <a:latin typeface="Montserrat"/>
                        </a:defRPr>
                      </a:pPr>
                      <a:r>
                        <a:t>301</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-19.8%</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348</a:t>
                      </a:r>
                    </a:p>
                  </a:txBody>
                  <a:tcPr marL="0" marR="0" marT="0" marB="0">
                    <a:noFill/>
                  </a:tcPr>
                </a:tc>
                <a:tc>
                  <a:txBody>
                    <a:bodyPr/>
                    <a:lstStyle/>
                    <a:p>
                      <a:pPr algn="ctr">
                        <a:defRPr b="1" sz="1500">
                          <a:solidFill>
                            <a:srgbClr val="B4975A"/>
                          </a:solidFill>
                          <a:latin typeface="Montserrat"/>
                        </a:defRPr>
                      </a:pPr>
                      <a:r>
                        <a:t>279</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43</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28</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7</a:t>
                      </a:r>
                    </a:p>
                  </a:txBody>
                  <a:tcPr marL="45720" marR="45720" marT="45720" marB="45720">
                    <a:solidFill>
                      <a:srgbClr val="FFFFFF"/>
                    </a:solidFill>
                  </a:tcPr>
                </a:tc>
              </a:tr>
              <a:tr h="18288">
                <a:tc>
                  <a:txBody>
                    <a:bodyPr/>
                    <a:lstStyle/>
                    <a:p>
                      <a:pPr algn="l">
                        <a:defRPr sz="800">
                          <a:latin typeface="Montserrat"/>
                        </a:defRPr>
                      </a:pPr>
                      <a:r>
                        <a:t>Patología Clínica</a:t>
                      </a:r>
                    </a:p>
                  </a:txBody>
                  <a:tcPr marL="45720" marR="45720" marT="45720" marB="45720">
                    <a:solidFill>
                      <a:srgbClr val="EFEFEF"/>
                    </a:solidFill>
                  </a:tcPr>
                </a:tc>
                <a:tc>
                  <a:txBody>
                    <a:bodyPr/>
                    <a:lstStyle/>
                    <a:p>
                      <a:pPr algn="ctr">
                        <a:defRPr sz="800">
                          <a:latin typeface="Montserrat"/>
                        </a:defRPr>
                      </a:pPr>
                      <a:r>
                        <a:t>2</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1</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45</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21</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9</a:t>
                      </a:r>
                    </a:p>
                  </a:txBody>
                  <a:tcPr marL="45720" marR="45720" marT="45720" marB="45720">
                    <a:solidFill>
                      <a:srgbClr val="FFFFFF"/>
                    </a:solidFill>
                  </a:tcPr>
                </a:tc>
              </a:tr>
              <a:tr h="18288">
                <a:tc>
                  <a:txBody>
                    <a:bodyPr/>
                    <a:lstStyle/>
                    <a:p>
                      <a:pPr algn="l">
                        <a:defRPr sz="800">
                          <a:latin typeface="Montserrat"/>
                        </a:defRPr>
                      </a:pPr>
                      <a:r>
                        <a:t>Imagenología Diagnóstica y Terapéutica</a:t>
                      </a:r>
                    </a:p>
                  </a:txBody>
                  <a:tcPr marL="45720" marR="45720" marT="45720" marB="45720">
                    <a:solidFill>
                      <a:srgbClr val="EFEFEF"/>
                    </a:solidFill>
                  </a:tcPr>
                </a:tc>
                <a:tc>
                  <a:txBody>
                    <a:bodyPr/>
                    <a:lstStyle/>
                    <a:p>
                      <a:pPr algn="ctr">
                        <a:defRPr sz="800">
                          <a:latin typeface="Montserrat"/>
                        </a:defRPr>
                      </a:pPr>
                      <a:r>
                        <a:t>6</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5</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36</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195</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136</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389</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7,722</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339</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97</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119</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1,996</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1,142</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15</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11,199</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(116,821)</a:t>
                      </a:r>
                    </a:p>
                  </a:txBody>
                  <a:tcPr>
                    <a:solidFill>
                      <a:srgbClr val="FFFFFF"/>
                    </a:solidFill>
                  </a:tcPr>
                </a:tc>
                <a:tc>
                  <a:txBody>
                    <a:bodyPr/>
                    <a:lstStyle/>
                    <a:p>
                      <a:pPr algn="ctr"/>
                      <a:r>
                        <a:rPr sz="900" b="0">
                          <a:latin typeface="Montserrat"/>
                        </a:rPr>
                        <a:t>Traumatismos e intoxicaciones
(11,563)</a:t>
                      </a:r>
                    </a:p>
                  </a:txBody>
                  <a:tcPr>
                    <a:solidFill>
                      <a:srgbClr val="FFFFFF"/>
                    </a:solidFill>
                  </a:tcPr>
                </a:tc>
                <a:tc>
                  <a:txBody>
                    <a:bodyPr/>
                    <a:lstStyle/>
                    <a:p>
                      <a:pPr algn="ctr"/>
                      <a:r>
                        <a:rPr sz="900" b="0">
                          <a:latin typeface="Montserrat"/>
                        </a:rPr>
                        <a:t>Traumatismos y envenenamientos
(1,424)</a:t>
                      </a:r>
                    </a:p>
                  </a:txBody>
                  <a:tcPr>
                    <a:solidFill>
                      <a:srgbClr val="FFFFFF"/>
                    </a:solidFill>
                  </a:tcPr>
                </a:tc>
                <a:tc>
                  <a:txBody>
                    <a:bodyPr/>
                    <a:lstStyle/>
                    <a:p>
                      <a:pPr algn="ctr"/>
                      <a:r>
                        <a:rPr sz="900" b="0">
                          <a:latin typeface="Montserrat"/>
                        </a:rPr>
                        <a:t>Embarazo, parto y puerperio
(2,738)</a:t>
                      </a:r>
                    </a:p>
                  </a:txBody>
                  <a:tcPr>
                    <a:solidFill>
                      <a:srgbClr val="FFFFFF"/>
                    </a:solidFill>
                  </a:tcPr>
                </a:tc>
                <a:tc>
                  <a:txBody>
                    <a:bodyPr/>
                    <a:lstStyle/>
                    <a:p>
                      <a:pPr algn="ctr"/>
                      <a:r>
                        <a:rPr sz="900" b="0">
                          <a:latin typeface="Montserrat"/>
                        </a:rPr>
                        <a:t>Enfermedades del corazón
(90)</a:t>
                      </a:r>
                    </a:p>
                  </a:txBody>
                  <a:tcPr>
                    <a:solidFill>
                      <a:srgbClr val="FFFFFF"/>
                    </a:solidFill>
                  </a:tcPr>
                </a:tc>
              </a:tr>
              <a:tr h="489600">
                <a:tc>
                  <a:txBody>
                    <a:bodyPr/>
                    <a:lstStyle/>
                    <a:p>
                      <a:pPr algn="ctr"/>
                      <a:r>
                        <a:rPr sz="900" b="0">
                          <a:latin typeface="Montserrat"/>
                        </a:rPr>
                        <a:t>Enfermedades del corazón
(109,532)</a:t>
                      </a:r>
                    </a:p>
                  </a:txBody>
                  <a:tcPr>
                    <a:solidFill>
                      <a:srgbClr val="EFEFEF"/>
                    </a:solidFill>
                  </a:tcPr>
                </a:tc>
                <a:tc>
                  <a:txBody>
                    <a:bodyPr/>
                    <a:lstStyle/>
                    <a:p>
                      <a:pPr algn="ctr"/>
                      <a:r>
                        <a:rPr sz="900" b="0">
                          <a:latin typeface="Montserrat"/>
                        </a:rPr>
                        <a:t>Insuficiencia renal
(7,821)</a:t>
                      </a:r>
                    </a:p>
                  </a:txBody>
                  <a:tcPr>
                    <a:solidFill>
                      <a:srgbClr val="EFEFEF"/>
                    </a:solidFill>
                  </a:tcPr>
                </a:tc>
                <a:tc>
                  <a:txBody>
                    <a:bodyPr/>
                    <a:lstStyle/>
                    <a:p>
                      <a:pPr algn="ctr"/>
                      <a:r>
                        <a:rPr sz="900" b="0">
                          <a:latin typeface="Montserrat"/>
                        </a:rPr>
                        <a:t>Enfermedades de la piel y del tejido subcutáneo
(621)</a:t>
                      </a:r>
                    </a:p>
                  </a:txBody>
                  <a:tcPr>
                    <a:solidFill>
                      <a:srgbClr val="EFEFEF"/>
                    </a:solidFill>
                  </a:tcPr>
                </a:tc>
                <a:tc>
                  <a:txBody>
                    <a:bodyPr/>
                    <a:lstStyle/>
                    <a:p>
                      <a:pPr algn="ctr"/>
                      <a:r>
                        <a:rPr sz="900" b="0">
                          <a:latin typeface="Montserrat"/>
                        </a:rPr>
                        <a:t>Traumatismos e intoxicaciones
(1,673)</a:t>
                      </a:r>
                    </a:p>
                  </a:txBody>
                  <a:tcPr>
                    <a:solidFill>
                      <a:srgbClr val="EFEFEF"/>
                    </a:solidFill>
                  </a:tcPr>
                </a:tc>
                <a:tc>
                  <a:txBody>
                    <a:bodyPr/>
                    <a:lstStyle/>
                    <a:p>
                      <a:pPr algn="ctr"/>
                      <a:r>
                        <a:rPr sz="900" b="0">
                          <a:latin typeface="Montserrat"/>
                        </a:rPr>
                        <a:t>Otras enfermedades respiratorias
(59)</a:t>
                      </a:r>
                    </a:p>
                  </a:txBody>
                  <a:tcPr>
                    <a:solidFill>
                      <a:srgbClr val="EFEFEF"/>
                    </a:solidFill>
                  </a:tcPr>
                </a:tc>
              </a:tr>
              <a:tr h="489600">
                <a:tc>
                  <a:txBody>
                    <a:bodyPr/>
                    <a:lstStyle/>
                    <a:p>
                      <a:pPr algn="ctr"/>
                      <a:r>
                        <a:rPr sz="900" b="0">
                          <a:latin typeface="Montserrat"/>
                        </a:rPr>
                        <a:t>Infecciones respiratorias agudas
(20,187)</a:t>
                      </a:r>
                    </a:p>
                  </a:txBody>
                  <a:tcPr>
                    <a:solidFill>
                      <a:srgbClr val="FFFFFF"/>
                    </a:solidFill>
                  </a:tcPr>
                </a:tc>
                <a:tc>
                  <a:txBody>
                    <a:bodyPr/>
                    <a:lstStyle/>
                    <a:p>
                      <a:pPr algn="ctr"/>
                      <a:r>
                        <a:rPr sz="900" b="0">
                          <a:latin typeface="Montserrat"/>
                        </a:rPr>
                        <a:t>Tumores malignos
(7,374)</a:t>
                      </a:r>
                    </a:p>
                  </a:txBody>
                  <a:tcPr>
                    <a:solidFill>
                      <a:srgbClr val="FFFFFF"/>
                    </a:solidFill>
                  </a:tcPr>
                </a:tc>
                <a:tc>
                  <a:txBody>
                    <a:bodyPr/>
                    <a:lstStyle/>
                    <a:p>
                      <a:pPr algn="ctr"/>
                      <a:r>
                        <a:rPr sz="900" b="0">
                          <a:latin typeface="Montserrat"/>
                        </a:rPr>
                        <a:t>Artropatias
(620)</a:t>
                      </a:r>
                    </a:p>
                  </a:txBody>
                  <a:tcPr>
                    <a:solidFill>
                      <a:srgbClr val="FFFFFF"/>
                    </a:solidFill>
                  </a:tcPr>
                </a:tc>
                <a:tc>
                  <a:txBody>
                    <a:bodyPr/>
                    <a:lstStyle/>
                    <a:p>
                      <a:pPr algn="ctr"/>
                      <a:r>
                        <a:rPr sz="900" b="0">
                          <a:latin typeface="Montserrat"/>
                        </a:rPr>
                        <a:t>Insuficiencia renal
(749)</a:t>
                      </a:r>
                    </a:p>
                  </a:txBody>
                  <a:tcPr>
                    <a:solidFill>
                      <a:srgbClr val="FFFFFF"/>
                    </a:solidFill>
                  </a:tcPr>
                </a:tc>
                <a:tc>
                  <a:txBody>
                    <a:bodyPr/>
                    <a:lstStyle/>
                    <a:p>
                      <a:pPr algn="ctr"/>
                      <a:r>
                        <a:rPr sz="900" b="0">
                          <a:latin typeface="Montserrat"/>
                        </a:rPr>
                        <a:t>Neumonía e influenza
(45)</a:t>
                      </a:r>
                    </a:p>
                  </a:txBody>
                  <a:tcPr>
                    <a:solidFill>
                      <a:srgbClr val="FFFFFF"/>
                    </a:solidFill>
                  </a:tcPr>
                </a:tc>
              </a:tr>
              <a:tr h="489600">
                <a:tc>
                  <a:txBody>
                    <a:bodyPr/>
                    <a:lstStyle/>
                    <a:p>
                      <a:pPr algn="ctr"/>
                      <a:r>
                        <a:rPr sz="900" b="0">
                          <a:latin typeface="Montserrat"/>
                        </a:rPr>
                        <a:t>Enfermedades mentales
(17,896)</a:t>
                      </a:r>
                    </a:p>
                  </a:txBody>
                  <a:tcPr>
                    <a:solidFill>
                      <a:srgbClr val="EFEFEF"/>
                    </a:solidFill>
                  </a:tcPr>
                </a:tc>
                <a:tc>
                  <a:txBody>
                    <a:bodyPr/>
                    <a:lstStyle/>
                    <a:p>
                      <a:pPr algn="ctr"/>
                      <a:r>
                        <a:rPr sz="900" b="0">
                          <a:latin typeface="Montserrat"/>
                        </a:rPr>
                        <a:t>Enfermedades y trastornos de las articulaciones
(7,351)</a:t>
                      </a:r>
                    </a:p>
                  </a:txBody>
                  <a:tcPr>
                    <a:solidFill>
                      <a:srgbClr val="EFEFEF"/>
                    </a:solidFill>
                  </a:tcPr>
                </a:tc>
                <a:tc>
                  <a:txBody>
                    <a:bodyPr/>
                    <a:lstStyle/>
                    <a:p>
                      <a:pPr algn="ctr"/>
                      <a:r>
                        <a:rPr sz="900" b="0">
                          <a:latin typeface="Montserrat"/>
                        </a:rPr>
                        <a:t>Cesárea
(590)</a:t>
                      </a:r>
                    </a:p>
                  </a:txBody>
                  <a:tcPr>
                    <a:solidFill>
                      <a:srgbClr val="EFEFEF"/>
                    </a:solidFill>
                  </a:tcPr>
                </a:tc>
                <a:tc>
                  <a:txBody>
                    <a:bodyPr/>
                    <a:lstStyle/>
                    <a:p>
                      <a:pPr algn="ctr"/>
                      <a:r>
                        <a:rPr sz="900" b="0">
                          <a:latin typeface="Montserrat"/>
                        </a:rPr>
                        <a:t>Trastornos de la piel y tejidos superficiales
(726)</a:t>
                      </a:r>
                    </a:p>
                  </a:txBody>
                  <a:tcPr>
                    <a:solidFill>
                      <a:srgbClr val="EFEFEF"/>
                    </a:solidFill>
                  </a:tcPr>
                </a:tc>
                <a:tc>
                  <a:txBody>
                    <a:bodyPr/>
                    <a:lstStyle/>
                    <a:p>
                      <a:pPr algn="ctr"/>
                      <a:r>
                        <a:rPr sz="900" b="0">
                          <a:latin typeface="Montserrat"/>
                        </a:rPr>
                        <a:t>Insuficiencia renal
(36)</a:t>
                      </a:r>
                    </a:p>
                  </a:txBody>
                  <a:tcPr>
                    <a:solidFill>
                      <a:srgbClr val="EFEFEF"/>
                    </a:solidFill>
                  </a:tcPr>
                </a:tc>
              </a:tr>
              <a:tr h="489600">
                <a:tc>
                  <a:txBody>
                    <a:bodyPr/>
                    <a:lstStyle/>
                    <a:p>
                      <a:pPr algn="ctr"/>
                      <a:r>
                        <a:rPr sz="900" b="0">
                          <a:latin typeface="Montserrat"/>
                        </a:rPr>
                        <a:t>traumatismos e intoxicaciones
(15,856)</a:t>
                      </a:r>
                    </a:p>
                  </a:txBody>
                  <a:tcPr>
                    <a:solidFill>
                      <a:srgbClr val="FFFFFF"/>
                    </a:solidFill>
                  </a:tcPr>
                </a:tc>
                <a:tc>
                  <a:txBody>
                    <a:bodyPr/>
                    <a:lstStyle/>
                    <a:p>
                      <a:pPr algn="ctr"/>
                      <a:r>
                        <a:rPr sz="900" b="0">
                          <a:latin typeface="Montserrat"/>
                        </a:rPr>
                        <a:t>Enfermedades del corazón
(5,243)</a:t>
                      </a:r>
                    </a:p>
                  </a:txBody>
                  <a:tcPr>
                    <a:solidFill>
                      <a:srgbClr val="FFFFFF"/>
                    </a:solidFill>
                  </a:tcPr>
                </a:tc>
                <a:tc>
                  <a:txBody>
                    <a:bodyPr/>
                    <a:lstStyle/>
                    <a:p>
                      <a:pPr algn="ctr"/>
                      <a:r>
                        <a:rPr sz="900" b="0">
                          <a:latin typeface="Montserrat"/>
                        </a:rPr>
                        <a:t>Trastornos de los tejidos blandos
(542)</a:t>
                      </a:r>
                    </a:p>
                  </a:txBody>
                  <a:tcPr>
                    <a:solidFill>
                      <a:srgbClr val="FFFFFF"/>
                    </a:solidFill>
                  </a:tcPr>
                </a:tc>
                <a:tc>
                  <a:txBody>
                    <a:bodyPr/>
                    <a:lstStyle/>
                    <a:p>
                      <a:pPr algn="ctr"/>
                      <a:r>
                        <a:rPr sz="900" b="0">
                          <a:latin typeface="Montserrat"/>
                        </a:rPr>
                        <a:t>Enfermedades y trastornos de las articulaciones
(672)</a:t>
                      </a:r>
                    </a:p>
                  </a:txBody>
                  <a:tcPr>
                    <a:solidFill>
                      <a:srgbClr val="FFFFFF"/>
                    </a:solidFill>
                  </a:tcPr>
                </a:tc>
                <a:tc>
                  <a:txBody>
                    <a:bodyPr/>
                    <a:lstStyle/>
                    <a:p>
                      <a:pPr algn="ctr"/>
                      <a:r>
                        <a:rPr sz="900" b="0">
                          <a:latin typeface="Montserrat"/>
                        </a:rPr>
                        <a:t>Diabetes mellitus
(35)</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DURANGO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67,602</a:t>
                      </a:r>
                    </a:p>
                  </a:txBody>
                  <a:tcPr>
                    <a:solidFill>
                      <a:srgbClr val="FFFFFF"/>
                    </a:solidFill>
                  </a:tcPr>
                </a:tc>
                <a:tc>
                  <a:txBody>
                    <a:bodyPr/>
                    <a:lstStyle/>
                    <a:p>
                      <a:pPr algn="ctr"/>
                      <a:r>
                        <a:rPr sz="1100" b="0">
                          <a:solidFill>
                            <a:srgbClr val="434343"/>
                          </a:solidFill>
                          <a:latin typeface="Montserrat"/>
                        </a:rPr>
                        <a:t>1,397,828</a:t>
                      </a:r>
                    </a:p>
                  </a:txBody>
                  <a:tcPr>
                    <a:solidFill>
                      <a:srgbClr val="FFFFFF"/>
                    </a:solidFill>
                  </a:tcPr>
                </a:tc>
                <a:tc>
                  <a:txBody>
                    <a:bodyPr/>
                    <a:lstStyle/>
                    <a:p>
                      <a:pPr algn="ctr"/>
                      <a:r>
                        <a:rPr sz="1100" b="0">
                          <a:solidFill>
                            <a:srgbClr val="434343"/>
                          </a:solidFill>
                          <a:latin typeface="Montserrat"/>
                        </a:rPr>
                        <a:t>95.4%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25,111</a:t>
                      </a:r>
                    </a:p>
                  </a:txBody>
                  <a:tcPr>
                    <a:solidFill>
                      <a:srgbClr val="D9D9D9"/>
                    </a:solidFill>
                  </a:tcPr>
                </a:tc>
                <a:tc>
                  <a:txBody>
                    <a:bodyPr/>
                    <a:lstStyle/>
                    <a:p>
                      <a:pPr algn="ctr"/>
                      <a:r>
                        <a:rPr sz="1100" b="1">
                          <a:solidFill>
                            <a:srgbClr val="006455"/>
                          </a:solidFill>
                          <a:latin typeface="Montserrat"/>
                        </a:rPr>
                        <a:t>1,407,967</a:t>
                      </a:r>
                    </a:p>
                  </a:txBody>
                  <a:tcPr>
                    <a:solidFill>
                      <a:srgbClr val="D9D9D9"/>
                    </a:solidFill>
                  </a:tcPr>
                </a:tc>
                <a:tc>
                  <a:txBody>
                    <a:bodyPr/>
                    <a:lstStyle/>
                    <a:p>
                      <a:pPr algn="ctr"/>
                      <a:r>
                        <a:rPr sz="1100" b="1">
                          <a:solidFill>
                            <a:srgbClr val="006455"/>
                          </a:solidFill>
                          <a:latin typeface="Montserrat"/>
                        </a:rPr>
                        <a:t>98.2%</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D7626-9670-B97B-3C65-EADAE6B05A5D}"/>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DURANGO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10.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596,845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FFFFF"/>
                    </a:solidFill>
                  </a:tcPr>
                </a:tc>
                <a:tc>
                  <a:txBody>
                    <a:bodyPr/>
                    <a:lstStyle/>
                    <a:p>
                      <a:pPr algn="ctr">
                        <a:defRPr sz="900" b="0">
                          <a:solidFill>
                            <a:srgbClr val="333333"/>
                          </a:solidFill>
                          <a:latin typeface="Montserrat"/>
                        </a:defRPr>
                      </a:pPr>
                      <a:r>
                        <a:t>269,530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235,405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196,105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175,883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FFFFF"/>
                    </a:solidFill>
                  </a:tcPr>
                </a:tc>
                <a:tc>
                  <a:txBody>
                    <a:bodyPr/>
                    <a:lstStyle/>
                    <a:p>
                      <a:pPr algn="ctr">
                        <a:defRPr sz="900" b="0">
                          <a:solidFill>
                            <a:srgbClr val="333333"/>
                          </a:solidFill>
                          <a:latin typeface="Montserrat"/>
                        </a:defRPr>
                      </a:pPr>
                      <a:r>
                        <a:t>172,003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153,602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149,003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2F2F2"/>
                    </a:solidFill>
                  </a:tcPr>
                </a:tc>
                <a:tc>
                  <a:txBody>
                    <a:bodyPr/>
                    <a:lstStyle/>
                    <a:p>
                      <a:pPr algn="ctr">
                        <a:defRPr sz="900" b="0">
                          <a:solidFill>
                            <a:srgbClr val="333333"/>
                          </a:solidFill>
                          <a:latin typeface="Montserrat"/>
                        </a:defRPr>
                      </a:pPr>
                      <a:r>
                        <a:t>129,385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128,776</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2875378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15617"/>
            <a:ext cx="1599000" cy="771584"/>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17" name="Table 16"/>
          <p:cNvGraphicFramePr>
            <a:graphicFrameLocks noGrp="1"/>
          </p:cNvGraphicFramePr>
          <p:nvPr/>
        </p:nvGraphicFramePr>
        <p:xfrm>
          <a:off x="1785600" y="15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Nueva Sala de Hemodinamia en el HGZ MF 1 en  Durango</a:t>
                      </a:r>
                    </a:p>
                  </a:txBody>
                  <a:tcPr marL="3600" marR="3600" marT="3600" marB="3600">
                    <a:solidFill>
                      <a:srgbClr val="FFFFFF"/>
                    </a:solidFill>
                  </a:tcPr>
                </a:tc>
                <a:tc>
                  <a:txBody>
                    <a:bodyPr/>
                    <a:lstStyle/>
                    <a:p>
                      <a:pPr algn="ctr">
                        <a:lnSpc>
                          <a:spcPct val="100000"/>
                        </a:lnSpc>
                      </a:pPr>
                      <a:r>
                        <a:rPr sz="1000">
                          <a:latin typeface="Montserrat"/>
                        </a:rPr>
                        <a:t>$56.0</a:t>
                      </a:r>
                    </a:p>
                  </a:txBody>
                  <a:tcPr marL="3600" marR="3600" marT="3600" marB="3600">
                    <a:solidFill>
                      <a:srgbClr val="FFFFFF"/>
                    </a:solidFill>
                  </a:tcPr>
                </a:tc>
              </a:tr>
            </a:tbl>
          </a:graphicData>
        </a:graphic>
      </p:graphicFrame>
      <p:graphicFrame>
        <p:nvGraphicFramePr>
          <p:cNvPr id="18" name="Table 17"/>
          <p:cNvGraphicFramePr>
            <a:graphicFrameLocks noGrp="1"/>
          </p:cNvGraphicFramePr>
          <p:nvPr/>
        </p:nvGraphicFramePr>
        <p:xfrm>
          <a:off x="1785600" y="2304000"/>
          <a:ext cx="5295600" cy="2880000"/>
        </p:xfrm>
        <a:graphic>
          <a:graphicData uri="http://schemas.openxmlformats.org/drawingml/2006/table">
            <a:tbl>
              <a:tblPr firstRow="1" bandRow="1">
                <a:tableStyleId>{5C22544A-7EE6-4342-B048-85BDC9FD1C3A}</a:tableStyleId>
              </a:tblPr>
              <a:tblGrid>
                <a:gridCol w="4176000"/>
                <a:gridCol w="1119600"/>
              </a:tblGrid>
              <a:tr h="411428">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11428">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$212.1</a:t>
                      </a:r>
                    </a:p>
                  </a:txBody>
                  <a:tcPr marL="3600" marR="3600" marT="3600" marB="3600">
                    <a:solidFill>
                      <a:srgbClr val="FFFFFF"/>
                    </a:solidFill>
                  </a:tcPr>
                </a:tc>
              </a:tr>
              <a:tr h="411428">
                <a:tc>
                  <a:txBody>
                    <a:bodyPr/>
                    <a:lstStyle/>
                    <a:p>
                      <a:pPr algn="l">
                        <a:lnSpc>
                          <a:spcPct val="100000"/>
                        </a:lnSpc>
                      </a:pPr>
                      <a:r>
                        <a:rPr sz="1000">
                          <a:latin typeface="Montserrat"/>
                        </a:rPr>
                        <a:t>Remodelación y mejora de imagen en el HGZ No. 1 Durango y HGZ No. 51 Chapala</a:t>
                      </a:r>
                    </a:p>
                  </a:txBody>
                  <a:tcPr marL="3600" marR="3600" marT="3600" marB="3600">
                    <a:solidFill>
                      <a:srgbClr val="D9D9D9"/>
                    </a:solidFill>
                  </a:tcPr>
                </a:tc>
                <a:tc>
                  <a:txBody>
                    <a:bodyPr/>
                    <a:lstStyle/>
                    <a:p>
                      <a:pPr algn="ctr">
                        <a:lnSpc>
                          <a:spcPct val="100000"/>
                        </a:lnSpc>
                      </a:pPr>
                      <a:r>
                        <a:rPr sz="1000">
                          <a:latin typeface="Montserrat"/>
                        </a:rPr>
                        <a:t>$56.4</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hemodiálisis interna en HGZ No. 1 Durango</a:t>
                      </a:r>
                    </a:p>
                  </a:txBody>
                  <a:tcPr marL="3600" marR="3600" marT="3600" marB="3600">
                    <a:solidFill>
                      <a:srgbClr val="FFFFFF"/>
                    </a:solidFill>
                  </a:tcPr>
                </a:tc>
                <a:tc>
                  <a:txBody>
                    <a:bodyPr/>
                    <a:lstStyle/>
                    <a:p>
                      <a:pPr algn="ctr">
                        <a:lnSpc>
                          <a:spcPct val="100000"/>
                        </a:lnSpc>
                      </a:pPr>
                      <a:r>
                        <a:rPr sz="1000">
                          <a:latin typeface="Montserrat"/>
                        </a:rPr>
                        <a:t>$13.2</a:t>
                      </a:r>
                    </a:p>
                  </a:txBody>
                  <a:tcPr marL="3600" marR="3600" marT="3600" marB="3600">
                    <a:solidFill>
                      <a:srgbClr val="FFFFFF"/>
                    </a:solidFill>
                  </a:tcPr>
                </a:tc>
              </a:tr>
              <a:tr h="411428">
                <a:tc>
                  <a:txBody>
                    <a:bodyPr/>
                    <a:lstStyle/>
                    <a:p>
                      <a:pPr algn="l">
                        <a:lnSpc>
                          <a:spcPct val="100000"/>
                        </a:lnSpc>
                      </a:pPr>
                      <a:r>
                        <a:rPr sz="1000">
                          <a:latin typeface="Montserrat"/>
                        </a:rPr>
                        <a:t>Intervención en áreas de terapia intensiva en HGZ No. 1 Durango</a:t>
                      </a:r>
                    </a:p>
                  </a:txBody>
                  <a:tcPr marL="3600" marR="3600" marT="3600" marB="3600">
                    <a:solidFill>
                      <a:srgbClr val="D9D9D9"/>
                    </a:solidFill>
                  </a:tcPr>
                </a:tc>
                <a:tc>
                  <a:txBody>
                    <a:bodyPr/>
                    <a:lstStyle/>
                    <a:p>
                      <a:pPr algn="ctr">
                        <a:lnSpc>
                          <a:spcPct val="100000"/>
                        </a:lnSpc>
                      </a:pPr>
                      <a:r>
                        <a:rPr sz="1000">
                          <a:latin typeface="Montserrat"/>
                        </a:rPr>
                        <a:t>$5.2</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residencias médicas en HGZ No. 46 Gómez Palacios</a:t>
                      </a:r>
                    </a:p>
                  </a:txBody>
                  <a:tcPr marL="3600" marR="3600" marT="3600" marB="3600">
                    <a:solidFill>
                      <a:srgbClr val="FFFFFF"/>
                    </a:solidFill>
                  </a:tcPr>
                </a:tc>
                <a:tc>
                  <a:txBody>
                    <a:bodyPr/>
                    <a:lstStyle/>
                    <a:p>
                      <a:pPr algn="ctr">
                        <a:lnSpc>
                          <a:spcPct val="100000"/>
                        </a:lnSpc>
                      </a:pPr>
                      <a:r>
                        <a:rPr sz="1000">
                          <a:latin typeface="Montserrat"/>
                        </a:rPr>
                        <a:t>$3.1</a:t>
                      </a:r>
                    </a:p>
                  </a:txBody>
                  <a:tcPr marL="3600" marR="3600" marT="3600" marB="3600">
                    <a:solidFill>
                      <a:srgbClr val="FFFFFF"/>
                    </a:solidFill>
                  </a:tcPr>
                </a:tc>
              </a:tr>
              <a:tr h="411432">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$290.0</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5364000"/>
          <a:ext cx="5295600" cy="1080000"/>
        </p:xfrm>
        <a:graphic>
          <a:graphicData uri="http://schemas.openxmlformats.org/drawingml/2006/table">
            <a:tbl>
              <a:tblPr firstRow="1" bandRow="1">
                <a:tableStyleId>{5C22544A-7EE6-4342-B048-85BDC9FD1C3A}</a:tableStyleId>
              </a:tblPr>
              <a:tblGrid>
                <a:gridCol w="4176000"/>
                <a:gridCol w="1119600"/>
              </a:tblGrid>
              <a:tr h="54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40000">
                <a:tc>
                  <a:txBody>
                    <a:bodyPr/>
                    <a:lstStyle/>
                    <a:p>
                      <a:pPr algn="l">
                        <a:lnSpc>
                          <a:spcPct val="100000"/>
                        </a:lnSpc>
                      </a:pPr>
                      <a:r>
                        <a:rPr sz="1000">
                          <a:latin typeface="Montserrat"/>
                        </a:rPr>
                        <a:t>Adquisición de 9 piezas de equipo médico: 2 congeladores horizontales de refrigerantes para vacunas, 4 refrigeradores para vacunas, 3 refrigeradores congeladores de 5.4 pies cúbicos.</a:t>
                      </a:r>
                    </a:p>
                  </a:txBody>
                  <a:tcPr marL="3600" marR="3600" marT="3600" marB="3600">
                    <a:solidFill>
                      <a:srgbClr val="FFFFFF"/>
                    </a:solidFill>
                  </a:tcPr>
                </a:tc>
                <a:tc>
                  <a:txBody>
                    <a:bodyPr/>
                    <a:lstStyle/>
                    <a:p>
                      <a:pPr algn="ctr">
                        <a:lnSpc>
                          <a:spcPct val="100000"/>
                        </a:lnSpc>
                      </a:pPr>
                      <a:r>
                        <a:rPr sz="1000">
                          <a:latin typeface="Montserrat"/>
                        </a:rPr>
                        <a:t>$0.5</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662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$9.2</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355.7</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15617"/>
            <a:ext cx="1599000" cy="773189"/>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Adquisición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38575"/>
            <a:ext cx="3886200"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13</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Equipos</a:t>
            </a:r>
            <a:r>
              <a:rPr lang="en-US" sz="800" b="1" dirty="0">
                <a:solidFill>
                  <a:srgbClr val="A42145"/>
                </a:solidFill>
                <a:latin typeface="Montserrat"/>
                <a:ea typeface="Montserrat"/>
                <a:cs typeface="Montserrat"/>
              </a:rPr>
              <a:t> </a:t>
            </a:r>
          </a:p>
          <a:p>
            <a:pPr algn="ctr"/>
            <a:r>
              <a:rPr lang="en-US" sz="800" b="1" dirty="0" err="1">
                <a:solidFill>
                  <a:srgbClr val="A42145"/>
                </a:solidFill>
                <a:latin typeface="Montserrat"/>
                <a:ea typeface="Montserrat"/>
                <a:cs typeface="Montserrat"/>
              </a:rPr>
              <a:t>Electrome</a:t>
            </a:r>
            <a:r>
              <a:rPr lang="en-US" sz="800" b="1" dirty="0">
                <a:solidFill>
                  <a:srgbClr val="A42145"/>
                </a:solidFill>
                <a:latin typeface="Montserrat"/>
                <a:ea typeface="Montserrat"/>
                <a:cs typeface="Montserrat"/>
              </a:rPr>
              <a:t>-</a:t>
            </a:r>
          </a:p>
          <a:p>
            <a:pPr algn="ctr"/>
            <a:r>
              <a:rPr lang="en-US" sz="800" b="1" dirty="0" err="1">
                <a:solidFill>
                  <a:srgbClr val="A42145"/>
                </a:solidFill>
                <a:latin typeface="Montserrat"/>
                <a:ea typeface="Montserrat"/>
                <a:cs typeface="Montserrat"/>
              </a:rPr>
              <a:t>cánicos</a:t>
            </a:r>
            <a:endParaRPr lang="en-US" sz="800" b="1" i="0" u="none" strike="noStrike" dirty="0" err="1">
              <a:solidFill>
                <a:srgbClr val="A42145"/>
              </a:solidFill>
              <a:latin typeface="Montserrat"/>
              <a:ea typeface="Montserrat"/>
              <a:cs typeface="Montserrat"/>
            </a:endParaRP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9" name="Table 8"/>
          <p:cNvGraphicFramePr>
            <a:graphicFrameLocks noGrp="1"/>
          </p:cNvGraphicFramePr>
          <p:nvPr/>
        </p:nvGraphicFramePr>
        <p:xfrm>
          <a:off x="1785600" y="1584000"/>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$110.1</a:t>
                      </a:r>
                    </a:p>
                  </a:txBody>
                  <a:tcPr marL="3600" marR="3600" marT="3600" marB="3600">
                    <a:solidFill>
                      <a:srgbClr val="FFFFFF"/>
                    </a:solidFill>
                  </a:tcPr>
                </a:tc>
              </a:tr>
            </a:tbl>
          </a:graphicData>
        </a:graphic>
      </p:graphicFrame>
      <p:graphicFrame>
        <p:nvGraphicFramePr>
          <p:cNvPr id="10" name="Table 9"/>
          <p:cNvGraphicFramePr>
            <a:graphicFrameLocks noGrp="1"/>
          </p:cNvGraphicFramePr>
          <p:nvPr/>
        </p:nvGraphicFramePr>
        <p:xfrm>
          <a:off x="1785600" y="2267998"/>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13 Equipos electromecánicos para 5 unidades; 1 elevador, 5 lavadoras, 4 secadoras y 3 equipos de aire acondicionado. Durango</a:t>
                      </a:r>
                    </a:p>
                  </a:txBody>
                  <a:tcPr marL="3600" marR="3600" marT="3600" marB="3600">
                    <a:solidFill>
                      <a:srgbClr val="FFFFFF"/>
                    </a:solidFill>
                  </a:tcPr>
                </a:tc>
                <a:tc>
                  <a:txBody>
                    <a:bodyPr/>
                    <a:lstStyle/>
                    <a:p>
                      <a:pPr algn="ctr">
                        <a:lnSpc>
                          <a:spcPct val="100000"/>
                        </a:lnSpc>
                      </a:pPr>
                      <a:r>
                        <a:rPr sz="1000">
                          <a:latin typeface="Montserrat"/>
                        </a:rPr>
                        <a:t>$102.3</a:t>
                      </a:r>
                    </a:p>
                  </a:txBody>
                  <a:tcPr marL="3600" marR="3600" marT="3600" marB="3600">
                    <a:solidFill>
                      <a:srgbClr val="FFFFFF"/>
                    </a:solidFill>
                  </a:tcPr>
                </a:tc>
              </a:tr>
            </a:tbl>
          </a:graphicData>
        </a:graphic>
      </p:graphicFrame>
      <p:sp>
        <p:nvSpPr>
          <p:cNvPr id="11" name="TextBox 10"/>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212.4</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8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1 Reserva IMSS</a:t>
                      </a:r>
                    </a:p>
                  </a:txBody>
                  <a:tcPr marL="72000" marR="72000" anchor="ctr">
                    <a:noFill/>
                  </a:tcPr>
                </a:tc>
                <a:tc>
                  <a:txBody>
                    <a:bodyPr/>
                    <a:lstStyle/>
                    <a:p>
                      <a:pPr algn="ctr">
                        <a:defRPr sz="1200" b="0">
                          <a:solidFill>
                            <a:srgbClr val="FFFFFF"/>
                          </a:solidFill>
                          <a:latin typeface="Montserrat"/>
                        </a:defRPr>
                      </a:pPr>
                      <a:r>
                        <a:t>Durango</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7 Donación</a:t>
                      </a:r>
                    </a:p>
                  </a:txBody>
                  <a:tcPr marL="72000" marR="72000" anchor="ctr">
                    <a:noFill/>
                  </a:tcPr>
                </a:tc>
                <a:tc>
                  <a:txBody>
                    <a:bodyPr/>
                    <a:lstStyle/>
                    <a:p>
                      <a:pPr algn="ctr">
                        <a:defRPr sz="1200" b="0">
                          <a:solidFill>
                            <a:srgbClr val="FFFFFF"/>
                          </a:solidFill>
                          <a:latin typeface="Montserrat"/>
                        </a:defRPr>
                      </a:pPr>
                      <a:r>
                        <a:t>Lerdo, Nuevo Ideal, Gómez Palacio (2), Papasquiaro</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15</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9 CECI IMSS</a:t>
            </a:r>
          </a:p>
          <a:p>
            <a:pPr algn="ctr">
              <a:defRPr sz="1500" b="1">
                <a:solidFill>
                  <a:srgbClr val="FFFFFF"/>
                </a:solidFill>
                <a:latin typeface="Montserrat"/>
              </a:defRPr>
            </a:pPr>
            <a:r>
              <a:t>6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CECI Silvestre Dorador 150 niños, fallo 7 de abril 2026, empresa DEMCAM EDIFICACIONES S.A. de C.V.</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DURANGO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20 </a:t>
                      </a:r>
                      <a:r>
                        <a:rPr b="1" sz="1000">
                          <a:latin typeface="Montserrat"/>
                        </a:rPr>
                        <a:t>unidades</a:t>
                      </a:r>
                    </a:p>
                    <a:p>
                      <a:pPr algn="ctr">
                        <a:defRPr sz="1000">
                          <a:solidFill>
                            <a:srgbClr val="505050"/>
                          </a:solidFill>
                          <a:latin typeface="Montserrat"/>
                        </a:defRPr>
                      </a:pPr>
                      <a:r>
                        <a:t>1 directas</a:t>
                      </a:r>
                    </a:p>
                    <a:p>
                      <a:pPr algn="ctr">
                        <a:defRPr sz="1000">
                          <a:solidFill>
                            <a:srgbClr val="505050"/>
                          </a:solidFill>
                          <a:latin typeface="Montserrat"/>
                        </a:defRPr>
                      </a:pPr>
                      <a:r>
                        <a:t>19 indirectas</a:t>
                      </a:r>
                    </a:p>
                  </a:txBody>
                  <a:tcPr anchor="ctr">
                    <a:solidFill>
                      <a:srgbClr val="FFFFFF"/>
                    </a:solidFill>
                  </a:tcPr>
                </a:tc>
                <a:tc>
                  <a:txBody>
                    <a:bodyPr/>
                    <a:lstStyle/>
                    <a:p>
                      <a:pPr algn="ctr"/>
                      <a:r>
                        <a:rPr b="1" sz="1000">
                          <a:latin typeface="Montserrat"/>
                        </a:rPr>
                        <a:t>3,388 </a:t>
                      </a:r>
                      <a:r>
                        <a:rPr b="1" sz="1000">
                          <a:latin typeface="Montserrat"/>
                        </a:rPr>
                        <a:t>inscritos</a:t>
                      </a:r>
                    </a:p>
                    <a:p>
                      <a:pPr algn="ctr">
                        <a:defRPr sz="1000">
                          <a:solidFill>
                            <a:srgbClr val="505050"/>
                          </a:solidFill>
                          <a:latin typeface="Montserrat"/>
                        </a:defRPr>
                      </a:pPr>
                      <a:r>
                        <a:t>614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5228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522899">
                <a:tc>
                  <a:txBody>
                    <a:bodyPr/>
                    <a:lstStyle/>
                    <a:p>
                      <a:pPr algn="ctr">
                        <a:defRPr sz="800" b="1">
                          <a:latin typeface="Montserrat"/>
                        </a:defRPr>
                      </a:pPr>
                      <a:r>
                        <a:t>2 CEBIS</a:t>
                      </a:r>
                    </a:p>
                  </a:txBody>
                  <a:tcPr anchor="ctr" marL="28800" marR="28800" marT="0" marB="0">
                    <a:solidFill>
                      <a:srgbClr val="FFFFFF"/>
                    </a:solidFill>
                  </a:tcPr>
                </a:tc>
                <a:tc>
                  <a:txBody>
                    <a:bodyPr/>
                    <a:lstStyle/>
                    <a:p>
                      <a:pPr algn="ctr">
                        <a:defRPr sz="800">
                          <a:latin typeface="Montserrat"/>
                        </a:defRPr>
                      </a:pPr>
                      <a:r>
                        <a:t>Bermejillo y El Salto</a:t>
                      </a:r>
                    </a:p>
                  </a:txBody>
                  <a:tcPr anchor="ctr" marL="28800" marR="28800" marT="0" marB="0">
                    <a:solidFill>
                      <a:srgbClr val="FFFFFF"/>
                    </a:solidFill>
                  </a:tcPr>
                </a:tc>
              </a:tr>
              <a:tr h="522899">
                <a:tc>
                  <a:txBody>
                    <a:bodyPr/>
                    <a:lstStyle/>
                    <a:p>
                      <a:pPr algn="ctr">
                        <a:defRPr sz="800" b="1">
                          <a:latin typeface="Montserrat"/>
                        </a:defRPr>
                      </a:pPr>
                      <a:r>
                        <a:t>2 Centros de Seguridad Social</a:t>
                      </a:r>
                    </a:p>
                  </a:txBody>
                  <a:tcPr anchor="ctr" marL="28800" marR="28800" marT="0" marB="0">
                    <a:solidFill>
                      <a:srgbClr val="EFEFEF"/>
                    </a:solidFill>
                  </a:tcPr>
                </a:tc>
                <a:tc>
                  <a:txBody>
                    <a:bodyPr/>
                    <a:lstStyle/>
                    <a:p>
                      <a:pPr algn="ctr">
                        <a:defRPr sz="800">
                          <a:latin typeface="Montserrat"/>
                        </a:defRPr>
                      </a:pPr>
                      <a:r>
                        <a:t>Durango y Gómez Palacio</a:t>
                      </a:r>
                    </a:p>
                  </a:txBody>
                  <a:tcPr anchor="ctr" marL="28800" marR="28800" marT="0" marB="0">
                    <a:solidFill>
                      <a:srgbClr val="EFEFEF"/>
                    </a:solidFill>
                  </a:tcPr>
                </a:tc>
              </a:tr>
              <a:tr h="522902">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Durango</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1 Tienda IMSS-SNTSS</a:t>
                      </a:r>
                    </a:p>
                  </a:txBody>
                  <a:tcPr anchor="ctr" marL="28800" marR="28800" marT="0" marB="0">
                    <a:solidFill>
                      <a:srgbClr val="FFFFFF"/>
                    </a:solidFill>
                  </a:tcPr>
                </a:tc>
                <a:tc>
                  <a:txBody>
                    <a:bodyPr/>
                    <a:lstStyle/>
                    <a:p>
                      <a:pPr algn="ctr">
                        <a:defRPr sz="800">
                          <a:latin typeface="Montserrat"/>
                        </a:defRPr>
                      </a:pPr>
                      <a:r>
                        <a:t>No. 115 Gómez Palacio</a:t>
                      </a:r>
                    </a:p>
                  </a:txBody>
                  <a:tcPr anchor="ctr" marL="28800" marR="28800" marT="0" marB="0">
                    <a:solidFill>
                      <a:srgbClr val="FFFFFF"/>
                    </a:solidFill>
                  </a:tcPr>
                </a:tc>
              </a:tr>
            </a:tbl>
          </a:graphicData>
        </a:graphic>
      </p:graphicFrame>
      <p:pic>
        <p:nvPicPr>
          <p:cNvPr id="470" name="Picture 469" descr="map_tipo2_10_dgo.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20</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8,014</a:t>
                      </a:r>
                    </a:p>
                  </a:txBody>
                  <a:tcPr anchor="ctr">
                    <a:solidFill>
                      <a:srgbClr val="FFFFFF"/>
                    </a:solidFill>
                  </a:tcPr>
                </a:tc>
                <a:tc>
                  <a:txBody>
                    <a:bodyPr/>
                    <a:lstStyle/>
                    <a:p>
                      <a:pPr algn="ctr">
                        <a:defRPr sz="850">
                          <a:latin typeface="Montserrat"/>
                        </a:defRPr>
                      </a:pPr>
                      <a:r>
                        <a:t>8,042</a:t>
                      </a:r>
                    </a:p>
                  </a:txBody>
                  <a:tcPr anchor="ctr">
                    <a:solidFill>
                      <a:srgbClr val="FFFFFF"/>
                    </a:solidFill>
                  </a:tcPr>
                </a:tc>
                <a:tc>
                  <a:txBody>
                    <a:bodyPr/>
                    <a:lstStyle/>
                    <a:p>
                      <a:pPr algn="ctr">
                        <a:defRPr sz="850" b="1">
                          <a:solidFill>
                            <a:srgbClr val="006455"/>
                          </a:solidFill>
                          <a:latin typeface="Montserrat"/>
                        </a:defRPr>
                      </a:pPr>
                      <a:r>
                        <a:t>0.4%</a:t>
                      </a:r>
                    </a:p>
                  </a:txBody>
                  <a:tcPr anchor="ctr">
                    <a:solidFill>
                      <a:srgbClr val="FFFFFF"/>
                    </a:solidFill>
                  </a:tcPr>
                </a:tc>
                <a:tc>
                  <a:txBody>
                    <a:bodyPr/>
                    <a:lstStyle/>
                    <a:p>
                      <a:pPr algn="ctr">
                        <a:defRPr sz="850">
                          <a:latin typeface="Montserrat"/>
                        </a:defRPr>
                      </a:pPr>
                      <a:r>
                        <a:t>Durango Automotive Wiring Systems S. de R.L. de C.V.</a:t>
                      </a:r>
                    </a:p>
                  </a:txBody>
                  <a:tcPr anchor="ctr">
                    <a:solidFill>
                      <a:srgbClr val="FFFFFF"/>
                    </a:solidFill>
                  </a:tcPr>
                </a:tc>
                <a:tc>
                  <a:txBody>
                    <a:bodyPr/>
                    <a:lstStyle/>
                    <a:p>
                      <a:pPr algn="ctr">
                        <a:defRPr sz="850">
                          <a:latin typeface="Montserrat"/>
                        </a:defRPr>
                      </a:pPr>
                      <a:r>
                        <a:t>6,625</a:t>
                      </a:r>
                    </a:p>
                  </a:txBody>
                  <a:tcPr anchor="ctr">
                    <a:solidFill>
                      <a:srgbClr val="FFFFFF"/>
                    </a:solidFill>
                  </a:tcPr>
                </a:tc>
                <a:tc>
                  <a:txBody>
                    <a:bodyPr/>
                    <a:lstStyle/>
                    <a:p>
                      <a:pPr algn="ctr">
                        <a:defRPr sz="850">
                          <a:latin typeface="Montserrat"/>
                        </a:defRPr>
                      </a:pPr>
                      <a:r>
                        <a:t>6,448</a:t>
                      </a:r>
                    </a:p>
                  </a:txBody>
                  <a:tcPr anchor="ctr">
                    <a:solidFill>
                      <a:srgbClr val="FFFFFF"/>
                    </a:solidFill>
                  </a:tcPr>
                </a:tc>
                <a:tc>
                  <a:txBody>
                    <a:bodyPr/>
                    <a:lstStyle/>
                    <a:p>
                      <a:pPr algn="ctr">
                        <a:defRPr sz="850" b="1">
                          <a:solidFill>
                            <a:srgbClr val="691C32"/>
                          </a:solidFill>
                          <a:latin typeface="Montserrat"/>
                        </a:defRPr>
                      </a:pPr>
                      <a:r>
                        <a:t>-2.7%</a:t>
                      </a:r>
                    </a:p>
                  </a:txBody>
                  <a:tcPr anchor="ctr">
                    <a:solidFill>
                      <a:srgbClr val="FFFFFF"/>
                    </a:solidFill>
                  </a:tcPr>
                </a:tc>
              </a:tr>
              <a:tr h="490320">
                <a:tc>
                  <a:txBody>
                    <a:bodyPr/>
                    <a:lstStyle/>
                    <a:p>
                      <a:pPr algn="ctr">
                        <a:defRPr sz="850">
                          <a:latin typeface="Montserrat"/>
                        </a:defRPr>
                      </a:pPr>
                      <a:r>
                        <a:t>Municipio de Durango</a:t>
                      </a:r>
                    </a:p>
                  </a:txBody>
                  <a:tcPr anchor="ctr">
                    <a:solidFill>
                      <a:srgbClr val="D9D9D9"/>
                    </a:solidFill>
                  </a:tcPr>
                </a:tc>
                <a:tc>
                  <a:txBody>
                    <a:bodyPr/>
                    <a:lstStyle/>
                    <a:p>
                      <a:pPr algn="ctr">
                        <a:defRPr sz="850">
                          <a:latin typeface="Montserrat"/>
                        </a:defRPr>
                      </a:pPr>
                      <a:r>
                        <a:t>5,629</a:t>
                      </a:r>
                    </a:p>
                  </a:txBody>
                  <a:tcPr anchor="ctr">
                    <a:solidFill>
                      <a:srgbClr val="D9D9D9"/>
                    </a:solidFill>
                  </a:tcPr>
                </a:tc>
                <a:tc>
                  <a:txBody>
                    <a:bodyPr/>
                    <a:lstStyle/>
                    <a:p>
                      <a:pPr algn="ctr">
                        <a:defRPr sz="850">
                          <a:latin typeface="Montserrat"/>
                        </a:defRPr>
                      </a:pPr>
                      <a:r>
                        <a:t>5,624</a:t>
                      </a:r>
                    </a:p>
                  </a:txBody>
                  <a:tcPr anchor="ctr">
                    <a:solidFill>
                      <a:srgbClr val="D9D9D9"/>
                    </a:solidFill>
                  </a:tcPr>
                </a:tc>
                <a:tc>
                  <a:txBody>
                    <a:bodyPr/>
                    <a:lstStyle/>
                    <a:p>
                      <a:pPr algn="ctr">
                        <a:defRPr sz="850" b="1">
                          <a:solidFill>
                            <a:srgbClr val="691C32"/>
                          </a:solidFill>
                          <a:latin typeface="Montserrat"/>
                        </a:defRPr>
                      </a:pPr>
                      <a:r>
                        <a:t>-0.1%</a:t>
                      </a:r>
                    </a:p>
                  </a:txBody>
                  <a:tcPr anchor="ctr">
                    <a:solidFill>
                      <a:srgbClr val="D9D9D9"/>
                    </a:solidFill>
                  </a:tcPr>
                </a:tc>
                <a:tc>
                  <a:txBody>
                    <a:bodyPr/>
                    <a:lstStyle/>
                    <a:p>
                      <a:pPr algn="ctr">
                        <a:defRPr sz="850">
                          <a:latin typeface="Montserrat"/>
                        </a:defRPr>
                      </a:pPr>
                      <a:r>
                        <a:t>Pilgrim'S Pride S. de R.L. de C.V.</a:t>
                      </a:r>
                    </a:p>
                  </a:txBody>
                  <a:tcPr anchor="ctr">
                    <a:solidFill>
                      <a:srgbClr val="D9D9D9"/>
                    </a:solidFill>
                  </a:tcPr>
                </a:tc>
                <a:tc>
                  <a:txBody>
                    <a:bodyPr/>
                    <a:lstStyle/>
                    <a:p>
                      <a:pPr algn="ctr">
                        <a:defRPr sz="850">
                          <a:latin typeface="Montserrat"/>
                        </a:defRPr>
                      </a:pPr>
                      <a:r>
                        <a:t>5,393</a:t>
                      </a:r>
                    </a:p>
                  </a:txBody>
                  <a:tcPr anchor="ctr">
                    <a:solidFill>
                      <a:srgbClr val="D9D9D9"/>
                    </a:solidFill>
                  </a:tcPr>
                </a:tc>
                <a:tc>
                  <a:txBody>
                    <a:bodyPr/>
                    <a:lstStyle/>
                    <a:p>
                      <a:pPr algn="ctr">
                        <a:defRPr sz="850">
                          <a:latin typeface="Montserrat"/>
                        </a:defRPr>
                      </a:pPr>
                      <a:r>
                        <a:t>5,728</a:t>
                      </a:r>
                    </a:p>
                  </a:txBody>
                  <a:tcPr anchor="ctr">
                    <a:solidFill>
                      <a:srgbClr val="D9D9D9"/>
                    </a:solidFill>
                  </a:tcPr>
                </a:tc>
                <a:tc>
                  <a:txBody>
                    <a:bodyPr/>
                    <a:lstStyle/>
                    <a:p>
                      <a:pPr algn="ctr">
                        <a:defRPr sz="850" b="1">
                          <a:solidFill>
                            <a:srgbClr val="006455"/>
                          </a:solidFill>
                          <a:latin typeface="Montserrat"/>
                        </a:defRPr>
                      </a:pPr>
                      <a:r>
                        <a:t>6.2%</a:t>
                      </a:r>
                    </a:p>
                  </a:txBody>
                  <a:tcPr anchor="ctr">
                    <a:solidFill>
                      <a:srgbClr val="D9D9D9"/>
                    </a:solidFill>
                  </a:tcPr>
                </a:tc>
              </a:tr>
              <a:tr h="490320">
                <a:tc>
                  <a:txBody>
                    <a:bodyPr/>
                    <a:lstStyle/>
                    <a:p>
                      <a:pPr algn="ctr">
                        <a:defRPr sz="850">
                          <a:latin typeface="Montserrat"/>
                        </a:defRPr>
                      </a:pPr>
                      <a:r>
                        <a:t>Comisión Federal de Electricidad Epe</a:t>
                      </a:r>
                    </a:p>
                  </a:txBody>
                  <a:tcPr anchor="ctr">
                    <a:solidFill>
                      <a:srgbClr val="FFFFFF"/>
                    </a:solidFill>
                  </a:tcPr>
                </a:tc>
                <a:tc>
                  <a:txBody>
                    <a:bodyPr/>
                    <a:lstStyle/>
                    <a:p>
                      <a:pPr algn="ctr">
                        <a:defRPr sz="850">
                          <a:latin typeface="Montserrat"/>
                        </a:defRPr>
                      </a:pPr>
                      <a:r>
                        <a:t>2,088</a:t>
                      </a:r>
                    </a:p>
                  </a:txBody>
                  <a:tcPr anchor="ctr">
                    <a:solidFill>
                      <a:srgbClr val="FFFFFF"/>
                    </a:solidFill>
                  </a:tcPr>
                </a:tc>
                <a:tc>
                  <a:txBody>
                    <a:bodyPr/>
                    <a:lstStyle/>
                    <a:p>
                      <a:pPr algn="ctr">
                        <a:defRPr sz="850">
                          <a:latin typeface="Montserrat"/>
                        </a:defRPr>
                      </a:pPr>
                      <a:r>
                        <a:t>2,082</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c>
                  <a:txBody>
                    <a:bodyPr/>
                    <a:lstStyle/>
                    <a:p>
                      <a:pPr algn="ctr">
                        <a:defRPr sz="850">
                          <a:latin typeface="Montserrat"/>
                        </a:defRPr>
                      </a:pPr>
                      <a:r>
                        <a:t>Alambrados y Circuitos Electricos S. de R.L. de C.V.</a:t>
                      </a:r>
                    </a:p>
                  </a:txBody>
                  <a:tcPr anchor="ctr">
                    <a:solidFill>
                      <a:srgbClr val="FFFFFF"/>
                    </a:solidFill>
                  </a:tcPr>
                </a:tc>
                <a:tc>
                  <a:txBody>
                    <a:bodyPr/>
                    <a:lstStyle/>
                    <a:p>
                      <a:pPr algn="ctr">
                        <a:defRPr sz="850">
                          <a:latin typeface="Montserrat"/>
                        </a:defRPr>
                      </a:pPr>
                      <a:r>
                        <a:t>5,315</a:t>
                      </a:r>
                    </a:p>
                  </a:txBody>
                  <a:tcPr anchor="ctr">
                    <a:solidFill>
                      <a:srgbClr val="FFFFFF"/>
                    </a:solidFill>
                  </a:tcPr>
                </a:tc>
                <a:tc>
                  <a:txBody>
                    <a:bodyPr/>
                    <a:lstStyle/>
                    <a:p>
                      <a:pPr algn="ctr">
                        <a:defRPr sz="850">
                          <a:latin typeface="Montserrat"/>
                        </a:defRPr>
                      </a:pPr>
                      <a:r>
                        <a:t>5,259</a:t>
                      </a:r>
                    </a:p>
                  </a:txBody>
                  <a:tcPr anchor="ctr">
                    <a:solidFill>
                      <a:srgbClr val="FFFFFF"/>
                    </a:solidFill>
                  </a:tcPr>
                </a:tc>
                <a:tc>
                  <a:txBody>
                    <a:bodyPr/>
                    <a:lstStyle/>
                    <a:p>
                      <a:pPr algn="ctr">
                        <a:defRPr sz="850" b="1">
                          <a:solidFill>
                            <a:srgbClr val="691C32"/>
                          </a:solidFill>
                          <a:latin typeface="Montserrat"/>
                        </a:defRPr>
                      </a:pPr>
                      <a:r>
                        <a:t>-1.1%</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-1.91%</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-1.79%</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-0.27%</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-0.26%</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+0.81%</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+2.35%</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+2.63%</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+9.29%</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+12.61%</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234,761</a:t>
                      </a:r>
                    </a:p>
                  </a:txBody>
                  <a:tcPr>
                    <a:solidFill>
                      <a:srgbClr val="FFFFFF"/>
                    </a:solidFill>
                  </a:tcPr>
                </a:tc>
                <a:tc>
                  <a:txBody>
                    <a:bodyPr/>
                    <a:lstStyle/>
                    <a:p>
                      <a:pPr algn="ctr">
                        <a:defRPr sz="900">
                          <a:latin typeface="Montserrat"/>
                        </a:defRPr>
                      </a:pPr>
                      <a:r>
                        <a:t>6,006</a:t>
                      </a:r>
                    </a:p>
                  </a:txBody>
                  <a:tcPr>
                    <a:solidFill>
                      <a:srgbClr val="FFFFFF"/>
                    </a:solidFill>
                  </a:tcPr>
                </a:tc>
                <a:tc>
                  <a:txBody>
                    <a:bodyPr/>
                    <a:lstStyle/>
                    <a:p>
                      <a:pPr algn="ctr">
                        <a:defRPr sz="900">
                          <a:latin typeface="Montserrat"/>
                        </a:defRPr>
                      </a:pPr>
                      <a:r>
                        <a:t>20,513</a:t>
                      </a:r>
                    </a:p>
                  </a:txBody>
                  <a:tcPr>
                    <a:solidFill>
                      <a:srgbClr val="FFFFFF"/>
                    </a:solidFill>
                  </a:tcPr>
                </a:tc>
                <a:tc>
                  <a:txBody>
                    <a:bodyPr/>
                    <a:lstStyle/>
                    <a:p>
                      <a:pPr algn="ctr">
                        <a:defRPr sz="900">
                          <a:latin typeface="Montserrat"/>
                        </a:defRPr>
                      </a:pPr>
                      <a:r>
                        <a:t>535</a:t>
                      </a:r>
                    </a:p>
                  </a:txBody>
                  <a:tcPr>
                    <a:solidFill>
                      <a:srgbClr val="FFFFFF"/>
                    </a:solidFill>
                  </a:tcPr>
                </a:tc>
                <a:tc>
                  <a:txBody>
                    <a:bodyPr/>
                    <a:lstStyle/>
                    <a:p>
                      <a:pPr algn="ctr">
                        <a:defRPr sz="900">
                          <a:latin typeface="Montserrat"/>
                        </a:defRPr>
                      </a:pPr>
                      <a:r>
                        <a:t>261,815</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239,364</a:t>
                      </a:r>
                    </a:p>
                  </a:txBody>
                  <a:tcPr>
                    <a:solidFill>
                      <a:srgbClr val="D9D9D9"/>
                    </a:solidFill>
                  </a:tcPr>
                </a:tc>
                <a:tc>
                  <a:txBody>
                    <a:bodyPr/>
                    <a:lstStyle/>
                    <a:p>
                      <a:pPr algn="ctr">
                        <a:defRPr sz="900">
                          <a:latin typeface="Montserrat"/>
                        </a:defRPr>
                      </a:pPr>
                      <a:r>
                        <a:t>5,635</a:t>
                      </a:r>
                    </a:p>
                  </a:txBody>
                  <a:tcPr>
                    <a:solidFill>
                      <a:srgbClr val="D9D9D9"/>
                    </a:solidFill>
                  </a:tcPr>
                </a:tc>
                <a:tc>
                  <a:txBody>
                    <a:bodyPr/>
                    <a:lstStyle/>
                    <a:p>
                      <a:pPr algn="ctr">
                        <a:defRPr sz="900">
                          <a:latin typeface="Montserrat"/>
                        </a:defRPr>
                      </a:pPr>
                      <a:r>
                        <a:t>19,607</a:t>
                      </a:r>
                    </a:p>
                  </a:txBody>
                  <a:tcPr>
                    <a:solidFill>
                      <a:srgbClr val="D9D9D9"/>
                    </a:solidFill>
                  </a:tcPr>
                </a:tc>
                <a:tc>
                  <a:txBody>
                    <a:bodyPr/>
                    <a:lstStyle/>
                    <a:p>
                      <a:pPr algn="ctr">
                        <a:defRPr sz="900">
                          <a:latin typeface="Montserrat"/>
                        </a:defRPr>
                      </a:pPr>
                      <a:r>
                        <a:t>1,134</a:t>
                      </a:r>
                    </a:p>
                  </a:txBody>
                  <a:tcPr>
                    <a:solidFill>
                      <a:srgbClr val="D9D9D9"/>
                    </a:solidFill>
                  </a:tcPr>
                </a:tc>
                <a:tc>
                  <a:txBody>
                    <a:bodyPr/>
                    <a:lstStyle/>
                    <a:p>
                      <a:pPr algn="ctr">
                        <a:defRPr sz="900">
                          <a:latin typeface="Montserrat"/>
                        </a:defRPr>
                      </a:pPr>
                      <a:r>
                        <a:t>265,740</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+2.0%</a:t>
                      </a:r>
                    </a:p>
                  </a:txBody>
                  <a:tcPr>
                    <a:solidFill>
                      <a:srgbClr val="FFFFFF"/>
                    </a:solidFill>
                  </a:tcPr>
                </a:tc>
                <a:tc>
                  <a:txBody>
                    <a:bodyPr/>
                    <a:lstStyle/>
                    <a:p>
                      <a:pPr algn="ctr">
                        <a:defRPr sz="900" b="0">
                          <a:solidFill>
                            <a:srgbClr val="691C32"/>
                          </a:solidFill>
                          <a:latin typeface="Montserrat"/>
                        </a:defRPr>
                      </a:pPr>
                      <a:r>
                        <a:t>-6.2%</a:t>
                      </a:r>
                    </a:p>
                  </a:txBody>
                  <a:tcPr>
                    <a:solidFill>
                      <a:srgbClr val="FFFFFF"/>
                    </a:solidFill>
                  </a:tcPr>
                </a:tc>
                <a:tc>
                  <a:txBody>
                    <a:bodyPr/>
                    <a:lstStyle/>
                    <a:p>
                      <a:pPr algn="ctr">
                        <a:defRPr sz="900" b="0">
                          <a:solidFill>
                            <a:srgbClr val="691C32"/>
                          </a:solidFill>
                          <a:latin typeface="Montserrat"/>
                        </a:defRPr>
                      </a:pPr>
                      <a:r>
                        <a:t>-4.4%</a:t>
                      </a:r>
                    </a:p>
                  </a:txBody>
                  <a:tcPr>
                    <a:solidFill>
                      <a:srgbClr val="FFFFFF"/>
                    </a:solidFill>
                  </a:tcPr>
                </a:tc>
                <a:tc>
                  <a:txBody>
                    <a:bodyPr/>
                    <a:lstStyle/>
                    <a:p>
                      <a:pPr algn="ctr">
                        <a:defRPr sz="900" b="1">
                          <a:solidFill>
                            <a:srgbClr val="006455"/>
                          </a:solidFill>
                          <a:latin typeface="Montserrat"/>
                        </a:defRPr>
                      </a:pPr>
                      <a:r>
                        <a:t>+112.0%</a:t>
                      </a:r>
                    </a:p>
                  </a:txBody>
                  <a:tcPr>
                    <a:solidFill>
                      <a:srgbClr val="FFFFFF"/>
                    </a:solidFill>
                  </a:tcPr>
                </a:tc>
                <a:tc>
                  <a:txBody>
                    <a:bodyPr/>
                    <a:lstStyle/>
                    <a:p>
                      <a:pPr algn="ctr">
                        <a:defRPr sz="900" b="1">
                          <a:solidFill>
                            <a:srgbClr val="006455"/>
                          </a:solidFill>
                          <a:latin typeface="Montserrat"/>
                        </a:defRPr>
                      </a:pPr>
                      <a:r>
                        <a:t>+1.5%</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E71C6407-6BD4-D3AA-EED1-1BCF8016205F}"/>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$540.27</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$278.19</a:t>
                      </a:r>
                    </a:p>
                  </a:txBody>
                  <a:tcPr anchor="ctr">
                    <a:solidFill>
                      <a:srgbClr val="EEEEEE"/>
                    </a:solidFill>
                  </a:tcPr>
                </a:tc>
                <a:tc>
                  <a:txBody>
                    <a:bodyPr/>
                    <a:lstStyle/>
                    <a:p>
                      <a:pPr algn="ctr">
                        <a:defRPr sz="1100" b="1">
                          <a:latin typeface="Montserrat"/>
                        </a:defRPr>
                      </a:pPr>
                      <a:r>
                        <a:t>$540.27</a:t>
                      </a:r>
                    </a:p>
                  </a:txBody>
                  <a:tcPr anchor="ctr">
                    <a:solidFill>
                      <a:srgbClr val="EEEEEE"/>
                    </a:solidFill>
                  </a:tcPr>
                </a:tc>
                <a:tc>
                  <a:txBody>
                    <a:bodyPr/>
                    <a:lstStyle/>
                    <a:p>
                      <a:pPr algn="ctr">
                        <a:defRPr sz="1100">
                          <a:latin typeface="Montserrat"/>
                        </a:defRPr>
                      </a:pPr>
                      <a:r>
                        <a:t>37.2%</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$16,208.1</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Municipio de Pueblo Nuevo</a:t>
                      </a:r>
                    </a:p>
                  </a:txBody>
                  <a:tcPr>
                    <a:solidFill>
                      <a:srgbClr val="FFFFFF"/>
                    </a:solidFill>
                  </a:tcPr>
                </a:tc>
                <a:tc>
                  <a:txBody>
                    <a:bodyPr/>
                    <a:lstStyle/>
                    <a:p>
                      <a:pPr algn="ctr">
                        <a:defRPr sz="900">
                          <a:latin typeface="Montserrat"/>
                        </a:defRPr>
                      </a:pPr>
                      <a:r>
                        <a:t>$89.18</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Sistema  Descentralizado de Agua Potable , Alcantarillado y Saneamiento del Municipio de Pueblo Nuevo</a:t>
                      </a:r>
                    </a:p>
                  </a:txBody>
                  <a:tcPr>
                    <a:solidFill>
                      <a:srgbClr val="EEEEEE"/>
                    </a:solidFill>
                  </a:tcPr>
                </a:tc>
                <a:tc>
                  <a:txBody>
                    <a:bodyPr/>
                    <a:lstStyle/>
                    <a:p>
                      <a:pPr algn="ctr">
                        <a:defRPr sz="900">
                          <a:latin typeface="Montserrat"/>
                        </a:defRPr>
                      </a:pPr>
                      <a:r>
                        <a:t>$2.51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Sistema de Agua Potable y Alcantarillado del Municipio de Lerdo</a:t>
                      </a:r>
                    </a:p>
                  </a:txBody>
                  <a:tcPr>
                    <a:solidFill>
                      <a:srgbClr val="FFFFFF"/>
                    </a:solidFill>
                  </a:tcPr>
                </a:tc>
                <a:tc>
                  <a:txBody>
                    <a:bodyPr/>
                    <a:lstStyle/>
                    <a:p>
                      <a:pPr algn="ctr">
                        <a:defRPr sz="900">
                          <a:latin typeface="Montserrat"/>
                        </a:defRPr>
                      </a:pPr>
                      <a:r>
                        <a:t>$0.24</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Industrias Apparel S de RL de CV</a:t>
                      </a:r>
                    </a:p>
                  </a:txBody>
                  <a:tcPr>
                    <a:solidFill>
                      <a:srgbClr val="EEEEEE"/>
                    </a:solidFill>
                  </a:tcPr>
                </a:tc>
                <a:tc>
                  <a:txBody>
                    <a:bodyPr/>
                    <a:lstStyle/>
                    <a:p>
                      <a:pPr algn="ctr">
                        <a:defRPr sz="900">
                          <a:latin typeface="Montserrat"/>
                        </a:defRPr>
                      </a:pPr>
                      <a:r>
                        <a:t>$7.38</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Paravillage Trasnporte y Logística SAS de CV</a:t>
                      </a:r>
                    </a:p>
                  </a:txBody>
                  <a:tcPr>
                    <a:solidFill>
                      <a:srgbClr val="FFFFFF"/>
                    </a:solidFill>
                  </a:tcPr>
                </a:tc>
                <a:tc>
                  <a:txBody>
                    <a:bodyPr/>
                    <a:lstStyle/>
                    <a:p>
                      <a:pPr algn="ctr">
                        <a:defRPr sz="900">
                          <a:latin typeface="Montserrat"/>
                        </a:defRPr>
                      </a:pPr>
                      <a:r>
                        <a:t>$5.92</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Grupo Constructor Degeo SA de CV</a:t>
                      </a:r>
                    </a:p>
                  </a:txBody>
                  <a:tcPr>
                    <a:solidFill>
                      <a:srgbClr val="EEEEEE"/>
                    </a:solidFill>
                  </a:tcPr>
                </a:tc>
                <a:tc>
                  <a:txBody>
                    <a:bodyPr/>
                    <a:lstStyle/>
                    <a:p>
                      <a:pPr algn="ctr">
                        <a:defRPr sz="900">
                          <a:latin typeface="Montserrat"/>
                        </a:defRPr>
                      </a:pPr>
                      <a:r>
                        <a:t>$5.67</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DURANGO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165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175</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473,646</a:t>
                      </a:r>
                    </a:p>
                  </a:txBody>
                  <a:tcPr anchor="ctr" marL="73152" marR="73152" marT="0" marB="0">
                    <a:solidFill>
                      <a:srgbClr val="D3E9E7"/>
                    </a:solidFill>
                  </a:tcPr>
                </a:tc>
                <a:tc>
                  <a:txBody>
                    <a:bodyPr/>
                    <a:lstStyle/>
                    <a:p>
                      <a:pPr algn="ctr">
                        <a:defRPr b="1" sz="1000">
                          <a:solidFill>
                            <a:srgbClr val="006455"/>
                          </a:solidFill>
                          <a:latin typeface="Montserrat"/>
                        </a:defRPr>
                      </a:pPr>
                      <a:r>
                        <a:t>1,779</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424,436</a:t>
                      </a:r>
                    </a:p>
                  </a:txBody>
                  <a:tcPr anchor="ctr" marL="73152" marR="73152" marT="0" marB="0">
                    <a:solidFill>
                      <a:srgbClr val="FFFFFF"/>
                    </a:solidFill>
                  </a:tcPr>
                </a:tc>
                <a:tc>
                  <a:txBody>
                    <a:bodyPr/>
                    <a:lstStyle/>
                    <a:p>
                      <a:pPr algn="ctr">
                        <a:defRPr b="0" sz="1000">
                          <a:solidFill>
                            <a:srgbClr val="000000"/>
                          </a:solidFill>
                          <a:latin typeface="Montserrat"/>
                        </a:defRPr>
                      </a:pPr>
                      <a:r>
                        <a:t>1,626</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8,101</a:t>
                      </a:r>
                    </a:p>
                  </a:txBody>
                  <a:tcPr anchor="ctr" marL="73152" marR="73152" marT="0" marB="0">
                    <a:solidFill>
                      <a:srgbClr val="EFEFEF"/>
                    </a:solidFill>
                  </a:tcPr>
                </a:tc>
                <a:tc>
                  <a:txBody>
                    <a:bodyPr/>
                    <a:lstStyle/>
                    <a:p>
                      <a:pPr algn="ctr">
                        <a:defRPr b="0" sz="1000">
                          <a:solidFill>
                            <a:srgbClr val="000000"/>
                          </a:solidFill>
                          <a:latin typeface="Montserrat"/>
                        </a:defRPr>
                      </a:pPr>
                      <a:r>
                        <a:t>31</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32,439</a:t>
                      </a:r>
                    </a:p>
                  </a:txBody>
                  <a:tcPr anchor="ctr" marL="73152" marR="73152" marT="0" marB="0">
                    <a:solidFill>
                      <a:srgbClr val="FFFFFF"/>
                    </a:solidFill>
                  </a:tcPr>
                </a:tc>
                <a:tc>
                  <a:txBody>
                    <a:bodyPr/>
                    <a:lstStyle/>
                    <a:p>
                      <a:pPr algn="ctr">
                        <a:defRPr b="0" sz="1000">
                          <a:solidFill>
                            <a:srgbClr val="000000"/>
                          </a:solidFill>
                          <a:latin typeface="Montserrat"/>
                        </a:defRPr>
                      </a:pPr>
                      <a:r>
                        <a:t>89</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8,670</a:t>
                      </a:r>
                    </a:p>
                  </a:txBody>
                  <a:tcPr anchor="ctr" marL="73152" marR="73152" marT="0" marB="0">
                    <a:solidFill>
                      <a:srgbClr val="EFEFEF"/>
                    </a:solidFill>
                  </a:tcPr>
                </a:tc>
                <a:tc>
                  <a:txBody>
                    <a:bodyPr/>
                    <a:lstStyle/>
                    <a:p>
                      <a:pPr algn="ctr">
                        <a:defRPr b="0" sz="1000">
                          <a:solidFill>
                            <a:srgbClr val="000000"/>
                          </a:solidFill>
                          <a:latin typeface="Montserrat"/>
                        </a:defRPr>
                      </a:pPr>
                      <a:r>
                        <a:t>33</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1,702</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1,055</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3,442</a:t>
                      </a:r>
                    </a:p>
                  </a:txBody>
                  <a:tcPr anchor="ctr" marL="73152" marR="73152" marT="0" marB="0">
                    <a:solidFill>
                      <a:srgbClr val="FFFFFF"/>
                    </a:solidFill>
                  </a:tcPr>
                </a:tc>
                <a:tc>
                  <a:txBody>
                    <a:bodyPr/>
                    <a:lstStyle/>
                    <a:p>
                      <a:pPr algn="ctr">
                        <a:defRPr b="0" sz="1000">
                          <a:solidFill>
                            <a:srgbClr val="000000"/>
                          </a:solidFill>
                          <a:latin typeface="Montserrat"/>
                        </a:defRPr>
                      </a:pPr>
                      <a:r>
                        <a:t>9</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91</a:t>
                      </a:r>
                    </a:p>
                  </a:txBody>
                  <a:tcPr anchor="ctr" marL="73152" marR="73152" marT="0" marB="0">
                    <a:solidFill>
                      <a:srgbClr val="FFFFFF"/>
                    </a:solidFill>
                  </a:tcPr>
                </a:tc>
                <a:tc>
                  <a:txBody>
                    <a:bodyPr/>
                    <a:lstStyle/>
                    <a:p>
                      <a:pPr algn="ctr">
                        <a:defRPr b="0" sz="1000">
                          <a:solidFill>
                            <a:srgbClr val="000000"/>
                          </a:solidFill>
                          <a:latin typeface="Montserrat"/>
                        </a:defRPr>
                      </a:pPr>
                      <a:r>
                        <a:t>15</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23</a:t>
                      </a:r>
                    </a:p>
                  </a:txBody>
                  <a:tcPr anchor="ctr" marL="73152" marR="73152" marT="0" marB="0">
                    <a:solidFill>
                      <a:srgbClr val="FFFFFF"/>
                    </a:solidFill>
                  </a:tcPr>
                </a:tc>
                <a:tc>
                  <a:txBody>
                    <a:bodyPr/>
                    <a:lstStyle/>
                    <a:p>
                      <a:pPr algn="ctr">
                        <a:defRPr b="1" sz="1000">
                          <a:solidFill>
                            <a:srgbClr val="006455"/>
                          </a:solidFill>
                          <a:latin typeface="Montserrat"/>
                        </a:defRPr>
                      </a:pPr>
                      <a:r>
                        <a:t>131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213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167</a:t>
                      </a:r>
                    </a:p>
                  </a:txBody>
                  <a:tcPr anchor="ctr" marL="73152" marR="73152" marT="0" marB="0">
                    <a:solidFill>
                      <a:srgbClr val="EFEFEF"/>
                    </a:solidFill>
                  </a:tcPr>
                </a:tc>
                <a:tc>
                  <a:txBody>
                    <a:bodyPr/>
                    <a:lstStyle/>
                    <a:p>
                      <a:pPr algn="ctr">
                        <a:defRPr b="1" sz="1000">
                          <a:solidFill>
                            <a:srgbClr val="006455"/>
                          </a:solidFill>
                          <a:latin typeface="Montserrat"/>
                        </a:defRPr>
                      </a:pPr>
                      <a:r>
                        <a:t>384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26</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c>
                  <a:txBody>
                    <a:bodyPr/>
                    <a:lstStyle/>
                    <a:p>
                      <a:pPr algn="ctr">
                        <a:defRPr b="1" sz="1000">
                          <a:solidFill>
                            <a:srgbClr val="006455"/>
                          </a:solidFill>
                          <a:latin typeface="Montserrat"/>
                        </a:defRPr>
                      </a:pPr>
                      <a:r>
                        <a:t>36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21</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16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1" sz="1000">
                          <a:solidFill>
                            <a:srgbClr val="006455"/>
                          </a:solidFill>
                          <a:latin typeface="Montserrat"/>
                        </a:defRPr>
                      </a:pPr>
                      <a:r>
                        <a:t>49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72</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37</a:t>
                      </a:r>
                    </a:p>
                  </a:txBody>
                  <a:tcPr anchor="ctr" marL="73152" marR="73152" marT="0" marB="0">
                    <a:solidFill>
                      <a:srgbClr val="FFFFFF"/>
                    </a:solidFill>
                  </a:tcPr>
                </a:tc>
                <a:tc>
                  <a:txBody>
                    <a:bodyPr/>
                    <a:lstStyle/>
                    <a:p>
                      <a:pPr algn="ctr">
                        <a:defRPr b="1" sz="1000">
                          <a:solidFill>
                            <a:srgbClr val="006455"/>
                          </a:solidFill>
                          <a:latin typeface="Montserrat"/>
                        </a:defRPr>
                      </a:pPr>
                      <a:r>
                        <a:t>119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9</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423</a:t>
                      </a:r>
                    </a:p>
                  </a:txBody>
                  <a:tcPr anchor="ctr" marL="73152" marR="73152" marT="0" marB="0">
                    <a:solidFill>
                      <a:srgbClr val="D3E9E7"/>
                    </a:solidFill>
                  </a:tcPr>
                </a:tc>
                <a:tc>
                  <a:txBody>
                    <a:bodyPr/>
                    <a:lstStyle/>
                    <a:p>
                      <a:pPr algn="ctr">
                        <a:defRPr b="1" sz="1000">
                          <a:solidFill>
                            <a:srgbClr val="006455"/>
                          </a:solidFill>
                          <a:latin typeface="Montserrat"/>
                        </a:defRPr>
                      </a:pPr>
                      <a:r>
                        <a:t>39</a:t>
                      </a:r>
                    </a:p>
                  </a:txBody>
                  <a:tcPr anchor="ctr" marL="73152" marR="73152" marT="0" marB="0">
                    <a:solidFill>
                      <a:srgbClr val="D3E9E7"/>
                    </a:solidFill>
                  </a:tcPr>
                </a:tc>
                <a:tc>
                  <a:txBody>
                    <a:bodyPr/>
                    <a:lstStyle/>
                    <a:p>
                      <a:pPr algn="ctr">
                        <a:defRPr b="1" sz="1000">
                          <a:solidFill>
                            <a:srgbClr val="006455"/>
                          </a:solidFill>
                          <a:latin typeface="Montserrat"/>
                        </a:defRPr>
                      </a:pPr>
                      <a:r>
                        <a:t>28</a:t>
                      </a:r>
                    </a:p>
                  </a:txBody>
                  <a:tcPr anchor="ctr" marL="73152" marR="73152" marT="0" marB="0">
                    <a:solidFill>
                      <a:srgbClr val="D3E9E7"/>
                    </a:solidFill>
                  </a:tcPr>
                </a:tc>
                <a:tc>
                  <a:txBody>
                    <a:bodyPr/>
                    <a:lstStyle/>
                    <a:p>
                      <a:pPr algn="ctr">
                        <a:defRPr b="1" sz="1000">
                          <a:solidFill>
                            <a:srgbClr val="006455"/>
                          </a:solidFill>
                          <a:latin typeface="Montserrat"/>
                        </a:defRPr>
                      </a:pPr>
                      <a:r>
                        <a:t>238</a:t>
                      </a:r>
                    </a:p>
                  </a:txBody>
                  <a:tcPr anchor="ctr" marL="73152" marR="73152" marT="0" marB="0">
                    <a:solidFill>
                      <a:srgbClr val="D3E9E7"/>
                    </a:solidFill>
                  </a:tcPr>
                </a:tc>
                <a:tc>
                  <a:txBody>
                    <a:bodyPr/>
                    <a:lstStyle/>
                    <a:p>
                      <a:pPr algn="ctr">
                        <a:defRPr b="1" sz="1000">
                          <a:solidFill>
                            <a:srgbClr val="006455"/>
                          </a:solidFill>
                          <a:latin typeface="Montserrat"/>
                        </a:defRPr>
                      </a:pPr>
                      <a:r>
                        <a:t>728</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566</a:t>
                      </a:r>
                    </a:p>
                  </a:txBody>
                  <a:tcPr anchor="ctr" marL="73152" marR="73152" marT="0" marB="0">
                    <a:solidFill>
                      <a:srgbClr val="D3E9E7"/>
                    </a:solidFill>
                  </a:tcPr>
                </a:tc>
                <a:tc>
                  <a:txBody>
                    <a:bodyPr/>
                    <a:lstStyle/>
                    <a:p>
                      <a:pPr algn="ctr">
                        <a:defRPr b="1" sz="1000">
                          <a:solidFill>
                            <a:srgbClr val="006455"/>
                          </a:solidFill>
                          <a:latin typeface="Montserrat"/>
                        </a:defRPr>
                      </a:pPr>
                      <a:r>
                        <a:t>680</a:t>
                      </a:r>
                    </a:p>
                  </a:txBody>
                  <a:tcPr anchor="ctr" marL="73152" marR="73152" marT="0" marB="0">
                    <a:solidFill>
                      <a:srgbClr val="D3E9E7"/>
                    </a:solidFill>
                  </a:tcPr>
                </a:tc>
                <a:tc>
                  <a:txBody>
                    <a:bodyPr/>
                    <a:lstStyle/>
                    <a:p>
                      <a:pPr algn="ctr">
                        <a:defRPr b="1" sz="1000">
                          <a:solidFill>
                            <a:srgbClr val="006455"/>
                          </a:solidFill>
                          <a:latin typeface="Montserrat"/>
                        </a:defRPr>
                      </a:pPr>
                      <a:r>
                        <a:t>4,537</a:t>
                      </a:r>
                    </a:p>
                  </a:txBody>
                  <a:tcPr anchor="ctr" marL="73152" marR="73152" marT="0" marB="0">
                    <a:solidFill>
                      <a:srgbClr val="D3E9E7"/>
                    </a:solidFill>
                  </a:tcPr>
                </a:tc>
                <a:tc>
                  <a:txBody>
                    <a:bodyPr/>
                    <a:lstStyle/>
                    <a:p>
                      <a:pPr algn="ctr">
                        <a:defRPr b="1" sz="1000">
                          <a:solidFill>
                            <a:srgbClr val="006455"/>
                          </a:solidFill>
                          <a:latin typeface="Montserrat"/>
                        </a:defRPr>
                      </a:pPr>
                      <a:r>
                        <a:t>4,618</a:t>
                      </a:r>
                    </a:p>
                  </a:txBody>
                  <a:tcPr anchor="ctr" marL="73152" marR="73152" marT="0" marB="0">
                    <a:solidFill>
                      <a:srgbClr val="D3E9E7"/>
                    </a:solidFill>
                  </a:tcPr>
                </a:tc>
                <a:tc>
                  <a:txBody>
                    <a:bodyPr/>
                    <a:lstStyle/>
                    <a:p>
                      <a:pPr algn="ctr">
                        <a:defRPr b="1" sz="1000">
                          <a:solidFill>
                            <a:srgbClr val="006455"/>
                          </a:solidFill>
                          <a:latin typeface="Montserrat"/>
                        </a:defRPr>
                      </a:pPr>
                      <a:r>
                        <a:t>73</a:t>
                      </a:r>
                    </a:p>
                  </a:txBody>
                  <a:tcPr anchor="ctr" marL="73152" marR="73152" marT="0" marB="0">
                    <a:solidFill>
                      <a:srgbClr val="D3E9E7"/>
                    </a:solidFill>
                  </a:tcPr>
                </a:tc>
                <a:tc>
                  <a:txBody>
                    <a:bodyPr/>
                    <a:lstStyle/>
                    <a:p>
                      <a:pPr algn="ctr">
                        <a:defRPr b="1" sz="1000">
                          <a:solidFill>
                            <a:srgbClr val="006455"/>
                          </a:solidFill>
                          <a:latin typeface="Montserrat"/>
                        </a:defRPr>
                      </a:pPr>
                      <a:r>
                        <a:t>18</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285,627</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90,431</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195,196</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27,476</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473,646</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1,702</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Guadalupe Victoria</a:t>
                      </a:r>
                    </a:p>
                  </a:txBody>
                  <a:tcPr anchor="ctr">
                    <a:solidFill>
                      <a:srgbClr val="FFFFFF"/>
                    </a:solidFill>
                  </a:tcPr>
                </a:tc>
                <a:tc>
                  <a:txBody>
                    <a:bodyPr/>
                    <a:lstStyle/>
                    <a:p>
                      <a:pPr algn="ctr">
                        <a:defRPr sz="900">
                          <a:latin typeface="Montserrat"/>
                        </a:defRPr>
                      </a:pPr>
                      <a:r>
                        <a:t>Marzo de 1980</a:t>
                      </a:r>
                    </a:p>
                  </a:txBody>
                  <a:tcPr anchor="ctr">
                    <a:solidFill>
                      <a:srgbClr val="FFFFFF"/>
                    </a:solidFill>
                  </a:tcPr>
                </a:tc>
                <a:tc>
                  <a:txBody>
                    <a:bodyPr/>
                    <a:lstStyle/>
                    <a:p>
                      <a:pPr algn="ctr">
                        <a:defRPr sz="900">
                          <a:latin typeface="Montserrat"/>
                        </a:defRPr>
                      </a:pPr>
                      <a:r>
                        <a:t>40</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HR Vicente Guerrero</a:t>
                      </a:r>
                    </a:p>
                  </a:txBody>
                  <a:tcPr anchor="ctr">
                    <a:solidFill>
                      <a:srgbClr val="EFEFEF"/>
                    </a:solidFill>
                  </a:tcPr>
                </a:tc>
                <a:tc>
                  <a:txBody>
                    <a:bodyPr/>
                    <a:lstStyle/>
                    <a:p>
                      <a:pPr algn="ctr">
                        <a:defRPr sz="900">
                          <a:latin typeface="Montserrat"/>
                        </a:defRPr>
                      </a:pPr>
                      <a:r>
                        <a:t>Septiembre de 1981</a:t>
                      </a:r>
                    </a:p>
                  </a:txBody>
                  <a:tcPr anchor="ctr">
                    <a:solidFill>
                      <a:srgbClr val="EFEFEF"/>
                    </a:solidFill>
                  </a:tcPr>
                </a:tc>
                <a:tc>
                  <a:txBody>
                    <a:bodyPr/>
                    <a:lstStyle/>
                    <a:p>
                      <a:pPr algn="ctr">
                        <a:defRPr sz="900">
                          <a:latin typeface="Montserrat"/>
                        </a:defRPr>
                      </a:pPr>
                      <a:r>
                        <a:t>29</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Rodeo</a:t>
                      </a:r>
                    </a:p>
                  </a:txBody>
                  <a:tcPr anchor="ctr">
                    <a:solidFill>
                      <a:srgbClr val="FFFFFF"/>
                    </a:solidFill>
                  </a:tcPr>
                </a:tc>
                <a:tc>
                  <a:txBody>
                    <a:bodyPr/>
                    <a:lstStyle/>
                    <a:p>
                      <a:pPr algn="ctr">
                        <a:defRPr sz="900">
                          <a:latin typeface="Montserrat"/>
                        </a:defRPr>
                      </a:pPr>
                      <a:r>
                        <a:t>Febrero de 1995</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82</a:t>
                      </a:r>
                    </a:p>
                  </a:txBody>
                  <a:tcPr anchor="ctr">
                    <a:solidFill>
                      <a:srgbClr val="D3E9E7"/>
                    </a:solidFill>
                  </a:tcPr>
                </a:tc>
                <a:tc>
                  <a:txBody>
                    <a:bodyPr/>
                    <a:lstStyle/>
                    <a:p>
                      <a:pPr algn="ctr">
                        <a:defRPr sz="900" b="1">
                          <a:solidFill>
                            <a:srgbClr val="006556"/>
                          </a:solidFill>
                          <a:latin typeface="Montserrat"/>
                        </a:defRPr>
                      </a:pPr>
                      <a:r>
                        <a:t>28</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3</a:t>
                      </a:r>
                    </a:p>
                  </a:txBody>
                  <a:tcPr anchor="ctr">
                    <a:solidFill>
                      <a:srgbClr val="D3E9E7"/>
                    </a:solidFill>
                  </a:tcPr>
                </a:tc>
                <a:tc>
                  <a:txBody>
                    <a:bodyPr/>
                    <a:lstStyle/>
                    <a:p>
                      <a:pPr algn="ctr">
                        <a:defRPr sz="900" b="1">
                          <a:solidFill>
                            <a:srgbClr val="006556"/>
                          </a:solidFill>
                          <a:latin typeface="Montserrat"/>
                        </a:defRPr>
                      </a:pPr>
                      <a:r>
                        <a:t>10</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650</a:t>
                      </a:r>
                    </a:p>
                  </a:txBody>
                  <a:tcPr anchor="ctr">
                    <a:solidFill>
                      <a:srgbClr val="D3E9E7"/>
                    </a:solidFill>
                  </a:tcPr>
                </a:tc>
                <a:tc>
                  <a:txBody>
                    <a:bodyPr/>
                    <a:lstStyle/>
                    <a:p>
                      <a:pPr algn="ctr">
                        <a:defRPr sz="900" b="1">
                          <a:solidFill>
                            <a:srgbClr val="006556"/>
                          </a:solidFill>
                          <a:latin typeface="Montserrat"/>
                        </a:defRPr>
                      </a:pPr>
                      <a:r>
                        <a:t>258</a:t>
                      </a:r>
                    </a:p>
                  </a:txBody>
                  <a:tcPr anchor="ctr">
                    <a:solidFill>
                      <a:srgbClr val="D3E9E7"/>
                    </a:solidFill>
                  </a:tcPr>
                </a:tc>
                <a:tc>
                  <a:txBody>
                    <a:bodyPr/>
                    <a:lstStyle/>
                    <a:p>
                      <a:pPr algn="ctr">
                        <a:defRPr sz="900" b="1">
                          <a:solidFill>
                            <a:srgbClr val="006556"/>
                          </a:solidFill>
                          <a:latin typeface="Montserrat"/>
                        </a:defRPr>
                      </a:pPr>
                      <a:r>
                        <a:t>24</a:t>
                      </a:r>
                    </a:p>
                  </a:txBody>
                  <a:tcPr anchor="ctr">
                    <a:solidFill>
                      <a:srgbClr val="D3E9E7"/>
                    </a:solidFill>
                  </a:tcPr>
                </a:tc>
                <a:tc>
                  <a:txBody>
                    <a:bodyPr/>
                    <a:lstStyle/>
                    <a:p>
                      <a:pPr algn="ctr">
                        <a:defRPr sz="900" b="1">
                          <a:solidFill>
                            <a:srgbClr val="006556"/>
                          </a:solidFill>
                          <a:latin typeface="Montserrat"/>
                        </a:defRPr>
                      </a:pPr>
                      <a:r>
                        <a:t>18</a:t>
                      </a:r>
                    </a:p>
                  </a:txBody>
                  <a:tcPr anchor="ctr">
                    <a:solidFill>
                      <a:srgbClr val="D3E9E7"/>
                    </a:solidFill>
                  </a:tcPr>
                </a:tc>
                <a:tc>
                  <a:txBody>
                    <a:bodyPr/>
                    <a:lstStyle/>
                    <a:p>
                      <a:pPr algn="ctr">
                        <a:defRPr sz="900" b="1">
                          <a:solidFill>
                            <a:srgbClr val="006556"/>
                          </a:solidFill>
                          <a:latin typeface="Montserrat"/>
                        </a:defRPr>
                      </a:pPr>
                      <a:r>
                        <a:t>89</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151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58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Rural Gpe Victoria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Rural Rodeo</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4775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Rural Vicente Guerrero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sp>
        <p:nvSpPr>
          <p:cNvPr id="10" name="TextBox 9"/>
          <p:cNvSpPr txBox="1"/>
          <p:nvPr/>
        </p:nvSpPr>
        <p:spPr>
          <a:xfrm>
            <a:off x="360000" y="5817598"/>
            <a:ext cx="6840000" cy="360000"/>
          </a:xfrm>
          <a:prstGeom prst="rect">
            <a:avLst/>
          </a:prstGeom>
          <a:noFill/>
        </p:spPr>
        <p:txBody>
          <a:bodyPr wrap="none" anchor="ctr">
            <a:spAutoFit/>
          </a:bodyPr>
          <a:lstStyle/>
          <a:p>
            <a:pPr algn="l">
              <a:defRPr sz="2000" b="1">
                <a:solidFill>
                  <a:srgbClr val="BC955C"/>
                </a:solidFill>
                <a:latin typeface="Montserrat"/>
              </a:defRPr>
            </a:pPr>
            <a:r>
              <a:t>23 en Unidades de Medicina Familiar</a:t>
            </a:r>
          </a:p>
        </p:txBody>
      </p:sp>
      <p:cxnSp>
        <p:nvCxnSpPr>
          <p:cNvPr id="11" name="Connector 10"/>
          <p:cNvCxnSpPr/>
          <p:nvPr/>
        </p:nvCxnSpPr>
        <p:spPr>
          <a:xfrm>
            <a:off x="360000" y="6213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2" name="Table 11"/>
          <p:cNvGraphicFramePr>
            <a:graphicFrameLocks noGrp="1"/>
          </p:cNvGraphicFramePr>
          <p:nvPr/>
        </p:nvGraphicFramePr>
        <p:xfrm>
          <a:off x="360000" y="6285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960000" y="6285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60000" y="718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718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151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23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3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C/UMAA 53</a:t>
                      </a:r>
                    </a:p>
                  </a:txBody>
                  <a:tcPr anchor="ctr">
                    <a:no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36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13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4521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45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con UMAA No. 53</a:t>
                      </a:r>
                    </a:p>
                  </a:txBody>
                  <a:tcPr anchor="ctr">
                    <a:no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5" name="TextBox 14"/>
          <p:cNvSpPr txBox="1"/>
          <p:nvPr/>
        </p:nvSpPr>
        <p:spPr>
          <a:xfrm>
            <a:off x="360000" y="5853596"/>
            <a:ext cx="6840000" cy="360000"/>
          </a:xfrm>
          <a:prstGeom prst="rect">
            <a:avLst/>
          </a:prstGeom>
          <a:noFill/>
        </p:spPr>
        <p:txBody>
          <a:bodyPr wrap="none" anchor="ctr">
            <a:spAutoFit/>
          </a:bodyPr>
          <a:lstStyle/>
          <a:p>
            <a:pPr algn="l">
              <a:defRPr sz="2000" b="1">
                <a:solidFill>
                  <a:srgbClr val="BC955C"/>
                </a:solidFill>
                <a:latin typeface="Montserrat"/>
              </a:defRPr>
            </a:pPr>
            <a:r>
              <a:t>70 especialistas (sustitutos)</a:t>
            </a:r>
          </a:p>
        </p:txBody>
      </p:sp>
      <p:cxnSp>
        <p:nvCxnSpPr>
          <p:cNvPr id="16" name="Connector 15"/>
          <p:cNvCxnSpPr/>
          <p:nvPr/>
        </p:nvCxnSpPr>
        <p:spPr>
          <a:xfrm>
            <a:off x="360000" y="6249596"/>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360000" y="6321596"/>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18" name="Table 17"/>
          <p:cNvGraphicFramePr>
            <a:graphicFrameLocks noGrp="1"/>
          </p:cNvGraphicFramePr>
          <p:nvPr/>
        </p:nvGraphicFramePr>
        <p:xfrm>
          <a:off x="3960000" y="6321596"/>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70</a:t>
                      </a:r>
                    </a:p>
                  </a:txBody>
                  <a:tcPr>
                    <a:solidFill>
                      <a:srgbClr val="D3E9E7"/>
                    </a:solidFill>
                  </a:tcPr>
                </a:tc>
              </a:tr>
            </a:tbl>
          </a:graphicData>
        </a:graphic>
      </p:graphicFrame>
      <p:sp>
        <p:nvSpPr>
          <p:cNvPr id="19" name="TextBox 18"/>
          <p:cNvSpPr txBox="1"/>
          <p:nvPr/>
        </p:nvSpPr>
        <p:spPr>
          <a:xfrm>
            <a:off x="270000" y="11397595"/>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1152000"/>
        </p:xfrm>
        <a:graphic>
          <a:graphicData uri="http://schemas.openxmlformats.org/drawingml/2006/table">
            <a:tbl>
              <a:tblPr firstRow="1" bandRow="1">
                <a:tableStyleId>{5C22544A-7EE6-4342-B048-85BDC9FD1C3A}</a:tableStyleId>
              </a:tblPr>
              <a:tblGrid>
                <a:gridCol w="2642400"/>
                <a:gridCol w="1638000"/>
                <a:gridCol w="1475999"/>
              </a:tblGrid>
              <a:tr h="3840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384000">
                <a:tc>
                  <a:txBody>
                    <a:bodyPr/>
                    <a:lstStyle/>
                    <a:p>
                      <a:pPr algn="l">
                        <a:defRPr sz="1100" b="0">
                          <a:solidFill>
                            <a:srgbClr val="000000"/>
                          </a:solidFill>
                          <a:latin typeface="Montserrat"/>
                        </a:defRPr>
                      </a:pPr>
                      <a:r>
                        <a:t>Hemodinamia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3840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151</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374</TotalTime>
  <Words>357</Words>
  <Application>Microsoft Office PowerPoint</Application>
  <PresentationFormat>Personalizado</PresentationFormat>
  <Paragraphs>86</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98</cp:revision>
  <dcterms:modified xsi:type="dcterms:W3CDTF">2026-05-12T22:36:17Z</dcterms:modified>
</cp:coreProperties>
</file>