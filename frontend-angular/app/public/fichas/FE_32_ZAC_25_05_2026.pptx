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0" r:id="rId46"/>
    <p:sldId id="261" r:id="rId7"/>
    <p:sldId id="287" r:id="rId8"/>
    <p:sldId id="262" r:id="rId9"/>
    <p:sldId id="263" r:id="rId10"/>
    <p:sldId id="280" r:id="rId11"/>
    <p:sldId id="267" r:id="rId12"/>
    <p:sldId id="298" r:id="rId13"/>
    <p:sldId id="301" r:id="rId47"/>
    <p:sldId id="302" r:id="rId48"/>
    <p:sldId id="281" r:id="rId14"/>
    <p:sldId id="288" r:id="rId15"/>
    <p:sldId id="270" r:id="rId16"/>
    <p:sldId id="271" r:id="rId17"/>
    <p:sldId id="272" r:id="rId18"/>
    <p:sldId id="299" r:id="rId19"/>
    <p:sldId id="297" r:id="rId20"/>
    <p:sldId id="284" r:id="rId21"/>
    <p:sldId id="290"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04AC9-6AE3-74DB-3733-BB647421A5EF}" v="105" dt="2026-05-13T00:15:10.114"/>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18" autoAdjust="0"/>
    <p:restoredTop sz="94759"/>
  </p:normalViewPr>
  <p:slideViewPr>
    <p:cSldViewPr snapToGrid="0">
      <p:cViewPr varScale="1">
        <p:scale>
          <a:sx n="78" d="100"/>
          <a:sy n="78" d="100"/>
        </p:scale>
        <p:origin x="3272"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Jahir Lara Garcia" userId="S::gerardo.larag@imss.gob.mx::84d5cd65-4601-4e92-b448-a9da4809e012" providerId="AD" clId="Web-{40904AC9-6AE3-74DB-3733-BB647421A5EF}"/>
    <pc:docChg chg="modSld">
      <pc:chgData name="Gerardo Jahir Lara Garcia" userId="S::gerardo.larag@imss.gob.mx::84d5cd65-4601-4e92-b448-a9da4809e012" providerId="AD" clId="Web-{40904AC9-6AE3-74DB-3733-BB647421A5EF}" dt="2026-05-13T00:15:10.114" v="67" actId="1076"/>
      <pc:docMkLst>
        <pc:docMk/>
      </pc:docMkLst>
      <pc:sldChg chg="addSp modSp">
        <pc:chgData name="Gerardo Jahir Lara Garcia" userId="S::gerardo.larag@imss.gob.mx::84d5cd65-4601-4e92-b448-a9da4809e012" providerId="AD" clId="Web-{40904AC9-6AE3-74DB-3733-BB647421A5EF}" dt="2026-05-13T00:15:10.114" v="67" actId="1076"/>
        <pc:sldMkLst>
          <pc:docMk/>
          <pc:sldMk cId="364733940" sldId="284"/>
        </pc:sldMkLst>
        <pc:spChg chg="add">
          <ac:chgData name="Gerardo Jahir Lara Garcia" userId="S::gerardo.larag@imss.gob.mx::84d5cd65-4601-4e92-b448-a9da4809e012" providerId="AD" clId="Web-{40904AC9-6AE3-74DB-3733-BB647421A5EF}" dt="2026-05-13T00:09:40.664" v="1"/>
          <ac:spMkLst>
            <pc:docMk/>
            <pc:sldMk cId="364733940" sldId="284"/>
            <ac:spMk id="3" creationId="{ABCC6279-D2EB-1F1F-D811-3FFF80887FF1}"/>
          </ac:spMkLst>
        </pc:spChg>
        <pc:spChg chg="add mod">
          <ac:chgData name="Gerardo Jahir Lara Garcia" userId="S::gerardo.larag@imss.gob.mx::84d5cd65-4601-4e92-b448-a9da4809e012" providerId="AD" clId="Web-{40904AC9-6AE3-74DB-3733-BB647421A5EF}" dt="2026-05-13T00:11:15.418" v="25" actId="20577"/>
          <ac:spMkLst>
            <pc:docMk/>
            <pc:sldMk cId="364733940" sldId="284"/>
            <ac:spMk id="6" creationId="{4578A0AA-9DC1-3453-263A-76BE5A8BE282}"/>
          </ac:spMkLst>
        </pc:spChg>
        <pc:spChg chg="add mod">
          <ac:chgData name="Gerardo Jahir Lara Garcia" userId="S::gerardo.larag@imss.gob.mx::84d5cd65-4601-4e92-b448-a9da4809e012" providerId="AD" clId="Web-{40904AC9-6AE3-74DB-3733-BB647421A5EF}" dt="2026-05-13T00:11:39.466" v="30" actId="20577"/>
          <ac:spMkLst>
            <pc:docMk/>
            <pc:sldMk cId="364733940" sldId="284"/>
            <ac:spMk id="9" creationId="{907F7F6F-8FF8-56A0-795F-B2A127C97D4D}"/>
          </ac:spMkLst>
        </pc:spChg>
        <pc:spChg chg="add mod">
          <ac:chgData name="Gerardo Jahir Lara Garcia" userId="S::gerardo.larag@imss.gob.mx::84d5cd65-4601-4e92-b448-a9da4809e012" providerId="AD" clId="Web-{40904AC9-6AE3-74DB-3733-BB647421A5EF}" dt="2026-05-13T00:15:10.114" v="67" actId="1076"/>
          <ac:spMkLst>
            <pc:docMk/>
            <pc:sldMk cId="364733940" sldId="284"/>
            <ac:spMk id="11" creationId="{2C157DF6-A7FD-940D-19DA-323ACD68454D}"/>
          </ac:spMkLst>
        </pc:spChg>
        <pc:picChg chg="add">
          <ac:chgData name="Gerardo Jahir Lara Garcia" userId="S::gerardo.larag@imss.gob.mx::84d5cd65-4601-4e92-b448-a9da4809e012" providerId="AD" clId="Web-{40904AC9-6AE3-74DB-3733-BB647421A5EF}" dt="2026-05-13T00:09:40.664" v="1"/>
          <ac:picMkLst>
            <pc:docMk/>
            <pc:sldMk cId="364733940" sldId="284"/>
            <ac:picMk id="4" creationId="{488C755F-8E2D-8CE1-6C1B-6DBB55EE2CD3}"/>
          </ac:picMkLst>
        </pc:picChg>
        <pc:picChg chg="add">
          <ac:chgData name="Gerardo Jahir Lara Garcia" userId="S::gerardo.larag@imss.gob.mx::84d5cd65-4601-4e92-b448-a9da4809e012" providerId="AD" clId="Web-{40904AC9-6AE3-74DB-3733-BB647421A5EF}" dt="2026-05-13T00:09:40.664" v="1"/>
          <ac:picMkLst>
            <pc:docMk/>
            <pc:sldMk cId="364733940" sldId="284"/>
            <ac:picMk id="8" creationId="{4F2E1097-3694-6090-CBA5-667DCD67E48E}"/>
          </ac:picMkLst>
        </pc:picChg>
        <pc:picChg chg="add">
          <ac:chgData name="Gerardo Jahir Lara Garcia" userId="S::gerardo.larag@imss.gob.mx::84d5cd65-4601-4e92-b448-a9da4809e012" providerId="AD" clId="Web-{40904AC9-6AE3-74DB-3733-BB647421A5EF}" dt="2026-05-13T00:09:40.664" v="1"/>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40904AC9-6AE3-74DB-3733-BB647421A5EF}" dt="2026-05-13T00:10:47.792" v="23" actId="1076"/>
        <pc:sldMkLst>
          <pc:docMk/>
          <pc:sldMk cId="3240565764" sldId="297"/>
        </pc:sldMkLst>
        <pc:spChg chg="add">
          <ac:chgData name="Gerardo Jahir Lara Garcia" userId="S::gerardo.larag@imss.gob.mx::84d5cd65-4601-4e92-b448-a9da4809e012" providerId="AD" clId="Web-{40904AC9-6AE3-74DB-3733-BB647421A5EF}" dt="2026-05-13T00:09:33.211" v="0"/>
          <ac:spMkLst>
            <pc:docMk/>
            <pc:sldMk cId="3240565764" sldId="297"/>
            <ac:spMk id="3" creationId="{21AE8FA6-CA77-F761-93C9-BF2570CBBE30}"/>
          </ac:spMkLst>
        </pc:spChg>
        <pc:spChg chg="add mod">
          <ac:chgData name="Gerardo Jahir Lara Garcia" userId="S::gerardo.larag@imss.gob.mx::84d5cd65-4601-4e92-b448-a9da4809e012" providerId="AD" clId="Web-{40904AC9-6AE3-74DB-3733-BB647421A5EF}" dt="2026-05-13T00:10:29.994" v="17" actId="1076"/>
          <ac:spMkLst>
            <pc:docMk/>
            <pc:sldMk cId="3240565764" sldId="297"/>
            <ac:spMk id="7" creationId="{FD4175D4-66CF-7FBC-B843-C149C5339DF1}"/>
          </ac:spMkLst>
        </pc:spChg>
        <pc:spChg chg="add del">
          <ac:chgData name="Gerardo Jahir Lara Garcia" userId="S::gerardo.larag@imss.gob.mx::84d5cd65-4601-4e92-b448-a9da4809e012" providerId="AD" clId="Web-{40904AC9-6AE3-74DB-3733-BB647421A5EF}" dt="2026-05-13T00:10:09.118" v="2"/>
          <ac:spMkLst>
            <pc:docMk/>
            <pc:sldMk cId="3240565764" sldId="297"/>
            <ac:spMk id="9" creationId="{50F1217E-09B0-81A3-6E99-CB1DE729ADDF}"/>
          </ac:spMkLst>
        </pc:spChg>
        <pc:spChg chg="add mod">
          <ac:chgData name="Gerardo Jahir Lara Garcia" userId="S::gerardo.larag@imss.gob.mx::84d5cd65-4601-4e92-b448-a9da4809e012" providerId="AD" clId="Web-{40904AC9-6AE3-74DB-3733-BB647421A5EF}" dt="2026-05-13T00:10:47.792" v="21" actId="1076"/>
          <ac:spMkLst>
            <pc:docMk/>
            <pc:sldMk cId="3240565764" sldId="297"/>
            <ac:spMk id="10" creationId="{991C7EE4-1170-AC4C-597D-3383D8E8A8F9}"/>
          </ac:spMkLst>
        </pc:spChg>
        <pc:spChg chg="add mod">
          <ac:chgData name="Gerardo Jahir Lara Garcia" userId="S::gerardo.larag@imss.gob.mx::84d5cd65-4601-4e92-b448-a9da4809e012" providerId="AD" clId="Web-{40904AC9-6AE3-74DB-3733-BB647421A5EF}" dt="2026-05-13T00:10:47.792" v="23" actId="1076"/>
          <ac:spMkLst>
            <pc:docMk/>
            <pc:sldMk cId="3240565764" sldId="297"/>
            <ac:spMk id="12" creationId="{CA535D92-E281-11D7-D7CB-F8BAB9F176B8}"/>
          </ac:spMkLst>
        </pc:spChg>
        <pc:spChg chg="add">
          <ac:chgData name="Gerardo Jahir Lara Garcia" userId="S::gerardo.larag@imss.gob.mx::84d5cd65-4601-4e92-b448-a9da4809e012" providerId="AD" clId="Web-{40904AC9-6AE3-74DB-3733-BB647421A5EF}" dt="2026-05-13T00:09:33.211" v="0"/>
          <ac:spMkLst>
            <pc:docMk/>
            <pc:sldMk cId="3240565764" sldId="297"/>
            <ac:spMk id="13" creationId="{B9C2E918-974F-A566-8C8B-5DDE4ED4290B}"/>
          </ac:spMkLst>
        </pc:spChg>
        <pc:spChg chg="add">
          <ac:chgData name="Gerardo Jahir Lara Garcia" userId="S::gerardo.larag@imss.gob.mx::84d5cd65-4601-4e92-b448-a9da4809e012" providerId="AD" clId="Web-{40904AC9-6AE3-74DB-3733-BB647421A5EF}" dt="2026-05-13T00:09:33.211" v="0"/>
          <ac:spMkLst>
            <pc:docMk/>
            <pc:sldMk cId="3240565764" sldId="297"/>
            <ac:spMk id="15" creationId="{A0083CC0-370A-999A-F425-0B0E05DEB5CF}"/>
          </ac:spMkLst>
        </pc:spChg>
        <pc:picChg chg="add">
          <ac:chgData name="Gerardo Jahir Lara Garcia" userId="S::gerardo.larag@imss.gob.mx::84d5cd65-4601-4e92-b448-a9da4809e012" providerId="AD" clId="Web-{40904AC9-6AE3-74DB-3733-BB647421A5EF}" dt="2026-05-13T00:09:33.211" v="0"/>
          <ac:picMkLst>
            <pc:docMk/>
            <pc:sldMk cId="3240565764" sldId="297"/>
            <ac:picMk id="4" creationId="{AE9FD96F-084C-5DEE-6966-05F8D1633A42}"/>
          </ac:picMkLst>
        </pc:picChg>
        <pc:picChg chg="add del">
          <ac:chgData name="Gerardo Jahir Lara Garcia" userId="S::gerardo.larag@imss.gob.mx::84d5cd65-4601-4e92-b448-a9da4809e012" providerId="AD" clId="Web-{40904AC9-6AE3-74DB-3733-BB647421A5EF}" dt="2026-05-13T00:10:09.118" v="3"/>
          <ac:picMkLst>
            <pc:docMk/>
            <pc:sldMk cId="3240565764" sldId="297"/>
            <ac:picMk id="8" creationId="{170CBE01-E044-2F44-556A-69D0B561DC01}"/>
          </ac:picMkLst>
        </pc:picChg>
        <pc:picChg chg="add mod">
          <ac:chgData name="Gerardo Jahir Lara Garcia" userId="S::gerardo.larag@imss.gob.mx::84d5cd65-4601-4e92-b448-a9da4809e012" providerId="AD" clId="Web-{40904AC9-6AE3-74DB-3733-BB647421A5EF}" dt="2026-05-13T00:10:47.792" v="22" actId="1076"/>
          <ac:picMkLst>
            <pc:docMk/>
            <pc:sldMk cId="3240565764" sldId="297"/>
            <ac:picMk id="11" creationId="{F7B31A16-FD1A-331A-6F76-259EB810FD76}"/>
          </ac:picMkLst>
        </pc:picChg>
      </pc:sldChg>
    </pc:docChg>
  </pc:docChgLst>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9:25.585" v="0"/>
      <pc:docMkLst>
        <pc:docMk/>
      </pc:docMkLst>
      <pc:sldChg chg="add">
        <pc:chgData name="Carlos Esponda Rosales" userId="08a2b2cc-6d12-4dea-90fe-c484bece8186" providerId="ADAL" clId="{6846A1DD-3EC1-5A12-B3C5-9C410579EE4F}" dt="2026-05-08T17:39:25.585" v="0"/>
        <pc:sldMkLst>
          <pc:docMk/>
          <pc:sldMk cId="2488437317" sldId="299"/>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30:40.151" v="96" actId="14100"/>
      <pc:docMkLst>
        <pc:docMk/>
      </pc:docMkLst>
      <pc:sldChg chg="addSp delSp modSp mod">
        <pc:chgData name="Edgar Rosales Ortega" userId="d1d54fc2-1570-4978-babc-e22e1526833f" providerId="ADAL" clId="{66BE7C30-C669-4152-AC74-10076FC0590C}" dt="2026-04-30T23:24:09.799" v="85" actId="1035"/>
        <pc:sldMkLst>
          <pc:docMk/>
          <pc:sldMk cId="0" sldId="260"/>
        </pc:sldMkLst>
        <pc:spChg chg="add mod">
          <ac:chgData name="Edgar Rosales Ortega" userId="d1d54fc2-1570-4978-babc-e22e1526833f" providerId="ADAL" clId="{66BE7C30-C669-4152-AC74-10076FC0590C}" dt="2026-04-30T23:24:09.799" v="85" actId="1035"/>
          <ac:spMkLst>
            <pc:docMk/>
            <pc:sldMk cId="0" sldId="260"/>
            <ac:spMk id="7" creationId="{7A122D17-67FA-B978-2456-09D75F9EFF71}"/>
          </ac:spMkLst>
        </pc:spChg>
        <pc:graphicFrameChg chg="add mod">
          <ac:chgData name="Edgar Rosales Ortega" userId="d1d54fc2-1570-4978-babc-e22e1526833f" providerId="ADAL" clId="{66BE7C30-C669-4152-AC74-10076FC0590C}" dt="2026-04-30T23:24:02.928" v="36" actId="1076"/>
          <ac:graphicFrameMkLst>
            <pc:docMk/>
            <pc:sldMk cId="0" sldId="260"/>
            <ac:graphicFrameMk id="5" creationId="{C016641E-9252-F0A7-91A5-859146099534}"/>
          </ac:graphicFrameMkLst>
        </pc:graphicFrameChg>
        <pc:picChg chg="add mod">
          <ac:chgData name="Edgar Rosales Ortega" userId="d1d54fc2-1570-4978-babc-e22e1526833f" providerId="ADAL" clId="{66BE7C30-C669-4152-AC74-10076FC0590C}" dt="2026-04-30T23:24:09.799" v="85" actId="1035"/>
          <ac:picMkLst>
            <pc:docMk/>
            <pc:sldMk cId="0" sldId="260"/>
            <ac:picMk id="6" creationId="{3F5A7FDF-9878-E275-11D4-E921F5F14008}"/>
          </ac:picMkLst>
        </pc:picChg>
      </pc:sldChg>
      <pc:sldChg chg="addSp delSp modSp mod">
        <pc:chgData name="Edgar Rosales Ortega" userId="d1d54fc2-1570-4978-babc-e22e1526833f" providerId="ADAL" clId="{66BE7C30-C669-4152-AC74-10076FC0590C}" dt="2026-05-05T18:09:13.311" v="86" actId="164"/>
        <pc:sldMkLst>
          <pc:docMk/>
          <pc:sldMk cId="0" sldId="261"/>
        </pc:sldMkLst>
        <pc:spChg chg="add mod">
          <ac:chgData name="Edgar Rosales Ortega" userId="d1d54fc2-1570-4978-babc-e22e1526833f" providerId="ADAL" clId="{66BE7C30-C669-4152-AC74-10076FC0590C}" dt="2026-05-05T18:09:13.311" v="86" actId="164"/>
          <ac:spMkLst>
            <pc:docMk/>
            <pc:sldMk cId="0" sldId="261"/>
            <ac:spMk id="14" creationId="{0E35FB57-78A5-3E68-6842-5AF8B0E961DF}"/>
          </ac:spMkLst>
        </pc:spChg>
        <pc:spChg chg="add mod">
          <ac:chgData name="Edgar Rosales Ortega" userId="d1d54fc2-1570-4978-babc-e22e1526833f" providerId="ADAL" clId="{66BE7C30-C669-4152-AC74-10076FC0590C}" dt="2026-05-05T18:09:13.311" v="86" actId="164"/>
          <ac:spMkLst>
            <pc:docMk/>
            <pc:sldMk cId="0" sldId="261"/>
            <ac:spMk id="15" creationId="{77E7161E-54F6-44F5-3372-A8375329FBBC}"/>
          </ac:spMkLst>
        </pc:spChg>
        <pc:spChg chg="mod">
          <ac:chgData name="Edgar Rosales Ortega" userId="d1d54fc2-1570-4978-babc-e22e1526833f" providerId="ADAL" clId="{66BE7C30-C669-4152-AC74-10076FC0590C}" dt="2026-04-23T17:06:51.754" v="13"/>
          <ac:spMkLst>
            <pc:docMk/>
            <pc:sldMk cId="0" sldId="261"/>
            <ac:spMk id="17" creationId="{FD4D91E5-D107-D3B7-E651-96BD25F07EEF}"/>
          </ac:spMkLst>
        </pc:spChg>
        <pc:spChg chg="mod">
          <ac:chgData name="Edgar Rosales Ortega" userId="d1d54fc2-1570-4978-babc-e22e1526833f" providerId="ADAL" clId="{66BE7C30-C669-4152-AC74-10076FC0590C}" dt="2026-04-23T17:06:51.754" v="13"/>
          <ac:spMkLst>
            <pc:docMk/>
            <pc:sldMk cId="0" sldId="261"/>
            <ac:spMk id="18" creationId="{493D5A78-68DF-8CDE-88B9-CC8136F8EBFB}"/>
          </ac:spMkLst>
        </pc:spChg>
        <pc:spChg chg="add mod">
          <ac:chgData name="Edgar Rosales Ortega" userId="d1d54fc2-1570-4978-babc-e22e1526833f" providerId="ADAL" clId="{66BE7C30-C669-4152-AC74-10076FC0590C}" dt="2026-05-05T18:09:13.311" v="86" actId="164"/>
          <ac:spMkLst>
            <pc:docMk/>
            <pc:sldMk cId="0" sldId="261"/>
            <ac:spMk id="19" creationId="{4645C453-D026-38B5-2031-0116FCE04D38}"/>
          </ac:spMkLst>
        </pc:spChg>
        <pc:spChg chg="add mod">
          <ac:chgData name="Edgar Rosales Ortega" userId="d1d54fc2-1570-4978-babc-e22e1526833f" providerId="ADAL" clId="{66BE7C30-C669-4152-AC74-10076FC0590C}" dt="2026-05-05T18:09:13.311" v="86" actId="164"/>
          <ac:spMkLst>
            <pc:docMk/>
            <pc:sldMk cId="0" sldId="261"/>
            <ac:spMk id="20" creationId="{7109BB45-4963-DEBC-0918-D52BB229464E}"/>
          </ac:spMkLst>
        </pc:spChg>
        <pc:spChg chg="add mod">
          <ac:chgData name="Edgar Rosales Ortega" userId="d1d54fc2-1570-4978-babc-e22e1526833f" providerId="ADAL" clId="{66BE7C30-C669-4152-AC74-10076FC0590C}" dt="2026-05-05T18:09:13.311" v="86" actId="164"/>
          <ac:spMkLst>
            <pc:docMk/>
            <pc:sldMk cId="0" sldId="261"/>
            <ac:spMk id="21" creationId="{059D5CCF-4CC7-33A0-29A0-8FD40FAE12EE}"/>
          </ac:spMkLst>
        </pc:spChg>
        <pc:grpChg chg="add mod">
          <ac:chgData name="Edgar Rosales Ortega" userId="d1d54fc2-1570-4978-babc-e22e1526833f" providerId="ADAL" clId="{66BE7C30-C669-4152-AC74-10076FC0590C}" dt="2026-05-05T18:09:13.311" v="86" actId="164"/>
          <ac:grpSpMkLst>
            <pc:docMk/>
            <pc:sldMk cId="0" sldId="261"/>
            <ac:grpSpMk id="2" creationId="{2F165937-EA2B-66C5-8EEB-255D753E6799}"/>
          </ac:grpSpMkLst>
        </pc:grpChg>
        <pc:grpChg chg="add mod">
          <ac:chgData name="Edgar Rosales Ortega" userId="d1d54fc2-1570-4978-babc-e22e1526833f" providerId="ADAL" clId="{66BE7C30-C669-4152-AC74-10076FC0590C}" dt="2026-05-05T18:09:13.311" v="86" actId="164"/>
          <ac:grpSpMkLst>
            <pc:docMk/>
            <pc:sldMk cId="0" sldId="261"/>
            <ac:grpSpMk id="16" creationId="{BADDDAEF-D4B6-0D52-7488-93CE5651C542}"/>
          </ac:grpSpMkLst>
        </pc:grpChg>
        <pc:picChg chg="add mod">
          <ac:chgData name="Edgar Rosales Ortega" userId="d1d54fc2-1570-4978-babc-e22e1526833f" providerId="ADAL" clId="{66BE7C30-C669-4152-AC74-10076FC0590C}" dt="2026-05-05T18:09:13.311" v="86" actId="164"/>
          <ac:picMkLst>
            <pc:docMk/>
            <pc:sldMk cId="0" sldId="261"/>
            <ac:picMk id="12" creationId="{BF61E68E-8796-C189-1D02-521225D43C03}"/>
          </ac:picMkLst>
        </pc:picChg>
        <pc:picChg chg="add mod">
          <ac:chgData name="Edgar Rosales Ortega" userId="d1d54fc2-1570-4978-babc-e22e1526833f" providerId="ADAL" clId="{66BE7C30-C669-4152-AC74-10076FC0590C}" dt="2026-05-05T18:09:13.311" v="86" actId="164"/>
          <ac:picMkLst>
            <pc:docMk/>
            <pc:sldMk cId="0" sldId="261"/>
            <ac:picMk id="13" creationId="{85E0939D-1D45-FA2B-C96C-E4049B8DC898}"/>
          </ac:picMkLst>
        </pc:picChg>
      </pc:sldChg>
      <pc:sldChg chg="delSp mod">
        <pc:chgData name="Edgar Rosales Ortega" userId="d1d54fc2-1570-4978-babc-e22e1526833f" providerId="ADAL" clId="{66BE7C30-C669-4152-AC74-10076FC0590C}" dt="2026-05-07T19:29:59.369" v="89" actId="478"/>
        <pc:sldMkLst>
          <pc:docMk/>
          <pc:sldMk cId="0" sldId="262"/>
        </pc:sldMkLst>
      </pc:sldChg>
      <pc:sldChg chg="addSp delSp modSp mod ord">
        <pc:chgData name="Edgar Rosales Ortega" userId="d1d54fc2-1570-4978-babc-e22e1526833f" providerId="ADAL" clId="{66BE7C30-C669-4152-AC74-10076FC0590C}" dt="2026-05-07T19:30:07.035" v="91" actId="478"/>
        <pc:sldMkLst>
          <pc:docMk/>
          <pc:sldMk cId="0" sldId="263"/>
        </pc:sldMkLst>
      </pc:sldChg>
      <pc:sldChg chg="modSp mod ord">
        <pc:chgData name="Edgar Rosales Ortega" userId="d1d54fc2-1570-4978-babc-e22e1526833f" providerId="ADAL" clId="{66BE7C30-C669-4152-AC74-10076FC0590C}" dt="2026-04-30T15:59:48.931" v="31"/>
        <pc:sldMkLst>
          <pc:docMk/>
          <pc:sldMk cId="0" sldId="267"/>
        </pc:sldMkLst>
        <pc:graphicFrameChg chg="modGraphic">
          <ac:chgData name="Edgar Rosales Ortega" userId="d1d54fc2-1570-4978-babc-e22e1526833f" providerId="ADAL" clId="{66BE7C30-C669-4152-AC74-10076FC0590C}" dt="2026-04-30T00:26:46.135" v="14"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30:21.730" v="92"/>
        <pc:sldMkLst>
          <pc:docMk/>
          <pc:sldMk cId="0" sldId="272"/>
        </pc:sldMkLst>
        <pc:graphicFrameChg chg="mod">
          <ac:chgData name="Edgar Rosales Ortega" userId="d1d54fc2-1570-4978-babc-e22e1526833f" providerId="ADAL" clId="{66BE7C30-C669-4152-AC74-10076FC0590C}" dt="2026-05-07T19:30:21.730" v="92"/>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9:32.674" v="88" actId="1076"/>
        <pc:sldMkLst>
          <pc:docMk/>
          <pc:sldMk cId="0" sldId="279"/>
        </pc:sldMkLst>
        <pc:spChg chg="add mod">
          <ac:chgData name="Edgar Rosales Ortega" userId="d1d54fc2-1570-4978-babc-e22e1526833f" providerId="ADAL" clId="{66BE7C30-C669-4152-AC74-10076FC0590C}" dt="2026-04-30T16:32:44.579" v="32" actId="1076"/>
          <ac:spMkLst>
            <pc:docMk/>
            <pc:sldMk cId="0" sldId="279"/>
            <ac:spMk id="2" creationId="{624E426C-214B-9408-8FCC-3D097E7961AD}"/>
          </ac:spMkLst>
        </pc:spChg>
        <pc:spChg chg="mod">
          <ac:chgData name="Edgar Rosales Ortega" userId="d1d54fc2-1570-4978-babc-e22e1526833f" providerId="ADAL" clId="{66BE7C30-C669-4152-AC74-10076FC0590C}" dt="2026-05-05T18:09:32.674" v="88"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9:42.395" v="27"/>
        <pc:sldMkLst>
          <pc:docMk/>
          <pc:sldMk cId="540716406" sldId="280"/>
        </pc:sldMkLst>
        <pc:graphicFrameChg chg="modGraphic">
          <ac:chgData name="Edgar Rosales Ortega" userId="d1d54fc2-1570-4978-babc-e22e1526833f" providerId="ADAL" clId="{66BE7C30-C669-4152-AC74-10076FC0590C}" dt="2026-04-30T00:26:49.014" v="15"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9:19.475" v="87" actId="478"/>
        <pc:sldMkLst>
          <pc:docMk/>
          <pc:sldMk cId="3828482411" sldId="281"/>
        </pc:sldMkLst>
      </pc:sldChg>
      <pc:sldChg chg="modSp mod">
        <pc:chgData name="Edgar Rosales Ortega" userId="d1d54fc2-1570-4978-babc-e22e1526833f" providerId="ADAL" clId="{66BE7C30-C669-4152-AC74-10076FC0590C}" dt="2026-05-07T19:30:40.151" v="96" actId="14100"/>
        <pc:sldMkLst>
          <pc:docMk/>
          <pc:sldMk cId="364733940" sldId="284"/>
        </pc:sldMkLst>
        <pc:picChg chg="mod">
          <ac:chgData name="Edgar Rosales Ortega" userId="d1d54fc2-1570-4978-babc-e22e1526833f" providerId="ADAL" clId="{66BE7C30-C669-4152-AC74-10076FC0590C}" dt="2026-05-07T19:30:40.151" v="9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9:28.256" v="23"/>
        <pc:sldMkLst>
          <pc:docMk/>
          <pc:sldMk cId="748044913" sldId="287"/>
        </pc:sldMkLst>
        <pc:graphicFrameChg chg="modGraphic">
          <ac:chgData name="Edgar Rosales Ortega" userId="d1d54fc2-1570-4978-babc-e22e1526833f" providerId="ADAL" clId="{66BE7C30-C669-4152-AC74-10076FC0590C}" dt="2026-04-30T00:26:52.008" v="16"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30:26.039" v="93" actId="14100"/>
        <pc:sldMkLst>
          <pc:docMk/>
          <pc:sldMk cId="3240565764" sldId="297"/>
        </pc:sldMkLst>
        <pc:picChg chg="mod">
          <ac:chgData name="Edgar Rosales Ortega" userId="d1d54fc2-1570-4978-babc-e22e1526833f" providerId="ADAL" clId="{66BE7C30-C669-4152-AC74-10076FC0590C}" dt="2026-05-07T19:30:26.039" v="93"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4:30.811" v="1"/>
        <pc:sldMkLst>
          <pc:docMk/>
          <pc:sldMk cId="1200248770" sldId="29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692206.0</c:v>
                </c:pt>
                <c:pt idx="1">
                  <c:v>409391.0</c:v>
                </c:pt>
                <c:pt idx="2">
                  <c:v>229210.0</c:v>
                </c:pt>
                <c:pt idx="3">
                  <c:v>392055.0</c:v>
                </c:pt>
                <c:pt idx="4">
                  <c:v>4036.0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32.86372466850441</c:v>
                </c:pt>
                <c:pt idx="1">
                  <c:v>67.1362753314956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6.817384386</c:v>
                </c:pt>
                <c:pt idx="1">
                  <c:v>93.182615614</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32.283633927469545</c:v>
                </c:pt>
                <c:pt idx="1">
                  <c:v>67.71636607253046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29.15028323892036</c:v>
                </c:pt>
                <c:pt idx="1">
                  <c:v>70.84971676107963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20</c:v>
                </c:pt>
                <c:pt idx="1">
                  <c:v>75</c:v>
                </c:pt>
                <c:pt idx="2">
                  <c:v>56</c:v>
                </c:pt>
                <c:pt idx="3">
                  <c:v>27</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Servicios para Empresas, Personas y el Hogar</c:v>
                </c:pt>
                <c:pt idx="2">
                  <c:v>Servicios Sociales y Comunales</c:v>
                </c:pt>
                <c:pt idx="3">
                  <c:v>Comercio</c:v>
                </c:pt>
                <c:pt idx="4">
                  <c:v>Industrias Extractivas</c:v>
                </c:pt>
                <c:pt idx="5">
                  <c:v>Industria de la Construcción</c:v>
                </c:pt>
                <c:pt idx="6">
                  <c:v>Ind Eléctrica y Captación y Suministro de Agua Potable</c:v>
                </c:pt>
                <c:pt idx="7">
                  <c:v>Transportes y Comunicaciones</c:v>
                </c:pt>
                <c:pt idx="8">
                  <c:v>Industrias de la Transformación</c:v>
                </c:pt>
              </c:strCache>
            </c:strRef>
          </c:cat>
          <c:val>
            <c:numRef>
              <c:f>Sheet1!$B$2:$B$10</c:f>
              <c:numCache>
                <c:formatCode>General</c:formatCode>
                <c:ptCount val="9"/>
                <c:pt idx="0">
                  <c:v>7234</c:v>
                </c:pt>
                <c:pt idx="1">
                  <c:v>18117</c:v>
                </c:pt>
                <c:pt idx="2">
                  <c:v>50486</c:v>
                </c:pt>
                <c:pt idx="3">
                  <c:v>36221</c:v>
                </c:pt>
                <c:pt idx="4">
                  <c:v>14842</c:v>
                </c:pt>
                <c:pt idx="5">
                  <c:v>16343</c:v>
                </c:pt>
                <c:pt idx="6">
                  <c:v>1968</c:v>
                </c:pt>
                <c:pt idx="7">
                  <c:v>8316</c:v>
                </c:pt>
                <c:pt idx="8">
                  <c:v>36736</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Servicios para Empresas, Personas y el Hogar</c:v>
                </c:pt>
                <c:pt idx="2">
                  <c:v>Servicios Sociales y Comunales</c:v>
                </c:pt>
                <c:pt idx="3">
                  <c:v>Comercio</c:v>
                </c:pt>
                <c:pt idx="4">
                  <c:v>Industrias Extractivas</c:v>
                </c:pt>
                <c:pt idx="5">
                  <c:v>Industria de la Construcción</c:v>
                </c:pt>
                <c:pt idx="6">
                  <c:v>Ind Eléctrica y Captación y Suministro de Agua Potable</c:v>
                </c:pt>
                <c:pt idx="7">
                  <c:v>Transportes y Comunicaciones</c:v>
                </c:pt>
                <c:pt idx="8">
                  <c:v>Industrias de la Transformación</c:v>
                </c:pt>
              </c:strCache>
            </c:strRef>
          </c:cat>
          <c:val>
            <c:numRef>
              <c:f>Sheet1!$C$2:$C$10</c:f>
              <c:numCache>
                <c:formatCode>General</c:formatCode>
                <c:ptCount val="9"/>
                <c:pt idx="0">
                  <c:v>3805</c:v>
                </c:pt>
                <c:pt idx="1">
                  <c:v>17911</c:v>
                </c:pt>
                <c:pt idx="2">
                  <c:v>50167</c:v>
                </c:pt>
                <c:pt idx="3">
                  <c:v>36446</c:v>
                </c:pt>
                <c:pt idx="4">
                  <c:v>15184</c:v>
                </c:pt>
                <c:pt idx="5">
                  <c:v>16751</c:v>
                </c:pt>
                <c:pt idx="6">
                  <c:v>2032</c:v>
                </c:pt>
                <c:pt idx="7">
                  <c:v>8656</c:v>
                </c:pt>
                <c:pt idx="8">
                  <c:v>39252</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183433</c:v>
                </c:pt>
                <c:pt idx="1">
                  <c:v>186925</c:v>
                </c:pt>
                <c:pt idx="2">
                  <c:v>184170</c:v>
                </c:pt>
                <c:pt idx="3">
                  <c:v>189657</c:v>
                </c:pt>
                <c:pt idx="4">
                  <c:v>196069</c:v>
                </c:pt>
                <c:pt idx="5">
                  <c:v>197853</c:v>
                </c:pt>
                <c:pt idx="6">
                  <c:v>198057</c:v>
                </c:pt>
                <c:pt idx="7">
                  <c:v>190263</c:v>
                </c:pt>
                <c:pt idx="8">
                  <c:v>190204</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Zacatecas</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2_Zacatecas.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692,206</a:t>
            </a:r>
            <a:br/>
            <a:r>
              <a:t>40%</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409,391</a:t>
            </a:r>
            <a:br/>
            <a:r>
              <a:t>24%</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229,210</a:t>
            </a:r>
            <a:br/>
            <a:r>
              <a:t>13%</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392,055</a:t>
            </a:r>
            <a:br/>
            <a:r>
              <a:t>23%</a:t>
            </a:r>
          </a:p>
        </p:txBody>
      </p:sp>
      <p:pic>
        <p:nvPicPr>
          <p:cNvPr id="128" name="Picture 127" descr="32.png"/>
          <p:cNvPicPr>
            <a:picLocks noChangeAspect="1"/>
          </p:cNvPicPr>
          <p:nvPr/>
        </p:nvPicPr>
        <p:blipFill>
          <a:blip r:embed="rId9"/>
          <a:stretch>
            <a:fillRect/>
          </a:stretch>
        </p:blipFill>
        <p:spPr>
          <a:xfrm>
            <a:off x="1220400" y="3290400"/>
            <a:ext cx="1904118"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4,036</a:t>
            </a:r>
            <a:br/>
            <a:r>
              <a:t>0.23%</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1,726,898</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606,471</a:t>
                      </a:r>
                    </a:p>
                  </a:txBody>
                  <a:tcPr>
                    <a:solidFill>
                      <a:srgbClr val="EBD2D9"/>
                    </a:solidFill>
                  </a:tcPr>
                </a:tc>
                <a:tc>
                  <a:txBody>
                    <a:bodyPr/>
                    <a:lstStyle/>
                    <a:p>
                      <a:pPr algn="ctr">
                        <a:defRPr sz="900" b="1">
                          <a:solidFill>
                            <a:srgbClr val="000000"/>
                          </a:solidFill>
                          <a:latin typeface="Montserrat"/>
                        </a:defRPr>
                      </a:pPr>
                      <a:r>
                        <a:t>694,754</a:t>
                      </a:r>
                    </a:p>
                  </a:txBody>
                  <a:tcPr>
                    <a:solidFill>
                      <a:srgbClr val="EBD2D9"/>
                    </a:solidFill>
                  </a:tcPr>
                </a:tc>
                <a:tc>
                  <a:txBody>
                    <a:bodyPr/>
                    <a:lstStyle/>
                    <a:p>
                      <a:pPr algn="ctr">
                        <a:defRPr sz="900" b="1">
                          <a:solidFill>
                            <a:srgbClr val="000000"/>
                          </a:solidFill>
                          <a:latin typeface="Montserrat"/>
                        </a:defRPr>
                      </a:pPr>
                      <a:r>
                        <a:t>15%</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315,444</a:t>
                      </a:r>
                    </a:p>
                  </a:txBody>
                  <a:tcPr>
                    <a:solidFill>
                      <a:srgbClr val="EBD2D9"/>
                    </a:solidFill>
                  </a:tcPr>
                </a:tc>
                <a:tc>
                  <a:txBody>
                    <a:bodyPr/>
                    <a:lstStyle/>
                    <a:p>
                      <a:pPr algn="ctr">
                        <a:defRPr sz="900" b="1">
                          <a:solidFill>
                            <a:srgbClr val="000000"/>
                          </a:solidFill>
                          <a:latin typeface="Montserrat"/>
                        </a:defRPr>
                      </a:pPr>
                      <a:r>
                        <a:t>393,767</a:t>
                      </a:r>
                    </a:p>
                  </a:txBody>
                  <a:tcPr>
                    <a:solidFill>
                      <a:srgbClr val="EBD2D9"/>
                    </a:solidFill>
                  </a:tcPr>
                </a:tc>
                <a:tc>
                  <a:txBody>
                    <a:bodyPr/>
                    <a:lstStyle/>
                    <a:p>
                      <a:pPr algn="ctr">
                        <a:defRPr sz="900" b="1">
                          <a:solidFill>
                            <a:srgbClr val="000000"/>
                          </a:solidFill>
                          <a:latin typeface="Montserrat"/>
                        </a:defRPr>
                      </a:pPr>
                      <a:r>
                        <a:t>25%</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185,244</a:t>
                      </a:r>
                    </a:p>
                  </a:txBody>
                  <a:tcPr>
                    <a:solidFill>
                      <a:srgbClr val="F8F4EC"/>
                    </a:solidFill>
                  </a:tcPr>
                </a:tc>
                <a:tc>
                  <a:txBody>
                    <a:bodyPr/>
                    <a:lstStyle/>
                    <a:p>
                      <a:pPr algn="ctr">
                        <a:defRPr sz="900" b="1">
                          <a:solidFill>
                            <a:srgbClr val="000000"/>
                          </a:solidFill>
                          <a:latin typeface="Montserrat"/>
                        </a:defRPr>
                      </a:pPr>
                      <a:r>
                        <a:t>190,204</a:t>
                      </a:r>
                    </a:p>
                  </a:txBody>
                  <a:tcPr>
                    <a:solidFill>
                      <a:srgbClr val="F8F4EC"/>
                    </a:solidFill>
                  </a:tcPr>
                </a:tc>
                <a:tc>
                  <a:txBody>
                    <a:bodyPr/>
                    <a:lstStyle/>
                    <a:p>
                      <a:pPr algn="ctr">
                        <a:defRPr sz="900" b="1">
                          <a:solidFill>
                            <a:srgbClr val="000000"/>
                          </a:solidFill>
                          <a:latin typeface="Montserrat"/>
                        </a:defRPr>
                      </a:pPr>
                      <a:r>
                        <a:t>3%</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39,233</a:t>
                      </a:r>
                    </a:p>
                  </a:txBody>
                  <a:tcPr>
                    <a:solidFill>
                      <a:srgbClr val="FFFFFF"/>
                    </a:solidFill>
                  </a:tcPr>
                </a:tc>
                <a:tc>
                  <a:txBody>
                    <a:bodyPr/>
                    <a:lstStyle/>
                    <a:p>
                      <a:pPr algn="ctr">
                        <a:defRPr sz="900">
                          <a:solidFill>
                            <a:srgbClr val="000000"/>
                          </a:solidFill>
                          <a:latin typeface="Montserrat"/>
                        </a:defRPr>
                      </a:pPr>
                      <a:r>
                        <a:t>59,305</a:t>
                      </a:r>
                    </a:p>
                  </a:txBody>
                  <a:tcPr>
                    <a:solidFill>
                      <a:srgbClr val="FFFFFF"/>
                    </a:solidFill>
                  </a:tcPr>
                </a:tc>
                <a:tc>
                  <a:txBody>
                    <a:bodyPr/>
                    <a:lstStyle/>
                    <a:p>
                      <a:pPr algn="ctr">
                        <a:defRPr sz="900">
                          <a:solidFill>
                            <a:srgbClr val="000000"/>
                          </a:solidFill>
                          <a:latin typeface="Montserrat"/>
                        </a:defRPr>
                      </a:pPr>
                      <a:r>
                        <a:t>51%</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5,426</a:t>
                      </a:r>
                    </a:p>
                  </a:txBody>
                  <a:tcPr>
                    <a:solidFill>
                      <a:srgbClr val="FFFFFF"/>
                    </a:solidFill>
                  </a:tcPr>
                </a:tc>
                <a:tc>
                  <a:txBody>
                    <a:bodyPr/>
                    <a:lstStyle/>
                    <a:p>
                      <a:pPr algn="ctr">
                        <a:defRPr sz="900">
                          <a:solidFill>
                            <a:srgbClr val="000000"/>
                          </a:solidFill>
                          <a:latin typeface="Montserrat"/>
                        </a:defRPr>
                      </a:pPr>
                      <a:r>
                        <a:t>5,878</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85,541</a:t>
                      </a:r>
                    </a:p>
                  </a:txBody>
                  <a:tcPr>
                    <a:solidFill>
                      <a:srgbClr val="CCE0DD"/>
                    </a:solidFill>
                  </a:tcPr>
                </a:tc>
                <a:tc>
                  <a:txBody>
                    <a:bodyPr/>
                    <a:lstStyle/>
                    <a:p>
                      <a:pPr algn="ctr">
                        <a:defRPr sz="900" b="1">
                          <a:solidFill>
                            <a:srgbClr val="000000"/>
                          </a:solidFill>
                          <a:latin typeface="Montserrat"/>
                        </a:defRPr>
                      </a:pPr>
                      <a:r>
                        <a:t>116,381</a:t>
                      </a:r>
                    </a:p>
                  </a:txBody>
                  <a:tcPr>
                    <a:solidFill>
                      <a:srgbClr val="CCE0DD"/>
                    </a:solidFill>
                  </a:tcPr>
                </a:tc>
                <a:tc>
                  <a:txBody>
                    <a:bodyPr/>
                    <a:lstStyle/>
                    <a:p>
                      <a:pPr algn="ctr">
                        <a:defRPr sz="900" b="1">
                          <a:solidFill>
                            <a:srgbClr val="000000"/>
                          </a:solidFill>
                          <a:latin typeface="Montserrat"/>
                        </a:defRPr>
                      </a:pPr>
                      <a:r>
                        <a:t>36%</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81,708</a:t>
                      </a:r>
                    </a:p>
                  </a:txBody>
                  <a:tcPr>
                    <a:solidFill>
                      <a:srgbClr val="FFFFFF"/>
                    </a:solidFill>
                  </a:tcPr>
                </a:tc>
                <a:tc>
                  <a:txBody>
                    <a:bodyPr/>
                    <a:lstStyle/>
                    <a:p>
                      <a:pPr algn="ctr">
                        <a:defRPr sz="900">
                          <a:solidFill>
                            <a:srgbClr val="000000"/>
                          </a:solidFill>
                          <a:latin typeface="Montserrat"/>
                        </a:defRPr>
                      </a:pPr>
                      <a:r>
                        <a:t>113,459</a:t>
                      </a:r>
                    </a:p>
                  </a:txBody>
                  <a:tcPr>
                    <a:solidFill>
                      <a:srgbClr val="FFFFFF"/>
                    </a:solidFill>
                  </a:tcPr>
                </a:tc>
                <a:tc>
                  <a:txBody>
                    <a:bodyPr/>
                    <a:lstStyle/>
                    <a:p>
                      <a:pPr algn="ctr">
                        <a:defRPr sz="900">
                          <a:solidFill>
                            <a:srgbClr val="000000"/>
                          </a:solidFill>
                          <a:latin typeface="Montserrat"/>
                        </a:defRPr>
                      </a:pPr>
                      <a:r>
                        <a:t>39%</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2,435</a:t>
                      </a:r>
                    </a:p>
                  </a:txBody>
                  <a:tcPr>
                    <a:solidFill>
                      <a:srgbClr val="FFFFFF"/>
                    </a:solidFill>
                  </a:tcPr>
                </a:tc>
                <a:tc>
                  <a:txBody>
                    <a:bodyPr/>
                    <a:lstStyle/>
                    <a:p>
                      <a:pPr algn="ctr">
                        <a:defRPr sz="900">
                          <a:solidFill>
                            <a:srgbClr val="000000"/>
                          </a:solidFill>
                          <a:latin typeface="Montserrat"/>
                        </a:defRPr>
                      </a:pPr>
                      <a:r>
                        <a:t>456</a:t>
                      </a:r>
                    </a:p>
                  </a:txBody>
                  <a:tcPr>
                    <a:solidFill>
                      <a:srgbClr val="FFFFFF"/>
                    </a:solidFill>
                  </a:tcPr>
                </a:tc>
                <a:tc>
                  <a:txBody>
                    <a:bodyPr/>
                    <a:lstStyle/>
                    <a:p>
                      <a:pPr algn="ctr">
                        <a:defRPr sz="900">
                          <a:solidFill>
                            <a:srgbClr val="000000"/>
                          </a:solidFill>
                          <a:latin typeface="Montserrat"/>
                        </a:defRPr>
                      </a:pPr>
                      <a:r>
                        <a:t>-81%</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1,398</a:t>
                      </a:r>
                    </a:p>
                  </a:txBody>
                  <a:tcPr>
                    <a:solidFill>
                      <a:srgbClr val="FFFFFF"/>
                    </a:solidFill>
                  </a:tcPr>
                </a:tc>
                <a:tc>
                  <a:txBody>
                    <a:bodyPr/>
                    <a:lstStyle/>
                    <a:p>
                      <a:pPr algn="ctr">
                        <a:defRPr sz="900">
                          <a:solidFill>
                            <a:srgbClr val="000000"/>
                          </a:solidFill>
                          <a:latin typeface="Montserrat"/>
                        </a:defRPr>
                      </a:pPr>
                      <a:r>
                        <a:t>2,466</a:t>
                      </a:r>
                    </a:p>
                  </a:txBody>
                  <a:tcPr>
                    <a:solidFill>
                      <a:srgbClr val="FFFFFF"/>
                    </a:solidFill>
                  </a:tcPr>
                </a:tc>
                <a:tc>
                  <a:txBody>
                    <a:bodyPr/>
                    <a:lstStyle/>
                    <a:p>
                      <a:pPr algn="ctr">
                        <a:defRPr sz="900">
                          <a:solidFill>
                            <a:srgbClr val="000000"/>
                          </a:solidFill>
                          <a:latin typeface="Montserrat"/>
                        </a:defRPr>
                      </a:pPr>
                      <a:r>
                        <a:t>76%</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291,027</a:t>
                      </a:r>
                    </a:p>
                  </a:txBody>
                  <a:tcPr>
                    <a:solidFill>
                      <a:srgbClr val="EBD2D9"/>
                    </a:solidFill>
                  </a:tcPr>
                </a:tc>
                <a:tc>
                  <a:txBody>
                    <a:bodyPr/>
                    <a:lstStyle/>
                    <a:p>
                      <a:pPr algn="ctr">
                        <a:defRPr sz="900" b="1">
                          <a:solidFill>
                            <a:srgbClr val="000000"/>
                          </a:solidFill>
                          <a:latin typeface="Montserrat"/>
                        </a:defRPr>
                      </a:pPr>
                      <a:r>
                        <a:t>300,987</a:t>
                      </a:r>
                    </a:p>
                  </a:txBody>
                  <a:tcPr>
                    <a:solidFill>
                      <a:srgbClr val="EBD2D9"/>
                    </a:solidFill>
                  </a:tcPr>
                </a:tc>
                <a:tc>
                  <a:txBody>
                    <a:bodyPr/>
                    <a:lstStyle/>
                    <a:p>
                      <a:pPr algn="ctr">
                        <a:defRPr sz="900" b="1">
                          <a:solidFill>
                            <a:srgbClr val="000000"/>
                          </a:solidFill>
                          <a:latin typeface="Montserrat"/>
                        </a:defRPr>
                      </a:pPr>
                      <a:r>
                        <a:t>3%</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95,583</a:t>
                      </a:r>
                    </a:p>
                  </a:txBody>
                  <a:tcPr>
                    <a:solidFill>
                      <a:srgbClr val="FFFFFF"/>
                    </a:solidFill>
                  </a:tcPr>
                </a:tc>
                <a:tc>
                  <a:txBody>
                    <a:bodyPr/>
                    <a:lstStyle/>
                    <a:p>
                      <a:pPr algn="ctr">
                        <a:defRPr sz="900">
                          <a:solidFill>
                            <a:srgbClr val="000000"/>
                          </a:solidFill>
                          <a:latin typeface="Montserrat"/>
                        </a:defRPr>
                      </a:pPr>
                      <a:r>
                        <a:t>104,705</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149,682</a:t>
                      </a:r>
                    </a:p>
                  </a:txBody>
                  <a:tcPr>
                    <a:solidFill>
                      <a:srgbClr val="FFFFFF"/>
                    </a:solidFill>
                  </a:tcPr>
                </a:tc>
                <a:tc>
                  <a:txBody>
                    <a:bodyPr/>
                    <a:lstStyle/>
                    <a:p>
                      <a:pPr algn="ctr">
                        <a:defRPr sz="900">
                          <a:solidFill>
                            <a:srgbClr val="000000"/>
                          </a:solidFill>
                          <a:latin typeface="Montserrat"/>
                        </a:defRPr>
                      </a:pPr>
                      <a:r>
                        <a:t>133,555</a:t>
                      </a:r>
                    </a:p>
                  </a:txBody>
                  <a:tcPr>
                    <a:solidFill>
                      <a:srgbClr val="FFFFFF"/>
                    </a:solidFill>
                  </a:tcPr>
                </a:tc>
                <a:tc>
                  <a:txBody>
                    <a:bodyPr/>
                    <a:lstStyle/>
                    <a:p>
                      <a:pPr algn="ctr">
                        <a:defRPr sz="900">
                          <a:solidFill>
                            <a:srgbClr val="000000"/>
                          </a:solidFill>
                          <a:latin typeface="Montserrat"/>
                        </a:defRPr>
                      </a:pPr>
                      <a:r>
                        <a:t>-11%</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45,762</a:t>
                      </a:r>
                    </a:p>
                  </a:txBody>
                  <a:tcPr>
                    <a:solidFill>
                      <a:srgbClr val="FFFFFF"/>
                    </a:solidFill>
                  </a:tcPr>
                </a:tc>
                <a:tc>
                  <a:txBody>
                    <a:bodyPr/>
                    <a:lstStyle/>
                    <a:p>
                      <a:pPr algn="ctr">
                        <a:defRPr sz="900">
                          <a:solidFill>
                            <a:srgbClr val="000000"/>
                          </a:solidFill>
                          <a:latin typeface="Montserrat"/>
                        </a:defRPr>
                      </a:pPr>
                      <a:r>
                        <a:t>62,727</a:t>
                      </a:r>
                    </a:p>
                  </a:txBody>
                  <a:tcPr>
                    <a:solidFill>
                      <a:srgbClr val="FFFFFF"/>
                    </a:solidFill>
                  </a:tcPr>
                </a:tc>
                <a:tc>
                  <a:txBody>
                    <a:bodyPr/>
                    <a:lstStyle/>
                    <a:p>
                      <a:pPr algn="ctr">
                        <a:defRPr sz="900">
                          <a:solidFill>
                            <a:srgbClr val="000000"/>
                          </a:solidFill>
                          <a:latin typeface="Montserrat"/>
                        </a:defRPr>
                      </a:pPr>
                      <a:r>
                        <a:t>37%</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261</a:t>
                      </a:r>
                    </a:p>
                  </a:txBody>
                  <a:tcPr>
                    <a:solidFill>
                      <a:srgbClr val="F8F4EC"/>
                    </a:solidFill>
                  </a:tcPr>
                </a:tc>
                <a:tc>
                  <a:txBody>
                    <a:bodyPr/>
                    <a:lstStyle/>
                    <a:p>
                      <a:pPr algn="ctr">
                        <a:defRPr b="1" sz="900">
                          <a:latin typeface="Montserrat"/>
                        </a:defRPr>
                      </a:pPr>
                      <a:r>
                        <a:t>245</a:t>
                      </a:r>
                    </a:p>
                  </a:txBody>
                  <a:tcPr>
                    <a:solidFill>
                      <a:srgbClr val="F8F4EC"/>
                    </a:solidFill>
                  </a:tcPr>
                </a:tc>
                <a:tc>
                  <a:txBody>
                    <a:bodyPr/>
                    <a:lstStyle/>
                    <a:p>
                      <a:pPr algn="ctr">
                        <a:defRPr b="1" sz="900">
                          <a:solidFill>
                            <a:srgbClr val="A61C00"/>
                          </a:solidFill>
                          <a:latin typeface="Montserrat"/>
                        </a:defRPr>
                      </a:pPr>
                      <a:r>
                        <a:t>-6%</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2,534</a:t>
                      </a:r>
                    </a:p>
                  </a:txBody>
                  <a:tcPr>
                    <a:solidFill>
                      <a:srgbClr val="F8F4EC"/>
                    </a:solidFill>
                  </a:tcPr>
                </a:tc>
                <a:tc>
                  <a:txBody>
                    <a:bodyPr/>
                    <a:lstStyle/>
                    <a:p>
                      <a:pPr algn="ctr">
                        <a:defRPr b="1" sz="900">
                          <a:latin typeface="Montserrat"/>
                        </a:defRPr>
                      </a:pPr>
                      <a:r>
                        <a:t>3,473</a:t>
                      </a:r>
                    </a:p>
                  </a:txBody>
                  <a:tcPr>
                    <a:solidFill>
                      <a:srgbClr val="F8F4EC"/>
                    </a:solidFill>
                  </a:tcPr>
                </a:tc>
                <a:tc>
                  <a:txBody>
                    <a:bodyPr/>
                    <a:lstStyle/>
                    <a:p>
                      <a:pPr algn="ctr">
                        <a:defRPr b="1" sz="900">
                          <a:latin typeface="Montserrat"/>
                        </a:defRPr>
                      </a:pPr>
                      <a:r>
                        <a:t>37%</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32_zac.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35</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305</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176</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305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192</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141</a:t>
                      </a:r>
                    </a:p>
                  </a:txBody>
                  <a:tcPr marL="10800" marR="10800" marT="10800" marB="10800" anchor="ctr">
                    <a:solidFill>
                      <a:srgbClr val="FFFFFF"/>
                    </a:solidFill>
                  </a:tcPr>
                </a:tc>
                <a:tc>
                  <a:txBody>
                    <a:bodyPr/>
                    <a:lstStyle/>
                    <a:p>
                      <a:pPr algn="ctr">
                        <a:defRPr sz="1000">
                          <a:solidFill>
                            <a:srgbClr val="000000"/>
                          </a:solidFill>
                          <a:latin typeface="Montserrat"/>
                        </a:defRPr>
                      </a:pPr>
                      <a:r>
                        <a:t>160</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6</a:t>
                      </a:r>
                    </a:p>
                  </a:txBody>
                  <a:tcPr marL="10800" marR="10800" marT="10800" marB="10800" anchor="ctr">
                    <a:solidFill>
                      <a:srgbClr val="EFEFEF"/>
                    </a:solidFill>
                  </a:tcPr>
                </a:tc>
                <a:tc>
                  <a:txBody>
                    <a:bodyPr/>
                    <a:lstStyle/>
                    <a:p>
                      <a:pPr algn="ctr">
                        <a:defRPr sz="1000">
                          <a:solidFill>
                            <a:srgbClr val="000000"/>
                          </a:solidFill>
                          <a:latin typeface="Montserrat"/>
                        </a:defRPr>
                      </a:pPr>
                      <a:r>
                        <a:t>21</a:t>
                      </a:r>
                    </a:p>
                  </a:txBody>
                  <a:tcPr marL="10800" marR="10800" marT="10800" marB="10800" anchor="ctr">
                    <a:solidFill>
                      <a:srgbClr val="EFEFEF"/>
                    </a:solidFill>
                  </a:tcPr>
                </a:tc>
                <a:tc>
                  <a:txBody>
                    <a:bodyPr/>
                    <a:lstStyle/>
                    <a:p>
                      <a:pPr algn="ctr">
                        <a:defRPr sz="1000">
                          <a:solidFill>
                            <a:srgbClr val="000000"/>
                          </a:solidFill>
                          <a:latin typeface="Montserrat"/>
                        </a:defRPr>
                      </a:pPr>
                      <a:r>
                        <a:t>221</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147</a:t>
                      </a:r>
                    </a:p>
                  </a:txBody>
                  <a:tcPr marL="10800" marR="10800" marT="10800" marB="10800" anchor="ctr">
                    <a:solidFill>
                      <a:srgbClr val="D3E9E7"/>
                    </a:solidFill>
                  </a:tcPr>
                </a:tc>
                <a:tc>
                  <a:txBody>
                    <a:bodyPr/>
                    <a:lstStyle/>
                    <a:p>
                      <a:pPr algn="ctr">
                        <a:defRPr sz="1000" b="1">
                          <a:solidFill>
                            <a:srgbClr val="006556"/>
                          </a:solidFill>
                          <a:latin typeface="Montserrat"/>
                        </a:defRPr>
                      </a:pPr>
                      <a:r>
                        <a:t>181</a:t>
                      </a:r>
                    </a:p>
                  </a:txBody>
                  <a:tcPr marL="10800" marR="10800" marT="10800" marB="10800" anchor="ctr">
                    <a:solidFill>
                      <a:srgbClr val="D3E9E7"/>
                    </a:solidFill>
                  </a:tcPr>
                </a:tc>
                <a:tc>
                  <a:txBody>
                    <a:bodyPr/>
                    <a:lstStyle/>
                    <a:p>
                      <a:pPr algn="ctr">
                        <a:defRPr sz="1000" b="1">
                          <a:solidFill>
                            <a:srgbClr val="006556"/>
                          </a:solidFill>
                          <a:latin typeface="Montserrat"/>
                        </a:defRPr>
                      </a:pPr>
                      <a:r>
                        <a:t>221</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934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934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2934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35 UMF y no incluye 1 Unidades Auxiliares de Medicina Familiar.</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80;g3d0b4d3c5c9_2_20">
            <a:extLst>
              <a:ext uri="{FF2B5EF4-FFF2-40B4-BE49-F238E27FC236}">
                <a16:creationId xmlns:a16="http://schemas.microsoft.com/office/drawing/2014/main" id="{C016641E-9252-F0A7-91A5-859146099534}"/>
              </a:ext>
            </a:extLst>
          </p:cNvPr>
          <p:cNvGraphicFramePr/>
          <p:nvPr>
            <p:extLst>
              <p:ext uri="{D42A27DB-BD31-4B8C-83A1-F6EECF244321}">
                <p14:modId xmlns:p14="http://schemas.microsoft.com/office/powerpoint/2010/main" val="2910665919"/>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Ciudad de Zacatecas</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81;g3d0b4d3c5c9_2_20">
            <a:extLst>
              <a:ext uri="{FF2B5EF4-FFF2-40B4-BE49-F238E27FC236}">
                <a16:creationId xmlns:a16="http://schemas.microsoft.com/office/drawing/2014/main" id="{3F5A7FDF-9878-E275-11D4-E921F5F14008}"/>
              </a:ext>
            </a:extLst>
          </p:cNvPr>
          <p:cNvPicPr preferRelativeResize="0"/>
          <p:nvPr/>
        </p:nvPicPr>
        <p:blipFill>
          <a:blip r:embed="rId4">
            <a:alphaModFix/>
          </a:blip>
          <a:stretch>
            <a:fillRect/>
          </a:stretch>
        </p:blipFill>
        <p:spPr>
          <a:xfrm flipH="1">
            <a:off x="286850" y="2612027"/>
            <a:ext cx="2680925" cy="1474505"/>
          </a:xfrm>
          <a:prstGeom prst="rect">
            <a:avLst/>
          </a:prstGeom>
          <a:noFill/>
          <a:ln>
            <a:noFill/>
          </a:ln>
        </p:spPr>
      </p:pic>
      <p:sp>
        <p:nvSpPr>
          <p:cNvPr id="7" name="CuadroTexto 6">
            <a:extLst>
              <a:ext uri="{FF2B5EF4-FFF2-40B4-BE49-F238E27FC236}">
                <a16:creationId xmlns:a16="http://schemas.microsoft.com/office/drawing/2014/main" id="{7A122D17-67FA-B978-2456-09D75F9EFF71}"/>
              </a:ext>
            </a:extLst>
          </p:cNvPr>
          <p:cNvSpPr txBox="1"/>
          <p:nvPr/>
        </p:nvSpPr>
        <p:spPr>
          <a:xfrm>
            <a:off x="3260035" y="2061748"/>
            <a:ext cx="4356917" cy="2575064"/>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la entidad en 1959. Inicialmente las consultas se otorgaban mediante consulta externa, enfocadas en medicina general y atención básica, a través de unidades médicas pequeñas.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Zacatecas fue la Clínica Hospital del IMSS en la ciudad de Zacatecas, antecesora del actual Hospital General de Zona (HGZ) No. 1, cuya entrada en operaciones ocurrió a inicios de la década de 1960.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En su etapa inicial, la clínica‑hospital contó con capacidad instalada limitada, acorde al perfil de un hospital general básico de la época, y brindó consulta externa, hospitalización general, atención de urgencias, cirugía básica, medicina interna, gineco‑obstetricia y pediatría.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32_ZACATECAS.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1 Zacatecas</a:t>
                      </a:r>
                    </a:p>
                  </a:txBody>
                  <a:tcPr anchor="ctr">
                    <a:solidFill>
                      <a:srgbClr val="FFFFFF"/>
                    </a:solidFill>
                  </a:tcPr>
                </a:tc>
                <a:tc>
                  <a:txBody>
                    <a:bodyPr/>
                    <a:lstStyle/>
                    <a:p>
                      <a:pPr algn="ctr">
                        <a:defRPr sz="900">
                          <a:latin typeface="Montserrat"/>
                        </a:defRPr>
                      </a:pPr>
                      <a:r>
                        <a:t>Abril de 1966</a:t>
                      </a:r>
                    </a:p>
                  </a:txBody>
                  <a:tcPr anchor="ctr">
                    <a:solidFill>
                      <a:srgbClr val="FFFFFF"/>
                    </a:solidFill>
                  </a:tcPr>
                </a:tc>
                <a:tc>
                  <a:txBody>
                    <a:bodyPr/>
                    <a:lstStyle/>
                    <a:p>
                      <a:pPr algn="ctr">
                        <a:defRPr sz="900">
                          <a:latin typeface="Montserrat"/>
                        </a:defRPr>
                      </a:pPr>
                      <a:r>
                        <a:t>179</a:t>
                      </a:r>
                    </a:p>
                  </a:txBody>
                  <a:tcPr anchor="ctr">
                    <a:solidFill>
                      <a:srgbClr val="FFFFFF"/>
                    </a:solidFill>
                  </a:tcPr>
                </a:tc>
                <a:tc>
                  <a:txBody>
                    <a:bodyPr/>
                    <a:lstStyle/>
                    <a:p>
                      <a:pPr algn="ctr">
                        <a:defRPr sz="900">
                          <a:latin typeface="Montserrat"/>
                        </a:defRPr>
                      </a:pPr>
                      <a:r>
                        <a:t>119</a:t>
                      </a:r>
                    </a:p>
                  </a:txBody>
                  <a:tcPr anchor="ctr">
                    <a:solidFill>
                      <a:srgbClr val="FFFFFF"/>
                    </a:solidFill>
                  </a:tcPr>
                </a:tc>
                <a:tc>
                  <a:txBody>
                    <a:bodyPr/>
                    <a:lstStyle/>
                    <a:p>
                      <a:pPr algn="ctr">
                        <a:defRPr sz="900">
                          <a:latin typeface="Montserrat"/>
                        </a:defRPr>
                      </a:pPr>
                      <a:r>
                        <a:t>17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42</a:t>
                      </a:r>
                    </a:p>
                  </a:txBody>
                  <a:tcPr anchor="ctr">
                    <a:solidFill>
                      <a:srgbClr val="FFFFFF"/>
                    </a:solidFill>
                  </a:tcPr>
                </a:tc>
              </a:tr>
              <a:tr h="230400">
                <a:tc>
                  <a:txBody>
                    <a:bodyPr/>
                    <a:lstStyle/>
                    <a:p>
                      <a:pPr algn="l">
                        <a:defRPr sz="900">
                          <a:latin typeface="Montserrat"/>
                        </a:defRPr>
                      </a:pPr>
                      <a:r>
                        <a:t>HGZ 2 Fresnillo</a:t>
                      </a:r>
                    </a:p>
                  </a:txBody>
                  <a:tcPr anchor="ctr">
                    <a:solidFill>
                      <a:srgbClr val="EFEFEF"/>
                    </a:solidFill>
                  </a:tcPr>
                </a:tc>
                <a:tc>
                  <a:txBody>
                    <a:bodyPr/>
                    <a:lstStyle/>
                    <a:p>
                      <a:pPr algn="ctr">
                        <a:defRPr sz="900">
                          <a:latin typeface="Montserrat"/>
                        </a:defRPr>
                      </a:pPr>
                      <a:r>
                        <a:t>Abril de 1976</a:t>
                      </a:r>
                    </a:p>
                  </a:txBody>
                  <a:tcPr anchor="ctr">
                    <a:solidFill>
                      <a:srgbClr val="EFEFEF"/>
                    </a:solidFill>
                  </a:tcPr>
                </a:tc>
                <a:tc>
                  <a:txBody>
                    <a:bodyPr/>
                    <a:lstStyle/>
                    <a:p>
                      <a:pPr algn="ctr">
                        <a:defRPr sz="900">
                          <a:latin typeface="Montserrat"/>
                        </a:defRPr>
                      </a:pPr>
                      <a:r>
                        <a:t>126</a:t>
                      </a:r>
                    </a:p>
                  </a:txBody>
                  <a:tcPr anchor="ctr">
                    <a:solidFill>
                      <a:srgbClr val="EFEFEF"/>
                    </a:solidFill>
                  </a:tcPr>
                </a:tc>
                <a:tc>
                  <a:txBody>
                    <a:bodyPr/>
                    <a:lstStyle/>
                    <a:p>
                      <a:pPr algn="ctr">
                        <a:defRPr sz="900">
                          <a:latin typeface="Montserrat"/>
                        </a:defRPr>
                      </a:pPr>
                      <a:r>
                        <a:t>57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18</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305</a:t>
                      </a:r>
                    </a:p>
                  </a:txBody>
                  <a:tcPr anchor="ctr">
                    <a:solidFill>
                      <a:srgbClr val="D3E9E7"/>
                    </a:solidFill>
                  </a:tcPr>
                </a:tc>
                <a:tc>
                  <a:txBody>
                    <a:bodyPr/>
                    <a:lstStyle/>
                    <a:p>
                      <a:pPr algn="ctr">
                        <a:defRPr sz="900" b="1">
                          <a:solidFill>
                            <a:srgbClr val="006556"/>
                          </a:solidFill>
                          <a:latin typeface="Montserrat"/>
                        </a:defRPr>
                      </a:pPr>
                      <a:r>
                        <a:t>176</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9</a:t>
                      </a:r>
                    </a:p>
                  </a:txBody>
                  <a:tcPr anchor="ctr">
                    <a:solidFill>
                      <a:srgbClr val="D3E9E7"/>
                    </a:solidFill>
                  </a:tcPr>
                </a:tc>
                <a:tc>
                  <a:txBody>
                    <a:bodyPr/>
                    <a:lstStyle/>
                    <a:p>
                      <a:pPr algn="ctr">
                        <a:defRPr sz="900" b="1">
                          <a:solidFill>
                            <a:srgbClr val="006556"/>
                          </a:solidFill>
                          <a:latin typeface="Montserrat"/>
                        </a:defRPr>
                      </a:pPr>
                      <a:r>
                        <a:t>60</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2F165937-EA2B-66C5-8EEB-255D753E6799}"/>
              </a:ext>
            </a:extLst>
          </p:cNvPr>
          <p:cNvGrpSpPr/>
          <p:nvPr/>
        </p:nvGrpSpPr>
        <p:grpSpPr>
          <a:xfrm>
            <a:off x="0" y="4839085"/>
            <a:ext cx="7772400" cy="4020461"/>
            <a:chOff x="0" y="4839085"/>
            <a:chExt cx="7772400" cy="4020461"/>
          </a:xfrm>
        </p:grpSpPr>
        <p:pic>
          <p:nvPicPr>
            <p:cNvPr id="12" name="Google Shape;387;g3d635d120e2_1_75">
              <a:extLst>
                <a:ext uri="{FF2B5EF4-FFF2-40B4-BE49-F238E27FC236}">
                  <a16:creationId xmlns:a16="http://schemas.microsoft.com/office/drawing/2014/main" id="{BF61E68E-8796-C189-1D02-521225D43C03}"/>
                </a:ext>
              </a:extLst>
            </p:cNvPr>
            <p:cNvPicPr preferRelativeResize="0"/>
            <p:nvPr/>
          </p:nvPicPr>
          <p:blipFill rotWithShape="1">
            <a:blip r:embed="rId4">
              <a:alphaModFix/>
            </a:blip>
            <a:srcRect/>
            <a:stretch/>
          </p:blipFill>
          <p:spPr>
            <a:xfrm>
              <a:off x="845476" y="5574446"/>
              <a:ext cx="2651303" cy="2056648"/>
            </a:xfrm>
            <a:prstGeom prst="rect">
              <a:avLst/>
            </a:prstGeom>
            <a:noFill/>
            <a:ln>
              <a:noFill/>
            </a:ln>
          </p:spPr>
        </p:pic>
        <p:pic>
          <p:nvPicPr>
            <p:cNvPr id="13" name="Google Shape;388;g3d635d120e2_1_75">
              <a:extLst>
                <a:ext uri="{FF2B5EF4-FFF2-40B4-BE49-F238E27FC236}">
                  <a16:creationId xmlns:a16="http://schemas.microsoft.com/office/drawing/2014/main" id="{85E0939D-1D45-FA2B-C96C-E4049B8DC898}"/>
                </a:ext>
              </a:extLst>
            </p:cNvPr>
            <p:cNvPicPr preferRelativeResize="0"/>
            <p:nvPr/>
          </p:nvPicPr>
          <p:blipFill rotWithShape="1">
            <a:blip r:embed="rId5">
              <a:alphaModFix/>
            </a:blip>
            <a:srcRect/>
            <a:stretch/>
          </p:blipFill>
          <p:spPr>
            <a:xfrm>
              <a:off x="3810904" y="5653296"/>
              <a:ext cx="3099000" cy="1985044"/>
            </a:xfrm>
            <a:prstGeom prst="rect">
              <a:avLst/>
            </a:prstGeom>
            <a:noFill/>
            <a:ln>
              <a:noFill/>
            </a:ln>
          </p:spPr>
        </p:pic>
        <p:sp>
          <p:nvSpPr>
            <p:cNvPr id="14" name="Google Shape;389;g3d635d120e2_1_75">
              <a:extLst>
                <a:ext uri="{FF2B5EF4-FFF2-40B4-BE49-F238E27FC236}">
                  <a16:creationId xmlns:a16="http://schemas.microsoft.com/office/drawing/2014/main" id="{0E35FB57-78A5-3E68-6842-5AF8B0E961DF}"/>
                </a:ext>
              </a:extLst>
            </p:cNvPr>
            <p:cNvSpPr/>
            <p:nvPr/>
          </p:nvSpPr>
          <p:spPr>
            <a:xfrm>
              <a:off x="998904" y="7513796"/>
              <a:ext cx="540600" cy="489600"/>
            </a:xfrm>
            <a:prstGeom prst="rect">
              <a:avLst/>
            </a:prstGeom>
            <a:gradFill>
              <a:gsLst>
                <a:gs pos="0">
                  <a:srgbClr val="691932"/>
                </a:gs>
                <a:gs pos="100000">
                  <a:srgbClr val="A42145"/>
                </a:gs>
              </a:gsLst>
              <a:lin ang="8099331" scaled="0"/>
            </a:gradFill>
            <a:ln>
              <a:noFill/>
            </a:ln>
          </p:spPr>
          <p:txBody>
            <a:bodyPr spcFirstLastPara="1" wrap="square" lIns="115575" tIns="115575" rIns="115575" bIns="115575" anchor="ctr" anchorCtr="0">
              <a:noAutofit/>
            </a:bodyPr>
            <a:lstStyle/>
            <a:p>
              <a:pPr marL="0" marR="0" lvl="0" indent="0" algn="ctr" rtl="0">
                <a:lnSpc>
                  <a:spcPct val="100000"/>
                </a:lnSpc>
                <a:spcBef>
                  <a:spcPts val="0"/>
                </a:spcBef>
                <a:spcAft>
                  <a:spcPts val="0"/>
                </a:spcAft>
                <a:buClr>
                  <a:srgbClr val="000000"/>
                </a:buClr>
                <a:buSzPts val="1770"/>
                <a:buFont typeface="Arial"/>
                <a:buNone/>
              </a:pPr>
              <a:r>
                <a:rPr lang="es" sz="1770">
                  <a:solidFill>
                    <a:srgbClr val="FFFFFF"/>
                  </a:solidFill>
                  <a:latin typeface="Noto Sans Black"/>
                  <a:ea typeface="Noto Sans Black"/>
                  <a:cs typeface="Noto Sans Black"/>
                  <a:sym typeface="Noto Sans Black"/>
                </a:rPr>
                <a:t>2</a:t>
              </a:r>
              <a:endParaRPr sz="1770" b="0" i="0" u="none" strike="noStrike" cap="none">
                <a:solidFill>
                  <a:srgbClr val="FFFFFF"/>
                </a:solidFill>
                <a:latin typeface="Noto Sans Black"/>
                <a:ea typeface="Noto Sans Black"/>
                <a:cs typeface="Noto Sans Black"/>
                <a:sym typeface="Noto Sans Black"/>
              </a:endParaRPr>
            </a:p>
          </p:txBody>
        </p:sp>
        <p:sp>
          <p:nvSpPr>
            <p:cNvPr id="15" name="Google Shape;390;g3d635d120e2_1_75">
              <a:extLst>
                <a:ext uri="{FF2B5EF4-FFF2-40B4-BE49-F238E27FC236}">
                  <a16:creationId xmlns:a16="http://schemas.microsoft.com/office/drawing/2014/main" id="{77E7161E-54F6-44F5-3372-A8375329FBBC}"/>
                </a:ext>
              </a:extLst>
            </p:cNvPr>
            <p:cNvSpPr/>
            <p:nvPr/>
          </p:nvSpPr>
          <p:spPr>
            <a:xfrm>
              <a:off x="1539269" y="7517874"/>
              <a:ext cx="1917000" cy="481500"/>
            </a:xfrm>
            <a:prstGeom prst="rect">
              <a:avLst/>
            </a:prstGeom>
            <a:gradFill>
              <a:gsLst>
                <a:gs pos="0">
                  <a:srgbClr val="006455"/>
                </a:gs>
                <a:gs pos="100000">
                  <a:srgbClr val="1C342D"/>
                </a:gs>
              </a:gsLst>
              <a:lin ang="8099331" scaled="0"/>
            </a:gradFill>
            <a:ln>
              <a:noFill/>
            </a:ln>
          </p:spPr>
          <p:txBody>
            <a:bodyPr spcFirstLastPara="1" wrap="square" lIns="115575" tIns="115575" rIns="115575" bIns="115575" anchor="ctr" anchorCtr="0">
              <a:noAutofit/>
            </a:bodyPr>
            <a:lstStyle/>
            <a:p>
              <a:pPr marL="0" marR="0" lvl="0" indent="0" algn="ctr" rtl="0">
                <a:lnSpc>
                  <a:spcPct val="100000"/>
                </a:lnSpc>
                <a:spcBef>
                  <a:spcPts val="0"/>
                </a:spcBef>
                <a:spcAft>
                  <a:spcPts val="0"/>
                </a:spcAft>
                <a:buClr>
                  <a:srgbClr val="000000"/>
                </a:buClr>
                <a:buSzPts val="1643"/>
                <a:buFont typeface="Arial"/>
                <a:buNone/>
              </a:pPr>
              <a:r>
                <a:rPr lang="es" sz="1643" b="1" i="0" u="none" strike="noStrike" cap="none">
                  <a:solidFill>
                    <a:srgbClr val="FFFFFF"/>
                  </a:solidFill>
                  <a:latin typeface="Montserrat"/>
                  <a:ea typeface="Montserrat"/>
                  <a:cs typeface="Montserrat"/>
                  <a:sym typeface="Montserrat"/>
                </a:rPr>
                <a:t>Tomógrafos</a:t>
              </a:r>
              <a:endParaRPr sz="1390" b="0" i="0" u="none" strike="noStrike" cap="none">
                <a:solidFill>
                  <a:srgbClr val="FFFFFF"/>
                </a:solidFill>
                <a:latin typeface="Arial"/>
                <a:ea typeface="Arial"/>
                <a:cs typeface="Arial"/>
                <a:sym typeface="Arial"/>
              </a:endParaRPr>
            </a:p>
          </p:txBody>
        </p:sp>
        <p:grpSp>
          <p:nvGrpSpPr>
            <p:cNvPr id="16" name="Google Shape;392;g3d635d120e2_1_75">
              <a:extLst>
                <a:ext uri="{FF2B5EF4-FFF2-40B4-BE49-F238E27FC236}">
                  <a16:creationId xmlns:a16="http://schemas.microsoft.com/office/drawing/2014/main" id="{BADDDAEF-D4B6-0D52-7488-93CE5651C542}"/>
                </a:ext>
              </a:extLst>
            </p:cNvPr>
            <p:cNvGrpSpPr/>
            <p:nvPr/>
          </p:nvGrpSpPr>
          <p:grpSpPr>
            <a:xfrm>
              <a:off x="4017761" y="7491211"/>
              <a:ext cx="2828512" cy="464820"/>
              <a:chOff x="4538448" y="7426607"/>
              <a:chExt cx="2097525" cy="381000"/>
            </a:xfrm>
          </p:grpSpPr>
          <p:sp>
            <p:nvSpPr>
              <p:cNvPr id="17" name="Google Shape;393;g3d635d120e2_1_75">
                <a:extLst>
                  <a:ext uri="{FF2B5EF4-FFF2-40B4-BE49-F238E27FC236}">
                    <a16:creationId xmlns:a16="http://schemas.microsoft.com/office/drawing/2014/main" id="{FD4D91E5-D107-D3B7-E651-96BD25F07EEF}"/>
                  </a:ext>
                </a:extLst>
              </p:cNvPr>
              <p:cNvSpPr/>
              <p:nvPr/>
            </p:nvSpPr>
            <p:spPr>
              <a:xfrm>
                <a:off x="4538448" y="7426607"/>
                <a:ext cx="454200" cy="381000"/>
              </a:xfrm>
              <a:prstGeom prst="rect">
                <a:avLst/>
              </a:prstGeom>
              <a:gradFill>
                <a:gsLst>
                  <a:gs pos="0">
                    <a:srgbClr val="691932"/>
                  </a:gs>
                  <a:gs pos="100000">
                    <a:srgbClr val="A42145"/>
                  </a:gs>
                </a:gsLst>
                <a:lin ang="8099331" scaled="0"/>
              </a:gradFill>
              <a:ln>
                <a:noFill/>
              </a:ln>
            </p:spPr>
            <p:txBody>
              <a:bodyPr spcFirstLastPara="1" wrap="square" lIns="111550" tIns="111550" rIns="111550" bIns="111550" anchor="ctr" anchorCtr="0">
                <a:noAutofit/>
              </a:bodyPr>
              <a:lstStyle/>
              <a:p>
                <a:pPr marL="0" marR="0" lvl="0" indent="0" algn="ctr" rtl="0">
                  <a:lnSpc>
                    <a:spcPct val="100000"/>
                  </a:lnSpc>
                  <a:spcBef>
                    <a:spcPts val="0"/>
                  </a:spcBef>
                  <a:spcAft>
                    <a:spcPts val="0"/>
                  </a:spcAft>
                  <a:buClr>
                    <a:srgbClr val="000000"/>
                  </a:buClr>
                  <a:buSzPts val="1708"/>
                  <a:buFont typeface="Arial"/>
                  <a:buNone/>
                </a:pPr>
                <a:r>
                  <a:rPr lang="es" sz="1708">
                    <a:solidFill>
                      <a:srgbClr val="FFFFFF"/>
                    </a:solidFill>
                    <a:latin typeface="Noto Sans Black"/>
                    <a:ea typeface="Noto Sans Black"/>
                    <a:cs typeface="Noto Sans Black"/>
                    <a:sym typeface="Noto Sans Black"/>
                  </a:rPr>
                  <a:t>2</a:t>
                </a:r>
                <a:endParaRPr sz="1708" b="0" i="0" u="none" strike="noStrike" cap="none">
                  <a:solidFill>
                    <a:srgbClr val="FFFFFF"/>
                  </a:solidFill>
                  <a:latin typeface="Noto Sans Black"/>
                  <a:ea typeface="Noto Sans Black"/>
                  <a:cs typeface="Noto Sans Black"/>
                  <a:sym typeface="Noto Sans Black"/>
                </a:endParaRPr>
              </a:p>
            </p:txBody>
          </p:sp>
          <p:sp>
            <p:nvSpPr>
              <p:cNvPr id="18" name="Google Shape;394;g3d635d120e2_1_75">
                <a:extLst>
                  <a:ext uri="{FF2B5EF4-FFF2-40B4-BE49-F238E27FC236}">
                    <a16:creationId xmlns:a16="http://schemas.microsoft.com/office/drawing/2014/main" id="{493D5A78-68DF-8CDE-88B9-CC8136F8EBFB}"/>
                  </a:ext>
                </a:extLst>
              </p:cNvPr>
              <p:cNvSpPr/>
              <p:nvPr/>
            </p:nvSpPr>
            <p:spPr>
              <a:xfrm>
                <a:off x="5002173" y="7426607"/>
                <a:ext cx="1633800" cy="381000"/>
              </a:xfrm>
              <a:prstGeom prst="rect">
                <a:avLst/>
              </a:prstGeom>
              <a:gradFill>
                <a:gsLst>
                  <a:gs pos="0">
                    <a:srgbClr val="006455"/>
                  </a:gs>
                  <a:gs pos="100000">
                    <a:srgbClr val="1C342D"/>
                  </a:gs>
                </a:gsLst>
                <a:lin ang="8099331" scaled="0"/>
              </a:gradFill>
              <a:ln>
                <a:noFill/>
              </a:ln>
            </p:spPr>
            <p:txBody>
              <a:bodyPr spcFirstLastPara="1" wrap="square" lIns="111550" tIns="111550" rIns="111550" bIns="111550" anchor="ctr" anchorCtr="0">
                <a:noAutofit/>
              </a:bodyPr>
              <a:lstStyle/>
              <a:p>
                <a:pPr marL="0" marR="0" lvl="0" indent="0" algn="ctr" rtl="0">
                  <a:lnSpc>
                    <a:spcPct val="100000"/>
                  </a:lnSpc>
                  <a:spcBef>
                    <a:spcPts val="0"/>
                  </a:spcBef>
                  <a:spcAft>
                    <a:spcPts val="0"/>
                  </a:spcAft>
                  <a:buClr>
                    <a:srgbClr val="000000"/>
                  </a:buClr>
                  <a:buSzPts val="1586"/>
                  <a:buFont typeface="Arial"/>
                  <a:buNone/>
                </a:pPr>
                <a:r>
                  <a:rPr lang="es" sz="1586" b="1" i="0" u="none" strike="noStrike" cap="none">
                    <a:solidFill>
                      <a:srgbClr val="FFFFFF"/>
                    </a:solidFill>
                    <a:latin typeface="Montserrat"/>
                    <a:ea typeface="Montserrat"/>
                    <a:cs typeface="Montserrat"/>
                    <a:sym typeface="Montserrat"/>
                  </a:rPr>
                  <a:t>Mastógrafos</a:t>
                </a:r>
                <a:endParaRPr sz="1342" b="0" i="0" u="none" strike="noStrike" cap="none">
                  <a:solidFill>
                    <a:srgbClr val="FFFFFF"/>
                  </a:solidFill>
                  <a:latin typeface="Arial"/>
                  <a:ea typeface="Arial"/>
                  <a:cs typeface="Arial"/>
                  <a:sym typeface="Arial"/>
                </a:endParaRPr>
              </a:p>
            </p:txBody>
          </p:sp>
        </p:grpSp>
        <p:sp>
          <p:nvSpPr>
            <p:cNvPr id="19" name="Google Shape;395;g3d635d120e2_1_75">
              <a:extLst>
                <a:ext uri="{FF2B5EF4-FFF2-40B4-BE49-F238E27FC236}">
                  <a16:creationId xmlns:a16="http://schemas.microsoft.com/office/drawing/2014/main" id="{4645C453-D026-38B5-2031-0116FCE04D38}"/>
                </a:ext>
              </a:extLst>
            </p:cNvPr>
            <p:cNvSpPr txBox="1"/>
            <p:nvPr/>
          </p:nvSpPr>
          <p:spPr>
            <a:xfrm>
              <a:off x="0" y="4839085"/>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20" name="Google Shape;396;g3d635d120e2_1_75">
              <a:extLst>
                <a:ext uri="{FF2B5EF4-FFF2-40B4-BE49-F238E27FC236}">
                  <a16:creationId xmlns:a16="http://schemas.microsoft.com/office/drawing/2014/main" id="{7109BB45-4963-DEBC-0918-D52BB229464E}"/>
                </a:ext>
              </a:extLst>
            </p:cNvPr>
            <p:cNvSpPr txBox="1"/>
            <p:nvPr/>
          </p:nvSpPr>
          <p:spPr>
            <a:xfrm>
              <a:off x="4017761" y="8214784"/>
              <a:ext cx="3000000" cy="644762"/>
            </a:xfrm>
            <a:prstGeom prst="rect">
              <a:avLst/>
            </a:prstGeom>
            <a:noFill/>
            <a:ln>
              <a:noFill/>
            </a:ln>
          </p:spPr>
          <p:txBody>
            <a:bodyPr spcFirstLastPara="1" wrap="square" lIns="91425" tIns="91425" rIns="91425" bIns="91425" anchor="t" anchorCtr="0">
              <a:spAutoFit/>
            </a:bodyPr>
            <a:lstStyle/>
            <a:p>
              <a:pPr marL="0" marR="50800" lvl="0" indent="0" algn="ctr" rtl="0">
                <a:lnSpc>
                  <a:spcPct val="115000"/>
                </a:lnSpc>
                <a:spcBef>
                  <a:spcPts val="0"/>
                </a:spcBef>
                <a:spcAft>
                  <a:spcPts val="0"/>
                </a:spcAft>
                <a:buNone/>
              </a:pPr>
              <a:r>
                <a:rPr lang="es" sz="1300" dirty="0">
                  <a:solidFill>
                    <a:srgbClr val="434343"/>
                  </a:solidFill>
                  <a:latin typeface="Montserrat"/>
                  <a:ea typeface="Montserrat"/>
                  <a:cs typeface="Montserrat"/>
                  <a:sym typeface="Montserrat"/>
                </a:rPr>
                <a:t>HGZ 2 Fresnillo, HGZ 1 Zacatecas</a:t>
              </a:r>
            </a:p>
            <a:p>
              <a:pPr marL="0" marR="50800" lvl="0" indent="0" algn="ctr" rtl="0">
                <a:lnSpc>
                  <a:spcPct val="115000"/>
                </a:lnSpc>
                <a:spcBef>
                  <a:spcPts val="0"/>
                </a:spcBef>
                <a:spcAft>
                  <a:spcPts val="0"/>
                </a:spcAft>
                <a:buNone/>
              </a:pPr>
              <a:r>
                <a:rPr lang="es" sz="1300" b="1" dirty="0">
                  <a:solidFill>
                    <a:srgbClr val="434343"/>
                  </a:solidFill>
                  <a:latin typeface="Montserrat"/>
                  <a:ea typeface="Montserrat"/>
                  <a:cs typeface="Montserrat"/>
                  <a:sym typeface="Montserrat"/>
                </a:rPr>
                <a:t>$8.6 mdp</a:t>
              </a:r>
              <a:endParaRPr sz="1300" b="1" dirty="0">
                <a:solidFill>
                  <a:srgbClr val="434343"/>
                </a:solidFill>
                <a:latin typeface="Montserrat"/>
                <a:ea typeface="Montserrat"/>
                <a:cs typeface="Montserrat"/>
                <a:sym typeface="Montserrat"/>
              </a:endParaRPr>
            </a:p>
          </p:txBody>
        </p:sp>
        <p:sp>
          <p:nvSpPr>
            <p:cNvPr id="21" name="Google Shape;397;g3d635d120e2_1_75">
              <a:extLst>
                <a:ext uri="{FF2B5EF4-FFF2-40B4-BE49-F238E27FC236}">
                  <a16:creationId xmlns:a16="http://schemas.microsoft.com/office/drawing/2014/main" id="{059D5CCF-4CC7-33A0-29A0-8FD40FAE12EE}"/>
                </a:ext>
              </a:extLst>
            </p:cNvPr>
            <p:cNvSpPr txBox="1"/>
            <p:nvPr/>
          </p:nvSpPr>
          <p:spPr>
            <a:xfrm>
              <a:off x="811136" y="8213409"/>
              <a:ext cx="3000000" cy="644762"/>
            </a:xfrm>
            <a:prstGeom prst="rect">
              <a:avLst/>
            </a:prstGeom>
            <a:noFill/>
            <a:ln>
              <a:noFill/>
            </a:ln>
          </p:spPr>
          <p:txBody>
            <a:bodyPr spcFirstLastPara="1" wrap="square" lIns="91425" tIns="91425" rIns="91425" bIns="91425" anchor="t" anchorCtr="0">
              <a:spAutoFit/>
            </a:bodyPr>
            <a:lstStyle/>
            <a:p>
              <a:pPr marL="0" marR="50800" lvl="0" indent="0" algn="ctr" rtl="0">
                <a:lnSpc>
                  <a:spcPct val="115000"/>
                </a:lnSpc>
                <a:spcBef>
                  <a:spcPts val="0"/>
                </a:spcBef>
                <a:spcAft>
                  <a:spcPts val="0"/>
                </a:spcAft>
                <a:buNone/>
              </a:pPr>
              <a:r>
                <a:rPr lang="es" sz="1300" dirty="0">
                  <a:solidFill>
                    <a:srgbClr val="434343"/>
                  </a:solidFill>
                  <a:latin typeface="Montserrat"/>
                  <a:ea typeface="Montserrat"/>
                  <a:cs typeface="Montserrat"/>
                  <a:sym typeface="Montserrat"/>
                </a:rPr>
                <a:t>HGZ 2 Fresnillo, HGZ 1 Zacatecas</a:t>
              </a:r>
            </a:p>
            <a:p>
              <a:pPr marL="0" marR="50800" lvl="0" indent="0" algn="ctr" rtl="0">
                <a:lnSpc>
                  <a:spcPct val="115000"/>
                </a:lnSpc>
                <a:spcBef>
                  <a:spcPts val="0"/>
                </a:spcBef>
                <a:spcAft>
                  <a:spcPts val="0"/>
                </a:spcAft>
                <a:buNone/>
              </a:pPr>
              <a:r>
                <a:rPr lang="es" sz="1300" b="1" dirty="0">
                  <a:solidFill>
                    <a:srgbClr val="434343"/>
                  </a:solidFill>
                  <a:latin typeface="Montserrat"/>
                  <a:ea typeface="Montserrat"/>
                  <a:cs typeface="Montserrat"/>
                  <a:sym typeface="Montserrat"/>
                </a:rPr>
                <a:t>$59.3 mdp</a:t>
              </a:r>
              <a:endParaRPr sz="1300" b="1" dirty="0">
                <a:solidFill>
                  <a:srgbClr val="434343"/>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154" name="Table 153"/>
          <p:cNvGraphicFramePr>
            <a:graphicFrameLocks noGrp="1"/>
          </p:cNvGraphicFramePr>
          <p:nvPr/>
        </p:nvGraphicFramePr>
        <p:xfrm>
          <a:off x="93600" y="11808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1 Zacatecas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9</a:t>
                      </a:r>
                    </a:p>
                  </a:txBody>
                  <a:tcPr>
                    <a:solidFill>
                      <a:srgbClr val="E6D194"/>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2 Fresnillo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18</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27</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47052577"/>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52D85E12-2F55-73C2-40D0-C09B8EDC2A10}"/>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7CABC0D7-9FFD-109F-4280-B32D38B4E70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28089C5-233F-CF95-6723-572CDD5E4EA3}"/>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C5C952E5-8641-497F-3335-B8DE4C7679FB}"/>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A5C7801B-D5D6-9087-F305-1384EB865FC7}"/>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21BC1AC6-1D65-1362-00D6-53E06C1A4FD1}"/>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C305389A-E248-5D36-3CF1-0E0A39DEF751}"/>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+337</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+183,729</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+31,654</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1,233,742</a:t>
                      </a:r>
                    </a:p>
                  </a:txBody>
                  <a:tcPr marL="0" marR="0" marT="0" marB="0" anchor="ctr">
                    <a:solidFill>
                      <a:srgbClr val="FFFFFF"/>
                    </a:solidFill>
                  </a:tcPr>
                </a:tc>
                <a:tc>
                  <a:txBody>
                    <a:bodyPr/>
                    <a:lstStyle/>
                    <a:p>
                      <a:pPr algn="ctr">
                        <a:defRPr sz="1000">
                          <a:solidFill>
                            <a:srgbClr val="404040"/>
                          </a:solidFill>
                          <a:latin typeface="Montserrat"/>
                        </a:defRPr>
                      </a:pPr>
                      <a:r>
                        <a:t>183,729</a:t>
                      </a:r>
                    </a:p>
                  </a:txBody>
                  <a:tcPr marL="0" marR="0" marT="0" marB="0" anchor="ctr">
                    <a:solidFill>
                      <a:srgbClr val="FFFFFF"/>
                    </a:solidFill>
                  </a:tcPr>
                </a:tc>
                <a:tc>
                  <a:txBody>
                    <a:bodyPr/>
                    <a:lstStyle/>
                    <a:p>
                      <a:pPr algn="ctr">
                        <a:defRPr sz="1000" b="1">
                          <a:solidFill>
                            <a:srgbClr val="980000"/>
                          </a:solidFill>
                          <a:latin typeface="Montserrat"/>
                        </a:defRPr>
                      </a:pPr>
                      <a:r>
                        <a:t>424,478</a:t>
                      </a:r>
                    </a:p>
                  </a:txBody>
                  <a:tcPr marL="0" marR="0" marT="0" marB="0" anchor="ctr">
                    <a:solidFill>
                      <a:srgbClr val="ECD3D9"/>
                    </a:solidFill>
                  </a:tcPr>
                </a:tc>
                <a:tc>
                  <a:txBody>
                    <a:bodyPr/>
                    <a:lstStyle/>
                    <a:p>
                      <a:pPr algn="ctr">
                        <a:defRPr sz="1000" b="1">
                          <a:solidFill>
                            <a:srgbClr val="980000"/>
                          </a:solidFill>
                          <a:latin typeface="Montserrat"/>
                        </a:defRPr>
                      </a:pPr>
                      <a:r>
                        <a:t>1,282,620</a:t>
                      </a:r>
                    </a:p>
                  </a:txBody>
                  <a:tcPr marL="0" marR="0" marT="0" marB="0" anchor="ctr">
                    <a:solidFill>
                      <a:srgbClr val="ECD3D9"/>
                    </a:solidFill>
                  </a:tcPr>
                </a:tc>
                <a:tc>
                  <a:txBody>
                    <a:bodyPr/>
                    <a:lstStyle/>
                    <a:p>
                      <a:pPr algn="ctr">
                        <a:defRPr sz="1000" b="1">
                          <a:solidFill>
                            <a:srgbClr val="980000"/>
                          </a:solidFill>
                          <a:latin typeface="Montserrat"/>
                        </a:defRPr>
                      </a:pPr>
                      <a:r>
                        <a:t>33.1%</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256,073</a:t>
                      </a:r>
                    </a:p>
                  </a:txBody>
                  <a:tcPr marL="0" marR="0" marT="0" marB="0" anchor="ctr">
                    <a:solidFill>
                      <a:srgbClr val="EFEFEF"/>
                    </a:solidFill>
                  </a:tcPr>
                </a:tc>
                <a:tc>
                  <a:txBody>
                    <a:bodyPr/>
                    <a:lstStyle/>
                    <a:p>
                      <a:pPr algn="ctr">
                        <a:defRPr sz="1000">
                          <a:solidFill>
                            <a:srgbClr val="404040"/>
                          </a:solidFill>
                          <a:latin typeface="Montserrat"/>
                        </a:defRPr>
                      </a:pPr>
                      <a:r>
                        <a:t>31,654</a:t>
                      </a:r>
                    </a:p>
                  </a:txBody>
                  <a:tcPr marL="0" marR="0" marT="0" marB="0" anchor="ctr">
                    <a:solidFill>
                      <a:srgbClr val="EFEFEF"/>
                    </a:solidFill>
                  </a:tcPr>
                </a:tc>
                <a:tc>
                  <a:txBody>
                    <a:bodyPr/>
                    <a:lstStyle/>
                    <a:p>
                      <a:pPr algn="ctr">
                        <a:defRPr sz="1000" b="1">
                          <a:solidFill>
                            <a:srgbClr val="980000"/>
                          </a:solidFill>
                          <a:latin typeface="Montserrat"/>
                        </a:defRPr>
                      </a:pPr>
                      <a:r>
                        <a:t>91,558</a:t>
                      </a:r>
                    </a:p>
                  </a:txBody>
                  <a:tcPr marL="0" marR="0" marT="0" marB="0" anchor="ctr">
                    <a:solidFill>
                      <a:srgbClr val="F4E3E7"/>
                    </a:solidFill>
                  </a:tcPr>
                </a:tc>
                <a:tc>
                  <a:txBody>
                    <a:bodyPr/>
                    <a:lstStyle/>
                    <a:p>
                      <a:pPr algn="ctr">
                        <a:defRPr sz="1000" b="1">
                          <a:solidFill>
                            <a:srgbClr val="980000"/>
                          </a:solidFill>
                          <a:latin typeface="Montserrat"/>
                        </a:defRPr>
                      </a:pPr>
                      <a:r>
                        <a:t>283,605</a:t>
                      </a:r>
                    </a:p>
                  </a:txBody>
                  <a:tcPr marL="0" marR="0" marT="0" marB="0" anchor="ctr">
                    <a:solidFill>
                      <a:srgbClr val="F4E3E7"/>
                    </a:solidFill>
                  </a:tcPr>
                </a:tc>
                <a:tc>
                  <a:txBody>
                    <a:bodyPr/>
                    <a:lstStyle/>
                    <a:p>
                      <a:pPr algn="ctr">
                        <a:defRPr sz="1000" b="1">
                          <a:solidFill>
                            <a:srgbClr val="980000"/>
                          </a:solidFill>
                          <a:latin typeface="Montserrat"/>
                        </a:defRPr>
                      </a:pPr>
                      <a:r>
                        <a:t>32.3%</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13,010</a:t>
                      </a:r>
                    </a:p>
                  </a:txBody>
                  <a:tcPr marL="0" marR="0" marT="0" marB="0" anchor="ctr">
                    <a:solidFill>
                      <a:srgbClr val="FFFFFF"/>
                    </a:solidFill>
                  </a:tcPr>
                </a:tc>
                <a:tc>
                  <a:txBody>
                    <a:bodyPr/>
                    <a:lstStyle/>
                    <a:p>
                      <a:pPr algn="ctr">
                        <a:defRPr sz="1000">
                          <a:solidFill>
                            <a:srgbClr val="404040"/>
                          </a:solidFill>
                          <a:latin typeface="Montserrat"/>
                        </a:defRPr>
                      </a:pPr>
                      <a:r>
                        <a:t>337</a:t>
                      </a:r>
                    </a:p>
                  </a:txBody>
                  <a:tcPr marL="0" marR="0" marT="0" marB="0" anchor="ctr">
                    <a:solidFill>
                      <a:srgbClr val="FFFFFF"/>
                    </a:solidFill>
                  </a:tcPr>
                </a:tc>
                <a:tc>
                  <a:txBody>
                    <a:bodyPr/>
                    <a:lstStyle/>
                    <a:p>
                      <a:pPr algn="ctr">
                        <a:defRPr sz="1000" b="1">
                          <a:solidFill>
                            <a:srgbClr val="980000"/>
                          </a:solidFill>
                          <a:latin typeface="Montserrat"/>
                        </a:defRPr>
                      </a:pPr>
                      <a:r>
                        <a:t>4,374</a:t>
                      </a:r>
                    </a:p>
                  </a:txBody>
                  <a:tcPr marL="0" marR="0" marT="0" marB="0" anchor="ctr">
                    <a:solidFill>
                      <a:srgbClr val="ECD3D9"/>
                    </a:solidFill>
                  </a:tcPr>
                </a:tc>
                <a:tc>
                  <a:txBody>
                    <a:bodyPr/>
                    <a:lstStyle/>
                    <a:p>
                      <a:pPr algn="ctr">
                        <a:defRPr sz="1000" b="1">
                          <a:solidFill>
                            <a:srgbClr val="980000"/>
                          </a:solidFill>
                          <a:latin typeface="Montserrat"/>
                        </a:defRPr>
                      </a:pPr>
                      <a:r>
                        <a:t>15,005</a:t>
                      </a:r>
                    </a:p>
                  </a:txBody>
                  <a:tcPr marL="0" marR="0" marT="0" marB="0" anchor="ctr">
                    <a:solidFill>
                      <a:srgbClr val="ECD3D9"/>
                    </a:solidFill>
                  </a:tcPr>
                </a:tc>
                <a:tc>
                  <a:txBody>
                    <a:bodyPr/>
                    <a:lstStyle/>
                    <a:p>
                      <a:pPr algn="ctr">
                        <a:defRPr sz="1000" b="1">
                          <a:solidFill>
                            <a:srgbClr val="980000"/>
                          </a:solidFill>
                          <a:latin typeface="Montserrat"/>
                        </a:defRPr>
                      </a:pPr>
                      <a:r>
                        <a:t>29.2%</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140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 Zacatecas</a:t>
                      </a:r>
                    </a:p>
                  </a:txBody>
                  <a:tcPr marL="0" marR="0" marT="0" marB="0">
                    <a:solidFill>
                      <a:srgbClr val="FFFFFF"/>
                    </a:solidFill>
                  </a:tcPr>
                </a:tc>
                <a:tc>
                  <a:txBody>
                    <a:bodyPr/>
                    <a:lstStyle/>
                    <a:p>
                      <a:pPr algn="ctr">
                        <a:defRPr sz="1000">
                          <a:latin typeface="Montserrat"/>
                        </a:defRPr>
                      </a:pPr>
                      <a:r>
                        <a:t>131,371</a:t>
                      </a:r>
                    </a:p>
                  </a:txBody>
                  <a:tcPr marL="0" marR="0" marT="0" marB="0">
                    <a:solidFill>
                      <a:srgbClr val="FFFFFF"/>
                    </a:solidFill>
                  </a:tcPr>
                </a:tc>
                <a:tc>
                  <a:txBody>
                    <a:bodyPr/>
                    <a:lstStyle/>
                    <a:p>
                      <a:pPr algn="ctr">
                        <a:defRPr sz="1000">
                          <a:latin typeface="Montserrat"/>
                        </a:defRPr>
                      </a:pPr>
                      <a:r>
                        <a:t>10,371</a:t>
                      </a:r>
                    </a:p>
                  </a:txBody>
                  <a:tcPr marL="0" marR="0" marT="0" marB="0">
                    <a:solidFill>
                      <a:srgbClr val="FFFFFF"/>
                    </a:solidFill>
                  </a:tcPr>
                </a:tc>
                <a:tc>
                  <a:txBody>
                    <a:bodyPr/>
                    <a:lstStyle/>
                    <a:p>
                      <a:pPr algn="ctr">
                        <a:defRPr sz="1000">
                          <a:latin typeface="Montserrat"/>
                        </a:defRPr>
                      </a:pPr>
                      <a:r>
                        <a:t>42,858</a:t>
                      </a:r>
                    </a:p>
                  </a:txBody>
                  <a:tcPr marL="0" marR="0" marT="0" marB="0">
                    <a:solidFill>
                      <a:srgbClr val="ECD3D9"/>
                    </a:solidFill>
                  </a:tcPr>
                </a:tc>
                <a:tc>
                  <a:txBody>
                    <a:bodyPr/>
                    <a:lstStyle/>
                    <a:p>
                      <a:pPr algn="ctr">
                        <a:defRPr sz="1000">
                          <a:latin typeface="Montserrat"/>
                        </a:defRPr>
                      </a:pPr>
                      <a:r>
                        <a:t>126,000</a:t>
                      </a:r>
                    </a:p>
                  </a:txBody>
                  <a:tcPr marL="0" marR="0" marT="0" marB="0">
                    <a:solidFill>
                      <a:srgbClr val="ECD3D9"/>
                    </a:solidFill>
                  </a:tcPr>
                </a:tc>
                <a:tc>
                  <a:txBody>
                    <a:bodyPr/>
                    <a:lstStyle/>
                    <a:p>
                      <a:pPr algn="ctr">
                        <a:defRPr sz="1000">
                          <a:latin typeface="Montserrat"/>
                        </a:defRPr>
                      </a:pPr>
                      <a:r>
                        <a:t>34.0%</a:t>
                      </a:r>
                    </a:p>
                  </a:txBody>
                  <a:tcPr marL="0" marR="0" marT="0" marB="0">
                    <a:solidFill>
                      <a:srgbClr val="ECD3D9"/>
                    </a:solidFill>
                  </a:tcPr>
                </a:tc>
              </a:tr>
              <a:tr h="151200">
                <a:tc>
                  <a:txBody>
                    <a:bodyPr/>
                    <a:lstStyle/>
                    <a:p>
                      <a:pPr algn="l">
                        <a:defRPr sz="1000">
                          <a:latin typeface="Montserrat"/>
                        </a:defRPr>
                      </a:pPr>
                      <a:r>
                        <a:t>UMF 7 Sombrerete</a:t>
                      </a:r>
                    </a:p>
                  </a:txBody>
                  <a:tcPr marL="0" marR="0" marT="0" marB="0">
                    <a:solidFill>
                      <a:srgbClr val="EFEFEF"/>
                    </a:solidFill>
                  </a:tcPr>
                </a:tc>
                <a:tc>
                  <a:txBody>
                    <a:bodyPr/>
                    <a:lstStyle/>
                    <a:p>
                      <a:pPr algn="ctr">
                        <a:defRPr sz="1000">
                          <a:latin typeface="Montserrat"/>
                        </a:defRPr>
                      </a:pPr>
                      <a:r>
                        <a:t>45,018</a:t>
                      </a:r>
                    </a:p>
                  </a:txBody>
                  <a:tcPr marL="0" marR="0" marT="0" marB="0">
                    <a:solidFill>
                      <a:srgbClr val="EFEFEF"/>
                    </a:solidFill>
                  </a:tcPr>
                </a:tc>
                <a:tc>
                  <a:txBody>
                    <a:bodyPr/>
                    <a:lstStyle/>
                    <a:p>
                      <a:pPr algn="ctr">
                        <a:defRPr sz="1000">
                          <a:latin typeface="Montserrat"/>
                        </a:defRPr>
                      </a:pPr>
                      <a:r>
                        <a:t>5,032</a:t>
                      </a:r>
                    </a:p>
                  </a:txBody>
                  <a:tcPr marL="0" marR="0" marT="0" marB="0">
                    <a:solidFill>
                      <a:srgbClr val="EFEFEF"/>
                    </a:solidFill>
                  </a:tcPr>
                </a:tc>
                <a:tc>
                  <a:txBody>
                    <a:bodyPr/>
                    <a:lstStyle/>
                    <a:p>
                      <a:pPr algn="ctr">
                        <a:defRPr sz="1000">
                          <a:latin typeface="Montserrat"/>
                        </a:defRPr>
                      </a:pPr>
                      <a:r>
                        <a:t>14,336</a:t>
                      </a:r>
                    </a:p>
                  </a:txBody>
                  <a:tcPr marL="0" marR="0" marT="0" marB="0">
                    <a:solidFill>
                      <a:srgbClr val="ECD3D9"/>
                    </a:solidFill>
                  </a:tcPr>
                </a:tc>
                <a:tc>
                  <a:txBody>
                    <a:bodyPr/>
                    <a:lstStyle/>
                    <a:p>
                      <a:pPr algn="ctr">
                        <a:defRPr sz="1000">
                          <a:latin typeface="Montserrat"/>
                        </a:defRPr>
                      </a:pPr>
                      <a:r>
                        <a:t>44,000</a:t>
                      </a:r>
                    </a:p>
                  </a:txBody>
                  <a:tcPr marL="0" marR="0" marT="0" marB="0">
                    <a:solidFill>
                      <a:srgbClr val="ECD3D9"/>
                    </a:solidFill>
                  </a:tcPr>
                </a:tc>
                <a:tc>
                  <a:txBody>
                    <a:bodyPr/>
                    <a:lstStyle/>
                    <a:p>
                      <a:pPr algn="ctr">
                        <a:defRPr sz="1000">
                          <a:latin typeface="Montserrat"/>
                        </a:defRPr>
                      </a:pPr>
                      <a:r>
                        <a:t>32.6%</a:t>
                      </a:r>
                    </a:p>
                  </a:txBody>
                  <a:tcPr marL="0" marR="0" marT="0" marB="0">
                    <a:solidFill>
                      <a:srgbClr val="ECD3D9"/>
                    </a:solidFill>
                  </a:tcPr>
                </a:tc>
              </a:tr>
              <a:tr h="151200">
                <a:tc>
                  <a:txBody>
                    <a:bodyPr/>
                    <a:lstStyle/>
                    <a:p>
                      <a:pPr algn="l">
                        <a:defRPr sz="1000">
                          <a:latin typeface="Montserrat"/>
                        </a:defRPr>
                      </a:pPr>
                      <a:r>
                        <a:t>UMF 3 Guadalupe</a:t>
                      </a:r>
                    </a:p>
                  </a:txBody>
                  <a:tcPr marL="0" marR="0" marT="0" marB="0">
                    <a:solidFill>
                      <a:srgbClr val="FFFFFF"/>
                    </a:solidFill>
                  </a:tcPr>
                </a:tc>
                <a:tc>
                  <a:txBody>
                    <a:bodyPr/>
                    <a:lstStyle/>
                    <a:p>
                      <a:pPr algn="ctr">
                        <a:defRPr sz="1000">
                          <a:latin typeface="Montserrat"/>
                        </a:defRPr>
                      </a:pPr>
                      <a:r>
                        <a:t>67,838</a:t>
                      </a:r>
                    </a:p>
                  </a:txBody>
                  <a:tcPr marL="0" marR="0" marT="0" marB="0">
                    <a:solidFill>
                      <a:srgbClr val="FFFFFF"/>
                    </a:solidFill>
                  </a:tcPr>
                </a:tc>
                <a:tc>
                  <a:txBody>
                    <a:bodyPr/>
                    <a:lstStyle/>
                    <a:p>
                      <a:pPr algn="ctr">
                        <a:defRPr sz="1000">
                          <a:latin typeface="Montserrat"/>
                        </a:defRPr>
                      </a:pPr>
                      <a:r>
                        <a:t>8,135</a:t>
                      </a:r>
                    </a:p>
                  </a:txBody>
                  <a:tcPr marL="0" marR="0" marT="0" marB="0">
                    <a:solidFill>
                      <a:srgbClr val="FFFFFF"/>
                    </a:solidFill>
                  </a:tcPr>
                </a:tc>
                <a:tc>
                  <a:txBody>
                    <a:bodyPr/>
                    <a:lstStyle/>
                    <a:p>
                      <a:pPr algn="ctr">
                        <a:defRPr sz="1000">
                          <a:latin typeface="Montserrat"/>
                        </a:defRPr>
                      </a:pPr>
                      <a:r>
                        <a:t>23,220</a:t>
                      </a:r>
                    </a:p>
                  </a:txBody>
                  <a:tcPr marL="0" marR="0" marT="0" marB="0">
                    <a:solidFill>
                      <a:srgbClr val="ECD3D9"/>
                    </a:solidFill>
                  </a:tcPr>
                </a:tc>
                <a:tc>
                  <a:txBody>
                    <a:bodyPr/>
                    <a:lstStyle/>
                    <a:p>
                      <a:pPr algn="ctr">
                        <a:defRPr sz="1000">
                          <a:latin typeface="Montserrat"/>
                        </a:defRPr>
                      </a:pPr>
                      <a:r>
                        <a:t>66,000</a:t>
                      </a:r>
                    </a:p>
                  </a:txBody>
                  <a:tcPr marL="0" marR="0" marT="0" marB="0">
                    <a:solidFill>
                      <a:srgbClr val="ECD3D9"/>
                    </a:solidFill>
                  </a:tcPr>
                </a:tc>
                <a:tc>
                  <a:txBody>
                    <a:bodyPr/>
                    <a:lstStyle/>
                    <a:p>
                      <a:pPr algn="ctr">
                        <a:defRPr sz="1000">
                          <a:latin typeface="Montserrat"/>
                        </a:defRPr>
                      </a:pPr>
                      <a:r>
                        <a:t>35.2%</a:t>
                      </a:r>
                    </a:p>
                  </a:txBody>
                  <a:tcPr marL="0" marR="0" marT="0" marB="0">
                    <a:solidFill>
                      <a:srgbClr val="ECD3D9"/>
                    </a:solidFill>
                  </a:tcPr>
                </a:tc>
              </a:tr>
              <a:tr h="151200">
                <a:tc>
                  <a:txBody>
                    <a:bodyPr/>
                    <a:lstStyle/>
                    <a:p>
                      <a:pPr algn="l">
                        <a:defRPr sz="1000">
                          <a:latin typeface="Montserrat"/>
                        </a:defRPr>
                      </a:pPr>
                      <a:r>
                        <a:t>UMF 5 Jerez</a:t>
                      </a:r>
                    </a:p>
                  </a:txBody>
                  <a:tcPr marL="0" marR="0" marT="0" marB="0">
                    <a:solidFill>
                      <a:srgbClr val="EFEFEF"/>
                    </a:solidFill>
                  </a:tcPr>
                </a:tc>
                <a:tc>
                  <a:txBody>
                    <a:bodyPr/>
                    <a:lstStyle/>
                    <a:p>
                      <a:pPr algn="ctr">
                        <a:defRPr sz="1000">
                          <a:latin typeface="Montserrat"/>
                        </a:defRPr>
                      </a:pPr>
                      <a:r>
                        <a:t>32,053</a:t>
                      </a:r>
                    </a:p>
                  </a:txBody>
                  <a:tcPr marL="0" marR="0" marT="0" marB="0">
                    <a:solidFill>
                      <a:srgbClr val="EFEFEF"/>
                    </a:solidFill>
                  </a:tcPr>
                </a:tc>
                <a:tc>
                  <a:txBody>
                    <a:bodyPr/>
                    <a:lstStyle/>
                    <a:p>
                      <a:pPr algn="ctr">
                        <a:defRPr sz="1000">
                          <a:latin typeface="Montserrat"/>
                        </a:defRPr>
                      </a:pPr>
                      <a:r>
                        <a:t>1,199</a:t>
                      </a:r>
                    </a:p>
                  </a:txBody>
                  <a:tcPr marL="0" marR="0" marT="0" marB="0">
                    <a:solidFill>
                      <a:srgbClr val="EFEFEF"/>
                    </a:solidFill>
                  </a:tcPr>
                </a:tc>
                <a:tc>
                  <a:txBody>
                    <a:bodyPr/>
                    <a:lstStyle/>
                    <a:p>
                      <a:pPr algn="ctr">
                        <a:defRPr sz="1000">
                          <a:latin typeface="Montserrat"/>
                        </a:defRPr>
                      </a:pPr>
                      <a:r>
                        <a:t>12,052</a:t>
                      </a:r>
                    </a:p>
                  </a:txBody>
                  <a:tcPr marL="0" marR="0" marT="0" marB="0">
                    <a:solidFill>
                      <a:srgbClr val="ECD3D9"/>
                    </a:solidFill>
                  </a:tcPr>
                </a:tc>
                <a:tc>
                  <a:txBody>
                    <a:bodyPr/>
                    <a:lstStyle/>
                    <a:p>
                      <a:pPr algn="ctr">
                        <a:defRPr sz="1000">
                          <a:latin typeface="Montserrat"/>
                        </a:defRPr>
                      </a:pPr>
                      <a:r>
                        <a:t>43,848</a:t>
                      </a:r>
                    </a:p>
                  </a:txBody>
                  <a:tcPr marL="0" marR="0" marT="0" marB="0">
                    <a:solidFill>
                      <a:srgbClr val="ECD3D9"/>
                    </a:solidFill>
                  </a:tcPr>
                </a:tc>
                <a:tc>
                  <a:txBody>
                    <a:bodyPr/>
                    <a:lstStyle/>
                    <a:p>
                      <a:pPr algn="ctr">
                        <a:defRPr sz="1000">
                          <a:latin typeface="Montserrat"/>
                        </a:defRPr>
                      </a:pPr>
                      <a:r>
                        <a:t>27.5%</a:t>
                      </a:r>
                    </a:p>
                  </a:txBody>
                  <a:tcPr marL="0" marR="0" marT="0" marB="0">
                    <a:solidFill>
                      <a:srgbClr val="ECD3D9"/>
                    </a:solidFill>
                  </a:tcPr>
                </a:tc>
              </a:tr>
              <a:tr h="151200">
                <a:tc>
                  <a:txBody>
                    <a:bodyPr/>
                    <a:lstStyle/>
                    <a:p>
                      <a:pPr algn="l">
                        <a:defRPr sz="1000">
                          <a:latin typeface="Montserrat"/>
                        </a:defRPr>
                      </a:pPr>
                      <a:r>
                        <a:t>UMF 6 Río grande</a:t>
                      </a:r>
                    </a:p>
                  </a:txBody>
                  <a:tcPr marL="0" marR="0" marT="0" marB="0">
                    <a:solidFill>
                      <a:srgbClr val="FFFFFF"/>
                    </a:solidFill>
                  </a:tcPr>
                </a:tc>
                <a:tc>
                  <a:txBody>
                    <a:bodyPr/>
                    <a:lstStyle/>
                    <a:p>
                      <a:pPr algn="ctr">
                        <a:defRPr sz="1000">
                          <a:latin typeface="Montserrat"/>
                        </a:defRPr>
                      </a:pPr>
                      <a:r>
                        <a:t>29,411</a:t>
                      </a:r>
                    </a:p>
                  </a:txBody>
                  <a:tcPr marL="0" marR="0" marT="0" marB="0">
                    <a:solidFill>
                      <a:srgbClr val="FFFFFF"/>
                    </a:solidFill>
                  </a:tcPr>
                </a:tc>
                <a:tc>
                  <a:txBody>
                    <a:bodyPr/>
                    <a:lstStyle/>
                    <a:p>
                      <a:pPr algn="ctr">
                        <a:defRPr sz="1000">
                          <a:latin typeface="Montserrat"/>
                        </a:defRPr>
                      </a:pPr>
                      <a:r>
                        <a:t>3,007</a:t>
                      </a:r>
                    </a:p>
                  </a:txBody>
                  <a:tcPr marL="0" marR="0" marT="0" marB="0">
                    <a:solidFill>
                      <a:srgbClr val="FFFFFF"/>
                    </a:solidFill>
                  </a:tcPr>
                </a:tc>
                <a:tc>
                  <a:txBody>
                    <a:bodyPr/>
                    <a:lstStyle/>
                    <a:p>
                      <a:pPr algn="ctr">
                        <a:defRPr sz="1000">
                          <a:latin typeface="Montserrat"/>
                        </a:defRPr>
                      </a:pPr>
                      <a:r>
                        <a:t>11,110</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29.6%</a:t>
                      </a:r>
                    </a:p>
                  </a:txBody>
                  <a:tcPr marL="0" marR="0" marT="0" marB="0">
                    <a:solidFill>
                      <a:srgbClr val="ECD3D9"/>
                    </a:solidFill>
                  </a:tcPr>
                </a:tc>
              </a:tr>
              <a:tr h="151200">
                <a:tc>
                  <a:txBody>
                    <a:bodyPr/>
                    <a:lstStyle/>
                    <a:p>
                      <a:pPr algn="l">
                        <a:defRPr sz="1000">
                          <a:latin typeface="Montserrat"/>
                        </a:defRPr>
                      </a:pPr>
                      <a:r>
                        <a:t>UMF 15 Terminal</a:t>
                      </a:r>
                    </a:p>
                  </a:txBody>
                  <a:tcPr marL="0" marR="0" marT="0" marB="0">
                    <a:solidFill>
                      <a:srgbClr val="EFEFEF"/>
                    </a:solidFill>
                  </a:tcPr>
                </a:tc>
                <a:tc>
                  <a:txBody>
                    <a:bodyPr/>
                    <a:lstStyle/>
                    <a:p>
                      <a:pPr algn="ctr">
                        <a:defRPr sz="1000">
                          <a:latin typeface="Montserrat"/>
                        </a:defRPr>
                      </a:pPr>
                      <a:r>
                        <a:t>6,749</a:t>
                      </a:r>
                    </a:p>
                  </a:txBody>
                  <a:tcPr marL="0" marR="0" marT="0" marB="0">
                    <a:solidFill>
                      <a:srgbClr val="EFEFEF"/>
                    </a:solidFill>
                  </a:tcPr>
                </a:tc>
                <a:tc>
                  <a:txBody>
                    <a:bodyPr/>
                    <a:lstStyle/>
                    <a:p>
                      <a:pPr algn="ctr">
                        <a:defRPr sz="1000">
                          <a:latin typeface="Montserrat"/>
                        </a:defRPr>
                      </a:pPr>
                      <a:r>
                        <a:t>2,000</a:t>
                      </a:r>
                    </a:p>
                  </a:txBody>
                  <a:tcPr marL="0" marR="0" marT="0" marB="0">
                    <a:solidFill>
                      <a:srgbClr val="EFEFEF"/>
                    </a:solidFill>
                  </a:tcPr>
                </a:tc>
                <a:tc>
                  <a:txBody>
                    <a:bodyPr/>
                    <a:lstStyle/>
                    <a:p>
                      <a:pPr algn="ctr">
                        <a:defRPr sz="1000">
                          <a:latin typeface="Montserrat"/>
                        </a:defRPr>
                      </a:pPr>
                      <a:r>
                        <a:t>2,505</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31.3%</a:t>
                      </a:r>
                    </a:p>
                  </a:txBody>
                  <a:tcPr marL="0" marR="0" marT="0" marB="0">
                    <a:solidFill>
                      <a:srgbClr val="ECD3D9"/>
                    </a:solidFill>
                  </a:tcPr>
                </a:tc>
              </a:tr>
              <a:tr h="151200">
                <a:tc>
                  <a:txBody>
                    <a:bodyPr/>
                    <a:lstStyle/>
                    <a:p>
                      <a:pPr algn="l">
                        <a:defRPr sz="1000">
                          <a:latin typeface="Montserrat"/>
                        </a:defRPr>
                      </a:pPr>
                      <a:r>
                        <a:t>UMF 18 S. Martín</a:t>
                      </a:r>
                    </a:p>
                  </a:txBody>
                  <a:tcPr marL="0" marR="0" marT="0" marB="0">
                    <a:solidFill>
                      <a:srgbClr val="FFFFFF"/>
                    </a:solidFill>
                  </a:tcPr>
                </a:tc>
                <a:tc>
                  <a:txBody>
                    <a:bodyPr/>
                    <a:lstStyle/>
                    <a:p>
                      <a:pPr algn="ctr">
                        <a:defRPr sz="1000">
                          <a:latin typeface="Montserrat"/>
                        </a:defRPr>
                      </a:pPr>
                      <a:r>
                        <a:t>5,824</a:t>
                      </a:r>
                    </a:p>
                  </a:txBody>
                  <a:tcPr marL="0" marR="0" marT="0" marB="0">
                    <a:solidFill>
                      <a:srgbClr val="FFFFFF"/>
                    </a:solidFill>
                  </a:tcPr>
                </a:tc>
                <a:tc>
                  <a:txBody>
                    <a:bodyPr/>
                    <a:lstStyle/>
                    <a:p>
                      <a:pPr algn="ctr">
                        <a:defRPr sz="1000">
                          <a:latin typeface="Montserrat"/>
                        </a:defRPr>
                      </a:pPr>
                      <a:r>
                        <a:t>304</a:t>
                      </a:r>
                    </a:p>
                  </a:txBody>
                  <a:tcPr marL="0" marR="0" marT="0" marB="0">
                    <a:solidFill>
                      <a:srgbClr val="FFFFFF"/>
                    </a:solidFill>
                  </a:tcPr>
                </a:tc>
                <a:tc>
                  <a:txBody>
                    <a:bodyPr/>
                    <a:lstStyle/>
                    <a:p>
                      <a:pPr algn="ctr">
                        <a:defRPr sz="1000">
                          <a:latin typeface="Montserrat"/>
                        </a:defRPr>
                      </a:pPr>
                      <a:r>
                        <a:t>2,164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30.9%</a:t>
                      </a:r>
                    </a:p>
                  </a:txBody>
                  <a:tcPr marL="0" marR="0" marT="0" marB="0">
                    <a:solidFill>
                      <a:srgbClr val="ECD3D9"/>
                    </a:solidFill>
                  </a:tcPr>
                </a:tc>
              </a:tr>
              <a:tr h="151200">
                <a:tc>
                  <a:txBody>
                    <a:bodyPr/>
                    <a:lstStyle/>
                    <a:p>
                      <a:pPr algn="l">
                        <a:defRPr sz="1000">
                          <a:latin typeface="Montserrat"/>
                        </a:defRPr>
                      </a:pPr>
                      <a:r>
                        <a:t>UMF 17 Colorada</a:t>
                      </a:r>
                    </a:p>
                  </a:txBody>
                  <a:tcPr marL="0" marR="0" marT="0" marB="0">
                    <a:solidFill>
                      <a:srgbClr val="EFEFEF"/>
                    </a:solidFill>
                  </a:tcPr>
                </a:tc>
                <a:tc>
                  <a:txBody>
                    <a:bodyPr/>
                    <a:lstStyle/>
                    <a:p>
                      <a:pPr algn="ctr">
                        <a:defRPr sz="1000">
                          <a:latin typeface="Montserrat"/>
                        </a:defRPr>
                      </a:pPr>
                      <a:r>
                        <a:t>381</a:t>
                      </a:r>
                    </a:p>
                  </a:txBody>
                  <a:tcPr marL="0" marR="0" marT="0" marB="0">
                    <a:solidFill>
                      <a:srgbClr val="EFEFEF"/>
                    </a:solidFill>
                  </a:tcPr>
                </a:tc>
                <a:tc>
                  <a:txBody>
                    <a:bodyPr/>
                    <a:lstStyle/>
                    <a:p>
                      <a:pPr algn="ctr">
                        <a:defRPr sz="1000">
                          <a:latin typeface="Montserrat"/>
                        </a:defRPr>
                      </a:pPr>
                      <a:r>
                        <a:t>-208</a:t>
                      </a:r>
                    </a:p>
                  </a:txBody>
                  <a:tcPr marL="0" marR="0" marT="0" marB="0">
                    <a:solidFill>
                      <a:srgbClr val="EFEFEF"/>
                    </a:solidFill>
                  </a:tcPr>
                </a:tc>
                <a:tc>
                  <a:txBody>
                    <a:bodyPr/>
                    <a:lstStyle/>
                    <a:p>
                      <a:pPr algn="ctr">
                        <a:defRPr sz="1000">
                          <a:latin typeface="Montserrat"/>
                        </a:defRPr>
                      </a:pPr>
                      <a:r>
                        <a:t>114</a:t>
                      </a:r>
                    </a:p>
                  </a:txBody>
                  <a:tcPr marL="0" marR="0" marT="0" marB="0">
                    <a:solidFill>
                      <a:srgbClr val="ECD3D9"/>
                    </a:solidFill>
                  </a:tcPr>
                </a:tc>
                <a:tc>
                  <a:txBody>
                    <a:bodyPr/>
                    <a:lstStyle/>
                    <a:p>
                      <a:pPr algn="ctr">
                        <a:defRPr sz="1000">
                          <a:latin typeface="Montserrat"/>
                        </a:defRPr>
                      </a:pPr>
                      <a:r>
                        <a:t>2,000</a:t>
                      </a:r>
                    </a:p>
                  </a:txBody>
                  <a:tcPr marL="0" marR="0" marT="0" marB="0">
                    <a:solidFill>
                      <a:srgbClr val="ECD3D9"/>
                    </a:solidFill>
                  </a:tcPr>
                </a:tc>
                <a:tc>
                  <a:txBody>
                    <a:bodyPr/>
                    <a:lstStyle/>
                    <a:p>
                      <a:pPr algn="ctr">
                        <a:defRPr sz="1000">
                          <a:latin typeface="Montserrat"/>
                        </a:defRPr>
                      </a:pPr>
                      <a:r>
                        <a:t>5.7%</a:t>
                      </a:r>
                    </a:p>
                  </a:txBody>
                  <a:tcPr marL="0" marR="0" marT="0" marB="0">
                    <a:solidFill>
                      <a:srgbClr val="ECD3D9"/>
                    </a:solidFill>
                  </a:tcPr>
                </a:tc>
              </a:tr>
              <a:tr h="151200">
                <a:tc>
                  <a:txBody>
                    <a:bodyPr/>
                    <a:lstStyle/>
                    <a:p>
                      <a:pPr algn="l">
                        <a:defRPr sz="1000">
                          <a:latin typeface="Montserrat"/>
                        </a:defRPr>
                      </a:pPr>
                      <a:r>
                        <a:t>UMF 9 Concepción</a:t>
                      </a:r>
                    </a:p>
                  </a:txBody>
                  <a:tcPr marL="0" marR="0" marT="0" marB="0">
                    <a:solidFill>
                      <a:srgbClr val="FFFFFF"/>
                    </a:solidFill>
                  </a:tcPr>
                </a:tc>
                <a:tc>
                  <a:txBody>
                    <a:bodyPr/>
                    <a:lstStyle/>
                    <a:p>
                      <a:pPr algn="ctr">
                        <a:defRPr sz="1000">
                          <a:latin typeface="Montserrat"/>
                        </a:defRPr>
                      </a:pPr>
                      <a:r>
                        <a:t>29,110</a:t>
                      </a:r>
                    </a:p>
                  </a:txBody>
                  <a:tcPr marL="0" marR="0" marT="0" marB="0">
                    <a:solidFill>
                      <a:srgbClr val="FFFFFF"/>
                    </a:solidFill>
                  </a:tcPr>
                </a:tc>
                <a:tc>
                  <a:txBody>
                    <a:bodyPr/>
                    <a:lstStyle/>
                    <a:p>
                      <a:pPr algn="ctr">
                        <a:defRPr sz="1000">
                          <a:latin typeface="Montserrat"/>
                        </a:defRPr>
                      </a:pPr>
                      <a:r>
                        <a:t>3,368</a:t>
                      </a:r>
                    </a:p>
                  </a:txBody>
                  <a:tcPr marL="0" marR="0" marT="0" marB="0">
                    <a:solidFill>
                      <a:srgbClr val="FFFFFF"/>
                    </a:solidFill>
                  </a:tcPr>
                </a:tc>
                <a:tc>
                  <a:txBody>
                    <a:bodyPr/>
                    <a:lstStyle/>
                    <a:p>
                      <a:pPr algn="ctr">
                        <a:defRPr sz="1000">
                          <a:latin typeface="Montserrat"/>
                        </a:defRPr>
                      </a:pPr>
                      <a:r>
                        <a:t>10,987</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10 Jalpa</a:t>
                      </a:r>
                    </a:p>
                  </a:txBody>
                  <a:tcPr marL="0" marR="0" marT="0" marB="0">
                    <a:solidFill>
                      <a:srgbClr val="EFEFEF"/>
                    </a:solidFill>
                  </a:tcPr>
                </a:tc>
                <a:tc>
                  <a:txBody>
                    <a:bodyPr/>
                    <a:lstStyle/>
                    <a:p>
                      <a:pPr algn="ctr">
                        <a:defRPr sz="1000">
                          <a:latin typeface="Montserrat"/>
                        </a:defRPr>
                      </a:pPr>
                      <a:r>
                        <a:t>10,264</a:t>
                      </a:r>
                    </a:p>
                  </a:txBody>
                  <a:tcPr marL="0" marR="0" marT="0" marB="0">
                    <a:solidFill>
                      <a:srgbClr val="EFEFEF"/>
                    </a:solidFill>
                  </a:tcPr>
                </a:tc>
                <a:tc>
                  <a:txBody>
                    <a:bodyPr/>
                    <a:lstStyle/>
                    <a:p>
                      <a:pPr algn="ctr">
                        <a:defRPr sz="1000">
                          <a:latin typeface="Montserrat"/>
                        </a:defRPr>
                      </a:pPr>
                      <a:r>
                        <a:t>500</a:t>
                      </a:r>
                    </a:p>
                  </a:txBody>
                  <a:tcPr marL="0" marR="0" marT="0" marB="0">
                    <a:solidFill>
                      <a:srgbClr val="EFEFEF"/>
                    </a:solidFill>
                  </a:tcPr>
                </a:tc>
                <a:tc>
                  <a:txBody>
                    <a:bodyPr/>
                    <a:lstStyle/>
                    <a:p>
                      <a:pPr algn="ctr">
                        <a:defRPr sz="1000">
                          <a:latin typeface="Montserrat"/>
                        </a:defRPr>
                      </a:pPr>
                      <a:r>
                        <a:t>3,771</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34.3%</a:t>
                      </a:r>
                    </a:p>
                  </a:txBody>
                  <a:tcPr marL="0" marR="0" marT="0" marB="0">
                    <a:solidFill>
                      <a:srgbClr val="ECD3D9"/>
                    </a:solidFill>
                  </a:tcPr>
                </a:tc>
              </a:tr>
              <a:tr h="151200">
                <a:tc>
                  <a:txBody>
                    <a:bodyPr/>
                    <a:lstStyle/>
                    <a:p>
                      <a:pPr algn="l">
                        <a:defRPr sz="1000">
                          <a:latin typeface="Montserrat"/>
                        </a:defRPr>
                      </a:pPr>
                      <a:r>
                        <a:t>UMF 13 Noche Buena</a:t>
                      </a:r>
                    </a:p>
                  </a:txBody>
                  <a:tcPr marL="0" marR="0" marT="0" marB="0">
                    <a:solidFill>
                      <a:srgbClr val="FFFFFF"/>
                    </a:solidFill>
                  </a:tcPr>
                </a:tc>
                <a:tc>
                  <a:txBody>
                    <a:bodyPr/>
                    <a:lstStyle/>
                    <a:p>
                      <a:pPr algn="ctr">
                        <a:defRPr sz="1000">
                          <a:latin typeface="Montserrat"/>
                        </a:defRPr>
                      </a:pPr>
                      <a:r>
                        <a:t>2,343</a:t>
                      </a:r>
                    </a:p>
                  </a:txBody>
                  <a:tcPr marL="0" marR="0" marT="0" marB="0">
                    <a:solidFill>
                      <a:srgbClr val="FFFFFF"/>
                    </a:solidFill>
                  </a:tcPr>
                </a:tc>
                <a:tc>
                  <a:txBody>
                    <a:bodyPr/>
                    <a:lstStyle/>
                    <a:p>
                      <a:pPr algn="ctr">
                        <a:defRPr sz="1000">
                          <a:latin typeface="Montserrat"/>
                        </a:defRPr>
                      </a:pPr>
                      <a:r>
                        <a:t>1,778</a:t>
                      </a:r>
                    </a:p>
                  </a:txBody>
                  <a:tcPr marL="0" marR="0" marT="0" marB="0">
                    <a:solidFill>
                      <a:srgbClr val="FFFFFF"/>
                    </a:solidFill>
                  </a:tcPr>
                </a:tc>
                <a:tc>
                  <a:txBody>
                    <a:bodyPr/>
                    <a:lstStyle/>
                    <a:p>
                      <a:pPr algn="ctr">
                        <a:defRPr sz="1000">
                          <a:latin typeface="Montserrat"/>
                        </a:defRPr>
                      </a:pPr>
                      <a:r>
                        <a:t>1,226</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30.7%</a:t>
                      </a:r>
                    </a:p>
                  </a:txBody>
                  <a:tcPr marL="0" marR="0" marT="0" marB="0">
                    <a:solidFill>
                      <a:srgbClr val="ECD3D9"/>
                    </a:solidFill>
                  </a:tcPr>
                </a:tc>
              </a:tr>
              <a:tr h="151200">
                <a:tc>
                  <a:txBody>
                    <a:bodyPr/>
                    <a:lstStyle/>
                    <a:p>
                      <a:pPr algn="l">
                        <a:defRPr sz="1000">
                          <a:latin typeface="Montserrat"/>
                        </a:defRPr>
                      </a:pPr>
                      <a:r>
                        <a:t>UMF 16 Chalchihuetes</a:t>
                      </a:r>
                    </a:p>
                  </a:txBody>
                  <a:tcPr marL="0" marR="0" marT="0" marB="0">
                    <a:solidFill>
                      <a:srgbClr val="EFEFEF"/>
                    </a:solidFill>
                  </a:tcPr>
                </a:tc>
                <a:tc>
                  <a:txBody>
                    <a:bodyPr/>
                    <a:lstStyle/>
                    <a:p>
                      <a:pPr algn="ctr">
                        <a:defRPr sz="1000">
                          <a:latin typeface="Montserrat"/>
                        </a:defRPr>
                      </a:pPr>
                      <a:r>
                        <a:t>6,085</a:t>
                      </a:r>
                    </a:p>
                  </a:txBody>
                  <a:tcPr marL="0" marR="0" marT="0" marB="0">
                    <a:solidFill>
                      <a:srgbClr val="EFEFEF"/>
                    </a:solidFill>
                  </a:tcPr>
                </a:tc>
                <a:tc>
                  <a:txBody>
                    <a:bodyPr/>
                    <a:lstStyle/>
                    <a:p>
                      <a:pPr algn="ctr">
                        <a:defRPr sz="1000">
                          <a:latin typeface="Montserrat"/>
                        </a:defRPr>
                      </a:pPr>
                      <a:r>
                        <a:t>-396</a:t>
                      </a:r>
                    </a:p>
                  </a:txBody>
                  <a:tcPr marL="0" marR="0" marT="0" marB="0">
                    <a:solidFill>
                      <a:srgbClr val="EFEFEF"/>
                    </a:solidFill>
                  </a:tcPr>
                </a:tc>
                <a:tc>
                  <a:txBody>
                    <a:bodyPr/>
                    <a:lstStyle/>
                    <a:p>
                      <a:pPr algn="ctr">
                        <a:defRPr sz="1000">
                          <a:latin typeface="Montserrat"/>
                        </a:defRPr>
                      </a:pPr>
                      <a:r>
                        <a:t>2,108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30.1%</a:t>
                      </a:r>
                    </a:p>
                  </a:txBody>
                  <a:tcPr marL="0" marR="0" marT="0" marB="0">
                    <a:solidFill>
                      <a:srgbClr val="ECD3D9"/>
                    </a:solidFill>
                  </a:tcPr>
                </a:tc>
              </a:tr>
              <a:tr h="151200">
                <a:tc>
                  <a:txBody>
                    <a:bodyPr/>
                    <a:lstStyle/>
                    <a:p>
                      <a:pPr algn="l">
                        <a:defRPr sz="1000">
                          <a:latin typeface="Montserrat"/>
                        </a:defRPr>
                      </a:pPr>
                      <a:r>
                        <a:t>UMF 14 Salaverna</a:t>
                      </a:r>
                    </a:p>
                  </a:txBody>
                  <a:tcPr marL="0" marR="0" marT="0" marB="0">
                    <a:solidFill>
                      <a:srgbClr val="FFFFFF"/>
                    </a:solidFill>
                  </a:tcPr>
                </a:tc>
                <a:tc>
                  <a:txBody>
                    <a:bodyPr/>
                    <a:lstStyle/>
                    <a:p>
                      <a:pPr algn="ctr">
                        <a:defRPr sz="1000">
                          <a:latin typeface="Montserrat"/>
                        </a:defRPr>
                      </a:pPr>
                      <a:r>
                        <a:t>6,143</a:t>
                      </a:r>
                    </a:p>
                  </a:txBody>
                  <a:tcPr marL="0" marR="0" marT="0" marB="0">
                    <a:solidFill>
                      <a:srgbClr val="FFFFFF"/>
                    </a:solidFill>
                  </a:tcPr>
                </a:tc>
                <a:tc>
                  <a:txBody>
                    <a:bodyPr/>
                    <a:lstStyle/>
                    <a:p>
                      <a:pPr algn="ctr">
                        <a:defRPr sz="1000">
                          <a:latin typeface="Montserrat"/>
                        </a:defRPr>
                      </a:pPr>
                      <a:r>
                        <a:t>2,150</a:t>
                      </a:r>
                    </a:p>
                  </a:txBody>
                  <a:tcPr marL="0" marR="0" marT="0" marB="0">
                    <a:solidFill>
                      <a:srgbClr val="FFFFFF"/>
                    </a:solidFill>
                  </a:tcPr>
                </a:tc>
                <a:tc>
                  <a:txBody>
                    <a:bodyPr/>
                    <a:lstStyle/>
                    <a:p>
                      <a:pPr algn="ctr">
                        <a:defRPr sz="1000">
                          <a:latin typeface="Montserrat"/>
                        </a:defRPr>
                      </a:pPr>
                      <a:r>
                        <a:t>3,581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51.2%</a:t>
                      </a:r>
                    </a:p>
                  </a:txBody>
                  <a:tcPr marL="0" marR="0" marT="0" marB="0">
                    <a:solidFill>
                      <a:srgbClr val="ECD3D9"/>
                    </a:solidFill>
                  </a:tcPr>
                </a:tc>
              </a:tr>
              <a:tr h="151200">
                <a:tc>
                  <a:txBody>
                    <a:bodyPr/>
                    <a:lstStyle/>
                    <a:p>
                      <a:pPr algn="l">
                        <a:defRPr sz="1000">
                          <a:latin typeface="Montserrat"/>
                        </a:defRPr>
                      </a:pPr>
                      <a:r>
                        <a:t>UMF 11 Nochistan</a:t>
                      </a:r>
                    </a:p>
                  </a:txBody>
                  <a:tcPr marL="0" marR="0" marT="0" marB="0">
                    <a:solidFill>
                      <a:srgbClr val="EFEFEF"/>
                    </a:solidFill>
                  </a:tcPr>
                </a:tc>
                <a:tc>
                  <a:txBody>
                    <a:bodyPr/>
                    <a:lstStyle/>
                    <a:p>
                      <a:pPr algn="ctr">
                        <a:defRPr sz="1000">
                          <a:latin typeface="Montserrat"/>
                        </a:defRPr>
                      </a:pPr>
                      <a:r>
                        <a:t>13,501</a:t>
                      </a:r>
                    </a:p>
                  </a:txBody>
                  <a:tcPr marL="0" marR="0" marT="0" marB="0">
                    <a:solidFill>
                      <a:srgbClr val="EFEFEF"/>
                    </a:solidFill>
                  </a:tcPr>
                </a:tc>
                <a:tc>
                  <a:txBody>
                    <a:bodyPr/>
                    <a:lstStyle/>
                    <a:p>
                      <a:pPr algn="ctr">
                        <a:defRPr sz="1000">
                          <a:latin typeface="Montserrat"/>
                        </a:defRPr>
                      </a:pPr>
                      <a:r>
                        <a:t>-965</a:t>
                      </a:r>
                    </a:p>
                  </a:txBody>
                  <a:tcPr marL="0" marR="0" marT="0" marB="0">
                    <a:solidFill>
                      <a:srgbClr val="EFEFEF"/>
                    </a:solidFill>
                  </a:tcPr>
                </a:tc>
                <a:tc>
                  <a:txBody>
                    <a:bodyPr/>
                    <a:lstStyle/>
                    <a:p>
                      <a:pPr algn="ctr">
                        <a:defRPr sz="1000">
                          <a:latin typeface="Montserrat"/>
                        </a:defRPr>
                      </a:pPr>
                      <a:r>
                        <a:t>3,858</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25.7%</a:t>
                      </a:r>
                    </a:p>
                  </a:txBody>
                  <a:tcPr marL="0" marR="0" marT="0" marB="0">
                    <a:solidFill>
                      <a:srgbClr val="ECD3D9"/>
                    </a:solidFill>
                  </a:tcPr>
                </a:tc>
              </a:tr>
              <a:tr h="151200">
                <a:tc>
                  <a:txBody>
                    <a:bodyPr/>
                    <a:lstStyle/>
                    <a:p>
                      <a:pPr algn="l">
                        <a:defRPr sz="1000">
                          <a:latin typeface="Montserrat"/>
                        </a:defRPr>
                      </a:pPr>
                      <a:r>
                        <a:t>UMF 28 Loreto</a:t>
                      </a:r>
                    </a:p>
                  </a:txBody>
                  <a:tcPr marL="0" marR="0" marT="0" marB="0">
                    <a:solidFill>
                      <a:srgbClr val="FFFFFF"/>
                    </a:solidFill>
                  </a:tcPr>
                </a:tc>
                <a:tc>
                  <a:txBody>
                    <a:bodyPr/>
                    <a:lstStyle/>
                    <a:p>
                      <a:pPr algn="ctr">
                        <a:defRPr sz="1000">
                          <a:latin typeface="Montserrat"/>
                        </a:defRPr>
                      </a:pPr>
                      <a:r>
                        <a:t>22,833</a:t>
                      </a:r>
                    </a:p>
                  </a:txBody>
                  <a:tcPr marL="0" marR="0" marT="0" marB="0">
                    <a:solidFill>
                      <a:srgbClr val="FFFFFF"/>
                    </a:solidFill>
                  </a:tcPr>
                </a:tc>
                <a:tc>
                  <a:txBody>
                    <a:bodyPr/>
                    <a:lstStyle/>
                    <a:p>
                      <a:pPr algn="ctr">
                        <a:defRPr sz="1000">
                          <a:latin typeface="Montserrat"/>
                        </a:defRPr>
                      </a:pPr>
                      <a:r>
                        <a:t>5,502</a:t>
                      </a:r>
                    </a:p>
                  </a:txBody>
                  <a:tcPr marL="0" marR="0" marT="0" marB="0">
                    <a:solidFill>
                      <a:srgbClr val="FFFFFF"/>
                    </a:solidFill>
                  </a:tcPr>
                </a:tc>
                <a:tc>
                  <a:txBody>
                    <a:bodyPr/>
                    <a:lstStyle/>
                    <a:p>
                      <a:pPr algn="ctr">
                        <a:defRPr sz="1000">
                          <a:latin typeface="Montserrat"/>
                        </a:defRPr>
                      </a:pPr>
                      <a:r>
                        <a:t>9,174</a:t>
                      </a:r>
                    </a:p>
                  </a:txBody>
                  <a:tcPr marL="0" marR="0" marT="0" marB="0">
                    <a:solidFill>
                      <a:srgbClr val="ECD3D9"/>
                    </a:solidFill>
                  </a:tcPr>
                </a:tc>
                <a:tc>
                  <a:txBody>
                    <a:bodyPr/>
                    <a:lstStyle/>
                    <a:p>
                      <a:pPr algn="ctr">
                        <a:defRPr sz="1000">
                          <a:latin typeface="Montserrat"/>
                        </a:defRPr>
                      </a:pPr>
                      <a:r>
                        <a:t>28,188</a:t>
                      </a:r>
                    </a:p>
                  </a:txBody>
                  <a:tcPr marL="0" marR="0" marT="0" marB="0">
                    <a:solidFill>
                      <a:srgbClr val="ECD3D9"/>
                    </a:solidFill>
                  </a:tcPr>
                </a:tc>
                <a:tc>
                  <a:txBody>
                    <a:bodyPr/>
                    <a:lstStyle/>
                    <a:p>
                      <a:pPr algn="ctr">
                        <a:defRPr sz="1000">
                          <a:latin typeface="Montserrat"/>
                        </a:defRPr>
                      </a:pPr>
                      <a:r>
                        <a:t>32.5%</a:t>
                      </a:r>
                    </a:p>
                  </a:txBody>
                  <a:tcPr marL="0" marR="0" marT="0" marB="0">
                    <a:solidFill>
                      <a:srgbClr val="ECD3D9"/>
                    </a:solidFill>
                  </a:tcPr>
                </a:tc>
              </a:tr>
              <a:tr h="151200">
                <a:tc>
                  <a:txBody>
                    <a:bodyPr/>
                    <a:lstStyle/>
                    <a:p>
                      <a:pPr algn="l">
                        <a:defRPr sz="1000">
                          <a:latin typeface="Montserrat"/>
                        </a:defRPr>
                      </a:pPr>
                      <a:r>
                        <a:t>UMF 29 Luis Moya</a:t>
                      </a:r>
                    </a:p>
                  </a:txBody>
                  <a:tcPr marL="0" marR="0" marT="0" marB="0">
                    <a:solidFill>
                      <a:srgbClr val="EFEFEF"/>
                    </a:solidFill>
                  </a:tcPr>
                </a:tc>
                <a:tc>
                  <a:txBody>
                    <a:bodyPr/>
                    <a:lstStyle/>
                    <a:p>
                      <a:pPr algn="ctr">
                        <a:defRPr sz="1000">
                          <a:latin typeface="Montserrat"/>
                        </a:defRPr>
                      </a:pPr>
                      <a:r>
                        <a:t>9,725</a:t>
                      </a:r>
                    </a:p>
                  </a:txBody>
                  <a:tcPr marL="0" marR="0" marT="0" marB="0">
                    <a:solidFill>
                      <a:srgbClr val="EFEFEF"/>
                    </a:solidFill>
                  </a:tcPr>
                </a:tc>
                <a:tc>
                  <a:txBody>
                    <a:bodyPr/>
                    <a:lstStyle/>
                    <a:p>
                      <a:pPr algn="ctr">
                        <a:defRPr sz="1000">
                          <a:latin typeface="Montserrat"/>
                        </a:defRPr>
                      </a:pPr>
                      <a:r>
                        <a:t>1,499</a:t>
                      </a:r>
                    </a:p>
                  </a:txBody>
                  <a:tcPr marL="0" marR="0" marT="0" marB="0">
                    <a:solidFill>
                      <a:srgbClr val="EFEFEF"/>
                    </a:solidFill>
                  </a:tcPr>
                </a:tc>
                <a:tc>
                  <a:txBody>
                    <a:bodyPr/>
                    <a:lstStyle/>
                    <a:p>
                      <a:pPr algn="ctr">
                        <a:defRPr sz="1000">
                          <a:latin typeface="Montserrat"/>
                        </a:defRPr>
                      </a:pPr>
                      <a:r>
                        <a:t>3,920</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35.6%</a:t>
                      </a:r>
                    </a:p>
                  </a:txBody>
                  <a:tcPr marL="0" marR="0" marT="0" marB="0">
                    <a:solidFill>
                      <a:srgbClr val="ECD3D9"/>
                    </a:solidFill>
                  </a:tcPr>
                </a:tc>
              </a:tr>
              <a:tr h="151200">
                <a:tc>
                  <a:txBody>
                    <a:bodyPr/>
                    <a:lstStyle/>
                    <a:p>
                      <a:pPr algn="l">
                        <a:defRPr sz="1000">
                          <a:latin typeface="Montserrat"/>
                        </a:defRPr>
                      </a:pPr>
                      <a:r>
                        <a:t>UMF 44 Valparaiso</a:t>
                      </a:r>
                    </a:p>
                  </a:txBody>
                  <a:tcPr marL="0" marR="0" marT="0" marB="0">
                    <a:solidFill>
                      <a:srgbClr val="FFFFFF"/>
                    </a:solidFill>
                  </a:tcPr>
                </a:tc>
                <a:tc>
                  <a:txBody>
                    <a:bodyPr/>
                    <a:lstStyle/>
                    <a:p>
                      <a:pPr algn="ctr">
                        <a:defRPr sz="1000">
                          <a:latin typeface="Montserrat"/>
                        </a:defRPr>
                      </a:pPr>
                      <a:r>
                        <a:t>13,208</a:t>
                      </a:r>
                    </a:p>
                  </a:txBody>
                  <a:tcPr marL="0" marR="0" marT="0" marB="0">
                    <a:solidFill>
                      <a:srgbClr val="FFFFFF"/>
                    </a:solidFill>
                  </a:tcPr>
                </a:tc>
                <a:tc>
                  <a:txBody>
                    <a:bodyPr/>
                    <a:lstStyle/>
                    <a:p>
                      <a:pPr algn="ctr">
                        <a:defRPr sz="1000">
                          <a:latin typeface="Montserrat"/>
                        </a:defRPr>
                      </a:pPr>
                      <a:r>
                        <a:t>613</a:t>
                      </a:r>
                    </a:p>
                  </a:txBody>
                  <a:tcPr marL="0" marR="0" marT="0" marB="0">
                    <a:solidFill>
                      <a:srgbClr val="FFFFFF"/>
                    </a:solidFill>
                  </a:tcPr>
                </a:tc>
                <a:tc>
                  <a:txBody>
                    <a:bodyPr/>
                    <a:lstStyle/>
                    <a:p>
                      <a:pPr algn="ctr">
                        <a:defRPr sz="1000">
                          <a:latin typeface="Montserrat"/>
                        </a:defRPr>
                      </a:pPr>
                      <a:r>
                        <a:t>4,415</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31.5%</a:t>
                      </a:r>
                    </a:p>
                  </a:txBody>
                  <a:tcPr marL="0" marR="0" marT="0" marB="0">
                    <a:solidFill>
                      <a:srgbClr val="ECD3D9"/>
                    </a:solidFill>
                  </a:tcPr>
                </a:tc>
              </a:tr>
              <a:tr h="151200">
                <a:tc>
                  <a:txBody>
                    <a:bodyPr/>
                    <a:lstStyle/>
                    <a:p>
                      <a:pPr algn="l">
                        <a:defRPr sz="1000">
                          <a:latin typeface="Montserrat"/>
                        </a:defRPr>
                      </a:pPr>
                      <a:r>
                        <a:t>UMF 36 Ojocaliente</a:t>
                      </a:r>
                    </a:p>
                  </a:txBody>
                  <a:tcPr marL="0" marR="0" marT="0" marB="0">
                    <a:solidFill>
                      <a:srgbClr val="EFEFEF"/>
                    </a:solidFill>
                  </a:tcPr>
                </a:tc>
                <a:tc>
                  <a:txBody>
                    <a:bodyPr/>
                    <a:lstStyle/>
                    <a:p>
                      <a:pPr algn="ctr">
                        <a:defRPr sz="1000">
                          <a:latin typeface="Montserrat"/>
                        </a:defRPr>
                      </a:pPr>
                      <a:r>
                        <a:t>26,719</a:t>
                      </a:r>
                    </a:p>
                  </a:txBody>
                  <a:tcPr marL="0" marR="0" marT="0" marB="0">
                    <a:solidFill>
                      <a:srgbClr val="EFEFEF"/>
                    </a:solidFill>
                  </a:tcPr>
                </a:tc>
                <a:tc>
                  <a:txBody>
                    <a:bodyPr/>
                    <a:lstStyle/>
                    <a:p>
                      <a:pPr algn="ctr">
                        <a:defRPr sz="1000">
                          <a:latin typeface="Montserrat"/>
                        </a:defRPr>
                      </a:pPr>
                      <a:r>
                        <a:t>2,955</a:t>
                      </a:r>
                    </a:p>
                  </a:txBody>
                  <a:tcPr marL="0" marR="0" marT="0" marB="0">
                    <a:solidFill>
                      <a:srgbClr val="EFEFEF"/>
                    </a:solidFill>
                  </a:tcPr>
                </a:tc>
                <a:tc>
                  <a:txBody>
                    <a:bodyPr/>
                    <a:lstStyle/>
                    <a:p>
                      <a:pPr algn="ctr">
                        <a:defRPr sz="1000">
                          <a:latin typeface="Montserrat"/>
                        </a:defRPr>
                      </a:pPr>
                      <a:r>
                        <a:t>10,125</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35 Noria Ángeles</a:t>
                      </a:r>
                    </a:p>
                  </a:txBody>
                  <a:tcPr marL="0" marR="0" marT="0" marB="0">
                    <a:solidFill>
                      <a:srgbClr val="FFFFFF"/>
                    </a:solidFill>
                  </a:tcPr>
                </a:tc>
                <a:tc>
                  <a:txBody>
                    <a:bodyPr/>
                    <a:lstStyle/>
                    <a:p>
                      <a:pPr algn="ctr">
                        <a:defRPr sz="1000">
                          <a:latin typeface="Montserrat"/>
                        </a:defRPr>
                      </a:pPr>
                      <a:r>
                        <a:t>9,657</a:t>
                      </a:r>
                    </a:p>
                  </a:txBody>
                  <a:tcPr marL="0" marR="0" marT="0" marB="0">
                    <a:solidFill>
                      <a:srgbClr val="FFFFFF"/>
                    </a:solidFill>
                  </a:tcPr>
                </a:tc>
                <a:tc>
                  <a:txBody>
                    <a:bodyPr/>
                    <a:lstStyle/>
                    <a:p>
                      <a:pPr algn="ctr">
                        <a:defRPr sz="1000">
                          <a:latin typeface="Montserrat"/>
                        </a:defRPr>
                      </a:pPr>
                      <a:r>
                        <a:t>4,866</a:t>
                      </a:r>
                    </a:p>
                  </a:txBody>
                  <a:tcPr marL="0" marR="0" marT="0" marB="0">
                    <a:solidFill>
                      <a:srgbClr val="FFFFFF"/>
                    </a:solidFill>
                  </a:tcPr>
                </a:tc>
                <a:tc>
                  <a:txBody>
                    <a:bodyPr/>
                    <a:lstStyle/>
                    <a:p>
                      <a:pPr algn="ctr">
                        <a:defRPr sz="1000">
                          <a:latin typeface="Montserrat"/>
                        </a:defRPr>
                      </a:pPr>
                      <a:r>
                        <a:t>3,513</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31.9%</a:t>
                      </a:r>
                    </a:p>
                  </a:txBody>
                  <a:tcPr marL="0" marR="0" marT="0" marB="0">
                    <a:solidFill>
                      <a:srgbClr val="ECD3D9"/>
                    </a:solidFill>
                  </a:tcPr>
                </a:tc>
              </a:tr>
              <a:tr h="151200">
                <a:tc>
                  <a:txBody>
                    <a:bodyPr/>
                    <a:lstStyle/>
                    <a:p>
                      <a:pPr algn="l">
                        <a:defRPr sz="1000">
                          <a:latin typeface="Montserrat"/>
                        </a:defRPr>
                      </a:pPr>
                      <a:r>
                        <a:t>UMF 33 Morelos</a:t>
                      </a:r>
                    </a:p>
                  </a:txBody>
                  <a:tcPr marL="0" marR="0" marT="0" marB="0">
                    <a:solidFill>
                      <a:srgbClr val="EFEFEF"/>
                    </a:solidFill>
                  </a:tcPr>
                </a:tc>
                <a:tc>
                  <a:txBody>
                    <a:bodyPr/>
                    <a:lstStyle/>
                    <a:p>
                      <a:pPr algn="ctr">
                        <a:defRPr sz="1000">
                          <a:latin typeface="Montserrat"/>
                        </a:defRPr>
                      </a:pPr>
                      <a:r>
                        <a:t>30,981</a:t>
                      </a:r>
                    </a:p>
                  </a:txBody>
                  <a:tcPr marL="0" marR="0" marT="0" marB="0">
                    <a:solidFill>
                      <a:srgbClr val="EFEFEF"/>
                    </a:solidFill>
                  </a:tcPr>
                </a:tc>
                <a:tc>
                  <a:txBody>
                    <a:bodyPr/>
                    <a:lstStyle/>
                    <a:p>
                      <a:pPr algn="ctr">
                        <a:defRPr sz="1000">
                          <a:latin typeface="Montserrat"/>
                        </a:defRPr>
                      </a:pPr>
                      <a:r>
                        <a:t>7,220</a:t>
                      </a:r>
                    </a:p>
                  </a:txBody>
                  <a:tcPr marL="0" marR="0" marT="0" marB="0">
                    <a:solidFill>
                      <a:srgbClr val="EFEFEF"/>
                    </a:solidFill>
                  </a:tcPr>
                </a:tc>
                <a:tc>
                  <a:txBody>
                    <a:bodyPr/>
                    <a:lstStyle/>
                    <a:p>
                      <a:pPr algn="ctr">
                        <a:defRPr sz="1000">
                          <a:latin typeface="Montserrat"/>
                        </a:defRPr>
                      </a:pPr>
                      <a:r>
                        <a:t>10,753</a:t>
                      </a:r>
                    </a:p>
                  </a:txBody>
                  <a:tcPr marL="0" marR="0" marT="0" marB="0">
                    <a:solidFill>
                      <a:srgbClr val="ECD3D9"/>
                    </a:solidFill>
                  </a:tcPr>
                </a:tc>
                <a:tc>
                  <a:txBody>
                    <a:bodyPr/>
                    <a:lstStyle/>
                    <a:p>
                      <a:pPr algn="ctr">
                        <a:defRPr sz="1000">
                          <a:latin typeface="Montserrat"/>
                        </a:defRPr>
                      </a:pPr>
                      <a:r>
                        <a:t>30,000</a:t>
                      </a:r>
                    </a:p>
                  </a:txBody>
                  <a:tcPr marL="0" marR="0" marT="0" marB="0">
                    <a:solidFill>
                      <a:srgbClr val="ECD3D9"/>
                    </a:solidFill>
                  </a:tcPr>
                </a:tc>
                <a:tc>
                  <a:txBody>
                    <a:bodyPr/>
                    <a:lstStyle/>
                    <a:p>
                      <a:pPr algn="ctr">
                        <a:defRPr sz="1000">
                          <a:latin typeface="Montserrat"/>
                        </a:defRPr>
                      </a:pPr>
                      <a:r>
                        <a:t>35.8%</a:t>
                      </a:r>
                    </a:p>
                  </a:txBody>
                  <a:tcPr marL="0" marR="0" marT="0" marB="0">
                    <a:solidFill>
                      <a:srgbClr val="ECD3D9"/>
                    </a:solidFill>
                  </a:tcPr>
                </a:tc>
              </a:tr>
              <a:tr h="151200">
                <a:tc>
                  <a:txBody>
                    <a:bodyPr/>
                    <a:lstStyle/>
                    <a:p>
                      <a:pPr algn="l">
                        <a:defRPr sz="1000">
                          <a:latin typeface="Montserrat"/>
                        </a:defRPr>
                      </a:pPr>
                      <a:r>
                        <a:t>UMF 27 Juchipila</a:t>
                      </a:r>
                    </a:p>
                  </a:txBody>
                  <a:tcPr marL="0" marR="0" marT="0" marB="0">
                    <a:solidFill>
                      <a:srgbClr val="FFFFFF"/>
                    </a:solidFill>
                  </a:tcPr>
                </a:tc>
                <a:tc>
                  <a:txBody>
                    <a:bodyPr/>
                    <a:lstStyle/>
                    <a:p>
                      <a:pPr algn="ctr">
                        <a:defRPr sz="1000">
                          <a:latin typeface="Montserrat"/>
                        </a:defRPr>
                      </a:pPr>
                      <a:r>
                        <a:t>7,055</a:t>
                      </a:r>
                    </a:p>
                  </a:txBody>
                  <a:tcPr marL="0" marR="0" marT="0" marB="0">
                    <a:solidFill>
                      <a:srgbClr val="FFFFFF"/>
                    </a:solidFill>
                  </a:tcPr>
                </a:tc>
                <a:tc>
                  <a:txBody>
                    <a:bodyPr/>
                    <a:lstStyle/>
                    <a:p>
                      <a:pPr algn="ctr">
                        <a:defRPr sz="1000">
                          <a:latin typeface="Montserrat"/>
                        </a:defRPr>
                      </a:pPr>
                      <a:r>
                        <a:t>-1,444</a:t>
                      </a:r>
                    </a:p>
                  </a:txBody>
                  <a:tcPr marL="0" marR="0" marT="0" marB="0">
                    <a:solidFill>
                      <a:srgbClr val="FFFFFF"/>
                    </a:solidFill>
                  </a:tcPr>
                </a:tc>
                <a:tc>
                  <a:txBody>
                    <a:bodyPr/>
                    <a:lstStyle/>
                    <a:p>
                      <a:pPr algn="ctr">
                        <a:defRPr sz="1000">
                          <a:latin typeface="Montserrat"/>
                        </a:defRPr>
                      </a:pPr>
                      <a:r>
                        <a:t>3,127</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39.1%</a:t>
                      </a:r>
                    </a:p>
                  </a:txBody>
                  <a:tcPr marL="0" marR="0" marT="0" marB="0">
                    <a:solidFill>
                      <a:srgbClr val="ECD3D9"/>
                    </a:solidFill>
                  </a:tcPr>
                </a:tc>
              </a:tr>
              <a:tr h="151200">
                <a:tc>
                  <a:txBody>
                    <a:bodyPr/>
                    <a:lstStyle/>
                    <a:p>
                      <a:pPr algn="l">
                        <a:defRPr sz="1000">
                          <a:latin typeface="Montserrat"/>
                        </a:defRPr>
                      </a:pPr>
                      <a:r>
                        <a:t>UMF 39 Tabasco</a:t>
                      </a:r>
                    </a:p>
                  </a:txBody>
                  <a:tcPr marL="0" marR="0" marT="0" marB="0">
                    <a:solidFill>
                      <a:srgbClr val="EFEFEF"/>
                    </a:solidFill>
                  </a:tcPr>
                </a:tc>
                <a:tc>
                  <a:txBody>
                    <a:bodyPr/>
                    <a:lstStyle/>
                    <a:p>
                      <a:pPr algn="ctr">
                        <a:defRPr sz="1000">
                          <a:latin typeface="Montserrat"/>
                        </a:defRPr>
                      </a:pPr>
                      <a:r>
                        <a:t>12,253</a:t>
                      </a:r>
                    </a:p>
                  </a:txBody>
                  <a:tcPr marL="0" marR="0" marT="0" marB="0">
                    <a:solidFill>
                      <a:srgbClr val="EFEFEF"/>
                    </a:solidFill>
                  </a:tcPr>
                </a:tc>
                <a:tc>
                  <a:txBody>
                    <a:bodyPr/>
                    <a:lstStyle/>
                    <a:p>
                      <a:pPr algn="ctr">
                        <a:defRPr sz="1000">
                          <a:latin typeface="Montserrat"/>
                        </a:defRPr>
                      </a:pPr>
                      <a:r>
                        <a:t>3,058</a:t>
                      </a:r>
                    </a:p>
                  </a:txBody>
                  <a:tcPr marL="0" marR="0" marT="0" marB="0">
                    <a:solidFill>
                      <a:srgbClr val="EFEFEF"/>
                    </a:solidFill>
                  </a:tcPr>
                </a:tc>
                <a:tc>
                  <a:txBody>
                    <a:bodyPr/>
                    <a:lstStyle/>
                    <a:p>
                      <a:pPr algn="ctr">
                        <a:defRPr sz="1000">
                          <a:latin typeface="Montserrat"/>
                        </a:defRPr>
                      </a:pPr>
                      <a:r>
                        <a:t>3,633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27.9%</a:t>
                      </a:r>
                    </a:p>
                  </a:txBody>
                  <a:tcPr marL="0" marR="0" marT="0" marB="0">
                    <a:solidFill>
                      <a:srgbClr val="ECD3D9"/>
                    </a:solidFill>
                  </a:tcPr>
                </a:tc>
              </a:tr>
              <a:tr h="151200">
                <a:tc>
                  <a:txBody>
                    <a:bodyPr/>
                    <a:lstStyle/>
                    <a:p>
                      <a:pPr algn="l">
                        <a:defRPr sz="1000">
                          <a:latin typeface="Montserrat"/>
                        </a:defRPr>
                      </a:pPr>
                      <a:r>
                        <a:t>UMF 25 Huanusco</a:t>
                      </a:r>
                    </a:p>
                  </a:txBody>
                  <a:tcPr marL="0" marR="0" marT="0" marB="0">
                    <a:solidFill>
                      <a:srgbClr val="FFFFFF"/>
                    </a:solidFill>
                  </a:tcPr>
                </a:tc>
                <a:tc>
                  <a:txBody>
                    <a:bodyPr/>
                    <a:lstStyle/>
                    <a:p>
                      <a:pPr algn="ctr">
                        <a:defRPr sz="1000">
                          <a:latin typeface="Montserrat"/>
                        </a:defRPr>
                      </a:pPr>
                      <a:r>
                        <a:t>1,417</a:t>
                      </a:r>
                    </a:p>
                  </a:txBody>
                  <a:tcPr marL="0" marR="0" marT="0" marB="0">
                    <a:solidFill>
                      <a:srgbClr val="FFFFFF"/>
                    </a:solidFill>
                  </a:tcPr>
                </a:tc>
                <a:tc>
                  <a:txBody>
                    <a:bodyPr/>
                    <a:lstStyle/>
                    <a:p>
                      <a:pPr algn="ctr">
                        <a:defRPr sz="1000">
                          <a:latin typeface="Montserrat"/>
                        </a:defRPr>
                      </a:pPr>
                      <a:r>
                        <a:t>-309</a:t>
                      </a:r>
                    </a:p>
                  </a:txBody>
                  <a:tcPr marL="0" marR="0" marT="0" marB="0">
                    <a:solidFill>
                      <a:srgbClr val="FFFFFF"/>
                    </a:solidFill>
                  </a:tcPr>
                </a:tc>
                <a:tc>
                  <a:txBody>
                    <a:bodyPr/>
                    <a:lstStyle/>
                    <a:p>
                      <a:pPr algn="ctr">
                        <a:defRPr sz="1000">
                          <a:latin typeface="Montserrat"/>
                        </a:defRPr>
                      </a:pPr>
                      <a:r>
                        <a:t>393</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13.1%</a:t>
                      </a:r>
                    </a:p>
                  </a:txBody>
                  <a:tcPr marL="0" marR="0" marT="0" marB="0">
                    <a:solidFill>
                      <a:srgbClr val="ECD3D9"/>
                    </a:solidFill>
                  </a:tcPr>
                </a:tc>
              </a:tr>
              <a:tr h="151200">
                <a:tc>
                  <a:txBody>
                    <a:bodyPr/>
                    <a:lstStyle/>
                    <a:p>
                      <a:pPr algn="l">
                        <a:defRPr sz="1000">
                          <a:latin typeface="Montserrat"/>
                        </a:defRPr>
                      </a:pPr>
                      <a:r>
                        <a:t>UMF 26 Juan Aldama</a:t>
                      </a:r>
                    </a:p>
                  </a:txBody>
                  <a:tcPr marL="0" marR="0" marT="0" marB="0">
                    <a:solidFill>
                      <a:srgbClr val="EFEFEF"/>
                    </a:solidFill>
                  </a:tcPr>
                </a:tc>
                <a:tc>
                  <a:txBody>
                    <a:bodyPr/>
                    <a:lstStyle/>
                    <a:p>
                      <a:pPr algn="ctr">
                        <a:defRPr sz="1000">
                          <a:latin typeface="Montserrat"/>
                        </a:defRPr>
                      </a:pPr>
                      <a:r>
                        <a:t>12,131</a:t>
                      </a:r>
                    </a:p>
                  </a:txBody>
                  <a:tcPr marL="0" marR="0" marT="0" marB="0">
                    <a:solidFill>
                      <a:srgbClr val="EFEFEF"/>
                    </a:solidFill>
                  </a:tcPr>
                </a:tc>
                <a:tc>
                  <a:txBody>
                    <a:bodyPr/>
                    <a:lstStyle/>
                    <a:p>
                      <a:pPr algn="ctr">
                        <a:defRPr sz="1000">
                          <a:latin typeface="Montserrat"/>
                        </a:defRPr>
                      </a:pPr>
                      <a:r>
                        <a:t>1,087</a:t>
                      </a:r>
                    </a:p>
                  </a:txBody>
                  <a:tcPr marL="0" marR="0" marT="0" marB="0">
                    <a:solidFill>
                      <a:srgbClr val="EFEFEF"/>
                    </a:solidFill>
                  </a:tcPr>
                </a:tc>
                <a:tc>
                  <a:txBody>
                    <a:bodyPr/>
                    <a:lstStyle/>
                    <a:p>
                      <a:pPr algn="ctr">
                        <a:defRPr sz="1000">
                          <a:latin typeface="Montserrat"/>
                        </a:defRPr>
                      </a:pPr>
                      <a:r>
                        <a:t>4,512</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34.7%</a:t>
                      </a:r>
                    </a:p>
                  </a:txBody>
                  <a:tcPr marL="0" marR="0" marT="0" marB="0">
                    <a:solidFill>
                      <a:srgbClr val="ECD3D9"/>
                    </a:solidFill>
                  </a:tcPr>
                </a:tc>
              </a:tr>
              <a:tr h="151200">
                <a:tc>
                  <a:txBody>
                    <a:bodyPr/>
                    <a:lstStyle/>
                    <a:p>
                      <a:pPr algn="l">
                        <a:defRPr sz="1000">
                          <a:latin typeface="Montserrat"/>
                        </a:defRPr>
                      </a:pPr>
                      <a:r>
                        <a:t>UMF 42 Teul González</a:t>
                      </a:r>
                    </a:p>
                  </a:txBody>
                  <a:tcPr marL="0" marR="0" marT="0" marB="0">
                    <a:solidFill>
                      <a:srgbClr val="FFFFFF"/>
                    </a:solidFill>
                  </a:tcPr>
                </a:tc>
                <a:tc>
                  <a:txBody>
                    <a:bodyPr/>
                    <a:lstStyle/>
                    <a:p>
                      <a:pPr algn="ctr">
                        <a:defRPr sz="1000">
                          <a:latin typeface="Montserrat"/>
                        </a:defRPr>
                      </a:pPr>
                      <a:r>
                        <a:t>6,575</a:t>
                      </a:r>
                    </a:p>
                  </a:txBody>
                  <a:tcPr marL="0" marR="0" marT="0" marB="0">
                    <a:solidFill>
                      <a:srgbClr val="FFFFFF"/>
                    </a:solidFill>
                  </a:tcPr>
                </a:tc>
                <a:tc>
                  <a:txBody>
                    <a:bodyPr/>
                    <a:lstStyle/>
                    <a:p>
                      <a:pPr algn="ctr">
                        <a:defRPr sz="1000">
                          <a:latin typeface="Montserrat"/>
                        </a:defRPr>
                      </a:pPr>
                      <a:r>
                        <a:t>688</a:t>
                      </a:r>
                    </a:p>
                  </a:txBody>
                  <a:tcPr marL="0" marR="0" marT="0" marB="0">
                    <a:solidFill>
                      <a:srgbClr val="FFFFFF"/>
                    </a:solidFill>
                  </a:tcPr>
                </a:tc>
                <a:tc>
                  <a:txBody>
                    <a:bodyPr/>
                    <a:lstStyle/>
                    <a:p>
                      <a:pPr algn="ctr">
                        <a:defRPr sz="1000">
                          <a:latin typeface="Montserrat"/>
                        </a:defRPr>
                      </a:pPr>
                      <a:r>
                        <a:t>2,053</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25.7%</a:t>
                      </a:r>
                    </a:p>
                  </a:txBody>
                  <a:tcPr marL="0" marR="0" marT="0" marB="0">
                    <a:solidFill>
                      <a:srgbClr val="ECD3D9"/>
                    </a:solidFill>
                  </a:tcPr>
                </a:tc>
              </a:tr>
              <a:tr h="151200">
                <a:tc>
                  <a:txBody>
                    <a:bodyPr/>
                    <a:lstStyle/>
                    <a:p>
                      <a:pPr algn="l">
                        <a:defRPr sz="1000">
                          <a:latin typeface="Montserrat"/>
                        </a:defRPr>
                      </a:pPr>
                      <a:r>
                        <a:t>UMF 22 Florencia</a:t>
                      </a:r>
                    </a:p>
                  </a:txBody>
                  <a:tcPr marL="0" marR="0" marT="0" marB="0">
                    <a:solidFill>
                      <a:srgbClr val="EFEFEF"/>
                    </a:solidFill>
                  </a:tcPr>
                </a:tc>
                <a:tc>
                  <a:txBody>
                    <a:bodyPr/>
                    <a:lstStyle/>
                    <a:p>
                      <a:pPr algn="ctr">
                        <a:defRPr sz="1000">
                          <a:latin typeface="Montserrat"/>
                        </a:defRPr>
                      </a:pPr>
                      <a:r>
                        <a:t>1,466</a:t>
                      </a:r>
                    </a:p>
                  </a:txBody>
                  <a:tcPr marL="0" marR="0" marT="0" marB="0">
                    <a:solidFill>
                      <a:srgbClr val="EFEFEF"/>
                    </a:solidFill>
                  </a:tcPr>
                </a:tc>
                <a:tc>
                  <a:txBody>
                    <a:bodyPr/>
                    <a:lstStyle/>
                    <a:p>
                      <a:pPr algn="ctr">
                        <a:defRPr sz="1000">
                          <a:latin typeface="Montserrat"/>
                        </a:defRPr>
                      </a:pPr>
                      <a:r>
                        <a:t>-106</a:t>
                      </a:r>
                    </a:p>
                  </a:txBody>
                  <a:tcPr marL="0" marR="0" marT="0" marB="0">
                    <a:solidFill>
                      <a:srgbClr val="EFEFEF"/>
                    </a:solidFill>
                  </a:tcPr>
                </a:tc>
                <a:tc>
                  <a:txBody>
                    <a:bodyPr/>
                    <a:lstStyle/>
                    <a:p>
                      <a:pPr algn="ctr">
                        <a:defRPr sz="1000">
                          <a:latin typeface="Montserrat"/>
                        </a:defRPr>
                      </a:pPr>
                      <a:r>
                        <a:t>476</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15.9%</a:t>
                      </a:r>
                    </a:p>
                  </a:txBody>
                  <a:tcPr marL="0" marR="0" marT="0" marB="0">
                    <a:solidFill>
                      <a:srgbClr val="ECD3D9"/>
                    </a:solidFill>
                  </a:tcPr>
                </a:tc>
              </a:tr>
              <a:tr h="151200">
                <a:tc>
                  <a:txBody>
                    <a:bodyPr/>
                    <a:lstStyle/>
                    <a:p>
                      <a:pPr algn="l">
                        <a:defRPr sz="1000">
                          <a:latin typeface="Montserrat"/>
                        </a:defRPr>
                      </a:pPr>
                      <a:r>
                        <a:t>UMF 43 Tlaltenango</a:t>
                      </a:r>
                    </a:p>
                  </a:txBody>
                  <a:tcPr marL="0" marR="0" marT="0" marB="0">
                    <a:solidFill>
                      <a:srgbClr val="FFFFFF"/>
                    </a:solidFill>
                  </a:tcPr>
                </a:tc>
                <a:tc>
                  <a:txBody>
                    <a:bodyPr/>
                    <a:lstStyle/>
                    <a:p>
                      <a:pPr algn="ctr">
                        <a:defRPr sz="1000">
                          <a:latin typeface="Montserrat"/>
                        </a:defRPr>
                      </a:pPr>
                      <a:r>
                        <a:t>11,050</a:t>
                      </a:r>
                    </a:p>
                  </a:txBody>
                  <a:tcPr marL="0" marR="0" marT="0" marB="0">
                    <a:solidFill>
                      <a:srgbClr val="FFFFFF"/>
                    </a:solidFill>
                  </a:tcPr>
                </a:tc>
                <a:tc>
                  <a:txBody>
                    <a:bodyPr/>
                    <a:lstStyle/>
                    <a:p>
                      <a:pPr algn="ctr">
                        <a:defRPr sz="1000">
                          <a:latin typeface="Montserrat"/>
                        </a:defRPr>
                      </a:pPr>
                      <a:r>
                        <a:t>2,055</a:t>
                      </a:r>
                    </a:p>
                  </a:txBody>
                  <a:tcPr marL="0" marR="0" marT="0" marB="0">
                    <a:solidFill>
                      <a:srgbClr val="FFFFFF"/>
                    </a:solidFill>
                  </a:tcPr>
                </a:tc>
                <a:tc>
                  <a:txBody>
                    <a:bodyPr/>
                    <a:lstStyle/>
                    <a:p>
                      <a:pPr algn="ctr">
                        <a:defRPr sz="1000">
                          <a:latin typeface="Montserrat"/>
                        </a:defRPr>
                      </a:pPr>
                      <a:r>
                        <a:t>4,159</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34.7%</a:t>
                      </a:r>
                    </a:p>
                  </a:txBody>
                  <a:tcPr marL="0" marR="0" marT="0" marB="0">
                    <a:solidFill>
                      <a:srgbClr val="ECD3D9"/>
                    </a:solidFill>
                  </a:tcPr>
                </a:tc>
              </a:tr>
              <a:tr h="151200">
                <a:tc>
                  <a:txBody>
                    <a:bodyPr/>
                    <a:lstStyle/>
                    <a:p>
                      <a:pPr algn="l">
                        <a:defRPr sz="1000">
                          <a:latin typeface="Montserrat"/>
                        </a:defRPr>
                      </a:pPr>
                      <a:r>
                        <a:t>UMF 31 Momax</a:t>
                      </a:r>
                    </a:p>
                  </a:txBody>
                  <a:tcPr marL="0" marR="0" marT="0" marB="0">
                    <a:solidFill>
                      <a:srgbClr val="EFEFEF"/>
                    </a:solidFill>
                  </a:tcPr>
                </a:tc>
                <a:tc>
                  <a:txBody>
                    <a:bodyPr/>
                    <a:lstStyle/>
                    <a:p>
                      <a:pPr algn="ctr">
                        <a:defRPr sz="1000">
                          <a:latin typeface="Montserrat"/>
                        </a:defRPr>
                      </a:pPr>
                      <a:r>
                        <a:t>2,391</a:t>
                      </a:r>
                    </a:p>
                  </a:txBody>
                  <a:tcPr marL="0" marR="0" marT="0" marB="0">
                    <a:solidFill>
                      <a:srgbClr val="EFEFEF"/>
                    </a:solidFill>
                  </a:tcPr>
                </a:tc>
                <a:tc>
                  <a:txBody>
                    <a:bodyPr/>
                    <a:lstStyle/>
                    <a:p>
                      <a:pPr algn="ctr">
                        <a:defRPr sz="1000">
                          <a:latin typeface="Montserrat"/>
                        </a:defRPr>
                      </a:pPr>
                      <a:r>
                        <a:t>622</a:t>
                      </a:r>
                    </a:p>
                  </a:txBody>
                  <a:tcPr marL="0" marR="0" marT="0" marB="0">
                    <a:solidFill>
                      <a:srgbClr val="EFEFEF"/>
                    </a:solidFill>
                  </a:tcPr>
                </a:tc>
                <a:tc>
                  <a:txBody>
                    <a:bodyPr/>
                    <a:lstStyle/>
                    <a:p>
                      <a:pPr algn="ctr">
                        <a:defRPr sz="1000">
                          <a:latin typeface="Montserrat"/>
                        </a:defRPr>
                      </a:pPr>
                      <a:r>
                        <a:t>1,248</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31.2%</a:t>
                      </a:r>
                    </a:p>
                  </a:txBody>
                  <a:tcPr marL="0" marR="0" marT="0" marB="0">
                    <a:solidFill>
                      <a:srgbClr val="ECD3D9"/>
                    </a:solidFill>
                  </a:tcPr>
                </a:tc>
              </a:tr>
              <a:tr h="151200">
                <a:tc>
                  <a:txBody>
                    <a:bodyPr/>
                    <a:lstStyle/>
                    <a:p>
                      <a:pPr algn="l">
                        <a:defRPr sz="1000">
                          <a:latin typeface="Montserrat"/>
                        </a:defRPr>
                      </a:pPr>
                      <a:r>
                        <a:t>UMF 49 Sain Alto</a:t>
                      </a:r>
                    </a:p>
                  </a:txBody>
                  <a:tcPr marL="0" marR="0" marT="0" marB="0">
                    <a:solidFill>
                      <a:srgbClr val="FFFFFF"/>
                    </a:solidFill>
                  </a:tcPr>
                </a:tc>
                <a:tc>
                  <a:txBody>
                    <a:bodyPr/>
                    <a:lstStyle/>
                    <a:p>
                      <a:pPr algn="ctr">
                        <a:defRPr sz="1000">
                          <a:latin typeface="Montserrat"/>
                        </a:defRPr>
                      </a:pPr>
                      <a:r>
                        <a:t>12,019</a:t>
                      </a:r>
                    </a:p>
                  </a:txBody>
                  <a:tcPr marL="0" marR="0" marT="0" marB="0">
                    <a:solidFill>
                      <a:srgbClr val="FFFFFF"/>
                    </a:solidFill>
                  </a:tcPr>
                </a:tc>
                <a:tc>
                  <a:txBody>
                    <a:bodyPr/>
                    <a:lstStyle/>
                    <a:p>
                      <a:pPr algn="ctr">
                        <a:defRPr sz="1000">
                          <a:latin typeface="Montserrat"/>
                        </a:defRPr>
                      </a:pPr>
                      <a:r>
                        <a:t>121</a:t>
                      </a:r>
                    </a:p>
                  </a:txBody>
                  <a:tcPr marL="0" marR="0" marT="0" marB="0">
                    <a:solidFill>
                      <a:srgbClr val="FFFFFF"/>
                    </a:solidFill>
                  </a:tcPr>
                </a:tc>
                <a:tc>
                  <a:txBody>
                    <a:bodyPr/>
                    <a:lstStyle/>
                    <a:p>
                      <a:pPr algn="ctr">
                        <a:defRPr sz="1000">
                          <a:latin typeface="Montserrat"/>
                        </a:defRPr>
                      </a:pPr>
                      <a:r>
                        <a:t>4,242</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32.6%</a:t>
                      </a:r>
                    </a:p>
                  </a:txBody>
                  <a:tcPr marL="0" marR="0" marT="0" marB="0">
                    <a:solidFill>
                      <a:srgbClr val="ECD3D9"/>
                    </a:solidFill>
                  </a:tcPr>
                </a:tc>
              </a:tr>
              <a:tr h="151200">
                <a:tc>
                  <a:txBody>
                    <a:bodyPr/>
                    <a:lstStyle/>
                    <a:p>
                      <a:pPr algn="l">
                        <a:defRPr sz="1000">
                          <a:latin typeface="Montserrat"/>
                        </a:defRPr>
                      </a:pPr>
                      <a:r>
                        <a:t>UMF 52 Cañitas de F. Pescador</a:t>
                      </a:r>
                    </a:p>
                  </a:txBody>
                  <a:tcPr marL="0" marR="0" marT="0" marB="0">
                    <a:solidFill>
                      <a:srgbClr val="EFEFEF"/>
                    </a:solidFill>
                  </a:tcPr>
                </a:tc>
                <a:tc>
                  <a:txBody>
                    <a:bodyPr/>
                    <a:lstStyle/>
                    <a:p>
                      <a:pPr algn="ctr">
                        <a:defRPr sz="1000">
                          <a:latin typeface="Montserrat"/>
                        </a:defRPr>
                      </a:pPr>
                      <a:r>
                        <a:t>12,676</a:t>
                      </a:r>
                    </a:p>
                  </a:txBody>
                  <a:tcPr marL="0" marR="0" marT="0" marB="0">
                    <a:solidFill>
                      <a:srgbClr val="EFEFEF"/>
                    </a:solidFill>
                  </a:tcPr>
                </a:tc>
                <a:tc>
                  <a:txBody>
                    <a:bodyPr/>
                    <a:lstStyle/>
                    <a:p>
                      <a:pPr algn="ctr">
                        <a:defRPr sz="1000">
                          <a:latin typeface="Montserrat"/>
                        </a:defRPr>
                      </a:pPr>
                      <a:r>
                        <a:t>2,993</a:t>
                      </a:r>
                    </a:p>
                  </a:txBody>
                  <a:tcPr marL="0" marR="0" marT="0" marB="0">
                    <a:solidFill>
                      <a:srgbClr val="EFEFEF"/>
                    </a:solidFill>
                  </a:tcPr>
                </a:tc>
                <a:tc>
                  <a:txBody>
                    <a:bodyPr/>
                    <a:lstStyle/>
                    <a:p>
                      <a:pPr algn="ctr">
                        <a:defRPr sz="1000">
                          <a:latin typeface="Montserrat"/>
                        </a:defRPr>
                      </a:pPr>
                      <a:r>
                        <a:t>4,376</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39.8%</a:t>
                      </a:r>
                    </a:p>
                  </a:txBody>
                  <a:tcPr marL="0" marR="0" marT="0" marB="0">
                    <a:solidFill>
                      <a:srgbClr val="ECD3D9"/>
                    </a:solidFill>
                  </a:tcPr>
                </a:tc>
              </a:tr>
              <a:tr h="151200">
                <a:tc>
                  <a:txBody>
                    <a:bodyPr/>
                    <a:lstStyle/>
                    <a:p>
                      <a:pPr algn="l">
                        <a:defRPr sz="1000">
                          <a:latin typeface="Montserrat"/>
                        </a:defRPr>
                      </a:pPr>
                      <a:r>
                        <a:t>UMF 57 Zacatecas</a:t>
                      </a:r>
                    </a:p>
                  </a:txBody>
                  <a:tcPr marL="0" marR="0" marT="0" marB="0">
                    <a:solidFill>
                      <a:srgbClr val="FFFFFF"/>
                    </a:solidFill>
                  </a:tcPr>
                </a:tc>
                <a:tc>
                  <a:txBody>
                    <a:bodyPr/>
                    <a:lstStyle/>
                    <a:p>
                      <a:pPr algn="ctr">
                        <a:defRPr sz="1000">
                          <a:latin typeface="Montserrat"/>
                        </a:defRPr>
                      </a:pPr>
                      <a:r>
                        <a:t>129,125</a:t>
                      </a:r>
                    </a:p>
                  </a:txBody>
                  <a:tcPr marL="0" marR="0" marT="0" marB="0">
                    <a:solidFill>
                      <a:srgbClr val="FFFFFF"/>
                    </a:solidFill>
                  </a:tcPr>
                </a:tc>
                <a:tc>
                  <a:txBody>
                    <a:bodyPr/>
                    <a:lstStyle/>
                    <a:p>
                      <a:pPr algn="ctr">
                        <a:defRPr sz="1000">
                          <a:latin typeface="Montserrat"/>
                        </a:defRPr>
                      </a:pPr>
                      <a:r>
                        <a:t>8,555</a:t>
                      </a:r>
                    </a:p>
                  </a:txBody>
                  <a:tcPr marL="0" marR="0" marT="0" marB="0">
                    <a:solidFill>
                      <a:srgbClr val="FFFFFF"/>
                    </a:solidFill>
                  </a:tcPr>
                </a:tc>
                <a:tc>
                  <a:txBody>
                    <a:bodyPr/>
                    <a:lstStyle/>
                    <a:p>
                      <a:pPr algn="ctr">
                        <a:defRPr sz="1000">
                          <a:latin typeface="Montserrat"/>
                        </a:defRPr>
                      </a:pPr>
                      <a:r>
                        <a:t>41,408</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33.1%</a:t>
                      </a:r>
                    </a:p>
                  </a:txBody>
                  <a:tcPr marL="0" marR="0" marT="0" marB="0">
                    <a:solidFill>
                      <a:srgbClr val="ECD3D9"/>
                    </a:solidFill>
                  </a:tcPr>
                </a:tc>
              </a:tr>
              <a:tr h="151200">
                <a:tc>
                  <a:txBody>
                    <a:bodyPr/>
                    <a:lstStyle/>
                    <a:p>
                      <a:pPr algn="l">
                        <a:defRPr sz="1000">
                          <a:latin typeface="Montserrat"/>
                        </a:defRPr>
                      </a:pPr>
                      <a:r>
                        <a:t>UMF 58 Villa Fontana </a:t>
                      </a:r>
                    </a:p>
                  </a:txBody>
                  <a:tcPr marL="0" marR="0" marT="0" marB="0">
                    <a:solidFill>
                      <a:srgbClr val="EFEFEF"/>
                    </a:solidFill>
                  </a:tcPr>
                </a:tc>
                <a:tc>
                  <a:txBody>
                    <a:bodyPr/>
                    <a:lstStyle/>
                    <a:p>
                      <a:pPr algn="ctr">
                        <a:defRPr sz="1000">
                          <a:latin typeface="Montserrat"/>
                        </a:defRPr>
                      </a:pPr>
                      <a:r>
                        <a:t>73,427</a:t>
                      </a:r>
                    </a:p>
                  </a:txBody>
                  <a:tcPr marL="0" marR="0" marT="0" marB="0">
                    <a:solidFill>
                      <a:srgbClr val="EFEFEF"/>
                    </a:solidFill>
                  </a:tcPr>
                </a:tc>
                <a:tc>
                  <a:txBody>
                    <a:bodyPr/>
                    <a:lstStyle/>
                    <a:p>
                      <a:pPr algn="ctr">
                        <a:defRPr sz="1000">
                          <a:latin typeface="Montserrat"/>
                        </a:defRPr>
                      </a:pPr>
                      <a:r>
                        <a:t>73,427</a:t>
                      </a:r>
                    </a:p>
                  </a:txBody>
                  <a:tcPr marL="0" marR="0" marT="0" marB="0">
                    <a:solidFill>
                      <a:srgbClr val="EFEFEF"/>
                    </a:solidFill>
                  </a:tcPr>
                </a:tc>
                <a:tc>
                  <a:txBody>
                    <a:bodyPr/>
                    <a:lstStyle/>
                    <a:p>
                      <a:pPr algn="ctr">
                        <a:defRPr sz="1000">
                          <a:latin typeface="Montserrat"/>
                        </a:defRPr>
                      </a:pPr>
                      <a:r>
                        <a:t>25,923</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780,799</a:t>
                      </a:r>
                    </a:p>
                  </a:txBody>
                  <a:tcPr marL="0" marR="0" marT="0" marB="0">
                    <a:solidFill>
                      <a:srgbClr val="D3E9E7"/>
                    </a:solidFill>
                  </a:tcPr>
                </a:tc>
                <a:tc>
                  <a:txBody>
                    <a:bodyPr/>
                    <a:lstStyle/>
                    <a:p>
                      <a:pPr algn="ctr">
                        <a:defRPr sz="1000" b="1">
                          <a:solidFill>
                            <a:srgbClr val="006556"/>
                          </a:solidFill>
                          <a:latin typeface="Montserrat"/>
                        </a:defRPr>
                      </a:pPr>
                      <a:r>
                        <a:t>149,677</a:t>
                      </a:r>
                    </a:p>
                  </a:txBody>
                  <a:tcPr marL="0" marR="0" marT="0" marB="0">
                    <a:solidFill>
                      <a:srgbClr val="D3E9E7"/>
                    </a:solidFill>
                  </a:tcPr>
                </a:tc>
                <a:tc>
                  <a:txBody>
                    <a:bodyPr/>
                    <a:lstStyle/>
                    <a:p>
                      <a:pPr algn="ctr">
                        <a:defRPr sz="1000" b="1">
                          <a:solidFill>
                            <a:srgbClr val="FFFFFF"/>
                          </a:solidFill>
                          <a:latin typeface="Montserrat"/>
                        </a:defRPr>
                      </a:pPr>
                      <a:r>
                        <a:t>271,340</a:t>
                      </a:r>
                    </a:p>
                  </a:txBody>
                  <a:tcPr marL="0" marR="0" marT="0" marB="0">
                    <a:solidFill>
                      <a:srgbClr val="9F2241"/>
                    </a:solidFill>
                  </a:tcPr>
                </a:tc>
                <a:tc>
                  <a:txBody>
                    <a:bodyPr/>
                    <a:lstStyle/>
                    <a:p>
                      <a:pPr algn="ctr">
                        <a:defRPr sz="1000" b="1">
                          <a:solidFill>
                            <a:srgbClr val="FFFFFF"/>
                          </a:solidFill>
                          <a:latin typeface="Montserrat"/>
                        </a:defRPr>
                      </a:pPr>
                      <a:r>
                        <a:t>825,652</a:t>
                      </a:r>
                    </a:p>
                  </a:txBody>
                  <a:tcPr marL="0" marR="0" marT="0" marB="0">
                    <a:solidFill>
                      <a:srgbClr val="9F2241"/>
                    </a:solidFill>
                  </a:tcPr>
                </a:tc>
                <a:tc>
                  <a:txBody>
                    <a:bodyPr/>
                    <a:lstStyle/>
                    <a:p>
                      <a:pPr algn="ctr">
                        <a:defRPr sz="1000" b="1">
                          <a:solidFill>
                            <a:srgbClr val="FFFFFF"/>
                          </a:solidFill>
                          <a:latin typeface="Montserrat"/>
                        </a:defRPr>
                      </a:pPr>
                      <a:r>
                        <a:t>32.9%</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75528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8272800"/>
            <a:ext cx="1800000" cy="360000"/>
          </a:xfrm>
          <a:prstGeom prst="rect">
            <a:avLst/>
          </a:prstGeom>
          <a:noFill/>
        </p:spPr>
        <p:txBody>
          <a:bodyPr wrap="none">
            <a:spAutoFit/>
          </a:bodyPr>
          <a:lstStyle/>
          <a:p>
            <a:pPr algn="ctr"/>
            <a:r>
              <a:rPr sz="2400" b="1">
                <a:solidFill>
                  <a:srgbClr val="9F2241"/>
                </a:solidFill>
                <a:latin typeface="Montserrat"/>
              </a:rPr>
              <a:t>32.9%</a:t>
            </a:r>
          </a:p>
        </p:txBody>
      </p:sp>
      <p:sp>
        <p:nvSpPr>
          <p:cNvPr id="11" name="TextBox 10"/>
          <p:cNvSpPr txBox="1"/>
          <p:nvPr/>
        </p:nvSpPr>
        <p:spPr>
          <a:xfrm>
            <a:off x="4780800" y="9172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552800"/>
            <a:ext cx="2854800" cy="1198800"/>
          </a:xfrm>
          <a:prstGeom prst="rect">
            <a:avLst/>
          </a:prstGeom>
          <a:noFill/>
        </p:spPr>
        <p:txBody>
          <a:bodyPr wrap="square">
            <a:spAutoFit/>
          </a:bodyPr>
          <a:lstStyle/>
          <a:p>
            <a:pPr algn="ctr">
              <a:defRPr sz="3600" b="1">
                <a:solidFill>
                  <a:srgbClr val="9F2241"/>
                </a:solidFill>
                <a:latin typeface="Montserrat"/>
              </a:defRPr>
            </a:pPr>
            <a:r>
              <a:t>825,652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6" name="CuadroTexto 15">
            <a:extLst>
              <a:ext uri="{FF2B5EF4-FFF2-40B4-BE49-F238E27FC236}">
                <a16:creationId xmlns:a16="http://schemas.microsoft.com/office/drawing/2014/main" id="{D8E6FE26-E3D6-2FE1-3614-28AED108C910}"/>
              </a:ext>
            </a:extLst>
          </p:cNvPr>
          <p:cNvSpPr txBox="1"/>
          <p:nvPr/>
        </p:nvSpPr>
        <p:spPr>
          <a:xfrm>
            <a:off x="4251107" y="5086446"/>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6 Nuevas UMTC con   14 consultorios</a:t>
            </a:r>
          </a:p>
        </p:txBody>
      </p:sp>
      <p:sp>
        <p:nvSpPr>
          <p:cNvPr id="17" name="CuadroTexto 16">
            <a:extLst>
              <a:ext uri="{FF2B5EF4-FFF2-40B4-BE49-F238E27FC236}">
                <a16:creationId xmlns:a16="http://schemas.microsoft.com/office/drawing/2014/main" id="{165E3FD0-F29E-073F-F5F4-0BC9710BF7A9}"/>
              </a:ext>
            </a:extLst>
          </p:cNvPr>
          <p:cNvSpPr txBox="1"/>
          <p:nvPr/>
        </p:nvSpPr>
        <p:spPr>
          <a:xfrm>
            <a:off x="4675225" y="6132637"/>
            <a:ext cx="2634711" cy="1384995"/>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5 Jerez</a:t>
            </a:r>
          </a:p>
          <a:p>
            <a:pPr marL="342900" indent="-342900">
              <a:buFont typeface="+mj-lt"/>
              <a:buAutoNum type="arabicParenR"/>
            </a:pPr>
            <a:r>
              <a:rPr lang="es-MX" dirty="0">
                <a:latin typeface="Montserrat" panose="00000500000000000000" pitchFamily="2" charset="0"/>
              </a:rPr>
              <a:t>UMF 58 Villa Fontana </a:t>
            </a:r>
          </a:p>
          <a:p>
            <a:pPr marL="342900" indent="-342900">
              <a:buFont typeface="+mj-lt"/>
              <a:buAutoNum type="arabicParenR"/>
            </a:pPr>
            <a:r>
              <a:rPr lang="es-MX" dirty="0">
                <a:latin typeface="Montserrat" panose="00000500000000000000" pitchFamily="2" charset="0"/>
              </a:rPr>
              <a:t>UMF 7 Sombrerete</a:t>
            </a:r>
          </a:p>
          <a:p>
            <a:pPr marL="342900" indent="-342900">
              <a:buFont typeface="+mj-lt"/>
              <a:buAutoNum type="arabicParenR"/>
            </a:pPr>
            <a:r>
              <a:rPr lang="es-MX" dirty="0">
                <a:latin typeface="Montserrat" panose="00000500000000000000" pitchFamily="2" charset="0"/>
              </a:rPr>
              <a:t>UMF 33 Morelos</a:t>
            </a:r>
          </a:p>
          <a:p>
            <a:pPr marL="342900" indent="-342900">
              <a:buFont typeface="+mj-lt"/>
              <a:buAutoNum type="arabicParenR"/>
            </a:pPr>
            <a:r>
              <a:rPr lang="es-MX" dirty="0">
                <a:latin typeface="Montserrat" panose="00000500000000000000" pitchFamily="2" charset="0"/>
              </a:rPr>
              <a:t>UMF 1 Zacatecas</a:t>
            </a:r>
          </a:p>
          <a:p>
            <a:pPr marL="342900" indent="-342900">
              <a:buFont typeface="+mj-lt"/>
              <a:buAutoNum type="arabicParenR"/>
            </a:pPr>
            <a:r>
              <a:rPr lang="es-MX" dirty="0">
                <a:latin typeface="Montserrat" panose="00000500000000000000" pitchFamily="2" charset="0"/>
              </a:rPr>
              <a:t>UMF 57 Zacatecas</a:t>
            </a:r>
          </a:p>
        </p:txBody>
      </p:sp>
      <p:sp>
        <p:nvSpPr>
          <p:cNvPr id="18" name="TextBox 1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19" name="TextBox 1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35 Unidades de Medicina Familiar</a:t>
            </a:r>
          </a:p>
        </p:txBody>
      </p:sp>
      <p:sp>
        <p:nvSpPr>
          <p:cNvPr id="20" name="TextBox 1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3 Unidades Médicas de tiempo completo (10 consultorios)</a:t>
            </a:r>
          </a:p>
        </p:txBody>
      </p:sp>
      <p:sp>
        <p:nvSpPr>
          <p:cNvPr id="21" name="TextBox 2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2" name="Connector 2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24" name="TextBox 2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(61,010 consultas)</a:t>
            </a:r>
          </a:p>
        </p:txBody>
      </p:sp>
      <p:graphicFrame>
        <p:nvGraphicFramePr>
          <p:cNvPr id="25" name="Table 24"/>
          <p:cNvGraphicFramePr>
            <a:graphicFrameLocks noGrp="1"/>
          </p:cNvGraphicFramePr>
          <p:nvPr/>
        </p:nvGraphicFramePr>
        <p:xfrm>
          <a:off x="151200" y="1695600"/>
          <a:ext cx="7473599" cy="756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21 Víctor Rosales</a:t>
                      </a:r>
                    </a:p>
                  </a:txBody>
                  <a:tcPr marL="0" marR="0" marT="0" marB="0">
                    <a:solidFill>
                      <a:srgbClr val="FFFFFF"/>
                    </a:solidFill>
                  </a:tcPr>
                </a:tc>
                <a:tc>
                  <a:txBody>
                    <a:bodyPr/>
                    <a:lstStyle/>
                    <a:p>
                      <a:pPr algn="ctr">
                        <a:defRPr sz="1000">
                          <a:solidFill>
                            <a:srgbClr val="000000"/>
                          </a:solidFill>
                          <a:latin typeface="Montserrat"/>
                        </a:defRPr>
                      </a:pPr>
                      <a:r>
                        <a:t>49,683</a:t>
                      </a:r>
                    </a:p>
                  </a:txBody>
                  <a:tcPr marL="0" marR="0" marT="0" marB="0">
                    <a:solidFill>
                      <a:srgbClr val="FFFFFF"/>
                    </a:solidFill>
                  </a:tcPr>
                </a:tc>
                <a:tc>
                  <a:txBody>
                    <a:bodyPr/>
                    <a:lstStyle/>
                    <a:p>
                      <a:pPr algn="ctr">
                        <a:defRPr sz="1000">
                          <a:solidFill>
                            <a:srgbClr val="000000"/>
                          </a:solidFill>
                          <a:latin typeface="Montserrat"/>
                        </a:defRPr>
                      </a:pPr>
                      <a:r>
                        <a:t>12,620</a:t>
                      </a:r>
                    </a:p>
                  </a:txBody>
                  <a:tcPr marL="0" marR="0" marT="0" marB="0">
                    <a:solidFill>
                      <a:srgbClr val="FFFFFF"/>
                    </a:solidFill>
                  </a:tcPr>
                </a:tc>
                <a:tc>
                  <a:txBody>
                    <a:bodyPr/>
                    <a:lstStyle/>
                    <a:p>
                      <a:pPr algn="ctr">
                        <a:defRPr sz="1000">
                          <a:solidFill>
                            <a:srgbClr val="000000"/>
                          </a:solidFill>
                          <a:latin typeface="Montserrat"/>
                        </a:defRPr>
                      </a:pPr>
                      <a:r>
                        <a:t>18,563</a:t>
                      </a:r>
                    </a:p>
                  </a:txBody>
                  <a:tcPr marL="0" marR="0" marT="0" marB="0">
                    <a:solidFill>
                      <a:srgbClr val="ECD3D9"/>
                    </a:solidFill>
                  </a:tcPr>
                </a:tc>
                <a:tc>
                  <a:txBody>
                    <a:bodyPr/>
                    <a:lstStyle/>
                    <a:p>
                      <a:pPr algn="ctr">
                        <a:defRPr sz="1000">
                          <a:solidFill>
                            <a:srgbClr val="000000"/>
                          </a:solidFill>
                          <a:latin typeface="Montserrat"/>
                        </a:defRPr>
                      </a:pPr>
                      <a:r>
                        <a:t>49,000</a:t>
                      </a:r>
                    </a:p>
                  </a:txBody>
                  <a:tcPr marL="0" marR="0" marT="0" marB="0">
                    <a:solidFill>
                      <a:srgbClr val="ECD3D9"/>
                    </a:solidFill>
                  </a:tcPr>
                </a:tc>
                <a:tc>
                  <a:txBody>
                    <a:bodyPr/>
                    <a:lstStyle/>
                    <a:p>
                      <a:pPr algn="ctr">
                        <a:defRPr sz="1000">
                          <a:solidFill>
                            <a:srgbClr val="000000"/>
                          </a:solidFill>
                          <a:latin typeface="Montserrat"/>
                        </a:defRPr>
                      </a:pPr>
                      <a:r>
                        <a:t>37.9%</a:t>
                      </a:r>
                    </a:p>
                  </a:txBody>
                  <a:tcPr marL="0" marR="0" marT="0" marB="0">
                    <a:solidFill>
                      <a:srgbClr val="ECD3D9"/>
                    </a:solidFill>
                  </a:tcPr>
                </a:tc>
              </a:tr>
              <a:tr h="151200">
                <a:tc>
                  <a:txBody>
                    <a:bodyPr/>
                    <a:lstStyle/>
                    <a:p>
                      <a:pPr algn="l">
                        <a:defRPr sz="1000">
                          <a:solidFill>
                            <a:srgbClr val="000000"/>
                          </a:solidFill>
                          <a:latin typeface="Montserrat"/>
                        </a:defRPr>
                      </a:pPr>
                      <a:r>
                        <a:t>UMF 4 Guadalupe</a:t>
                      </a:r>
                    </a:p>
                  </a:txBody>
                  <a:tcPr marL="0" marR="0" marT="0" marB="0">
                    <a:solidFill>
                      <a:srgbClr val="EFEFEF"/>
                    </a:solidFill>
                  </a:tcPr>
                </a:tc>
                <a:tc>
                  <a:txBody>
                    <a:bodyPr/>
                    <a:lstStyle/>
                    <a:p>
                      <a:pPr algn="ctr">
                        <a:defRPr sz="1000">
                          <a:solidFill>
                            <a:srgbClr val="000000"/>
                          </a:solidFill>
                          <a:latin typeface="Montserrat"/>
                        </a:defRPr>
                      </a:pPr>
                      <a:r>
                        <a:t>164,846</a:t>
                      </a:r>
                    </a:p>
                  </a:txBody>
                  <a:tcPr marL="0" marR="0" marT="0" marB="0">
                    <a:solidFill>
                      <a:srgbClr val="EFEFEF"/>
                    </a:solidFill>
                  </a:tcPr>
                </a:tc>
                <a:tc>
                  <a:txBody>
                    <a:bodyPr/>
                    <a:lstStyle/>
                    <a:p>
                      <a:pPr algn="ctr">
                        <a:defRPr sz="1000">
                          <a:solidFill>
                            <a:srgbClr val="000000"/>
                          </a:solidFill>
                          <a:latin typeface="Montserrat"/>
                        </a:defRPr>
                      </a:pPr>
                      <a:r>
                        <a:t>1,635</a:t>
                      </a:r>
                    </a:p>
                  </a:txBody>
                  <a:tcPr marL="0" marR="0" marT="0" marB="0">
                    <a:solidFill>
                      <a:srgbClr val="EFEFEF"/>
                    </a:solidFill>
                  </a:tcPr>
                </a:tc>
                <a:tc>
                  <a:txBody>
                    <a:bodyPr/>
                    <a:lstStyle/>
                    <a:p>
                      <a:pPr algn="ctr">
                        <a:defRPr sz="1000">
                          <a:solidFill>
                            <a:srgbClr val="000000"/>
                          </a:solidFill>
                          <a:latin typeface="Montserrat"/>
                        </a:defRPr>
                      </a:pPr>
                      <a:r>
                        <a:t>55,845</a:t>
                      </a:r>
                    </a:p>
                  </a:txBody>
                  <a:tcPr marL="0" marR="0" marT="0" marB="0">
                    <a:solidFill>
                      <a:srgbClr val="ECD3D9"/>
                    </a:solidFill>
                  </a:tcPr>
                </a:tc>
                <a:tc>
                  <a:txBody>
                    <a:bodyPr/>
                    <a:lstStyle/>
                    <a:p>
                      <a:pPr algn="ctr">
                        <a:defRPr sz="1000">
                          <a:solidFill>
                            <a:srgbClr val="000000"/>
                          </a:solidFill>
                          <a:latin typeface="Montserrat"/>
                        </a:defRPr>
                      </a:pPr>
                      <a:r>
                        <a:t>160,000</a:t>
                      </a:r>
                    </a:p>
                  </a:txBody>
                  <a:tcPr marL="0" marR="0" marT="0" marB="0">
                    <a:solidFill>
                      <a:srgbClr val="ECD3D9"/>
                    </a:solidFill>
                  </a:tcPr>
                </a:tc>
                <a:tc>
                  <a:txBody>
                    <a:bodyPr/>
                    <a:lstStyle/>
                    <a:p>
                      <a:pPr algn="ctr">
                        <a:defRPr sz="1000">
                          <a:solidFill>
                            <a:srgbClr val="000000"/>
                          </a:solidFill>
                          <a:latin typeface="Montserrat"/>
                        </a:defRPr>
                      </a:pPr>
                      <a:r>
                        <a:t>34.9%</a:t>
                      </a:r>
                    </a:p>
                  </a:txBody>
                  <a:tcPr marL="0" marR="0" marT="0" marB="0">
                    <a:solidFill>
                      <a:srgbClr val="ECD3D9"/>
                    </a:solidFill>
                  </a:tcPr>
                </a:tc>
              </a:tr>
              <a:tr h="151200">
                <a:tc>
                  <a:txBody>
                    <a:bodyPr/>
                    <a:lstStyle/>
                    <a:p>
                      <a:pPr algn="l">
                        <a:defRPr sz="1000">
                          <a:solidFill>
                            <a:srgbClr val="000000"/>
                          </a:solidFill>
                          <a:latin typeface="Montserrat"/>
                        </a:defRPr>
                      </a:pPr>
                      <a:r>
                        <a:t>UMF 55 Fresnillo</a:t>
                      </a:r>
                    </a:p>
                  </a:txBody>
                  <a:tcPr marL="0" marR="0" marT="0" marB="0">
                    <a:solidFill>
                      <a:srgbClr val="FFFFFF"/>
                    </a:solidFill>
                  </a:tcPr>
                </a:tc>
                <a:tc>
                  <a:txBody>
                    <a:bodyPr/>
                    <a:lstStyle/>
                    <a:p>
                      <a:pPr algn="ctr">
                        <a:defRPr sz="1000">
                          <a:solidFill>
                            <a:srgbClr val="000000"/>
                          </a:solidFill>
                          <a:latin typeface="Montserrat"/>
                        </a:defRPr>
                      </a:pPr>
                      <a:r>
                        <a:t>238,414</a:t>
                      </a:r>
                    </a:p>
                  </a:txBody>
                  <a:tcPr marL="0" marR="0" marT="0" marB="0">
                    <a:solidFill>
                      <a:srgbClr val="FFFFFF"/>
                    </a:solidFill>
                  </a:tcPr>
                </a:tc>
                <a:tc>
                  <a:txBody>
                    <a:bodyPr/>
                    <a:lstStyle/>
                    <a:p>
                      <a:pPr algn="ctr">
                        <a:defRPr sz="1000">
                          <a:solidFill>
                            <a:srgbClr val="000000"/>
                          </a:solidFill>
                          <a:latin typeface="Montserrat"/>
                        </a:defRPr>
                      </a:pPr>
                      <a:r>
                        <a:t>19,797</a:t>
                      </a:r>
                    </a:p>
                  </a:txBody>
                  <a:tcPr marL="0" marR="0" marT="0" marB="0">
                    <a:solidFill>
                      <a:srgbClr val="FFFFFF"/>
                    </a:solidFill>
                  </a:tcPr>
                </a:tc>
                <a:tc>
                  <a:txBody>
                    <a:bodyPr/>
                    <a:lstStyle/>
                    <a:p>
                      <a:pPr algn="ctr">
                        <a:defRPr sz="1000">
                          <a:solidFill>
                            <a:srgbClr val="000000"/>
                          </a:solidFill>
                          <a:latin typeface="Montserrat"/>
                        </a:defRPr>
                      </a:pPr>
                      <a:r>
                        <a:t>78,730</a:t>
                      </a:r>
                    </a:p>
                  </a:txBody>
                  <a:tcPr marL="0" marR="0" marT="0" marB="0">
                    <a:solidFill>
                      <a:srgbClr val="ECD3D9"/>
                    </a:solidFill>
                  </a:tcPr>
                </a:tc>
                <a:tc>
                  <a:txBody>
                    <a:bodyPr/>
                    <a:lstStyle/>
                    <a:p>
                      <a:pPr algn="ctr">
                        <a:defRPr sz="1000">
                          <a:solidFill>
                            <a:srgbClr val="000000"/>
                          </a:solidFill>
                          <a:latin typeface="Montserrat"/>
                        </a:defRPr>
                      </a:pPr>
                      <a:r>
                        <a:t>247,968</a:t>
                      </a:r>
                    </a:p>
                  </a:txBody>
                  <a:tcPr marL="0" marR="0" marT="0" marB="0">
                    <a:solidFill>
                      <a:srgbClr val="ECD3D9"/>
                    </a:solidFill>
                  </a:tcPr>
                </a:tc>
                <a:tc>
                  <a:txBody>
                    <a:bodyPr/>
                    <a:lstStyle/>
                    <a:p>
                      <a:pPr algn="ctr">
                        <a:defRPr sz="1000">
                          <a:solidFill>
                            <a:srgbClr val="000000"/>
                          </a:solidFill>
                          <a:latin typeface="Montserrat"/>
                        </a:defRPr>
                      </a:pPr>
                      <a:r>
                        <a:t>31.8%</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452,943</a:t>
                      </a:r>
                    </a:p>
                  </a:txBody>
                  <a:tcPr marL="0" marR="0" marT="0" marB="0">
                    <a:solidFill>
                      <a:srgbClr val="D3E9E7"/>
                    </a:solidFill>
                  </a:tcPr>
                </a:tc>
                <a:tc>
                  <a:txBody>
                    <a:bodyPr/>
                    <a:lstStyle/>
                    <a:p>
                      <a:pPr algn="ctr">
                        <a:defRPr sz="1000" b="1">
                          <a:solidFill>
                            <a:srgbClr val="006556"/>
                          </a:solidFill>
                          <a:latin typeface="Montserrat"/>
                        </a:defRPr>
                      </a:pPr>
                      <a:r>
                        <a:t>34,052</a:t>
                      </a:r>
                    </a:p>
                  </a:txBody>
                  <a:tcPr marL="0" marR="0" marT="0" marB="0">
                    <a:solidFill>
                      <a:srgbClr val="D3E9E7"/>
                    </a:solidFill>
                  </a:tcPr>
                </a:tc>
                <a:tc>
                  <a:txBody>
                    <a:bodyPr/>
                    <a:lstStyle/>
                    <a:p>
                      <a:pPr algn="ctr">
                        <a:defRPr sz="1000" b="1">
                          <a:solidFill>
                            <a:srgbClr val="FFFFFF"/>
                          </a:solidFill>
                          <a:latin typeface="Montserrat"/>
                        </a:defRPr>
                      </a:pPr>
                      <a:r>
                        <a:t>153,138</a:t>
                      </a:r>
                    </a:p>
                  </a:txBody>
                  <a:tcPr marL="0" marR="0" marT="0" marB="0">
                    <a:solidFill>
                      <a:srgbClr val="9F2241"/>
                    </a:solidFill>
                  </a:tcPr>
                </a:tc>
                <a:tc>
                  <a:txBody>
                    <a:bodyPr/>
                    <a:lstStyle/>
                    <a:p>
                      <a:pPr algn="ctr">
                        <a:defRPr sz="1000" b="1">
                          <a:solidFill>
                            <a:srgbClr val="FFFFFF"/>
                          </a:solidFill>
                          <a:latin typeface="Montserrat"/>
                        </a:defRPr>
                      </a:pPr>
                      <a:r>
                        <a:t>456,968</a:t>
                      </a:r>
                    </a:p>
                  </a:txBody>
                  <a:tcPr marL="0" marR="0" marT="0" marB="0">
                    <a:solidFill>
                      <a:srgbClr val="9F2241"/>
                    </a:solidFill>
                  </a:tcPr>
                </a:tc>
                <a:tc>
                  <a:txBody>
                    <a:bodyPr/>
                    <a:lstStyle/>
                    <a:p>
                      <a:pPr algn="ctr">
                        <a:defRPr sz="1000" b="1">
                          <a:solidFill>
                            <a:srgbClr val="FFFFFF"/>
                          </a:solidFill>
                          <a:latin typeface="Montserrat"/>
                        </a:defRPr>
                      </a:pPr>
                      <a:r>
                        <a:t>33.5%</a:t>
                      </a:r>
                    </a:p>
                  </a:txBody>
                  <a:tcPr marL="0" marR="0" marT="0" marB="0">
                    <a:solidFill>
                      <a:srgbClr val="9F2241"/>
                    </a:solidFill>
                  </a:tcPr>
                </a:tc>
              </a:tr>
            </a:tbl>
          </a:graphicData>
        </a:graphic>
      </p:graphicFrame>
      <p:graphicFrame>
        <p:nvGraphicFramePr>
          <p:cNvPr id="26" name="Chart 2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7" name="TextBox 26"/>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313796946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Zacatecas</a:t>
                      </a:r>
                    </a:p>
                  </a:txBody>
                  <a:tcPr>
                    <a:solidFill>
                      <a:srgbClr val="FFFFFF"/>
                    </a:solidFill>
                  </a:tcPr>
                </a:tc>
                <a:tc>
                  <a:txBody>
                    <a:bodyPr/>
                    <a:lstStyle/>
                    <a:p>
                      <a:pPr algn="ctr">
                        <a:defRPr sz="1000">
                          <a:latin typeface="Montserrat"/>
                        </a:defRPr>
                      </a:pPr>
                      <a:r>
                        <a:t>181,048</a:t>
                      </a:r>
                    </a:p>
                  </a:txBody>
                  <a:tcPr>
                    <a:solidFill>
                      <a:srgbClr val="FFFFFF"/>
                    </a:solidFill>
                  </a:tcPr>
                </a:tc>
                <a:tc>
                  <a:txBody>
                    <a:bodyPr/>
                    <a:lstStyle/>
                    <a:p>
                      <a:pPr algn="ctr">
                        <a:defRPr sz="1000">
                          <a:latin typeface="Montserrat"/>
                        </a:defRPr>
                      </a:pPr>
                      <a:r>
                        <a:t>19,319</a:t>
                      </a:r>
                    </a:p>
                  </a:txBody>
                  <a:tcPr>
                    <a:solidFill>
                      <a:srgbClr val="FFFFFF"/>
                    </a:solidFill>
                  </a:tcPr>
                </a:tc>
                <a:tc>
                  <a:txBody>
                    <a:bodyPr/>
                    <a:lstStyle/>
                    <a:p>
                      <a:pPr algn="ctr">
                        <a:defRPr sz="1000">
                          <a:latin typeface="Montserrat"/>
                        </a:defRPr>
                      </a:pPr>
                      <a:r>
                        <a:t>61,986</a:t>
                      </a:r>
                    </a:p>
                  </a:txBody>
                  <a:tcPr>
                    <a:solidFill>
                      <a:srgbClr val="ECD3D9"/>
                    </a:solidFill>
                  </a:tcPr>
                </a:tc>
                <a:tc>
                  <a:txBody>
                    <a:bodyPr/>
                    <a:lstStyle/>
                    <a:p>
                      <a:pPr algn="ctr">
                        <a:defRPr sz="1000">
                          <a:latin typeface="Montserrat"/>
                        </a:defRPr>
                      </a:pPr>
                      <a:r>
                        <a:t>190,530</a:t>
                      </a:r>
                    </a:p>
                  </a:txBody>
                  <a:tcPr>
                    <a:solidFill>
                      <a:srgbClr val="ECD3D9"/>
                    </a:solidFill>
                  </a:tcPr>
                </a:tc>
                <a:tc>
                  <a:txBody>
                    <a:bodyPr/>
                    <a:lstStyle/>
                    <a:p>
                      <a:pPr algn="ctr">
                        <a:defRPr sz="1000">
                          <a:latin typeface="Montserrat"/>
                        </a:defRPr>
                      </a:pPr>
                      <a:r>
                        <a:t>32.5%</a:t>
                      </a:r>
                    </a:p>
                  </a:txBody>
                  <a:tcPr>
                    <a:solidFill>
                      <a:srgbClr val="ECD3D9"/>
                    </a:solidFill>
                  </a:tcPr>
                </a:tc>
              </a:tr>
              <a:tr h="284400">
                <a:tc>
                  <a:txBody>
                    <a:bodyPr/>
                    <a:lstStyle/>
                    <a:p>
                      <a:pPr algn="l">
                        <a:defRPr sz="1000">
                          <a:latin typeface="Montserrat"/>
                        </a:defRPr>
                      </a:pPr>
                      <a:r>
                        <a:t>HGZ 2 Fresnillo</a:t>
                      </a:r>
                    </a:p>
                  </a:txBody>
                  <a:tcPr>
                    <a:solidFill>
                      <a:srgbClr val="EFEFEF"/>
                    </a:solidFill>
                  </a:tcPr>
                </a:tc>
                <a:tc>
                  <a:txBody>
                    <a:bodyPr/>
                    <a:lstStyle/>
                    <a:p>
                      <a:pPr algn="ctr">
                        <a:defRPr sz="1000">
                          <a:latin typeface="Montserrat"/>
                        </a:defRPr>
                      </a:pPr>
                      <a:r>
                        <a:t>75,025</a:t>
                      </a:r>
                    </a:p>
                  </a:txBody>
                  <a:tcPr>
                    <a:solidFill>
                      <a:srgbClr val="EFEFEF"/>
                    </a:solidFill>
                  </a:tcPr>
                </a:tc>
                <a:tc>
                  <a:txBody>
                    <a:bodyPr/>
                    <a:lstStyle/>
                    <a:p>
                      <a:pPr algn="ctr">
                        <a:defRPr sz="1000">
                          <a:latin typeface="Montserrat"/>
                        </a:defRPr>
                      </a:pPr>
                      <a:r>
                        <a:t>12,335</a:t>
                      </a:r>
                    </a:p>
                  </a:txBody>
                  <a:tcPr>
                    <a:solidFill>
                      <a:srgbClr val="EFEFEF"/>
                    </a:solidFill>
                  </a:tcPr>
                </a:tc>
                <a:tc>
                  <a:txBody>
                    <a:bodyPr/>
                    <a:lstStyle/>
                    <a:p>
                      <a:pPr algn="ctr">
                        <a:defRPr sz="1000">
                          <a:latin typeface="Montserrat"/>
                        </a:defRPr>
                      </a:pPr>
                      <a:r>
                        <a:t>29,572</a:t>
                      </a:r>
                    </a:p>
                  </a:txBody>
                  <a:tcPr>
                    <a:solidFill>
                      <a:srgbClr val="ECD3D9"/>
                    </a:solidFill>
                  </a:tcPr>
                </a:tc>
                <a:tc>
                  <a:txBody>
                    <a:bodyPr/>
                    <a:lstStyle/>
                    <a:p>
                      <a:pPr algn="ctr">
                        <a:defRPr sz="1000">
                          <a:latin typeface="Montserrat"/>
                        </a:defRPr>
                      </a:pPr>
                      <a:r>
                        <a:t>93,075</a:t>
                      </a:r>
                    </a:p>
                  </a:txBody>
                  <a:tcPr>
                    <a:solidFill>
                      <a:srgbClr val="ECD3D9"/>
                    </a:solidFill>
                  </a:tcPr>
                </a:tc>
                <a:tc>
                  <a:txBody>
                    <a:bodyPr/>
                    <a:lstStyle/>
                    <a:p>
                      <a:pPr algn="ctr">
                        <a:defRPr sz="1000">
                          <a:latin typeface="Montserrat"/>
                        </a:defRPr>
                      </a:pPr>
                      <a:r>
                        <a:t>31.8%</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256,073</a:t>
                      </a:r>
                    </a:p>
                  </a:txBody>
                  <a:tcPr>
                    <a:solidFill>
                      <a:srgbClr val="D3E9E7"/>
                    </a:solidFill>
                  </a:tcPr>
                </a:tc>
                <a:tc>
                  <a:txBody>
                    <a:bodyPr/>
                    <a:lstStyle/>
                    <a:p>
                      <a:pPr algn="ctr">
                        <a:defRPr sz="1000" b="1">
                          <a:solidFill>
                            <a:srgbClr val="006556"/>
                          </a:solidFill>
                          <a:latin typeface="Montserrat"/>
                        </a:defRPr>
                      </a:pPr>
                      <a:r>
                        <a:t>31,654</a:t>
                      </a:r>
                    </a:p>
                  </a:txBody>
                  <a:tcPr>
                    <a:solidFill>
                      <a:srgbClr val="D3E9E7"/>
                    </a:solidFill>
                  </a:tcPr>
                </a:tc>
                <a:tc>
                  <a:txBody>
                    <a:bodyPr/>
                    <a:lstStyle/>
                    <a:p>
                      <a:pPr algn="ctr">
                        <a:defRPr sz="1000" b="1">
                          <a:solidFill>
                            <a:srgbClr val="FFFFFF"/>
                          </a:solidFill>
                          <a:latin typeface="Montserrat"/>
                        </a:defRPr>
                      </a:pPr>
                      <a:r>
                        <a:t>91,558</a:t>
                      </a:r>
                    </a:p>
                  </a:txBody>
                  <a:tcPr>
                    <a:solidFill>
                      <a:srgbClr val="9F2241"/>
                    </a:solidFill>
                  </a:tcPr>
                </a:tc>
                <a:tc>
                  <a:txBody>
                    <a:bodyPr/>
                    <a:lstStyle/>
                    <a:p>
                      <a:pPr algn="ctr">
                        <a:defRPr sz="1000" b="1">
                          <a:solidFill>
                            <a:srgbClr val="FFFFFF"/>
                          </a:solidFill>
                          <a:latin typeface="Montserrat"/>
                        </a:defRPr>
                      </a:pPr>
                      <a:r>
                        <a:t>283,605</a:t>
                      </a:r>
                    </a:p>
                  </a:txBody>
                  <a:tcPr>
                    <a:solidFill>
                      <a:srgbClr val="9F2241"/>
                    </a:solidFill>
                  </a:tcPr>
                </a:tc>
                <a:tc>
                  <a:txBody>
                    <a:bodyPr/>
                    <a:lstStyle/>
                    <a:p>
                      <a:pPr algn="ctr">
                        <a:defRPr sz="1000" b="1">
                          <a:solidFill>
                            <a:srgbClr val="FFFFFF"/>
                          </a:solidFill>
                          <a:latin typeface="Montserrat"/>
                        </a:defRPr>
                      </a:pPr>
                      <a:r>
                        <a:t>32.3%</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366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086000"/>
            <a:ext cx="1800000" cy="360000"/>
          </a:xfrm>
          <a:prstGeom prst="rect">
            <a:avLst/>
          </a:prstGeom>
          <a:noFill/>
        </p:spPr>
        <p:txBody>
          <a:bodyPr wrap="none">
            <a:spAutoFit/>
          </a:bodyPr>
          <a:lstStyle/>
          <a:p>
            <a:pPr algn="ctr"/>
            <a:r>
              <a:rPr sz="2400" b="1">
                <a:solidFill>
                  <a:srgbClr val="9F2241"/>
                </a:solidFill>
                <a:latin typeface="Montserrat"/>
              </a:rPr>
              <a:t>32.3%</a:t>
            </a:r>
          </a:p>
        </p:txBody>
      </p:sp>
      <p:sp>
        <p:nvSpPr>
          <p:cNvPr id="239" name="TextBox 238"/>
          <p:cNvSpPr txBox="1"/>
          <p:nvPr/>
        </p:nvSpPr>
        <p:spPr>
          <a:xfrm>
            <a:off x="4780800" y="4986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366000"/>
            <a:ext cx="2854800" cy="1198800"/>
          </a:xfrm>
          <a:prstGeom prst="rect">
            <a:avLst/>
          </a:prstGeom>
          <a:noFill/>
        </p:spPr>
        <p:txBody>
          <a:bodyPr wrap="square">
            <a:spAutoFit/>
          </a:bodyPr>
          <a:lstStyle/>
          <a:p>
            <a:pPr algn="ctr">
              <a:defRPr sz="3600" b="1">
                <a:solidFill>
                  <a:srgbClr val="9F2241"/>
                </a:solidFill>
                <a:latin typeface="Montserrat"/>
              </a:defRPr>
            </a:pPr>
            <a:r>
              <a:t>283,605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28617359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Zacatecas</a:t>
                      </a:r>
                    </a:p>
                  </a:txBody>
                  <a:tcPr>
                    <a:solidFill>
                      <a:srgbClr val="FFFFFF"/>
                    </a:solidFill>
                  </a:tcPr>
                </a:tc>
                <a:tc>
                  <a:txBody>
                    <a:bodyPr/>
                    <a:lstStyle/>
                    <a:p>
                      <a:pPr algn="ctr">
                        <a:defRPr sz="1000">
                          <a:latin typeface="Montserrat"/>
                        </a:defRPr>
                      </a:pPr>
                      <a:r>
                        <a:t>8,320</a:t>
                      </a:r>
                    </a:p>
                  </a:txBody>
                  <a:tcPr>
                    <a:solidFill>
                      <a:srgbClr val="FFFFFF"/>
                    </a:solidFill>
                  </a:tcPr>
                </a:tc>
                <a:tc>
                  <a:txBody>
                    <a:bodyPr/>
                    <a:lstStyle/>
                    <a:p>
                      <a:pPr algn="ctr">
                        <a:defRPr sz="1000">
                          <a:latin typeface="Montserrat"/>
                        </a:defRPr>
                      </a:pPr>
                      <a:r>
                        <a:t>368</a:t>
                      </a:r>
                    </a:p>
                  </a:txBody>
                  <a:tcPr>
                    <a:solidFill>
                      <a:srgbClr val="FFFFFF"/>
                    </a:solidFill>
                  </a:tcPr>
                </a:tc>
                <a:tc>
                  <a:txBody>
                    <a:bodyPr/>
                    <a:lstStyle/>
                    <a:p>
                      <a:pPr algn="ctr">
                        <a:defRPr sz="1000">
                          <a:latin typeface="Montserrat"/>
                        </a:defRPr>
                      </a:pPr>
                      <a:r>
                        <a:t>2,755</a:t>
                      </a:r>
                    </a:p>
                  </a:txBody>
                  <a:tcPr>
                    <a:solidFill>
                      <a:srgbClr val="ECD3D9"/>
                    </a:solidFill>
                  </a:tcPr>
                </a:tc>
                <a:tc>
                  <a:txBody>
                    <a:bodyPr/>
                    <a:lstStyle/>
                    <a:p>
                      <a:pPr algn="ctr">
                        <a:defRPr sz="1000">
                          <a:latin typeface="Montserrat"/>
                        </a:defRPr>
                      </a:pPr>
                      <a:r>
                        <a:t>9,149</a:t>
                      </a:r>
                    </a:p>
                  </a:txBody>
                  <a:tcPr>
                    <a:solidFill>
                      <a:srgbClr val="ECD3D9"/>
                    </a:solidFill>
                  </a:tcPr>
                </a:tc>
                <a:tc>
                  <a:txBody>
                    <a:bodyPr/>
                    <a:lstStyle/>
                    <a:p>
                      <a:pPr algn="ctr">
                        <a:defRPr sz="1000">
                          <a:latin typeface="Montserrat"/>
                        </a:defRPr>
                      </a:pPr>
                      <a:r>
                        <a:t>30.1%</a:t>
                      </a:r>
                    </a:p>
                  </a:txBody>
                  <a:tcPr>
                    <a:solidFill>
                      <a:srgbClr val="ECD3D9"/>
                    </a:solidFill>
                  </a:tcPr>
                </a:tc>
              </a:tr>
              <a:tr h="284400">
                <a:tc>
                  <a:txBody>
                    <a:bodyPr/>
                    <a:lstStyle/>
                    <a:p>
                      <a:pPr algn="l">
                        <a:defRPr sz="1000">
                          <a:latin typeface="Montserrat"/>
                        </a:defRPr>
                      </a:pPr>
                      <a:r>
                        <a:t>HGZ 2 Fresnillo</a:t>
                      </a:r>
                    </a:p>
                  </a:txBody>
                  <a:tcPr>
                    <a:solidFill>
                      <a:srgbClr val="EFEFEF"/>
                    </a:solidFill>
                  </a:tcPr>
                </a:tc>
                <a:tc>
                  <a:txBody>
                    <a:bodyPr/>
                    <a:lstStyle/>
                    <a:p>
                      <a:pPr algn="ctr">
                        <a:defRPr sz="1000">
                          <a:latin typeface="Montserrat"/>
                        </a:defRPr>
                      </a:pPr>
                      <a:r>
                        <a:t>4,690</a:t>
                      </a:r>
                    </a:p>
                  </a:txBody>
                  <a:tcPr>
                    <a:solidFill>
                      <a:srgbClr val="EFEFEF"/>
                    </a:solidFill>
                  </a:tcPr>
                </a:tc>
                <a:tc>
                  <a:txBody>
                    <a:bodyPr/>
                    <a:lstStyle/>
                    <a:p>
                      <a:pPr algn="ctr">
                        <a:defRPr sz="1000">
                          <a:latin typeface="Montserrat"/>
                        </a:defRPr>
                      </a:pPr>
                      <a:r>
                        <a:t>-31</a:t>
                      </a:r>
                    </a:p>
                  </a:txBody>
                  <a:tcPr>
                    <a:solidFill>
                      <a:srgbClr val="EFEFEF"/>
                    </a:solidFill>
                  </a:tcPr>
                </a:tc>
                <a:tc>
                  <a:txBody>
                    <a:bodyPr/>
                    <a:lstStyle/>
                    <a:p>
                      <a:pPr algn="ctr">
                        <a:defRPr sz="1000">
                          <a:latin typeface="Montserrat"/>
                        </a:defRPr>
                      </a:pPr>
                      <a:r>
                        <a:t>1,619</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27.6%</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13,010</a:t>
                      </a:r>
                    </a:p>
                  </a:txBody>
                  <a:tcPr>
                    <a:solidFill>
                      <a:srgbClr val="D3E9E7"/>
                    </a:solidFill>
                  </a:tcPr>
                </a:tc>
                <a:tc>
                  <a:txBody>
                    <a:bodyPr/>
                    <a:lstStyle/>
                    <a:p>
                      <a:pPr algn="ctr">
                        <a:defRPr sz="1000" b="1">
                          <a:solidFill>
                            <a:srgbClr val="006556"/>
                          </a:solidFill>
                          <a:latin typeface="Montserrat"/>
                        </a:defRPr>
                      </a:pPr>
                      <a:r>
                        <a:t>337</a:t>
                      </a:r>
                    </a:p>
                  </a:txBody>
                  <a:tcPr>
                    <a:solidFill>
                      <a:srgbClr val="D3E9E7"/>
                    </a:solidFill>
                  </a:tcPr>
                </a:tc>
                <a:tc>
                  <a:txBody>
                    <a:bodyPr/>
                    <a:lstStyle/>
                    <a:p>
                      <a:pPr algn="ctr">
                        <a:defRPr sz="1000" b="1">
                          <a:solidFill>
                            <a:srgbClr val="FFFFFF"/>
                          </a:solidFill>
                          <a:latin typeface="Montserrat"/>
                        </a:defRPr>
                      </a:pPr>
                      <a:r>
                        <a:t>4,374</a:t>
                      </a:r>
                    </a:p>
                  </a:txBody>
                  <a:tcPr>
                    <a:solidFill>
                      <a:srgbClr val="9F2241"/>
                    </a:solidFill>
                  </a:tcPr>
                </a:tc>
                <a:tc>
                  <a:txBody>
                    <a:bodyPr/>
                    <a:lstStyle/>
                    <a:p>
                      <a:pPr algn="ctr">
                        <a:defRPr sz="1000" b="1">
                          <a:solidFill>
                            <a:srgbClr val="FFFFFF"/>
                          </a:solidFill>
                          <a:latin typeface="Montserrat"/>
                        </a:defRPr>
                      </a:pPr>
                      <a:r>
                        <a:t>15,005</a:t>
                      </a:r>
                    </a:p>
                  </a:txBody>
                  <a:tcPr>
                    <a:solidFill>
                      <a:srgbClr val="9F2241"/>
                    </a:solidFill>
                  </a:tcPr>
                </a:tc>
                <a:tc>
                  <a:txBody>
                    <a:bodyPr/>
                    <a:lstStyle/>
                    <a:p>
                      <a:pPr algn="ctr">
                        <a:defRPr sz="1000" b="1">
                          <a:solidFill>
                            <a:srgbClr val="FFFFFF"/>
                          </a:solidFill>
                          <a:latin typeface="Montserrat"/>
                        </a:defRPr>
                      </a:pPr>
                      <a:r>
                        <a:t>29.2%</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009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3729600"/>
            <a:ext cx="1800000" cy="360000"/>
          </a:xfrm>
          <a:prstGeom prst="rect">
            <a:avLst/>
          </a:prstGeom>
          <a:noFill/>
        </p:spPr>
        <p:txBody>
          <a:bodyPr wrap="none">
            <a:spAutoFit/>
          </a:bodyPr>
          <a:lstStyle/>
          <a:p>
            <a:pPr algn="ctr"/>
            <a:r>
              <a:rPr sz="2400" b="1">
                <a:solidFill>
                  <a:srgbClr val="9F2241"/>
                </a:solidFill>
                <a:latin typeface="Montserrat"/>
              </a:rPr>
              <a:t>29.2%</a:t>
            </a:r>
          </a:p>
        </p:txBody>
      </p:sp>
      <p:sp>
        <p:nvSpPr>
          <p:cNvPr id="236" name="TextBox 235"/>
          <p:cNvSpPr txBox="1"/>
          <p:nvPr/>
        </p:nvSpPr>
        <p:spPr>
          <a:xfrm>
            <a:off x="4780800" y="462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009600"/>
            <a:ext cx="2854800" cy="1198800"/>
          </a:xfrm>
          <a:prstGeom prst="rect">
            <a:avLst/>
          </a:prstGeom>
          <a:noFill/>
        </p:spPr>
        <p:txBody>
          <a:bodyPr wrap="square">
            <a:spAutoFit/>
          </a:bodyPr>
          <a:lstStyle/>
          <a:p>
            <a:pPr algn="ctr">
              <a:defRPr sz="3600" b="1">
                <a:solidFill>
                  <a:srgbClr val="9F2241"/>
                </a:solidFill>
                <a:latin typeface="Montserrat"/>
              </a:defRPr>
            </a:pPr>
            <a:r>
              <a:t>15,005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79 en Hospitales, 1 en sede, 10 en UMF y 39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79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02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3">
                  <a:txBody>
                    <a:bodyPr/>
                    <a:lstStyle/>
                    <a:p>
                      <a:pPr algn="ctr">
                        <a:defRPr sz="800" b="1">
                          <a:solidFill>
                            <a:srgbClr val="000000"/>
                          </a:solidFill>
                          <a:latin typeface="Montserrat"/>
                        </a:defRPr>
                      </a:pPr>
                      <a:r>
                        <a:t>Hospital General de Zona 2</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C/MF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579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Rural Concepción del Oro</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579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Rural Fresnillo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9839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Pinos</a:t>
                      </a:r>
                    </a:p>
                  </a:txBody>
                  <a:tcPr anchor="ctr">
                    <a:noFill/>
                  </a:tcPr>
                </a:tc>
                <a:tc>
                  <a:txBody>
                    <a:bodyPr/>
                    <a:lstStyle/>
                    <a:p>
                      <a:pPr algn="ctr">
                        <a:defRPr sz="800" b="0">
                          <a:solidFill>
                            <a:srgbClr val="000000"/>
                          </a:solidFill>
                          <a:latin typeface="Montserrat"/>
                        </a:defRPr>
                      </a:pPr>
                      <a:r>
                        <a:t>Anestesiología para los Servicios Rurales de Salud</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9839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Río Grande</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spTree>
    <p:extLst>
      <p:ext uri="{BB962C8B-B14F-4D97-AF65-F5344CB8AC3E}">
        <p14:creationId xmlns:p14="http://schemas.microsoft.com/office/powerpoint/2010/main" val="1200248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221115">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221115">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39</a:t>
                      </a:r>
                    </a:p>
                  </a:txBody>
                  <a:tcPr anchor="ctr" marL="45720" marR="45720" marT="45720" marB="45720">
                    <a:solidFill>
                      <a:srgbClr val="FFFFFF"/>
                    </a:solidFill>
                  </a:tcPr>
                </a:tc>
                <a:tc>
                  <a:txBody>
                    <a:bodyPr/>
                    <a:lstStyle/>
                    <a:p>
                      <a:pPr algn="ctr">
                        <a:defRPr sz="1100" b="1">
                          <a:solidFill>
                            <a:srgbClr val="000000"/>
                          </a:solidFill>
                          <a:latin typeface="Montserrat"/>
                        </a:defRPr>
                      </a:pPr>
                      <a:r>
                        <a:t>30.2%</a:t>
                      </a:r>
                    </a:p>
                  </a:txBody>
                  <a:tcPr anchor="ctr" marL="45720" marR="45720" marT="45720" marB="45720">
                    <a:solidFill>
                      <a:srgbClr val="FFFFFF"/>
                    </a:solidFill>
                  </a:tcPr>
                </a:tc>
              </a:tr>
              <a:tr h="221115">
                <a:tc>
                  <a:txBody>
                    <a:bodyPr/>
                    <a:lstStyle/>
                    <a:p>
                      <a:pPr algn="l">
                        <a:defRPr sz="1100" b="0">
                          <a:solidFill>
                            <a:srgbClr val="000000"/>
                          </a:solidFill>
                          <a:latin typeface="Montserrat"/>
                        </a:defRPr>
                      </a:pPr>
                      <a:r>
                        <a:t>Hospital Rural Villanueva</a:t>
                      </a:r>
                    </a:p>
                  </a:txBody>
                  <a:tcPr anchor="ctr" marL="45720" marR="45720" marT="45720" marB="45720">
                    <a:solidFill>
                      <a:srgbClr val="D9D9D9"/>
                    </a:solidFill>
                  </a:tcPr>
                </a:tc>
                <a:tc>
                  <a:txBody>
                    <a:bodyPr/>
                    <a:lstStyle/>
                    <a:p>
                      <a:pPr algn="ctr">
                        <a:defRPr sz="1100" b="0">
                          <a:solidFill>
                            <a:srgbClr val="000000"/>
                          </a:solidFill>
                          <a:latin typeface="Montserrat"/>
                        </a:defRPr>
                      </a:pPr>
                      <a:r>
                        <a:t>32</a:t>
                      </a:r>
                    </a:p>
                  </a:txBody>
                  <a:tcPr anchor="ctr" marL="45720" marR="45720" marT="45720" marB="45720">
                    <a:solidFill>
                      <a:srgbClr val="D9D9D9"/>
                    </a:solidFill>
                  </a:tcPr>
                </a:tc>
                <a:tc>
                  <a:txBody>
                    <a:bodyPr/>
                    <a:lstStyle/>
                    <a:p>
                      <a:pPr algn="ctr">
                        <a:defRPr sz="1100" b="1">
                          <a:solidFill>
                            <a:srgbClr val="000000"/>
                          </a:solidFill>
                          <a:latin typeface="Montserrat"/>
                        </a:defRPr>
                      </a:pPr>
                      <a:r>
                        <a:t>55.0%</a:t>
                      </a:r>
                    </a:p>
                  </a:txBody>
                  <a:tcPr anchor="ctr" marL="45720" marR="45720" marT="45720" marB="45720">
                    <a:solidFill>
                      <a:srgbClr val="D9D9D9"/>
                    </a:solidFill>
                  </a:tcPr>
                </a:tc>
              </a:tr>
              <a:tr h="221115">
                <a:tc>
                  <a:txBody>
                    <a:bodyPr/>
                    <a:lstStyle/>
                    <a:p>
                      <a:pPr algn="l">
                        <a:defRPr sz="1100" b="0">
                          <a:solidFill>
                            <a:srgbClr val="000000"/>
                          </a:solidFill>
                          <a:latin typeface="Montserrat"/>
                        </a:defRPr>
                      </a:pPr>
                      <a:r>
                        <a:t>Hospital General de Zona 2</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65.8%</a:t>
                      </a:r>
                    </a:p>
                  </a:txBody>
                  <a:tcPr anchor="ctr" marL="45720" marR="45720" marT="45720" marB="45720">
                    <a:solidFill>
                      <a:srgbClr val="FFFFFF"/>
                    </a:solidFill>
                  </a:tcPr>
                </a:tc>
              </a:tr>
              <a:tr h="221115">
                <a:tc>
                  <a:txBody>
                    <a:bodyPr/>
                    <a:lstStyle/>
                    <a:p>
                      <a:pPr algn="l">
                        <a:defRPr sz="1100" b="0">
                          <a:solidFill>
                            <a:srgbClr val="000000"/>
                          </a:solidFill>
                          <a:latin typeface="Montserrat"/>
                        </a:defRPr>
                      </a:pPr>
                      <a:r>
                        <a:t>Hospital Rural Río Grande</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73.6%</a:t>
                      </a:r>
                    </a:p>
                  </a:txBody>
                  <a:tcPr anchor="ctr" marL="45720" marR="45720" marT="45720" marB="45720">
                    <a:solidFill>
                      <a:srgbClr val="D9D9D9"/>
                    </a:solidFill>
                  </a:tcPr>
                </a:tc>
              </a:tr>
              <a:tr h="221115">
                <a:tc>
                  <a:txBody>
                    <a:bodyPr/>
                    <a:lstStyle/>
                    <a:p>
                      <a:pPr algn="l">
                        <a:defRPr sz="1100" b="0">
                          <a:solidFill>
                            <a:srgbClr val="000000"/>
                          </a:solidFill>
                          <a:latin typeface="Montserrat"/>
                        </a:defRPr>
                      </a:pPr>
                      <a:r>
                        <a:t>Hospital General de Zona C/MF 1</a:t>
                      </a:r>
                    </a:p>
                  </a:txBody>
                  <a:tcPr anchor="ctr" marL="45720" marR="45720" marT="45720" marB="45720">
                    <a:solidFill>
                      <a:srgbClr val="FFFFFF"/>
                    </a:solidFill>
                  </a:tcPr>
                </a:tc>
                <a:tc>
                  <a:txBody>
                    <a:bodyPr/>
                    <a:lstStyle/>
                    <a:p>
                      <a:pPr algn="ctr">
                        <a:defRPr sz="1100" b="0">
                          <a:solidFill>
                            <a:srgbClr val="000000"/>
                          </a:solidFill>
                          <a:latin typeface="Montserrat"/>
                        </a:defRPr>
                      </a:pPr>
                      <a:r>
                        <a:t>7</a:t>
                      </a:r>
                    </a:p>
                  </a:txBody>
                  <a:tcPr anchor="ctr" marL="45720" marR="45720" marT="45720" marB="45720">
                    <a:solidFill>
                      <a:srgbClr val="FFFFFF"/>
                    </a:solidFill>
                  </a:tcPr>
                </a:tc>
                <a:tc>
                  <a:txBody>
                    <a:bodyPr/>
                    <a:lstStyle/>
                    <a:p>
                      <a:pPr algn="ctr">
                        <a:defRPr sz="1100" b="1">
                          <a:solidFill>
                            <a:srgbClr val="000000"/>
                          </a:solidFill>
                          <a:latin typeface="Montserrat"/>
                        </a:defRPr>
                      </a:pPr>
                      <a:r>
                        <a:t>79.0%</a:t>
                      </a:r>
                    </a:p>
                  </a:txBody>
                  <a:tcPr anchor="ctr" marL="45720" marR="45720" marT="45720" marB="45720">
                    <a:solidFill>
                      <a:srgbClr val="FFFFFF"/>
                    </a:solidFill>
                  </a:tcPr>
                </a:tc>
              </a:tr>
              <a:tr h="221115">
                <a:tc>
                  <a:txBody>
                    <a:bodyPr/>
                    <a:lstStyle/>
                    <a:p>
                      <a:pPr algn="l">
                        <a:defRPr sz="1100" b="0">
                          <a:solidFill>
                            <a:srgbClr val="000000"/>
                          </a:solidFill>
                          <a:latin typeface="Montserrat"/>
                        </a:defRPr>
                      </a:pPr>
                      <a:r>
                        <a:t>Hospital Rural Tlaltenango</a:t>
                      </a:r>
                    </a:p>
                  </a:txBody>
                  <a:tcPr anchor="ctr" marL="45720" marR="45720" marT="45720" marB="45720">
                    <a:solidFill>
                      <a:srgbClr val="D9D9D9"/>
                    </a:solidFill>
                  </a:tcPr>
                </a:tc>
                <a:tc>
                  <a:txBody>
                    <a:bodyPr/>
                    <a:lstStyle/>
                    <a:p>
                      <a:pPr algn="ctr">
                        <a:defRPr sz="1100" b="0">
                          <a:solidFill>
                            <a:srgbClr val="000000"/>
                          </a:solidFill>
                          <a:latin typeface="Montserrat"/>
                        </a:defRPr>
                      </a:pPr>
                      <a:r>
                        <a:t>7</a:t>
                      </a:r>
                    </a:p>
                  </a:txBody>
                  <a:tcPr anchor="ctr" marL="45720" marR="45720" marT="45720" marB="45720">
                    <a:solidFill>
                      <a:srgbClr val="D9D9D9"/>
                    </a:solidFill>
                  </a:tcPr>
                </a:tc>
                <a:tc>
                  <a:txBody>
                    <a:bodyPr/>
                    <a:lstStyle/>
                    <a:p>
                      <a:pPr algn="ctr">
                        <a:defRPr sz="1100" b="1">
                          <a:solidFill>
                            <a:srgbClr val="000000"/>
                          </a:solidFill>
                          <a:latin typeface="Montserrat"/>
                        </a:defRPr>
                      </a:pPr>
                      <a:r>
                        <a:t>84.4%</a:t>
                      </a:r>
                    </a:p>
                  </a:txBody>
                  <a:tcPr anchor="ctr" marL="45720" marR="45720" marT="45720" marB="45720">
                    <a:solidFill>
                      <a:srgbClr val="D9D9D9"/>
                    </a:solidFill>
                  </a:tcPr>
                </a:tc>
              </a:tr>
              <a:tr h="221115">
                <a:tc>
                  <a:txBody>
                    <a:bodyPr/>
                    <a:lstStyle/>
                    <a:p>
                      <a:pPr algn="l">
                        <a:defRPr sz="1100" b="0">
                          <a:solidFill>
                            <a:srgbClr val="000000"/>
                          </a:solidFill>
                          <a:latin typeface="Montserrat"/>
                        </a:defRPr>
                      </a:pPr>
                      <a:r>
                        <a:t>Hospital Rural Pinos</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88.3%</a:t>
                      </a:r>
                    </a:p>
                  </a:txBody>
                  <a:tcPr anchor="ctr" marL="45720" marR="45720" marT="45720" marB="45720">
                    <a:solidFill>
                      <a:srgbClr val="FFFFFF"/>
                    </a:solidFill>
                  </a:tcPr>
                </a:tc>
              </a:tr>
              <a:tr h="221115">
                <a:tc>
                  <a:txBody>
                    <a:bodyPr/>
                    <a:lstStyle/>
                    <a:p>
                      <a:pPr algn="l">
                        <a:defRPr sz="1100" b="0">
                          <a:solidFill>
                            <a:srgbClr val="000000"/>
                          </a:solidFill>
                          <a:latin typeface="Montserrat"/>
                        </a:defRPr>
                      </a:pPr>
                      <a:r>
                        <a:t>Unidad de Medicina Familiar 55</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90.6%</a:t>
                      </a:r>
                    </a:p>
                  </a:txBody>
                  <a:tcPr anchor="ctr" marL="45720" marR="45720" marT="45720" marB="45720">
                    <a:solidFill>
                      <a:srgbClr val="D9D9D9"/>
                    </a:solidFill>
                  </a:tcPr>
                </a:tc>
              </a:tr>
              <a:tr h="221115">
                <a:tc>
                  <a:txBody>
                    <a:bodyPr/>
                    <a:lstStyle/>
                    <a:p>
                      <a:pPr algn="l">
                        <a:defRPr sz="1100" b="0">
                          <a:solidFill>
                            <a:srgbClr val="000000"/>
                          </a:solidFill>
                          <a:latin typeface="Montserrat"/>
                        </a:defRPr>
                      </a:pPr>
                      <a:r>
                        <a:t>Hospital Rural Fresnillo</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93.0%</a:t>
                      </a:r>
                    </a:p>
                  </a:txBody>
                  <a:tcPr anchor="ctr" marL="45720" marR="45720" marT="45720" marB="45720">
                    <a:solidFill>
                      <a:srgbClr val="FFFFFF"/>
                    </a:solidFill>
                  </a:tcPr>
                </a:tc>
              </a:tr>
              <a:tr h="221115">
                <a:tc>
                  <a:txBody>
                    <a:bodyPr/>
                    <a:lstStyle/>
                    <a:p>
                      <a:pPr algn="l">
                        <a:defRPr sz="1100" b="0">
                          <a:solidFill>
                            <a:srgbClr val="000000"/>
                          </a:solidFill>
                          <a:latin typeface="Montserrat"/>
                        </a:defRPr>
                      </a:pPr>
                      <a:r>
                        <a:t>Unidad de Medicina Familiar 4</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94.5%</a:t>
                      </a:r>
                    </a:p>
                  </a:txBody>
                  <a:tcPr anchor="ctr" marL="45720" marR="45720" marT="45720" marB="45720">
                    <a:solidFill>
                      <a:srgbClr val="D9D9D9"/>
                    </a:solidFill>
                  </a:tcPr>
                </a:tc>
              </a:tr>
              <a:tr h="221115">
                <a:tc>
                  <a:txBody>
                    <a:bodyPr/>
                    <a:lstStyle/>
                    <a:p>
                      <a:pPr algn="l">
                        <a:defRPr sz="1100" b="0">
                          <a:solidFill>
                            <a:srgbClr val="000000"/>
                          </a:solidFill>
                          <a:latin typeface="Montserrat"/>
                        </a:defRPr>
                      </a:pPr>
                      <a:r>
                        <a:t>Hospital Rural Concepción del Oro</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95.3%</a:t>
                      </a:r>
                    </a:p>
                  </a:txBody>
                  <a:tcPr anchor="ctr" marL="45720" marR="45720" marT="45720" marB="45720">
                    <a:solidFill>
                      <a:srgbClr val="FFFFFF"/>
                    </a:solidFill>
                  </a:tcPr>
                </a:tc>
              </a:tr>
              <a:tr h="221115">
                <a:tc>
                  <a:txBody>
                    <a:bodyPr/>
                    <a:lstStyle/>
                    <a:p>
                      <a:pPr algn="l">
                        <a:defRPr sz="1100" b="0">
                          <a:solidFill>
                            <a:srgbClr val="000000"/>
                          </a:solidFill>
                          <a:latin typeface="Montserrat"/>
                        </a:defRPr>
                      </a:pPr>
                      <a:r>
                        <a:t>Sede Delegación</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96.1%</a:t>
                      </a:r>
                    </a:p>
                  </a:txBody>
                  <a:tcPr anchor="ctr" marL="45720" marR="45720" marT="45720" marB="45720">
                    <a:solidFill>
                      <a:srgbClr val="D9D9D9"/>
                    </a:solidFill>
                  </a:tcPr>
                </a:tc>
              </a:tr>
              <a:tr h="221115">
                <a:tc>
                  <a:txBody>
                    <a:bodyPr/>
                    <a:lstStyle/>
                    <a:p>
                      <a:pPr algn="l">
                        <a:defRPr sz="1100" b="0">
                          <a:solidFill>
                            <a:srgbClr val="000000"/>
                          </a:solidFill>
                          <a:latin typeface="Montserrat"/>
                        </a:defRPr>
                      </a:pPr>
                      <a:r>
                        <a:t>Unidad de Medicina Familiar 1</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96.8%</a:t>
                      </a:r>
                    </a:p>
                  </a:txBody>
                  <a:tcPr anchor="ctr" marL="45720" marR="45720" marT="45720" marB="45720">
                    <a:solidFill>
                      <a:srgbClr val="FFFFFF"/>
                    </a:solidFill>
                  </a:tcPr>
                </a:tc>
              </a:tr>
              <a:tr h="221115">
                <a:tc>
                  <a:txBody>
                    <a:bodyPr/>
                    <a:lstStyle/>
                    <a:p>
                      <a:pPr algn="l">
                        <a:defRPr sz="1100" b="0">
                          <a:solidFill>
                            <a:srgbClr val="000000"/>
                          </a:solidFill>
                          <a:latin typeface="Montserrat"/>
                        </a:defRPr>
                      </a:pPr>
                      <a:r>
                        <a:t>Unidad de Medicina Familiar 36</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97.6%</a:t>
                      </a:r>
                    </a:p>
                  </a:txBody>
                  <a:tcPr anchor="ctr" marL="45720" marR="45720" marT="45720" marB="45720">
                    <a:solidFill>
                      <a:srgbClr val="D9D9D9"/>
                    </a:solidFill>
                  </a:tcPr>
                </a:tc>
              </a:tr>
              <a:tr h="221115">
                <a:tc>
                  <a:txBody>
                    <a:bodyPr/>
                    <a:lstStyle/>
                    <a:p>
                      <a:pPr algn="l">
                        <a:defRPr sz="1100" b="0">
                          <a:solidFill>
                            <a:srgbClr val="000000"/>
                          </a:solidFill>
                          <a:latin typeface="Montserrat"/>
                        </a:defRPr>
                      </a:pPr>
                      <a:r>
                        <a:t>Unidad de Medicina Familiar 43</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98.4%</a:t>
                      </a:r>
                    </a:p>
                  </a:txBody>
                  <a:tcPr anchor="ctr" marL="45720" marR="45720" marT="45720" marB="45720">
                    <a:solidFill>
                      <a:srgbClr val="FFFFFF"/>
                    </a:solidFill>
                  </a:tcPr>
                </a:tc>
              </a:tr>
              <a:tr h="221115">
                <a:tc>
                  <a:txBody>
                    <a:bodyPr/>
                    <a:lstStyle/>
                    <a:p>
                      <a:pPr algn="l">
                        <a:defRPr sz="1100" b="0">
                          <a:solidFill>
                            <a:srgbClr val="000000"/>
                          </a:solidFill>
                          <a:latin typeface="Montserrat"/>
                        </a:defRPr>
                      </a:pPr>
                      <a:r>
                        <a:t>Unidad de Medicina Familiar 57</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99.2%</a:t>
                      </a:r>
                    </a:p>
                  </a:txBody>
                  <a:tcPr anchor="ctr" marL="45720" marR="45720" marT="45720" marB="45720">
                    <a:solidFill>
                      <a:srgbClr val="D9D9D9"/>
                    </a:solidFill>
                  </a:tcPr>
                </a:tc>
              </a:tr>
              <a:tr h="221115">
                <a:tc>
                  <a:txBody>
                    <a:bodyPr/>
                    <a:lstStyle/>
                    <a:p>
                      <a:pPr algn="l">
                        <a:defRPr sz="1100" b="0">
                          <a:solidFill>
                            <a:srgbClr val="000000"/>
                          </a:solidFill>
                          <a:latin typeface="Montserrat"/>
                        </a:defRPr>
                      </a:pPr>
                      <a:r>
                        <a:t>Unidad de Medicina Familiar 7</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22113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129</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919DA8F5-1DF4-C33B-DE0D-E96B0269B28E}"/>
              </a:ext>
            </a:extLst>
          </p:cNvPr>
          <p:cNvGraphicFramePr/>
          <p:nvPr>
            <p:extLst>
              <p:ext uri="{D42A27DB-BD31-4B8C-83A1-F6EECF244321}">
                <p14:modId xmlns:p14="http://schemas.microsoft.com/office/powerpoint/2010/main" val="338699229"/>
              </p:ext>
            </p:extLst>
          </p:nvPr>
        </p:nvGraphicFramePr>
        <p:xfrm>
          <a:off x="287050" y="87844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ZACATECAS</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840</a:t>
                      </a:r>
                    </a:p>
                  </a:txBody>
                  <a:tcPr anchor="ctr">
                    <a:solidFill>
                      <a:srgbClr val="FFFFFF"/>
                    </a:solidFill>
                  </a:tcPr>
                </a:tc>
                <a:tc>
                  <a:txBody>
                    <a:bodyPr/>
                    <a:lstStyle/>
                    <a:p>
                      <a:pPr algn="ctr">
                        <a:defRPr sz="1000">
                          <a:latin typeface="Montserrat"/>
                        </a:defRPr>
                      </a:pPr>
                      <a:r>
                        <a:t>27.9%</a:t>
                      </a:r>
                    </a:p>
                  </a:txBody>
                  <a:tcPr anchor="ctr">
                    <a:solidFill>
                      <a:srgbClr val="FFFFFF"/>
                    </a:solidFill>
                  </a:tcPr>
                </a:tc>
              </a:tr>
              <a:tr h="216000">
                <a:tc>
                  <a:txBody>
                    <a:bodyPr/>
                    <a:lstStyle/>
                    <a:p>
                      <a:pPr algn="l">
                        <a:defRPr sz="1000">
                          <a:latin typeface="Montserrat"/>
                        </a:defRPr>
                      </a:pPr>
                      <a:r>
                        <a:t>Cirugía General</a:t>
                      </a:r>
                    </a:p>
                  </a:txBody>
                  <a:tcPr anchor="ctr">
                    <a:solidFill>
                      <a:srgbClr val="D9D9D9"/>
                    </a:solidFill>
                  </a:tcPr>
                </a:tc>
                <a:tc>
                  <a:txBody>
                    <a:bodyPr/>
                    <a:lstStyle/>
                    <a:p>
                      <a:pPr algn="ctr">
                        <a:defRPr sz="1000">
                          <a:latin typeface="Montserrat"/>
                        </a:defRPr>
                      </a:pPr>
                      <a:r>
                        <a:t>826</a:t>
                      </a:r>
                    </a:p>
                  </a:txBody>
                  <a:tcPr anchor="ctr">
                    <a:solidFill>
                      <a:srgbClr val="D9D9D9"/>
                    </a:solidFill>
                  </a:tcPr>
                </a:tc>
                <a:tc>
                  <a:txBody>
                    <a:bodyPr/>
                    <a:lstStyle/>
                    <a:p>
                      <a:pPr algn="ctr">
                        <a:defRPr sz="1000">
                          <a:latin typeface="Montserrat"/>
                        </a:defRPr>
                      </a:pPr>
                      <a:r>
                        <a:t>55.4%</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617</a:t>
                      </a:r>
                    </a:p>
                  </a:txBody>
                  <a:tcPr anchor="ctr">
                    <a:solidFill>
                      <a:srgbClr val="FFFFFF"/>
                    </a:solidFill>
                  </a:tcPr>
                </a:tc>
                <a:tc>
                  <a:txBody>
                    <a:bodyPr/>
                    <a:lstStyle/>
                    <a:p>
                      <a:pPr algn="ctr">
                        <a:defRPr sz="1000">
                          <a:latin typeface="Montserrat"/>
                        </a:defRPr>
                      </a:pPr>
                      <a:r>
                        <a:t>75.9%</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274</a:t>
                      </a:r>
                    </a:p>
                  </a:txBody>
                  <a:tcPr anchor="ctr">
                    <a:solidFill>
                      <a:srgbClr val="D9D9D9"/>
                    </a:solidFill>
                  </a:tcPr>
                </a:tc>
                <a:tc>
                  <a:txBody>
                    <a:bodyPr/>
                    <a:lstStyle/>
                    <a:p>
                      <a:pPr algn="ctr">
                        <a:defRPr sz="1000">
                          <a:latin typeface="Montserrat"/>
                        </a:defRPr>
                      </a:pPr>
                      <a:r>
                        <a:t>85.0%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162</a:t>
                      </a:r>
                    </a:p>
                  </a:txBody>
                  <a:tcPr anchor="ctr">
                    <a:solidFill>
                      <a:srgbClr val="FFFFFF"/>
                    </a:solidFill>
                  </a:tcPr>
                </a:tc>
                <a:tc>
                  <a:txBody>
                    <a:bodyPr/>
                    <a:lstStyle/>
                    <a:p>
                      <a:pPr algn="ctr">
                        <a:defRPr sz="1000">
                          <a:latin typeface="Montserrat"/>
                        </a:defRPr>
                      </a:pPr>
                      <a:r>
                        <a:t>90.4%</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87</a:t>
                      </a:r>
                    </a:p>
                  </a:txBody>
                  <a:tcPr anchor="ctr">
                    <a:solidFill>
                      <a:srgbClr val="D9D9D9"/>
                    </a:solidFill>
                  </a:tcPr>
                </a:tc>
                <a:tc>
                  <a:txBody>
                    <a:bodyPr/>
                    <a:lstStyle/>
                    <a:p>
                      <a:pPr algn="ctr">
                        <a:defRPr sz="1000">
                          <a:latin typeface="Montserrat"/>
                        </a:defRPr>
                      </a:pPr>
                      <a:r>
                        <a:t>93.3%</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80</a:t>
                      </a:r>
                    </a:p>
                  </a:txBody>
                  <a:tcPr anchor="ctr">
                    <a:solidFill>
                      <a:srgbClr val="FFFFFF"/>
                    </a:solidFill>
                  </a:tcPr>
                </a:tc>
                <a:tc>
                  <a:txBody>
                    <a:bodyPr/>
                    <a:lstStyle/>
                    <a:p>
                      <a:pPr algn="ctr">
                        <a:defRPr sz="1000">
                          <a:latin typeface="Montserrat"/>
                        </a:defRPr>
                      </a:pPr>
                      <a:r>
                        <a:t>96.0%</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73</a:t>
                      </a:r>
                    </a:p>
                  </a:txBody>
                  <a:tcPr anchor="ctr">
                    <a:solidFill>
                      <a:srgbClr val="D9D9D9"/>
                    </a:solidFill>
                  </a:tcPr>
                </a:tc>
                <a:tc>
                  <a:txBody>
                    <a:bodyPr/>
                    <a:lstStyle/>
                    <a:p>
                      <a:pPr algn="ctr">
                        <a:defRPr sz="1000">
                          <a:latin typeface="Montserrat"/>
                        </a:defRPr>
                      </a:pPr>
                      <a:r>
                        <a:t>98.4%</a:t>
                      </a:r>
                    </a:p>
                  </a:txBody>
                  <a:tcPr anchor="ctr">
                    <a:solidFill>
                      <a:srgbClr val="D9D9D9"/>
                    </a:solidFill>
                  </a:tcPr>
                </a:tc>
              </a:tr>
              <a:tr h="216000">
                <a:tc>
                  <a:txBody>
                    <a:bodyPr/>
                    <a:lstStyle/>
                    <a:p>
                      <a:pPr algn="l">
                        <a:defRPr sz="1000">
                          <a:latin typeface="Montserrat"/>
                        </a:defRPr>
                      </a:pPr>
                      <a:r>
                        <a:t>Urología  </a:t>
                      </a:r>
                    </a:p>
                  </a:txBody>
                  <a:tcPr anchor="ctr">
                    <a:solidFill>
                      <a:srgbClr val="FFFFFF"/>
                    </a:solidFill>
                  </a:tcPr>
                </a:tc>
                <a:tc>
                  <a:txBody>
                    <a:bodyPr/>
                    <a:lstStyle/>
                    <a:p>
                      <a:pPr algn="ctr">
                        <a:defRPr sz="1000">
                          <a:latin typeface="Montserrat"/>
                        </a:defRPr>
                      </a:pPr>
                      <a:r>
                        <a:t>27</a:t>
                      </a:r>
                    </a:p>
                  </a:txBody>
                  <a:tcPr anchor="ctr">
                    <a:solidFill>
                      <a:srgbClr val="FFFFFF"/>
                    </a:solidFill>
                  </a:tcPr>
                </a:tc>
                <a:tc>
                  <a:txBody>
                    <a:bodyPr/>
                    <a:lstStyle/>
                    <a:p>
                      <a:pPr algn="ctr">
                        <a:defRPr sz="1000">
                          <a:latin typeface="Montserrat"/>
                        </a:defRPr>
                      </a:pPr>
                      <a:r>
                        <a:t>99.3%</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21</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3,007</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215</a:t>
                      </a:r>
                    </a:p>
                  </a:txBody>
                  <a:tcPr anchor="ctr">
                    <a:solidFill>
                      <a:srgbClr val="FFFFFF"/>
                    </a:solidFill>
                  </a:tcPr>
                </a:tc>
                <a:tc>
                  <a:txBody>
                    <a:bodyPr/>
                    <a:lstStyle/>
                    <a:p>
                      <a:pPr algn="ctr">
                        <a:defRPr sz="1000">
                          <a:latin typeface="Montserrat"/>
                        </a:defRPr>
                      </a:pPr>
                      <a:r>
                        <a:t>28.5%</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185</a:t>
                      </a:r>
                    </a:p>
                  </a:txBody>
                  <a:tcPr anchor="ctr">
                    <a:solidFill>
                      <a:srgbClr val="D9D9D9"/>
                    </a:solidFill>
                  </a:tcPr>
                </a:tc>
                <a:tc>
                  <a:txBody>
                    <a:bodyPr/>
                    <a:lstStyle/>
                    <a:p>
                      <a:pPr algn="ctr">
                        <a:defRPr sz="1000">
                          <a:latin typeface="Montserrat"/>
                        </a:defRPr>
                      </a:pPr>
                      <a:r>
                        <a:t>53.1%</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121</a:t>
                      </a:r>
                    </a:p>
                  </a:txBody>
                  <a:tcPr anchor="ctr">
                    <a:solidFill>
                      <a:srgbClr val="FFFFFF"/>
                    </a:solidFill>
                  </a:tcPr>
                </a:tc>
                <a:tc>
                  <a:txBody>
                    <a:bodyPr/>
                    <a:lstStyle/>
                    <a:p>
                      <a:pPr algn="ctr">
                        <a:defRPr sz="1000">
                          <a:latin typeface="Montserrat"/>
                        </a:defRPr>
                      </a:pPr>
                      <a:r>
                        <a:t>69.1%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80.1%</a:t>
                      </a:r>
                    </a:p>
                  </a:txBody>
                  <a:tcPr anchor="ctr">
                    <a:solidFill>
                      <a:srgbClr val="D9D9D9"/>
                    </a:solidFill>
                  </a:tcPr>
                </a:tc>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76</a:t>
                      </a:r>
                    </a:p>
                  </a:txBody>
                  <a:tcPr anchor="ctr">
                    <a:solidFill>
                      <a:srgbClr val="FFFFFF"/>
                    </a:solidFill>
                  </a:tcPr>
                </a:tc>
                <a:tc>
                  <a:txBody>
                    <a:bodyPr/>
                    <a:lstStyle/>
                    <a:p>
                      <a:pPr algn="ctr">
                        <a:defRPr sz="1000">
                          <a:latin typeface="Montserrat"/>
                        </a:defRPr>
                      </a:pPr>
                      <a:r>
                        <a:t>90.2%</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47</a:t>
                      </a:r>
                    </a:p>
                  </a:txBody>
                  <a:tcPr anchor="ctr">
                    <a:solidFill>
                      <a:srgbClr val="D9D9D9"/>
                    </a:solidFill>
                  </a:tcPr>
                </a:tc>
                <a:tc>
                  <a:txBody>
                    <a:bodyPr/>
                    <a:lstStyle/>
                    <a:p>
                      <a:pPr algn="ctr">
                        <a:defRPr sz="1000">
                          <a:latin typeface="Montserrat"/>
                        </a:defRPr>
                      </a:pPr>
                      <a:r>
                        <a:t>96.4%</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27</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754</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6,414	 Personal de Salud: 2,994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+87.0%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23</a:t>
                      </a:r>
                    </a:p>
                  </a:txBody>
                  <a:tcPr marL="0" marR="0" marT="0" marB="0">
                    <a:noFill/>
                  </a:tcPr>
                </a:tc>
                <a:tc>
                  <a:txBody>
                    <a:bodyPr/>
                    <a:lstStyle/>
                    <a:p>
                      <a:pPr algn="ctr">
                        <a:defRPr b="1" sz="1500">
                          <a:solidFill>
                            <a:srgbClr val="B4975A"/>
                          </a:solidFill>
                          <a:latin typeface="Montserrat"/>
                        </a:defRPr>
                      </a:pPr>
                      <a:r>
                        <a:t>43</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+49.3%</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509</a:t>
                      </a:r>
                    </a:p>
                  </a:txBody>
                  <a:tcPr marL="0" marR="0" marT="0" marB="0">
                    <a:noFill/>
                  </a:tcPr>
                </a:tc>
                <a:tc>
                  <a:txBody>
                    <a:bodyPr/>
                    <a:lstStyle/>
                    <a:p>
                      <a:pPr algn="ctr">
                        <a:defRPr b="1" sz="1500">
                          <a:solidFill>
                            <a:srgbClr val="B4975A"/>
                          </a:solidFill>
                          <a:latin typeface="Montserrat"/>
                        </a:defRPr>
                      </a:pPr>
                      <a:r>
                        <a:t>760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+35.8%</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798</a:t>
                      </a:r>
                    </a:p>
                  </a:txBody>
                  <a:tcPr marL="0" marR="0" marT="0" marB="0">
                    <a:noFill/>
                  </a:tcPr>
                </a:tc>
                <a:tc>
                  <a:txBody>
                    <a:bodyPr/>
                    <a:lstStyle/>
                    <a:p>
                      <a:pPr algn="ctr">
                        <a:defRPr b="1" sz="1500">
                          <a:solidFill>
                            <a:srgbClr val="B4975A"/>
                          </a:solidFill>
                          <a:latin typeface="Montserrat"/>
                        </a:defRPr>
                      </a:pPr>
                      <a:r>
                        <a:t>1,084</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+51.4%</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535</a:t>
                      </a:r>
                    </a:p>
                  </a:txBody>
                  <a:tcPr marL="0" marR="0" marT="0" marB="0">
                    <a:noFill/>
                  </a:tcPr>
                </a:tc>
                <a:tc>
                  <a:txBody>
                    <a:bodyPr/>
                    <a:lstStyle/>
                    <a:p>
                      <a:pPr algn="ctr">
                        <a:defRPr b="1" sz="1500">
                          <a:solidFill>
                            <a:srgbClr val="B4975A"/>
                          </a:solidFill>
                          <a:latin typeface="Montserrat"/>
                        </a:defRPr>
                      </a:pPr>
                      <a:r>
                        <a:t>810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+93.2%</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88</a:t>
                      </a:r>
                    </a:p>
                  </a:txBody>
                  <a:tcPr marL="0" marR="0" marT="0" marB="0">
                    <a:noFill/>
                  </a:tcPr>
                </a:tc>
                <a:tc>
                  <a:txBody>
                    <a:bodyPr/>
                    <a:lstStyle/>
                    <a:p>
                      <a:pPr algn="ctr">
                        <a:defRPr b="1" sz="1500">
                          <a:solidFill>
                            <a:srgbClr val="B4975A"/>
                          </a:solidFill>
                          <a:latin typeface="Montserrat"/>
                        </a:defRPr>
                      </a:pPr>
                      <a:r>
                        <a:t>170</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-17.5%</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154</a:t>
                      </a:r>
                    </a:p>
                  </a:txBody>
                  <a:tcPr marL="0" marR="0" marT="0" marB="0">
                    <a:noFill/>
                  </a:tcPr>
                </a:tc>
                <a:tc>
                  <a:txBody>
                    <a:bodyPr/>
                    <a:lstStyle/>
                    <a:p>
                      <a:pPr algn="ctr">
                        <a:defRPr b="1" sz="1500">
                          <a:solidFill>
                            <a:srgbClr val="B4975A"/>
                          </a:solidFill>
                          <a:latin typeface="Montserrat"/>
                        </a:defRPr>
                      </a:pPr>
                      <a:r>
                        <a:t>127</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73152"/>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36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19</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1</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91440"/>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11</a:t>
                      </a:r>
                    </a:p>
                  </a:txBody>
                  <a:tcPr marL="45720" marR="45720" marT="45720" marB="45720">
                    <a:solidFill>
                      <a:srgbClr val="FFFFFF"/>
                    </a:solidFill>
                  </a:tcPr>
                </a:tc>
              </a:tr>
              <a:tr h="18288">
                <a:tc>
                  <a:txBody>
                    <a:bodyPr/>
                    <a:lstStyle/>
                    <a:p>
                      <a:pPr algn="l">
                        <a:defRPr sz="800">
                          <a:latin typeface="Montserrat"/>
                        </a:defRPr>
                      </a:pPr>
                      <a:r>
                        <a:t>Medicina Familiar</a:t>
                      </a:r>
                    </a:p>
                  </a:txBody>
                  <a:tcPr marL="45720" marR="45720" marT="45720" marB="45720">
                    <a:solidFill>
                      <a:srgbClr val="EFEFEF"/>
                    </a:solidFill>
                  </a:tcPr>
                </a:tc>
                <a:tc>
                  <a:txBody>
                    <a:bodyPr/>
                    <a:lstStyle/>
                    <a:p>
                      <a:pPr algn="ctr">
                        <a:defRPr sz="800">
                          <a:latin typeface="Montserrat"/>
                        </a:defRPr>
                      </a:pPr>
                      <a:r>
                        <a:t>10</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3</a:t>
                      </a:r>
                    </a:p>
                  </a:txBody>
                  <a:tcPr marL="45720" marR="45720" marT="45720" marB="45720">
                    <a:solidFill>
                      <a:srgbClr val="FFFFFF"/>
                    </a:solidFill>
                  </a:tcPr>
                </a:tc>
              </a:tr>
              <a:tr h="18288">
                <a:tc>
                  <a:txBody>
                    <a:bodyPr/>
                    <a:lstStyle/>
                    <a:p>
                      <a:pPr algn="l">
                        <a:defRPr sz="800">
                          <a:latin typeface="Montserrat"/>
                        </a:defRPr>
                      </a:pPr>
                      <a:r>
                        <a:t>Medicina del Trabajo y Ambiental</a:t>
                      </a:r>
                    </a:p>
                  </a:txBody>
                  <a:tcPr marL="45720" marR="45720" marT="45720" marB="45720">
                    <a:solidFill>
                      <a:srgbClr val="EFEFEF"/>
                    </a:solidFill>
                  </a:tcPr>
                </a:tc>
                <a:tc>
                  <a:txBody>
                    <a:bodyPr/>
                    <a:lstStyle/>
                    <a:p>
                      <a:pPr algn="ctr">
                        <a:defRPr sz="800">
                          <a:latin typeface="Montserrat"/>
                        </a:defRPr>
                      </a:pPr>
                      <a:r>
                        <a:t>3</a:t>
                      </a:r>
                    </a:p>
                  </a:txBody>
                  <a:tcPr marL="45720" marR="45720" marT="45720" marB="45720">
                    <a:solidFill>
                      <a:srgbClr val="EFEFE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38</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17</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20</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22</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97</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5,281</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321</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35</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1,189</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586</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8</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7,377</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(75,104)</a:t>
                      </a:r>
                    </a:p>
                  </a:txBody>
                  <a:tcPr>
                    <a:solidFill>
                      <a:srgbClr val="FFFFFF"/>
                    </a:solidFill>
                  </a:tcPr>
                </a:tc>
                <a:tc>
                  <a:txBody>
                    <a:bodyPr/>
                    <a:lstStyle/>
                    <a:p>
                      <a:pPr algn="ctr"/>
                      <a:r>
                        <a:rPr sz="900" b="0">
                          <a:latin typeface="Montserrat"/>
                        </a:rPr>
                        <a:t>Enfermedades y trastornos de las articulaciones
(5,566)</a:t>
                      </a:r>
                    </a:p>
                  </a:txBody>
                  <a:tcPr>
                    <a:solidFill>
                      <a:srgbClr val="FFFFFF"/>
                    </a:solidFill>
                  </a:tcPr>
                </a:tc>
                <a:tc>
                  <a:txBody>
                    <a:bodyPr/>
                    <a:lstStyle/>
                    <a:p>
                      <a:pPr algn="ctr"/>
                      <a:r>
                        <a:rPr sz="900" b="0">
                          <a:latin typeface="Montserrat"/>
                        </a:rPr>
                        <a:t>Traumatismos y envenenamientos
(557)</a:t>
                      </a:r>
                    </a:p>
                  </a:txBody>
                  <a:tcPr>
                    <a:solidFill>
                      <a:srgbClr val="FFFFFF"/>
                    </a:solidFill>
                  </a:tcPr>
                </a:tc>
                <a:tc>
                  <a:txBody>
                    <a:bodyPr/>
                    <a:lstStyle/>
                    <a:p>
                      <a:pPr algn="ctr"/>
                      <a:r>
                        <a:rPr sz="900" b="0">
                          <a:latin typeface="Montserrat"/>
                        </a:rPr>
                        <a:t>Embarazo, parto y puerperio
(1,603)</a:t>
                      </a:r>
                    </a:p>
                  </a:txBody>
                  <a:tcPr>
                    <a:solidFill>
                      <a:srgbClr val="FFFFFF"/>
                    </a:solidFill>
                  </a:tcPr>
                </a:tc>
                <a:tc>
                  <a:txBody>
                    <a:bodyPr/>
                    <a:lstStyle/>
                    <a:p>
                      <a:pPr algn="ctr"/>
                      <a:r>
                        <a:rPr sz="900" b="0">
                          <a:latin typeface="Montserrat"/>
                        </a:rPr>
                        <a:t>Tumores malignos
(54)</a:t>
                      </a:r>
                    </a:p>
                  </a:txBody>
                  <a:tcPr>
                    <a:solidFill>
                      <a:srgbClr val="FFFFFF"/>
                    </a:solidFill>
                  </a:tcPr>
                </a:tc>
              </a:tr>
              <a:tr h="489600">
                <a:tc>
                  <a:txBody>
                    <a:bodyPr/>
                    <a:lstStyle/>
                    <a:p>
                      <a:pPr algn="ctr"/>
                      <a:r>
                        <a:rPr sz="900" b="0">
                          <a:latin typeface="Montserrat"/>
                        </a:rPr>
                        <a:t>Diabetes mellitus
(70,268)</a:t>
                      </a:r>
                    </a:p>
                  </a:txBody>
                  <a:tcPr>
                    <a:solidFill>
                      <a:srgbClr val="EFEFEF"/>
                    </a:solidFill>
                  </a:tcPr>
                </a:tc>
                <a:tc>
                  <a:txBody>
                    <a:bodyPr/>
                    <a:lstStyle/>
                    <a:p>
                      <a:pPr algn="ctr"/>
                      <a:r>
                        <a:rPr sz="900" b="0">
                          <a:latin typeface="Montserrat"/>
                        </a:rPr>
                        <a:t>Tumores malignos
(4,848)</a:t>
                      </a:r>
                    </a:p>
                  </a:txBody>
                  <a:tcPr>
                    <a:solidFill>
                      <a:srgbClr val="EFEFEF"/>
                    </a:solidFill>
                  </a:tcPr>
                </a:tc>
                <a:tc>
                  <a:txBody>
                    <a:bodyPr/>
                    <a:lstStyle/>
                    <a:p>
                      <a:pPr algn="ctr"/>
                      <a:r>
                        <a:rPr sz="900" b="0">
                          <a:latin typeface="Montserrat"/>
                        </a:rPr>
                        <a:t>Cesárea
(318)</a:t>
                      </a:r>
                    </a:p>
                  </a:txBody>
                  <a:tcPr>
                    <a:solidFill>
                      <a:srgbClr val="EFEFEF"/>
                    </a:solidFill>
                  </a:tcPr>
                </a:tc>
                <a:tc>
                  <a:txBody>
                    <a:bodyPr/>
                    <a:lstStyle/>
                    <a:p>
                      <a:pPr algn="ctr"/>
                      <a:r>
                        <a:rPr sz="900" b="0">
                          <a:latin typeface="Montserrat"/>
                        </a:rPr>
                        <a:t>Traumatismos e intoxicaciones
(708)</a:t>
                      </a:r>
                    </a:p>
                  </a:txBody>
                  <a:tcPr>
                    <a:solidFill>
                      <a:srgbClr val="EFEFEF"/>
                    </a:solidFill>
                  </a:tcPr>
                </a:tc>
                <a:tc>
                  <a:txBody>
                    <a:bodyPr/>
                    <a:lstStyle/>
                    <a:p>
                      <a:pPr algn="ctr"/>
                      <a:r>
                        <a:rPr sz="900" b="0">
                          <a:latin typeface="Montserrat"/>
                        </a:rPr>
                        <a:t>Enfermedades del corazón
(53)</a:t>
                      </a:r>
                    </a:p>
                  </a:txBody>
                  <a:tcPr>
                    <a:solidFill>
                      <a:srgbClr val="EFEFEF"/>
                    </a:solidFill>
                  </a:tcPr>
                </a:tc>
              </a:tr>
              <a:tr h="489600">
                <a:tc>
                  <a:txBody>
                    <a:bodyPr/>
                    <a:lstStyle/>
                    <a:p>
                      <a:pPr algn="ctr"/>
                      <a:r>
                        <a:rPr sz="900" b="0">
                          <a:latin typeface="Montserrat"/>
                        </a:rPr>
                        <a:t>Infecciones respiratorias agudas
(21,794)</a:t>
                      </a:r>
                    </a:p>
                  </a:txBody>
                  <a:tcPr>
                    <a:solidFill>
                      <a:srgbClr val="FFFFFF"/>
                    </a:solidFill>
                  </a:tcPr>
                </a:tc>
                <a:tc>
                  <a:txBody>
                    <a:bodyPr/>
                    <a:lstStyle/>
                    <a:p>
                      <a:pPr algn="ctr"/>
                      <a:r>
                        <a:rPr sz="900" b="0">
                          <a:latin typeface="Montserrat"/>
                        </a:rPr>
                        <a:t>Traumatismos e intoxicaciones
(4,078)</a:t>
                      </a:r>
                    </a:p>
                  </a:txBody>
                  <a:tcPr>
                    <a:solidFill>
                      <a:srgbClr val="FFFFFF"/>
                    </a:solidFill>
                  </a:tcPr>
                </a:tc>
                <a:tc>
                  <a:txBody>
                    <a:bodyPr/>
                    <a:lstStyle/>
                    <a:p>
                      <a:pPr algn="ctr"/>
                      <a:r>
                        <a:rPr sz="900" b="0">
                          <a:latin typeface="Montserrat"/>
                        </a:rPr>
                        <a:t>Cirugía de Hernias (Hernioplastía)
(317)</a:t>
                      </a:r>
                    </a:p>
                  </a:txBody>
                  <a:tcPr>
                    <a:solidFill>
                      <a:srgbClr val="FFFFFF"/>
                    </a:solidFill>
                  </a:tcPr>
                </a:tc>
                <a:tc>
                  <a:txBody>
                    <a:bodyPr/>
                    <a:lstStyle/>
                    <a:p>
                      <a:pPr algn="ctr"/>
                      <a:r>
                        <a:rPr sz="900" b="0">
                          <a:latin typeface="Montserrat"/>
                        </a:rPr>
                        <a:t>Insuficiencia renal
(557)</a:t>
                      </a:r>
                    </a:p>
                  </a:txBody>
                  <a:tcPr>
                    <a:solidFill>
                      <a:srgbClr val="FFFFFF"/>
                    </a:solidFill>
                  </a:tcPr>
                </a:tc>
                <a:tc>
                  <a:txBody>
                    <a:bodyPr/>
                    <a:lstStyle/>
                    <a:p>
                      <a:pPr algn="ctr"/>
                      <a:r>
                        <a:rPr sz="900" b="0">
                          <a:latin typeface="Montserrat"/>
                        </a:rPr>
                        <a:t>Diabetes mellitus
(49)</a:t>
                      </a:r>
                    </a:p>
                  </a:txBody>
                  <a:tcPr>
                    <a:solidFill>
                      <a:srgbClr val="FFFFFF"/>
                    </a:solidFill>
                  </a:tcPr>
                </a:tc>
              </a:tr>
              <a:tr h="489600">
                <a:tc>
                  <a:txBody>
                    <a:bodyPr/>
                    <a:lstStyle/>
                    <a:p>
                      <a:pPr algn="ctr"/>
                      <a:r>
                        <a:rPr sz="900" b="0">
                          <a:latin typeface="Montserrat"/>
                        </a:rPr>
                        <a:t>traumatismos e intoxicaciones
(12,137)</a:t>
                      </a:r>
                    </a:p>
                  </a:txBody>
                  <a:tcPr>
                    <a:solidFill>
                      <a:srgbClr val="EFEFEF"/>
                    </a:solidFill>
                  </a:tcPr>
                </a:tc>
                <a:tc>
                  <a:txBody>
                    <a:bodyPr/>
                    <a:lstStyle/>
                    <a:p>
                      <a:pPr algn="ctr"/>
                      <a:r>
                        <a:rPr sz="900" b="0">
                          <a:latin typeface="Montserrat"/>
                        </a:rPr>
                        <a:t>Enfermedades del corazón
(3,392)</a:t>
                      </a:r>
                    </a:p>
                  </a:txBody>
                  <a:tcPr>
                    <a:solidFill>
                      <a:srgbClr val="EFEFEF"/>
                    </a:solidFill>
                  </a:tcPr>
                </a:tc>
                <a:tc>
                  <a:txBody>
                    <a:bodyPr/>
                    <a:lstStyle/>
                    <a:p>
                      <a:pPr algn="ctr"/>
                      <a:r>
                        <a:rPr sz="900" b="0">
                          <a:latin typeface="Montserrat"/>
                        </a:rPr>
                        <a:t>Cirugía de vesicula biliar (Colecistectomía)
(312)</a:t>
                      </a:r>
                    </a:p>
                  </a:txBody>
                  <a:tcPr>
                    <a:solidFill>
                      <a:srgbClr val="EFEFEF"/>
                    </a:solidFill>
                  </a:tcPr>
                </a:tc>
                <a:tc>
                  <a:txBody>
                    <a:bodyPr/>
                    <a:lstStyle/>
                    <a:p>
                      <a:pPr algn="ctr"/>
                      <a:r>
                        <a:rPr sz="900" b="0">
                          <a:latin typeface="Montserrat"/>
                        </a:rPr>
                        <a:t>Enfermedades de la vesicula biliar
(363)</a:t>
                      </a:r>
                    </a:p>
                  </a:txBody>
                  <a:tcPr>
                    <a:solidFill>
                      <a:srgbClr val="EFEFEF"/>
                    </a:solidFill>
                  </a:tcPr>
                </a:tc>
                <a:tc>
                  <a:txBody>
                    <a:bodyPr/>
                    <a:lstStyle/>
                    <a:p>
                      <a:pPr algn="ctr"/>
                      <a:r>
                        <a:rPr sz="900" b="0">
                          <a:latin typeface="Montserrat"/>
                        </a:rPr>
                        <a:t>Neumonía e influenza
(37)</a:t>
                      </a:r>
                    </a:p>
                  </a:txBody>
                  <a:tcPr>
                    <a:solidFill>
                      <a:srgbClr val="EFEFEF"/>
                    </a:solidFill>
                  </a:tcPr>
                </a:tc>
              </a:tr>
              <a:tr h="489600">
                <a:tc>
                  <a:txBody>
                    <a:bodyPr/>
                    <a:lstStyle/>
                    <a:p>
                      <a:pPr algn="ctr"/>
                      <a:r>
                        <a:rPr sz="900" b="0">
                          <a:latin typeface="Montserrat"/>
                        </a:rPr>
                        <a:t>Enfermedades y trastornos de las articulaciones
(9,962)</a:t>
                      </a:r>
                    </a:p>
                  </a:txBody>
                  <a:tcPr>
                    <a:solidFill>
                      <a:srgbClr val="FFFFFF"/>
                    </a:solidFill>
                  </a:tcPr>
                </a:tc>
                <a:tc>
                  <a:txBody>
                    <a:bodyPr/>
                    <a:lstStyle/>
                    <a:p>
                      <a:pPr algn="ctr"/>
                      <a:r>
                        <a:rPr sz="900" b="0">
                          <a:latin typeface="Montserrat"/>
                        </a:rPr>
                        <a:t>Problemas y enfermedades de la columna vertebral
(3,379)</a:t>
                      </a:r>
                    </a:p>
                  </a:txBody>
                  <a:tcPr>
                    <a:solidFill>
                      <a:srgbClr val="FFFFFF"/>
                    </a:solidFill>
                  </a:tcPr>
                </a:tc>
                <a:tc>
                  <a:txBody>
                    <a:bodyPr/>
                    <a:lstStyle/>
                    <a:p>
                      <a:pPr algn="ctr"/>
                      <a:r>
                        <a:rPr sz="900" b="0">
                          <a:latin typeface="Montserrat"/>
                        </a:rPr>
                        <a:t>Cirugía de cataratas (Facoemulsificación con implante de lente intraocular)
(167)</a:t>
                      </a:r>
                    </a:p>
                  </a:txBody>
                  <a:tcPr>
                    <a:solidFill>
                      <a:srgbClr val="FFFFFF"/>
                    </a:solidFill>
                  </a:tcPr>
                </a:tc>
                <a:tc>
                  <a:txBody>
                    <a:bodyPr/>
                    <a:lstStyle/>
                    <a:p>
                      <a:pPr algn="ctr"/>
                      <a:r>
                        <a:rPr sz="900" b="0">
                          <a:latin typeface="Montserrat"/>
                        </a:rPr>
                        <a:t>Hernias
(360)</a:t>
                      </a:r>
                    </a:p>
                  </a:txBody>
                  <a:tcPr>
                    <a:solidFill>
                      <a:srgbClr val="FFFFFF"/>
                    </a:solidFill>
                  </a:tcPr>
                </a:tc>
                <a:tc>
                  <a:txBody>
                    <a:bodyPr/>
                    <a:lstStyle/>
                    <a:p>
                      <a:pPr algn="ctr"/>
                      <a:r>
                        <a:rPr sz="900" b="0">
                          <a:latin typeface="Montserrat"/>
                        </a:rPr>
                        <a:t>Insuficiencia renal
(29)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ZACATECAS</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54,788</a:t>
                      </a:r>
                    </a:p>
                  </a:txBody>
                  <a:tcPr>
                    <a:solidFill>
                      <a:srgbClr val="FFFFFF"/>
                    </a:solidFill>
                  </a:tcPr>
                </a:tc>
                <a:tc>
                  <a:txBody>
                    <a:bodyPr/>
                    <a:lstStyle/>
                    <a:p>
                      <a:pPr algn="ctr"/>
                      <a:r>
                        <a:rPr sz="1100" b="0">
                          <a:solidFill>
                            <a:srgbClr val="434343"/>
                          </a:solidFill>
                          <a:latin typeface="Montserrat"/>
                        </a:rPr>
                        <a:t>848,586</a:t>
                      </a:r>
                    </a:p>
                  </a:txBody>
                  <a:tcPr>
                    <a:solidFill>
                      <a:srgbClr val="FFFFFF"/>
                    </a:solidFill>
                  </a:tcPr>
                </a:tc>
                <a:tc>
                  <a:txBody>
                    <a:bodyPr/>
                    <a:lstStyle/>
                    <a:p>
                      <a:pPr algn="ctr"/>
                      <a:r>
                        <a:rPr sz="1100" b="0">
                          <a:solidFill>
                            <a:srgbClr val="434343"/>
                          </a:solidFill>
                          <a:latin typeface="Montserrat"/>
                        </a:rPr>
                        <a:t>93.9%</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45,561</a:t>
                      </a:r>
                    </a:p>
                  </a:txBody>
                  <a:tcPr>
                    <a:solidFill>
                      <a:srgbClr val="D9D9D9"/>
                    </a:solidFill>
                  </a:tcPr>
                </a:tc>
                <a:tc>
                  <a:txBody>
                    <a:bodyPr/>
                    <a:lstStyle/>
                    <a:p>
                      <a:pPr algn="ctr"/>
                      <a:r>
                        <a:rPr sz="1100" b="1">
                          <a:solidFill>
                            <a:srgbClr val="006455"/>
                          </a:solidFill>
                          <a:latin typeface="Montserrat"/>
                        </a:rPr>
                        <a:t>952,646</a:t>
                      </a:r>
                    </a:p>
                  </a:txBody>
                  <a:tcPr>
                    <a:solidFill>
                      <a:srgbClr val="D9D9D9"/>
                    </a:solidFill>
                  </a:tcPr>
                </a:tc>
                <a:tc>
                  <a:txBody>
                    <a:bodyPr/>
                    <a:lstStyle/>
                    <a:p>
                      <a:pPr algn="ctr"/>
                      <a:r>
                        <a:rPr sz="1100" b="1">
                          <a:solidFill>
                            <a:srgbClr val="006455"/>
                          </a:solidFill>
                          <a:latin typeface="Montserrat"/>
                        </a:rPr>
                        <a:t>95.4%</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95B2A-B30D-20A6-2F96-14454410C42B}"/>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ZACATECAS</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32.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457,409</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209,840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166,530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144,488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134,071</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89,084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83,202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81,943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73,093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70,674</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2488437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28870"/>
            <a:ext cx="1599000" cy="75833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96764"/>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800" b="1" dirty="0" err="1">
                <a:solidFill>
                  <a:srgbClr val="BC955C"/>
                </a:solidFill>
                <a:latin typeface="Montserrat"/>
              </a:rPr>
              <a:t>Hospitales</a:t>
            </a:r>
            <a:endParaRPr lang="en-US" sz="800"/>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4078868"/>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422455"/>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548787"/>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Tomógrafos</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17" name="Table 16"/>
          <p:cNvGraphicFramePr>
            <a:graphicFrameLocks noGrp="1"/>
          </p:cNvGraphicFramePr>
          <p:nvPr/>
        </p:nvGraphicFramePr>
        <p:xfrm>
          <a:off x="1785600" y="1584000"/>
          <a:ext cx="5295600" cy="180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Nueva Sala de Hemodinamia en el Hospital General de Zona 1 de Zacatecas</a:t>
                      </a:r>
                    </a:p>
                  </a:txBody>
                  <a:tcPr marL="3600" marR="3600" marT="3600" marB="3600">
                    <a:solidFill>
                      <a:srgbClr val="FFFFFF"/>
                    </a:solidFill>
                  </a:tcPr>
                </a:tc>
                <a:tc>
                  <a:txBody>
                    <a:bodyPr/>
                    <a:lstStyle/>
                    <a:p>
                      <a:pPr algn="ctr">
                        <a:lnSpc>
                          <a:spcPct val="100000"/>
                        </a:lnSpc>
                      </a:pPr>
                      <a:r>
                        <a:rPr sz="1000">
                          <a:latin typeface="Montserrat"/>
                        </a:rPr>
                        <a:t>$35.4</a:t>
                      </a:r>
                    </a:p>
                  </a:txBody>
                  <a:tcPr marL="3600" marR="3600" marT="3600" marB="3600">
                    <a:solidFill>
                      <a:srgbClr val="FFFFFF"/>
                    </a:solidFill>
                  </a:tcPr>
                </a:tc>
              </a:tr>
              <a:tr h="360000">
                <a:tc>
                  <a:txBody>
                    <a:bodyPr/>
                    <a:lstStyle/>
                    <a:p>
                      <a:pPr algn="l">
                        <a:lnSpc>
                          <a:spcPct val="100000"/>
                        </a:lnSpc>
                      </a:pPr>
                      <a:r>
                        <a:rPr sz="1000">
                          <a:latin typeface="Montserrat"/>
                        </a:rPr>
                        <a:t>Estudios de preinversión del HGR de 216 camas, Guadalupe</a:t>
                      </a:r>
                    </a:p>
                  </a:txBody>
                  <a:tcPr marL="3600" marR="3600" marT="3600" marB="3600">
                    <a:solidFill>
                      <a:srgbClr val="D9D9D9"/>
                    </a:solidFill>
                  </a:tcPr>
                </a:tc>
                <a:tc>
                  <a:txBody>
                    <a:bodyPr/>
                    <a:lstStyle/>
                    <a:p>
                      <a:pPr algn="ctr">
                        <a:lnSpc>
                          <a:spcPct val="100000"/>
                        </a:lnSpc>
                      </a:pPr>
                      <a:r>
                        <a:rPr sz="1000">
                          <a:latin typeface="Montserrat"/>
                        </a:rPr>
                        <a:t>$21.9</a:t>
                      </a:r>
                    </a:p>
                  </a:txBody>
                  <a:tcPr marL="3600" marR="3600" marT="3600" marB="3600">
                    <a:solidFill>
                      <a:srgbClr val="D9D9D9"/>
                    </a:solidFill>
                  </a:tcPr>
                </a:tc>
              </a:tr>
              <a:tr h="360000">
                <a:tc>
                  <a:txBody>
                    <a:bodyPr/>
                    <a:lstStyle/>
                    <a:p>
                      <a:pPr algn="l">
                        <a:lnSpc>
                          <a:spcPct val="100000"/>
                        </a:lnSpc>
                      </a:pPr>
                      <a:r>
                        <a:rPr sz="1000">
                          <a:latin typeface="Montserrat"/>
                        </a:rPr>
                        <a:t>Remodelación de gradas, baños y vestidores en gimnasio de basquetbol del CSS Zacatecas</a:t>
                      </a:r>
                    </a:p>
                  </a:txBody>
                  <a:tcPr marL="3600" marR="3600" marT="3600" marB="3600">
                    <a:solidFill>
                      <a:srgbClr val="FFFFFF"/>
                    </a:solidFill>
                  </a:tcPr>
                </a:tc>
                <a:tc>
                  <a:txBody>
                    <a:bodyPr/>
                    <a:lstStyle/>
                    <a:p>
                      <a:pPr algn="ctr">
                        <a:lnSpc>
                          <a:spcPct val="100000"/>
                        </a:lnSpc>
                      </a:pPr>
                      <a:r>
                        <a:rPr sz="1000">
                          <a:latin typeface="Montserrat"/>
                        </a:rPr>
                        <a:t>$9.6</a:t>
                      </a:r>
                    </a:p>
                  </a:txBody>
                  <a:tcPr marL="3600" marR="3600" marT="3600" marB="3600">
                    <a:solidFill>
                      <a:srgbClr val="FFFFFF"/>
                    </a:solidFill>
                  </a:tcPr>
                </a:tc>
              </a:tr>
              <a:tr h="36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$66.9</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3564000"/>
          <a:ext cx="5295600" cy="1980000"/>
        </p:xfrm>
        <a:graphic>
          <a:graphicData uri="http://schemas.openxmlformats.org/drawingml/2006/table">
            <a:tbl>
              <a:tblPr firstRow="1" bandRow="1">
                <a:tableStyleId>{5C22544A-7EE6-4342-B048-85BDC9FD1C3A}</a:tableStyleId>
              </a:tblPr>
              <a:tblGrid>
                <a:gridCol w="4176000"/>
                <a:gridCol w="1119600"/>
              </a:tblGrid>
              <a:tr h="396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96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$435.2</a:t>
                      </a:r>
                    </a:p>
                  </a:txBody>
                  <a:tcPr marL="3600" marR="3600" marT="3600" marB="3600">
                    <a:solidFill>
                      <a:srgbClr val="FFFFFF"/>
                    </a:solidFill>
                  </a:tcPr>
                </a:tc>
              </a:tr>
              <a:tr h="396000">
                <a:tc>
                  <a:txBody>
                    <a:bodyPr/>
                    <a:lstStyle/>
                    <a:p>
                      <a:pPr algn="l">
                        <a:lnSpc>
                          <a:spcPct val="100000"/>
                        </a:lnSpc>
                      </a:pPr>
                      <a:r>
                        <a:rPr sz="1000">
                          <a:latin typeface="Montserrat"/>
                        </a:rPr>
                        <a:t>Intervención en áreas de Hospitales Prioritarios en el HGZ No. 1 Zacatecas y HGZ No. 2 Fresnillo</a:t>
                      </a:r>
                    </a:p>
                  </a:txBody>
                  <a:tcPr marL="3600" marR="3600" marT="3600" marB="3600">
                    <a:solidFill>
                      <a:srgbClr val="D9D9D9"/>
                    </a:solidFill>
                  </a:tcPr>
                </a:tc>
                <a:tc>
                  <a:txBody>
                    <a:bodyPr/>
                    <a:lstStyle/>
                    <a:p>
                      <a:pPr algn="ctr">
                        <a:lnSpc>
                          <a:spcPct val="100000"/>
                        </a:lnSpc>
                      </a:pPr>
                      <a:r>
                        <a:rPr sz="1000">
                          <a:latin typeface="Montserrat"/>
                        </a:rPr>
                        <a:t>$210.4</a:t>
                      </a:r>
                    </a:p>
                  </a:txBody>
                  <a:tcPr marL="3600" marR="3600" marT="3600" marB="3600">
                    <a:solidFill>
                      <a:srgbClr val="D9D9D9"/>
                    </a:solidFill>
                  </a:tcPr>
                </a:tc>
              </a:tr>
              <a:tr h="396000">
                <a:tc>
                  <a:txBody>
                    <a:bodyPr/>
                    <a:lstStyle/>
                    <a:p>
                      <a:pPr algn="l">
                        <a:lnSpc>
                          <a:spcPct val="100000"/>
                        </a:lnSpc>
                      </a:pPr>
                      <a:r>
                        <a:rPr sz="1000">
                          <a:latin typeface="Montserrat"/>
                        </a:rPr>
                        <a:t>Intervención en áreas de residencias médicas en 4 unidades (HGZ No.1 Zacatecas, HGZ No.2 Fresnillo, UMF No.55 Fresnillo, UMF No.57  Zacatecas)</a:t>
                      </a:r>
                    </a:p>
                  </a:txBody>
                  <a:tcPr marL="3600" marR="3600" marT="3600" marB="3600">
                    <a:solidFill>
                      <a:srgbClr val="FFFFFF"/>
                    </a:solidFill>
                  </a:tcPr>
                </a:tc>
                <a:tc>
                  <a:txBody>
                    <a:bodyPr/>
                    <a:lstStyle/>
                    <a:p>
                      <a:pPr algn="ctr">
                        <a:lnSpc>
                          <a:spcPct val="100000"/>
                        </a:lnSpc>
                      </a:pPr>
                      <a:r>
                        <a:rPr sz="1000">
                          <a:latin typeface="Montserrat"/>
                        </a:rPr>
                        <a:t>$16.1</a:t>
                      </a:r>
                    </a:p>
                  </a:txBody>
                  <a:tcPr marL="3600" marR="3600" marT="3600" marB="3600">
                    <a:solidFill>
                      <a:srgbClr val="FFFFFF"/>
                    </a:solidFill>
                  </a:tcPr>
                </a:tc>
              </a:tr>
              <a:tr h="396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$661.7</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5724000"/>
          <a:ext cx="5295600" cy="1080000"/>
        </p:xfrm>
        <a:graphic>
          <a:graphicData uri="http://schemas.openxmlformats.org/drawingml/2006/table">
            <a:tbl>
              <a:tblPr firstRow="1" bandRow="1">
                <a:tableStyleId>{5C22544A-7EE6-4342-B048-85BDC9FD1C3A}</a:tableStyleId>
              </a:tblPr>
              <a:tblGrid>
                <a:gridCol w="4176000"/>
                <a:gridCol w="1119600"/>
              </a:tblGrid>
              <a:tr h="54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40000">
                <a:tc>
                  <a:txBody>
                    <a:bodyPr/>
                    <a:lstStyle/>
                    <a:p>
                      <a:pPr algn="l">
                        <a:lnSpc>
                          <a:spcPct val="100000"/>
                        </a:lnSpc>
                      </a:pPr>
                      <a:r>
                        <a:rPr sz="1000">
                          <a:latin typeface="Montserrat"/>
                        </a:rPr>
                        <a:t>Adquisición de 5 piezas de equipo médico: 1 refrigerador congelador de 5.4 pies cúbicos, 2 mastógrafos digitales con estereotaxia y tomosíntesis, 2 tomógrafos axiales computarizados de alta resolución</a:t>
                      </a:r>
                    </a:p>
                  </a:txBody>
                  <a:tcPr marL="3600" marR="3600" marT="3600" marB="3600">
                    <a:solidFill>
                      <a:srgbClr val="FFFFFF"/>
                    </a:solidFill>
                  </a:tcPr>
                </a:tc>
                <a:tc>
                  <a:txBody>
                    <a:bodyPr/>
                    <a:lstStyle/>
                    <a:p>
                      <a:pPr algn="ctr">
                        <a:lnSpc>
                          <a:spcPct val="100000"/>
                        </a:lnSpc>
                      </a:pPr>
                      <a:r>
                        <a:rPr sz="1000">
                          <a:latin typeface="Montserrat"/>
                        </a:rPr>
                        <a:t>$68.0</a:t>
                      </a:r>
                    </a:p>
                  </a:txBody>
                  <a:tcPr marL="3600" marR="3600" marT="3600" marB="3600">
                    <a:solidFill>
                      <a:srgbClr val="FFFFFF"/>
                    </a:solidFill>
                  </a:tcPr>
                </a:tc>
              </a:tr>
            </a:tbl>
          </a:graphicData>
        </a:graphic>
      </p:graphicFrame>
      <p:sp>
        <p:nvSpPr>
          <p:cNvPr id="20" name="TextBox 19"/>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796.6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ea typeface="Montserrat"/>
                <a:cs typeface="Montserrat"/>
              </a:rPr>
              <a:t>Hospital</a:t>
            </a:r>
            <a:endParaRPr lang="en-US" sz="800" b="1" i="0" u="none" strike="noStrike">
              <a:solidFill>
                <a:srgbClr val="A42145"/>
              </a:solidFill>
              <a:latin typeface="Montserrat"/>
              <a:ea typeface="Montserrat"/>
              <a:cs typeface="Montserrat"/>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233656" y="3065573"/>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UCIN</a:t>
            </a:r>
            <a:endParaRPr lang="en-US"/>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86296" y="3874532"/>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16824" y="3895806"/>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700" b="1">
                <a:solidFill>
                  <a:srgbClr val="A42145"/>
                </a:solidFill>
                <a:latin typeface="Montserrat"/>
              </a:rPr>
              <a:t>Centro de</a:t>
            </a:r>
            <a:endParaRPr lang="en-US" sz="700" b="1">
              <a:latin typeface="Montserrat"/>
            </a:endParaRPr>
          </a:p>
          <a:p>
            <a:pPr algn="ctr"/>
            <a:r>
              <a:rPr lang="en-US" sz="700" b="1" dirty="0" err="1">
                <a:solidFill>
                  <a:srgbClr val="A42145"/>
                </a:solidFill>
                <a:latin typeface="Montserrat"/>
              </a:rPr>
              <a:t>Biomedicina</a:t>
            </a:r>
            <a:r>
              <a:rPr lang="en-US" sz="700" b="1" dirty="0">
                <a:solidFill>
                  <a:srgbClr val="A42145"/>
                </a:solidFill>
                <a:latin typeface="Montserrat"/>
              </a:rPr>
              <a:t> </a:t>
            </a:r>
          </a:p>
          <a:p>
            <a:pPr algn="ctr"/>
            <a:r>
              <a:rPr lang="en-US" sz="700" b="1">
                <a:solidFill>
                  <a:srgbClr val="A42145"/>
                </a:solidFill>
                <a:latin typeface="Montserrat"/>
              </a:rPr>
              <a:t>Molecular</a:t>
            </a:r>
            <a:endParaRPr lang="en-US" sz="700" b="1">
              <a:latin typeface="Montserrat"/>
            </a:endParaRPr>
          </a:p>
        </p:txBody>
      </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13" name="Table 12"/>
          <p:cNvGraphicFramePr>
            <a:graphicFrameLocks noGrp="1"/>
          </p:cNvGraphicFramePr>
          <p:nvPr/>
        </p:nvGraphicFramePr>
        <p:xfrm>
          <a:off x="1785600" y="1584000"/>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Hospital General Regional Guadalupe</a:t>
                      </a:r>
                    </a:p>
                  </a:txBody>
                  <a:tcPr marL="3600" marR="3600" marT="3600" marB="3600">
                    <a:solidFill>
                      <a:srgbClr val="FFFFFF"/>
                    </a:solidFill>
                  </a:tcPr>
                </a:tc>
                <a:tc>
                  <a:txBody>
                    <a:bodyPr/>
                    <a:lstStyle/>
                    <a:p>
                      <a:pPr algn="ctr">
                        <a:lnSpc>
                          <a:spcPct val="100000"/>
                        </a:lnSpc>
                      </a:pPr>
                      <a:r>
                        <a:rPr sz="1000">
                          <a:latin typeface="Montserrat"/>
                        </a:rPr>
                        <a:t>$2,941.5</a:t>
                      </a:r>
                    </a:p>
                  </a:txBody>
                  <a:tcPr marL="3600" marR="3600" marT="3600" marB="3600">
                    <a:solidFill>
                      <a:srgbClr val="FFFFFF"/>
                    </a:solidFill>
                  </a:tcPr>
                </a:tc>
              </a:tr>
              <a:tr h="251999">
                <a:tc>
                  <a:txBody>
                    <a:bodyPr/>
                    <a:lstStyle/>
                    <a:p>
                      <a:pPr algn="l">
                        <a:lnSpc>
                          <a:spcPct val="100000"/>
                        </a:lnSpc>
                      </a:pPr>
                      <a:r>
                        <a:rPr sz="1000">
                          <a:latin typeface="Montserrat"/>
                        </a:rPr>
                        <a:t>Construcción del Centro de Investigación en Biomedicina Molecular</a:t>
                      </a:r>
                    </a:p>
                  </a:txBody>
                  <a:tcPr marL="3600" marR="3600" marT="3600" marB="3600">
                    <a:solidFill>
                      <a:srgbClr val="D9D9D9"/>
                    </a:solidFill>
                  </a:tcPr>
                </a:tc>
                <a:tc>
                  <a:txBody>
                    <a:bodyPr/>
                    <a:lstStyle/>
                    <a:p>
                      <a:pPr algn="ctr">
                        <a:lnSpc>
                          <a:spcPct val="100000"/>
                        </a:lnSpc>
                      </a:pPr>
                      <a:r>
                        <a:rPr sz="1000">
                          <a:latin typeface="Montserrat"/>
                        </a:rPr>
                        <a:t>$145.0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$3,086.5</a:t>
                      </a:r>
                    </a:p>
                  </a:txBody>
                  <a:tcPr marL="3600" marR="3600" marT="3600" marB="3600">
                    <a:solidFill>
                      <a:srgbClr val="9F2241"/>
                    </a:solidFill>
                  </a:tcPr>
                </a:tc>
              </a:tr>
            </a:tbl>
          </a:graphicData>
        </a:graphic>
      </p:graphicFrame>
      <p:graphicFrame>
        <p:nvGraphicFramePr>
          <p:cNvPr id="14" name="Table 13"/>
          <p:cNvGraphicFramePr>
            <a:graphicFrameLocks noGrp="1"/>
          </p:cNvGraphicFramePr>
          <p:nvPr/>
        </p:nvGraphicFramePr>
        <p:xfrm>
          <a:off x="1785600" y="2771996"/>
          <a:ext cx="5396400" cy="755997"/>
        </p:xfrm>
        <a:graphic>
          <a:graphicData uri="http://schemas.openxmlformats.org/drawingml/2006/table">
            <a:tbl>
              <a:tblPr firstRow="1" bandRow="1">
                <a:tableStyleId>{5C22544A-7EE6-4342-B048-85BDC9FD1C3A}</a:tableStyleId>
              </a:tblPr>
              <a:tblGrid>
                <a:gridCol w="4255200"/>
                <a:gridCol w="1141200"/>
              </a:tblGrid>
              <a:tr h="188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188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$118.7</a:t>
                      </a:r>
                    </a:p>
                  </a:txBody>
                  <a:tcPr marL="3600" marR="3600" marT="3600" marB="3600">
                    <a:solidFill>
                      <a:srgbClr val="FFFFFF"/>
                    </a:solidFill>
                  </a:tcPr>
                </a:tc>
              </a:tr>
              <a:tr h="188999">
                <a:tc>
                  <a:txBody>
                    <a:bodyPr/>
                    <a:lstStyle/>
                    <a:p>
                      <a:pPr algn="l">
                        <a:lnSpc>
                          <a:spcPct val="100000"/>
                        </a:lnSpc>
                      </a:pPr>
                      <a:r>
                        <a:rPr sz="1000">
                          <a:latin typeface="Montserrat"/>
                        </a:rPr>
                        <a:t>Fortalecimiento de UCIN en HGZ 1 Zacatecas</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189000">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$118.7</a:t>
                      </a:r>
                    </a:p>
                  </a:txBody>
                  <a:tcPr marL="3600" marR="3600" marT="3600" marB="3600">
                    <a:solidFill>
                      <a:srgbClr val="9F2241"/>
                    </a:solidFill>
                  </a:tcPr>
                </a:tc>
              </a:tr>
            </a:tbl>
          </a:graphicData>
        </a:graphic>
      </p:graphicFrame>
      <p:graphicFrame>
        <p:nvGraphicFramePr>
          <p:cNvPr id="15" name="Table 14"/>
          <p:cNvGraphicFramePr>
            <a:graphicFrameLocks noGrp="1"/>
          </p:cNvGraphicFramePr>
          <p:nvPr/>
        </p:nvGraphicFramePr>
        <p:xfrm>
          <a:off x="1785600" y="3707993"/>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13 Equipos electromecánicos para 2 unidades Médicas; 1 elevador, 6 equipos para casa de máquinas, 3 lavadoras y 3 secadoras. Zacatecas</a:t>
                      </a:r>
                    </a:p>
                  </a:txBody>
                  <a:tcPr marL="3600" marR="3600" marT="3600" marB="3600">
                    <a:solidFill>
                      <a:srgbClr val="FFFFFF"/>
                    </a:solidFill>
                  </a:tcPr>
                </a:tc>
                <a:tc>
                  <a:txBody>
                    <a:bodyPr/>
                    <a:lstStyle/>
                    <a:p>
                      <a:pPr algn="ctr">
                        <a:lnSpc>
                          <a:spcPct val="100000"/>
                        </a:lnSpc>
                      </a:pPr>
                      <a:r>
                        <a:rPr sz="1000">
                          <a:latin typeface="Montserrat"/>
                        </a:rPr>
                        <a:t>$64.8</a:t>
                      </a:r>
                    </a:p>
                  </a:txBody>
                  <a:tcPr marL="3600" marR="3600" marT="3600" marB="3600">
                    <a:solidFill>
                      <a:srgbClr val="FFFFFF"/>
                    </a:solidFill>
                  </a:tcPr>
                </a:tc>
              </a:tr>
            </a:tbl>
          </a:graphicData>
        </a:graphic>
      </p:graphicFrame>
      <p:sp>
        <p:nvSpPr>
          <p:cNvPr id="16" name="TextBox 15"/>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3,270.0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a:txBody>
                    <a:bodyPr/>
                    <a:lstStyle/>
                    <a:p>
                      <a:pPr algn="l">
                        <a:defRPr sz="1000">
                          <a:latin typeface="Montserrat"/>
                        </a:defRPr>
                      </a:pPr>
                      <a:r>
                        <a:t>Hospital Rural Fresnillo</a:t>
                      </a:r>
                    </a:p>
                  </a:txBody>
                  <a:tcPr>
                    <a:solidFill>
                      <a:srgbClr val="FFFFFF"/>
                    </a:solidFill>
                  </a:tcPr>
                </a:tc>
                <a:tc>
                  <a:txBody>
                    <a:bodyPr/>
                    <a:lstStyle/>
                    <a:p>
                      <a:pPr algn="ctr">
                        <a:defRPr sz="1000">
                          <a:latin typeface="Montserrat"/>
                        </a:defRPr>
                      </a:pPr>
                      <a:r>
                        <a:t>$40.0</a:t>
                      </a:r>
                    </a:p>
                  </a:txBody>
                  <a:tcPr>
                    <a:solidFill>
                      <a:srgbClr val="FFFFFF"/>
                    </a:solidFill>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sp>
        <p:nvSpPr>
          <p:cNvPr id="24" name="TextBox 23"/>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40.0 mdp</a:t>
            </a:r>
          </a:p>
        </p:txBody>
      </p:sp>
      <p:graphicFrame>
        <p:nvGraphicFramePr>
          <p:cNvPr id="25" name="Table 24"/>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4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Zacatecas, Pinos</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2 Donación</a:t>
                      </a:r>
                    </a:p>
                  </a:txBody>
                  <a:tcPr marL="72000" marR="72000" anchor="ctr">
                    <a:noFill/>
                  </a:tcPr>
                </a:tc>
                <a:tc>
                  <a:txBody>
                    <a:bodyPr/>
                    <a:lstStyle/>
                    <a:p>
                      <a:pPr algn="ctr">
                        <a:defRPr sz="1200" b="0">
                          <a:solidFill>
                            <a:srgbClr val="FFFFFF"/>
                          </a:solidFill>
                          <a:latin typeface="Montserrat"/>
                        </a:defRPr>
                      </a:pPr>
                      <a:r>
                        <a:t>Sombrerete, Fresnillo</a:t>
                      </a:r>
                    </a:p>
                  </a:txBody>
                  <a:tcPr marL="72000" marR="72000" anchor="ctr">
                    <a:noFill/>
                  </a:tcPr>
                </a:tc>
              </a:tr>
            </a:tbl>
          </a:graphicData>
        </a:graphic>
      </p:graphicFrame>
      <p:sp>
        <p:nvSpPr>
          <p:cNvPr id="26" name="Oval 25"/>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12</a:t>
            </a:r>
          </a:p>
        </p:txBody>
      </p:sp>
      <p:sp>
        <p:nvSpPr>
          <p:cNvPr id="27" name="Rectangle 26"/>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10 CECI IMSS</a:t>
            </a:r>
          </a:p>
          <a:p>
            <a:pPr algn="ctr">
              <a:defRPr sz="1500" b="1">
                <a:solidFill>
                  <a:srgbClr val="FFFFFF"/>
                </a:solidFill>
                <a:latin typeface="Montserrat"/>
              </a:defRPr>
            </a:pPr>
            <a:r>
              <a:t>2 CECI CAMPO</a:t>
            </a:r>
          </a:p>
        </p:txBody>
      </p:sp>
      <p:sp>
        <p:nvSpPr>
          <p:cNvPr id="28" name="TextBox 27"/>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Pinos y Zacatecas.</a:t>
            </a:r>
            <a:br/>
            <a:r>
              <a:t>En integración de expediente para donación: 2 en Sombrerete y Fresnillo.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ZACATECAS</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28 </a:t>
                      </a:r>
                      <a:r>
                        <a:rPr b="1" sz="1000">
                          <a:latin typeface="Montserrat"/>
                        </a:rPr>
                        <a:t>unidades</a:t>
                      </a:r>
                    </a:p>
                    <a:p>
                      <a:pPr algn="ctr">
                        <a:defRPr sz="1000">
                          <a:solidFill>
                            <a:srgbClr val="505050"/>
                          </a:solidFill>
                          <a:latin typeface="Montserrat"/>
                        </a:defRPr>
                      </a:pPr>
                      <a:r>
                        <a:t>0 directas</a:t>
                      </a:r>
                    </a:p>
                    <a:p>
                      <a:pPr algn="ctr">
                        <a:defRPr sz="1000">
                          <a:solidFill>
                            <a:srgbClr val="505050"/>
                          </a:solidFill>
                          <a:latin typeface="Montserrat"/>
                        </a:defRPr>
                      </a:pPr>
                      <a:r>
                        <a:t>28 indirectas</a:t>
                      </a:r>
                    </a:p>
                  </a:txBody>
                  <a:tcPr anchor="ctr">
                    <a:solidFill>
                      <a:srgbClr val="FFFFFF"/>
                    </a:solidFill>
                  </a:tcPr>
                </a:tc>
                <a:tc>
                  <a:txBody>
                    <a:bodyPr/>
                    <a:lstStyle/>
                    <a:p>
                      <a:pPr algn="ctr"/>
                      <a:r>
                        <a:rPr b="1" sz="1000">
                          <a:latin typeface="Montserrat"/>
                        </a:rPr>
                        <a:t>3,611 </a:t>
                      </a:r>
                      <a:r>
                        <a:rPr b="1" sz="1000">
                          <a:latin typeface="Montserrat"/>
                        </a:rPr>
                        <a:t>inscritos</a:t>
                      </a:r>
                    </a:p>
                    <a:p>
                      <a:pPr algn="ctr">
                        <a:defRPr sz="1000">
                          <a:solidFill>
                            <a:srgbClr val="505050"/>
                          </a:solidFill>
                          <a:latin typeface="Montserrat"/>
                        </a:defRPr>
                      </a:pPr>
                      <a:r>
                        <a:t>266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800" b="1">
                          <a:latin typeface="Montserrat"/>
                        </a:defRPr>
                      </a:pPr>
                      <a:r>
                        <a:t>6 CEBIS</a:t>
                      </a:r>
                    </a:p>
                  </a:txBody>
                  <a:tcPr anchor="ctr" marL="28800" marR="28800" marT="0" marB="0">
                    <a:solidFill>
                      <a:srgbClr val="FFFFFF"/>
                    </a:solidFill>
                  </a:tcPr>
                </a:tc>
                <a:tc>
                  <a:txBody>
                    <a:bodyPr/>
                    <a:lstStyle/>
                    <a:p>
                      <a:pPr algn="ctr">
                        <a:defRPr sz="800">
                          <a:latin typeface="Montserrat"/>
                        </a:defRPr>
                      </a:pPr>
                      <a:r>
                        <a:t>González Ortega, Felipe Angeles,Jerez, Río Grande, Emiliano Zapata, Calera de Víctor Rosales</a:t>
                      </a:r>
                    </a:p>
                  </a:txBody>
                  <a:tcPr anchor="ctr" marL="28800" marR="28800" marT="0" marB="0">
                    <a:solidFill>
                      <a:srgbClr val="FFFFFF"/>
                    </a:solidFill>
                  </a:tcPr>
                </a:tc>
              </a:tr>
              <a:tr h="522899">
                <a:tc>
                  <a:txBody>
                    <a:bodyPr/>
                    <a:lstStyle/>
                    <a:p>
                      <a:pPr algn="ctr">
                        <a:defRPr sz="800" b="1">
                          <a:latin typeface="Montserrat"/>
                        </a:defRPr>
                      </a:pPr>
                      <a:r>
                        <a:t>2 Centros de Seguridad Social</a:t>
                      </a:r>
                    </a:p>
                  </a:txBody>
                  <a:tcPr anchor="ctr" marL="28800" marR="28800" marT="0" marB="0">
                    <a:solidFill>
                      <a:srgbClr val="EFEFEF"/>
                    </a:solidFill>
                  </a:tcPr>
                </a:tc>
                <a:tc>
                  <a:txBody>
                    <a:bodyPr/>
                    <a:lstStyle/>
                    <a:p>
                      <a:pPr algn="ctr">
                        <a:defRPr sz="800">
                          <a:latin typeface="Montserrat"/>
                        </a:defRPr>
                      </a:pPr>
                      <a:r>
                        <a:t>Fresnillo y Zacatecas</a:t>
                      </a:r>
                    </a:p>
                  </a:txBody>
                  <a:tcPr anchor="ctr" marL="28800" marR="28800" marT="0" marB="0">
                    <a:solidFill>
                      <a:srgbClr val="EFEFEF"/>
                    </a:solidFill>
                  </a:tcPr>
                </a:tc>
              </a:tr>
              <a:tr h="522902">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Zacatecas</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4 Tiendas IMSS-SNTSS</a:t>
                      </a:r>
                    </a:p>
                  </a:txBody>
                  <a:tcPr anchor="ctr" marL="28800" marR="28800" marT="0" marB="0">
                    <a:solidFill>
                      <a:srgbClr val="FFFFFF"/>
                    </a:solidFill>
                  </a:tcPr>
                </a:tc>
                <a:tc>
                  <a:txBody>
                    <a:bodyPr/>
                    <a:lstStyle/>
                    <a:p>
                      <a:pPr algn="ctr">
                        <a:defRPr sz="800">
                          <a:latin typeface="Montserrat"/>
                        </a:defRPr>
                      </a:pPr>
                      <a:r>
                        <a:t>No. 140 Concepción del Oro, No. 143 Río Grande, No. 100 Sombrerete y No. 60 Zacatecas</a:t>
                      </a:r>
                    </a:p>
                  </a:txBody>
                  <a:tcPr anchor="ctr" marL="28800" marR="28800" marT="0" marB="0">
                    <a:solidFill>
                      <a:srgbClr val="FFFFFF"/>
                    </a:solidFill>
                  </a:tcPr>
                </a:tc>
              </a:tr>
            </a:tbl>
          </a:graphicData>
        </a:graphic>
      </p:graphicFrame>
      <p:pic>
        <p:nvPicPr>
          <p:cNvPr id="470" name="Picture 469" descr="map_tipo2_32_zac.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28</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Secretaría de Educación</a:t>
                      </a:r>
                    </a:p>
                  </a:txBody>
                  <a:tcPr anchor="ctr">
                    <a:solidFill>
                      <a:srgbClr val="FFFFFF"/>
                    </a:solidFill>
                  </a:tcPr>
                </a:tc>
                <a:tc>
                  <a:txBody>
                    <a:bodyPr/>
                    <a:lstStyle/>
                    <a:p>
                      <a:pPr algn="ctr">
                        <a:defRPr sz="850">
                          <a:latin typeface="Montserrat"/>
                        </a:defRPr>
                      </a:pPr>
                      <a:r>
                        <a:t>15,939</a:t>
                      </a:r>
                    </a:p>
                  </a:txBody>
                  <a:tcPr anchor="ctr">
                    <a:solidFill>
                      <a:srgbClr val="FFFFFF"/>
                    </a:solidFill>
                  </a:tcPr>
                </a:tc>
                <a:tc>
                  <a:txBody>
                    <a:bodyPr/>
                    <a:lstStyle/>
                    <a:p>
                      <a:pPr algn="ctr">
                        <a:defRPr sz="850">
                          <a:latin typeface="Montserrat"/>
                        </a:defRPr>
                      </a:pPr>
                      <a:r>
                        <a:t>15,913</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c>
                  <a:txBody>
                    <a:bodyPr/>
                    <a:lstStyle/>
                    <a:p>
                      <a:pPr algn="ctr">
                        <a:defRPr sz="850">
                          <a:latin typeface="Montserrat"/>
                        </a:defRPr>
                      </a:pPr>
                      <a:r>
                        <a:t>Aptiv Contract Services Zacatecas S. de R.L. de C.V.</a:t>
                      </a:r>
                    </a:p>
                  </a:txBody>
                  <a:tcPr anchor="ctr">
                    <a:solidFill>
                      <a:srgbClr val="FFFFFF"/>
                    </a:solidFill>
                  </a:tcPr>
                </a:tc>
                <a:tc>
                  <a:txBody>
                    <a:bodyPr/>
                    <a:lstStyle/>
                    <a:p>
                      <a:pPr algn="ctr">
                        <a:defRPr sz="850">
                          <a:latin typeface="Montserrat"/>
                        </a:defRPr>
                      </a:pPr>
                      <a:r>
                        <a:t>10,519</a:t>
                      </a:r>
                    </a:p>
                  </a:txBody>
                  <a:tcPr anchor="ctr">
                    <a:solidFill>
                      <a:srgbClr val="FFFFFF"/>
                    </a:solidFill>
                  </a:tcPr>
                </a:tc>
                <a:tc>
                  <a:txBody>
                    <a:bodyPr/>
                    <a:lstStyle/>
                    <a:p>
                      <a:pPr algn="ctr">
                        <a:defRPr sz="850">
                          <a:latin typeface="Montserrat"/>
                        </a:defRPr>
                      </a:pPr>
                      <a:r>
                        <a:t>10,538</a:t>
                      </a:r>
                    </a:p>
                  </a:txBody>
                  <a:tcPr anchor="ctr">
                    <a:solidFill>
                      <a:srgbClr val="FFFFFF"/>
                    </a:solidFill>
                  </a:tcPr>
                </a:tc>
                <a:tc>
                  <a:txBody>
                    <a:bodyPr/>
                    <a:lstStyle/>
                    <a:p>
                      <a:pPr algn="ctr">
                        <a:defRPr sz="850" b="1">
                          <a:solidFill>
                            <a:srgbClr val="006455"/>
                          </a:solidFill>
                          <a:latin typeface="Montserrat"/>
                        </a:defRPr>
                      </a:pPr>
                      <a:r>
                        <a:t>0.2%</a:t>
                      </a:r>
                    </a:p>
                  </a:txBody>
                  <a:tcPr anchor="ctr">
                    <a:solidFill>
                      <a:srgbClr val="FFFFFF"/>
                    </a:solidFill>
                  </a:tcPr>
                </a:tc>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6,400</a:t>
                      </a:r>
                    </a:p>
                  </a:txBody>
                  <a:tcPr anchor="ctr">
                    <a:solidFill>
                      <a:srgbClr val="D9D9D9"/>
                    </a:solidFill>
                  </a:tcPr>
                </a:tc>
                <a:tc>
                  <a:txBody>
                    <a:bodyPr/>
                    <a:lstStyle/>
                    <a:p>
                      <a:pPr algn="ctr">
                        <a:defRPr sz="850">
                          <a:latin typeface="Montserrat"/>
                        </a:defRPr>
                      </a:pPr>
                      <a:r>
                        <a:t>6,414</a:t>
                      </a:r>
                    </a:p>
                  </a:txBody>
                  <a:tcPr anchor="ctr">
                    <a:solidFill>
                      <a:srgbClr val="D9D9D9"/>
                    </a:solidFill>
                  </a:tcPr>
                </a:tc>
                <a:tc>
                  <a:txBody>
                    <a:bodyPr/>
                    <a:lstStyle/>
                    <a:p>
                      <a:pPr algn="ctr">
                        <a:defRPr sz="850" b="1">
                          <a:solidFill>
                            <a:srgbClr val="006455"/>
                          </a:solidFill>
                          <a:latin typeface="Montserrat"/>
                        </a:defRPr>
                      </a:pPr>
                      <a:r>
                        <a:t>0.2%</a:t>
                      </a:r>
                    </a:p>
                  </a:txBody>
                  <a:tcPr anchor="ctr">
                    <a:solidFill>
                      <a:srgbClr val="D9D9D9"/>
                    </a:solidFill>
                  </a:tcPr>
                </a:tc>
                <a:tc>
                  <a:txBody>
                    <a:bodyPr/>
                    <a:lstStyle/>
                    <a:p>
                      <a:pPr algn="ctr">
                        <a:defRPr sz="850">
                          <a:latin typeface="Montserrat"/>
                        </a:defRPr>
                      </a:pPr>
                      <a:r>
                        <a:t>Entrada Group de México S. de R.L. de C.V.</a:t>
                      </a:r>
                    </a:p>
                  </a:txBody>
                  <a:tcPr anchor="ctr">
                    <a:solidFill>
                      <a:srgbClr val="D9D9D9"/>
                    </a:solidFill>
                  </a:tcPr>
                </a:tc>
                <a:tc>
                  <a:txBody>
                    <a:bodyPr/>
                    <a:lstStyle/>
                    <a:p>
                      <a:pPr algn="ctr">
                        <a:defRPr sz="850">
                          <a:latin typeface="Montserrat"/>
                        </a:defRPr>
                      </a:pPr>
                      <a:r>
                        <a:t>4,304</a:t>
                      </a:r>
                    </a:p>
                  </a:txBody>
                  <a:tcPr anchor="ctr">
                    <a:solidFill>
                      <a:srgbClr val="D9D9D9"/>
                    </a:solidFill>
                  </a:tcPr>
                </a:tc>
                <a:tc>
                  <a:txBody>
                    <a:bodyPr/>
                    <a:lstStyle/>
                    <a:p>
                      <a:pPr algn="ctr">
                        <a:defRPr sz="850">
                          <a:latin typeface="Montserrat"/>
                        </a:defRPr>
                      </a:pPr>
                      <a:r>
                        <a:t>4,250</a:t>
                      </a:r>
                    </a:p>
                  </a:txBody>
                  <a:tcPr anchor="ctr">
                    <a:solidFill>
                      <a:srgbClr val="D9D9D9"/>
                    </a:solidFill>
                  </a:tcPr>
                </a:tc>
                <a:tc>
                  <a:txBody>
                    <a:bodyPr/>
                    <a:lstStyle/>
                    <a:p>
                      <a:pPr algn="ctr">
                        <a:defRPr sz="850" b="1">
                          <a:solidFill>
                            <a:srgbClr val="691C32"/>
                          </a:solidFill>
                          <a:latin typeface="Montserrat"/>
                        </a:defRPr>
                      </a:pPr>
                      <a:r>
                        <a:t>-1.3%</a:t>
                      </a:r>
                    </a:p>
                  </a:txBody>
                  <a:tcPr anchor="ctr">
                    <a:solidFill>
                      <a:srgbClr val="D9D9D9"/>
                    </a:solidFill>
                  </a:tcPr>
                </a:tc>
              </a:tr>
              <a:tr h="490320">
                <a:tc>
                  <a:txBody>
                    <a:bodyPr/>
                    <a:lstStyle/>
                    <a:p>
                      <a:pPr algn="ctr">
                        <a:defRPr sz="850">
                          <a:latin typeface="Montserrat"/>
                        </a:defRPr>
                      </a:pPr>
                      <a:r>
                        <a:t>Municipio de Fresnillo Zacatecas</a:t>
                      </a:r>
                    </a:p>
                  </a:txBody>
                  <a:tcPr anchor="ctr">
                    <a:solidFill>
                      <a:srgbClr val="FFFFFF"/>
                    </a:solidFill>
                  </a:tcPr>
                </a:tc>
                <a:tc>
                  <a:txBody>
                    <a:bodyPr/>
                    <a:lstStyle/>
                    <a:p>
                      <a:pPr algn="ctr">
                        <a:defRPr sz="850">
                          <a:latin typeface="Montserrat"/>
                        </a:defRPr>
                      </a:pPr>
                      <a:r>
                        <a:t>1,689</a:t>
                      </a:r>
                    </a:p>
                  </a:txBody>
                  <a:tcPr anchor="ctr">
                    <a:solidFill>
                      <a:srgbClr val="FFFFFF"/>
                    </a:solidFill>
                  </a:tcPr>
                </a:tc>
                <a:tc>
                  <a:txBody>
                    <a:bodyPr/>
                    <a:lstStyle/>
                    <a:p>
                      <a:pPr algn="ctr">
                        <a:defRPr sz="850">
                          <a:latin typeface="Montserrat"/>
                        </a:defRPr>
                      </a:pPr>
                      <a:r>
                        <a:t>1,708</a:t>
                      </a:r>
                    </a:p>
                  </a:txBody>
                  <a:tcPr anchor="ctr">
                    <a:solidFill>
                      <a:srgbClr val="FFFFFF"/>
                    </a:solidFill>
                  </a:tcPr>
                </a:tc>
                <a:tc>
                  <a:txBody>
                    <a:bodyPr/>
                    <a:lstStyle/>
                    <a:p>
                      <a:pPr algn="ctr">
                        <a:defRPr sz="850" b="1">
                          <a:solidFill>
                            <a:srgbClr val="006455"/>
                          </a:solidFill>
                          <a:latin typeface="Montserrat"/>
                        </a:defRPr>
                      </a:pPr>
                      <a:r>
                        <a:t>1.1%</a:t>
                      </a:r>
                    </a:p>
                  </a:txBody>
                  <a:tcPr anchor="ctr">
                    <a:solidFill>
                      <a:srgbClr val="FFFFFF"/>
                    </a:solidFill>
                  </a:tcPr>
                </a:tc>
                <a:tc>
                  <a:txBody>
                    <a:bodyPr/>
                    <a:lstStyle/>
                    <a:p>
                      <a:pPr algn="ctr">
                        <a:defRPr sz="850">
                          <a:latin typeface="Montserrat"/>
                        </a:defRPr>
                      </a:pPr>
                      <a:r>
                        <a:t>Minera Peñasquito S.A. de C.V.</a:t>
                      </a:r>
                    </a:p>
                  </a:txBody>
                  <a:tcPr anchor="ctr">
                    <a:solidFill>
                      <a:srgbClr val="FFFFFF"/>
                    </a:solidFill>
                  </a:tcPr>
                </a:tc>
                <a:tc>
                  <a:txBody>
                    <a:bodyPr/>
                    <a:lstStyle/>
                    <a:p>
                      <a:pPr algn="ctr">
                        <a:defRPr sz="850">
                          <a:latin typeface="Montserrat"/>
                        </a:defRPr>
                      </a:pPr>
                      <a:r>
                        <a:t>2,182</a:t>
                      </a:r>
                    </a:p>
                  </a:txBody>
                  <a:tcPr anchor="ctr">
                    <a:solidFill>
                      <a:srgbClr val="FFFFFF"/>
                    </a:solidFill>
                  </a:tcPr>
                </a:tc>
                <a:tc>
                  <a:txBody>
                    <a:bodyPr/>
                    <a:lstStyle/>
                    <a:p>
                      <a:pPr algn="ctr">
                        <a:defRPr sz="850">
                          <a:latin typeface="Montserrat"/>
                        </a:defRPr>
                      </a:pPr>
                      <a:r>
                        <a:t>2,176</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-47.40%</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-1.14%</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-0.63%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+0.62%</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+2.30%</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+2.50%</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+3.25%</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+4.09%</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+6.85%</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156,114</a:t>
                      </a:r>
                    </a:p>
                  </a:txBody>
                  <a:tcPr>
                    <a:solidFill>
                      <a:srgbClr val="FFFFFF"/>
                    </a:solidFill>
                  </a:tcPr>
                </a:tc>
                <a:tc>
                  <a:txBody>
                    <a:bodyPr/>
                    <a:lstStyle/>
                    <a:p>
                      <a:pPr algn="ctr">
                        <a:defRPr sz="900">
                          <a:latin typeface="Montserrat"/>
                        </a:defRPr>
                      </a:pPr>
                      <a:r>
                        <a:t>4,259</a:t>
                      </a:r>
                    </a:p>
                  </a:txBody>
                  <a:tcPr>
                    <a:solidFill>
                      <a:srgbClr val="FFFFFF"/>
                    </a:solidFill>
                  </a:tcPr>
                </a:tc>
                <a:tc>
                  <a:txBody>
                    <a:bodyPr/>
                    <a:lstStyle/>
                    <a:p>
                      <a:pPr algn="ctr">
                        <a:defRPr sz="900">
                          <a:latin typeface="Montserrat"/>
                        </a:defRPr>
                      </a:pPr>
                      <a:r>
                        <a:t>28,067</a:t>
                      </a:r>
                    </a:p>
                  </a:txBody>
                  <a:tcPr>
                    <a:solidFill>
                      <a:srgbClr val="FFFFFF"/>
                    </a:solidFill>
                  </a:tcPr>
                </a:tc>
                <a:tc>
                  <a:txBody>
                    <a:bodyPr/>
                    <a:lstStyle/>
                    <a:p>
                      <a:pPr algn="ctr">
                        <a:defRPr sz="900">
                          <a:latin typeface="Montserrat"/>
                        </a:defRPr>
                      </a:pPr>
                      <a:r>
                        <a:t>1,823</a:t>
                      </a:r>
                    </a:p>
                  </a:txBody>
                  <a:tcPr>
                    <a:solidFill>
                      <a:srgbClr val="FFFFFF"/>
                    </a:solidFill>
                  </a:tcPr>
                </a:tc>
                <a:tc>
                  <a:txBody>
                    <a:bodyPr/>
                    <a:lstStyle/>
                    <a:p>
                      <a:pPr algn="ctr">
                        <a:defRPr sz="900">
                          <a:latin typeface="Montserrat"/>
                        </a:defRPr>
                      </a:pPr>
                      <a:r>
                        <a:t>190,263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158,744</a:t>
                      </a:r>
                    </a:p>
                  </a:txBody>
                  <a:tcPr>
                    <a:solidFill>
                      <a:srgbClr val="D9D9D9"/>
                    </a:solidFill>
                  </a:tcPr>
                </a:tc>
                <a:tc>
                  <a:txBody>
                    <a:bodyPr/>
                    <a:lstStyle/>
                    <a:p>
                      <a:pPr algn="ctr">
                        <a:defRPr sz="900">
                          <a:latin typeface="Montserrat"/>
                        </a:defRPr>
                      </a:pPr>
                      <a:r>
                        <a:t>2,169</a:t>
                      </a:r>
                    </a:p>
                  </a:txBody>
                  <a:tcPr>
                    <a:solidFill>
                      <a:srgbClr val="D9D9D9"/>
                    </a:solidFill>
                  </a:tcPr>
                </a:tc>
                <a:tc>
                  <a:txBody>
                    <a:bodyPr/>
                    <a:lstStyle/>
                    <a:p>
                      <a:pPr algn="ctr">
                        <a:defRPr sz="900">
                          <a:latin typeface="Montserrat"/>
                        </a:defRPr>
                      </a:pPr>
                      <a:r>
                        <a:t>28,799</a:t>
                      </a:r>
                    </a:p>
                  </a:txBody>
                  <a:tcPr>
                    <a:solidFill>
                      <a:srgbClr val="D9D9D9"/>
                    </a:solidFill>
                  </a:tcPr>
                </a:tc>
                <a:tc>
                  <a:txBody>
                    <a:bodyPr/>
                    <a:lstStyle/>
                    <a:p>
                      <a:pPr algn="ctr">
                        <a:defRPr sz="900">
                          <a:latin typeface="Montserrat"/>
                        </a:defRPr>
                      </a:pPr>
                      <a:r>
                        <a:t>492</a:t>
                      </a:r>
                    </a:p>
                  </a:txBody>
                  <a:tcPr>
                    <a:solidFill>
                      <a:srgbClr val="D9D9D9"/>
                    </a:solidFill>
                  </a:tcPr>
                </a:tc>
                <a:tc>
                  <a:txBody>
                    <a:bodyPr/>
                    <a:lstStyle/>
                    <a:p>
                      <a:pPr algn="ctr">
                        <a:defRPr sz="900">
                          <a:latin typeface="Montserrat"/>
                        </a:defRPr>
                      </a:pPr>
                      <a:r>
                        <a:t>190,204</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+1.7%</a:t>
                      </a:r>
                    </a:p>
                  </a:txBody>
                  <a:tcPr>
                    <a:solidFill>
                      <a:srgbClr val="FFFFFF"/>
                    </a:solidFill>
                  </a:tcPr>
                </a:tc>
                <a:tc>
                  <a:txBody>
                    <a:bodyPr/>
                    <a:lstStyle/>
                    <a:p>
                      <a:pPr algn="ctr">
                        <a:defRPr sz="900" b="0">
                          <a:solidFill>
                            <a:srgbClr val="691C32"/>
                          </a:solidFill>
                          <a:latin typeface="Montserrat"/>
                        </a:defRPr>
                      </a:pPr>
                      <a:r>
                        <a:t>-49.1%</a:t>
                      </a:r>
                    </a:p>
                  </a:txBody>
                  <a:tcPr>
                    <a:solidFill>
                      <a:srgbClr val="FFFFFF"/>
                    </a:solidFill>
                  </a:tcPr>
                </a:tc>
                <a:tc>
                  <a:txBody>
                    <a:bodyPr/>
                    <a:lstStyle/>
                    <a:p>
                      <a:pPr algn="ctr">
                        <a:defRPr sz="900" b="1">
                          <a:solidFill>
                            <a:srgbClr val="006455"/>
                          </a:solidFill>
                          <a:latin typeface="Montserrat"/>
                        </a:defRPr>
                      </a:pPr>
                      <a:r>
                        <a:t>+2.6%</a:t>
                      </a:r>
                    </a:p>
                  </a:txBody>
                  <a:tcPr>
                    <a:solidFill>
                      <a:srgbClr val="FFFFFF"/>
                    </a:solidFill>
                  </a:tcPr>
                </a:tc>
                <a:tc>
                  <a:txBody>
                    <a:bodyPr/>
                    <a:lstStyle/>
                    <a:p>
                      <a:pPr algn="ctr">
                        <a:defRPr sz="900" b="0">
                          <a:solidFill>
                            <a:srgbClr val="691C32"/>
                          </a:solidFill>
                          <a:latin typeface="Montserrat"/>
                        </a:defRPr>
                      </a:pPr>
                      <a:r>
                        <a:t>-73.0%</a:t>
                      </a:r>
                    </a:p>
                  </a:txBody>
                  <a:tcPr>
                    <a:solidFill>
                      <a:srgbClr val="FFFFFF"/>
                    </a:solidFill>
                  </a:tcPr>
                </a:tc>
                <a:tc>
                  <a:txBody>
                    <a:bodyPr/>
                    <a:lstStyle/>
                    <a:p>
                      <a:pPr algn="ctr">
                        <a:defRPr sz="900">
                          <a:latin typeface="Montserrat"/>
                        </a:defRPr>
                      </a:pPr>
                      <a:r>
                        <a:t>-0.0%</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24E426C-214B-9408-8FCC-3D097E7961AD}"/>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$601.67</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$326.91</a:t>
                      </a:r>
                    </a:p>
                  </a:txBody>
                  <a:tcPr anchor="ctr">
                    <a:solidFill>
                      <a:srgbClr val="EEEEEE"/>
                    </a:solidFill>
                  </a:tcPr>
                </a:tc>
                <a:tc>
                  <a:txBody>
                    <a:bodyPr/>
                    <a:lstStyle/>
                    <a:p>
                      <a:pPr algn="ctr">
                        <a:defRPr sz="1100" b="1">
                          <a:latin typeface="Montserrat"/>
                        </a:defRPr>
                      </a:pPr>
                      <a:r>
                        <a:t>$601.67</a:t>
                      </a:r>
                    </a:p>
                  </a:txBody>
                  <a:tcPr anchor="ctr">
                    <a:solidFill>
                      <a:srgbClr val="EEEEEE"/>
                    </a:solidFill>
                  </a:tcPr>
                </a:tc>
                <a:tc>
                  <a:txBody>
                    <a:bodyPr/>
                    <a:lstStyle/>
                    <a:p>
                      <a:pPr algn="ctr">
                        <a:defRPr sz="1100">
                          <a:latin typeface="Montserrat"/>
                        </a:defRPr>
                      </a:pPr>
                      <a:r>
                        <a:t>30.0%</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$18,050.1</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Secretaría de Educación</a:t>
                      </a:r>
                    </a:p>
                  </a:txBody>
                  <a:tcPr>
                    <a:solidFill>
                      <a:srgbClr val="FFFFFF"/>
                    </a:solidFill>
                  </a:tcPr>
                </a:tc>
                <a:tc>
                  <a:txBody>
                    <a:bodyPr/>
                    <a:lstStyle/>
                    <a:p>
                      <a:pPr algn="ctr">
                        <a:defRPr sz="900">
                          <a:latin typeface="Montserrat"/>
                        </a:defRPr>
                      </a:pPr>
                      <a:r>
                        <a:t>$222.00</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Municipio de Sombrerete</a:t>
                      </a:r>
                    </a:p>
                  </a:txBody>
                  <a:tcPr>
                    <a:solidFill>
                      <a:srgbClr val="EEEEEE"/>
                    </a:solidFill>
                  </a:tcPr>
                </a:tc>
                <a:tc>
                  <a:txBody>
                    <a:bodyPr/>
                    <a:lstStyle/>
                    <a:p>
                      <a:pPr algn="ctr">
                        <a:defRPr sz="900">
                          <a:latin typeface="Montserrat"/>
                        </a:defRPr>
                      </a:pPr>
                      <a:r>
                        <a:t>$138.93</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Municipio de Trancoso</a:t>
                      </a:r>
                    </a:p>
                  </a:txBody>
                  <a:tcPr>
                    <a:solidFill>
                      <a:srgbClr val="FFFFFF"/>
                    </a:solidFill>
                  </a:tcPr>
                </a:tc>
                <a:tc>
                  <a:txBody>
                    <a:bodyPr/>
                    <a:lstStyle/>
                    <a:p>
                      <a:pPr algn="ctr">
                        <a:defRPr sz="900">
                          <a:latin typeface="Montserrat"/>
                        </a:defRPr>
                      </a:pPr>
                      <a:r>
                        <a:t>$59.79</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Paravillage Trasnporte y Logística SAS de CV</a:t>
                      </a:r>
                    </a:p>
                  </a:txBody>
                  <a:tcPr>
                    <a:solidFill>
                      <a:srgbClr val="EEEEEE"/>
                    </a:solidFill>
                  </a:tcPr>
                </a:tc>
                <a:tc>
                  <a:txBody>
                    <a:bodyPr/>
                    <a:lstStyle/>
                    <a:p>
                      <a:pPr algn="ctr">
                        <a:defRPr sz="900">
                          <a:latin typeface="Montserrat"/>
                        </a:defRPr>
                      </a:pPr>
                      <a:r>
                        <a:t>$10.85</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Servicios de Repostería Medina SAS de CV</a:t>
                      </a:r>
                    </a:p>
                  </a:txBody>
                  <a:tcPr>
                    <a:solidFill>
                      <a:srgbClr val="FFFFFF"/>
                    </a:solidFill>
                  </a:tcPr>
                </a:tc>
                <a:tc>
                  <a:txBody>
                    <a:bodyPr/>
                    <a:lstStyle/>
                    <a:p>
                      <a:pPr algn="ctr">
                        <a:defRPr sz="900">
                          <a:latin typeface="Montserrat"/>
                        </a:defRPr>
                      </a:pPr>
                      <a:r>
                        <a:t>$7.52</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Concreto Lanzado de Los Mochis SA de CV</a:t>
                      </a:r>
                    </a:p>
                  </a:txBody>
                  <a:tcPr>
                    <a:solidFill>
                      <a:srgbClr val="EEEEEE"/>
                    </a:solidFill>
                  </a:tcPr>
                </a:tc>
                <a:tc>
                  <a:txBody>
                    <a:bodyPr/>
                    <a:lstStyle/>
                    <a:p>
                      <a:pPr algn="ctr">
                        <a:defRPr sz="900">
                          <a:latin typeface="Montserrat"/>
                        </a:defRPr>
                      </a:pPr>
                      <a:r>
                        <a:t>$5.03</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ZACATECAS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141</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12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158</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498,544</a:t>
                      </a:r>
                    </a:p>
                  </a:txBody>
                  <a:tcPr anchor="ctr" marL="73152" marR="73152" marT="0" marB="0">
                    <a:solidFill>
                      <a:srgbClr val="D3E9E7"/>
                    </a:solidFill>
                  </a:tcPr>
                </a:tc>
                <a:tc>
                  <a:txBody>
                    <a:bodyPr/>
                    <a:lstStyle/>
                    <a:p>
                      <a:pPr algn="ctr">
                        <a:defRPr b="1" sz="1000">
                          <a:solidFill>
                            <a:srgbClr val="006455"/>
                          </a:solidFill>
                          <a:latin typeface="Montserrat"/>
                        </a:defRPr>
                      </a:pPr>
                      <a:r>
                        <a:t>1,877</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434,079</a:t>
                      </a:r>
                    </a:p>
                  </a:txBody>
                  <a:tcPr anchor="ctr" marL="73152" marR="73152" marT="0" marB="0">
                    <a:solidFill>
                      <a:srgbClr val="FFFFFF"/>
                    </a:solidFill>
                  </a:tcPr>
                </a:tc>
                <a:tc>
                  <a:txBody>
                    <a:bodyPr/>
                    <a:lstStyle/>
                    <a:p>
                      <a:pPr algn="ctr">
                        <a:defRPr b="0" sz="1000">
                          <a:solidFill>
                            <a:srgbClr val="000000"/>
                          </a:solidFill>
                          <a:latin typeface="Montserrat"/>
                        </a:defRPr>
                      </a:pPr>
                      <a:r>
                        <a:t>1,664</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10,990</a:t>
                      </a:r>
                    </a:p>
                  </a:txBody>
                  <a:tcPr anchor="ctr" marL="73152" marR="73152" marT="0" marB="0">
                    <a:solidFill>
                      <a:srgbClr val="EFEFEF"/>
                    </a:solidFill>
                  </a:tcPr>
                </a:tc>
                <a:tc>
                  <a:txBody>
                    <a:bodyPr/>
                    <a:lstStyle/>
                    <a:p>
                      <a:pPr algn="ctr">
                        <a:defRPr b="0" sz="1000">
                          <a:solidFill>
                            <a:srgbClr val="000000"/>
                          </a:solidFill>
                          <a:latin typeface="Montserrat"/>
                        </a:defRPr>
                      </a:pPr>
                      <a:r>
                        <a:t>43</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30,470</a:t>
                      </a:r>
                    </a:p>
                  </a:txBody>
                  <a:tcPr anchor="ctr" marL="73152" marR="73152" marT="0" marB="0">
                    <a:solidFill>
                      <a:srgbClr val="FFFFFF"/>
                    </a:solidFill>
                  </a:tcPr>
                </a:tc>
                <a:tc>
                  <a:txBody>
                    <a:bodyPr/>
                    <a:lstStyle/>
                    <a:p>
                      <a:pPr algn="ctr">
                        <a:defRPr b="0" sz="1000">
                          <a:solidFill>
                            <a:srgbClr val="000000"/>
                          </a:solidFill>
                          <a:latin typeface="Montserrat"/>
                        </a:defRPr>
                      </a:pPr>
                      <a:r>
                        <a:t>84</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23,005</a:t>
                      </a:r>
                    </a:p>
                  </a:txBody>
                  <a:tcPr anchor="ctr" marL="73152" marR="73152" marT="0" marB="0">
                    <a:solidFill>
                      <a:srgbClr val="EFEFEF"/>
                    </a:solidFill>
                  </a:tcPr>
                </a:tc>
                <a:tc>
                  <a:txBody>
                    <a:bodyPr/>
                    <a:lstStyle/>
                    <a:p>
                      <a:pPr algn="ctr">
                        <a:defRPr b="0" sz="1000">
                          <a:solidFill>
                            <a:srgbClr val="000000"/>
                          </a:solidFill>
                          <a:latin typeface="Montserrat"/>
                        </a:defRPr>
                      </a:pPr>
                      <a:r>
                        <a:t>89</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2,575</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1,861</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8,048</a:t>
                      </a:r>
                    </a:p>
                  </a:txBody>
                  <a:tcPr anchor="ctr" marL="73152" marR="73152" marT="0" marB="0">
                    <a:solidFill>
                      <a:srgbClr val="FFFFFF"/>
                    </a:solidFill>
                  </a:tcPr>
                </a:tc>
                <a:tc>
                  <a:txBody>
                    <a:bodyPr/>
                    <a:lstStyle/>
                    <a:p>
                      <a:pPr algn="ctr">
                        <a:defRPr b="0" sz="1000">
                          <a:solidFill>
                            <a:srgbClr val="000000"/>
                          </a:solidFill>
                          <a:latin typeface="Montserrat"/>
                        </a:defRPr>
                      </a:pPr>
                      <a:r>
                        <a:t>23</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216</a:t>
                      </a:r>
                    </a:p>
                  </a:txBody>
                  <a:tcPr anchor="ctr" marL="73152" marR="73152" marT="0" marB="0">
                    <a:solidFill>
                      <a:srgbClr val="FFFFFF"/>
                    </a:solidFill>
                  </a:tcPr>
                </a:tc>
                <a:tc>
                  <a:txBody>
                    <a:bodyPr/>
                    <a:lstStyle/>
                    <a:p>
                      <a:pPr algn="ctr">
                        <a:defRPr b="0" sz="1000">
                          <a:solidFill>
                            <a:srgbClr val="000000"/>
                          </a:solidFill>
                          <a:latin typeface="Montserrat"/>
                        </a:defRPr>
                      </a:pPr>
                      <a:r>
                        <a:t>18</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13</a:t>
                      </a:r>
                    </a:p>
                  </a:txBody>
                  <a:tcPr anchor="ctr" marL="73152" marR="73152" marT="0" marB="0">
                    <a:solidFill>
                      <a:srgbClr val="FFFFFF"/>
                    </a:solidFill>
                  </a:tcPr>
                </a:tc>
                <a:tc>
                  <a:txBody>
                    <a:bodyPr/>
                    <a:lstStyle/>
                    <a:p>
                      <a:pPr algn="ctr">
                        <a:defRPr b="1" sz="1000">
                          <a:solidFill>
                            <a:srgbClr val="006455"/>
                          </a:solidFill>
                          <a:latin typeface="Montserrat"/>
                        </a:defRPr>
                      </a:pPr>
                      <a:r>
                        <a:t>253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461</a:t>
                      </a:r>
                    </a:p>
                  </a:txBody>
                  <a:tcPr anchor="ctr" marL="73152" marR="73152" marT="0" marB="0">
                    <a:solidFill>
                      <a:srgbClr val="EFEFEF"/>
                    </a:solidFill>
                  </a:tcPr>
                </a:tc>
                <a:tc>
                  <a:txBody>
                    <a:bodyPr/>
                    <a:lstStyle/>
                    <a:p>
                      <a:pPr algn="ctr">
                        <a:defRPr b="0" sz="1000">
                          <a:solidFill>
                            <a:srgbClr val="000000"/>
                          </a:solidFill>
                          <a:latin typeface="Montserrat"/>
                        </a:defRPr>
                      </a:pPr>
                      <a:r>
                        <a:t>8</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282</a:t>
                      </a:r>
                    </a:p>
                  </a:txBody>
                  <a:tcPr anchor="ctr" marL="73152" marR="73152" marT="0" marB="0">
                    <a:solidFill>
                      <a:srgbClr val="EFEFEF"/>
                    </a:solidFill>
                  </a:tcPr>
                </a:tc>
                <a:tc>
                  <a:txBody>
                    <a:bodyPr/>
                    <a:lstStyle/>
                    <a:p>
                      <a:pPr algn="ctr">
                        <a:defRPr b="1" sz="1000">
                          <a:solidFill>
                            <a:srgbClr val="006455"/>
                          </a:solidFill>
                          <a:latin typeface="Montserrat"/>
                        </a:defRPr>
                      </a:pPr>
                      <a:r>
                        <a:t>752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59</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32</a:t>
                      </a:r>
                    </a:p>
                  </a:txBody>
                  <a:tcPr anchor="ctr" marL="73152" marR="73152" marT="0" marB="0">
                    <a:solidFill>
                      <a:srgbClr val="FFFFFF"/>
                    </a:solidFill>
                  </a:tcPr>
                </a:tc>
                <a:tc>
                  <a:txBody>
                    <a:bodyPr/>
                    <a:lstStyle/>
                    <a:p>
                      <a:pPr algn="ctr">
                        <a:defRPr b="1" sz="1000">
                          <a:solidFill>
                            <a:srgbClr val="006455"/>
                          </a:solidFill>
                          <a:latin typeface="Montserrat"/>
                        </a:defRPr>
                      </a:pPr>
                      <a:r>
                        <a:t>96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44</a:t>
                      </a:r>
                    </a:p>
                  </a:txBody>
                  <a:tcPr anchor="ctr" marL="73152" marR="73152" marT="0" marB="0">
                    <a:solidFill>
                      <a:srgbClr val="EFEFEF"/>
                    </a:solidFill>
                  </a:tcPr>
                </a:tc>
                <a:tc>
                  <a:txBody>
                    <a:bodyPr/>
                    <a:lstStyle/>
                    <a:p>
                      <a:pPr algn="ctr">
                        <a:defRPr b="0" sz="1000">
                          <a:solidFill>
                            <a:srgbClr val="000000"/>
                          </a:solidFill>
                          <a:latin typeface="Montserrat"/>
                        </a:defRPr>
                      </a:pPr>
                      <a:r>
                        <a:t>14</a:t>
                      </a:r>
                    </a:p>
                  </a:txBody>
                  <a:tcPr anchor="ctr" marL="73152" marR="73152" marT="0" marB="0">
                    <a:solidFill>
                      <a:srgbClr val="EFEFEF"/>
                    </a:solidFill>
                  </a:tcPr>
                </a:tc>
                <a:tc>
                  <a:txBody>
                    <a:bodyPr/>
                    <a:lstStyle/>
                    <a:p>
                      <a:pPr algn="ctr">
                        <a:defRPr b="0" sz="1000">
                          <a:solidFill>
                            <a:srgbClr val="000000"/>
                          </a:solidFill>
                          <a:latin typeface="Montserrat"/>
                        </a:defRPr>
                      </a:pPr>
                      <a:r>
                        <a:t>29</a:t>
                      </a:r>
                    </a:p>
                  </a:txBody>
                  <a:tcPr anchor="ctr" marL="73152" marR="73152" marT="0" marB="0">
                    <a:solidFill>
                      <a:srgbClr val="EFEFEF"/>
                    </a:solidFill>
                  </a:tcPr>
                </a:tc>
                <a:tc>
                  <a:txBody>
                    <a:bodyPr/>
                    <a:lstStyle/>
                    <a:p>
                      <a:pPr algn="ctr">
                        <a:defRPr b="0" sz="1000">
                          <a:solidFill>
                            <a:srgbClr val="000000"/>
                          </a:solidFill>
                          <a:latin typeface="Montserrat"/>
                        </a:defRPr>
                      </a:pPr>
                      <a:r>
                        <a:t>14</a:t>
                      </a:r>
                    </a:p>
                  </a:txBody>
                  <a:tcPr anchor="ctr" marL="73152" marR="73152" marT="0" marB="0">
                    <a:solidFill>
                      <a:srgbClr val="EFEFEF"/>
                    </a:solidFill>
                  </a:tcPr>
                </a:tc>
                <a:tc>
                  <a:txBody>
                    <a:bodyPr/>
                    <a:lstStyle/>
                    <a:p>
                      <a:pPr algn="ctr">
                        <a:defRPr b="1" sz="1000">
                          <a:solidFill>
                            <a:srgbClr val="006455"/>
                          </a:solidFill>
                          <a:latin typeface="Montserrat"/>
                        </a:defRPr>
                      </a:pPr>
                      <a:r>
                        <a:t>101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176</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c>
                  <a:txBody>
                    <a:bodyPr/>
                    <a:lstStyle/>
                    <a:p>
                      <a:pPr algn="ctr">
                        <a:defRPr b="0" sz="1000">
                          <a:solidFill>
                            <a:srgbClr val="000000"/>
                          </a:solidFill>
                          <a:latin typeface="Montserrat"/>
                        </a:defRPr>
                      </a:pPr>
                      <a:r>
                        <a:t>84</a:t>
                      </a:r>
                    </a:p>
                  </a:txBody>
                  <a:tcPr anchor="ctr" marL="73152" marR="73152" marT="0" marB="0">
                    <a:solidFill>
                      <a:srgbClr val="FFFFFF"/>
                    </a:solidFill>
                  </a:tcPr>
                </a:tc>
                <a:tc>
                  <a:txBody>
                    <a:bodyPr/>
                    <a:lstStyle/>
                    <a:p>
                      <a:pPr algn="ctr">
                        <a:defRPr b="1" sz="1000">
                          <a:solidFill>
                            <a:srgbClr val="006455"/>
                          </a:solidFill>
                          <a:latin typeface="Montserrat"/>
                        </a:defRPr>
                      </a:pPr>
                      <a:r>
                        <a:t>276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7</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956</a:t>
                      </a:r>
                    </a:p>
                  </a:txBody>
                  <a:tcPr anchor="ctr" marL="73152" marR="73152" marT="0" marB="0">
                    <a:solidFill>
                      <a:srgbClr val="D3E9E7"/>
                    </a:solidFill>
                  </a:tcPr>
                </a:tc>
                <a:tc>
                  <a:txBody>
                    <a:bodyPr/>
                    <a:lstStyle/>
                    <a:p>
                      <a:pPr algn="ctr">
                        <a:defRPr b="1" sz="1000">
                          <a:solidFill>
                            <a:srgbClr val="006455"/>
                          </a:solidFill>
                          <a:latin typeface="Montserrat"/>
                        </a:defRPr>
                      </a:pPr>
                      <a:r>
                        <a:t>51</a:t>
                      </a:r>
                    </a:p>
                  </a:txBody>
                  <a:tcPr anchor="ctr" marL="73152" marR="73152" marT="0" marB="0">
                    <a:solidFill>
                      <a:srgbClr val="D3E9E7"/>
                    </a:solidFill>
                  </a:tcPr>
                </a:tc>
                <a:tc>
                  <a:txBody>
                    <a:bodyPr/>
                    <a:lstStyle/>
                    <a:p>
                      <a:pPr algn="ctr">
                        <a:defRPr b="1" sz="1000">
                          <a:solidFill>
                            <a:srgbClr val="006455"/>
                          </a:solidFill>
                          <a:latin typeface="Montserrat"/>
                        </a:defRPr>
                      </a:pPr>
                      <a:r>
                        <a:t>56</a:t>
                      </a:r>
                    </a:p>
                  </a:txBody>
                  <a:tcPr anchor="ctr" marL="73152" marR="73152" marT="0" marB="0">
                    <a:solidFill>
                      <a:srgbClr val="D3E9E7"/>
                    </a:solidFill>
                  </a:tcPr>
                </a:tc>
                <a:tc>
                  <a:txBody>
                    <a:bodyPr/>
                    <a:lstStyle/>
                    <a:p>
                      <a:pPr algn="ctr">
                        <a:defRPr b="1" sz="1000">
                          <a:solidFill>
                            <a:srgbClr val="006455"/>
                          </a:solidFill>
                          <a:latin typeface="Montserrat"/>
                        </a:defRPr>
                      </a:pPr>
                      <a:r>
                        <a:t>425</a:t>
                      </a:r>
                    </a:p>
                  </a:txBody>
                  <a:tcPr anchor="ctr" marL="73152" marR="73152" marT="0" marB="0">
                    <a:solidFill>
                      <a:srgbClr val="D3E9E7"/>
                    </a:solidFill>
                  </a:tcPr>
                </a:tc>
                <a:tc>
                  <a:txBody>
                    <a:bodyPr/>
                    <a:lstStyle/>
                    <a:p>
                      <a:pPr algn="ctr">
                        <a:defRPr b="1" sz="1000">
                          <a:solidFill>
                            <a:srgbClr val="006455"/>
                          </a:solidFill>
                          <a:latin typeface="Montserrat"/>
                        </a:defRPr>
                      </a:pPr>
                      <a:r>
                        <a:t>1,488</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722</a:t>
                      </a:r>
                    </a:p>
                  </a:txBody>
                  <a:tcPr anchor="ctr" marL="73152" marR="73152" marT="0" marB="0">
                    <a:solidFill>
                      <a:srgbClr val="D3E9E7"/>
                    </a:solidFill>
                  </a:tcPr>
                </a:tc>
                <a:tc>
                  <a:txBody>
                    <a:bodyPr/>
                    <a:lstStyle/>
                    <a:p>
                      <a:pPr algn="ctr">
                        <a:defRPr b="1" sz="1000">
                          <a:solidFill>
                            <a:srgbClr val="006455"/>
                          </a:solidFill>
                          <a:latin typeface="Montserrat"/>
                        </a:defRPr>
                      </a:pPr>
                      <a:r>
                        <a:t>647</a:t>
                      </a:r>
                    </a:p>
                  </a:txBody>
                  <a:tcPr anchor="ctr" marL="73152" marR="73152" marT="0" marB="0">
                    <a:solidFill>
                      <a:srgbClr val="D3E9E7"/>
                    </a:solidFill>
                  </a:tcPr>
                </a:tc>
                <a:tc>
                  <a:txBody>
                    <a:bodyPr/>
                    <a:lstStyle/>
                    <a:p>
                      <a:pPr algn="ctr">
                        <a:defRPr b="1" sz="1000">
                          <a:solidFill>
                            <a:srgbClr val="006455"/>
                          </a:solidFill>
                          <a:latin typeface="Montserrat"/>
                        </a:defRPr>
                      </a:pPr>
                      <a:r>
                        <a:t>3,866</a:t>
                      </a:r>
                    </a:p>
                  </a:txBody>
                  <a:tcPr anchor="ctr" marL="73152" marR="73152" marT="0" marB="0">
                    <a:solidFill>
                      <a:srgbClr val="D3E9E7"/>
                    </a:solidFill>
                  </a:tcPr>
                </a:tc>
                <a:tc>
                  <a:txBody>
                    <a:bodyPr/>
                    <a:lstStyle/>
                    <a:p>
                      <a:pPr algn="ctr">
                        <a:defRPr b="1" sz="1000">
                          <a:solidFill>
                            <a:srgbClr val="006455"/>
                          </a:solidFill>
                          <a:latin typeface="Montserrat"/>
                        </a:defRPr>
                      </a:pPr>
                      <a:r>
                        <a:t>4,743</a:t>
                      </a:r>
                    </a:p>
                  </a:txBody>
                  <a:tcPr anchor="ctr" marL="73152" marR="73152" marT="0" marB="0">
                    <a:solidFill>
                      <a:srgbClr val="D3E9E7"/>
                    </a:solidFill>
                  </a:tcPr>
                </a:tc>
                <a:tc>
                  <a:txBody>
                    <a:bodyPr/>
                    <a:lstStyle/>
                    <a:p>
                      <a:pPr algn="ctr">
                        <a:defRPr b="1" sz="1000">
                          <a:solidFill>
                            <a:srgbClr val="006455"/>
                          </a:solidFill>
                          <a:latin typeface="Montserrat"/>
                        </a:defRPr>
                      </a:pPr>
                      <a:r>
                        <a:t>8</a:t>
                      </a:r>
                    </a:p>
                  </a:txBody>
                  <a:tcPr anchor="ctr" marL="73152" marR="73152" marT="0" marB="0">
                    <a:solidFill>
                      <a:srgbClr val="D3E9E7"/>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409,391</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129,722</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279,669</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69</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498,544</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2,575</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Concepción del Oro</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HR Villanueva</a:t>
                      </a:r>
                    </a:p>
                  </a:txBody>
                  <a:tcPr anchor="ctr">
                    <a:solidFill>
                      <a:srgbClr val="EFEFEF"/>
                    </a:solidFill>
                  </a:tcPr>
                </a:tc>
                <a:tc>
                  <a:txBody>
                    <a:bodyPr/>
                    <a:lstStyle/>
                    <a:p>
                      <a:pPr algn="ctr">
                        <a:defRPr sz="900">
                          <a:latin typeface="Montserrat"/>
                        </a:defRPr>
                      </a:pPr>
                      <a:r>
                        <a:t>Noviembre de 1982</a:t>
                      </a:r>
                    </a:p>
                  </a:txBody>
                  <a:tcPr anchor="ctr">
                    <a:solidFill>
                      <a:srgbClr val="EFEFEF"/>
                    </a:solidFill>
                  </a:tcPr>
                </a:tc>
                <a:tc>
                  <a:txBody>
                    <a:bodyPr/>
                    <a:lstStyle/>
                    <a:p>
                      <a:pPr algn="ctr">
                        <a:defRPr sz="900">
                          <a:latin typeface="Montserrat"/>
                        </a:defRPr>
                      </a:pPr>
                      <a:r>
                        <a:t>24</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Río Grande</a:t>
                      </a:r>
                    </a:p>
                  </a:txBody>
                  <a:tcPr anchor="ctr">
                    <a:solidFill>
                      <a:srgbClr val="FFFFFF"/>
                    </a:solidFill>
                  </a:tcPr>
                </a:tc>
                <a:tc>
                  <a:txBody>
                    <a:bodyPr/>
                    <a:lstStyle/>
                    <a:p>
                      <a:pPr algn="ctr">
                        <a:defRPr sz="900">
                          <a:latin typeface="Montserrat"/>
                        </a:defRPr>
                      </a:pPr>
                      <a:r>
                        <a:t>Noviembre de 1988</a:t>
                      </a:r>
                    </a:p>
                  </a:txBody>
                  <a:tcPr anchor="ctr">
                    <a:solidFill>
                      <a:srgbClr val="FFFFFF"/>
                    </a:solidFill>
                  </a:tcPr>
                </a:tc>
                <a:tc>
                  <a:txBody>
                    <a:bodyPr/>
                    <a:lstStyle/>
                    <a:p>
                      <a:pPr algn="ctr">
                        <a:defRPr sz="900">
                          <a:latin typeface="Montserrat"/>
                        </a:defRPr>
                      </a:pPr>
                      <a:r>
                        <a:t>32</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HR Tlaltenango de Sánchez Román</a:t>
                      </a:r>
                    </a:p>
                  </a:txBody>
                  <a:tcPr anchor="ctr">
                    <a:solidFill>
                      <a:srgbClr val="EFEFEF"/>
                    </a:solidFill>
                  </a:tcPr>
                </a:tc>
                <a:tc>
                  <a:txBody>
                    <a:bodyPr/>
                    <a:lstStyle/>
                    <a:p>
                      <a:pPr algn="ctr">
                        <a:defRPr sz="900">
                          <a:latin typeface="Montserrat"/>
                        </a:defRPr>
                      </a:pPr>
                      <a:r>
                        <a:t>Mayo de 1991</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Pinos</a:t>
                      </a:r>
                    </a:p>
                  </a:txBody>
                  <a:tcPr anchor="ctr">
                    <a:solidFill>
                      <a:srgbClr val="FFFFFF"/>
                    </a:solidFill>
                  </a:tcPr>
                </a:tc>
                <a:tc>
                  <a:txBody>
                    <a:bodyPr/>
                    <a:lstStyle/>
                    <a:p>
                      <a:pPr algn="ctr">
                        <a:defRPr sz="900">
                          <a:latin typeface="Montserrat"/>
                        </a:defRPr>
                      </a:pPr>
                      <a:r>
                        <a:t>Julio de 1993</a:t>
                      </a:r>
                    </a:p>
                  </a:txBody>
                  <a:tcPr anchor="ctr">
                    <a:solidFill>
                      <a:srgbClr val="FFFFFF"/>
                    </a:solidFill>
                  </a:tcPr>
                </a:tc>
                <a:tc>
                  <a:txBody>
                    <a:bodyPr/>
                    <a:lstStyle/>
                    <a:p>
                      <a:pPr algn="ctr">
                        <a:defRPr sz="900">
                          <a:latin typeface="Montserrat"/>
                        </a:defRPr>
                      </a:pPr>
                      <a:r>
                        <a:t>36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HR Fresnillo</a:t>
                      </a:r>
                    </a:p>
                  </a:txBody>
                  <a:tcPr anchor="ctr">
                    <a:solidFill>
                      <a:srgbClr val="EFEFEF"/>
                    </a:solidFill>
                  </a:tcPr>
                </a:tc>
                <a:tc>
                  <a:txBody>
                    <a:bodyPr/>
                    <a:lstStyle/>
                    <a:p>
                      <a:pPr algn="ctr">
                        <a:defRPr sz="900">
                          <a:latin typeface="Montserrat"/>
                        </a:defRPr>
                      </a:pPr>
                      <a:r>
                        <a:t>Abril de 2023</a:t>
                      </a:r>
                    </a:p>
                  </a:txBody>
                  <a:tcPr anchor="ctr">
                    <a:solidFill>
                      <a:srgbClr val="EFEFEF"/>
                    </a:solidFill>
                  </a:tcPr>
                </a:tc>
                <a:tc>
                  <a:txBody>
                    <a:bodyPr/>
                    <a:lstStyle/>
                    <a:p>
                      <a:pPr algn="ctr">
                        <a:defRPr sz="900">
                          <a:latin typeface="Montserrat"/>
                        </a:defRPr>
                      </a:pPr>
                      <a:r>
                        <a:t>80</a:t>
                      </a:r>
                    </a:p>
                  </a:txBody>
                  <a:tcPr anchor="ctr">
                    <a:solidFill>
                      <a:srgbClr val="EFEFEF"/>
                    </a:solidFill>
                  </a:tcPr>
                </a:tc>
                <a:tc>
                  <a:txBody>
                    <a:bodyPr/>
                    <a:lstStyle/>
                    <a:p>
                      <a:pPr algn="ctr">
                        <a:defRPr sz="900">
                          <a:latin typeface="Montserrat"/>
                        </a:defRPr>
                      </a:pPr>
                      <a:r>
                        <a:t>35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5</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221</a:t>
                      </a:r>
                    </a:p>
                  </a:txBody>
                  <a:tcPr anchor="ctr">
                    <a:solidFill>
                      <a:srgbClr val="D3E9E7"/>
                    </a:solidFill>
                  </a:tcPr>
                </a:tc>
                <a:tc>
                  <a:txBody>
                    <a:bodyPr/>
                    <a:lstStyle/>
                    <a:p>
                      <a:pPr algn="ctr">
                        <a:defRPr sz="900" b="1">
                          <a:solidFill>
                            <a:srgbClr val="006556"/>
                          </a:solidFill>
                          <a:latin typeface="Montserrat"/>
                        </a:defRPr>
                      </a:pPr>
                      <a:r>
                        <a:t>92</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8</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526</a:t>
                      </a:r>
                    </a:p>
                  </a:txBody>
                  <a:tcPr anchor="ctr">
                    <a:solidFill>
                      <a:srgbClr val="D3E9E7"/>
                    </a:solidFill>
                  </a:tcPr>
                </a:tc>
                <a:tc>
                  <a:txBody>
                    <a:bodyPr/>
                    <a:lstStyle/>
                    <a:p>
                      <a:pPr algn="ctr">
                        <a:defRPr sz="900" b="1">
                          <a:solidFill>
                            <a:srgbClr val="006556"/>
                          </a:solidFill>
                          <a:latin typeface="Montserrat"/>
                        </a:defRPr>
                      </a:pPr>
                      <a:r>
                        <a:t>268</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84</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79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Tlaltenango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Villanueva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32</a:t>
                      </a:r>
                    </a:p>
                  </a:txBody>
                  <a:tcPr>
                    <a:solidFill>
                      <a:srgbClr val="D3E9E7"/>
                    </a:solidFill>
                  </a:tcPr>
                </a:tc>
              </a:tr>
            </a:tbl>
          </a:graphicData>
        </a:graphic>
      </p:graphicFrame>
      <p:sp>
        <p:nvSpPr>
          <p:cNvPr id="9" name="TextBox 8"/>
          <p:cNvSpPr txBox="1"/>
          <p:nvPr/>
        </p:nvSpPr>
        <p:spPr>
          <a:xfrm>
            <a:off x="360000" y="4161600"/>
            <a:ext cx="6840000" cy="360000"/>
          </a:xfrm>
          <a:prstGeom prst="rect">
            <a:avLst/>
          </a:prstGeom>
          <a:noFill/>
        </p:spPr>
        <p:txBody>
          <a:bodyPr wrap="none" anchor="ctr">
            <a:spAutoFit/>
          </a:bodyPr>
          <a:lstStyle/>
          <a:p>
            <a:pPr algn="l">
              <a:defRPr sz="2000" b="1">
                <a:solidFill>
                  <a:srgbClr val="BC955C"/>
                </a:solidFill>
                <a:latin typeface="Montserrat"/>
              </a:defRPr>
            </a:pPr>
            <a:r>
              <a:t>1 Sede delegacional</a:t>
            </a:r>
          </a:p>
        </p:txBody>
      </p:sp>
      <p:cxnSp>
        <p:nvCxnSpPr>
          <p:cNvPr id="10" name="Connector 9"/>
          <p:cNvCxnSpPr/>
          <p:nvPr/>
        </p:nvCxnSpPr>
        <p:spPr>
          <a:xfrm>
            <a:off x="360000" y="455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62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2" name="TextBox 11"/>
          <p:cNvSpPr txBox="1"/>
          <p:nvPr/>
        </p:nvSpPr>
        <p:spPr>
          <a:xfrm>
            <a:off x="360000" y="5709599"/>
            <a:ext cx="6840000" cy="360000"/>
          </a:xfrm>
          <a:prstGeom prst="rect">
            <a:avLst/>
          </a:prstGeom>
          <a:noFill/>
        </p:spPr>
        <p:txBody>
          <a:bodyPr wrap="none" anchor="ctr">
            <a:spAutoFit/>
          </a:bodyPr>
          <a:lstStyle/>
          <a:p>
            <a:pPr algn="l">
              <a:defRPr sz="2000" b="1">
                <a:solidFill>
                  <a:srgbClr val="BC955C"/>
                </a:solidFill>
                <a:latin typeface="Montserrat"/>
              </a:defRPr>
            </a:pPr>
            <a:r>
              <a:t>10 en Unidades de Medicina Familiar</a:t>
            </a:r>
          </a:p>
        </p:txBody>
      </p:sp>
      <p:cxnSp>
        <p:nvCxnSpPr>
          <p:cNvPr id="13" name="Connector 12"/>
          <p:cNvCxnSpPr/>
          <p:nvPr/>
        </p:nvCxnSpPr>
        <p:spPr>
          <a:xfrm>
            <a:off x="360000" y="610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nvGraphicFramePr>
        <p:xfrm>
          <a:off x="360000" y="617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617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7077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707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60000" y="8229597"/>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9" name="Table 18"/>
          <p:cNvGraphicFramePr>
            <a:graphicFrameLocks noGrp="1"/>
          </p:cNvGraphicFramePr>
          <p:nvPr/>
        </p:nvGraphicFramePr>
        <p:xfrm>
          <a:off x="3960000" y="822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57</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8" name="TextBox 7"/>
          <p:cNvSpPr txBox="1"/>
          <p:nvPr/>
        </p:nvSpPr>
        <p:spPr>
          <a:xfrm>
            <a:off x="360000" y="2649599"/>
            <a:ext cx="6840000" cy="360000"/>
          </a:xfrm>
          <a:prstGeom prst="rect">
            <a:avLst/>
          </a:prstGeom>
          <a:noFill/>
        </p:spPr>
        <p:txBody>
          <a:bodyPr wrap="none" anchor="ctr">
            <a:spAutoFit/>
          </a:bodyPr>
          <a:lstStyle/>
          <a:p>
            <a:pPr algn="l">
              <a:defRPr sz="2000" b="1">
                <a:solidFill>
                  <a:srgbClr val="BC955C"/>
                </a:solidFill>
                <a:latin typeface="Montserrat"/>
              </a:defRPr>
            </a:pPr>
            <a:r>
              <a:t>39 especialistas (sustitutos)</a:t>
            </a:r>
          </a:p>
        </p:txBody>
      </p:sp>
      <p:cxnSp>
        <p:nvCxnSpPr>
          <p:cNvPr id="9" name="Connector 8"/>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360000" y="3117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Genética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11" name="Table 10"/>
          <p:cNvGraphicFramePr>
            <a:graphicFrameLocks noGrp="1"/>
          </p:cNvGraphicFramePr>
          <p:nvPr/>
        </p:nvGraphicFramePr>
        <p:xfrm>
          <a:off x="39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39</a:t>
                      </a:r>
                    </a:p>
                  </a:txBody>
                  <a:tcPr>
                    <a:solidFill>
                      <a:srgbClr val="D3E9E7"/>
                    </a:solidFill>
                  </a:tcPr>
                </a:tc>
              </a:tr>
            </a:tbl>
          </a:graphicData>
        </a:graphic>
      </p:graphicFrame>
      <p:sp>
        <p:nvSpPr>
          <p:cNvPr id="12" name="TextBox 11"/>
          <p:cNvSpPr txBox="1"/>
          <p:nvPr/>
        </p:nvSpPr>
        <p:spPr>
          <a:xfrm>
            <a:off x="270000" y="8193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396</TotalTime>
  <Words>393</Words>
  <Application>Microsoft Office PowerPoint</Application>
  <PresentationFormat>Personalizado</PresentationFormat>
  <Paragraphs>95</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129</cp:revision>
  <dcterms:modified xsi:type="dcterms:W3CDTF">2026-05-13T00:15:12Z</dcterms:modified>
</cp:coreProperties>
</file>