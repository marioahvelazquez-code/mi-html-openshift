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6"/>
    <p:sldId id="303" r:id="rId47"/>
    <p:sldId id="304" r:id="rId48"/>
    <p:sldId id="305" r:id="rId49"/>
    <p:sldId id="306" r:id="rId50"/>
    <p:sldId id="281" r:id="rId14"/>
    <p:sldId id="307" r:id="rId51"/>
    <p:sldId id="288" r:id="rId15"/>
    <p:sldId id="270" r:id="rId16"/>
    <p:sldId id="271" r:id="rId17"/>
    <p:sldId id="299" r:id="rId18"/>
    <p:sldId id="300" r:id="rId19"/>
    <p:sldId id="297" r:id="rId20"/>
    <p:sldId id="284" r:id="rId21"/>
    <p:sldId id="290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72" d="100"/>
          <a:sy n="72" d="100"/>
        </p:scale>
        <p:origin x="3036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48.139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48.139" v="0"/>
        <pc:sldMkLst>
          <pc:docMk/>
          <pc:sldMk cId="2392679906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21T17:28:28.208" v="75" actId="20577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6:22.731" v="50" actId="1038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6:22.731" v="50" actId="1038"/>
          <ac:spMkLst>
            <pc:docMk/>
            <pc:sldMk cId="0" sldId="260"/>
            <ac:spMk id="7" creationId="{15575CA1-A306-20D6-11D7-B160C49108D2}"/>
          </ac:spMkLst>
        </pc:spChg>
        <pc:graphicFrameChg chg="add mod">
          <ac:chgData name="Edgar Rosales Ortega" userId="d1d54fc2-1570-4978-babc-e22e1526833f" providerId="ADAL" clId="{66BE7C30-C669-4152-AC74-10076FC0590C}" dt="2026-04-30T23:06:13.644" v="41" actId="1076"/>
          <ac:graphicFrameMkLst>
            <pc:docMk/>
            <pc:sldMk cId="0" sldId="260"/>
            <ac:graphicFrameMk id="6" creationId="{8C85F6D6-5C4D-180D-3897-04C0322242FE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6:22.731" v="50" actId="1038"/>
          <ac:picMkLst>
            <pc:docMk/>
            <pc:sldMk cId="0" sldId="260"/>
            <ac:picMk id="5" creationId="{A1A1B842-50CF-1146-293A-50F4064FBD69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21T17:28:28.208" v="75" actId="20577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0" creationId="{61D6BC34-CD9F-D027-17EF-FDD58E61336C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2" creationId="{CF621237-94DA-9638-894A-B1EDE48DD44D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3" creationId="{67DE6BC0-A8D5-D3DD-CF7E-B0408B8615E3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4" creationId="{E1DA41CE-8D3D-844C-BB98-3C7DCFC18388}"/>
          </ac:spMkLst>
        </pc:spChg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6" creationId="{4C0047BB-4B72-1298-E2D6-CF5E146480B7}"/>
          </ac:spMkLst>
        </pc:spChg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8" creationId="{1E7C333B-B3F5-B9C8-77FB-317D818DB9CF}"/>
          </ac:spMkLst>
        </pc:spChg>
        <pc:spChg chg="add mod">
          <ac:chgData name="Edgar Rosales Ortega" userId="d1d54fc2-1570-4978-babc-e22e1526833f" providerId="ADAL" clId="{66BE7C30-C669-4152-AC74-10076FC0590C}" dt="2026-05-21T17:28:28.208" v="75" actId="20577"/>
          <ac:spMkLst>
            <pc:docMk/>
            <pc:sldMk cId="0" sldId="261"/>
            <ac:spMk id="19" creationId="{BD2CD5DF-FC6B-293A-A0B4-6F4BAC4797AB}"/>
          </ac:spMkLst>
        </pc:spChg>
        <pc:grpChg chg="add mod">
          <ac:chgData name="Edgar Rosales Ortega" userId="d1d54fc2-1570-4978-babc-e22e1526833f" providerId="ADAL" clId="{66BE7C30-C669-4152-AC74-10076FC0590C}" dt="2026-05-05T17:52:46.288" v="51" actId="164"/>
          <ac:grpSpMkLst>
            <pc:docMk/>
            <pc:sldMk cId="0" sldId="261"/>
            <ac:grpSpMk id="2" creationId="{96801806-04D5-DB7D-249E-EE4FCC2C3168}"/>
          </ac:grpSpMkLst>
        </pc:grpChg>
        <pc:grpChg chg="add mod">
          <ac:chgData name="Edgar Rosales Ortega" userId="d1d54fc2-1570-4978-babc-e22e1526833f" providerId="ADAL" clId="{66BE7C30-C669-4152-AC74-10076FC0590C}" dt="2026-05-05T17:52:46.288" v="51" actId="164"/>
          <ac:grpSpMkLst>
            <pc:docMk/>
            <pc:sldMk cId="0" sldId="261"/>
            <ac:grpSpMk id="11" creationId="{13A47E25-1859-F165-25D0-E50DC258F05C}"/>
          </ac:grpSpMkLst>
        </pc:grpChg>
        <pc:picChg chg="add mod">
          <ac:chgData name="Edgar Rosales Ortega" userId="d1d54fc2-1570-4978-babc-e22e1526833f" providerId="ADAL" clId="{66BE7C30-C669-4152-AC74-10076FC0590C}" dt="2026-05-05T17:52:46.288" v="51" actId="164"/>
          <ac:picMkLst>
            <pc:docMk/>
            <pc:sldMk cId="0" sldId="261"/>
            <ac:picMk id="15" creationId="{CAF9AC8D-550C-3F1E-D1CC-29A09CEFBCBA}"/>
          </ac:picMkLst>
        </pc:picChg>
        <pc:picChg chg="add mod">
          <ac:chgData name="Edgar Rosales Ortega" userId="d1d54fc2-1570-4978-babc-e22e1526833f" providerId="ADAL" clId="{66BE7C30-C669-4152-AC74-10076FC0590C}" dt="2026-05-05T17:52:46.288" v="51" actId="164"/>
          <ac:picMkLst>
            <pc:docMk/>
            <pc:sldMk cId="0" sldId="261"/>
            <ac:picMk id="17" creationId="{4E97A452-84C3-86E0-95F5-7262A1B230B6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6:33.889" v="55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6:38.124" v="57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6:16.807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7:55.974" v="18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3:29.872" v="53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52.692" v="37" actId="1076"/>
          <ac:spMkLst>
            <pc:docMk/>
            <pc:sldMk cId="0" sldId="279"/>
            <ac:spMk id="2" creationId="{28F95024-097E-B3C8-BB71-19910E0E7666}"/>
          </ac:spMkLst>
        </pc:spChg>
        <pc:spChg chg="mod">
          <ac:chgData name="Edgar Rosales Ortega" userId="d1d54fc2-1570-4978-babc-e22e1526833f" providerId="ADAL" clId="{66BE7C30-C669-4152-AC74-10076FC0590C}" dt="2026-05-05T17:53:29.872" v="53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6:09.588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7:59.603" v="2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2:51.973" v="52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7:26.157" v="65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7:26.157" v="65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5:58.408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8:04.110" v="25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7:06.671" v="6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7:06.671" v="61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modSp">
        <pc:chgData name="Edgar Rosales Ortega" userId="d1d54fc2-1570-4978-babc-e22e1526833f" providerId="ADAL" clId="{66BE7C30-C669-4152-AC74-10076FC0590C}" dt="2026-05-07T00:49:25.545" v="54"/>
        <pc:sldMkLst>
          <pc:docMk/>
          <pc:sldMk cId="0" sldId="299"/>
        </pc:sldMkLst>
        <pc:graphicFrameChg chg="mod">
          <ac:chgData name="Edgar Rosales Ortega" userId="d1d54fc2-1570-4978-babc-e22e1526833f" providerId="ADAL" clId="{66BE7C30-C669-4152-AC74-10076FC0590C}" dt="2026-05-07T00:49:25.545" v="54"/>
          <ac:graphicFrameMkLst>
            <pc:docMk/>
            <pc:sldMk cId="0" sldId="299"/>
            <ac:graphicFrameMk id="347" creationId="{00000000-0000-0000-0000-000000000000}"/>
          </ac:graphicFrameMkLst>
        </pc:graphicFrameChg>
      </pc:sldChg>
    </pc:docChg>
  </pc:docChgLst>
  <pc:docChgLst>
    <pc:chgData name="Gerardo Jahir Lara Garcia" userId="S::gerardo.larag@imss.gob.mx::84d5cd65-4601-4e92-b448-a9da4809e012" providerId="AD" clId="Web-{63DEAAFC-6E64-9006-EDB5-4D28C0D71C3A}"/>
    <pc:docChg chg="modSld">
      <pc:chgData name="Gerardo Jahir Lara Garcia" userId="S::gerardo.larag@imss.gob.mx::84d5cd65-4601-4e92-b448-a9da4809e012" providerId="AD" clId="Web-{63DEAAFC-6E64-9006-EDB5-4D28C0D71C3A}" dt="2026-05-12T22:25:39.317" v="89" actId="1076"/>
      <pc:docMkLst>
        <pc:docMk/>
      </pc:docMkLst>
      <pc:sldChg chg="addSp delSp modSp">
        <pc:chgData name="Gerardo Jahir Lara Garcia" userId="S::gerardo.larag@imss.gob.mx::84d5cd65-4601-4e92-b448-a9da4809e012" providerId="AD" clId="Web-{63DEAAFC-6E64-9006-EDB5-4D28C0D71C3A}" dt="2026-05-12T22:25:39.317" v="89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63DEAAFC-6E64-9006-EDB5-4D28C0D71C3A}" dt="2026-05-12T22:20:14.943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5:28.363" v="85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5:39.317" v="89" actId="107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63DEAAFC-6E64-9006-EDB5-4D28C0D71C3A}" dt="2026-05-12T22:20:14.943" v="1"/>
          <ac:picMkLst>
            <pc:docMk/>
            <pc:sldMk cId="364733940" sldId="284"/>
            <ac:picMk id="4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5:39.317" v="88" actId="1076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63DEAAFC-6E64-9006-EDB5-4D28C0D71C3A}" dt="2026-05-12T22:24:30.361" v="81" actId="20577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63DEAAFC-6E64-9006-EDB5-4D28C0D71C3A}" dt="2026-05-12T22:23:45.390" v="6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30.361" v="81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13.860" v="77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45.452" v="7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26.407" v="80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63DEAAFC-6E64-9006-EDB5-4D28C0D71C3A}" dt="2026-05-12T22:20:05.568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16.857" v="59" actId="1076"/>
          <ac:spMkLst>
            <pc:docMk/>
            <pc:sldMk cId="3240565764" sldId="297"/>
            <ac:spMk id="17" creationId="{285593B9-0C34-9675-CF48-AB7314E057B7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31.124" v="64" actId="20577"/>
          <ac:spMkLst>
            <pc:docMk/>
            <pc:sldMk cId="3240565764" sldId="297"/>
            <ac:spMk id="19" creationId="{0E5747B5-59BE-94CD-A922-E5D24AC90ABF}"/>
          </ac:spMkLst>
        </pc:spChg>
        <pc:picChg chg="add mod">
          <ac:chgData name="Gerardo Jahir Lara Garcia" userId="S::gerardo.larag@imss.gob.mx::84d5cd65-4601-4e92-b448-a9da4809e012" providerId="AD" clId="Web-{63DEAAFC-6E64-9006-EDB5-4D28C0D71C3A}" dt="2026-05-12T22:23:45.406" v="66" actId="1076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Gerardo Jahir Lara Garcia" userId="S::gerardo.larag@imss.gob.mx::84d5cd65-4601-4e92-b448-a9da4809e012" providerId="AD" clId="Web-{63DEAAFC-6E64-9006-EDB5-4D28C0D71C3A}" dt="2026-05-12T22:23:45.421" v="6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3:45.452" v="71" actId="1076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1:57.150" v="14" actId="1076"/>
          <ac:picMkLst>
            <pc:docMk/>
            <pc:sldMk cId="3240565764" sldId="297"/>
            <ac:picMk id="16" creationId="{C04420D6-ECB9-6391-7DCC-B15C08589C32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2:10.088" v="28" actId="1076"/>
          <ac:picMkLst>
            <pc:docMk/>
            <pc:sldMk cId="3240565764" sldId="297"/>
            <ac:picMk id="18" creationId="{056CA4B8-7D40-F7E9-3DCF-0CED13447E2B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2618098.0</c:v>
                </c:pt>
                <c:pt idx="1">
                  <c:v>208368.0</c:v>
                </c:pt>
                <c:pt idx="2">
                  <c:v>349885.0</c:v>
                </c:pt>
                <c:pt idx="3">
                  <c:v>899218.0</c:v>
                </c:pt>
                <c:pt idx="4">
                  <c:v>11737.0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35.71345031598221</c:v>
                </c:pt>
                <c:pt idx="1">
                  <c:v>64.28654968401779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12.6498836108</c:v>
                </c:pt>
                <c:pt idx="1">
                  <c:v>87.3501163892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34.48491843979354</c:v>
                </c:pt>
                <c:pt idx="1">
                  <c:v>65.51508156020645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29.483612040133778</c:v>
                </c:pt>
                <c:pt idx="1">
                  <c:v>70.51638795986622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221</c:v>
                </c:pt>
                <c:pt idx="2">
                  <c:v>215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484009</c:v>
                </c:pt>
                <c:pt idx="1">
                  <c:v>19268</c:v>
                </c:pt>
                <c:pt idx="2">
                  <c:v>125614</c:v>
                </c:pt>
                <c:pt idx="3">
                  <c:v>47246</c:v>
                </c:pt>
                <c:pt idx="4">
                  <c:v>5294</c:v>
                </c:pt>
                <c:pt idx="5">
                  <c:v>65821</c:v>
                </c:pt>
                <c:pt idx="6">
                  <c:v>49943</c:v>
                </c:pt>
                <c:pt idx="7">
                  <c:v>163038</c:v>
                </c:pt>
                <c:pt idx="8">
                  <c:v>10556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469987</c:v>
                </c:pt>
                <c:pt idx="1">
                  <c:v>18886</c:v>
                </c:pt>
                <c:pt idx="2">
                  <c:v>125635</c:v>
                </c:pt>
                <c:pt idx="3">
                  <c:v>47288</c:v>
                </c:pt>
                <c:pt idx="4">
                  <c:v>5351</c:v>
                </c:pt>
                <c:pt idx="5">
                  <c:v>66894</c:v>
                </c:pt>
                <c:pt idx="6">
                  <c:v>51209</c:v>
                </c:pt>
                <c:pt idx="7">
                  <c:v>167238</c:v>
                </c:pt>
                <c:pt idx="8">
                  <c:v>11030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876253</c:v>
                </c:pt>
                <c:pt idx="1">
                  <c:v>894553</c:v>
                </c:pt>
                <c:pt idx="2">
                  <c:v>883711</c:v>
                </c:pt>
                <c:pt idx="3">
                  <c:v>925796</c:v>
                </c:pt>
                <c:pt idx="4">
                  <c:v>959575</c:v>
                </c:pt>
                <c:pt idx="5">
                  <c:v>986550</c:v>
                </c:pt>
                <c:pt idx="6">
                  <c:v>981587</c:v>
                </c:pt>
                <c:pt idx="7">
                  <c:v>970789</c:v>
                </c:pt>
                <c:pt idx="8">
                  <c:v>963518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Chihuahua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Chihuah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2,618,098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208,368</a:t>
            </a:r>
            <a:br/>
            <a:r>
              <a:t>5%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349,885</a:t>
            </a:r>
            <a:br/>
            <a:r>
              <a:t>9%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899,218</a:t>
            </a:r>
            <a:br/>
            <a:r>
              <a:t>22%</a:t>
            </a:r>
          </a:p>
        </p:txBody>
      </p:sp>
      <p:pic>
        <p:nvPicPr>
          <p:cNvPr id="128" name="Picture 127" descr="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124842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11,737</a:t>
            </a:r>
            <a:br/>
            <a:r>
              <a:t>0.29%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4,087,306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2,410,625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2,618,098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1,327,036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1,557,513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882,868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963,518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221,836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244,132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1,083,589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1,060,585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353,645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378,106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565,585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488,037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2,285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2,102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16,442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20,904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8_ch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1,605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634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333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1,625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41 UMF, 7 UMFH, 1 UMF-UMAA y no incluye 3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3;g3d0b4d3c5c9_3_23">
            <a:extLst>
              <a:ext uri="{FF2B5EF4-FFF2-40B4-BE49-F238E27FC236}">
                <a16:creationId xmlns:a16="http://schemas.microsoft.com/office/drawing/2014/main" id="{A1A1B842-50CF-1146-293A-50F4064FBD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74"/>
          <a:stretch/>
        </p:blipFill>
        <p:spPr>
          <a:xfrm>
            <a:off x="225008" y="2222280"/>
            <a:ext cx="3095199" cy="24119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15;g3d0b4d3c5c9_3_23">
            <a:extLst>
              <a:ext uri="{FF2B5EF4-FFF2-40B4-BE49-F238E27FC236}">
                <a16:creationId xmlns:a16="http://schemas.microsoft.com/office/drawing/2014/main" id="{8C85F6D6-5C4D-180D-3897-04C032224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02644"/>
              </p:ext>
            </p:extLst>
          </p:nvPr>
        </p:nvGraphicFramePr>
        <p:xfrm>
          <a:off x="288000" y="1191600"/>
          <a:ext cx="70895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1, Ciudad de Chihuahua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5575CA1-A306-20D6-11D7-B160C49108D2}"/>
              </a:ext>
            </a:extLst>
          </p:cNvPr>
          <p:cNvSpPr txBox="1"/>
          <p:nvPr/>
        </p:nvSpPr>
        <p:spPr>
          <a:xfrm>
            <a:off x="3606022" y="2040682"/>
            <a:ext cx="3889512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1956 con consultas brindadas en instalaciones subrogadas, de medicina general y atención básica.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en la entidad fue el hoy Hospital General Regional No. 1 “José María Morelos y Pavón”, en Chihuahua., que Inició operaciones el 16 de agosto de 1958.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Contaba con una capacidad instalada aproximada de 40 camas, y otorgó servicios de hospitalización, urgencias, medicina interna, cirugía general, gineco‑obstetricia, farmacia, laboratorio clínico y radiodiagnóstico.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hih_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1958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6801806-04D5-DB7D-249E-EE4FCC2C3168}"/>
              </a:ext>
            </a:extLst>
          </p:cNvPr>
          <p:cNvGrpSpPr/>
          <p:nvPr/>
        </p:nvGrpSpPr>
        <p:grpSpPr>
          <a:xfrm>
            <a:off x="0" y="5475604"/>
            <a:ext cx="7772400" cy="3825999"/>
            <a:chOff x="0" y="5475604"/>
            <a:chExt cx="7772400" cy="3825999"/>
          </a:xfrm>
        </p:grpSpPr>
        <p:sp>
          <p:nvSpPr>
            <p:cNvPr id="10" name="Google Shape;94;g3d62d805bc0_1_54">
              <a:extLst>
                <a:ext uri="{FF2B5EF4-FFF2-40B4-BE49-F238E27FC236}">
                  <a16:creationId xmlns:a16="http://schemas.microsoft.com/office/drawing/2014/main" id="{61D6BC34-CD9F-D027-17EF-FDD58E61336C}"/>
                </a:ext>
              </a:extLst>
            </p:cNvPr>
            <p:cNvSpPr txBox="1"/>
            <p:nvPr/>
          </p:nvSpPr>
          <p:spPr>
            <a:xfrm>
              <a:off x="0" y="5475604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1" name="Google Shape;100;g3d62d805bc0_1_54">
              <a:extLst>
                <a:ext uri="{FF2B5EF4-FFF2-40B4-BE49-F238E27FC236}">
                  <a16:creationId xmlns:a16="http://schemas.microsoft.com/office/drawing/2014/main" id="{13A47E25-1859-F165-25D0-E50DC258F05C}"/>
                </a:ext>
              </a:extLst>
            </p:cNvPr>
            <p:cNvGrpSpPr/>
            <p:nvPr/>
          </p:nvGrpSpPr>
          <p:grpSpPr>
            <a:xfrm>
              <a:off x="667124" y="7507681"/>
              <a:ext cx="2565600" cy="874090"/>
              <a:chOff x="5174274" y="7426607"/>
              <a:chExt cx="2565600" cy="874090"/>
            </a:xfrm>
          </p:grpSpPr>
          <p:sp>
            <p:nvSpPr>
              <p:cNvPr id="12" name="Google Shape;101;g3d62d805bc0_1_54">
                <a:extLst>
                  <a:ext uri="{FF2B5EF4-FFF2-40B4-BE49-F238E27FC236}">
                    <a16:creationId xmlns:a16="http://schemas.microsoft.com/office/drawing/2014/main" id="{CF621237-94DA-9638-894A-B1EDE48DD44D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3" name="Google Shape;102;g3d62d805bc0_1_54">
                <a:extLst>
                  <a:ext uri="{FF2B5EF4-FFF2-40B4-BE49-F238E27FC236}">
                    <a16:creationId xmlns:a16="http://schemas.microsoft.com/office/drawing/2014/main" id="{67DE6BC0-A8D5-D3DD-CF7E-B0408B8615E3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03;g3d62d805bc0_1_54">
                <a:extLst>
                  <a:ext uri="{FF2B5EF4-FFF2-40B4-BE49-F238E27FC236}">
                    <a16:creationId xmlns:a16="http://schemas.microsoft.com/office/drawing/2014/main" id="{E1DA41CE-8D3D-844C-BB98-3C7DCFC18388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HGS 22 N. Casas Grandes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 </a:t>
                </a: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5" name="Google Shape;104;g3d62d805bc0_1_54">
              <a:extLst>
                <a:ext uri="{FF2B5EF4-FFF2-40B4-BE49-F238E27FC236}">
                  <a16:creationId xmlns:a16="http://schemas.microsoft.com/office/drawing/2014/main" id="{CAF9AC8D-550C-3F1E-D1CC-29A09CEFBCB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4800" y="6108544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08;g3d62d805bc0_1_54">
              <a:extLst>
                <a:ext uri="{FF2B5EF4-FFF2-40B4-BE49-F238E27FC236}">
                  <a16:creationId xmlns:a16="http://schemas.microsoft.com/office/drawing/2014/main" id="{4C0047BB-4B72-1298-E2D6-CF5E146480B7}"/>
                </a:ext>
              </a:extLst>
            </p:cNvPr>
            <p:cNvSpPr txBox="1"/>
            <p:nvPr/>
          </p:nvSpPr>
          <p:spPr>
            <a:xfrm>
              <a:off x="4032400" y="7972487"/>
              <a:ext cx="2815800" cy="1329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HGZ-UMAA 35 Ciudad Juárez 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 Ciudad Juárez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 Chihuahua 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$89.0 mdp</a:t>
              </a:r>
              <a:endParaRPr b="1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7" name="Google Shape;109;g3d62d805bc0_1_54">
              <a:extLst>
                <a:ext uri="{FF2B5EF4-FFF2-40B4-BE49-F238E27FC236}">
                  <a16:creationId xmlns:a16="http://schemas.microsoft.com/office/drawing/2014/main" id="{4E97A452-84C3-86E0-95F5-7262A1B230B6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32400" y="6108540"/>
              <a:ext cx="2382553" cy="1494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83;g37263673d04_0_31">
              <a:extLst>
                <a:ext uri="{FF2B5EF4-FFF2-40B4-BE49-F238E27FC236}">
                  <a16:creationId xmlns:a16="http://schemas.microsoft.com/office/drawing/2014/main" id="{1E7C333B-B3F5-B9C8-77FB-317D818DB9CF}"/>
                </a:ext>
              </a:extLst>
            </p:cNvPr>
            <p:cNvSpPr/>
            <p:nvPr/>
          </p:nvSpPr>
          <p:spPr>
            <a:xfrm>
              <a:off x="4085476" y="7603127"/>
              <a:ext cx="454200" cy="3810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9" name="Google Shape;84;g37263673d04_0_31">
              <a:extLst>
                <a:ext uri="{FF2B5EF4-FFF2-40B4-BE49-F238E27FC236}">
                  <a16:creationId xmlns:a16="http://schemas.microsoft.com/office/drawing/2014/main" id="{BD2CD5DF-FC6B-293A-A0B4-6F4BAC4797AB}"/>
                </a:ext>
              </a:extLst>
            </p:cNvPr>
            <p:cNvSpPr/>
            <p:nvPr/>
          </p:nvSpPr>
          <p:spPr>
            <a:xfrm>
              <a:off x="4539677" y="7603134"/>
              <a:ext cx="1875275" cy="3810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707867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0E2F0E3D-BEF9-5D7C-50CF-8410364E3E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BA858E8-10EE-83C5-5667-B238EDF539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517F0A0-EE20-A072-C1B8-08D3405516C3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4E17AF4-4BE0-0E28-3514-CCDE0668D501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C41B2BA-5871-01D8-048A-ED34CB4C6A3F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761A77-FB91-AB72-771F-A0E01F4E75E8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5C0469-4DF9-D275-7A2A-51368F13BE22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+9,420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+199,225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+227,259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3,971,140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199,225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1,658,020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4,246,960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909,803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227,259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395,861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1,147,925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46,133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9,420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22,039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74,750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Rosales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Meoqui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40,207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18,479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Villa Aldama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Lázaro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Saucillo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C. Jiménez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44,719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34,238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25 Naica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Fco. Portillo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E. Creel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La Junta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30 Ojinaga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7 Mesa Huracán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63,492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Casas Grandes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Ricardo 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Gómez Farias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Gpe Distrito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El Molino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Rodrigo M. Quevedo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V. Ahumada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267,502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Sta. Barbara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Valle Buenaventura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120,455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325,728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S. Fco. del Oro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229,792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62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71,270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31,130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63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29,558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C. Madera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N. Casas Grandes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79,176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32,377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1,683,797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88,295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708,432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1,983,656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830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902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92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830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1,983,656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adroTexto 57">
            <a:extLst>
              <a:ext uri="{FF2B5EF4-FFF2-40B4-BE49-F238E27FC236}">
                <a16:creationId xmlns:a16="http://schemas.microsoft.com/office/drawing/2014/main" id="{47855840-4C7E-3868-D06F-1D879F461D67}"/>
              </a:ext>
            </a:extLst>
          </p:cNvPr>
          <p:cNvSpPr txBox="1"/>
          <p:nvPr/>
        </p:nvSpPr>
        <p:spPr>
          <a:xfrm>
            <a:off x="4012518" y="546548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12 Unidades Médicas de tiempo completo (54 consultorios)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(233,023 consultas)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151200" y="16956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21 C. Camargo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59,259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24,230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Ávalos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144,079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60,078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33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163,347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274,782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114,193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Nombre de Dios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142,214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58,379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91,801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8,974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80,947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36,009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80,038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33,465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67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137,420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57,142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62,030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12,328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58,246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154,274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59,846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1,842,096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89,515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767,581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1,822,712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8962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19,155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-11,818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70,296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17,174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102,511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275,940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126,403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50,028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77,748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68,544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105,485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909,803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227,259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395,861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1,147,925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67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3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34.5%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2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67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1,147,925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3076102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46,133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9,420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22,039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74,750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31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60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29.5%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9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31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74,750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171 en Hospitales, 1 en sede, 62 en UMF y 155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083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60839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66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84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A98FC10-1DD6-DEA2-6E38-F85D611E9A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6914031"/>
              </p:ext>
            </p:extLst>
          </p:nvPr>
        </p:nvGraphicFramePr>
        <p:xfrm>
          <a:off x="287050" y="93819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12,034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3,218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22,634	 Personal de Salud: 14,750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+70.4%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+52.4%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1,867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2,845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5,814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3,693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+363.1%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954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998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16,383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4,523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1,822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23,454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(254,875)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(26,688)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(2,266)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(6,287)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(218,048)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(21,743)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(1,407)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(3,158)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(39,452)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(21,504)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(1,160)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(1,894)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(39,263)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(18,205)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(997)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(1,836)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(38,747)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(15,667)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(881)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(1,632)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530,234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2,798,613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134,643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2,915,234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D9D4-9E06-F830-7217-AFFE0585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862,443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613,082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355,815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347,129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333,330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325,796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315,548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296,928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279,182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263,175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679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68911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13819" y="3769378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111" y="41129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173569" y="41267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506" y="50273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174529" y="50692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14738" y="59498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889" y="6293457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175503" y="64197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Tomógrafos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6" name="Imagen 15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04420D6-ECB9-6391-7DCC-B15C08589C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11821" y="1988744"/>
            <a:ext cx="875508" cy="854908"/>
          </a:xfrm>
          <a:prstGeom prst="rect">
            <a:avLst/>
          </a:prstGeom>
        </p:spPr>
      </p:pic>
      <p:sp>
        <p:nvSpPr>
          <p:cNvPr id="17" name="CuadroTexto 12">
            <a:extLst>
              <a:ext uri="{FF2B5EF4-FFF2-40B4-BE49-F238E27FC236}">
                <a16:creationId xmlns:a16="http://schemas.microsoft.com/office/drawing/2014/main" id="{285593B9-0C34-9675-CF48-AB7314E057B7}"/>
              </a:ext>
            </a:extLst>
          </p:cNvPr>
          <p:cNvSpPr txBox="1"/>
          <p:nvPr/>
        </p:nvSpPr>
        <p:spPr>
          <a:xfrm>
            <a:off x="-1189571" y="2115076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  <a:endParaRPr lang="en-US" sz="800"/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056CA4B8-7D40-F7E9-3DCF-0CED13447E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6285" y="2889075"/>
            <a:ext cx="875508" cy="854908"/>
          </a:xfrm>
          <a:prstGeom prst="rect">
            <a:avLst/>
          </a:prstGeom>
        </p:spPr>
      </p:pic>
      <p:sp>
        <p:nvSpPr>
          <p:cNvPr id="19" name="CuadroTexto 12">
            <a:extLst>
              <a:ext uri="{FF2B5EF4-FFF2-40B4-BE49-F238E27FC236}">
                <a16:creationId xmlns:a16="http://schemas.microsoft.com/office/drawing/2014/main" id="{0E5747B5-59BE-94CD-A922-E5D24AC90ABF}"/>
              </a:ext>
            </a:extLst>
          </p:cNvPr>
          <p:cNvSpPr txBox="1"/>
          <p:nvPr/>
        </p:nvSpPr>
        <p:spPr>
          <a:xfrm>
            <a:off x="-1176465" y="290286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1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Reestructuración, terminación y ampliación del HGR 260 camas en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 HGR No. 1, Chihuahua,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$651.3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3024000"/>
          <a:ext cx="5295600" cy="5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5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$630.9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7 unidades (HGZ No. 6 Juárez Chihuahua, HGZ No.16 Cuauhtémoc, HGZ No.35 Cd. Juárez, HGZMF No. 11 Delicias, HGZMF No. 23 Hidalgo del Parral, HGR No. 66 Cd. Juárez, HGR No.1 Chihuahua)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$42.6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7 unidades (HGZ No.6, Juárez,HGSZ No.22,Nuevo Casas Grandes, HGZ No. 35,Cd. Juárez, HGZMF No. 11, Delicias, HGZMF No. 23, Hidalgo del Parral, HGR No. 66, Cd. Juárez, UMAA No. 68 Chihuahua)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12 unidades, Chihuahua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21 unidades, Chihuahua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6 unidades (HGZ No. 6 Juárez, HGZ No.16 Cuauhtémoc, HGZ No.35 Cd. Juárez, HGZMF No. 11 Delicias, HGZMF No. 23 Hidalgo del Parral, HGR No. 66 Cd. Juárez)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3 unidades (UMF No.21 Camargo, UMF No. 33 Chihuahua, UMF No.44 Chihuahua)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Chihuahua y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$800.5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87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10  piezas de equipo médico: 3 refrigeradores congeladores de 5.4 pies cúbicos, 2 monitores de signos vitales para el traslado del paciente (con protección antimagnética), 1 unidad de anestesia básica (con protección antimagnética), 3 tomógrafos,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85600" y="102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1,564.5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8"/>
            <a:ext cx="1599000" cy="7731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2945698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00597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Paraje Oriente,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Las Gladiolas, Cd.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Urbivilla el Cedro,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San Isidro, Cd.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110 lugares Municipio Libre,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$291.5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3275994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UMAA 68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$287.2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4211991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51 Equipos electromecánicos para 11 Unidades; 41 equipos para aires acondicionados, 1 equipo caldera generadora de vapor, 4 lavadoras, 4 secadoras y 1 elevador. Chihuahua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$704.1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1,282.8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403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Ampliacion y Remodelación UMF 70 Cd. Juarez (20 CMF + 8 Enfermería + 8 Espec + 2 Urg + 6 Complementarios)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$548.2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Ampliacion y Remodelación UMF 64 Cd. Juarez (10 CMF + 5 Enfermería + 7 Espec + 2 Urg + 5 Complementarios)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$1,005.5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377999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446399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514798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1,018.3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Paraje Oriente, Municipio Libre, San Isidro, Gladiolas, Urbivilla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62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44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18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construcción: 5 en Ciudad Juárez.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11,230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1,004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Nvo Casas Grandes y Parral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Chihuahua, Chih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Cd. Cuauhtémoc, Delicias e Hidalgo del Parral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5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Chihuahua, Ciudad Delicias, Ciudad Juárez, Col. Anáhuac y Ciudad Parral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Ciudad Juárez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14 Chihuahua y No. 97 Cd. Juárez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Velatorios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 y Ciudad. Juárez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8_chi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325575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86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22,523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Cordis de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Lear Mexican Trim Operations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12,186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11,984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Futurama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-2.90%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-1.98%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+4.49%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888,607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970,789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887,068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12,077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62,034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963,518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28F95024-097E-B3C8-BB71-19910E0E7666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$692.47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$343.59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$692.47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$20,774.1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Rosales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y Saneamiento de Juárez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y Saneamiento Cd Saucillo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Antonio Akel Quintana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Transportes Enlace Internacional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Rgx-transporte de Carga Internacional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341,627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300,538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7,789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19,038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14,262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5,896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3,500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208,368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55,960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152,408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44,540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341,627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2,433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6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2860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Valle de Ignacio Allende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Juanito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Guachochi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225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2255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889599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889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Estación Juanito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72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Guachochi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729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Valle de Allende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63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62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1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1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321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373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373594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62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773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773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8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8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725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155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897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750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372</Words>
  <Application>Microsoft Office PowerPoint</Application>
  <PresentationFormat>Personalizado</PresentationFormat>
  <Paragraphs>116</Paragraphs>
  <Slides>25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Noto Sans Black</vt:lpstr>
      <vt:lpstr>Calibri</vt:lpstr>
      <vt:lpstr>Arial</vt:lpstr>
      <vt:lpstr>Montserrat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Edgar Rosales Ortega</cp:lastModifiedBy>
  <cp:revision>104</cp:revision>
  <dcterms:modified xsi:type="dcterms:W3CDTF">2026-05-21T17:28:31Z</dcterms:modified>
</cp:coreProperties>
</file>