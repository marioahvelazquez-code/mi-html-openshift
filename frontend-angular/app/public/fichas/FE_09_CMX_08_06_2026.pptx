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301" r:id="rId45"/>
    <p:sldId id="261" r:id="rId7"/>
    <p:sldId id="302" r:id="rId46"/>
    <p:sldId id="287" r:id="rId8"/>
    <p:sldId id="262" r:id="rId9"/>
    <p:sldId id="263" r:id="rId10"/>
    <p:sldId id="303" r:id="rId47"/>
    <p:sldId id="280" r:id="rId11"/>
    <p:sldId id="304" r:id="rId48"/>
    <p:sldId id="267" r:id="rId12"/>
    <p:sldId id="305" r:id="rId49"/>
    <p:sldId id="298" r:id="rId13"/>
    <p:sldId id="306" r:id="rId50"/>
    <p:sldId id="307" r:id="rId51"/>
    <p:sldId id="308" r:id="rId44"/>
    <p:sldId id="309" r:id="rId43"/>
    <p:sldId id="310" r:id="rId42"/>
    <p:sldId id="311" r:id="rId41"/>
    <p:sldId id="312" r:id="rId40"/>
    <p:sldId id="313" r:id="rId39"/>
    <p:sldId id="314" r:id="rId38"/>
    <p:sldId id="315" r:id="rId59"/>
    <p:sldId id="281" r:id="rId14"/>
    <p:sldId id="316" r:id="rId60"/>
    <p:sldId id="317" r:id="rId61"/>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296024-7BF3-684F-EB58-9BC393E2B805}" v="111" dt="2026-05-12T22:31:28.16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slide" Target="slides/slide38.xml"/><Relationship Id="rId39" Type="http://schemas.openxmlformats.org/officeDocument/2006/relationships/slide" Target="slides/slide37.xml"/><Relationship Id="rId40" Type="http://schemas.openxmlformats.org/officeDocument/2006/relationships/slide" Target="slides/slide36.xml"/><Relationship Id="rId41" Type="http://schemas.openxmlformats.org/officeDocument/2006/relationships/slide" Target="slides/slide35.xml"/><Relationship Id="rId42" Type="http://schemas.openxmlformats.org/officeDocument/2006/relationships/slide" Target="slides/slide34.xml"/><Relationship Id="rId43" Type="http://schemas.openxmlformats.org/officeDocument/2006/relationships/slide" Target="slides/slide33.xml"/><Relationship Id="rId44" Type="http://schemas.openxmlformats.org/officeDocument/2006/relationships/slide" Target="slides/slide32.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06.941" v="0"/>
      <pc:docMkLst>
        <pc:docMk/>
      </pc:docMkLst>
      <pc:sldChg chg="add">
        <pc:chgData name="Carlos Esponda Rosales" userId="08a2b2cc-6d12-4dea-90fe-c484bece8186" providerId="ADAL" clId="{6846A1DD-3EC1-5A12-B3C5-9C410579EE4F}" dt="2026-05-08T17:32:06.941" v="0"/>
        <pc:sldMkLst>
          <pc:docMk/>
          <pc:sldMk cId="929027391" sldId="300"/>
        </pc:sldMkLst>
      </pc:sldChg>
    </pc:docChg>
  </pc:docChgLst>
  <pc:docChgLst>
    <pc:chgData name="Edgar Rosales Ortega" userId="d1d54fc2-1570-4978-babc-e22e1526833f" providerId="ADAL" clId="{66BE7C30-C669-4152-AC74-10076FC0590C}"/>
    <pc:docChg chg="custSel delSld modSld sldOrd">
      <pc:chgData name="Edgar Rosales Ortega" userId="d1d54fc2-1570-4978-babc-e22e1526833f" providerId="ADAL" clId="{66BE7C30-C669-4152-AC74-10076FC0590C}" dt="2026-05-07T17:11:34.132" v="96" actId="14100"/>
      <pc:docMkLst>
        <pc:docMk/>
      </pc:docMkLst>
      <pc:sldChg chg="addSp delSp modSp mod">
        <pc:chgData name="Edgar Rosales Ortega" userId="d1d54fc2-1570-4978-babc-e22e1526833f" providerId="ADAL" clId="{66BE7C30-C669-4152-AC74-10076FC0590C}" dt="2026-04-30T23:07:00.449" v="84" actId="1076"/>
        <pc:sldMkLst>
          <pc:docMk/>
          <pc:sldMk cId="0" sldId="260"/>
        </pc:sldMkLst>
        <pc:spChg chg="add mod">
          <ac:chgData name="Edgar Rosales Ortega" userId="d1d54fc2-1570-4978-babc-e22e1526833f" providerId="ADAL" clId="{66BE7C30-C669-4152-AC74-10076FC0590C}" dt="2026-04-30T23:07:00.449" v="84" actId="1076"/>
          <ac:spMkLst>
            <pc:docMk/>
            <pc:sldMk cId="0" sldId="260"/>
            <ac:spMk id="9" creationId="{915A7E8A-9320-9D48-2CA6-11CB8288DDDA}"/>
          </ac:spMkLst>
        </pc:spChg>
        <pc:graphicFrameChg chg="add mod">
          <ac:chgData name="Edgar Rosales Ortega" userId="d1d54fc2-1570-4978-babc-e22e1526833f" providerId="ADAL" clId="{66BE7C30-C669-4152-AC74-10076FC0590C}" dt="2026-04-30T23:06:53.720" v="83" actId="1076"/>
          <ac:graphicFrameMkLst>
            <pc:docMk/>
            <pc:sldMk cId="0" sldId="260"/>
            <ac:graphicFrameMk id="7" creationId="{ED3BDB12-7020-25F0-1AC7-2CACEC9C55FD}"/>
          </ac:graphicFrameMkLst>
        </pc:graphicFrameChg>
        <pc:picChg chg="add mod">
          <ac:chgData name="Edgar Rosales Ortega" userId="d1d54fc2-1570-4978-babc-e22e1526833f" providerId="ADAL" clId="{66BE7C30-C669-4152-AC74-10076FC0590C}" dt="2026-04-30T23:07:00.449" v="84" actId="1076"/>
          <ac:picMkLst>
            <pc:docMk/>
            <pc:sldMk cId="0" sldId="260"/>
            <ac:picMk id="6" creationId="{D1A3CC32-1838-F468-BA0B-ECEED9BD309D}"/>
          </ac:picMkLst>
        </pc:picChg>
        <pc:picChg chg="add mod">
          <ac:chgData name="Edgar Rosales Ortega" userId="d1d54fc2-1570-4978-babc-e22e1526833f" providerId="ADAL" clId="{66BE7C30-C669-4152-AC74-10076FC0590C}" dt="2026-04-30T23:07:00.449" v="84" actId="1076"/>
          <ac:picMkLst>
            <pc:docMk/>
            <pc:sldMk cId="0" sldId="260"/>
            <ac:picMk id="8" creationId="{EDA40058-D5CB-E1D4-987B-4A42A0475422}"/>
          </ac:picMkLst>
        </pc:picChg>
      </pc:sldChg>
      <pc:sldChg chg="addSp delSp modSp mod">
        <pc:chgData name="Edgar Rosales Ortega" userId="d1d54fc2-1570-4978-babc-e22e1526833f" providerId="ADAL" clId="{66BE7C30-C669-4152-AC74-10076FC0590C}" dt="2026-05-05T17:54:17.806" v="85" actId="164"/>
        <pc:sldMkLst>
          <pc:docMk/>
          <pc:sldMk cId="0" sldId="261"/>
        </pc:sldMkLst>
        <pc:spChg chg="add mod">
          <ac:chgData name="Edgar Rosales Ortega" userId="d1d54fc2-1570-4978-babc-e22e1526833f" providerId="ADAL" clId="{66BE7C30-C669-4152-AC74-10076FC0590C}" dt="2026-05-05T17:54:17.806" v="85" actId="164"/>
          <ac:spMkLst>
            <pc:docMk/>
            <pc:sldMk cId="0" sldId="261"/>
            <ac:spMk id="3" creationId="{C9B7C970-F0F9-62E7-C22C-DE782D79DA49}"/>
          </ac:spMkLst>
        </pc:spChg>
        <pc:spChg chg="add mod">
          <ac:chgData name="Edgar Rosales Ortega" userId="d1d54fc2-1570-4978-babc-e22e1526833f" providerId="ADAL" clId="{66BE7C30-C669-4152-AC74-10076FC0590C}" dt="2026-05-05T17:54:17.806" v="85" actId="164"/>
          <ac:spMkLst>
            <pc:docMk/>
            <pc:sldMk cId="0" sldId="261"/>
            <ac:spMk id="4" creationId="{072013C2-F42C-2DFB-C32A-5337EF835214}"/>
          </ac:spMkLst>
        </pc:spChg>
        <pc:spChg chg="add mod">
          <ac:chgData name="Edgar Rosales Ortega" userId="d1d54fc2-1570-4978-babc-e22e1526833f" providerId="ADAL" clId="{66BE7C30-C669-4152-AC74-10076FC0590C}" dt="2026-05-05T17:54:17.806" v="85" actId="164"/>
          <ac:spMkLst>
            <pc:docMk/>
            <pc:sldMk cId="0" sldId="261"/>
            <ac:spMk id="5" creationId="{1ACB6866-86F3-9700-C326-3150A8DDEF9E}"/>
          </ac:spMkLst>
        </pc:spChg>
        <pc:spChg chg="add mod">
          <ac:chgData name="Edgar Rosales Ortega" userId="d1d54fc2-1570-4978-babc-e22e1526833f" providerId="ADAL" clId="{66BE7C30-C669-4152-AC74-10076FC0590C}" dt="2026-05-05T17:54:17.806" v="85" actId="164"/>
          <ac:spMkLst>
            <pc:docMk/>
            <pc:sldMk cId="0" sldId="261"/>
            <ac:spMk id="6" creationId="{92F388DE-EB73-BFC6-C7FB-2077930D3267}"/>
          </ac:spMkLst>
        </pc:spChg>
        <pc:spChg chg="add mod">
          <ac:chgData name="Edgar Rosales Ortega" userId="d1d54fc2-1570-4978-babc-e22e1526833f" providerId="ADAL" clId="{66BE7C30-C669-4152-AC74-10076FC0590C}" dt="2026-05-05T17:54:17.806" v="85" actId="164"/>
          <ac:spMkLst>
            <pc:docMk/>
            <pc:sldMk cId="0" sldId="261"/>
            <ac:spMk id="8" creationId="{A994BCCD-7600-C700-674A-CD082555D51C}"/>
          </ac:spMkLst>
        </pc:spChg>
        <pc:spChg chg="add mod">
          <ac:chgData name="Edgar Rosales Ortega" userId="d1d54fc2-1570-4978-babc-e22e1526833f" providerId="ADAL" clId="{66BE7C30-C669-4152-AC74-10076FC0590C}" dt="2026-05-05T17:54:17.806" v="85" actId="164"/>
          <ac:spMkLst>
            <pc:docMk/>
            <pc:sldMk cId="0" sldId="261"/>
            <ac:spMk id="9" creationId="{FC74ADCA-54D9-54F9-BA7F-760A8346E824}"/>
          </ac:spMkLst>
        </pc:spChg>
        <pc:spChg chg="add mod">
          <ac:chgData name="Edgar Rosales Ortega" userId="d1d54fc2-1570-4978-babc-e22e1526833f" providerId="ADAL" clId="{66BE7C30-C669-4152-AC74-10076FC0590C}" dt="2026-05-05T17:54:17.806" v="85" actId="164"/>
          <ac:spMkLst>
            <pc:docMk/>
            <pc:sldMk cId="0" sldId="261"/>
            <ac:spMk id="10" creationId="{B48C242B-3E6C-93BC-62DC-9205104856A0}"/>
          </ac:spMkLst>
        </pc:spChg>
        <pc:spChg chg="add mod">
          <ac:chgData name="Edgar Rosales Ortega" userId="d1d54fc2-1570-4978-babc-e22e1526833f" providerId="ADAL" clId="{66BE7C30-C669-4152-AC74-10076FC0590C}" dt="2026-05-05T17:54:17.806" v="85" actId="164"/>
          <ac:spMkLst>
            <pc:docMk/>
            <pc:sldMk cId="0" sldId="261"/>
            <ac:spMk id="13" creationId="{906EFECB-D14D-EB86-3F40-B0B5C913F977}"/>
          </ac:spMkLst>
        </pc:spChg>
        <pc:spChg chg="add mod">
          <ac:chgData name="Edgar Rosales Ortega" userId="d1d54fc2-1570-4978-babc-e22e1526833f" providerId="ADAL" clId="{66BE7C30-C669-4152-AC74-10076FC0590C}" dt="2026-05-05T17:54:17.806" v="85" actId="164"/>
          <ac:spMkLst>
            <pc:docMk/>
            <pc:sldMk cId="0" sldId="261"/>
            <ac:spMk id="14" creationId="{45957314-22D1-00B0-6DE6-3B722909CC74}"/>
          </ac:spMkLst>
        </pc:spChg>
        <pc:spChg chg="add mod">
          <ac:chgData name="Edgar Rosales Ortega" userId="d1d54fc2-1570-4978-babc-e22e1526833f" providerId="ADAL" clId="{66BE7C30-C669-4152-AC74-10076FC0590C}" dt="2026-05-05T17:54:17.806" v="85" actId="164"/>
          <ac:spMkLst>
            <pc:docMk/>
            <pc:sldMk cId="0" sldId="261"/>
            <ac:spMk id="23" creationId="{C1FA6536-1B30-766F-E33A-94533BDF0A0A}"/>
          </ac:spMkLst>
        </pc:spChg>
      </pc:sldChg>
      <pc:sldChg chg="delSp mod">
        <pc:chgData name="Edgar Rosales Ortega" userId="d1d54fc2-1570-4978-babc-e22e1526833f" providerId="ADAL" clId="{66BE7C30-C669-4152-AC74-10076FC0590C}" dt="2026-05-07T17:09:04.267" v="88" actId="478"/>
        <pc:sldMkLst>
          <pc:docMk/>
          <pc:sldMk cId="0" sldId="262"/>
        </pc:sldMkLst>
      </pc:sldChg>
      <pc:sldChg chg="addSp delSp modSp mod">
        <pc:chgData name="Edgar Rosales Ortega" userId="d1d54fc2-1570-4978-babc-e22e1526833f" providerId="ADAL" clId="{66BE7C30-C669-4152-AC74-10076FC0590C}" dt="2026-05-07T17:09:10.460" v="90" actId="478"/>
        <pc:sldMkLst>
          <pc:docMk/>
          <pc:sldMk cId="0" sldId="263"/>
        </pc:sldMkLst>
      </pc:sldChg>
      <pc:sldChg chg="modSp mod ord">
        <pc:chgData name="Edgar Rosales Ortega" userId="d1d54fc2-1570-4978-babc-e22e1526833f" providerId="ADAL" clId="{66BE7C30-C669-4152-AC74-10076FC0590C}" dt="2026-04-30T15:46:58.352" v="77"/>
        <pc:sldMkLst>
          <pc:docMk/>
          <pc:sldMk cId="0" sldId="267"/>
        </pc:sldMkLst>
        <pc:graphicFrameChg chg="modGraphic">
          <ac:chgData name="Edgar Rosales Ortega" userId="d1d54fc2-1570-4978-babc-e22e1526833f" providerId="ADAL" clId="{66BE7C30-C669-4152-AC74-10076FC0590C}" dt="2026-04-30T00:08:47.240" v="59"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09:19.635" v="91"/>
        <pc:sldMkLst>
          <pc:docMk/>
          <pc:sldMk cId="0" sldId="272"/>
        </pc:sldMkLst>
        <pc:graphicFrameChg chg="mod">
          <ac:chgData name="Edgar Rosales Ortega" userId="d1d54fc2-1570-4978-babc-e22e1526833f" providerId="ADAL" clId="{66BE7C30-C669-4152-AC74-10076FC0590C}" dt="2026-05-07T17:09:19.635" v="9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4:40.076" v="87" actId="1076"/>
        <pc:sldMkLst>
          <pc:docMk/>
          <pc:sldMk cId="0" sldId="279"/>
        </pc:sldMkLst>
        <pc:spChg chg="add mod">
          <ac:chgData name="Edgar Rosales Ortega" userId="d1d54fc2-1570-4978-babc-e22e1526833f" providerId="ADAL" clId="{66BE7C30-C669-4152-AC74-10076FC0590C}" dt="2026-04-30T16:25:17.209" v="79" actId="1076"/>
          <ac:spMkLst>
            <pc:docMk/>
            <pc:sldMk cId="0" sldId="279"/>
            <ac:spMk id="2" creationId="{D1B78A4B-017C-C46C-EA20-11D65F9E1F40}"/>
          </ac:spMkLst>
        </pc:spChg>
        <pc:spChg chg="mod">
          <ac:chgData name="Edgar Rosales Ortega" userId="d1d54fc2-1570-4978-babc-e22e1526833f" providerId="ADAL" clId="{66BE7C30-C669-4152-AC74-10076FC0590C}" dt="2026-05-05T17:54:40.076" v="8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6:54.994" v="75"/>
        <pc:sldMkLst>
          <pc:docMk/>
          <pc:sldMk cId="540716406" sldId="280"/>
        </pc:sldMkLst>
        <pc:graphicFrameChg chg="modGraphic">
          <ac:chgData name="Edgar Rosales Ortega" userId="d1d54fc2-1570-4978-babc-e22e1526833f" providerId="ADAL" clId="{66BE7C30-C669-4152-AC74-10076FC0590C}" dt="2026-04-30T00:08:51.483" v="65"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4:24.818" v="86" actId="478"/>
        <pc:sldMkLst>
          <pc:docMk/>
          <pc:sldMk cId="3828482411" sldId="281"/>
        </pc:sldMkLst>
      </pc:sldChg>
      <pc:sldChg chg="modSp mod">
        <pc:chgData name="Edgar Rosales Ortega" userId="d1d54fc2-1570-4978-babc-e22e1526833f" providerId="ADAL" clId="{66BE7C30-C669-4152-AC74-10076FC0590C}" dt="2026-05-07T17:11:34.132" v="96" actId="14100"/>
        <pc:sldMkLst>
          <pc:docMk/>
          <pc:sldMk cId="364733940" sldId="284"/>
        </pc:sldMkLst>
        <pc:picChg chg="mod">
          <ac:chgData name="Edgar Rosales Ortega" userId="d1d54fc2-1570-4978-babc-e22e1526833f" providerId="ADAL" clId="{66BE7C30-C669-4152-AC74-10076FC0590C}" dt="2026-05-07T17:11:34.132" v="9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6:41.861" v="73"/>
        <pc:sldMkLst>
          <pc:docMk/>
          <pc:sldMk cId="748044913" sldId="287"/>
        </pc:sldMkLst>
        <pc:graphicFrameChg chg="modGraphic">
          <ac:chgData name="Edgar Rosales Ortega" userId="d1d54fc2-1570-4978-babc-e22e1526833f" providerId="ADAL" clId="{66BE7C30-C669-4152-AC74-10076FC0590C}" dt="2026-04-30T00:08:55.156" v="66"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11:12.492" v="93" actId="14100"/>
        <pc:sldMkLst>
          <pc:docMk/>
          <pc:sldMk cId="3240565764" sldId="297"/>
        </pc:sldMkLst>
        <pc:picChg chg="mod">
          <ac:chgData name="Edgar Rosales Ortega" userId="d1d54fc2-1570-4978-babc-e22e1526833f" providerId="ADAL" clId="{66BE7C30-C669-4152-AC74-10076FC0590C}" dt="2026-05-07T17:11:12.492" v="93"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DD296024-7BF3-684F-EB58-9BC393E2B805}"/>
    <pc:docChg chg="modSld">
      <pc:chgData name="Gerardo Jahir Lara Garcia" userId="S::gerardo.larag@imss.gob.mx::84d5cd65-4601-4e92-b448-a9da4809e012" providerId="AD" clId="Web-{DD296024-7BF3-684F-EB58-9BC393E2B805}" dt="2026-05-12T22:31:28.165" v="60" actId="1076"/>
      <pc:docMkLst>
        <pc:docMk/>
      </pc:docMkLst>
      <pc:sldChg chg="addSp delSp modSp">
        <pc:chgData name="Gerardo Jahir Lara Garcia" userId="S::gerardo.larag@imss.gob.mx::84d5cd65-4601-4e92-b448-a9da4809e012" providerId="AD" clId="Web-{DD296024-7BF3-684F-EB58-9BC393E2B805}" dt="2026-05-12T22:31:28.165" v="60" actId="1076"/>
        <pc:sldMkLst>
          <pc:docMk/>
          <pc:sldMk cId="364733940" sldId="284"/>
        </pc:sldMkLst>
        <pc:spChg chg="add">
          <ac:chgData name="Gerardo Jahir Lara Garcia" userId="S::gerardo.larag@imss.gob.mx::84d5cd65-4601-4e92-b448-a9da4809e012" providerId="AD" clId="Web-{DD296024-7BF3-684F-EB58-9BC393E2B805}" dt="2026-05-12T22:27:45.877" v="1"/>
          <ac:spMkLst>
            <pc:docMk/>
            <pc:sldMk cId="364733940" sldId="284"/>
            <ac:spMk id="3" creationId="{ABCC6279-D2EB-1F1F-D811-3FFF80887FF1}"/>
          </ac:spMkLst>
        </pc:spChg>
        <pc:spChg chg="add mod">
          <ac:chgData name="Gerardo Jahir Lara Garcia" userId="S::gerardo.larag@imss.gob.mx::84d5cd65-4601-4e92-b448-a9da4809e012" providerId="AD" clId="Web-{DD296024-7BF3-684F-EB58-9BC393E2B805}" dt="2026-05-12T22:31:12.852" v="56" actId="1076"/>
          <ac:spMkLst>
            <pc:docMk/>
            <pc:sldMk cId="364733940" sldId="284"/>
            <ac:spMk id="6" creationId="{4578A0AA-9DC1-3453-263A-76BE5A8BE282}"/>
          </ac:spMkLst>
        </pc:spChg>
        <pc:spChg chg="add del">
          <ac:chgData name="Gerardo Jahir Lara Garcia" userId="S::gerardo.larag@imss.gob.mx::84d5cd65-4601-4e92-b448-a9da4809e012" providerId="AD" clId="Web-{DD296024-7BF3-684F-EB58-9BC393E2B805}" dt="2026-05-12T22:31:17.805" v="57"/>
          <ac:spMkLst>
            <pc:docMk/>
            <pc:sldMk cId="364733940" sldId="284"/>
            <ac:spMk id="9" creationId="{907F7F6F-8FF8-56A0-795F-B2A127C97D4D}"/>
          </ac:spMkLst>
        </pc:spChg>
        <pc:spChg chg="add mod">
          <ac:chgData name="Gerardo Jahir Lara Garcia" userId="S::gerardo.larag@imss.gob.mx::84d5cd65-4601-4e92-b448-a9da4809e012" providerId="AD" clId="Web-{DD296024-7BF3-684F-EB58-9BC393E2B805}" dt="2026-05-12T22:31:28.165" v="60" actId="1076"/>
          <ac:spMkLst>
            <pc:docMk/>
            <pc:sldMk cId="364733940" sldId="284"/>
            <ac:spMk id="11" creationId="{2C157DF6-A7FD-940D-19DA-323ACD68454D}"/>
          </ac:spMkLst>
        </pc:spChg>
        <pc:picChg chg="add">
          <ac:chgData name="Gerardo Jahir Lara Garcia" userId="S::gerardo.larag@imss.gob.mx::84d5cd65-4601-4e92-b448-a9da4809e012" providerId="AD" clId="Web-{DD296024-7BF3-684F-EB58-9BC393E2B805}" dt="2026-05-12T22:27:45.877" v="1"/>
          <ac:picMkLst>
            <pc:docMk/>
            <pc:sldMk cId="364733940" sldId="284"/>
            <ac:picMk id="4" creationId="{488C755F-8E2D-8CE1-6C1B-6DBB55EE2CD3}"/>
          </ac:picMkLst>
        </pc:picChg>
        <pc:picChg chg="add del">
          <ac:chgData name="Gerardo Jahir Lara Garcia" userId="S::gerardo.larag@imss.gob.mx::84d5cd65-4601-4e92-b448-a9da4809e012" providerId="AD" clId="Web-{DD296024-7BF3-684F-EB58-9BC393E2B805}" dt="2026-05-12T22:31:17.805" v="58"/>
          <ac:picMkLst>
            <pc:docMk/>
            <pc:sldMk cId="364733940" sldId="284"/>
            <ac:picMk id="8" creationId="{4F2E1097-3694-6090-CBA5-667DCD67E48E}"/>
          </ac:picMkLst>
        </pc:picChg>
        <pc:picChg chg="add mod">
          <ac:chgData name="Gerardo Jahir Lara Garcia" userId="S::gerardo.larag@imss.gob.mx::84d5cd65-4601-4e92-b448-a9da4809e012" providerId="AD" clId="Web-{DD296024-7BF3-684F-EB58-9BC393E2B805}" dt="2026-05-12T22:31:28.149" v="59" actId="1076"/>
          <ac:picMkLst>
            <pc:docMk/>
            <pc:sldMk cId="364733940" sldId="284"/>
            <ac:picMk id="10" creationId="{CA24C0E7-282C-9B96-A7B5-7554B2C6EF8D}"/>
          </ac:picMkLst>
        </pc:picChg>
      </pc:sldChg>
      <pc:sldChg chg="addSp modSp">
        <pc:chgData name="Gerardo Jahir Lara Garcia" userId="S::gerardo.larag@imss.gob.mx::84d5cd65-4601-4e92-b448-a9da4809e012" providerId="AD" clId="Web-{DD296024-7BF3-684F-EB58-9BC393E2B805}" dt="2026-05-12T22:29:25.005" v="35" actId="20577"/>
        <pc:sldMkLst>
          <pc:docMk/>
          <pc:sldMk cId="3240565764" sldId="297"/>
        </pc:sldMkLst>
        <pc:spChg chg="add">
          <ac:chgData name="Gerardo Jahir Lara Garcia" userId="S::gerardo.larag@imss.gob.mx::84d5cd65-4601-4e92-b448-a9da4809e012" providerId="AD" clId="Web-{DD296024-7BF3-684F-EB58-9BC393E2B805}" dt="2026-05-12T22:27:32.642" v="0"/>
          <ac:spMkLst>
            <pc:docMk/>
            <pc:sldMk cId="3240565764" sldId="297"/>
            <ac:spMk id="3" creationId="{21AE8FA6-CA77-F761-93C9-BF2570CBBE30}"/>
          </ac:spMkLst>
        </pc:spChg>
        <pc:spChg chg="add mod">
          <ac:chgData name="Gerardo Jahir Lara Garcia" userId="S::gerardo.larag@imss.gob.mx::84d5cd65-4601-4e92-b448-a9da4809e012" providerId="AD" clId="Web-{DD296024-7BF3-684F-EB58-9BC393E2B805}" dt="2026-05-12T22:28:48.519" v="12" actId="20577"/>
          <ac:spMkLst>
            <pc:docMk/>
            <pc:sldMk cId="3240565764" sldId="297"/>
            <ac:spMk id="7" creationId="{FD4175D4-66CF-7FBC-B843-C149C5339DF1}"/>
          </ac:spMkLst>
        </pc:spChg>
        <pc:spChg chg="add">
          <ac:chgData name="Gerardo Jahir Lara Garcia" userId="S::gerardo.larag@imss.gob.mx::84d5cd65-4601-4e92-b448-a9da4809e012" providerId="AD" clId="Web-{DD296024-7BF3-684F-EB58-9BC393E2B805}" dt="2026-05-12T22:27:32.642" v="0"/>
          <ac:spMkLst>
            <pc:docMk/>
            <pc:sldMk cId="3240565764" sldId="297"/>
            <ac:spMk id="9" creationId="{50F1217E-09B0-81A3-6E99-CB1DE729ADDF}"/>
          </ac:spMkLst>
        </pc:spChg>
        <pc:spChg chg="add">
          <ac:chgData name="Gerardo Jahir Lara Garcia" userId="S::gerardo.larag@imss.gob.mx::84d5cd65-4601-4e92-b448-a9da4809e012" providerId="AD" clId="Web-{DD296024-7BF3-684F-EB58-9BC393E2B805}" dt="2026-05-12T22:27:32.642" v="0"/>
          <ac:spMkLst>
            <pc:docMk/>
            <pc:sldMk cId="3240565764" sldId="297"/>
            <ac:spMk id="10" creationId="{991C7EE4-1170-AC4C-597D-3383D8E8A8F9}"/>
          </ac:spMkLst>
        </pc:spChg>
        <pc:spChg chg="add mod">
          <ac:chgData name="Gerardo Jahir Lara Garcia" userId="S::gerardo.larag@imss.gob.mx::84d5cd65-4601-4e92-b448-a9da4809e012" providerId="AD" clId="Web-{DD296024-7BF3-684F-EB58-9BC393E2B805}" dt="2026-05-12T22:29:25.005" v="35" actId="20577"/>
          <ac:spMkLst>
            <pc:docMk/>
            <pc:sldMk cId="3240565764" sldId="297"/>
            <ac:spMk id="12" creationId="{CA535D92-E281-11D7-D7CB-F8BAB9F176B8}"/>
          </ac:spMkLst>
        </pc:spChg>
        <pc:spChg chg="add">
          <ac:chgData name="Gerardo Jahir Lara Garcia" userId="S::gerardo.larag@imss.gob.mx::84d5cd65-4601-4e92-b448-a9da4809e012" providerId="AD" clId="Web-{DD296024-7BF3-684F-EB58-9BC393E2B805}" dt="2026-05-12T22:27:32.642" v="0"/>
          <ac:spMkLst>
            <pc:docMk/>
            <pc:sldMk cId="3240565764" sldId="297"/>
            <ac:spMk id="13" creationId="{B9C2E918-974F-A566-8C8B-5DDE4ED4290B}"/>
          </ac:spMkLst>
        </pc:spChg>
        <pc:spChg chg="add mod">
          <ac:chgData name="Gerardo Jahir Lara Garcia" userId="S::gerardo.larag@imss.gob.mx::84d5cd65-4601-4e92-b448-a9da4809e012" providerId="AD" clId="Web-{DD296024-7BF3-684F-EB58-9BC393E2B805}" dt="2026-05-12T22:28:32.878" v="6" actId="20577"/>
          <ac:spMkLst>
            <pc:docMk/>
            <pc:sldMk cId="3240565764" sldId="297"/>
            <ac:spMk id="15" creationId="{A0083CC0-370A-999A-F425-0B0E05DEB5CF}"/>
          </ac:spMkLst>
        </pc:spChg>
        <pc:picChg chg="add">
          <ac:chgData name="Gerardo Jahir Lara Garcia" userId="S::gerardo.larag@imss.gob.mx::84d5cd65-4601-4e92-b448-a9da4809e012" providerId="AD" clId="Web-{DD296024-7BF3-684F-EB58-9BC393E2B805}" dt="2026-05-12T22:27:32.642" v="0"/>
          <ac:picMkLst>
            <pc:docMk/>
            <pc:sldMk cId="3240565764" sldId="297"/>
            <ac:picMk id="4" creationId="{AE9FD96F-084C-5DEE-6966-05F8D1633A42}"/>
          </ac:picMkLst>
        </pc:picChg>
        <pc:picChg chg="add">
          <ac:chgData name="Gerardo Jahir Lara Garcia" userId="S::gerardo.larag@imss.gob.mx::84d5cd65-4601-4e92-b448-a9da4809e012" providerId="AD" clId="Web-{DD296024-7BF3-684F-EB58-9BC393E2B805}" dt="2026-05-12T22:27:32.642" v="0"/>
          <ac:picMkLst>
            <pc:docMk/>
            <pc:sldMk cId="3240565764" sldId="297"/>
            <ac:picMk id="11" creationId="{F7B31A16-FD1A-331A-6F76-259EB810FD76}"/>
          </ac:picMkLst>
        </pc:picChg>
        <pc:picChg chg="add">
          <ac:chgData name="Gerardo Jahir Lara Garcia" userId="S::gerardo.larag@imss.gob.mx::84d5cd65-4601-4e92-b448-a9da4809e012" providerId="AD" clId="Web-{DD296024-7BF3-684F-EB58-9BC393E2B805}" dt="2026-05-12T22:27:32.642"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6460586.0</c:v>
                </c:pt>
                <c:pt idx="1">
                  <c:v>2184185.0</c:v>
                </c:pt>
                <c:pt idx="2">
                  <c:v>412699.0</c:v>
                </c:pt>
                <c:pt idx="3">
                  <c:v>102496.0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39.360977048854664</c:v>
                </c:pt>
                <c:pt idx="1">
                  <c:v>60.639022951145336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7.0352592325000005</c:v>
                </c:pt>
                <c:pt idx="1">
                  <c:v>92.9647407675</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38.96</c:v>
                </c:pt>
                <c:pt idx="1">
                  <c:v>61.04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31.85</c:v>
                </c:pt>
                <c:pt idx="1">
                  <c:v>68.15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978</c:v>
                </c:pt>
                <c:pt idx="1">
                  <c:v>1466</c:v>
                </c:pt>
                <c:pt idx="2">
                  <c:v>1565</c:v>
                </c:pt>
                <c:pt idx="3">
                  <c:v>1569</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Agricultura, Ganaderia, Silvicultura, Pesca y Caza</c:v>
                </c:pt>
                <c:pt idx="2">
                  <c:v>Industrias de la Transformación</c:v>
                </c:pt>
                <c:pt idx="3">
                  <c:v>Servicios Sociales y Comunales</c:v>
                </c:pt>
                <c:pt idx="4">
                  <c:v>Servicios para Empresas, Personas y el Hogar</c:v>
                </c:pt>
                <c:pt idx="5">
                  <c:v>Comercio</c:v>
                </c:pt>
                <c:pt idx="6">
                  <c:v>Ind Eléctrica y Captación y Suministro de Agua Potable</c:v>
                </c:pt>
                <c:pt idx="7">
                  <c:v>Industria de la Construcción</c:v>
                </c:pt>
                <c:pt idx="8">
                  <c:v>Transportes y Comunicaciones</c:v>
                </c:pt>
              </c:strCache>
            </c:strRef>
          </c:cat>
          <c:val>
            <c:numRef>
              <c:f>Sheet1!$B$2:$B$10</c:f>
              <c:numCache>
                <c:formatCode>General</c:formatCode>
                <c:ptCount val="9"/>
                <c:pt idx="0">
                  <c:v>3575</c:v>
                </c:pt>
                <c:pt idx="1">
                  <c:v>6922</c:v>
                </c:pt>
                <c:pt idx="2">
                  <c:v>374364</c:v>
                </c:pt>
                <c:pt idx="3">
                  <c:v>315169</c:v>
                </c:pt>
                <c:pt idx="4">
                  <c:v>1482880</c:v>
                </c:pt>
                <c:pt idx="5">
                  <c:v>799566</c:v>
                </c:pt>
                <c:pt idx="6">
                  <c:v>17329</c:v>
                </c:pt>
                <c:pt idx="7">
                  <c:v>231597</c:v>
                </c:pt>
                <c:pt idx="8">
                  <c:v>239921</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Agricultura, Ganaderia, Silvicultura, Pesca y Caza</c:v>
                </c:pt>
                <c:pt idx="2">
                  <c:v>Industrias de la Transformación</c:v>
                </c:pt>
                <c:pt idx="3">
                  <c:v>Servicios Sociales y Comunales</c:v>
                </c:pt>
                <c:pt idx="4">
                  <c:v>Servicios para Empresas, Personas y el Hogar</c:v>
                </c:pt>
                <c:pt idx="5">
                  <c:v>Comercio</c:v>
                </c:pt>
                <c:pt idx="6">
                  <c:v>Ind Eléctrica y Captación y Suministro de Agua Potable</c:v>
                </c:pt>
                <c:pt idx="7">
                  <c:v>Industria de la Construcción</c:v>
                </c:pt>
                <c:pt idx="8">
                  <c:v>Transportes y Comunicaciones</c:v>
                </c:pt>
              </c:strCache>
            </c:strRef>
          </c:cat>
          <c:val>
            <c:numRef>
              <c:f>Sheet1!$C$2:$C$10</c:f>
              <c:numCache>
                <c:formatCode>General</c:formatCode>
                <c:ptCount val="9"/>
                <c:pt idx="0">
                  <c:v>2604</c:v>
                </c:pt>
                <c:pt idx="1">
                  <c:v>5577</c:v>
                </c:pt>
                <c:pt idx="2">
                  <c:v>356279</c:v>
                </c:pt>
                <c:pt idx="3">
                  <c:v>316353</c:v>
                </c:pt>
                <c:pt idx="4">
                  <c:v>1507599</c:v>
                </c:pt>
                <c:pt idx="5">
                  <c:v>835820</c:v>
                </c:pt>
                <c:pt idx="6">
                  <c:v>18169</c:v>
                </c:pt>
                <c:pt idx="7">
                  <c:v>249552</c:v>
                </c:pt>
                <c:pt idx="8">
                  <c:v>321330</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3405744</c:v>
                </c:pt>
                <c:pt idx="1">
                  <c:v>3431043</c:v>
                </c:pt>
                <c:pt idx="2">
                  <c:v>3329731</c:v>
                </c:pt>
                <c:pt idx="3">
                  <c:v>3216137</c:v>
                </c:pt>
                <c:pt idx="4">
                  <c:v>3326256</c:v>
                </c:pt>
                <c:pt idx="5">
                  <c:v>3421435</c:v>
                </c:pt>
                <c:pt idx="6">
                  <c:v>3490972</c:v>
                </c:pt>
                <c:pt idx="7">
                  <c:v>3471323</c:v>
                </c:pt>
                <c:pt idx="8">
                  <c:v>3613283</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image" Target="../media/image6.png"/><Relationship Id="rId6"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Ciudad de México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_Ciudad de Méxic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71%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6,460,586</a:t>
            </a:r>
            <a:br/>
            <a:r>
              <a:t>71%</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2,184,185</a:t>
            </a:r>
            <a:br/>
            <a:r>
              <a:t>24%</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412,699</a:t>
            </a:r>
            <a:br/>
            <a:r>
              <a:t>5%</a:t>
            </a:r>
          </a:p>
        </p:txBody>
      </p:sp>
      <p:pic>
        <p:nvPicPr>
          <p:cNvPr id="125" name="Picture 124" descr="09.png"/>
          <p:cNvPicPr>
            <a:picLocks noChangeAspect="1"/>
          </p:cNvPicPr>
          <p:nvPr/>
        </p:nvPicPr>
        <p:blipFill>
          <a:blip r:embed="rId8"/>
          <a:stretch>
            <a:fillRect/>
          </a:stretch>
        </p:blipFill>
        <p:spPr>
          <a:xfrm>
            <a:off x="1220400" y="3290400"/>
            <a:ext cx="1247031"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102,496</a:t>
            </a:r>
            <a:br/>
            <a:r>
              <a:t>1%</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9,159,966</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7,415,435</a:t>
                      </a:r>
                    </a:p>
                  </a:txBody>
                  <a:tcPr>
                    <a:solidFill>
                      <a:srgbClr val="EBD2D9"/>
                    </a:solidFill>
                  </a:tcPr>
                </a:tc>
                <a:tc>
                  <a:txBody>
                    <a:bodyPr/>
                    <a:lstStyle/>
                    <a:p>
                      <a:pPr algn="ctr">
                        <a:defRPr sz="900" b="1">
                          <a:solidFill>
                            <a:srgbClr val="000000"/>
                          </a:solidFill>
                          <a:latin typeface="Montserrat"/>
                        </a:defRPr>
                      </a:pPr>
                      <a:r>
                        <a:t>6,460,586</a:t>
                      </a:r>
                    </a:p>
                  </a:txBody>
                  <a:tcPr>
                    <a:solidFill>
                      <a:srgbClr val="EBD2D9"/>
                    </a:solidFill>
                  </a:tcPr>
                </a:tc>
                <a:tc>
                  <a:txBody>
                    <a:bodyPr/>
                    <a:lstStyle/>
                    <a:p>
                      <a:pPr algn="ctr">
                        <a:defRPr sz="900" b="1">
                          <a:solidFill>
                            <a:srgbClr val="000000"/>
                          </a:solidFill>
                          <a:latin typeface="Montserrat"/>
                        </a:defRPr>
                      </a:pPr>
                      <a:r>
                        <a:t>-13%</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5,224,605</a:t>
                      </a:r>
                    </a:p>
                  </a:txBody>
                  <a:tcPr>
                    <a:solidFill>
                      <a:srgbClr val="EBD2D9"/>
                    </a:solidFill>
                  </a:tcPr>
                </a:tc>
                <a:tc>
                  <a:txBody>
                    <a:bodyPr/>
                    <a:lstStyle/>
                    <a:p>
                      <a:pPr algn="ctr">
                        <a:defRPr sz="900" b="1">
                          <a:solidFill>
                            <a:srgbClr val="000000"/>
                          </a:solidFill>
                          <a:latin typeface="Montserrat"/>
                        </a:defRPr>
                      </a:pPr>
                      <a:r>
                        <a:t>4,268,414</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3,410,841</a:t>
                      </a:r>
                    </a:p>
                  </a:txBody>
                  <a:tcPr>
                    <a:solidFill>
                      <a:srgbClr val="F8F4EC"/>
                    </a:solidFill>
                  </a:tcPr>
                </a:tc>
                <a:tc>
                  <a:txBody>
                    <a:bodyPr/>
                    <a:lstStyle/>
                    <a:p>
                      <a:pPr algn="ctr">
                        <a:defRPr sz="900" b="1">
                          <a:solidFill>
                            <a:srgbClr val="000000"/>
                          </a:solidFill>
                          <a:latin typeface="Montserrat"/>
                        </a:defRPr>
                      </a:pPr>
                      <a:r>
                        <a:t>3,613,283</a:t>
                      </a:r>
                    </a:p>
                  </a:txBody>
                  <a:tcPr>
                    <a:solidFill>
                      <a:srgbClr val="F8F4EC"/>
                    </a:solidFill>
                  </a:tcPr>
                </a:tc>
                <a:tc>
                  <a:txBody>
                    <a:bodyPr/>
                    <a:lstStyle/>
                    <a:p>
                      <a:pPr algn="ctr">
                        <a:defRPr sz="900" b="1">
                          <a:solidFill>
                            <a:srgbClr val="000000"/>
                          </a:solidFill>
                          <a:latin typeface="Montserrat"/>
                        </a:defRPr>
                      </a:pPr>
                      <a:r>
                        <a:t>6%</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587,854</a:t>
                      </a:r>
                    </a:p>
                  </a:txBody>
                  <a:tcPr>
                    <a:solidFill>
                      <a:srgbClr val="FFFFFF"/>
                    </a:solidFill>
                  </a:tcPr>
                </a:tc>
                <a:tc>
                  <a:txBody>
                    <a:bodyPr/>
                    <a:lstStyle/>
                    <a:p>
                      <a:pPr algn="ctr">
                        <a:defRPr sz="900">
                          <a:solidFill>
                            <a:srgbClr val="000000"/>
                          </a:solidFill>
                          <a:latin typeface="Montserrat"/>
                        </a:defRPr>
                      </a:pPr>
                      <a:r>
                        <a:t>775,224</a:t>
                      </a:r>
                    </a:p>
                  </a:txBody>
                  <a:tcPr>
                    <a:solidFill>
                      <a:srgbClr val="FFFFFF"/>
                    </a:solidFill>
                  </a:tcPr>
                </a:tc>
                <a:tc>
                  <a:txBody>
                    <a:bodyPr/>
                    <a:lstStyle/>
                    <a:p>
                      <a:pPr algn="ctr">
                        <a:defRPr sz="900">
                          <a:solidFill>
                            <a:srgbClr val="000000"/>
                          </a:solidFill>
                          <a:latin typeface="Montserrat"/>
                        </a:defRPr>
                      </a:pPr>
                      <a:r>
                        <a:t>32%</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62,383</a:t>
                      </a:r>
                    </a:p>
                  </a:txBody>
                  <a:tcPr>
                    <a:solidFill>
                      <a:srgbClr val="FFFFFF"/>
                    </a:solidFill>
                  </a:tcPr>
                </a:tc>
                <a:tc>
                  <a:txBody>
                    <a:bodyPr/>
                    <a:lstStyle/>
                    <a:p>
                      <a:pPr algn="ctr">
                        <a:defRPr sz="900">
                          <a:solidFill>
                            <a:srgbClr val="000000"/>
                          </a:solidFill>
                          <a:latin typeface="Montserrat"/>
                        </a:defRPr>
                      </a:pPr>
                      <a:r>
                        <a:t>74,371</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1,163,527</a:t>
                      </a:r>
                    </a:p>
                  </a:txBody>
                  <a:tcPr>
                    <a:solidFill>
                      <a:srgbClr val="CCE0DD"/>
                    </a:solidFill>
                  </a:tcPr>
                </a:tc>
                <a:tc>
                  <a:txBody>
                    <a:bodyPr/>
                    <a:lstStyle/>
                    <a:p>
                      <a:pPr algn="ctr">
                        <a:defRPr sz="900" b="1">
                          <a:solidFill>
                            <a:srgbClr val="000000"/>
                          </a:solidFill>
                          <a:latin typeface="Montserrat"/>
                        </a:defRPr>
                      </a:pPr>
                      <a:r>
                        <a:t>1,091,215</a:t>
                      </a:r>
                    </a:p>
                  </a:txBody>
                  <a:tcPr>
                    <a:solidFill>
                      <a:srgbClr val="CCE0DD"/>
                    </a:solidFill>
                  </a:tcPr>
                </a:tc>
                <a:tc>
                  <a:txBody>
                    <a:bodyPr/>
                    <a:lstStyle/>
                    <a:p>
                      <a:pPr algn="ctr">
                        <a:defRPr sz="900" b="1">
                          <a:solidFill>
                            <a:srgbClr val="000000"/>
                          </a:solidFill>
                          <a:latin typeface="Montserrat"/>
                        </a:defRPr>
                      </a:pPr>
                      <a:r>
                        <a:t>-6%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1,090,044</a:t>
                      </a:r>
                    </a:p>
                  </a:txBody>
                  <a:tcPr>
                    <a:solidFill>
                      <a:srgbClr val="FFFFFF"/>
                    </a:solidFill>
                  </a:tcPr>
                </a:tc>
                <a:tc>
                  <a:txBody>
                    <a:bodyPr/>
                    <a:lstStyle/>
                    <a:p>
                      <a:pPr algn="ctr">
                        <a:defRPr sz="900">
                          <a:solidFill>
                            <a:srgbClr val="000000"/>
                          </a:solidFill>
                          <a:latin typeface="Montserrat"/>
                        </a:defRPr>
                      </a:pPr>
                      <a:r>
                        <a:t>1,037,387</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37,374</a:t>
                      </a:r>
                    </a:p>
                  </a:txBody>
                  <a:tcPr>
                    <a:solidFill>
                      <a:srgbClr val="FFFFFF"/>
                    </a:solidFill>
                  </a:tcPr>
                </a:tc>
                <a:tc>
                  <a:txBody>
                    <a:bodyPr/>
                    <a:lstStyle/>
                    <a:p>
                      <a:pPr algn="ctr">
                        <a:defRPr sz="900">
                          <a:solidFill>
                            <a:srgbClr val="000000"/>
                          </a:solidFill>
                          <a:latin typeface="Montserrat"/>
                        </a:defRPr>
                      </a:pPr>
                      <a:r>
                        <a:t>9,878</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36,109</a:t>
                      </a:r>
                    </a:p>
                  </a:txBody>
                  <a:tcPr>
                    <a:solidFill>
                      <a:srgbClr val="FFFFFF"/>
                    </a:solidFill>
                  </a:tcPr>
                </a:tc>
                <a:tc>
                  <a:txBody>
                    <a:bodyPr/>
                    <a:lstStyle/>
                    <a:p>
                      <a:pPr algn="ctr">
                        <a:defRPr sz="900">
                          <a:solidFill>
                            <a:srgbClr val="000000"/>
                          </a:solidFill>
                          <a:latin typeface="Montserrat"/>
                        </a:defRPr>
                      </a:pPr>
                      <a:r>
                        <a:t>43,950</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2,190,830</a:t>
                      </a:r>
                    </a:p>
                  </a:txBody>
                  <a:tcPr>
                    <a:solidFill>
                      <a:srgbClr val="EBD2D9"/>
                    </a:solidFill>
                  </a:tcPr>
                </a:tc>
                <a:tc>
                  <a:txBody>
                    <a:bodyPr/>
                    <a:lstStyle/>
                    <a:p>
                      <a:pPr algn="ctr">
                        <a:defRPr sz="900" b="1">
                          <a:solidFill>
                            <a:srgbClr val="000000"/>
                          </a:solidFill>
                          <a:latin typeface="Montserrat"/>
                        </a:defRPr>
                      </a:pPr>
                      <a:r>
                        <a:t>2,192,172</a:t>
                      </a:r>
                    </a:p>
                  </a:txBody>
                  <a:tcPr>
                    <a:solidFill>
                      <a:srgbClr val="EBD2D9"/>
                    </a:solidFill>
                  </a:tcPr>
                </a:tc>
                <a:tc>
                  <a:txBody>
                    <a:bodyPr/>
                    <a:lstStyle/>
                    <a:p>
                      <a:pPr algn="ctr">
                        <a:defRPr sz="900" b="1">
                          <a:solidFill>
                            <a:srgbClr val="000000"/>
                          </a:solidFill>
                          <a:latin typeface="Montserrat"/>
                        </a:defRPr>
                      </a:pPr>
                      <a:r>
                        <a:t>0%</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762,433</a:t>
                      </a:r>
                    </a:p>
                  </a:txBody>
                  <a:tcPr>
                    <a:solidFill>
                      <a:srgbClr val="FFFFFF"/>
                    </a:solidFill>
                  </a:tcPr>
                </a:tc>
                <a:tc>
                  <a:txBody>
                    <a:bodyPr/>
                    <a:lstStyle/>
                    <a:p>
                      <a:pPr algn="ctr">
                        <a:defRPr sz="900">
                          <a:solidFill>
                            <a:srgbClr val="000000"/>
                          </a:solidFill>
                          <a:latin typeface="Montserrat"/>
                        </a:defRPr>
                      </a:pPr>
                      <a:r>
                        <a:t>801,839</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846,726</a:t>
                      </a:r>
                    </a:p>
                  </a:txBody>
                  <a:tcPr>
                    <a:solidFill>
                      <a:srgbClr val="FFFFFF"/>
                    </a:solidFill>
                  </a:tcPr>
                </a:tc>
                <a:tc>
                  <a:txBody>
                    <a:bodyPr/>
                    <a:lstStyle/>
                    <a:p>
                      <a:pPr algn="ctr">
                        <a:defRPr sz="900">
                          <a:solidFill>
                            <a:srgbClr val="000000"/>
                          </a:solidFill>
                          <a:latin typeface="Montserrat"/>
                        </a:defRPr>
                      </a:pPr>
                      <a:r>
                        <a:t>662,428</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581,671</a:t>
                      </a:r>
                    </a:p>
                  </a:txBody>
                  <a:tcPr>
                    <a:solidFill>
                      <a:srgbClr val="FFFFFF"/>
                    </a:solidFill>
                  </a:tcPr>
                </a:tc>
                <a:tc>
                  <a:txBody>
                    <a:bodyPr/>
                    <a:lstStyle/>
                    <a:p>
                      <a:pPr algn="ctr">
                        <a:defRPr sz="900">
                          <a:solidFill>
                            <a:srgbClr val="000000"/>
                          </a:solidFill>
                          <a:latin typeface="Montserrat"/>
                        </a:defRPr>
                      </a:pPr>
                      <a:r>
                        <a:t>727,905</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10,917</a:t>
                      </a:r>
                    </a:p>
                  </a:txBody>
                  <a:tcPr>
                    <a:solidFill>
                      <a:srgbClr val="F8F4EC"/>
                    </a:solidFill>
                  </a:tcPr>
                </a:tc>
                <a:tc>
                  <a:txBody>
                    <a:bodyPr/>
                    <a:lstStyle/>
                    <a:p>
                      <a:pPr algn="ctr">
                        <a:defRPr b="1" sz="900">
                          <a:latin typeface="Montserrat"/>
                        </a:defRPr>
                      </a:pPr>
                      <a:r>
                        <a:t>10,877</a:t>
                      </a:r>
                    </a:p>
                  </a:txBody>
                  <a:tcPr>
                    <a:solidFill>
                      <a:srgbClr val="F8F4EC"/>
                    </a:solidFill>
                  </a:tcPr>
                </a:tc>
                <a:tc>
                  <a:txBody>
                    <a:bodyPr/>
                    <a:lstStyle/>
                    <a:p>
                      <a:pPr algn="ctr">
                        <a:defRPr b="1" sz="900">
                          <a:solidFill>
                            <a:srgbClr val="A61C00"/>
                          </a:solidFill>
                          <a:latin typeface="Montserrat"/>
                        </a:defRPr>
                      </a:pPr>
                      <a:r>
                        <a:t>0%</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33,783</a:t>
                      </a:r>
                    </a:p>
                  </a:txBody>
                  <a:tcPr>
                    <a:solidFill>
                      <a:srgbClr val="F8F4EC"/>
                    </a:solidFill>
                  </a:tcPr>
                </a:tc>
                <a:tc>
                  <a:txBody>
                    <a:bodyPr/>
                    <a:lstStyle/>
                    <a:p>
                      <a:pPr algn="ctr">
                        <a:defRPr b="1" sz="900">
                          <a:latin typeface="Montserrat"/>
                        </a:defRPr>
                      </a:pPr>
                      <a:r>
                        <a:t>45,627</a:t>
                      </a:r>
                    </a:p>
                  </a:txBody>
                  <a:tcPr>
                    <a:solidFill>
                      <a:srgbClr val="F8F4EC"/>
                    </a:solidFill>
                  </a:tcPr>
                </a:tc>
                <a:tc>
                  <a:txBody>
                    <a:bodyPr/>
                    <a:lstStyle/>
                    <a:p>
                      <a:pPr algn="ctr">
                        <a:defRPr b="1" sz="900">
                          <a:latin typeface="Montserrat"/>
                        </a:defRPr>
                      </a:pPr>
                      <a:r>
                        <a:t>35%</a:t>
                      </a:r>
                    </a:p>
                  </a:txBody>
                  <a:tcPr>
                    <a:solidFill>
                      <a:srgbClr val="F8F4EC"/>
                    </a:solidFill>
                  </a:tcPr>
                </a:tc>
              </a:tr>
            </a:tbl>
          </a:graphicData>
        </a:graphic>
      </p:graphicFrame>
      <p:graphicFrame>
        <p:nvGraphicFramePr>
          <p:cNvPr id="137" name="Table 136"/>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abril 2026</a:t>
                      </a:r>
                    </a:p>
                  </a:txBody>
                  <a:tcPr anchor="ctr">
                    <a:solidFill>
                      <a:srgbClr val="006455"/>
                    </a:solidFill>
                  </a:tcPr>
                </a:tc>
              </a:tr>
              <a:tr h="334800">
                <a:tc>
                  <a:txBody>
                    <a:bodyPr/>
                    <a:lstStyle/>
                    <a:p>
                      <a:pPr algn="ctr">
                        <a:defRPr sz="1200" b="1">
                          <a:solidFill>
                            <a:srgbClr val="000000"/>
                          </a:solidFill>
                          <a:latin typeface="Montserrat"/>
                        </a:defRPr>
                      </a:pPr>
                      <a:r>
                        <a:t>84,814</a:t>
                      </a:r>
                    </a:p>
                  </a:txBody>
                  <a:tcPr anchor="ctr">
                    <a:solidFill>
                      <a:srgbClr val="F8F4EC"/>
                    </a:solidFill>
                  </a:tcPr>
                </a:tc>
              </a:tr>
            </a:tbl>
          </a:graphicData>
        </a:graphic>
      </p:graphicFrame>
      <p:sp>
        <p:nvSpPr>
          <p:cNvPr id="138" name="TextBox 137"/>
          <p:cNvSpPr txBox="1"/>
          <p:nvPr/>
        </p:nvSpPr>
        <p:spPr>
          <a:xfrm>
            <a:off x="136800" y="9536400"/>
            <a:ext cx="5864400" cy="360000"/>
          </a:xfrm>
          <a:prstGeom prst="rect">
            <a:avLst/>
          </a:prstGeom>
          <a:noFill/>
        </p:spPr>
        <p:txBody>
          <a:bodyPr wrap="square">
            <a:spAutoFit/>
          </a:bodyPr>
          <a:lstStyle/>
          <a:p>
            <a:pPr algn="l">
              <a:defRPr sz="700">
                <a:solidFill>
                  <a:srgbClr val="FFFFFF"/>
                </a:solidFill>
                <a:latin typeface="Montserrat"/>
              </a:defRPr>
            </a:pPr>
            <a:r>
              <a:t>** PTPD que superaron el umbral de ingreso mínimo neto</a:t>
            </a:r>
          </a:p>
        </p:txBody>
      </p:sp>
      <p:pic>
        <p:nvPicPr>
          <p:cNvPr id="139" name="Picture 138" descr="PTPD.png"/>
          <p:cNvPicPr>
            <a:picLocks noChangeAspect="1"/>
          </p:cNvPicPr>
          <p:nvPr/>
        </p:nvPicPr>
        <p:blipFill>
          <a:blip r:embed="rId10"/>
          <a:stretch>
            <a:fillRect/>
          </a:stretch>
        </p:blipFill>
        <p:spPr>
          <a:xfrm>
            <a:off x="6080400" y="8161200"/>
            <a:ext cx="1666800" cy="486000"/>
          </a:xfrm>
          <a:prstGeom prst="rect">
            <a:avLst/>
          </a:prstGeom>
        </p:spPr>
      </p:pic>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59725529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9_cdm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221</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2,918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1,302</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3,383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1,179</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904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6,301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2,702</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12</a:t>
                      </a:r>
                    </a:p>
                  </a:txBody>
                  <a:tcPr>
                    <a:solidFill>
                      <a:srgbClr val="EFEFEF"/>
                    </a:solidFill>
                  </a:tcPr>
                </a:tc>
              </a:tr>
              <a:tr h="23472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234720">
                <a:tc>
                  <a:txBody>
                    <a:bodyPr/>
                    <a:lstStyle/>
                    <a:p>
                      <a:pPr algn="ctr">
                        <a:defRPr sz="1000">
                          <a:solidFill>
                            <a:srgbClr val="000000"/>
                          </a:solidFill>
                          <a:latin typeface="Montserrat"/>
                        </a:defRPr>
                      </a:pPr>
                      <a:r>
                        <a:t>HGP</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44 UMF, 3 UMF-UMAA y no incluye 54 Unidades Auxiliares de Medicina Familiar.</a:t>
            </a:r>
            <a:br/>
            <a:r>
              <a:t>3. Incluye la UMFR 2 unidades.</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6" name="Google Shape;128;g3d0b4d3c5c9_2_57" title="CMN La Raza 2.jpg">
            <a:extLst>
              <a:ext uri="{FF2B5EF4-FFF2-40B4-BE49-F238E27FC236}">
                <a16:creationId xmlns:a16="http://schemas.microsoft.com/office/drawing/2014/main" id="{D1A3CC32-1838-F468-BA0B-ECEED9BD309D}"/>
              </a:ext>
            </a:extLst>
          </p:cNvPr>
          <p:cNvPicPr preferRelativeResize="0"/>
          <p:nvPr/>
        </p:nvPicPr>
        <p:blipFill>
          <a:blip r:embed="rId4">
            <a:alphaModFix/>
          </a:blip>
          <a:stretch>
            <a:fillRect/>
          </a:stretch>
        </p:blipFill>
        <p:spPr>
          <a:xfrm>
            <a:off x="288000" y="1998344"/>
            <a:ext cx="2094300" cy="1514474"/>
          </a:xfrm>
          <a:prstGeom prst="rect">
            <a:avLst/>
          </a:prstGeom>
          <a:noFill/>
          <a:ln>
            <a:noFill/>
          </a:ln>
        </p:spPr>
      </p:pic>
      <p:graphicFrame>
        <p:nvGraphicFramePr>
          <p:cNvPr id="7" name="Google Shape;129;g3d0b4d3c5c9_2_57">
            <a:extLst>
              <a:ext uri="{FF2B5EF4-FFF2-40B4-BE49-F238E27FC236}">
                <a16:creationId xmlns:a16="http://schemas.microsoft.com/office/drawing/2014/main" id="{ED3BDB12-7020-25F0-1AC7-2CACEC9C55FD}"/>
              </a:ext>
            </a:extLst>
          </p:cNvPr>
          <p:cNvGraphicFramePr/>
          <p:nvPr>
            <p:extLst>
              <p:ext uri="{D42A27DB-BD31-4B8C-83A1-F6EECF244321}">
                <p14:modId xmlns:p14="http://schemas.microsoft.com/office/powerpoint/2010/main" val="1751123060"/>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del CMN La Raza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8" name="Google Shape;130;g3d0b4d3c5c9_2_57">
            <a:extLst>
              <a:ext uri="{FF2B5EF4-FFF2-40B4-BE49-F238E27FC236}">
                <a16:creationId xmlns:a16="http://schemas.microsoft.com/office/drawing/2014/main" id="{EDA40058-D5CB-E1D4-987B-4A42A0475422}"/>
              </a:ext>
            </a:extLst>
          </p:cNvPr>
          <p:cNvPicPr preferRelativeResize="0"/>
          <p:nvPr/>
        </p:nvPicPr>
        <p:blipFill rotWithShape="1">
          <a:blip r:embed="rId5">
            <a:alphaModFix/>
          </a:blip>
          <a:srcRect l="48040" t="62798" r="29166" b="16941"/>
          <a:stretch/>
        </p:blipFill>
        <p:spPr>
          <a:xfrm>
            <a:off x="311450" y="3836671"/>
            <a:ext cx="2019326" cy="1009649"/>
          </a:xfrm>
          <a:prstGeom prst="rect">
            <a:avLst/>
          </a:prstGeom>
          <a:noFill/>
          <a:ln>
            <a:noFill/>
          </a:ln>
        </p:spPr>
      </p:pic>
      <p:sp>
        <p:nvSpPr>
          <p:cNvPr id="9" name="CuadroTexto 8">
            <a:extLst>
              <a:ext uri="{FF2B5EF4-FFF2-40B4-BE49-F238E27FC236}">
                <a16:creationId xmlns:a16="http://schemas.microsoft.com/office/drawing/2014/main" id="{915A7E8A-9320-9D48-2CA6-11CB8288DDDA}"/>
              </a:ext>
            </a:extLst>
          </p:cNvPr>
          <p:cNvSpPr txBox="1"/>
          <p:nvPr/>
        </p:nvSpPr>
        <p:spPr>
          <a:xfrm>
            <a:off x="2526750" y="1938124"/>
            <a:ext cx="5083650" cy="2833490"/>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capital el 19 de enero de 1943, con la promulgación de la Ley del Seguro Social, el 1 de enero de 1944, se formalizaron  las consultas orientadas a medicina general, atención preventiva y curativa básica, en clínicas urbanas que atendían a trabajadores del sector industrial.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fue el Hospital General del Centro Médico Nacional (CMN) La Raza “Dr. Gaudencio González Garza”, cuya inauguración simbólica ocurrió el 12 de octubre de 1952. El inicio formal de operaciones fue el 10 de febrero de 1954.</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Contaba con 800 camas y servicios de medicina interna, cirugía, urgencias, hospitalización general y atención especializada, funciones de enseñanza médica fue concebido como un hospital integral y sentó las bases para el posteri</a:t>
            </a:r>
            <a:r>
              <a:rPr lang="es-ES" sz="1100" dirty="0">
                <a:latin typeface="Montserrat" panose="00000500000000000000" pitchFamily="2" charset="0"/>
              </a:rPr>
              <a:t>o</a:t>
            </a:r>
            <a:r>
              <a:rPr lang="es-ES" sz="1100" b="0" i="0" u="none" strike="noStrike" dirty="0">
                <a:solidFill>
                  <a:srgbClr val="000000"/>
                </a:solidFill>
                <a:effectLst/>
                <a:latin typeface="Montserrat" panose="00000500000000000000" pitchFamily="2" charset="0"/>
              </a:rPr>
              <a:t>r desarrollo de hospitales de especialidades, residencias médicas e investigación clínica.</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11" name="TextBox 10"/>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2" name="Connector 11"/>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3" name="Picture 12" descr="cdmx_09.png"/>
          <p:cNvPicPr>
            <a:picLocks noChangeAspect="1"/>
          </p:cNvPicPr>
          <p:nvPr/>
        </p:nvPicPr>
        <p:blipFill>
          <a:blip r:embed="rId6"/>
          <a:stretch>
            <a:fillRect/>
          </a:stretch>
        </p:blipFill>
        <p:spPr>
          <a:xfrm>
            <a:off x="122400" y="5666400"/>
            <a:ext cx="7488000" cy="727200"/>
          </a:xfrm>
          <a:prstGeom prst="rect">
            <a:avLst/>
          </a:prstGeom>
        </p:spPr>
      </p:pic>
      <p:graphicFrame>
        <p:nvGraphicFramePr>
          <p:cNvPr id="14" name="Table 13"/>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HGP 3A Magdalena Salinas</a:t>
                      </a:r>
                    </a:p>
                  </a:txBody>
                  <a:tcPr anchor="ctr">
                    <a:solidFill>
                      <a:srgbClr val="FFFFFF"/>
                    </a:solidFill>
                  </a:tcPr>
                </a:tc>
                <a:tc>
                  <a:txBody>
                    <a:bodyPr/>
                    <a:lstStyle/>
                    <a:p>
                      <a:pPr algn="ctr">
                        <a:defRPr sz="900">
                          <a:latin typeface="Montserrat"/>
                        </a:defRPr>
                      </a:pPr>
                      <a:r>
                        <a:t>Abril de 1945</a:t>
                      </a:r>
                    </a:p>
                  </a:txBody>
                  <a:tcPr anchor="ctr">
                    <a:solidFill>
                      <a:srgbClr val="FFFFFF"/>
                    </a:solidFill>
                  </a:tcPr>
                </a:tc>
                <a:tc>
                  <a:txBody>
                    <a:bodyPr/>
                    <a:lstStyle/>
                    <a:p>
                      <a:pPr algn="ctr">
                        <a:defRPr sz="900">
                          <a:latin typeface="Montserrat"/>
                        </a:defRPr>
                      </a:pPr>
                      <a:r>
                        <a:t>204</a:t>
                      </a:r>
                    </a:p>
                  </a:txBody>
                  <a:tcPr anchor="ctr">
                    <a:solidFill>
                      <a:srgbClr val="FFFFFF"/>
                    </a:solidFill>
                  </a:tcPr>
                </a:tc>
                <a:tc>
                  <a:txBody>
                    <a:bodyPr/>
                    <a:lstStyle/>
                    <a:p>
                      <a:pPr algn="ctr">
                        <a:defRPr sz="900">
                          <a:latin typeface="Montserrat"/>
                        </a:defRPr>
                      </a:pPr>
                      <a:r>
                        <a:t>80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HGR 1 Carlos Mc Gregor</a:t>
                      </a:r>
                    </a:p>
                  </a:txBody>
                  <a:tcPr anchor="ctr">
                    <a:solidFill>
                      <a:srgbClr val="EFEFEF"/>
                    </a:solidFill>
                  </a:tcPr>
                </a:tc>
                <a:tc>
                  <a:txBody>
                    <a:bodyPr/>
                    <a:lstStyle/>
                    <a:p>
                      <a:pPr algn="ctr">
                        <a:defRPr sz="900">
                          <a:latin typeface="Montserrat"/>
                        </a:defRPr>
                      </a:pPr>
                      <a:r>
                        <a:t>Mayo de 1948</a:t>
                      </a:r>
                    </a:p>
                  </a:txBody>
                  <a:tcPr anchor="ctr">
                    <a:solidFill>
                      <a:srgbClr val="EFEFEF"/>
                    </a:solidFill>
                  </a:tcPr>
                </a:tc>
                <a:tc>
                  <a:txBody>
                    <a:bodyPr/>
                    <a:lstStyle/>
                    <a:p>
                      <a:pPr algn="ctr">
                        <a:defRPr sz="900">
                          <a:latin typeface="Montserrat"/>
                        </a:defRPr>
                      </a:pPr>
                      <a:r>
                        <a:t>222</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69</a:t>
                      </a:r>
                    </a:p>
                  </a:txBody>
                  <a:tcPr anchor="ctr">
                    <a:solidFill>
                      <a:srgbClr val="EFEFEF"/>
                    </a:solidFill>
                  </a:tcPr>
                </a:tc>
              </a:tr>
              <a:tr h="230400">
                <a:tc>
                  <a:txBody>
                    <a:bodyPr/>
                    <a:lstStyle/>
                    <a:p>
                      <a:pPr algn="l">
                        <a:defRPr sz="900">
                          <a:latin typeface="Montserrat"/>
                        </a:defRPr>
                      </a:pPr>
                      <a:r>
                        <a:t>HPSIQ MF 10 Postal</a:t>
                      </a:r>
                    </a:p>
                  </a:txBody>
                  <a:tcPr anchor="ctr">
                    <a:solidFill>
                      <a:srgbClr val="FFFFFF"/>
                    </a:solidFill>
                  </a:tcPr>
                </a:tc>
                <a:tc>
                  <a:txBody>
                    <a:bodyPr/>
                    <a:lstStyle/>
                    <a:p>
                      <a:pPr algn="ctr">
                        <a:defRPr sz="900">
                          <a:latin typeface="Montserrat"/>
                        </a:defRPr>
                      </a:pPr>
                      <a:r>
                        <a:t>Enero de 1952</a:t>
                      </a:r>
                    </a:p>
                  </a:txBody>
                  <a:tcPr anchor="ctr">
                    <a:solidFill>
                      <a:srgbClr val="FFFFFF"/>
                    </a:solidFill>
                  </a:tcPr>
                </a:tc>
                <a:tc>
                  <a:txBody>
                    <a:bodyPr/>
                    <a:lstStyle/>
                    <a:p>
                      <a:pPr algn="ctr">
                        <a:defRPr sz="900">
                          <a:latin typeface="Montserrat"/>
                        </a:defRPr>
                      </a:pPr>
                      <a:r>
                        <a:t>23</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14</a:t>
                      </a:r>
                    </a:p>
                  </a:txBody>
                  <a:tcPr anchor="ctr">
                    <a:solidFill>
                      <a:srgbClr val="FFFFFF"/>
                    </a:solidFill>
                  </a:tcPr>
                </a:tc>
              </a:tr>
              <a:tr h="230400">
                <a:tc>
                  <a:txBody>
                    <a:bodyPr/>
                    <a:lstStyle/>
                    <a:p>
                      <a:pPr algn="l">
                        <a:defRPr sz="900">
                          <a:latin typeface="Montserrat"/>
                        </a:defRPr>
                      </a:pPr>
                      <a:r>
                        <a:t>HGZ 24 Insurgentes</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159</a:t>
                      </a:r>
                    </a:p>
                  </a:txBody>
                  <a:tcPr anchor="ctr">
                    <a:solidFill>
                      <a:srgbClr val="EFEFEF"/>
                    </a:solidFill>
                  </a:tcPr>
                </a:tc>
                <a:tc>
                  <a:txBody>
                    <a:bodyPr/>
                    <a:lstStyle/>
                    <a:p>
                      <a:pPr algn="ctr">
                        <a:defRPr sz="900">
                          <a:latin typeface="Montserrat"/>
                        </a:defRPr>
                      </a:pPr>
                      <a:r>
                        <a:t>42</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31</a:t>
                      </a:r>
                    </a:p>
                  </a:txBody>
                  <a:tcPr anchor="ctr">
                    <a:solidFill>
                      <a:srgbClr val="EFEFEF"/>
                    </a:solidFill>
                  </a:tcPr>
                </a:tc>
              </a:tr>
              <a:tr h="230400">
                <a:tc>
                  <a:txBody>
                    <a:bodyPr/>
                    <a:lstStyle/>
                    <a:p>
                      <a:pPr algn="l">
                        <a:defRPr sz="900">
                          <a:latin typeface="Montserrat"/>
                        </a:defRPr>
                      </a:pPr>
                      <a:r>
                        <a:t>HGZ 27 Tlatelolco</a:t>
                      </a:r>
                    </a:p>
                  </a:txBody>
                  <a:tcPr anchor="ctr">
                    <a:solidFill>
                      <a:srgbClr val="FFFFFF"/>
                    </a:solidFill>
                  </a:tcPr>
                </a:tc>
                <a:tc>
                  <a:txBody>
                    <a:bodyPr/>
                    <a:lstStyle/>
                    <a:p>
                      <a:pPr algn="ctr">
                        <a:defRPr sz="900">
                          <a:latin typeface="Montserrat"/>
                        </a:defRPr>
                      </a:pPr>
                      <a:r>
                        <a:t>Enero de 1972</a:t>
                      </a:r>
                    </a:p>
                  </a:txBody>
                  <a:tcPr anchor="ctr">
                    <a:solidFill>
                      <a:srgbClr val="FFFFFF"/>
                    </a:solidFill>
                  </a:tcPr>
                </a:tc>
                <a:tc>
                  <a:txBody>
                    <a:bodyPr/>
                    <a:lstStyle/>
                    <a:p>
                      <a:pPr algn="ctr">
                        <a:defRPr sz="900">
                          <a:latin typeface="Montserrat"/>
                        </a:defRPr>
                      </a:pPr>
                      <a:r>
                        <a:t>214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 1A Venados</a:t>
                      </a:r>
                    </a:p>
                  </a:txBody>
                  <a:tcPr anchor="ctr">
                    <a:solidFill>
                      <a:srgbClr val="EFEFEF"/>
                    </a:solidFill>
                  </a:tcPr>
                </a:tc>
                <a:tc>
                  <a:txBody>
                    <a:bodyPr/>
                    <a:lstStyle/>
                    <a:p>
                      <a:pPr algn="ctr">
                        <a:defRPr sz="900">
                          <a:latin typeface="Montserrat"/>
                        </a:defRPr>
                      </a:pPr>
                      <a:r>
                        <a:t>Octubre de 1973</a:t>
                      </a:r>
                    </a:p>
                  </a:txBody>
                  <a:tcPr anchor="ctr">
                    <a:solidFill>
                      <a:srgbClr val="EFEFEF"/>
                    </a:solidFill>
                  </a:tcPr>
                </a:tc>
                <a:tc>
                  <a:txBody>
                    <a:bodyPr/>
                    <a:lstStyle/>
                    <a:p>
                      <a:pPr algn="ctr">
                        <a:defRPr sz="900">
                          <a:latin typeface="Montserrat"/>
                        </a:defRPr>
                      </a:pPr>
                      <a:r>
                        <a:t>243</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37</a:t>
                      </a:r>
                    </a:p>
                  </a:txBody>
                  <a:tcPr anchor="ctr">
                    <a:solidFill>
                      <a:srgbClr val="EFEFEF"/>
                    </a:solidFill>
                  </a:tcPr>
                </a:tc>
              </a:tr>
              <a:tr h="230400">
                <a:tc>
                  <a:txBody>
                    <a:bodyPr/>
                    <a:lstStyle/>
                    <a:p>
                      <a:pPr algn="l">
                        <a:defRPr sz="900">
                          <a:latin typeface="Montserrat"/>
                        </a:defRPr>
                      </a:pPr>
                      <a:r>
                        <a:t>HGZ 30 Iztacalco</a:t>
                      </a:r>
                    </a:p>
                  </a:txBody>
                  <a:tcPr anchor="ctr">
                    <a:solidFill>
                      <a:srgbClr val="FFFFFF"/>
                    </a:solidFill>
                  </a:tcPr>
                </a:tc>
                <a:tc>
                  <a:txBody>
                    <a:bodyPr/>
                    <a:lstStyle/>
                    <a:p>
                      <a:pPr algn="ctr">
                        <a:defRPr sz="900">
                          <a:latin typeface="Montserrat"/>
                        </a:defRPr>
                      </a:pPr>
                      <a:r>
                        <a:t>Octubre de 1973</a:t>
                      </a:r>
                    </a:p>
                  </a:txBody>
                  <a:tcPr anchor="ctr">
                    <a:solidFill>
                      <a:srgbClr val="FFFFFF"/>
                    </a:solidFill>
                  </a:tcPr>
                </a:tc>
                <a:tc>
                  <a:txBody>
                    <a:bodyPr/>
                    <a:lstStyle/>
                    <a:p>
                      <a:pPr algn="ctr">
                        <a:defRPr sz="900">
                          <a:latin typeface="Montserrat"/>
                        </a:defRPr>
                      </a:pPr>
                      <a:r>
                        <a:t>129</a:t>
                      </a:r>
                    </a:p>
                  </a:txBody>
                  <a:tcPr anchor="ctr">
                    <a:solidFill>
                      <a:srgbClr val="FFFFFF"/>
                    </a:solidFill>
                  </a:tcPr>
                </a:tc>
                <a:tc>
                  <a:txBody>
                    <a:bodyPr/>
                    <a:lstStyle/>
                    <a:p>
                      <a:pPr algn="ctr">
                        <a:defRPr sz="900">
                          <a:latin typeface="Montserrat"/>
                        </a:defRPr>
                      </a:pPr>
                      <a:r>
                        <a:t>50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33</a:t>
                      </a:r>
                    </a:p>
                  </a:txBody>
                  <a:tcPr anchor="ctr">
                    <a:solidFill>
                      <a:srgbClr val="FFFFFF"/>
                    </a:solidFill>
                  </a:tcPr>
                </a:tc>
              </a:tr>
              <a:tr h="230400">
                <a:tc>
                  <a:txBody>
                    <a:bodyPr/>
                    <a:lstStyle/>
                    <a:p>
                      <a:pPr algn="l">
                        <a:defRPr sz="900">
                          <a:latin typeface="Montserrat"/>
                        </a:defRPr>
                      </a:pPr>
                      <a:r>
                        <a:t>HGZ 2A PasoTroncoso</a:t>
                      </a:r>
                    </a:p>
                  </a:txBody>
                  <a:tcPr anchor="ctr">
                    <a:solidFill>
                      <a:srgbClr val="EFEFEF"/>
                    </a:solidFill>
                  </a:tcPr>
                </a:tc>
                <a:tc>
                  <a:txBody>
                    <a:bodyPr/>
                    <a:lstStyle/>
                    <a:p>
                      <a:pPr algn="ctr">
                        <a:defRPr sz="900">
                          <a:latin typeface="Montserrat"/>
                        </a:defRPr>
                      </a:pPr>
                      <a:r>
                        <a:t>Enero de 1974</a:t>
                      </a:r>
                    </a:p>
                  </a:txBody>
                  <a:tcPr anchor="ctr">
                    <a:solidFill>
                      <a:srgbClr val="EFEFEF"/>
                    </a:solidFill>
                  </a:tcPr>
                </a:tc>
                <a:tc>
                  <a:txBody>
                    <a:bodyPr/>
                    <a:lstStyle/>
                    <a:p>
                      <a:pPr algn="ctr">
                        <a:defRPr sz="900">
                          <a:latin typeface="Montserrat"/>
                        </a:defRPr>
                      </a:pPr>
                      <a:r>
                        <a:t>299</a:t>
                      </a:r>
                    </a:p>
                  </a:txBody>
                  <a:tcPr anchor="ctr">
                    <a:solidFill>
                      <a:srgbClr val="EFEFEF"/>
                    </a:solidFill>
                  </a:tcPr>
                </a:tc>
                <a:tc>
                  <a:txBody>
                    <a:bodyPr/>
                    <a:lstStyle/>
                    <a:p>
                      <a:pPr algn="ctr">
                        <a:defRPr sz="900">
                          <a:latin typeface="Montserrat"/>
                        </a:defRPr>
                      </a:pPr>
                      <a:r>
                        <a:t>113</a:t>
                      </a:r>
                    </a:p>
                  </a:txBody>
                  <a:tcPr anchor="ctr">
                    <a:solidFill>
                      <a:srgbClr val="EFEFEF"/>
                    </a:solidFill>
                  </a:tcPr>
                </a:tc>
                <a:tc>
                  <a:txBody>
                    <a:bodyPr/>
                    <a:lstStyle/>
                    <a:p>
                      <a:pPr algn="ctr">
                        <a:defRPr sz="900">
                          <a:latin typeface="Montserrat"/>
                        </a:defRPr>
                      </a:pPr>
                      <a:r>
                        <a:t>13</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41</a:t>
                      </a:r>
                    </a:p>
                  </a:txBody>
                  <a:tcPr anchor="ctr">
                    <a:solidFill>
                      <a:srgbClr val="EFEFEF"/>
                    </a:solidFill>
                  </a:tcPr>
                </a:tc>
              </a:tr>
              <a:tr h="230400">
                <a:tc>
                  <a:txBody>
                    <a:bodyPr/>
                    <a:lstStyle/>
                    <a:p>
                      <a:pPr algn="l">
                        <a:defRPr sz="900">
                          <a:latin typeface="Montserrat"/>
                        </a:defRPr>
                      </a:pPr>
                      <a:r>
                        <a:t>HGZMF 8 San Ángel</a:t>
                      </a:r>
                    </a:p>
                  </a:txBody>
                  <a:tcPr anchor="ctr">
                    <a:solidFill>
                      <a:srgbClr val="FFFFFF"/>
                    </a:solidFill>
                  </a:tcPr>
                </a:tc>
                <a:tc>
                  <a:txBody>
                    <a:bodyPr/>
                    <a:lstStyle/>
                    <a:p>
                      <a:pPr algn="ctr">
                        <a:defRPr sz="900">
                          <a:latin typeface="Montserrat"/>
                        </a:defRPr>
                      </a:pPr>
                      <a:r>
                        <a:t>Junio de 1976</a:t>
                      </a:r>
                    </a:p>
                  </a:txBody>
                  <a:tcPr anchor="ctr">
                    <a:solidFill>
                      <a:srgbClr val="FFFFFF"/>
                    </a:solidFill>
                  </a:tcPr>
                </a:tc>
                <a:tc>
                  <a:txBody>
                    <a:bodyPr/>
                    <a:lstStyle/>
                    <a:p>
                      <a:pPr algn="ctr">
                        <a:defRPr sz="900">
                          <a:latin typeface="Montserrat"/>
                        </a:defRPr>
                      </a:pPr>
                      <a:r>
                        <a:t>138</a:t>
                      </a:r>
                    </a:p>
                  </a:txBody>
                  <a:tcPr anchor="ctr">
                    <a:solidFill>
                      <a:srgbClr val="FFFFFF"/>
                    </a:solidFill>
                  </a:tcPr>
                </a:tc>
                <a:tc>
                  <a:txBody>
                    <a:bodyPr/>
                    <a:lstStyle/>
                    <a:p>
                      <a:pPr algn="ctr">
                        <a:defRPr sz="900">
                          <a:latin typeface="Montserrat"/>
                        </a:defRPr>
                      </a:pPr>
                      <a:r>
                        <a:t>78</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37</a:t>
                      </a:r>
                    </a:p>
                  </a:txBody>
                  <a:tcPr anchor="ctr">
                    <a:solidFill>
                      <a:srgbClr val="FFFFFF"/>
                    </a:solidFill>
                  </a:tcPr>
                </a:tc>
              </a:tr>
              <a:tr h="230400">
                <a:tc>
                  <a:txBody>
                    <a:bodyPr/>
                    <a:lstStyle/>
                    <a:p>
                      <a:pPr algn="l">
                        <a:defRPr sz="900">
                          <a:latin typeface="Montserrat"/>
                        </a:defRPr>
                      </a:pPr>
                      <a:r>
                        <a:t>HGZMF 29 S. Juan Aragón</a:t>
                      </a:r>
                    </a:p>
                  </a:txBody>
                  <a:tcPr anchor="ctr">
                    <a:solidFill>
                      <a:srgbClr val="EFEFEF"/>
                    </a:solidFill>
                  </a:tcPr>
                </a:tc>
                <a:tc>
                  <a:txBody>
                    <a:bodyPr/>
                    <a:lstStyle/>
                    <a:p>
                      <a:pPr algn="ctr">
                        <a:defRPr sz="900">
                          <a:latin typeface="Montserrat"/>
                        </a:defRPr>
                      </a:pPr>
                      <a:r>
                        <a:t>Marzo de 1977</a:t>
                      </a:r>
                    </a:p>
                  </a:txBody>
                  <a:tcPr anchor="ctr">
                    <a:solidFill>
                      <a:srgbClr val="EFEFEF"/>
                    </a:solidFill>
                  </a:tcPr>
                </a:tc>
                <a:tc>
                  <a:txBody>
                    <a:bodyPr/>
                    <a:lstStyle/>
                    <a:p>
                      <a:pPr algn="ctr">
                        <a:defRPr sz="900">
                          <a:latin typeface="Montserrat"/>
                        </a:defRPr>
                      </a:pPr>
                      <a:r>
                        <a:t>143</a:t>
                      </a:r>
                    </a:p>
                  </a:txBody>
                  <a:tcPr anchor="ctr">
                    <a:solidFill>
                      <a:srgbClr val="EFEFEF"/>
                    </a:solidFill>
                  </a:tcPr>
                </a:tc>
                <a:tc>
                  <a:txBody>
                    <a:bodyPr/>
                    <a:lstStyle/>
                    <a:p>
                      <a:pPr algn="ctr">
                        <a:defRPr sz="900">
                          <a:latin typeface="Montserrat"/>
                        </a:defRPr>
                      </a:pPr>
                      <a:r>
                        <a:t>60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46</a:t>
                      </a:r>
                    </a:p>
                  </a:txBody>
                  <a:tcPr anchor="ctr">
                    <a:solidFill>
                      <a:srgbClr val="EFEFEF"/>
                    </a:solidFill>
                  </a:tcPr>
                </a:tc>
              </a:tr>
            </a:tbl>
          </a:graphicData>
        </a:graphic>
      </p:graphicFrame>
      <p:sp>
        <p:nvSpPr>
          <p:cNvPr id="15" name="TextBox 14"/>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8BB7F63-D4B0-8952-984D-CF9F7C38E195}"/>
              </a:ext>
            </a:extLst>
          </p:cNvPr>
          <p:cNvGrpSpPr/>
          <p:nvPr/>
        </p:nvGrpSpPr>
        <p:grpSpPr>
          <a:xfrm>
            <a:off x="-149075" y="4413993"/>
            <a:ext cx="7973224" cy="5239086"/>
            <a:chOff x="-149075" y="4413993"/>
            <a:chExt cx="7973224" cy="5239086"/>
          </a:xfrm>
        </p:grpSpPr>
        <p:sp>
          <p:nvSpPr>
            <p:cNvPr id="3" name="Google Shape;127;g3d62d805bc0_1_88">
              <a:extLst>
                <a:ext uri="{FF2B5EF4-FFF2-40B4-BE49-F238E27FC236}">
                  <a16:creationId xmlns:a16="http://schemas.microsoft.com/office/drawing/2014/main" id="{C9B7C970-F0F9-62E7-C22C-DE782D79DA49}"/>
                </a:ext>
              </a:extLst>
            </p:cNvPr>
            <p:cNvSpPr txBox="1"/>
            <p:nvPr/>
          </p:nvSpPr>
          <p:spPr>
            <a:xfrm>
              <a:off x="-149075" y="4413993"/>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4" name="Google Shape;119;g3d62d805bc0_1_88">
              <a:extLst>
                <a:ext uri="{FF2B5EF4-FFF2-40B4-BE49-F238E27FC236}">
                  <a16:creationId xmlns:a16="http://schemas.microsoft.com/office/drawing/2014/main" id="{072013C2-F42C-2DFB-C32A-5337EF835214}"/>
                </a:ext>
              </a:extLst>
            </p:cNvPr>
            <p:cNvSpPr/>
            <p:nvPr/>
          </p:nvSpPr>
          <p:spPr>
            <a:xfrm>
              <a:off x="126710" y="6588785"/>
              <a:ext cx="422020" cy="370486"/>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3</a:t>
              </a:r>
              <a:endParaRPr sz="1400" b="0" i="0" u="none" strike="noStrike" cap="none">
                <a:solidFill>
                  <a:srgbClr val="FFFFFF"/>
                </a:solidFill>
                <a:latin typeface="Noto Sans Black"/>
                <a:ea typeface="Noto Sans Black"/>
                <a:cs typeface="Noto Sans Black"/>
                <a:sym typeface="Noto Sans Black"/>
              </a:endParaRPr>
            </a:p>
          </p:txBody>
        </p:sp>
        <p:sp>
          <p:nvSpPr>
            <p:cNvPr id="5" name="Google Shape;120;g3d62d805bc0_1_88">
              <a:extLst>
                <a:ext uri="{FF2B5EF4-FFF2-40B4-BE49-F238E27FC236}">
                  <a16:creationId xmlns:a16="http://schemas.microsoft.com/office/drawing/2014/main" id="{1ACB6866-86F3-9700-C326-3150A8DDEF9E}"/>
                </a:ext>
              </a:extLst>
            </p:cNvPr>
            <p:cNvSpPr/>
            <p:nvPr/>
          </p:nvSpPr>
          <p:spPr>
            <a:xfrm>
              <a:off x="541539" y="6588785"/>
              <a:ext cx="1867871" cy="370486"/>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Resonadores magnéticos </a:t>
              </a:r>
              <a:endParaRPr sz="1300" b="1" i="0" u="none" strike="noStrike" cap="none">
                <a:solidFill>
                  <a:srgbClr val="FFFFFF"/>
                </a:solidFill>
                <a:latin typeface="Montserrat"/>
                <a:ea typeface="Montserrat"/>
                <a:cs typeface="Montserrat"/>
                <a:sym typeface="Montserrat"/>
              </a:endParaRPr>
            </a:p>
          </p:txBody>
        </p:sp>
        <p:sp>
          <p:nvSpPr>
            <p:cNvPr id="6" name="Google Shape;121;g3d62d805bc0_1_88">
              <a:extLst>
                <a:ext uri="{FF2B5EF4-FFF2-40B4-BE49-F238E27FC236}">
                  <a16:creationId xmlns:a16="http://schemas.microsoft.com/office/drawing/2014/main" id="{92F388DE-EB73-BFC6-C7FB-2077930D3267}"/>
                </a:ext>
              </a:extLst>
            </p:cNvPr>
            <p:cNvSpPr txBox="1"/>
            <p:nvPr/>
          </p:nvSpPr>
          <p:spPr>
            <a:xfrm>
              <a:off x="28762" y="7099928"/>
              <a:ext cx="2291100" cy="1104888"/>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CMN La Raza</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CMN Siglo XXI</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 CMN La Raza</a:t>
              </a:r>
            </a:p>
            <a:p>
              <a:pPr marL="0" marR="63500" lvl="0" indent="0" algn="l"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$121.8 mdp</a:t>
              </a:r>
            </a:p>
          </p:txBody>
        </p:sp>
        <p:pic>
          <p:nvPicPr>
            <p:cNvPr id="7" name="Google Shape;126;g3d62d805bc0_1_88">
              <a:extLst>
                <a:ext uri="{FF2B5EF4-FFF2-40B4-BE49-F238E27FC236}">
                  <a16:creationId xmlns:a16="http://schemas.microsoft.com/office/drawing/2014/main" id="{F983CA42-9BE3-D8D9-282C-25358AC94BC7}"/>
                </a:ext>
              </a:extLst>
            </p:cNvPr>
            <p:cNvPicPr preferRelativeResize="0"/>
            <p:nvPr/>
          </p:nvPicPr>
          <p:blipFill>
            <a:blip r:embed="rId4">
              <a:alphaModFix/>
            </a:blip>
            <a:stretch>
              <a:fillRect/>
            </a:stretch>
          </p:blipFill>
          <p:spPr>
            <a:xfrm>
              <a:off x="126712" y="5049068"/>
              <a:ext cx="2264877" cy="1532496"/>
            </a:xfrm>
            <a:prstGeom prst="rect">
              <a:avLst/>
            </a:prstGeom>
            <a:noFill/>
            <a:ln>
              <a:noFill/>
            </a:ln>
          </p:spPr>
        </p:pic>
        <p:sp>
          <p:nvSpPr>
            <p:cNvPr id="8" name="Google Shape;122;g3d62d805bc0_1_88">
              <a:extLst>
                <a:ext uri="{FF2B5EF4-FFF2-40B4-BE49-F238E27FC236}">
                  <a16:creationId xmlns:a16="http://schemas.microsoft.com/office/drawing/2014/main" id="{A994BCCD-7600-C700-674A-CD082555D51C}"/>
                </a:ext>
              </a:extLst>
            </p:cNvPr>
            <p:cNvSpPr/>
            <p:nvPr/>
          </p:nvSpPr>
          <p:spPr>
            <a:xfrm>
              <a:off x="3021641" y="6510036"/>
              <a:ext cx="1774492" cy="36107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Tomógrafos</a:t>
              </a:r>
              <a:endParaRPr sz="1100" b="0" i="0" u="none" strike="noStrike" cap="none">
                <a:solidFill>
                  <a:srgbClr val="FFFFFF"/>
                </a:solidFill>
                <a:latin typeface="Arial"/>
                <a:ea typeface="Arial"/>
                <a:cs typeface="Arial"/>
                <a:sym typeface="Arial"/>
              </a:endParaRPr>
            </a:p>
          </p:txBody>
        </p:sp>
        <p:sp>
          <p:nvSpPr>
            <p:cNvPr id="9" name="Google Shape;123;g3d62d805bc0_1_88">
              <a:extLst>
                <a:ext uri="{FF2B5EF4-FFF2-40B4-BE49-F238E27FC236}">
                  <a16:creationId xmlns:a16="http://schemas.microsoft.com/office/drawing/2014/main" id="{FC74ADCA-54D9-54F9-BA7F-760A8346E824}"/>
                </a:ext>
              </a:extLst>
            </p:cNvPr>
            <p:cNvSpPr/>
            <p:nvPr/>
          </p:nvSpPr>
          <p:spPr>
            <a:xfrm>
              <a:off x="2567640" y="6510032"/>
              <a:ext cx="471079" cy="36107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dirty="0">
                  <a:solidFill>
                    <a:srgbClr val="FFFFFF"/>
                  </a:solidFill>
                  <a:latin typeface="Noto Sans Black"/>
                  <a:ea typeface="Noto Sans Black"/>
                  <a:cs typeface="Noto Sans Black"/>
                  <a:sym typeface="Noto Sans Black"/>
                </a:rPr>
                <a:t>8</a:t>
              </a:r>
              <a:endParaRPr sz="1400" b="0" i="0" u="none" strike="noStrike" cap="none" dirty="0">
                <a:solidFill>
                  <a:srgbClr val="FFFFFF"/>
                </a:solidFill>
                <a:latin typeface="Noto Sans Black"/>
                <a:ea typeface="Noto Sans Black"/>
                <a:cs typeface="Noto Sans Black"/>
                <a:sym typeface="Noto Sans Black"/>
              </a:endParaRPr>
            </a:p>
          </p:txBody>
        </p:sp>
        <p:sp>
          <p:nvSpPr>
            <p:cNvPr id="10" name="Google Shape;124;g3d62d805bc0_1_88">
              <a:extLst>
                <a:ext uri="{FF2B5EF4-FFF2-40B4-BE49-F238E27FC236}">
                  <a16:creationId xmlns:a16="http://schemas.microsoft.com/office/drawing/2014/main" id="{B48C242B-3E6C-93BC-62DC-9205104856A0}"/>
                </a:ext>
              </a:extLst>
            </p:cNvPr>
            <p:cNvSpPr txBox="1"/>
            <p:nvPr/>
          </p:nvSpPr>
          <p:spPr>
            <a:xfrm>
              <a:off x="2391589" y="6889339"/>
              <a:ext cx="2367900" cy="276374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100" dirty="0">
                  <a:solidFill>
                    <a:srgbClr val="595959"/>
                  </a:solidFill>
                  <a:latin typeface="Montserrat"/>
                  <a:ea typeface="Montserrat"/>
                  <a:cs typeface="Montserrat"/>
                  <a:sym typeface="Montserrat"/>
                </a:rPr>
                <a:t>HGZ 30 Mexicali, UMAE Magdalena de las Salinas 64 cortes; HGZ 27 Tlatelolco, HGZMF 8 San Ángel, HGR 2 Villacoapa, HES CMN La Raza, HES CMN Siglo XXI, HTO Magdalena de las Salinas, ONCO CMN Siglo XXI </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$225.2 mdp</a:t>
              </a:r>
            </a:p>
            <a:p>
              <a:pPr marL="0" marR="50800" lvl="0" indent="0" algn="l" rtl="0">
                <a:lnSpc>
                  <a:spcPct val="111000"/>
                </a:lnSpc>
                <a:spcBef>
                  <a:spcPts val="0"/>
                </a:spcBef>
                <a:spcAft>
                  <a:spcPts val="0"/>
                </a:spcAft>
                <a:buNone/>
              </a:pPr>
              <a:endParaRPr lang="es" sz="1100" dirty="0">
                <a:solidFill>
                  <a:srgbClr val="595959"/>
                </a:solidFill>
                <a:latin typeface="Montserrat"/>
                <a:ea typeface="Noto Sans"/>
                <a:cs typeface="Noto Sans"/>
                <a:sym typeface="Montserrat"/>
              </a:endParaRPr>
            </a:p>
            <a:p>
              <a:pPr marL="0" marR="50800" lvl="0" indent="0" algn="l" rtl="0">
                <a:lnSpc>
                  <a:spcPct val="111000"/>
                </a:lnSpc>
                <a:spcBef>
                  <a:spcPts val="0"/>
                </a:spcBef>
                <a:spcAft>
                  <a:spcPts val="0"/>
                </a:spcAft>
                <a:buNone/>
              </a:pPr>
              <a:endParaRPr sz="1200" b="1" dirty="0">
                <a:solidFill>
                  <a:srgbClr val="434343"/>
                </a:solidFill>
                <a:latin typeface="Noto Sans"/>
                <a:ea typeface="Noto Sans"/>
                <a:cs typeface="Noto Sans"/>
                <a:sym typeface="Noto Sans"/>
              </a:endParaRPr>
            </a:p>
            <a:p>
              <a:pPr marL="0" marR="50800" lvl="0" indent="0" algn="ctr" rtl="0">
                <a:lnSpc>
                  <a:spcPct val="111000"/>
                </a:lnSpc>
                <a:spcBef>
                  <a:spcPts val="0"/>
                </a:spcBef>
                <a:spcAft>
                  <a:spcPts val="0"/>
                </a:spcAft>
                <a:buNone/>
              </a:pPr>
              <a:endParaRPr sz="1300" dirty="0">
                <a:solidFill>
                  <a:srgbClr val="595959"/>
                </a:solidFill>
                <a:latin typeface="Montserrat"/>
                <a:ea typeface="Montserrat"/>
                <a:cs typeface="Montserrat"/>
                <a:sym typeface="Montserrat"/>
              </a:endParaRPr>
            </a:p>
            <a:p>
              <a:pPr marL="0" marR="50800" lvl="0" indent="0" algn="ctr" rtl="0">
                <a:lnSpc>
                  <a:spcPct val="111000"/>
                </a:lnSpc>
                <a:spcBef>
                  <a:spcPts val="0"/>
                </a:spcBef>
                <a:spcAft>
                  <a:spcPts val="0"/>
                </a:spcAft>
                <a:buNone/>
              </a:pP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1" name="Google Shape;125;g3d62d805bc0_1_88">
              <a:extLst>
                <a:ext uri="{FF2B5EF4-FFF2-40B4-BE49-F238E27FC236}">
                  <a16:creationId xmlns:a16="http://schemas.microsoft.com/office/drawing/2014/main" id="{8A39C3F0-EA1A-8344-55D6-7A8676EB2224}"/>
                </a:ext>
              </a:extLst>
            </p:cNvPr>
            <p:cNvPicPr preferRelativeResize="0"/>
            <p:nvPr/>
          </p:nvPicPr>
          <p:blipFill>
            <a:blip r:embed="rId5">
              <a:alphaModFix/>
            </a:blip>
            <a:stretch>
              <a:fillRect/>
            </a:stretch>
          </p:blipFill>
          <p:spPr>
            <a:xfrm>
              <a:off x="2608702" y="5009324"/>
              <a:ext cx="2200172" cy="1493681"/>
            </a:xfrm>
            <a:prstGeom prst="rect">
              <a:avLst/>
            </a:prstGeom>
            <a:noFill/>
            <a:ln>
              <a:noFill/>
            </a:ln>
          </p:spPr>
        </p:pic>
        <p:pic>
          <p:nvPicPr>
            <p:cNvPr id="12" name="Google Shape;116;g3d62d805bc0_1_88" title="HGZ 86 URUAPAN.jpg">
              <a:extLst>
                <a:ext uri="{FF2B5EF4-FFF2-40B4-BE49-F238E27FC236}">
                  <a16:creationId xmlns:a16="http://schemas.microsoft.com/office/drawing/2014/main" id="{F385F08B-2097-487B-F8FC-837F9F829AB3}"/>
                </a:ext>
              </a:extLst>
            </p:cNvPr>
            <p:cNvPicPr preferRelativeResize="0"/>
            <p:nvPr/>
          </p:nvPicPr>
          <p:blipFill rotWithShape="1">
            <a:blip r:embed="rId6">
              <a:alphaModFix/>
            </a:blip>
            <a:srcRect l="1417" t="15479" r="44279" b="26090"/>
            <a:stretch/>
          </p:blipFill>
          <p:spPr>
            <a:xfrm>
              <a:off x="5172569" y="5049080"/>
              <a:ext cx="2361295" cy="1532486"/>
            </a:xfrm>
            <a:prstGeom prst="rect">
              <a:avLst/>
            </a:prstGeom>
            <a:noFill/>
            <a:ln>
              <a:noFill/>
            </a:ln>
            <a:effectLst>
              <a:outerShdw blurRad="114300" dist="57150" dir="10800000" algn="bl" rotWithShape="0">
                <a:srgbClr val="000000">
                  <a:alpha val="50000"/>
                </a:srgbClr>
              </a:outerShdw>
            </a:effectLst>
          </p:spPr>
        </p:pic>
        <p:sp>
          <p:nvSpPr>
            <p:cNvPr id="13" name="Google Shape;117;g3d62d805bc0_1_88">
              <a:extLst>
                <a:ext uri="{FF2B5EF4-FFF2-40B4-BE49-F238E27FC236}">
                  <a16:creationId xmlns:a16="http://schemas.microsoft.com/office/drawing/2014/main" id="{906EFECB-D14D-EB86-3F40-B0B5C913F977}"/>
                </a:ext>
              </a:extLst>
            </p:cNvPr>
            <p:cNvSpPr/>
            <p:nvPr/>
          </p:nvSpPr>
          <p:spPr>
            <a:xfrm>
              <a:off x="5653274" y="6602655"/>
              <a:ext cx="1939230" cy="370486"/>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4" name="Google Shape;118;g3d62d805bc0_1_88">
              <a:extLst>
                <a:ext uri="{FF2B5EF4-FFF2-40B4-BE49-F238E27FC236}">
                  <a16:creationId xmlns:a16="http://schemas.microsoft.com/office/drawing/2014/main" id="{45957314-22D1-00B0-6DE6-3B722909CC74}"/>
                </a:ext>
              </a:extLst>
            </p:cNvPr>
            <p:cNvSpPr/>
            <p:nvPr/>
          </p:nvSpPr>
          <p:spPr>
            <a:xfrm>
              <a:off x="5137733" y="6602655"/>
              <a:ext cx="540487" cy="370486"/>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14</a:t>
              </a:r>
              <a:endParaRPr>
                <a:solidFill>
                  <a:srgbClr val="FFFFFF"/>
                </a:solidFill>
                <a:latin typeface="Noto Sans Black"/>
                <a:ea typeface="Noto Sans Black"/>
                <a:cs typeface="Noto Sans Black"/>
                <a:sym typeface="Noto Sans Black"/>
              </a:endParaRPr>
            </a:p>
          </p:txBody>
        </p:sp>
        <p:sp>
          <p:nvSpPr>
            <p:cNvPr id="23" name="Google Shape;128;g3d62d805bc0_1_88">
              <a:extLst>
                <a:ext uri="{FF2B5EF4-FFF2-40B4-BE49-F238E27FC236}">
                  <a16:creationId xmlns:a16="http://schemas.microsoft.com/office/drawing/2014/main" id="{C1FA6536-1B30-766F-E33A-94533BDF0A0A}"/>
                </a:ext>
              </a:extLst>
            </p:cNvPr>
            <p:cNvSpPr txBox="1"/>
            <p:nvPr/>
          </p:nvSpPr>
          <p:spPr>
            <a:xfrm>
              <a:off x="4882283" y="6969700"/>
              <a:ext cx="2941866" cy="182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s" sz="1300" b="1" dirty="0">
                  <a:solidFill>
                    <a:schemeClr val="dk2"/>
                  </a:solidFill>
                  <a:latin typeface="Montserrat"/>
                  <a:ea typeface="Montserrat"/>
                  <a:cs typeface="Montserrat"/>
                  <a:sym typeface="Montserrat"/>
                </a:rPr>
                <a:t>9</a:t>
              </a:r>
              <a:r>
                <a:rPr lang="es" sz="1300" b="1" i="0" u="none" strike="noStrike" cap="none" dirty="0">
                  <a:solidFill>
                    <a:schemeClr val="dk2"/>
                  </a:solidFill>
                  <a:latin typeface="Montserrat"/>
                  <a:ea typeface="Montserrat"/>
                  <a:cs typeface="Montserrat"/>
                  <a:sym typeface="Montserrat"/>
                </a:rPr>
                <a:t> UMF</a:t>
              </a:r>
              <a:endParaRPr sz="1300" b="1"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s" sz="1000" dirty="0">
                  <a:solidFill>
                    <a:schemeClr val="dk2"/>
                  </a:solidFill>
                  <a:latin typeface="Montserrat"/>
                  <a:ea typeface="Montserrat"/>
                  <a:cs typeface="Montserrat"/>
                  <a:sym typeface="Montserrat"/>
                </a:rPr>
                <a:t>UMF 6 Merced,  UMF 11 Peralvillo, UMF 4 Doctores, UMF 9 San Pedro de los Pinos, UMG 28 Del Valle, UMF 12 Santa Fe, UMF 15 Ermita Iztapalapa, UMF 31 Iztapalapa, UMF 45 Iztacalco</a:t>
              </a:r>
              <a:r>
                <a:rPr lang="es" sz="1050" dirty="0">
                  <a:solidFill>
                    <a:srgbClr val="434343"/>
                  </a:solidFill>
                  <a:latin typeface="Noto Sans"/>
                  <a:ea typeface="Noto Sans"/>
                  <a:cs typeface="Noto Sans"/>
                  <a:sym typeface="Noto Sans"/>
                </a:rPr>
                <a:t> </a:t>
              </a:r>
              <a:endParaRPr sz="1000" b="0"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s" sz="1300" b="1" dirty="0">
                  <a:solidFill>
                    <a:schemeClr val="dk2"/>
                  </a:solidFill>
                  <a:latin typeface="Montserrat"/>
                  <a:ea typeface="Montserrat"/>
                  <a:cs typeface="Montserrat"/>
                  <a:sym typeface="Montserrat"/>
                </a:rPr>
                <a:t>2 </a:t>
              </a:r>
              <a:r>
                <a:rPr lang="es" sz="1300" b="1" i="0" u="none" strike="noStrike" cap="none" dirty="0">
                  <a:solidFill>
                    <a:schemeClr val="dk2"/>
                  </a:solidFill>
                  <a:latin typeface="Montserrat"/>
                  <a:ea typeface="Montserrat"/>
                  <a:cs typeface="Montserrat"/>
                  <a:sym typeface="Montserrat"/>
                </a:rPr>
                <a:t>Hospitales y 3 CMN</a:t>
              </a:r>
              <a:endParaRPr sz="1300" b="1"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dirty="0">
                  <a:solidFill>
                    <a:schemeClr val="dk2"/>
                  </a:solidFill>
                  <a:latin typeface="Montserrat"/>
                  <a:ea typeface="Montserrat"/>
                  <a:cs typeface="Montserrat"/>
                  <a:sym typeface="Montserrat"/>
                </a:rPr>
                <a:t>HGZMF 8 San Ángel, HGZ 47 Vicente Guerrero, HONCO CMN Siglo XXI, HGO 3 CMN La Raza, HGZ 2A Paso Troncoso</a:t>
              </a:r>
            </a:p>
            <a:p>
              <a:pPr marL="0" marR="0" lvl="0" indent="0" algn="l" rtl="0">
                <a:lnSpc>
                  <a:spcPct val="100000"/>
                </a:lnSpc>
                <a:spcBef>
                  <a:spcPts val="0"/>
                </a:spcBef>
                <a:spcAft>
                  <a:spcPts val="0"/>
                </a:spcAft>
                <a:buClr>
                  <a:schemeClr val="dk1"/>
                </a:buClr>
                <a:buSzPts val="1100"/>
                <a:buFont typeface="Arial"/>
                <a:buNone/>
              </a:pPr>
              <a:endParaRPr lang="es" sz="1000"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300" b="1" dirty="0">
                  <a:solidFill>
                    <a:schemeClr val="dk2"/>
                  </a:solidFill>
                  <a:latin typeface="Montserrat"/>
                  <a:ea typeface="Montserrat"/>
                  <a:cs typeface="Montserrat"/>
                  <a:sym typeface="Montserrat"/>
                </a:rPr>
                <a:t>$39.9 mdp</a:t>
              </a:r>
            </a:p>
            <a:p>
              <a:pPr marL="0" marR="0" lvl="0" indent="0" algn="l" rtl="0">
                <a:lnSpc>
                  <a:spcPct val="100000"/>
                </a:lnSpc>
                <a:spcBef>
                  <a:spcPts val="0"/>
                </a:spcBef>
                <a:spcAft>
                  <a:spcPts val="0"/>
                </a:spcAft>
                <a:buClr>
                  <a:schemeClr val="dk1"/>
                </a:buClr>
                <a:buSzPts val="1100"/>
                <a:buFont typeface="Arial"/>
                <a:buNone/>
              </a:pPr>
              <a:endParaRPr sz="1300" b="1" i="0" u="none" strike="noStrike" cap="none" dirty="0">
                <a:solidFill>
                  <a:schemeClr val="dk2"/>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UMFR Villa Coapa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25 I. Zaragoza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36</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48 San Pedro Xalpa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30 Iztacalco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29 S. Juan Aragón</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HPSIQ MF 10 Postal</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1A Venados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47 Vicente Guerrero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 Villa Coapa</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8 San Ángel</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Carlos Mc Gregor</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20</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20 Tláhuac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24 Insurgentes</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94</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9489802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470FC71-65B2-CB64-6923-74D904D087BE}"/>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4C8BBF8-86D4-6AD5-31E6-0EBCA18883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8EB0DB20-671F-5D57-9636-E79BDA4C952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AF89E6CF-93E7-CB00-B11E-DEAAA6D5C6C0}"/>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0BDACCF7-7AB5-CE54-5A2F-1791E7FA17CE}"/>
              </a:ext>
            </a:extLst>
          </p:cNvPr>
          <p:cNvSpPr txBox="1"/>
          <p:nvPr/>
        </p:nvSpPr>
        <p:spPr>
          <a:xfrm>
            <a:off x="5064096" y="5110057"/>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C8090102-E89D-5E19-F610-39C24C9C0385}"/>
              </a:ext>
            </a:extLst>
          </p:cNvPr>
          <p:cNvSpPr txBox="1"/>
          <p:nvPr/>
        </p:nvSpPr>
        <p:spPr>
          <a:xfrm>
            <a:off x="5064096" y="6495486"/>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E399F2CF-012B-D1CF-AA80-0283BA2EC821}"/>
              </a:ext>
            </a:extLst>
          </p:cNvPr>
          <p:cNvSpPr txBox="1"/>
          <p:nvPr/>
        </p:nvSpPr>
        <p:spPr>
          <a:xfrm>
            <a:off x="4701239" y="8117457"/>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+59,433</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+530,537</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+1,459,609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11,931,618</a:t>
                      </a:r>
                    </a:p>
                  </a:txBody>
                  <a:tcPr marL="0" marR="0" marT="0" marB="0" anchor="ctr">
                    <a:solidFill>
                      <a:srgbClr val="FFFFFF"/>
                    </a:solidFill>
                  </a:tcPr>
                </a:tc>
                <a:tc>
                  <a:txBody>
                    <a:bodyPr/>
                    <a:lstStyle/>
                    <a:p>
                      <a:pPr algn="ctr">
                        <a:defRPr sz="1000">
                          <a:solidFill>
                            <a:srgbClr val="404040"/>
                          </a:solidFill>
                          <a:latin typeface="Montserrat"/>
                        </a:defRPr>
                      </a:pPr>
                      <a:r>
                        <a:t>530,537</a:t>
                      </a:r>
                    </a:p>
                  </a:txBody>
                  <a:tcPr marL="0" marR="0" marT="0" marB="0" anchor="ctr">
                    <a:solidFill>
                      <a:srgbClr val="FFFFFF"/>
                    </a:solidFill>
                  </a:tcPr>
                </a:tc>
                <a:tc>
                  <a:txBody>
                    <a:bodyPr/>
                    <a:lstStyle/>
                    <a:p>
                      <a:pPr algn="ctr">
                        <a:defRPr sz="1000" b="1">
                          <a:solidFill>
                            <a:srgbClr val="980000"/>
                          </a:solidFill>
                          <a:latin typeface="Montserrat"/>
                        </a:defRPr>
                      </a:pPr>
                      <a:r>
                        <a:t>4,836,695</a:t>
                      </a:r>
                    </a:p>
                  </a:txBody>
                  <a:tcPr marL="0" marR="0" marT="0" marB="0" anchor="ctr">
                    <a:solidFill>
                      <a:srgbClr val="ECD3D9"/>
                    </a:solidFill>
                  </a:tcPr>
                </a:tc>
                <a:tc>
                  <a:txBody>
                    <a:bodyPr/>
                    <a:lstStyle/>
                    <a:p>
                      <a:pPr algn="ctr">
                        <a:defRPr sz="1000" b="1">
                          <a:solidFill>
                            <a:srgbClr val="980000"/>
                          </a:solidFill>
                          <a:latin typeface="Montserrat"/>
                        </a:defRPr>
                      </a:pPr>
                      <a:r>
                        <a:t>12,132,348</a:t>
                      </a:r>
                    </a:p>
                  </a:txBody>
                  <a:tcPr marL="0" marR="0" marT="0" marB="0" anchor="ctr">
                    <a:solidFill>
                      <a:srgbClr val="ECD3D9"/>
                    </a:solidFill>
                  </a:tcPr>
                </a:tc>
                <a:tc>
                  <a:txBody>
                    <a:bodyPr/>
                    <a:lstStyle/>
                    <a:p>
                      <a:pPr algn="ctr">
                        <a:defRPr sz="1000" b="1">
                          <a:solidFill>
                            <a:srgbClr val="980000"/>
                          </a:solidFill>
                          <a:latin typeface="Montserrat"/>
                        </a:defRPr>
                      </a:pPr>
                      <a:r>
                        <a:t>39.9%</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5,069,625</a:t>
                      </a:r>
                    </a:p>
                  </a:txBody>
                  <a:tcPr marL="0" marR="0" marT="0" marB="0" anchor="ctr">
                    <a:solidFill>
                      <a:srgbClr val="EFEFEF"/>
                    </a:solidFill>
                  </a:tcPr>
                </a:tc>
                <a:tc>
                  <a:txBody>
                    <a:bodyPr/>
                    <a:lstStyle/>
                    <a:p>
                      <a:pPr algn="ctr">
                        <a:defRPr sz="1000">
                          <a:solidFill>
                            <a:srgbClr val="404040"/>
                          </a:solidFill>
                          <a:latin typeface="Montserrat"/>
                        </a:defRPr>
                      </a:pPr>
                      <a:r>
                        <a:t>1,459,609</a:t>
                      </a:r>
                    </a:p>
                  </a:txBody>
                  <a:tcPr marL="0" marR="0" marT="0" marB="0" anchor="ctr">
                    <a:solidFill>
                      <a:srgbClr val="EFEFEF"/>
                    </a:solidFill>
                  </a:tcPr>
                </a:tc>
                <a:tc>
                  <a:txBody>
                    <a:bodyPr/>
                    <a:lstStyle/>
                    <a:p>
                      <a:pPr algn="ctr">
                        <a:defRPr sz="1000" b="1">
                          <a:solidFill>
                            <a:srgbClr val="980000"/>
                          </a:solidFill>
                          <a:latin typeface="Montserrat"/>
                        </a:defRPr>
                      </a:pPr>
                      <a:r>
                        <a:t>2,127,915</a:t>
                      </a:r>
                    </a:p>
                  </a:txBody>
                  <a:tcPr marL="0" marR="0" marT="0" marB="0" anchor="ctr">
                    <a:solidFill>
                      <a:srgbClr val="F4E3E7"/>
                    </a:solidFill>
                  </a:tcPr>
                </a:tc>
                <a:tc>
                  <a:txBody>
                    <a:bodyPr/>
                    <a:lstStyle/>
                    <a:p>
                      <a:pPr algn="ctr">
                        <a:defRPr sz="1000" b="1">
                          <a:solidFill>
                            <a:srgbClr val="980000"/>
                          </a:solidFill>
                          <a:latin typeface="Montserrat"/>
                        </a:defRPr>
                      </a:pPr>
                      <a:r>
                        <a:t>5,461,220</a:t>
                      </a:r>
                    </a:p>
                  </a:txBody>
                  <a:tcPr marL="0" marR="0" marT="0" marB="0" anchor="ctr">
                    <a:solidFill>
                      <a:srgbClr val="F4E3E7"/>
                    </a:solidFill>
                  </a:tcPr>
                </a:tc>
                <a:tc>
                  <a:txBody>
                    <a:bodyPr/>
                    <a:lstStyle/>
                    <a:p>
                      <a:pPr algn="ctr">
                        <a:defRPr sz="1000" b="1">
                          <a:solidFill>
                            <a:srgbClr val="980000"/>
                          </a:solidFill>
                          <a:latin typeface="Montserrat"/>
                        </a:defRPr>
                      </a:pPr>
                      <a:r>
                        <a:t>39.0%</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241,747</a:t>
                      </a:r>
                    </a:p>
                  </a:txBody>
                  <a:tcPr marL="0" marR="0" marT="0" marB="0" anchor="ctr">
                    <a:solidFill>
                      <a:srgbClr val="FFFFFF"/>
                    </a:solidFill>
                  </a:tcPr>
                </a:tc>
                <a:tc>
                  <a:txBody>
                    <a:bodyPr/>
                    <a:lstStyle/>
                    <a:p>
                      <a:pPr algn="ctr">
                        <a:defRPr sz="1000">
                          <a:solidFill>
                            <a:srgbClr val="404040"/>
                          </a:solidFill>
                          <a:latin typeface="Montserrat"/>
                        </a:defRPr>
                      </a:pPr>
                      <a:r>
                        <a:t>59,433</a:t>
                      </a:r>
                    </a:p>
                  </a:txBody>
                  <a:tcPr marL="0" marR="0" marT="0" marB="0" anchor="ctr">
                    <a:solidFill>
                      <a:srgbClr val="FFFFFF"/>
                    </a:solidFill>
                  </a:tcPr>
                </a:tc>
                <a:tc>
                  <a:txBody>
                    <a:bodyPr/>
                    <a:lstStyle/>
                    <a:p>
                      <a:pPr algn="ctr">
                        <a:defRPr sz="1000" b="1">
                          <a:solidFill>
                            <a:srgbClr val="980000"/>
                          </a:solidFill>
                          <a:latin typeface="Montserrat"/>
                        </a:defRPr>
                      </a:pPr>
                      <a:r>
                        <a:t>108,434</a:t>
                      </a:r>
                    </a:p>
                  </a:txBody>
                  <a:tcPr marL="0" marR="0" marT="0" marB="0" anchor="ctr">
                    <a:solidFill>
                      <a:srgbClr val="ECD3D9"/>
                    </a:solidFill>
                  </a:tcPr>
                </a:tc>
                <a:tc>
                  <a:txBody>
                    <a:bodyPr/>
                    <a:lstStyle/>
                    <a:p>
                      <a:pPr algn="ctr">
                        <a:defRPr sz="1000" b="1">
                          <a:solidFill>
                            <a:srgbClr val="980000"/>
                          </a:solidFill>
                          <a:latin typeface="Montserrat"/>
                        </a:defRPr>
                      </a:pPr>
                      <a:r>
                        <a:t>340,492</a:t>
                      </a:r>
                    </a:p>
                  </a:txBody>
                  <a:tcPr marL="0" marR="0" marT="0" marB="0" anchor="ctr">
                    <a:solidFill>
                      <a:srgbClr val="ECD3D9"/>
                    </a:solidFill>
                  </a:tcPr>
                </a:tc>
                <a:tc>
                  <a:txBody>
                    <a:bodyPr/>
                    <a:lstStyle/>
                    <a:p>
                      <a:pPr algn="ctr">
                        <a:defRPr sz="1000" b="1">
                          <a:solidFill>
                            <a:srgbClr val="980000"/>
                          </a:solidFill>
                          <a:latin typeface="Montserrat"/>
                        </a:defRPr>
                      </a:pPr>
                      <a:r>
                        <a:t>31.8%</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25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4082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4 Doctores</a:t>
                      </a:r>
                    </a:p>
                  </a:txBody>
                  <a:tcPr marL="0" marR="0" marT="0" marB="0">
                    <a:solidFill>
                      <a:srgbClr val="FFFFFF"/>
                    </a:solidFill>
                  </a:tcPr>
                </a:tc>
                <a:tc>
                  <a:txBody>
                    <a:bodyPr/>
                    <a:lstStyle/>
                    <a:p>
                      <a:pPr algn="ctr">
                        <a:defRPr sz="1000">
                          <a:latin typeface="Montserrat"/>
                        </a:defRPr>
                      </a:pPr>
                      <a:r>
                        <a:t>184,432</a:t>
                      </a:r>
                    </a:p>
                  </a:txBody>
                  <a:tcPr marL="0" marR="0" marT="0" marB="0">
                    <a:solidFill>
                      <a:srgbClr val="FFFFFF"/>
                    </a:solidFill>
                  </a:tcPr>
                </a:tc>
                <a:tc>
                  <a:txBody>
                    <a:bodyPr/>
                    <a:lstStyle/>
                    <a:p>
                      <a:pPr algn="ctr">
                        <a:defRPr sz="1000">
                          <a:latin typeface="Montserrat"/>
                        </a:defRPr>
                      </a:pPr>
                      <a:r>
                        <a:t>-610</a:t>
                      </a:r>
                    </a:p>
                  </a:txBody>
                  <a:tcPr marL="0" marR="0" marT="0" marB="0">
                    <a:solidFill>
                      <a:srgbClr val="FFFFFF"/>
                    </a:solidFill>
                  </a:tcPr>
                </a:tc>
                <a:tc>
                  <a:txBody>
                    <a:bodyPr/>
                    <a:lstStyle/>
                    <a:p>
                      <a:pPr algn="ctr">
                        <a:defRPr sz="1000">
                          <a:latin typeface="Montserrat"/>
                        </a:defRPr>
                      </a:pPr>
                      <a:r>
                        <a:t>72,700</a:t>
                      </a:r>
                    </a:p>
                  </a:txBody>
                  <a:tcPr marL="0" marR="0" marT="0" marB="0">
                    <a:solidFill>
                      <a:srgbClr val="ECD3D9"/>
                    </a:solidFill>
                  </a:tcPr>
                </a:tc>
                <a:tc>
                  <a:txBody>
                    <a:bodyPr/>
                    <a:lstStyle/>
                    <a:p>
                      <a:pPr algn="ctr">
                        <a:defRPr sz="1000">
                          <a:latin typeface="Montserrat"/>
                        </a:defRPr>
                      </a:pPr>
                      <a:r>
                        <a:t>179,000</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tr>
              <a:tr h="151200">
                <a:tc>
                  <a:txBody>
                    <a:bodyPr/>
                    <a:lstStyle/>
                    <a:p>
                      <a:pPr algn="l">
                        <a:defRPr sz="1000">
                          <a:latin typeface="Montserrat"/>
                        </a:defRPr>
                      </a:pPr>
                      <a:r>
                        <a:t>UMF 5 C. Anahuac</a:t>
                      </a:r>
                    </a:p>
                  </a:txBody>
                  <a:tcPr marL="0" marR="0" marT="0" marB="0">
                    <a:solidFill>
                      <a:srgbClr val="EFEFEF"/>
                    </a:solidFill>
                  </a:tcPr>
                </a:tc>
                <a:tc>
                  <a:txBody>
                    <a:bodyPr/>
                    <a:lstStyle/>
                    <a:p>
                      <a:pPr algn="ctr">
                        <a:defRPr sz="1000">
                          <a:latin typeface="Montserrat"/>
                        </a:defRPr>
                      </a:pPr>
                      <a:r>
                        <a:t>253,219</a:t>
                      </a:r>
                    </a:p>
                  </a:txBody>
                  <a:tcPr marL="0" marR="0" marT="0" marB="0">
                    <a:solidFill>
                      <a:srgbClr val="EFEFEF"/>
                    </a:solidFill>
                  </a:tcPr>
                </a:tc>
                <a:tc>
                  <a:txBody>
                    <a:bodyPr/>
                    <a:lstStyle/>
                    <a:p>
                      <a:pPr algn="ctr">
                        <a:defRPr sz="1000">
                          <a:latin typeface="Montserrat"/>
                        </a:defRPr>
                      </a:pPr>
                      <a:r>
                        <a:t>-4,320</a:t>
                      </a:r>
                    </a:p>
                  </a:txBody>
                  <a:tcPr marL="0" marR="0" marT="0" marB="0">
                    <a:solidFill>
                      <a:srgbClr val="EFEFEF"/>
                    </a:solidFill>
                  </a:tcPr>
                </a:tc>
                <a:tc>
                  <a:txBody>
                    <a:bodyPr/>
                    <a:lstStyle/>
                    <a:p>
                      <a:pPr algn="ctr">
                        <a:defRPr sz="1000">
                          <a:latin typeface="Montserrat"/>
                        </a:defRPr>
                      </a:pPr>
                      <a:r>
                        <a:t>105,569</a:t>
                      </a:r>
                    </a:p>
                  </a:txBody>
                  <a:tcPr marL="0" marR="0" marT="0" marB="0">
                    <a:solidFill>
                      <a:srgbClr val="ECD3D9"/>
                    </a:solidFill>
                  </a:tcPr>
                </a:tc>
                <a:tc>
                  <a:txBody>
                    <a:bodyPr/>
                    <a:lstStyle/>
                    <a:p>
                      <a:pPr algn="ctr">
                        <a:defRPr sz="1000">
                          <a:latin typeface="Montserrat"/>
                        </a:defRPr>
                      </a:pPr>
                      <a:r>
                        <a:t>281,880</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2 Sta. María</a:t>
                      </a:r>
                    </a:p>
                  </a:txBody>
                  <a:tcPr marL="0" marR="0" marT="0" marB="0">
                    <a:solidFill>
                      <a:srgbClr val="FFFFFF"/>
                    </a:solidFill>
                  </a:tcPr>
                </a:tc>
                <a:tc>
                  <a:txBody>
                    <a:bodyPr/>
                    <a:lstStyle/>
                    <a:p>
                      <a:pPr algn="ctr">
                        <a:defRPr sz="1000">
                          <a:latin typeface="Montserrat"/>
                        </a:defRPr>
                      </a:pPr>
                      <a:r>
                        <a:t>382,070</a:t>
                      </a:r>
                    </a:p>
                  </a:txBody>
                  <a:tcPr marL="0" marR="0" marT="0" marB="0">
                    <a:solidFill>
                      <a:srgbClr val="FFFFFF"/>
                    </a:solidFill>
                  </a:tcPr>
                </a:tc>
                <a:tc>
                  <a:txBody>
                    <a:bodyPr/>
                    <a:lstStyle/>
                    <a:p>
                      <a:pPr algn="ctr">
                        <a:defRPr sz="1000">
                          <a:latin typeface="Montserrat"/>
                        </a:defRPr>
                      </a:pPr>
                      <a:r>
                        <a:t>16,733</a:t>
                      </a:r>
                    </a:p>
                  </a:txBody>
                  <a:tcPr marL="0" marR="0" marT="0" marB="0">
                    <a:solidFill>
                      <a:srgbClr val="FFFFFF"/>
                    </a:solidFill>
                  </a:tcPr>
                </a:tc>
                <a:tc>
                  <a:txBody>
                    <a:bodyPr/>
                    <a:lstStyle/>
                    <a:p>
                      <a:pPr algn="ctr">
                        <a:defRPr sz="1000">
                          <a:latin typeface="Montserrat"/>
                        </a:defRPr>
                      </a:pPr>
                      <a:r>
                        <a:t>150,140</a:t>
                      </a:r>
                    </a:p>
                  </a:txBody>
                  <a:tcPr marL="0" marR="0" marT="0" marB="0">
                    <a:solidFill>
                      <a:srgbClr val="ECD3D9"/>
                    </a:solidFill>
                  </a:tcPr>
                </a:tc>
                <a:tc>
                  <a:txBody>
                    <a:bodyPr/>
                    <a:lstStyle/>
                    <a:p>
                      <a:pPr algn="ctr">
                        <a:defRPr sz="1000">
                          <a:latin typeface="Montserrat"/>
                        </a:defRPr>
                      </a:pPr>
                      <a:r>
                        <a:t>404,028</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19 Coyoacán</a:t>
                      </a:r>
                    </a:p>
                  </a:txBody>
                  <a:tcPr marL="0" marR="0" marT="0" marB="0">
                    <a:solidFill>
                      <a:srgbClr val="EFEFEF"/>
                    </a:solidFill>
                  </a:tcPr>
                </a:tc>
                <a:tc>
                  <a:txBody>
                    <a:bodyPr/>
                    <a:lstStyle/>
                    <a:p>
                      <a:pPr algn="ctr">
                        <a:defRPr sz="1000">
                          <a:latin typeface="Montserrat"/>
                        </a:defRPr>
                      </a:pPr>
                      <a:r>
                        <a:t>219,658</a:t>
                      </a:r>
                    </a:p>
                  </a:txBody>
                  <a:tcPr marL="0" marR="0" marT="0" marB="0">
                    <a:solidFill>
                      <a:srgbClr val="EFEFEF"/>
                    </a:solidFill>
                  </a:tcPr>
                </a:tc>
                <a:tc>
                  <a:txBody>
                    <a:bodyPr/>
                    <a:lstStyle/>
                    <a:p>
                      <a:pPr algn="ctr">
                        <a:defRPr sz="1000">
                          <a:latin typeface="Montserrat"/>
                        </a:defRPr>
                      </a:pPr>
                      <a:r>
                        <a:t>-5,768</a:t>
                      </a:r>
                    </a:p>
                  </a:txBody>
                  <a:tcPr marL="0" marR="0" marT="0" marB="0">
                    <a:solidFill>
                      <a:srgbClr val="EFEFEF"/>
                    </a:solidFill>
                  </a:tcPr>
                </a:tc>
                <a:tc>
                  <a:txBody>
                    <a:bodyPr/>
                    <a:lstStyle/>
                    <a:p>
                      <a:pPr algn="ctr">
                        <a:defRPr sz="1000">
                          <a:latin typeface="Montserrat"/>
                        </a:defRPr>
                      </a:pPr>
                      <a:r>
                        <a:t>95,044</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11 Peralvillo</a:t>
                      </a:r>
                    </a:p>
                  </a:txBody>
                  <a:tcPr marL="0" marR="0" marT="0" marB="0">
                    <a:solidFill>
                      <a:srgbClr val="FFFFFF"/>
                    </a:solidFill>
                  </a:tcPr>
                </a:tc>
                <a:tc>
                  <a:txBody>
                    <a:bodyPr/>
                    <a:lstStyle/>
                    <a:p>
                      <a:pPr algn="ctr">
                        <a:defRPr sz="1000">
                          <a:latin typeface="Montserrat"/>
                        </a:defRPr>
                      </a:pPr>
                      <a:r>
                        <a:t>308,259</a:t>
                      </a:r>
                    </a:p>
                  </a:txBody>
                  <a:tcPr marL="0" marR="0" marT="0" marB="0">
                    <a:solidFill>
                      <a:srgbClr val="FFFFFF"/>
                    </a:solidFill>
                  </a:tcPr>
                </a:tc>
                <a:tc>
                  <a:txBody>
                    <a:bodyPr/>
                    <a:lstStyle/>
                    <a:p>
                      <a:pPr algn="ctr">
                        <a:defRPr sz="1000">
                          <a:latin typeface="Montserrat"/>
                        </a:defRPr>
                      </a:pPr>
                      <a:r>
                        <a:t>-4,918</a:t>
                      </a:r>
                    </a:p>
                  </a:txBody>
                  <a:tcPr marL="0" marR="0" marT="0" marB="0">
                    <a:solidFill>
                      <a:srgbClr val="FFFFFF"/>
                    </a:solidFill>
                  </a:tcPr>
                </a:tc>
                <a:tc>
                  <a:txBody>
                    <a:bodyPr/>
                    <a:lstStyle/>
                    <a:p>
                      <a:pPr algn="ctr">
                        <a:defRPr sz="1000">
                          <a:latin typeface="Montserrat"/>
                        </a:defRPr>
                      </a:pPr>
                      <a:r>
                        <a:t>113,153</a:t>
                      </a:r>
                    </a:p>
                  </a:txBody>
                  <a:tcPr marL="0" marR="0" marT="0" marB="0">
                    <a:solidFill>
                      <a:srgbClr val="ECD3D9"/>
                    </a:solidFill>
                  </a:tcPr>
                </a:tc>
                <a:tc>
                  <a:txBody>
                    <a:bodyPr/>
                    <a:lstStyle/>
                    <a:p>
                      <a:pPr algn="ctr">
                        <a:defRPr sz="1000">
                          <a:latin typeface="Montserrat"/>
                        </a:defRPr>
                      </a:pPr>
                      <a:r>
                        <a:t>313,200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17 Legaria</a:t>
                      </a:r>
                    </a:p>
                  </a:txBody>
                  <a:tcPr marL="0" marR="0" marT="0" marB="0">
                    <a:solidFill>
                      <a:srgbClr val="EFEFEF"/>
                    </a:solidFill>
                  </a:tcPr>
                </a:tc>
                <a:tc>
                  <a:txBody>
                    <a:bodyPr/>
                    <a:lstStyle/>
                    <a:p>
                      <a:pPr algn="ctr">
                        <a:defRPr sz="1000">
                          <a:latin typeface="Montserrat"/>
                        </a:defRPr>
                      </a:pPr>
                      <a:r>
                        <a:t>237,165</a:t>
                      </a:r>
                    </a:p>
                  </a:txBody>
                  <a:tcPr marL="0" marR="0" marT="0" marB="0">
                    <a:solidFill>
                      <a:srgbClr val="EFEFEF"/>
                    </a:solidFill>
                  </a:tcPr>
                </a:tc>
                <a:tc>
                  <a:txBody>
                    <a:bodyPr/>
                    <a:lstStyle/>
                    <a:p>
                      <a:pPr algn="ctr">
                        <a:defRPr sz="1000">
                          <a:latin typeface="Montserrat"/>
                        </a:defRPr>
                      </a:pPr>
                      <a:r>
                        <a:t>24,446</a:t>
                      </a:r>
                    </a:p>
                  </a:txBody>
                  <a:tcPr marL="0" marR="0" marT="0" marB="0">
                    <a:solidFill>
                      <a:srgbClr val="EFEFEF"/>
                    </a:solidFill>
                  </a:tcPr>
                </a:tc>
                <a:tc>
                  <a:txBody>
                    <a:bodyPr/>
                    <a:lstStyle/>
                    <a:p>
                      <a:pPr algn="ctr">
                        <a:defRPr sz="1000">
                          <a:latin typeface="Montserrat"/>
                        </a:defRPr>
                      </a:pPr>
                      <a:r>
                        <a:t>94,869</a:t>
                      </a:r>
                    </a:p>
                  </a:txBody>
                  <a:tcPr marL="0" marR="0" marT="0" marB="0">
                    <a:solidFill>
                      <a:srgbClr val="ECD3D9"/>
                    </a:solidFill>
                  </a:tcPr>
                </a:tc>
                <a:tc>
                  <a:txBody>
                    <a:bodyPr/>
                    <a:lstStyle/>
                    <a:p>
                      <a:pPr algn="ctr">
                        <a:defRPr sz="1000">
                          <a:latin typeface="Montserrat"/>
                        </a:defRPr>
                      </a:pPr>
                      <a:r>
                        <a:t>241,164</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22 Independecia</a:t>
                      </a:r>
                    </a:p>
                  </a:txBody>
                  <a:tcPr marL="0" marR="0" marT="0" marB="0">
                    <a:solidFill>
                      <a:srgbClr val="FFFFFF"/>
                    </a:solidFill>
                  </a:tcPr>
                </a:tc>
                <a:tc>
                  <a:txBody>
                    <a:bodyPr/>
                    <a:lstStyle/>
                    <a:p>
                      <a:pPr algn="ctr">
                        <a:defRPr sz="1000">
                          <a:latin typeface="Montserrat"/>
                        </a:defRPr>
                      </a:pPr>
                      <a:r>
                        <a:t>226,147</a:t>
                      </a:r>
                    </a:p>
                  </a:txBody>
                  <a:tcPr marL="0" marR="0" marT="0" marB="0">
                    <a:solidFill>
                      <a:srgbClr val="FFFFFF"/>
                    </a:solidFill>
                  </a:tcPr>
                </a:tc>
                <a:tc>
                  <a:txBody>
                    <a:bodyPr/>
                    <a:lstStyle/>
                    <a:p>
                      <a:pPr algn="ctr">
                        <a:defRPr sz="1000">
                          <a:latin typeface="Montserrat"/>
                        </a:defRPr>
                      </a:pPr>
                      <a:r>
                        <a:t>2,246</a:t>
                      </a:r>
                    </a:p>
                  </a:txBody>
                  <a:tcPr marL="0" marR="0" marT="0" marB="0">
                    <a:solidFill>
                      <a:srgbClr val="FFFFFF"/>
                    </a:solidFill>
                  </a:tcPr>
                </a:tc>
                <a:tc>
                  <a:txBody>
                    <a:bodyPr/>
                    <a:lstStyle/>
                    <a:p>
                      <a:pPr algn="ctr">
                        <a:defRPr sz="1000">
                          <a:latin typeface="Montserrat"/>
                        </a:defRPr>
                      </a:pPr>
                      <a:r>
                        <a:t>90,646</a:t>
                      </a:r>
                    </a:p>
                  </a:txBody>
                  <a:tcPr marL="0" marR="0" marT="0" marB="0">
                    <a:solidFill>
                      <a:srgbClr val="ECD3D9"/>
                    </a:solidFill>
                  </a:tcPr>
                </a:tc>
                <a:tc>
                  <a:txBody>
                    <a:bodyPr/>
                    <a:lstStyle/>
                    <a:p>
                      <a:pPr algn="ctr">
                        <a:defRPr sz="1000">
                          <a:latin typeface="Montserrat"/>
                        </a:defRPr>
                      </a:pPr>
                      <a:r>
                        <a:t>219,000</a:t>
                      </a:r>
                    </a:p>
                  </a:txBody>
                  <a:tcPr marL="0" marR="0" marT="0" marB="0">
                    <a:solidFill>
                      <a:srgbClr val="ECD3D9"/>
                    </a:solidFill>
                  </a:tcPr>
                </a:tc>
                <a:tc>
                  <a:txBody>
                    <a:bodyPr/>
                    <a:lstStyle/>
                    <a:p>
                      <a:pPr algn="ctr">
                        <a:defRPr sz="1000">
                          <a:latin typeface="Montserrat"/>
                        </a:defRPr>
                      </a:pPr>
                      <a:r>
                        <a:t>41.4%</a:t>
                      </a:r>
                    </a:p>
                  </a:txBody>
                  <a:tcPr marL="0" marR="0" marT="0" marB="0">
                    <a:solidFill>
                      <a:srgbClr val="ECD3D9"/>
                    </a:solidFill>
                  </a:tcPr>
                </a:tc>
              </a:tr>
              <a:tr h="151200">
                <a:tc>
                  <a:txBody>
                    <a:bodyPr/>
                    <a:lstStyle/>
                    <a:p>
                      <a:pPr algn="l">
                        <a:defRPr sz="1000">
                          <a:latin typeface="Montserrat"/>
                        </a:defRPr>
                      </a:pPr>
                      <a:r>
                        <a:t>UMF 20 Vallejo</a:t>
                      </a:r>
                    </a:p>
                  </a:txBody>
                  <a:tcPr marL="0" marR="0" marT="0" marB="0">
                    <a:solidFill>
                      <a:srgbClr val="EFEFEF"/>
                    </a:solidFill>
                  </a:tcPr>
                </a:tc>
                <a:tc>
                  <a:txBody>
                    <a:bodyPr/>
                    <a:lstStyle/>
                    <a:p>
                      <a:pPr algn="ctr">
                        <a:defRPr sz="1000">
                          <a:latin typeface="Montserrat"/>
                        </a:defRPr>
                      </a:pPr>
                      <a:r>
                        <a:t>372,083</a:t>
                      </a:r>
                    </a:p>
                  </a:txBody>
                  <a:tcPr marL="0" marR="0" marT="0" marB="0">
                    <a:solidFill>
                      <a:srgbClr val="EFEFEF"/>
                    </a:solidFill>
                  </a:tcPr>
                </a:tc>
                <a:tc>
                  <a:txBody>
                    <a:bodyPr/>
                    <a:lstStyle/>
                    <a:p>
                      <a:pPr algn="ctr">
                        <a:defRPr sz="1000">
                          <a:latin typeface="Montserrat"/>
                        </a:defRPr>
                      </a:pPr>
                      <a:r>
                        <a:t>67,604</a:t>
                      </a:r>
                    </a:p>
                  </a:txBody>
                  <a:tcPr marL="0" marR="0" marT="0" marB="0">
                    <a:solidFill>
                      <a:srgbClr val="EFEFEF"/>
                    </a:solidFill>
                  </a:tcPr>
                </a:tc>
                <a:tc>
                  <a:txBody>
                    <a:bodyPr/>
                    <a:lstStyle/>
                    <a:p>
                      <a:pPr algn="ctr">
                        <a:defRPr sz="1000">
                          <a:latin typeface="Montserrat"/>
                        </a:defRPr>
                      </a:pPr>
                      <a:r>
                        <a:t>149,201</a:t>
                      </a:r>
                    </a:p>
                  </a:txBody>
                  <a:tcPr marL="0" marR="0" marT="0" marB="0">
                    <a:solidFill>
                      <a:srgbClr val="ECD3D9"/>
                    </a:solidFill>
                  </a:tcPr>
                </a:tc>
                <a:tc>
                  <a:txBody>
                    <a:bodyPr/>
                    <a:lstStyle/>
                    <a:p>
                      <a:pPr algn="ctr">
                        <a:defRPr sz="1000">
                          <a:latin typeface="Montserrat"/>
                        </a:defRPr>
                      </a:pPr>
                      <a:r>
                        <a:t>375,840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40 Azcapotzalco</a:t>
                      </a:r>
                    </a:p>
                  </a:txBody>
                  <a:tcPr marL="0" marR="0" marT="0" marB="0">
                    <a:solidFill>
                      <a:srgbClr val="FFFFFF"/>
                    </a:solidFill>
                  </a:tcPr>
                </a:tc>
                <a:tc>
                  <a:txBody>
                    <a:bodyPr/>
                    <a:lstStyle/>
                    <a:p>
                      <a:pPr algn="ctr">
                        <a:defRPr sz="1000">
                          <a:latin typeface="Montserrat"/>
                        </a:defRPr>
                      </a:pPr>
                      <a:r>
                        <a:t>127,283</a:t>
                      </a:r>
                    </a:p>
                  </a:txBody>
                  <a:tcPr marL="0" marR="0" marT="0" marB="0">
                    <a:solidFill>
                      <a:srgbClr val="FFFFFF"/>
                    </a:solidFill>
                  </a:tcPr>
                </a:tc>
                <a:tc>
                  <a:txBody>
                    <a:bodyPr/>
                    <a:lstStyle/>
                    <a:p>
                      <a:pPr algn="ctr">
                        <a:defRPr sz="1000">
                          <a:latin typeface="Montserrat"/>
                        </a:defRPr>
                      </a:pPr>
                      <a:r>
                        <a:t>3,565</a:t>
                      </a:r>
                    </a:p>
                  </a:txBody>
                  <a:tcPr marL="0" marR="0" marT="0" marB="0">
                    <a:solidFill>
                      <a:srgbClr val="FFFFFF"/>
                    </a:solidFill>
                  </a:tcPr>
                </a:tc>
                <a:tc>
                  <a:txBody>
                    <a:bodyPr/>
                    <a:lstStyle/>
                    <a:p>
                      <a:pPr algn="ctr">
                        <a:defRPr sz="1000">
                          <a:latin typeface="Montserrat"/>
                        </a:defRPr>
                      </a:pPr>
                      <a:r>
                        <a:t>52,771</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36 C. Atzacoalco</a:t>
                      </a:r>
                    </a:p>
                  </a:txBody>
                  <a:tcPr marL="0" marR="0" marT="0" marB="0">
                    <a:solidFill>
                      <a:srgbClr val="EFEFEF"/>
                    </a:solidFill>
                  </a:tcPr>
                </a:tc>
                <a:tc>
                  <a:txBody>
                    <a:bodyPr/>
                    <a:lstStyle/>
                    <a:p>
                      <a:pPr algn="ctr">
                        <a:defRPr sz="1000">
                          <a:latin typeface="Montserrat"/>
                        </a:defRPr>
                      </a:pPr>
                      <a:r>
                        <a:t>132,523</a:t>
                      </a:r>
                    </a:p>
                  </a:txBody>
                  <a:tcPr marL="0" marR="0" marT="0" marB="0">
                    <a:solidFill>
                      <a:srgbClr val="EFEFEF"/>
                    </a:solidFill>
                  </a:tcPr>
                </a:tc>
                <a:tc>
                  <a:txBody>
                    <a:bodyPr/>
                    <a:lstStyle/>
                    <a:p>
                      <a:pPr algn="ctr">
                        <a:defRPr sz="1000">
                          <a:latin typeface="Montserrat"/>
                        </a:defRPr>
                      </a:pPr>
                      <a:r>
                        <a:t>1,407</a:t>
                      </a:r>
                    </a:p>
                  </a:txBody>
                  <a:tcPr marL="0" marR="0" marT="0" marB="0">
                    <a:solidFill>
                      <a:srgbClr val="EFEFEF"/>
                    </a:solidFill>
                  </a:tcPr>
                </a:tc>
                <a:tc>
                  <a:txBody>
                    <a:bodyPr/>
                    <a:lstStyle/>
                    <a:p>
                      <a:pPr algn="ctr">
                        <a:defRPr sz="1000">
                          <a:latin typeface="Montserrat"/>
                        </a:defRPr>
                      </a:pPr>
                      <a:r>
                        <a:t>53,837</a:t>
                      </a:r>
                    </a:p>
                  </a:txBody>
                  <a:tcPr marL="0" marR="0" marT="0" marB="0">
                    <a:solidFill>
                      <a:srgbClr val="ECD3D9"/>
                    </a:solidFill>
                  </a:tcPr>
                </a:tc>
                <a:tc>
                  <a:txBody>
                    <a:bodyPr/>
                    <a:lstStyle/>
                    <a:p>
                      <a:pPr algn="ctr">
                        <a:defRPr sz="1000">
                          <a:latin typeface="Montserrat"/>
                        </a:defRPr>
                      </a:pPr>
                      <a:r>
                        <a:t>129,000</a:t>
                      </a:r>
                    </a:p>
                  </a:txBody>
                  <a:tcPr marL="0" marR="0" marT="0" marB="0">
                    <a:solidFill>
                      <a:srgbClr val="ECD3D9"/>
                    </a:solidFill>
                  </a:tcPr>
                </a:tc>
                <a:tc>
                  <a:txBody>
                    <a:bodyPr/>
                    <a:lstStyle/>
                    <a:p>
                      <a:pPr algn="ctr">
                        <a:defRPr sz="1000">
                          <a:latin typeface="Montserrat"/>
                        </a:defRPr>
                      </a:pPr>
                      <a:r>
                        <a:t>41.7%</a:t>
                      </a:r>
                    </a:p>
                  </a:txBody>
                  <a:tcPr marL="0" marR="0" marT="0" marB="0">
                    <a:solidFill>
                      <a:srgbClr val="ECD3D9"/>
                    </a:solidFill>
                  </a:tcPr>
                </a:tc>
              </a:tr>
              <a:tr h="151200">
                <a:tc>
                  <a:txBody>
                    <a:bodyPr/>
                    <a:lstStyle/>
                    <a:p>
                      <a:pPr algn="l">
                        <a:defRPr sz="1000">
                          <a:latin typeface="Montserrat"/>
                        </a:defRPr>
                      </a:pPr>
                      <a:r>
                        <a:t>UMF 38 CFE. Parque España</a:t>
                      </a:r>
                    </a:p>
                  </a:txBody>
                  <a:tcPr marL="0" marR="0" marT="0" marB="0">
                    <a:solidFill>
                      <a:srgbClr val="FFFFFF"/>
                    </a:solidFill>
                  </a:tcPr>
                </a:tc>
                <a:tc>
                  <a:txBody>
                    <a:bodyPr/>
                    <a:lstStyle/>
                    <a:p>
                      <a:pPr algn="ctr">
                        <a:defRPr sz="1000">
                          <a:latin typeface="Montserrat"/>
                        </a:defRPr>
                      </a:pPr>
                      <a:r>
                        <a:t>18,042</a:t>
                      </a:r>
                    </a:p>
                  </a:txBody>
                  <a:tcPr marL="0" marR="0" marT="0" marB="0">
                    <a:solidFill>
                      <a:srgbClr val="FFFFFF"/>
                    </a:solidFill>
                  </a:tcPr>
                </a:tc>
                <a:tc>
                  <a:txBody>
                    <a:bodyPr/>
                    <a:lstStyle/>
                    <a:p>
                      <a:pPr algn="ctr">
                        <a:defRPr sz="1000">
                          <a:latin typeface="Montserrat"/>
                        </a:defRPr>
                      </a:pPr>
                      <a:r>
                        <a:t>-173</a:t>
                      </a:r>
                    </a:p>
                  </a:txBody>
                  <a:tcPr marL="0" marR="0" marT="0" marB="0">
                    <a:solidFill>
                      <a:srgbClr val="FFFFFF"/>
                    </a:solidFill>
                  </a:tcPr>
                </a:tc>
                <a:tc>
                  <a:txBody>
                    <a:bodyPr/>
                    <a:lstStyle/>
                    <a:p>
                      <a:pPr algn="ctr">
                        <a:defRPr sz="1000">
                          <a:latin typeface="Montserrat"/>
                        </a:defRPr>
                      </a:pPr>
                      <a:r>
                        <a:t>7,121</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33 Rosario</a:t>
                      </a:r>
                    </a:p>
                  </a:txBody>
                  <a:tcPr marL="0" marR="0" marT="0" marB="0">
                    <a:solidFill>
                      <a:srgbClr val="EFEFEF"/>
                    </a:solidFill>
                  </a:tcPr>
                </a:tc>
                <a:tc>
                  <a:txBody>
                    <a:bodyPr/>
                    <a:lstStyle/>
                    <a:p>
                      <a:pPr algn="ctr">
                        <a:defRPr sz="1000">
                          <a:latin typeface="Montserrat"/>
                        </a:defRPr>
                      </a:pPr>
                      <a:r>
                        <a:t>348,125</a:t>
                      </a:r>
                    </a:p>
                  </a:txBody>
                  <a:tcPr marL="0" marR="0" marT="0" marB="0">
                    <a:solidFill>
                      <a:srgbClr val="EFEFEF"/>
                    </a:solidFill>
                  </a:tcPr>
                </a:tc>
                <a:tc>
                  <a:txBody>
                    <a:bodyPr/>
                    <a:lstStyle/>
                    <a:p>
                      <a:pPr algn="ctr">
                        <a:defRPr sz="1000">
                          <a:latin typeface="Montserrat"/>
                        </a:defRPr>
                      </a:pPr>
                      <a:r>
                        <a:t>27,560</a:t>
                      </a:r>
                    </a:p>
                  </a:txBody>
                  <a:tcPr marL="0" marR="0" marT="0" marB="0">
                    <a:solidFill>
                      <a:srgbClr val="EFEFEF"/>
                    </a:solidFill>
                  </a:tcPr>
                </a:tc>
                <a:tc>
                  <a:txBody>
                    <a:bodyPr/>
                    <a:lstStyle/>
                    <a:p>
                      <a:pPr algn="ctr">
                        <a:defRPr sz="1000">
                          <a:latin typeface="Montserrat"/>
                        </a:defRPr>
                      </a:pPr>
                      <a:r>
                        <a:t>133,069</a:t>
                      </a:r>
                    </a:p>
                  </a:txBody>
                  <a:tcPr marL="0" marR="0" marT="0" marB="0">
                    <a:solidFill>
                      <a:srgbClr val="ECD3D9"/>
                    </a:solidFill>
                  </a:tcPr>
                </a:tc>
                <a:tc>
                  <a:txBody>
                    <a:bodyPr/>
                    <a:lstStyle/>
                    <a:p>
                      <a:pPr algn="ctr">
                        <a:defRPr sz="1000">
                          <a:latin typeface="Montserrat"/>
                        </a:defRPr>
                      </a:pPr>
                      <a:r>
                        <a:t>338,256</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41 Fortuna</a:t>
                      </a:r>
                    </a:p>
                  </a:txBody>
                  <a:tcPr marL="0" marR="0" marT="0" marB="0">
                    <a:solidFill>
                      <a:srgbClr val="FFFFFF"/>
                    </a:solidFill>
                  </a:tcPr>
                </a:tc>
                <a:tc>
                  <a:txBody>
                    <a:bodyPr/>
                    <a:lstStyle/>
                    <a:p>
                      <a:pPr algn="ctr">
                        <a:defRPr sz="1000">
                          <a:latin typeface="Montserrat"/>
                        </a:defRPr>
                      </a:pPr>
                      <a:r>
                        <a:t>380,764</a:t>
                      </a:r>
                    </a:p>
                  </a:txBody>
                  <a:tcPr marL="0" marR="0" marT="0" marB="0">
                    <a:solidFill>
                      <a:srgbClr val="FFFFFF"/>
                    </a:solidFill>
                  </a:tcPr>
                </a:tc>
                <a:tc>
                  <a:txBody>
                    <a:bodyPr/>
                    <a:lstStyle/>
                    <a:p>
                      <a:pPr algn="ctr">
                        <a:defRPr sz="1000">
                          <a:latin typeface="Montserrat"/>
                        </a:defRPr>
                      </a:pPr>
                      <a:r>
                        <a:t>25,722</a:t>
                      </a:r>
                    </a:p>
                  </a:txBody>
                  <a:tcPr marL="0" marR="0" marT="0" marB="0">
                    <a:solidFill>
                      <a:srgbClr val="FFFFFF"/>
                    </a:solidFill>
                  </a:tcPr>
                </a:tc>
                <a:tc>
                  <a:txBody>
                    <a:bodyPr/>
                    <a:lstStyle/>
                    <a:p>
                      <a:pPr algn="ctr">
                        <a:defRPr sz="1000">
                          <a:latin typeface="Montserrat"/>
                        </a:defRPr>
                      </a:pPr>
                      <a:r>
                        <a:t>157,238</a:t>
                      </a:r>
                    </a:p>
                  </a:txBody>
                  <a:tcPr marL="0" marR="0" marT="0" marB="0">
                    <a:solidFill>
                      <a:srgbClr val="ECD3D9"/>
                    </a:solidFill>
                  </a:tcPr>
                </a:tc>
                <a:tc>
                  <a:txBody>
                    <a:bodyPr/>
                    <a:lstStyle/>
                    <a:p>
                      <a:pPr algn="ctr">
                        <a:defRPr sz="1000">
                          <a:latin typeface="Montserrat"/>
                        </a:defRPr>
                      </a:pPr>
                      <a:r>
                        <a:t>375,840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 35 C. 7 Zaragoza</a:t>
                      </a:r>
                    </a:p>
                  </a:txBody>
                  <a:tcPr marL="0" marR="0" marT="0" marB="0">
                    <a:solidFill>
                      <a:srgbClr val="EFEFEF"/>
                    </a:solidFill>
                  </a:tcPr>
                </a:tc>
                <a:tc>
                  <a:txBody>
                    <a:bodyPr/>
                    <a:lstStyle/>
                    <a:p>
                      <a:pPr algn="ctr">
                        <a:defRPr sz="1000">
                          <a:latin typeface="Montserrat"/>
                        </a:defRPr>
                      </a:pPr>
                      <a:r>
                        <a:t>283,180</a:t>
                      </a:r>
                    </a:p>
                  </a:txBody>
                  <a:tcPr marL="0" marR="0" marT="0" marB="0">
                    <a:solidFill>
                      <a:srgbClr val="EFEFEF"/>
                    </a:solidFill>
                  </a:tcPr>
                </a:tc>
                <a:tc>
                  <a:txBody>
                    <a:bodyPr/>
                    <a:lstStyle/>
                    <a:p>
                      <a:pPr algn="ctr">
                        <a:defRPr sz="1000">
                          <a:latin typeface="Montserrat"/>
                        </a:defRPr>
                      </a:pPr>
                      <a:r>
                        <a:t>10,407</a:t>
                      </a:r>
                    </a:p>
                  </a:txBody>
                  <a:tcPr marL="0" marR="0" marT="0" marB="0">
                    <a:solidFill>
                      <a:srgbClr val="EFEFEF"/>
                    </a:solidFill>
                  </a:tcPr>
                </a:tc>
                <a:tc>
                  <a:txBody>
                    <a:bodyPr/>
                    <a:lstStyle/>
                    <a:p>
                      <a:pPr algn="ctr">
                        <a:defRPr sz="1000">
                          <a:latin typeface="Montserrat"/>
                        </a:defRPr>
                      </a:pPr>
                      <a:r>
                        <a:t>115,960</a:t>
                      </a:r>
                    </a:p>
                  </a:txBody>
                  <a:tcPr marL="0" marR="0" marT="0" marB="0">
                    <a:solidFill>
                      <a:srgbClr val="ECD3D9"/>
                    </a:solidFill>
                  </a:tcPr>
                </a:tc>
                <a:tc>
                  <a:txBody>
                    <a:bodyPr/>
                    <a:lstStyle/>
                    <a:p>
                      <a:pPr algn="ctr">
                        <a:defRPr sz="1000">
                          <a:latin typeface="Montserrat"/>
                        </a:defRPr>
                      </a:pPr>
                      <a:r>
                        <a:t>275,616</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45 Iztacalco</a:t>
                      </a:r>
                    </a:p>
                  </a:txBody>
                  <a:tcPr marL="0" marR="0" marT="0" marB="0">
                    <a:solidFill>
                      <a:srgbClr val="FFFFFF"/>
                    </a:solidFill>
                  </a:tcPr>
                </a:tc>
                <a:tc>
                  <a:txBody>
                    <a:bodyPr/>
                    <a:lstStyle/>
                    <a:p>
                      <a:pPr algn="ctr">
                        <a:defRPr sz="1000">
                          <a:latin typeface="Montserrat"/>
                        </a:defRPr>
                      </a:pPr>
                      <a:r>
                        <a:t>232,956</a:t>
                      </a:r>
                    </a:p>
                  </a:txBody>
                  <a:tcPr marL="0" marR="0" marT="0" marB="0">
                    <a:solidFill>
                      <a:srgbClr val="FFFFFF"/>
                    </a:solidFill>
                  </a:tcPr>
                </a:tc>
                <a:tc>
                  <a:txBody>
                    <a:bodyPr/>
                    <a:lstStyle/>
                    <a:p>
                      <a:pPr algn="ctr">
                        <a:defRPr sz="1000">
                          <a:latin typeface="Montserrat"/>
                        </a:defRPr>
                      </a:pPr>
                      <a:r>
                        <a:t>11,897</a:t>
                      </a:r>
                    </a:p>
                  </a:txBody>
                  <a:tcPr marL="0" marR="0" marT="0" marB="0">
                    <a:solidFill>
                      <a:srgbClr val="FFFFFF"/>
                    </a:solidFill>
                  </a:tcPr>
                </a:tc>
                <a:tc>
                  <a:txBody>
                    <a:bodyPr/>
                    <a:lstStyle/>
                    <a:p>
                      <a:pPr algn="ctr">
                        <a:defRPr sz="1000">
                          <a:latin typeface="Montserrat"/>
                        </a:defRPr>
                      </a:pPr>
                      <a:r>
                        <a:t>93,237</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44 La Escalera</a:t>
                      </a:r>
                    </a:p>
                  </a:txBody>
                  <a:tcPr marL="0" marR="0" marT="0" marB="0">
                    <a:solidFill>
                      <a:srgbClr val="EFEFEF"/>
                    </a:solidFill>
                  </a:tcPr>
                </a:tc>
                <a:tc>
                  <a:txBody>
                    <a:bodyPr/>
                    <a:lstStyle/>
                    <a:p>
                      <a:pPr algn="ctr">
                        <a:defRPr sz="1000">
                          <a:latin typeface="Montserrat"/>
                        </a:defRPr>
                      </a:pPr>
                      <a:r>
                        <a:t>138,065</a:t>
                      </a:r>
                    </a:p>
                  </a:txBody>
                  <a:tcPr marL="0" marR="0" marT="0" marB="0">
                    <a:solidFill>
                      <a:srgbClr val="EFEFEF"/>
                    </a:solidFill>
                  </a:tcPr>
                </a:tc>
                <a:tc>
                  <a:txBody>
                    <a:bodyPr/>
                    <a:lstStyle/>
                    <a:p>
                      <a:pPr algn="ctr">
                        <a:defRPr sz="1000">
                          <a:latin typeface="Montserrat"/>
                        </a:defRPr>
                      </a:pPr>
                      <a:r>
                        <a:t>1,937</a:t>
                      </a:r>
                    </a:p>
                  </a:txBody>
                  <a:tcPr marL="0" marR="0" marT="0" marB="0">
                    <a:solidFill>
                      <a:srgbClr val="EFEFEF"/>
                    </a:solidFill>
                  </a:tcPr>
                </a:tc>
                <a:tc>
                  <a:txBody>
                    <a:bodyPr/>
                    <a:lstStyle/>
                    <a:p>
                      <a:pPr algn="ctr">
                        <a:defRPr sz="1000">
                          <a:latin typeface="Montserrat"/>
                        </a:defRPr>
                      </a:pPr>
                      <a:r>
                        <a:t>55,871</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l">
                        <a:defRPr sz="1000">
                          <a:latin typeface="Montserrat"/>
                        </a:defRPr>
                      </a:pPr>
                      <a:r>
                        <a:t>UMF 160 El Vergel</a:t>
                      </a:r>
                    </a:p>
                  </a:txBody>
                  <a:tcPr marL="0" marR="0" marT="0" marB="0">
                    <a:solidFill>
                      <a:srgbClr val="FFFFFF"/>
                    </a:solidFill>
                  </a:tcPr>
                </a:tc>
                <a:tc>
                  <a:txBody>
                    <a:bodyPr/>
                    <a:lstStyle/>
                    <a:p>
                      <a:pPr algn="ctr">
                        <a:defRPr sz="1000">
                          <a:latin typeface="Montserrat"/>
                        </a:defRPr>
                      </a:pPr>
                      <a:r>
                        <a:t>246,588</a:t>
                      </a:r>
                    </a:p>
                  </a:txBody>
                  <a:tcPr marL="0" marR="0" marT="0" marB="0">
                    <a:solidFill>
                      <a:srgbClr val="FFFFFF"/>
                    </a:solidFill>
                  </a:tcPr>
                </a:tc>
                <a:tc>
                  <a:txBody>
                    <a:bodyPr/>
                    <a:lstStyle/>
                    <a:p>
                      <a:pPr algn="ctr">
                        <a:defRPr sz="1000">
                          <a:latin typeface="Montserrat"/>
                        </a:defRPr>
                      </a:pPr>
                      <a:r>
                        <a:t>7,702</a:t>
                      </a:r>
                    </a:p>
                  </a:txBody>
                  <a:tcPr marL="0" marR="0" marT="0" marB="0">
                    <a:solidFill>
                      <a:srgbClr val="FFFFFF"/>
                    </a:solidFill>
                  </a:tcPr>
                </a:tc>
                <a:tc>
                  <a:txBody>
                    <a:bodyPr/>
                    <a:lstStyle/>
                    <a:p>
                      <a:pPr algn="ctr">
                        <a:defRPr sz="1000">
                          <a:latin typeface="Montserrat"/>
                        </a:defRPr>
                      </a:pPr>
                      <a:r>
                        <a:t>99,300</a:t>
                      </a:r>
                    </a:p>
                  </a:txBody>
                  <a:tcPr marL="0" marR="0" marT="0" marB="0">
                    <a:solidFill>
                      <a:srgbClr val="ECD3D9"/>
                    </a:solidFill>
                  </a:tcPr>
                </a:tc>
                <a:tc>
                  <a:txBody>
                    <a:bodyPr/>
                    <a:lstStyle/>
                    <a:p>
                      <a:pPr algn="ctr">
                        <a:defRPr sz="1000">
                          <a:latin typeface="Montserrat"/>
                        </a:defRPr>
                      </a:pPr>
                      <a:r>
                        <a:t>239,000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6 Merced</a:t>
                      </a:r>
                    </a:p>
                  </a:txBody>
                  <a:tcPr marL="0" marR="0" marT="0" marB="0">
                    <a:solidFill>
                      <a:srgbClr val="EFEFEF"/>
                    </a:solidFill>
                  </a:tcPr>
                </a:tc>
                <a:tc>
                  <a:txBody>
                    <a:bodyPr/>
                    <a:lstStyle/>
                    <a:p>
                      <a:pPr algn="ctr">
                        <a:defRPr sz="1000">
                          <a:latin typeface="Montserrat"/>
                        </a:defRPr>
                      </a:pPr>
                      <a:r>
                        <a:t>103,380</a:t>
                      </a:r>
                    </a:p>
                  </a:txBody>
                  <a:tcPr marL="0" marR="0" marT="0" marB="0">
                    <a:solidFill>
                      <a:srgbClr val="EFEFEF"/>
                    </a:solidFill>
                  </a:tcPr>
                </a:tc>
                <a:tc>
                  <a:txBody>
                    <a:bodyPr/>
                    <a:lstStyle/>
                    <a:p>
                      <a:pPr algn="ctr">
                        <a:defRPr sz="1000">
                          <a:latin typeface="Montserrat"/>
                        </a:defRPr>
                      </a:pPr>
                      <a:r>
                        <a:t>-24,042</a:t>
                      </a:r>
                    </a:p>
                  </a:txBody>
                  <a:tcPr marL="0" marR="0" marT="0" marB="0">
                    <a:solidFill>
                      <a:srgbClr val="EFEFEF"/>
                    </a:solidFill>
                  </a:tcPr>
                </a:tc>
                <a:tc>
                  <a:txBody>
                    <a:bodyPr/>
                    <a:lstStyle/>
                    <a:p>
                      <a:pPr algn="ctr">
                        <a:defRPr sz="1000">
                          <a:latin typeface="Montserrat"/>
                        </a:defRPr>
                      </a:pPr>
                      <a:r>
                        <a:t>41,047</a:t>
                      </a:r>
                    </a:p>
                  </a:txBody>
                  <a:tcPr marL="0" marR="0" marT="0" marB="0">
                    <a:solidFill>
                      <a:srgbClr val="ECD3D9"/>
                    </a:solidFill>
                  </a:tcPr>
                </a:tc>
                <a:tc>
                  <a:txBody>
                    <a:bodyPr/>
                    <a:lstStyle/>
                    <a:p>
                      <a:pPr algn="ctr">
                        <a:defRPr sz="1000">
                          <a:latin typeface="Montserrat"/>
                        </a:defRPr>
                      </a:pPr>
                      <a:r>
                        <a:t>101,000</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tr>
              <a:tr h="151200">
                <a:tc>
                  <a:txBody>
                    <a:bodyPr/>
                    <a:lstStyle/>
                    <a:p>
                      <a:pPr algn="l">
                        <a:defRPr sz="1000">
                          <a:latin typeface="Montserrat"/>
                        </a:defRPr>
                      </a:pPr>
                      <a:r>
                        <a:t>UMF 39 CFE. Xola</a:t>
                      </a:r>
                    </a:p>
                  </a:txBody>
                  <a:tcPr marL="0" marR="0" marT="0" marB="0">
                    <a:solidFill>
                      <a:srgbClr val="FFFFFF"/>
                    </a:solidFill>
                  </a:tcPr>
                </a:tc>
                <a:tc>
                  <a:txBody>
                    <a:bodyPr/>
                    <a:lstStyle/>
                    <a:p>
                      <a:pPr algn="ctr">
                        <a:defRPr sz="1000">
                          <a:latin typeface="Montserrat"/>
                        </a:defRPr>
                      </a:pPr>
                      <a:r>
                        <a:t>18,393</a:t>
                      </a:r>
                    </a:p>
                  </a:txBody>
                  <a:tcPr marL="0" marR="0" marT="0" marB="0">
                    <a:solidFill>
                      <a:srgbClr val="FFFFFF"/>
                    </a:solidFill>
                  </a:tcPr>
                </a:tc>
                <a:tc>
                  <a:txBody>
                    <a:bodyPr/>
                    <a:lstStyle/>
                    <a:p>
                      <a:pPr algn="ctr">
                        <a:defRPr sz="1000">
                          <a:latin typeface="Montserrat"/>
                        </a:defRPr>
                      </a:pPr>
                      <a:r>
                        <a:t>1,813</a:t>
                      </a:r>
                    </a:p>
                  </a:txBody>
                  <a:tcPr marL="0" marR="0" marT="0" marB="0">
                    <a:solidFill>
                      <a:srgbClr val="FFFFFF"/>
                    </a:solidFill>
                  </a:tcPr>
                </a:tc>
                <a:tc>
                  <a:txBody>
                    <a:bodyPr/>
                    <a:lstStyle/>
                    <a:p>
                      <a:pPr algn="ctr">
                        <a:defRPr sz="1000">
                          <a:latin typeface="Montserrat"/>
                        </a:defRPr>
                      </a:pPr>
                      <a:r>
                        <a:t>7,804</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41.1%</a:t>
                      </a:r>
                    </a:p>
                  </a:txBody>
                  <a:tcPr marL="0" marR="0" marT="0" marB="0">
                    <a:solidFill>
                      <a:srgbClr val="ECD3D9"/>
                    </a:solidFill>
                  </a:tcPr>
                </a:tc>
              </a:tr>
              <a:tr h="151200">
                <a:tc>
                  <a:txBody>
                    <a:bodyPr/>
                    <a:lstStyle/>
                    <a:p>
                      <a:pPr algn="l">
                        <a:defRPr sz="1000">
                          <a:latin typeface="Montserrat"/>
                        </a:defRPr>
                      </a:pPr>
                      <a:r>
                        <a:t>UMF 46 Soriano</a:t>
                      </a:r>
                    </a:p>
                  </a:txBody>
                  <a:tcPr marL="0" marR="0" marT="0" marB="0">
                    <a:solidFill>
                      <a:srgbClr val="EFEFEF"/>
                    </a:solidFill>
                  </a:tcPr>
                </a:tc>
                <a:tc>
                  <a:txBody>
                    <a:bodyPr/>
                    <a:lstStyle/>
                    <a:p>
                      <a:pPr algn="ctr">
                        <a:defRPr sz="1000">
                          <a:latin typeface="Montserrat"/>
                        </a:defRPr>
                      </a:pPr>
                      <a:r>
                        <a:t>257,180</a:t>
                      </a:r>
                    </a:p>
                  </a:txBody>
                  <a:tcPr marL="0" marR="0" marT="0" marB="0">
                    <a:solidFill>
                      <a:srgbClr val="EFEFEF"/>
                    </a:solidFill>
                  </a:tcPr>
                </a:tc>
                <a:tc>
                  <a:txBody>
                    <a:bodyPr/>
                    <a:lstStyle/>
                    <a:p>
                      <a:pPr algn="ctr">
                        <a:defRPr sz="1000">
                          <a:latin typeface="Montserrat"/>
                        </a:defRPr>
                      </a:pPr>
                      <a:r>
                        <a:t>20,529</a:t>
                      </a:r>
                    </a:p>
                  </a:txBody>
                  <a:tcPr marL="0" marR="0" marT="0" marB="0">
                    <a:solidFill>
                      <a:srgbClr val="EFEFEF"/>
                    </a:solidFill>
                  </a:tcPr>
                </a:tc>
                <a:tc>
                  <a:txBody>
                    <a:bodyPr/>
                    <a:lstStyle/>
                    <a:p>
                      <a:pPr algn="ctr">
                        <a:defRPr sz="1000">
                          <a:latin typeface="Montserrat"/>
                        </a:defRPr>
                      </a:pPr>
                      <a:r>
                        <a:t>106,244</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UMF-UMAA 161 Av. Toluca</a:t>
                      </a:r>
                    </a:p>
                  </a:txBody>
                  <a:tcPr marL="0" marR="0" marT="0" marB="0">
                    <a:solidFill>
                      <a:srgbClr val="FFFFFF"/>
                    </a:solidFill>
                  </a:tcPr>
                </a:tc>
                <a:tc>
                  <a:txBody>
                    <a:bodyPr/>
                    <a:lstStyle/>
                    <a:p>
                      <a:pPr algn="ctr">
                        <a:defRPr sz="1000">
                          <a:latin typeface="Montserrat"/>
                        </a:defRPr>
                      </a:pPr>
                      <a:r>
                        <a:t>135,760</a:t>
                      </a:r>
                    </a:p>
                  </a:txBody>
                  <a:tcPr marL="0" marR="0" marT="0" marB="0">
                    <a:solidFill>
                      <a:srgbClr val="FFFFFF"/>
                    </a:solidFill>
                  </a:tcPr>
                </a:tc>
                <a:tc>
                  <a:txBody>
                    <a:bodyPr/>
                    <a:lstStyle/>
                    <a:p>
                      <a:pPr algn="ctr">
                        <a:defRPr sz="1000">
                          <a:latin typeface="Montserrat"/>
                        </a:defRPr>
                      </a:pPr>
                      <a:r>
                        <a:t>3,365</a:t>
                      </a:r>
                    </a:p>
                  </a:txBody>
                  <a:tcPr marL="0" marR="0" marT="0" marB="0">
                    <a:solidFill>
                      <a:srgbClr val="FFFFFF"/>
                    </a:solidFill>
                  </a:tcPr>
                </a:tc>
                <a:tc>
                  <a:txBody>
                    <a:bodyPr/>
                    <a:lstStyle/>
                    <a:p>
                      <a:pPr algn="ctr">
                        <a:defRPr sz="1000">
                          <a:latin typeface="Montserrat"/>
                        </a:defRPr>
                      </a:pPr>
                      <a:r>
                        <a:t>56,379</a:t>
                      </a:r>
                    </a:p>
                  </a:txBody>
                  <a:tcPr marL="0" marR="0" marT="0" marB="0">
                    <a:solidFill>
                      <a:srgbClr val="ECD3D9"/>
                    </a:solidFill>
                  </a:tcPr>
                </a:tc>
                <a:tc>
                  <a:txBody>
                    <a:bodyPr/>
                    <a:lstStyle/>
                    <a:p>
                      <a:pPr algn="ctr">
                        <a:defRPr sz="1000">
                          <a:latin typeface="Montserrat"/>
                        </a:defRPr>
                      </a:pPr>
                      <a:r>
                        <a:t>131,000</a:t>
                      </a:r>
                    </a:p>
                  </a:txBody>
                  <a:tcPr marL="0" marR="0" marT="0" marB="0">
                    <a:solidFill>
                      <a:srgbClr val="ECD3D9"/>
                    </a:solidFill>
                  </a:tcPr>
                </a:tc>
                <a:tc>
                  <a:txBody>
                    <a:bodyPr/>
                    <a:lstStyle/>
                    <a:p>
                      <a:pPr algn="ctr">
                        <a:defRPr sz="1000">
                          <a:latin typeface="Montserrat"/>
                        </a:defRPr>
                      </a:pPr>
                      <a:r>
                        <a:t>43.0%</a:t>
                      </a:r>
                    </a:p>
                  </a:txBody>
                  <a:tcPr marL="0" marR="0" marT="0" marB="0">
                    <a:solidFill>
                      <a:srgbClr val="ECD3D9"/>
                    </a:solidFill>
                  </a:tcPr>
                </a:tc>
              </a:tr>
              <a:tr h="151200">
                <a:tc>
                  <a:txBody>
                    <a:bodyPr/>
                    <a:lstStyle/>
                    <a:p>
                      <a:pPr algn="l">
                        <a:defRPr sz="1000">
                          <a:latin typeface="Montserrat"/>
                        </a:defRPr>
                      </a:pPr>
                      <a:r>
                        <a:t>UMF 1 Col. Roma</a:t>
                      </a:r>
                    </a:p>
                  </a:txBody>
                  <a:tcPr marL="0" marR="0" marT="0" marB="0">
                    <a:solidFill>
                      <a:srgbClr val="EFEFEF"/>
                    </a:solidFill>
                  </a:tcPr>
                </a:tc>
                <a:tc>
                  <a:txBody>
                    <a:bodyPr/>
                    <a:lstStyle/>
                    <a:p>
                      <a:pPr algn="ctr">
                        <a:defRPr sz="1000">
                          <a:latin typeface="Montserrat"/>
                        </a:defRPr>
                      </a:pPr>
                      <a:r>
                        <a:t>133,159</a:t>
                      </a:r>
                    </a:p>
                  </a:txBody>
                  <a:tcPr marL="0" marR="0" marT="0" marB="0">
                    <a:solidFill>
                      <a:srgbClr val="EFEFEF"/>
                    </a:solidFill>
                  </a:tcPr>
                </a:tc>
                <a:tc>
                  <a:txBody>
                    <a:bodyPr/>
                    <a:lstStyle/>
                    <a:p>
                      <a:pPr algn="ctr">
                        <a:defRPr sz="1000">
                          <a:latin typeface="Montserrat"/>
                        </a:defRPr>
                      </a:pPr>
                      <a:r>
                        <a:t>-5,999</a:t>
                      </a:r>
                    </a:p>
                  </a:txBody>
                  <a:tcPr marL="0" marR="0" marT="0" marB="0">
                    <a:solidFill>
                      <a:srgbClr val="EFEFEF"/>
                    </a:solidFill>
                  </a:tcPr>
                </a:tc>
                <a:tc>
                  <a:txBody>
                    <a:bodyPr/>
                    <a:lstStyle/>
                    <a:p>
                      <a:pPr algn="ctr">
                        <a:defRPr sz="1000">
                          <a:latin typeface="Montserrat"/>
                        </a:defRPr>
                      </a:pPr>
                      <a:r>
                        <a:t>53,204</a:t>
                      </a:r>
                    </a:p>
                  </a:txBody>
                  <a:tcPr marL="0" marR="0" marT="0" marB="0">
                    <a:solidFill>
                      <a:srgbClr val="ECD3D9"/>
                    </a:solidFill>
                  </a:tcPr>
                </a:tc>
                <a:tc>
                  <a:txBody>
                    <a:bodyPr/>
                    <a:lstStyle/>
                    <a:p>
                      <a:pPr algn="ctr">
                        <a:defRPr sz="1000">
                          <a:latin typeface="Montserrat"/>
                        </a:defRPr>
                      </a:pPr>
                      <a:r>
                        <a:t>129,000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13 Azcapotzalco</a:t>
                      </a:r>
                    </a:p>
                  </a:txBody>
                  <a:tcPr marL="0" marR="0" marT="0" marB="0">
                    <a:solidFill>
                      <a:srgbClr val="FFFFFF"/>
                    </a:solidFill>
                  </a:tcPr>
                </a:tc>
                <a:tc>
                  <a:txBody>
                    <a:bodyPr/>
                    <a:lstStyle/>
                    <a:p>
                      <a:pPr algn="ctr">
                        <a:defRPr sz="1000">
                          <a:latin typeface="Montserrat"/>
                        </a:defRPr>
                      </a:pPr>
                      <a:r>
                        <a:t>242,218</a:t>
                      </a:r>
                    </a:p>
                  </a:txBody>
                  <a:tcPr marL="0" marR="0" marT="0" marB="0">
                    <a:solidFill>
                      <a:srgbClr val="FFFFFF"/>
                    </a:solidFill>
                  </a:tcPr>
                </a:tc>
                <a:tc>
                  <a:txBody>
                    <a:bodyPr/>
                    <a:lstStyle/>
                    <a:p>
                      <a:pPr algn="ctr">
                        <a:defRPr sz="1000">
                          <a:latin typeface="Montserrat"/>
                        </a:defRPr>
                      </a:pPr>
                      <a:r>
                        <a:t>11,030</a:t>
                      </a:r>
                    </a:p>
                  </a:txBody>
                  <a:tcPr marL="0" marR="0" marT="0" marB="0">
                    <a:solidFill>
                      <a:srgbClr val="FFFFFF"/>
                    </a:solidFill>
                  </a:tcPr>
                </a:tc>
                <a:tc>
                  <a:txBody>
                    <a:bodyPr/>
                    <a:lstStyle/>
                    <a:p>
                      <a:pPr algn="ctr">
                        <a:defRPr sz="1000">
                          <a:latin typeface="Montserrat"/>
                        </a:defRPr>
                      </a:pPr>
                      <a:r>
                        <a:t>101,518</a:t>
                      </a:r>
                    </a:p>
                  </a:txBody>
                  <a:tcPr marL="0" marR="0" marT="0" marB="0">
                    <a:solidFill>
                      <a:srgbClr val="ECD3D9"/>
                    </a:solidFill>
                  </a:tcPr>
                </a:tc>
                <a:tc>
                  <a:txBody>
                    <a:bodyPr/>
                    <a:lstStyle/>
                    <a:p>
                      <a:pPr algn="ctr">
                        <a:defRPr sz="1000">
                          <a:latin typeface="Montserrat"/>
                        </a:defRPr>
                      </a:pPr>
                      <a:r>
                        <a:t>253,692</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26 Condesa</a:t>
                      </a:r>
                    </a:p>
                  </a:txBody>
                  <a:tcPr marL="0" marR="0" marT="0" marB="0">
                    <a:solidFill>
                      <a:srgbClr val="EFEFEF"/>
                    </a:solidFill>
                  </a:tcPr>
                </a:tc>
                <a:tc>
                  <a:txBody>
                    <a:bodyPr/>
                    <a:lstStyle/>
                    <a:p>
                      <a:pPr algn="ctr">
                        <a:defRPr sz="1000">
                          <a:latin typeface="Montserrat"/>
                        </a:defRPr>
                      </a:pPr>
                      <a:r>
                        <a:t>159,765</a:t>
                      </a:r>
                    </a:p>
                  </a:txBody>
                  <a:tcPr marL="0" marR="0" marT="0" marB="0">
                    <a:solidFill>
                      <a:srgbClr val="EFEFEF"/>
                    </a:solidFill>
                  </a:tcPr>
                </a:tc>
                <a:tc>
                  <a:txBody>
                    <a:bodyPr/>
                    <a:lstStyle/>
                    <a:p>
                      <a:pPr algn="ctr">
                        <a:defRPr sz="1000">
                          <a:latin typeface="Montserrat"/>
                        </a:defRPr>
                      </a:pPr>
                      <a:r>
                        <a:t>17,751</a:t>
                      </a:r>
                    </a:p>
                  </a:txBody>
                  <a:tcPr marL="0" marR="0" marT="0" marB="0">
                    <a:solidFill>
                      <a:srgbClr val="EFEFEF"/>
                    </a:solidFill>
                  </a:tcPr>
                </a:tc>
                <a:tc>
                  <a:txBody>
                    <a:bodyPr/>
                    <a:lstStyle/>
                    <a:p>
                      <a:pPr algn="ctr">
                        <a:defRPr sz="1000">
                          <a:latin typeface="Montserrat"/>
                        </a:defRPr>
                      </a:pPr>
                      <a:r>
                        <a:t>68,408</a:t>
                      </a:r>
                    </a:p>
                  </a:txBody>
                  <a:tcPr marL="0" marR="0" marT="0" marB="0">
                    <a:solidFill>
                      <a:srgbClr val="ECD3D9"/>
                    </a:solidFill>
                  </a:tcPr>
                </a:tc>
                <a:tc>
                  <a:txBody>
                    <a:bodyPr/>
                    <a:lstStyle/>
                    <a:p>
                      <a:pPr algn="ctr">
                        <a:defRPr sz="1000">
                          <a:latin typeface="Montserrat"/>
                        </a:defRPr>
                      </a:pPr>
                      <a:r>
                        <a:t>256,824</a:t>
                      </a:r>
                    </a:p>
                  </a:txBody>
                  <a:tcPr marL="0" marR="0" marT="0" marB="0">
                    <a:solidFill>
                      <a:srgbClr val="ECD3D9"/>
                    </a:solidFill>
                  </a:tcPr>
                </a:tc>
                <a:tc>
                  <a:txBody>
                    <a:bodyPr/>
                    <a:lstStyle/>
                    <a:p>
                      <a:pPr algn="ctr">
                        <a:defRPr sz="1000">
                          <a:latin typeface="Montserrat"/>
                        </a:defRPr>
                      </a:pPr>
                      <a:r>
                        <a:t>26.6%</a:t>
                      </a:r>
                    </a:p>
                  </a:txBody>
                  <a:tcPr marL="0" marR="0" marT="0" marB="0">
                    <a:solidFill>
                      <a:srgbClr val="ECD3D9"/>
                    </a:solidFill>
                  </a:tcPr>
                </a:tc>
              </a:tr>
              <a:tr h="151200">
                <a:tc>
                  <a:txBody>
                    <a:bodyPr/>
                    <a:lstStyle/>
                    <a:p>
                      <a:pPr algn="l">
                        <a:defRPr sz="1000">
                          <a:latin typeface="Montserrat"/>
                        </a:defRPr>
                      </a:pPr>
                      <a:r>
                        <a:t>UMF 15 Lindavista</a:t>
                      </a:r>
                    </a:p>
                  </a:txBody>
                  <a:tcPr marL="0" marR="0" marT="0" marB="0">
                    <a:solidFill>
                      <a:srgbClr val="FFFFFF"/>
                    </a:solidFill>
                  </a:tcPr>
                </a:tc>
                <a:tc>
                  <a:txBody>
                    <a:bodyPr/>
                    <a:lstStyle/>
                    <a:p>
                      <a:pPr algn="ctr">
                        <a:defRPr sz="1000">
                          <a:latin typeface="Montserrat"/>
                        </a:defRPr>
                      </a:pPr>
                      <a:r>
                        <a:t>119,862</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49,719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5,260,276</a:t>
                      </a:r>
                    </a:p>
                  </a:txBody>
                  <a:tcPr marL="0" marR="0" marT="0" marB="0">
                    <a:solidFill>
                      <a:srgbClr val="D3E9E7"/>
                    </a:solidFill>
                  </a:tcPr>
                </a:tc>
                <a:tc>
                  <a:txBody>
                    <a:bodyPr/>
                    <a:lstStyle/>
                    <a:p>
                      <a:pPr algn="ctr">
                        <a:defRPr sz="1000" b="1">
                          <a:solidFill>
                            <a:srgbClr val="006556"/>
                          </a:solidFill>
                          <a:latin typeface="Montserrat"/>
                        </a:defRPr>
                      </a:pPr>
                      <a:r>
                        <a:t>217,659</a:t>
                      </a:r>
                    </a:p>
                  </a:txBody>
                  <a:tcPr marL="0" marR="0" marT="0" marB="0">
                    <a:solidFill>
                      <a:srgbClr val="D3E9E7"/>
                    </a:solidFill>
                  </a:tcPr>
                </a:tc>
                <a:tc>
                  <a:txBody>
                    <a:bodyPr/>
                    <a:lstStyle/>
                    <a:p>
                      <a:pPr algn="ctr">
                        <a:defRPr sz="1000" b="1">
                          <a:solidFill>
                            <a:srgbClr val="FFFFFF"/>
                          </a:solidFill>
                          <a:latin typeface="Montserrat"/>
                        </a:defRPr>
                      </a:pPr>
                      <a:r>
                        <a:t>2,124,049</a:t>
                      </a:r>
                    </a:p>
                  </a:txBody>
                  <a:tcPr marL="0" marR="0" marT="0" marB="0">
                    <a:solidFill>
                      <a:srgbClr val="9F2241"/>
                    </a:solidFill>
                  </a:tcPr>
                </a:tc>
                <a:tc>
                  <a:txBody>
                    <a:bodyPr/>
                    <a:lstStyle/>
                    <a:p>
                      <a:pPr algn="ctr">
                        <a:defRPr sz="1000" b="1">
                          <a:solidFill>
                            <a:srgbClr val="FFFFFF"/>
                          </a:solidFill>
                          <a:latin typeface="Montserrat"/>
                        </a:defRPr>
                      </a:pPr>
                      <a:r>
                        <a:t>5,396,332</a:t>
                      </a:r>
                    </a:p>
                  </a:txBody>
                  <a:tcPr marL="0" marR="0" marT="0" marB="0">
                    <a:solidFill>
                      <a:srgbClr val="9F2241"/>
                    </a:solidFill>
                  </a:tcPr>
                </a:tc>
                <a:tc>
                  <a:txBody>
                    <a:bodyPr/>
                    <a:lstStyle/>
                    <a:p>
                      <a:pPr algn="ctr">
                        <a:defRPr sz="1000" b="1">
                          <a:solidFill>
                            <a:srgbClr val="FFFFFF"/>
                          </a:solidFill>
                          <a:latin typeface="Montserrat"/>
                        </a:defRPr>
                      </a:pPr>
                      <a:r>
                        <a:t>39.4%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6494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7214400"/>
            <a:ext cx="1800000" cy="360000"/>
          </a:xfrm>
          <a:prstGeom prst="rect">
            <a:avLst/>
          </a:prstGeom>
          <a:noFill/>
        </p:spPr>
        <p:txBody>
          <a:bodyPr wrap="none">
            <a:spAutoFit/>
          </a:bodyPr>
          <a:lstStyle/>
          <a:p>
            <a:pPr algn="ctr"/>
            <a:r>
              <a:rPr sz="2400" b="1">
                <a:solidFill>
                  <a:srgbClr val="9F2241"/>
                </a:solidFill>
                <a:latin typeface="Montserrat"/>
              </a:rPr>
              <a:t>39.4%</a:t>
            </a:r>
          </a:p>
        </p:txBody>
      </p:sp>
      <p:sp>
        <p:nvSpPr>
          <p:cNvPr id="11" name="TextBox 10"/>
          <p:cNvSpPr txBox="1"/>
          <p:nvPr/>
        </p:nvSpPr>
        <p:spPr>
          <a:xfrm>
            <a:off x="4780800" y="8114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6494400"/>
            <a:ext cx="2854800" cy="1198800"/>
          </a:xfrm>
          <a:prstGeom prst="rect">
            <a:avLst/>
          </a:prstGeom>
          <a:noFill/>
        </p:spPr>
        <p:txBody>
          <a:bodyPr wrap="square">
            <a:spAutoFit/>
          </a:bodyPr>
          <a:lstStyle/>
          <a:p>
            <a:pPr algn="ctr">
              <a:defRPr sz="3600" b="1">
                <a:solidFill>
                  <a:srgbClr val="9F2241"/>
                </a:solidFill>
                <a:latin typeface="Montserrat"/>
              </a:defRPr>
            </a:pPr>
            <a:r>
              <a:t>5,396,332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6FE652-0083-8A59-65DA-08DB539C156F}"/>
              </a:ext>
            </a:extLst>
          </p:cNvPr>
          <p:cNvSpPr txBox="1"/>
          <p:nvPr/>
        </p:nvSpPr>
        <p:spPr>
          <a:xfrm>
            <a:off x="4231123" y="558345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7 Nuevas UMTC con   23 consultorios</a:t>
            </a:r>
          </a:p>
        </p:txBody>
      </p:sp>
      <p:sp>
        <p:nvSpPr>
          <p:cNvPr id="10" name="CuadroTexto 9">
            <a:extLst>
              <a:ext uri="{FF2B5EF4-FFF2-40B4-BE49-F238E27FC236}">
                <a16:creationId xmlns:a16="http://schemas.microsoft.com/office/drawing/2014/main" id="{351C60B8-29DC-CB53-8A06-9C260C590BC1}"/>
              </a:ext>
            </a:extLst>
          </p:cNvPr>
          <p:cNvSpPr txBox="1"/>
          <p:nvPr/>
        </p:nvSpPr>
        <p:spPr>
          <a:xfrm>
            <a:off x="4482287" y="6715304"/>
            <a:ext cx="2902114" cy="1600438"/>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 Sta. María</a:t>
            </a:r>
          </a:p>
          <a:p>
            <a:pPr marL="342900" indent="-342900">
              <a:buFont typeface="+mj-lt"/>
              <a:buAutoNum type="arabicParenR"/>
            </a:pPr>
            <a:r>
              <a:rPr lang="es-MX" dirty="0">
                <a:latin typeface="Montserrat" panose="00000500000000000000" pitchFamily="2" charset="0"/>
              </a:rPr>
              <a:t>UMF 5 C. Anáhuac</a:t>
            </a:r>
          </a:p>
          <a:p>
            <a:pPr marL="342900" indent="-342900">
              <a:buFont typeface="+mj-lt"/>
              <a:buAutoNum type="arabicParenR"/>
            </a:pPr>
            <a:r>
              <a:rPr lang="es-MX" dirty="0">
                <a:latin typeface="Montserrat" panose="00000500000000000000" pitchFamily="2" charset="0"/>
              </a:rPr>
              <a:t>UMF 19 Coyoacán</a:t>
            </a:r>
          </a:p>
          <a:p>
            <a:pPr marL="342900" indent="-342900">
              <a:buFont typeface="+mj-lt"/>
              <a:buAutoNum type="arabicParenR"/>
            </a:pPr>
            <a:r>
              <a:rPr lang="es-MX" dirty="0">
                <a:latin typeface="Montserrat" panose="00000500000000000000" pitchFamily="2" charset="0"/>
              </a:rPr>
              <a:t>UMF 22 Independencia</a:t>
            </a:r>
          </a:p>
          <a:p>
            <a:pPr marL="342900" indent="-342900">
              <a:buFont typeface="+mj-lt"/>
              <a:buAutoNum type="arabicParenR"/>
            </a:pPr>
            <a:r>
              <a:rPr lang="es-MX" dirty="0">
                <a:latin typeface="Montserrat" panose="00000500000000000000" pitchFamily="2" charset="0"/>
              </a:rPr>
              <a:t>UMF 160 El Vergel</a:t>
            </a:r>
          </a:p>
          <a:p>
            <a:pPr marL="342900" indent="-342900">
              <a:buFont typeface="+mj-lt"/>
              <a:buAutoNum type="arabicParenR"/>
            </a:pPr>
            <a:r>
              <a:rPr lang="es-MX" dirty="0">
                <a:latin typeface="Montserrat" panose="00000500000000000000" pitchFamily="2" charset="0"/>
              </a:rPr>
              <a:t>UMF 45 Iztacalco</a:t>
            </a:r>
          </a:p>
          <a:p>
            <a:pPr marL="342900" indent="-342900">
              <a:buFont typeface="+mj-lt"/>
              <a:buAutoNum type="arabicParenR"/>
            </a:pPr>
            <a:r>
              <a:rPr lang="es-MX" dirty="0">
                <a:latin typeface="Montserrat" panose="00000500000000000000" pitchFamily="2" charset="0"/>
              </a:rPr>
              <a:t>UMF 46 Soriano</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13" name="TextBox 12"/>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22 Unidades Médicas de tiempo completo (96 consultorios)</a:t>
            </a:r>
          </a:p>
        </p:txBody>
      </p:sp>
      <p:sp>
        <p:nvSpPr>
          <p:cNvPr id="14" name="TextBox 13"/>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17" name="TextBox 16"/>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(549,680 consultas)</a:t>
            </a:r>
          </a:p>
        </p:txBody>
      </p:sp>
      <p:graphicFrame>
        <p:nvGraphicFramePr>
          <p:cNvPr id="18" name="Table 17"/>
          <p:cNvGraphicFramePr>
            <a:graphicFrameLocks noGrp="1"/>
          </p:cNvGraphicFramePr>
          <p:nvPr/>
        </p:nvGraphicFramePr>
        <p:xfrm>
          <a:off x="151200" y="1695600"/>
          <a:ext cx="7473599" cy="3477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3 La Joya</a:t>
                      </a:r>
                    </a:p>
                  </a:txBody>
                  <a:tcPr marL="0" marR="0" marT="0" marB="0">
                    <a:solidFill>
                      <a:srgbClr val="FFFFFF"/>
                    </a:solidFill>
                  </a:tcPr>
                </a:tc>
                <a:tc>
                  <a:txBody>
                    <a:bodyPr/>
                    <a:lstStyle/>
                    <a:p>
                      <a:pPr algn="ctr">
                        <a:defRPr sz="1000">
                          <a:solidFill>
                            <a:srgbClr val="000000"/>
                          </a:solidFill>
                          <a:latin typeface="Montserrat"/>
                        </a:defRPr>
                      </a:pPr>
                      <a:r>
                        <a:t>204,713</a:t>
                      </a:r>
                    </a:p>
                  </a:txBody>
                  <a:tcPr marL="0" marR="0" marT="0" marB="0">
                    <a:solidFill>
                      <a:srgbClr val="FFFFFF"/>
                    </a:solidFill>
                  </a:tcPr>
                </a:tc>
                <a:tc>
                  <a:txBody>
                    <a:bodyPr/>
                    <a:lstStyle/>
                    <a:p>
                      <a:pPr algn="ctr">
                        <a:defRPr sz="1000">
                          <a:solidFill>
                            <a:srgbClr val="000000"/>
                          </a:solidFill>
                          <a:latin typeface="Montserrat"/>
                        </a:defRPr>
                      </a:pPr>
                      <a:r>
                        <a:t>-9,196</a:t>
                      </a:r>
                    </a:p>
                  </a:txBody>
                  <a:tcPr marL="0" marR="0" marT="0" marB="0">
                    <a:solidFill>
                      <a:srgbClr val="FFFFFF"/>
                    </a:solidFill>
                  </a:tcPr>
                </a:tc>
                <a:tc>
                  <a:txBody>
                    <a:bodyPr/>
                    <a:lstStyle/>
                    <a:p>
                      <a:pPr algn="ctr">
                        <a:defRPr sz="1000">
                          <a:solidFill>
                            <a:srgbClr val="000000"/>
                          </a:solidFill>
                          <a:latin typeface="Montserrat"/>
                        </a:defRPr>
                      </a:pPr>
                      <a:r>
                        <a:t>81,035</a:t>
                      </a:r>
                    </a:p>
                  </a:txBody>
                  <a:tcPr marL="0" marR="0" marT="0" marB="0">
                    <a:solidFill>
                      <a:srgbClr val="ECD3D9"/>
                    </a:solidFill>
                  </a:tcPr>
                </a:tc>
                <a:tc>
                  <a:txBody>
                    <a:bodyPr/>
                    <a:lstStyle/>
                    <a:p>
                      <a:pPr algn="ctr">
                        <a:defRPr sz="1000">
                          <a:solidFill>
                            <a:srgbClr val="000000"/>
                          </a:solidFill>
                          <a:latin typeface="Montserrat"/>
                        </a:defRPr>
                      </a:pPr>
                      <a:r>
                        <a:t>206,640</a:t>
                      </a:r>
                    </a:p>
                  </a:txBody>
                  <a:tcPr marL="0" marR="0" marT="0" marB="0">
                    <a:solidFill>
                      <a:srgbClr val="ECD3D9"/>
                    </a:solidFill>
                  </a:tcPr>
                </a:tc>
                <a:tc>
                  <a:txBody>
                    <a:bodyPr/>
                    <a:lstStyle/>
                    <a:p>
                      <a:pPr algn="ctr">
                        <a:defRPr sz="1000">
                          <a:solidFill>
                            <a:srgbClr val="000000"/>
                          </a:solidFill>
                          <a:latin typeface="Montserrat"/>
                        </a:defRPr>
                      </a:pPr>
                      <a:r>
                        <a:t>39.2%</a:t>
                      </a:r>
                    </a:p>
                  </a:txBody>
                  <a:tcPr marL="0" marR="0" marT="0" marB="0">
                    <a:solidFill>
                      <a:srgbClr val="ECD3D9"/>
                    </a:solidFill>
                  </a:tcPr>
                </a:tc>
              </a:tr>
              <a:tr h="151200">
                <a:tc>
                  <a:txBody>
                    <a:bodyPr/>
                    <a:lstStyle/>
                    <a:p>
                      <a:pPr algn="l">
                        <a:defRPr sz="1000">
                          <a:solidFill>
                            <a:srgbClr val="000000"/>
                          </a:solidFill>
                          <a:latin typeface="Montserrat"/>
                        </a:defRPr>
                      </a:pPr>
                      <a:r>
                        <a:t>UMF 9 San Pedro Pinos</a:t>
                      </a:r>
                    </a:p>
                  </a:txBody>
                  <a:tcPr marL="0" marR="0" marT="0" marB="0">
                    <a:solidFill>
                      <a:srgbClr val="EFEFEF"/>
                    </a:solidFill>
                  </a:tcPr>
                </a:tc>
                <a:tc>
                  <a:txBody>
                    <a:bodyPr/>
                    <a:lstStyle/>
                    <a:p>
                      <a:pPr algn="ctr">
                        <a:defRPr sz="1000">
                          <a:solidFill>
                            <a:srgbClr val="000000"/>
                          </a:solidFill>
                          <a:latin typeface="Montserrat"/>
                        </a:defRPr>
                      </a:pPr>
                      <a:r>
                        <a:t>408,459</a:t>
                      </a:r>
                    </a:p>
                  </a:txBody>
                  <a:tcPr marL="0" marR="0" marT="0" marB="0">
                    <a:solidFill>
                      <a:srgbClr val="EFEFEF"/>
                    </a:solidFill>
                  </a:tcPr>
                </a:tc>
                <a:tc>
                  <a:txBody>
                    <a:bodyPr/>
                    <a:lstStyle/>
                    <a:p>
                      <a:pPr algn="ctr">
                        <a:defRPr sz="1000">
                          <a:solidFill>
                            <a:srgbClr val="000000"/>
                          </a:solidFill>
                          <a:latin typeface="Montserrat"/>
                        </a:defRPr>
                      </a:pPr>
                      <a:r>
                        <a:t>42,045</a:t>
                      </a:r>
                    </a:p>
                  </a:txBody>
                  <a:tcPr marL="0" marR="0" marT="0" marB="0">
                    <a:solidFill>
                      <a:srgbClr val="EFEFEF"/>
                    </a:solidFill>
                  </a:tcPr>
                </a:tc>
                <a:tc>
                  <a:txBody>
                    <a:bodyPr/>
                    <a:lstStyle/>
                    <a:p>
                      <a:pPr algn="ctr">
                        <a:defRPr sz="1000">
                          <a:solidFill>
                            <a:srgbClr val="000000"/>
                          </a:solidFill>
                          <a:latin typeface="Montserrat"/>
                        </a:defRPr>
                      </a:pPr>
                      <a:r>
                        <a:t>167,449</a:t>
                      </a:r>
                    </a:p>
                  </a:txBody>
                  <a:tcPr marL="0" marR="0" marT="0" marB="0">
                    <a:solidFill>
                      <a:srgbClr val="ECD3D9"/>
                    </a:solidFill>
                  </a:tcPr>
                </a:tc>
                <a:tc>
                  <a:txBody>
                    <a:bodyPr/>
                    <a:lstStyle/>
                    <a:p>
                      <a:pPr algn="ctr">
                        <a:defRPr sz="1000">
                          <a:solidFill>
                            <a:srgbClr val="000000"/>
                          </a:solidFill>
                          <a:latin typeface="Montserrat"/>
                        </a:defRPr>
                      </a:pPr>
                      <a:r>
                        <a:t>399,504</a:t>
                      </a:r>
                    </a:p>
                  </a:txBody>
                  <a:tcPr marL="0" marR="0" marT="0" marB="0">
                    <a:solidFill>
                      <a:srgbClr val="ECD3D9"/>
                    </a:solidFill>
                  </a:tcPr>
                </a:tc>
                <a:tc>
                  <a:txBody>
                    <a:bodyPr/>
                    <a:lstStyle/>
                    <a:p>
                      <a:pPr algn="ctr">
                        <a:defRPr sz="1000">
                          <a:solidFill>
                            <a:srgbClr val="000000"/>
                          </a:solidFill>
                          <a:latin typeface="Montserrat"/>
                        </a:defRPr>
                      </a:pPr>
                      <a:r>
                        <a:t>41.9%</a:t>
                      </a:r>
                    </a:p>
                  </a:txBody>
                  <a:tcPr marL="0" marR="0" marT="0" marB="0">
                    <a:solidFill>
                      <a:srgbClr val="ECD3D9"/>
                    </a:solidFill>
                  </a:tcPr>
                </a:tc>
              </a:tr>
              <a:tr h="151200">
                <a:tc>
                  <a:txBody>
                    <a:bodyPr/>
                    <a:lstStyle/>
                    <a:p>
                      <a:pPr algn="l">
                        <a:defRPr sz="1000">
                          <a:solidFill>
                            <a:srgbClr val="000000"/>
                          </a:solidFill>
                          <a:latin typeface="Montserrat"/>
                        </a:defRPr>
                      </a:pPr>
                      <a:r>
                        <a:t>UMF 18 Contreras</a:t>
                      </a:r>
                    </a:p>
                  </a:txBody>
                  <a:tcPr marL="0" marR="0" marT="0" marB="0">
                    <a:solidFill>
                      <a:srgbClr val="FFFFFF"/>
                    </a:solidFill>
                  </a:tcPr>
                </a:tc>
                <a:tc>
                  <a:txBody>
                    <a:bodyPr/>
                    <a:lstStyle/>
                    <a:p>
                      <a:pPr algn="ctr">
                        <a:defRPr sz="1000">
                          <a:solidFill>
                            <a:srgbClr val="000000"/>
                          </a:solidFill>
                          <a:latin typeface="Montserrat"/>
                        </a:defRPr>
                      </a:pPr>
                      <a:r>
                        <a:t>231,716</a:t>
                      </a:r>
                    </a:p>
                  </a:txBody>
                  <a:tcPr marL="0" marR="0" marT="0" marB="0">
                    <a:solidFill>
                      <a:srgbClr val="FFFFFF"/>
                    </a:solidFill>
                  </a:tcPr>
                </a:tc>
                <a:tc>
                  <a:txBody>
                    <a:bodyPr/>
                    <a:lstStyle/>
                    <a:p>
                      <a:pPr algn="ctr">
                        <a:defRPr sz="1000">
                          <a:solidFill>
                            <a:srgbClr val="000000"/>
                          </a:solidFill>
                          <a:latin typeface="Montserrat"/>
                        </a:defRPr>
                      </a:pPr>
                      <a:r>
                        <a:t>-2,146</a:t>
                      </a:r>
                    </a:p>
                  </a:txBody>
                  <a:tcPr marL="0" marR="0" marT="0" marB="0">
                    <a:solidFill>
                      <a:srgbClr val="FFFFFF"/>
                    </a:solidFill>
                  </a:tcPr>
                </a:tc>
                <a:tc>
                  <a:txBody>
                    <a:bodyPr/>
                    <a:lstStyle/>
                    <a:p>
                      <a:pPr algn="ctr">
                        <a:defRPr sz="1000">
                          <a:solidFill>
                            <a:srgbClr val="000000"/>
                          </a:solidFill>
                          <a:latin typeface="Montserrat"/>
                        </a:defRPr>
                      </a:pPr>
                      <a:r>
                        <a:t>98,091</a:t>
                      </a:r>
                    </a:p>
                  </a:txBody>
                  <a:tcPr marL="0" marR="0" marT="0" marB="0">
                    <a:solidFill>
                      <a:srgbClr val="ECD3D9"/>
                    </a:solidFill>
                  </a:tcPr>
                </a:tc>
                <a:tc>
                  <a:txBody>
                    <a:bodyPr/>
                    <a:lstStyle/>
                    <a:p>
                      <a:pPr algn="ctr">
                        <a:defRPr sz="1000">
                          <a:solidFill>
                            <a:srgbClr val="000000"/>
                          </a:solidFill>
                          <a:latin typeface="Montserrat"/>
                        </a:defRPr>
                      </a:pPr>
                      <a:r>
                        <a:t>223,000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tr>
              <a:tr h="151200">
                <a:tc>
                  <a:txBody>
                    <a:bodyPr/>
                    <a:lstStyle/>
                    <a:p>
                      <a:pPr algn="l">
                        <a:defRPr sz="1000">
                          <a:solidFill>
                            <a:srgbClr val="000000"/>
                          </a:solidFill>
                          <a:latin typeface="Montserrat"/>
                        </a:defRPr>
                      </a:pPr>
                      <a:r>
                        <a:t>UMF 12 Santa Fe</a:t>
                      </a:r>
                    </a:p>
                  </a:txBody>
                  <a:tcPr marL="0" marR="0" marT="0" marB="0">
                    <a:solidFill>
                      <a:srgbClr val="EFEFEF"/>
                    </a:solidFill>
                  </a:tcPr>
                </a:tc>
                <a:tc>
                  <a:txBody>
                    <a:bodyPr/>
                    <a:lstStyle/>
                    <a:p>
                      <a:pPr algn="ctr">
                        <a:defRPr sz="1000">
                          <a:solidFill>
                            <a:srgbClr val="000000"/>
                          </a:solidFill>
                          <a:latin typeface="Montserrat"/>
                        </a:defRPr>
                      </a:pPr>
                      <a:r>
                        <a:t>285,947</a:t>
                      </a:r>
                    </a:p>
                  </a:txBody>
                  <a:tcPr marL="0" marR="0" marT="0" marB="0">
                    <a:solidFill>
                      <a:srgbClr val="EFEFEF"/>
                    </a:solidFill>
                  </a:tcPr>
                </a:tc>
                <a:tc>
                  <a:txBody>
                    <a:bodyPr/>
                    <a:lstStyle/>
                    <a:p>
                      <a:pPr algn="ctr">
                        <a:defRPr sz="1000">
                          <a:solidFill>
                            <a:srgbClr val="000000"/>
                          </a:solidFill>
                          <a:latin typeface="Montserrat"/>
                        </a:defRPr>
                      </a:pPr>
                      <a:r>
                        <a:t>29,605</a:t>
                      </a:r>
                    </a:p>
                  </a:txBody>
                  <a:tcPr marL="0" marR="0" marT="0" marB="0">
                    <a:solidFill>
                      <a:srgbClr val="EFEFEF"/>
                    </a:solidFill>
                  </a:tcPr>
                </a:tc>
                <a:tc>
                  <a:txBody>
                    <a:bodyPr/>
                    <a:lstStyle/>
                    <a:p>
                      <a:pPr algn="ctr">
                        <a:defRPr sz="1000">
                          <a:solidFill>
                            <a:srgbClr val="000000"/>
                          </a:solidFill>
                          <a:latin typeface="Montserrat"/>
                        </a:defRPr>
                      </a:pPr>
                      <a:r>
                        <a:t>115,126</a:t>
                      </a:r>
                    </a:p>
                  </a:txBody>
                  <a:tcPr marL="0" marR="0" marT="0" marB="0">
                    <a:solidFill>
                      <a:srgbClr val="ECD3D9"/>
                    </a:solidFill>
                  </a:tcPr>
                </a:tc>
                <a:tc>
                  <a:txBody>
                    <a:bodyPr/>
                    <a:lstStyle/>
                    <a:p>
                      <a:pPr algn="ctr">
                        <a:defRPr sz="1000">
                          <a:solidFill>
                            <a:srgbClr val="000000"/>
                          </a:solidFill>
                          <a:latin typeface="Montserrat"/>
                        </a:defRPr>
                      </a:pPr>
                      <a:r>
                        <a:t>278,000</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a:solidFill>
                            <a:srgbClr val="000000"/>
                          </a:solidFill>
                          <a:latin typeface="Montserrat"/>
                        </a:defRPr>
                      </a:pPr>
                      <a:r>
                        <a:t>UMF 14 Aeropuerto</a:t>
                      </a:r>
                    </a:p>
                  </a:txBody>
                  <a:tcPr marL="0" marR="0" marT="0" marB="0">
                    <a:solidFill>
                      <a:srgbClr val="FFFFFF"/>
                    </a:solidFill>
                  </a:tcPr>
                </a:tc>
                <a:tc>
                  <a:txBody>
                    <a:bodyPr/>
                    <a:lstStyle/>
                    <a:p>
                      <a:pPr algn="ctr">
                        <a:defRPr sz="1000">
                          <a:solidFill>
                            <a:srgbClr val="000000"/>
                          </a:solidFill>
                          <a:latin typeface="Montserrat"/>
                        </a:defRPr>
                      </a:pPr>
                      <a:r>
                        <a:t>275,224</a:t>
                      </a:r>
                    </a:p>
                  </a:txBody>
                  <a:tcPr marL="0" marR="0" marT="0" marB="0">
                    <a:solidFill>
                      <a:srgbClr val="FFFFFF"/>
                    </a:solidFill>
                  </a:tcPr>
                </a:tc>
                <a:tc>
                  <a:txBody>
                    <a:bodyPr/>
                    <a:lstStyle/>
                    <a:p>
                      <a:pPr algn="ctr">
                        <a:defRPr sz="1000">
                          <a:solidFill>
                            <a:srgbClr val="000000"/>
                          </a:solidFill>
                          <a:latin typeface="Montserrat"/>
                        </a:defRPr>
                      </a:pPr>
                      <a:r>
                        <a:t>26,047</a:t>
                      </a:r>
                    </a:p>
                  </a:txBody>
                  <a:tcPr marL="0" marR="0" marT="0" marB="0">
                    <a:solidFill>
                      <a:srgbClr val="FFFFFF"/>
                    </a:solidFill>
                  </a:tcPr>
                </a:tc>
                <a:tc>
                  <a:txBody>
                    <a:bodyPr/>
                    <a:lstStyle/>
                    <a:p>
                      <a:pPr algn="ctr">
                        <a:defRPr sz="1000">
                          <a:solidFill>
                            <a:srgbClr val="000000"/>
                          </a:solidFill>
                          <a:latin typeface="Montserrat"/>
                        </a:defRPr>
                      </a:pPr>
                      <a:r>
                        <a:t>111,496</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40.5%</a:t>
                      </a:r>
                    </a:p>
                  </a:txBody>
                  <a:tcPr marL="0" marR="0" marT="0" marB="0">
                    <a:solidFill>
                      <a:srgbClr val="ECD3D9"/>
                    </a:solidFill>
                  </a:tcPr>
                </a:tc>
              </a:tr>
              <a:tr h="151200">
                <a:tc>
                  <a:txBody>
                    <a:bodyPr/>
                    <a:lstStyle/>
                    <a:p>
                      <a:pPr algn="l">
                        <a:defRPr sz="1000">
                          <a:solidFill>
                            <a:srgbClr val="000000"/>
                          </a:solidFill>
                          <a:latin typeface="Montserrat"/>
                        </a:defRPr>
                      </a:pPr>
                      <a:r>
                        <a:t>UMF 16 Col. Guerrero</a:t>
                      </a:r>
                    </a:p>
                  </a:txBody>
                  <a:tcPr marL="0" marR="0" marT="0" marB="0">
                    <a:solidFill>
                      <a:srgbClr val="EFEFEF"/>
                    </a:solidFill>
                  </a:tcPr>
                </a:tc>
                <a:tc>
                  <a:txBody>
                    <a:bodyPr/>
                    <a:lstStyle/>
                    <a:p>
                      <a:pPr algn="ctr">
                        <a:defRPr sz="1000">
                          <a:solidFill>
                            <a:srgbClr val="000000"/>
                          </a:solidFill>
                          <a:latin typeface="Montserrat"/>
                        </a:defRPr>
                      </a:pPr>
                      <a:r>
                        <a:t>165,477</a:t>
                      </a:r>
                    </a:p>
                  </a:txBody>
                  <a:tcPr marL="0" marR="0" marT="0" marB="0">
                    <a:solidFill>
                      <a:srgbClr val="EFEFEF"/>
                    </a:solidFill>
                  </a:tcPr>
                </a:tc>
                <a:tc>
                  <a:txBody>
                    <a:bodyPr/>
                    <a:lstStyle/>
                    <a:p>
                      <a:pPr algn="ctr">
                        <a:defRPr sz="1000">
                          <a:solidFill>
                            <a:srgbClr val="000000"/>
                          </a:solidFill>
                          <a:latin typeface="Montserrat"/>
                        </a:defRPr>
                      </a:pPr>
                      <a:r>
                        <a:t>-2,096</a:t>
                      </a:r>
                    </a:p>
                  </a:txBody>
                  <a:tcPr marL="0" marR="0" marT="0" marB="0">
                    <a:solidFill>
                      <a:srgbClr val="EFEFEF"/>
                    </a:solidFill>
                  </a:tcPr>
                </a:tc>
                <a:tc>
                  <a:txBody>
                    <a:bodyPr/>
                    <a:lstStyle/>
                    <a:p>
                      <a:pPr algn="ctr">
                        <a:defRPr sz="1000">
                          <a:solidFill>
                            <a:srgbClr val="000000"/>
                          </a:solidFill>
                          <a:latin typeface="Montserrat"/>
                        </a:defRPr>
                      </a:pPr>
                      <a:r>
                        <a:t>66,202</a:t>
                      </a:r>
                    </a:p>
                  </a:txBody>
                  <a:tcPr marL="0" marR="0" marT="0" marB="0">
                    <a:solidFill>
                      <a:srgbClr val="ECD3D9"/>
                    </a:solidFill>
                  </a:tcPr>
                </a:tc>
                <a:tc>
                  <a:txBody>
                    <a:bodyPr/>
                    <a:lstStyle/>
                    <a:p>
                      <a:pPr algn="ctr">
                        <a:defRPr sz="1000">
                          <a:solidFill>
                            <a:srgbClr val="000000"/>
                          </a:solidFill>
                          <a:latin typeface="Montserrat"/>
                        </a:defRPr>
                      </a:pPr>
                      <a:r>
                        <a:t>165,312</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a:solidFill>
                            <a:srgbClr val="000000"/>
                          </a:solidFill>
                          <a:latin typeface="Montserrat"/>
                        </a:defRPr>
                      </a:pPr>
                      <a:r>
                        <a:t>UMF 23 Unidad Morelos</a:t>
                      </a:r>
                    </a:p>
                  </a:txBody>
                  <a:tcPr marL="0" marR="0" marT="0" marB="0">
                    <a:solidFill>
                      <a:srgbClr val="FFFFFF"/>
                    </a:solidFill>
                  </a:tcPr>
                </a:tc>
                <a:tc>
                  <a:txBody>
                    <a:bodyPr/>
                    <a:lstStyle/>
                    <a:p>
                      <a:pPr algn="ctr">
                        <a:defRPr sz="1000">
                          <a:solidFill>
                            <a:srgbClr val="000000"/>
                          </a:solidFill>
                          <a:latin typeface="Montserrat"/>
                        </a:defRPr>
                      </a:pPr>
                      <a:r>
                        <a:t>412,455</a:t>
                      </a:r>
                    </a:p>
                  </a:txBody>
                  <a:tcPr marL="0" marR="0" marT="0" marB="0">
                    <a:solidFill>
                      <a:srgbClr val="FFFFFF"/>
                    </a:solidFill>
                  </a:tcPr>
                </a:tc>
                <a:tc>
                  <a:txBody>
                    <a:bodyPr/>
                    <a:lstStyle/>
                    <a:p>
                      <a:pPr algn="ctr">
                        <a:defRPr sz="1000">
                          <a:solidFill>
                            <a:srgbClr val="000000"/>
                          </a:solidFill>
                          <a:latin typeface="Montserrat"/>
                        </a:defRPr>
                      </a:pPr>
                      <a:r>
                        <a:t>30,047</a:t>
                      </a:r>
                    </a:p>
                  </a:txBody>
                  <a:tcPr marL="0" marR="0" marT="0" marB="0">
                    <a:solidFill>
                      <a:srgbClr val="FFFFFF"/>
                    </a:solidFill>
                  </a:tcPr>
                </a:tc>
                <a:tc>
                  <a:txBody>
                    <a:bodyPr/>
                    <a:lstStyle/>
                    <a:p>
                      <a:pPr algn="ctr">
                        <a:defRPr sz="1000">
                          <a:solidFill>
                            <a:srgbClr val="000000"/>
                          </a:solidFill>
                          <a:latin typeface="Montserrat"/>
                        </a:defRPr>
                      </a:pPr>
                      <a:r>
                        <a:t>167,468</a:t>
                      </a:r>
                    </a:p>
                  </a:txBody>
                  <a:tcPr marL="0" marR="0" marT="0" marB="0">
                    <a:solidFill>
                      <a:srgbClr val="ECD3D9"/>
                    </a:solidFill>
                  </a:tcPr>
                </a:tc>
                <a:tc>
                  <a:txBody>
                    <a:bodyPr/>
                    <a:lstStyle/>
                    <a:p>
                      <a:pPr algn="ctr">
                        <a:defRPr sz="1000">
                          <a:solidFill>
                            <a:srgbClr val="000000"/>
                          </a:solidFill>
                          <a:latin typeface="Montserrat"/>
                        </a:defRPr>
                      </a:pPr>
                      <a:r>
                        <a:t>413,280</a:t>
                      </a:r>
                    </a:p>
                  </a:txBody>
                  <a:tcPr marL="0" marR="0" marT="0" marB="0">
                    <a:solidFill>
                      <a:srgbClr val="ECD3D9"/>
                    </a:solidFill>
                  </a:tcPr>
                </a:tc>
                <a:tc>
                  <a:txBody>
                    <a:bodyPr/>
                    <a:lstStyle/>
                    <a:p>
                      <a:pPr algn="ctr">
                        <a:defRPr sz="1000">
                          <a:solidFill>
                            <a:srgbClr val="000000"/>
                          </a:solidFill>
                          <a:latin typeface="Montserrat"/>
                        </a:defRPr>
                      </a:pPr>
                      <a:r>
                        <a:t>40.5%</a:t>
                      </a:r>
                    </a:p>
                  </a:txBody>
                  <a:tcPr marL="0" marR="0" marT="0" marB="0">
                    <a:solidFill>
                      <a:srgbClr val="ECD3D9"/>
                    </a:solidFill>
                  </a:tcPr>
                </a:tc>
              </a:tr>
              <a:tr h="151200">
                <a:tc>
                  <a:txBody>
                    <a:bodyPr/>
                    <a:lstStyle/>
                    <a:p>
                      <a:pPr algn="l">
                        <a:defRPr sz="1000">
                          <a:solidFill>
                            <a:srgbClr val="000000"/>
                          </a:solidFill>
                          <a:latin typeface="Montserrat"/>
                        </a:defRPr>
                      </a:pPr>
                      <a:r>
                        <a:t>UMF 28 Del Valle</a:t>
                      </a:r>
                    </a:p>
                  </a:txBody>
                  <a:tcPr marL="0" marR="0" marT="0" marB="0">
                    <a:solidFill>
                      <a:srgbClr val="EFEFEF"/>
                    </a:solidFill>
                  </a:tcPr>
                </a:tc>
                <a:tc>
                  <a:txBody>
                    <a:bodyPr/>
                    <a:lstStyle/>
                    <a:p>
                      <a:pPr algn="ctr">
                        <a:defRPr sz="1000">
                          <a:solidFill>
                            <a:srgbClr val="000000"/>
                          </a:solidFill>
                          <a:latin typeface="Montserrat"/>
                        </a:defRPr>
                      </a:pPr>
                      <a:r>
                        <a:t>382,314</a:t>
                      </a:r>
                    </a:p>
                  </a:txBody>
                  <a:tcPr marL="0" marR="0" marT="0" marB="0">
                    <a:solidFill>
                      <a:srgbClr val="EFEFEF"/>
                    </a:solidFill>
                  </a:tcPr>
                </a:tc>
                <a:tc>
                  <a:txBody>
                    <a:bodyPr/>
                    <a:lstStyle/>
                    <a:p>
                      <a:pPr algn="ctr">
                        <a:defRPr sz="1000">
                          <a:solidFill>
                            <a:srgbClr val="000000"/>
                          </a:solidFill>
                          <a:latin typeface="Montserrat"/>
                        </a:defRPr>
                      </a:pPr>
                      <a:r>
                        <a:t>17,425</a:t>
                      </a:r>
                    </a:p>
                  </a:txBody>
                  <a:tcPr marL="0" marR="0" marT="0" marB="0">
                    <a:solidFill>
                      <a:srgbClr val="EFEFEF"/>
                    </a:solidFill>
                  </a:tcPr>
                </a:tc>
                <a:tc>
                  <a:txBody>
                    <a:bodyPr/>
                    <a:lstStyle/>
                    <a:p>
                      <a:pPr algn="ctr">
                        <a:defRPr sz="1000">
                          <a:solidFill>
                            <a:srgbClr val="000000"/>
                          </a:solidFill>
                          <a:latin typeface="Montserrat"/>
                        </a:defRPr>
                      </a:pPr>
                      <a:r>
                        <a:t>159,675</a:t>
                      </a:r>
                    </a:p>
                  </a:txBody>
                  <a:tcPr marL="0" marR="0" marT="0" marB="0">
                    <a:solidFill>
                      <a:srgbClr val="ECD3D9"/>
                    </a:solidFill>
                  </a:tcPr>
                </a:tc>
                <a:tc>
                  <a:txBody>
                    <a:bodyPr/>
                    <a:lstStyle/>
                    <a:p>
                      <a:pPr algn="ctr">
                        <a:defRPr sz="1000">
                          <a:solidFill>
                            <a:srgbClr val="000000"/>
                          </a:solidFill>
                          <a:latin typeface="Montserrat"/>
                        </a:defRPr>
                      </a:pPr>
                      <a:r>
                        <a:t>399,504</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a:solidFill>
                            <a:srgbClr val="000000"/>
                          </a:solidFill>
                          <a:latin typeface="Montserrat"/>
                        </a:defRPr>
                      </a:pPr>
                      <a:r>
                        <a:t>UMF 31 Iztapalapa</a:t>
                      </a:r>
                    </a:p>
                  </a:txBody>
                  <a:tcPr marL="0" marR="0" marT="0" marB="0">
                    <a:solidFill>
                      <a:srgbClr val="FFFFFF"/>
                    </a:solidFill>
                  </a:tcPr>
                </a:tc>
                <a:tc>
                  <a:txBody>
                    <a:bodyPr/>
                    <a:lstStyle/>
                    <a:p>
                      <a:pPr algn="ctr">
                        <a:defRPr sz="1000">
                          <a:solidFill>
                            <a:srgbClr val="000000"/>
                          </a:solidFill>
                          <a:latin typeface="Montserrat"/>
                        </a:defRPr>
                      </a:pPr>
                      <a:r>
                        <a:t>512,584</a:t>
                      </a:r>
                    </a:p>
                  </a:txBody>
                  <a:tcPr marL="0" marR="0" marT="0" marB="0">
                    <a:solidFill>
                      <a:srgbClr val="FFFFFF"/>
                    </a:solidFill>
                  </a:tcPr>
                </a:tc>
                <a:tc>
                  <a:txBody>
                    <a:bodyPr/>
                    <a:lstStyle/>
                    <a:p>
                      <a:pPr algn="ctr">
                        <a:defRPr sz="1000">
                          <a:solidFill>
                            <a:srgbClr val="000000"/>
                          </a:solidFill>
                          <a:latin typeface="Montserrat"/>
                        </a:defRPr>
                      </a:pPr>
                      <a:r>
                        <a:t>3,714</a:t>
                      </a:r>
                    </a:p>
                  </a:txBody>
                  <a:tcPr marL="0" marR="0" marT="0" marB="0">
                    <a:solidFill>
                      <a:srgbClr val="FFFFFF"/>
                    </a:solidFill>
                  </a:tcPr>
                </a:tc>
                <a:tc>
                  <a:txBody>
                    <a:bodyPr/>
                    <a:lstStyle/>
                    <a:p>
                      <a:pPr algn="ctr">
                        <a:defRPr sz="1000">
                          <a:solidFill>
                            <a:srgbClr val="000000"/>
                          </a:solidFill>
                          <a:latin typeface="Montserrat"/>
                        </a:defRPr>
                      </a:pPr>
                      <a:r>
                        <a:t>194,618</a:t>
                      </a:r>
                    </a:p>
                  </a:txBody>
                  <a:tcPr marL="0" marR="0" marT="0" marB="0">
                    <a:solidFill>
                      <a:srgbClr val="ECD3D9"/>
                    </a:solidFill>
                  </a:tcPr>
                </a:tc>
                <a:tc>
                  <a:txBody>
                    <a:bodyPr/>
                    <a:lstStyle/>
                    <a:p>
                      <a:pPr algn="ctr">
                        <a:defRPr sz="1000">
                          <a:solidFill>
                            <a:srgbClr val="000000"/>
                          </a:solidFill>
                          <a:latin typeface="Montserrat"/>
                        </a:defRPr>
                      </a:pPr>
                      <a:r>
                        <a:t>509,712</a:t>
                      </a:r>
                    </a:p>
                  </a:txBody>
                  <a:tcPr marL="0" marR="0" marT="0" marB="0">
                    <a:solidFill>
                      <a:srgbClr val="ECD3D9"/>
                    </a:solidFill>
                  </a:tcPr>
                </a:tc>
                <a:tc>
                  <a:txBody>
                    <a:bodyPr/>
                    <a:lstStyle/>
                    <a:p>
                      <a:pPr algn="ctr">
                        <a:defRPr sz="1000">
                          <a:solidFill>
                            <a:srgbClr val="000000"/>
                          </a:solidFill>
                          <a:latin typeface="Montserrat"/>
                        </a:defRPr>
                      </a:pPr>
                      <a:r>
                        <a:t>38.2%</a:t>
                      </a:r>
                    </a:p>
                  </a:txBody>
                  <a:tcPr marL="0" marR="0" marT="0" marB="0">
                    <a:solidFill>
                      <a:srgbClr val="ECD3D9"/>
                    </a:solidFill>
                  </a:tcPr>
                </a:tc>
              </a:tr>
              <a:tr h="151200">
                <a:tc>
                  <a:txBody>
                    <a:bodyPr/>
                    <a:lstStyle/>
                    <a:p>
                      <a:pPr algn="l">
                        <a:defRPr sz="1000">
                          <a:solidFill>
                            <a:srgbClr val="000000"/>
                          </a:solidFill>
                          <a:latin typeface="Montserrat"/>
                        </a:defRPr>
                      </a:pPr>
                      <a:r>
                        <a:t>UMF 21 Fco. del Paso</a:t>
                      </a:r>
                    </a:p>
                  </a:txBody>
                  <a:tcPr marL="0" marR="0" marT="0" marB="0">
                    <a:solidFill>
                      <a:srgbClr val="EFEFEF"/>
                    </a:solidFill>
                  </a:tcPr>
                </a:tc>
                <a:tc>
                  <a:txBody>
                    <a:bodyPr/>
                    <a:lstStyle/>
                    <a:p>
                      <a:pPr algn="ctr">
                        <a:defRPr sz="1000">
                          <a:solidFill>
                            <a:srgbClr val="000000"/>
                          </a:solidFill>
                          <a:latin typeface="Montserrat"/>
                        </a:defRPr>
                      </a:pPr>
                      <a:r>
                        <a:t>362,060</a:t>
                      </a:r>
                    </a:p>
                  </a:txBody>
                  <a:tcPr marL="0" marR="0" marT="0" marB="0">
                    <a:solidFill>
                      <a:srgbClr val="EFEFEF"/>
                    </a:solidFill>
                  </a:tcPr>
                </a:tc>
                <a:tc>
                  <a:txBody>
                    <a:bodyPr/>
                    <a:lstStyle/>
                    <a:p>
                      <a:pPr algn="ctr">
                        <a:defRPr sz="1000">
                          <a:solidFill>
                            <a:srgbClr val="000000"/>
                          </a:solidFill>
                          <a:latin typeface="Montserrat"/>
                        </a:defRPr>
                      </a:pPr>
                      <a:r>
                        <a:t>31,161</a:t>
                      </a:r>
                    </a:p>
                  </a:txBody>
                  <a:tcPr marL="0" marR="0" marT="0" marB="0">
                    <a:solidFill>
                      <a:srgbClr val="EFEFEF"/>
                    </a:solidFill>
                  </a:tcPr>
                </a:tc>
                <a:tc>
                  <a:txBody>
                    <a:bodyPr/>
                    <a:lstStyle/>
                    <a:p>
                      <a:pPr algn="ctr">
                        <a:defRPr sz="1000">
                          <a:solidFill>
                            <a:srgbClr val="000000"/>
                          </a:solidFill>
                          <a:latin typeface="Montserrat"/>
                        </a:defRPr>
                      </a:pPr>
                      <a:r>
                        <a:t>152,710</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34.6%</a:t>
                      </a:r>
                    </a:p>
                  </a:txBody>
                  <a:tcPr marL="0" marR="0" marT="0" marB="0">
                    <a:solidFill>
                      <a:srgbClr val="ECD3D9"/>
                    </a:solidFill>
                  </a:tcPr>
                </a:tc>
              </a:tr>
              <a:tr h="151200">
                <a:tc>
                  <a:txBody>
                    <a:bodyPr/>
                    <a:lstStyle/>
                    <a:p>
                      <a:pPr algn="l">
                        <a:defRPr sz="1000">
                          <a:solidFill>
                            <a:srgbClr val="000000"/>
                          </a:solidFill>
                          <a:latin typeface="Montserrat"/>
                        </a:defRPr>
                      </a:pPr>
                      <a:r>
                        <a:t>UMF 34 C. Pantitlán</a:t>
                      </a:r>
                    </a:p>
                  </a:txBody>
                  <a:tcPr marL="0" marR="0" marT="0" marB="0">
                    <a:solidFill>
                      <a:srgbClr val="FFFFFF"/>
                    </a:solidFill>
                  </a:tcPr>
                </a:tc>
                <a:tc>
                  <a:txBody>
                    <a:bodyPr/>
                    <a:lstStyle/>
                    <a:p>
                      <a:pPr algn="ctr">
                        <a:defRPr sz="1000">
                          <a:solidFill>
                            <a:srgbClr val="000000"/>
                          </a:solidFill>
                          <a:latin typeface="Montserrat"/>
                        </a:defRPr>
                      </a:pPr>
                      <a:r>
                        <a:t>118,885</a:t>
                      </a:r>
                    </a:p>
                  </a:txBody>
                  <a:tcPr marL="0" marR="0" marT="0" marB="0">
                    <a:solidFill>
                      <a:srgbClr val="FFFFFF"/>
                    </a:solidFill>
                  </a:tcPr>
                </a:tc>
                <a:tc>
                  <a:txBody>
                    <a:bodyPr/>
                    <a:lstStyle/>
                    <a:p>
                      <a:pPr algn="ctr">
                        <a:defRPr sz="1000">
                          <a:solidFill>
                            <a:srgbClr val="000000"/>
                          </a:solidFill>
                          <a:latin typeface="Montserrat"/>
                        </a:defRPr>
                      </a:pPr>
                      <a:r>
                        <a:t>8,917</a:t>
                      </a:r>
                    </a:p>
                  </a:txBody>
                  <a:tcPr marL="0" marR="0" marT="0" marB="0">
                    <a:solidFill>
                      <a:srgbClr val="FFFFFF"/>
                    </a:solidFill>
                  </a:tcPr>
                </a:tc>
                <a:tc>
                  <a:txBody>
                    <a:bodyPr/>
                    <a:lstStyle/>
                    <a:p>
                      <a:pPr algn="ctr">
                        <a:defRPr sz="1000">
                          <a:solidFill>
                            <a:srgbClr val="000000"/>
                          </a:solidFill>
                          <a:latin typeface="Montserrat"/>
                        </a:defRPr>
                      </a:pPr>
                      <a:r>
                        <a:t>48,720</a:t>
                      </a:r>
                    </a:p>
                  </a:txBody>
                  <a:tcPr marL="0" marR="0" marT="0" marB="0">
                    <a:solidFill>
                      <a:srgbClr val="ECD3D9"/>
                    </a:solidFill>
                  </a:tcPr>
                </a:tc>
                <a:tc>
                  <a:txBody>
                    <a:bodyPr/>
                    <a:lstStyle/>
                    <a:p>
                      <a:pPr algn="ctr">
                        <a:defRPr sz="1000">
                          <a:solidFill>
                            <a:srgbClr val="000000"/>
                          </a:solidFill>
                          <a:latin typeface="Montserrat"/>
                        </a:defRPr>
                      </a:pPr>
                      <a:r>
                        <a:t>116,000</a:t>
                      </a:r>
                    </a:p>
                  </a:txBody>
                  <a:tcPr marL="0" marR="0" marT="0" marB="0">
                    <a:solidFill>
                      <a:srgbClr val="ECD3D9"/>
                    </a:solidFill>
                  </a:tcPr>
                </a:tc>
                <a:tc>
                  <a:txBody>
                    <a:bodyPr/>
                    <a:lstStyle/>
                    <a:p>
                      <a:pPr algn="ctr">
                        <a:defRPr sz="1000">
                          <a:solidFill>
                            <a:srgbClr val="000000"/>
                          </a:solidFill>
                          <a:latin typeface="Montserrat"/>
                        </a:defRPr>
                      </a:pPr>
                      <a:r>
                        <a:t>42.0%</a:t>
                      </a:r>
                    </a:p>
                  </a:txBody>
                  <a:tcPr marL="0" marR="0" marT="0" marB="0">
                    <a:solidFill>
                      <a:srgbClr val="ECD3D9"/>
                    </a:solidFill>
                  </a:tcPr>
                </a:tc>
              </a:tr>
              <a:tr h="151200">
                <a:tc>
                  <a:txBody>
                    <a:bodyPr/>
                    <a:lstStyle/>
                    <a:p>
                      <a:pPr algn="l">
                        <a:defRPr sz="1000">
                          <a:solidFill>
                            <a:srgbClr val="000000"/>
                          </a:solidFill>
                          <a:latin typeface="Montserrat"/>
                        </a:defRPr>
                      </a:pPr>
                      <a:r>
                        <a:t>UMF-UMAA 42 Cuajimalpa</a:t>
                      </a:r>
                    </a:p>
                  </a:txBody>
                  <a:tcPr marL="0" marR="0" marT="0" marB="0">
                    <a:solidFill>
                      <a:srgbClr val="EFEFEF"/>
                    </a:solidFill>
                  </a:tcPr>
                </a:tc>
                <a:tc>
                  <a:txBody>
                    <a:bodyPr/>
                    <a:lstStyle/>
                    <a:p>
                      <a:pPr algn="ctr">
                        <a:defRPr sz="1000">
                          <a:solidFill>
                            <a:srgbClr val="000000"/>
                          </a:solidFill>
                          <a:latin typeface="Montserrat"/>
                        </a:defRPr>
                      </a:pPr>
                      <a:r>
                        <a:t>193,978</a:t>
                      </a:r>
                    </a:p>
                  </a:txBody>
                  <a:tcPr marL="0" marR="0" marT="0" marB="0">
                    <a:solidFill>
                      <a:srgbClr val="EFEFEF"/>
                    </a:solidFill>
                  </a:tcPr>
                </a:tc>
                <a:tc>
                  <a:txBody>
                    <a:bodyPr/>
                    <a:lstStyle/>
                    <a:p>
                      <a:pPr algn="ctr">
                        <a:defRPr sz="1000">
                          <a:solidFill>
                            <a:srgbClr val="000000"/>
                          </a:solidFill>
                          <a:latin typeface="Montserrat"/>
                        </a:defRPr>
                      </a:pPr>
                      <a:r>
                        <a:t>13,646</a:t>
                      </a:r>
                    </a:p>
                  </a:txBody>
                  <a:tcPr marL="0" marR="0" marT="0" marB="0">
                    <a:solidFill>
                      <a:srgbClr val="EFEFEF"/>
                    </a:solidFill>
                  </a:tcPr>
                </a:tc>
                <a:tc>
                  <a:txBody>
                    <a:bodyPr/>
                    <a:lstStyle/>
                    <a:p>
                      <a:pPr algn="ctr">
                        <a:defRPr sz="1000">
                          <a:solidFill>
                            <a:srgbClr val="000000"/>
                          </a:solidFill>
                          <a:latin typeface="Montserrat"/>
                        </a:defRPr>
                      </a:pPr>
                      <a:r>
                        <a:t>83,473</a:t>
                      </a:r>
                    </a:p>
                  </a:txBody>
                  <a:tcPr marL="0" marR="0" marT="0" marB="0">
                    <a:solidFill>
                      <a:srgbClr val="ECD3D9"/>
                    </a:solidFill>
                  </a:tcPr>
                </a:tc>
                <a:tc>
                  <a:txBody>
                    <a:bodyPr/>
                    <a:lstStyle/>
                    <a:p>
                      <a:pPr algn="ctr">
                        <a:defRPr sz="1000">
                          <a:solidFill>
                            <a:srgbClr val="000000"/>
                          </a:solidFill>
                          <a:latin typeface="Montserrat"/>
                        </a:defRPr>
                      </a:pPr>
                      <a:r>
                        <a:t>220,416</a:t>
                      </a:r>
                    </a:p>
                  </a:txBody>
                  <a:tcPr marL="0" marR="0" marT="0" marB="0">
                    <a:solidFill>
                      <a:srgbClr val="ECD3D9"/>
                    </a:solidFill>
                  </a:tcPr>
                </a:tc>
                <a:tc>
                  <a:txBody>
                    <a:bodyPr/>
                    <a:lstStyle/>
                    <a:p>
                      <a:pPr algn="ctr">
                        <a:defRPr sz="1000">
                          <a:solidFill>
                            <a:srgbClr val="000000"/>
                          </a:solidFill>
                          <a:latin typeface="Montserrat"/>
                        </a:defRPr>
                      </a:pPr>
                      <a:r>
                        <a:t>37.9%</a:t>
                      </a:r>
                    </a:p>
                  </a:txBody>
                  <a:tcPr marL="0" marR="0" marT="0" marB="0">
                    <a:solidFill>
                      <a:srgbClr val="ECD3D9"/>
                    </a:solidFill>
                  </a:tcPr>
                </a:tc>
              </a:tr>
              <a:tr h="151200">
                <a:tc>
                  <a:txBody>
                    <a:bodyPr/>
                    <a:lstStyle/>
                    <a:p>
                      <a:pPr algn="l">
                        <a:defRPr sz="1000">
                          <a:solidFill>
                            <a:srgbClr val="000000"/>
                          </a:solidFill>
                          <a:latin typeface="Montserrat"/>
                        </a:defRPr>
                      </a:pPr>
                      <a:r>
                        <a:t>UMF 43 Rojo Gómez</a:t>
                      </a:r>
                    </a:p>
                  </a:txBody>
                  <a:tcPr marL="0" marR="0" marT="0" marB="0">
                    <a:solidFill>
                      <a:srgbClr val="FFFFFF"/>
                    </a:solidFill>
                  </a:tcPr>
                </a:tc>
                <a:tc>
                  <a:txBody>
                    <a:bodyPr/>
                    <a:lstStyle/>
                    <a:p>
                      <a:pPr algn="ctr">
                        <a:defRPr sz="1000">
                          <a:solidFill>
                            <a:srgbClr val="000000"/>
                          </a:solidFill>
                          <a:latin typeface="Montserrat"/>
                        </a:defRPr>
                      </a:pPr>
                      <a:r>
                        <a:t>180,795</a:t>
                      </a:r>
                    </a:p>
                  </a:txBody>
                  <a:tcPr marL="0" marR="0" marT="0" marB="0">
                    <a:solidFill>
                      <a:srgbClr val="FFFFFF"/>
                    </a:solidFill>
                  </a:tcPr>
                </a:tc>
                <a:tc>
                  <a:txBody>
                    <a:bodyPr/>
                    <a:lstStyle/>
                    <a:p>
                      <a:pPr algn="ctr">
                        <a:defRPr sz="1000">
                          <a:solidFill>
                            <a:srgbClr val="000000"/>
                          </a:solidFill>
                          <a:latin typeface="Montserrat"/>
                        </a:defRPr>
                      </a:pPr>
                      <a:r>
                        <a:t>7,617</a:t>
                      </a:r>
                    </a:p>
                  </a:txBody>
                  <a:tcPr marL="0" marR="0" marT="0" marB="0">
                    <a:solidFill>
                      <a:srgbClr val="FFFFFF"/>
                    </a:solidFill>
                  </a:tcPr>
                </a:tc>
                <a:tc>
                  <a:txBody>
                    <a:bodyPr/>
                    <a:lstStyle/>
                    <a:p>
                      <a:pPr algn="ctr">
                        <a:defRPr sz="1000">
                          <a:solidFill>
                            <a:srgbClr val="000000"/>
                          </a:solidFill>
                          <a:latin typeface="Montserrat"/>
                        </a:defRPr>
                      </a:pPr>
                      <a:r>
                        <a:t>73,590</a:t>
                      </a:r>
                    </a:p>
                  </a:txBody>
                  <a:tcPr marL="0" marR="0" marT="0" marB="0">
                    <a:solidFill>
                      <a:srgbClr val="ECD3D9"/>
                    </a:solidFill>
                  </a:tcPr>
                </a:tc>
                <a:tc>
                  <a:txBody>
                    <a:bodyPr/>
                    <a:lstStyle/>
                    <a:p>
                      <a:pPr algn="ctr">
                        <a:defRPr sz="1000">
                          <a:solidFill>
                            <a:srgbClr val="000000"/>
                          </a:solidFill>
                          <a:latin typeface="Montserrat"/>
                        </a:defRPr>
                      </a:pPr>
                      <a:r>
                        <a:t>175,000</a:t>
                      </a:r>
                    </a:p>
                  </a:txBody>
                  <a:tcPr marL="0" marR="0" marT="0" marB="0">
                    <a:solidFill>
                      <a:srgbClr val="ECD3D9"/>
                    </a:solidFill>
                  </a:tcPr>
                </a:tc>
                <a:tc>
                  <a:txBody>
                    <a:bodyPr/>
                    <a:lstStyle/>
                    <a:p>
                      <a:pPr algn="ctr">
                        <a:defRPr sz="1000">
                          <a:solidFill>
                            <a:srgbClr val="000000"/>
                          </a:solidFill>
                          <a:latin typeface="Montserrat"/>
                        </a:defRPr>
                      </a:pPr>
                      <a:r>
                        <a:t>42.1%</a:t>
                      </a:r>
                    </a:p>
                  </a:txBody>
                  <a:tcPr marL="0" marR="0" marT="0" marB="0">
                    <a:solidFill>
                      <a:srgbClr val="ECD3D9"/>
                    </a:solidFill>
                  </a:tcPr>
                </a:tc>
              </a:tr>
              <a:tr h="151200">
                <a:tc>
                  <a:txBody>
                    <a:bodyPr/>
                    <a:lstStyle/>
                    <a:p>
                      <a:pPr algn="l">
                        <a:defRPr sz="1000">
                          <a:solidFill>
                            <a:srgbClr val="000000"/>
                          </a:solidFill>
                          <a:latin typeface="Montserrat"/>
                        </a:defRPr>
                      </a:pPr>
                      <a:r>
                        <a:t>UMF 94 San Juan Aragón</a:t>
                      </a:r>
                    </a:p>
                  </a:txBody>
                  <a:tcPr marL="0" marR="0" marT="0" marB="0">
                    <a:solidFill>
                      <a:srgbClr val="EFEFEF"/>
                    </a:solidFill>
                  </a:tcPr>
                </a:tc>
                <a:tc>
                  <a:txBody>
                    <a:bodyPr/>
                    <a:lstStyle/>
                    <a:p>
                      <a:pPr algn="ctr">
                        <a:defRPr sz="1000">
                          <a:solidFill>
                            <a:srgbClr val="000000"/>
                          </a:solidFill>
                          <a:latin typeface="Montserrat"/>
                        </a:defRPr>
                      </a:pPr>
                      <a:r>
                        <a:t>343,668</a:t>
                      </a:r>
                    </a:p>
                  </a:txBody>
                  <a:tcPr marL="0" marR="0" marT="0" marB="0">
                    <a:solidFill>
                      <a:srgbClr val="EFEFEF"/>
                    </a:solidFill>
                  </a:tcPr>
                </a:tc>
                <a:tc>
                  <a:txBody>
                    <a:bodyPr/>
                    <a:lstStyle/>
                    <a:p>
                      <a:pPr algn="ctr">
                        <a:defRPr sz="1000">
                          <a:solidFill>
                            <a:srgbClr val="000000"/>
                          </a:solidFill>
                          <a:latin typeface="Montserrat"/>
                        </a:defRPr>
                      </a:pPr>
                      <a:r>
                        <a:t>16,063</a:t>
                      </a:r>
                    </a:p>
                  </a:txBody>
                  <a:tcPr marL="0" marR="0" marT="0" marB="0">
                    <a:solidFill>
                      <a:srgbClr val="EFEFEF"/>
                    </a:solidFill>
                  </a:tcPr>
                </a:tc>
                <a:tc>
                  <a:txBody>
                    <a:bodyPr/>
                    <a:lstStyle/>
                    <a:p>
                      <a:pPr algn="ctr">
                        <a:defRPr sz="1000">
                          <a:solidFill>
                            <a:srgbClr val="000000"/>
                          </a:solidFill>
                          <a:latin typeface="Montserrat"/>
                        </a:defRPr>
                      </a:pPr>
                      <a:r>
                        <a:t>140,742</a:t>
                      </a:r>
                    </a:p>
                  </a:txBody>
                  <a:tcPr marL="0" marR="0" marT="0" marB="0">
                    <a:solidFill>
                      <a:srgbClr val="ECD3D9"/>
                    </a:solidFill>
                  </a:tcPr>
                </a:tc>
                <a:tc>
                  <a:txBody>
                    <a:bodyPr/>
                    <a:lstStyle/>
                    <a:p>
                      <a:pPr algn="ctr">
                        <a:defRPr sz="1000">
                          <a:solidFill>
                            <a:srgbClr val="000000"/>
                          </a:solidFill>
                          <a:latin typeface="Montserrat"/>
                        </a:defRPr>
                      </a:pPr>
                      <a:r>
                        <a:t>344,400</a:t>
                      </a:r>
                    </a:p>
                  </a:txBody>
                  <a:tcPr marL="0" marR="0" marT="0" marB="0">
                    <a:solidFill>
                      <a:srgbClr val="ECD3D9"/>
                    </a:solidFill>
                  </a:tcPr>
                </a:tc>
                <a:tc>
                  <a:txBody>
                    <a:bodyPr/>
                    <a:lstStyle/>
                    <a:p>
                      <a:pPr algn="ctr">
                        <a:defRPr sz="1000">
                          <a:solidFill>
                            <a:srgbClr val="000000"/>
                          </a:solidFill>
                          <a:latin typeface="Montserrat"/>
                        </a:defRPr>
                      </a:pPr>
                      <a:r>
                        <a:t>40.9%</a:t>
                      </a:r>
                    </a:p>
                  </a:txBody>
                  <a:tcPr marL="0" marR="0" marT="0" marB="0">
                    <a:solidFill>
                      <a:srgbClr val="ECD3D9"/>
                    </a:solidFill>
                  </a:tcPr>
                </a:tc>
              </a:tr>
              <a:tr h="151200">
                <a:tc>
                  <a:txBody>
                    <a:bodyPr/>
                    <a:lstStyle/>
                    <a:p>
                      <a:pPr algn="l">
                        <a:defRPr sz="1000">
                          <a:solidFill>
                            <a:srgbClr val="000000"/>
                          </a:solidFill>
                          <a:latin typeface="Montserrat"/>
                        </a:defRPr>
                      </a:pPr>
                      <a:r>
                        <a:t>UMF 120 Zaragoza</a:t>
                      </a:r>
                    </a:p>
                  </a:txBody>
                  <a:tcPr marL="0" marR="0" marT="0" marB="0">
                    <a:solidFill>
                      <a:srgbClr val="FFFFFF"/>
                    </a:solidFill>
                  </a:tcPr>
                </a:tc>
                <a:tc>
                  <a:txBody>
                    <a:bodyPr/>
                    <a:lstStyle/>
                    <a:p>
                      <a:pPr algn="ctr">
                        <a:defRPr sz="1000">
                          <a:solidFill>
                            <a:srgbClr val="000000"/>
                          </a:solidFill>
                          <a:latin typeface="Montserrat"/>
                        </a:defRPr>
                      </a:pPr>
                      <a:r>
                        <a:t>163,767</a:t>
                      </a:r>
                    </a:p>
                  </a:txBody>
                  <a:tcPr marL="0" marR="0" marT="0" marB="0">
                    <a:solidFill>
                      <a:srgbClr val="FFFFFF"/>
                    </a:solidFill>
                  </a:tcPr>
                </a:tc>
                <a:tc>
                  <a:txBody>
                    <a:bodyPr/>
                    <a:lstStyle/>
                    <a:p>
                      <a:pPr algn="ctr">
                        <a:defRPr sz="1000">
                          <a:solidFill>
                            <a:srgbClr val="000000"/>
                          </a:solidFill>
                          <a:latin typeface="Montserrat"/>
                        </a:defRPr>
                      </a:pPr>
                      <a:r>
                        <a:t>10,366</a:t>
                      </a:r>
                    </a:p>
                  </a:txBody>
                  <a:tcPr marL="0" marR="0" marT="0" marB="0">
                    <a:solidFill>
                      <a:srgbClr val="FFFFFF"/>
                    </a:solidFill>
                  </a:tcPr>
                </a:tc>
                <a:tc>
                  <a:txBody>
                    <a:bodyPr/>
                    <a:lstStyle/>
                    <a:p>
                      <a:pPr algn="ctr">
                        <a:defRPr sz="1000">
                          <a:solidFill>
                            <a:srgbClr val="000000"/>
                          </a:solidFill>
                          <a:latin typeface="Montserrat"/>
                        </a:defRPr>
                      </a:pPr>
                      <a:r>
                        <a:t>67,029</a:t>
                      </a:r>
                    </a:p>
                  </a:txBody>
                  <a:tcPr marL="0" marR="0" marT="0" marB="0">
                    <a:solidFill>
                      <a:srgbClr val="ECD3D9"/>
                    </a:solidFill>
                  </a:tcPr>
                </a:tc>
                <a:tc>
                  <a:txBody>
                    <a:bodyPr/>
                    <a:lstStyle/>
                    <a:p>
                      <a:pPr algn="ctr">
                        <a:defRPr sz="1000">
                          <a:solidFill>
                            <a:srgbClr val="000000"/>
                          </a:solidFill>
                          <a:latin typeface="Montserrat"/>
                        </a:defRPr>
                      </a:pPr>
                      <a:r>
                        <a:t>165,312</a:t>
                      </a:r>
                    </a:p>
                  </a:txBody>
                  <a:tcPr marL="0" marR="0" marT="0" marB="0">
                    <a:solidFill>
                      <a:srgbClr val="ECD3D9"/>
                    </a:solidFill>
                  </a:tcPr>
                </a:tc>
                <a:tc>
                  <a:txBody>
                    <a:bodyPr/>
                    <a:lstStyle/>
                    <a:p>
                      <a:pPr algn="ctr">
                        <a:defRPr sz="1000">
                          <a:solidFill>
                            <a:srgbClr val="000000"/>
                          </a:solidFill>
                          <a:latin typeface="Montserrat"/>
                        </a:defRPr>
                      </a:pPr>
                      <a:r>
                        <a:t>40.5%</a:t>
                      </a:r>
                    </a:p>
                  </a:txBody>
                  <a:tcPr marL="0" marR="0" marT="0" marB="0">
                    <a:solidFill>
                      <a:srgbClr val="ECD3D9"/>
                    </a:solidFill>
                  </a:tcPr>
                </a:tc>
              </a:tr>
              <a:tr h="151200">
                <a:tc>
                  <a:txBody>
                    <a:bodyPr/>
                    <a:lstStyle/>
                    <a:p>
                      <a:pPr algn="l">
                        <a:defRPr sz="1000">
                          <a:solidFill>
                            <a:srgbClr val="000000"/>
                          </a:solidFill>
                          <a:latin typeface="Montserrat"/>
                        </a:defRPr>
                      </a:pPr>
                      <a:r>
                        <a:t>UMF 140 La Teja</a:t>
                      </a:r>
                    </a:p>
                  </a:txBody>
                  <a:tcPr marL="0" marR="0" marT="0" marB="0">
                    <a:solidFill>
                      <a:srgbClr val="EFEFEF"/>
                    </a:solidFill>
                  </a:tcPr>
                </a:tc>
                <a:tc>
                  <a:txBody>
                    <a:bodyPr/>
                    <a:lstStyle/>
                    <a:p>
                      <a:pPr algn="ctr">
                        <a:defRPr sz="1000">
                          <a:solidFill>
                            <a:srgbClr val="000000"/>
                          </a:solidFill>
                          <a:latin typeface="Montserrat"/>
                        </a:defRPr>
                      </a:pPr>
                      <a:r>
                        <a:t>174,631</a:t>
                      </a:r>
                    </a:p>
                  </a:txBody>
                  <a:tcPr marL="0" marR="0" marT="0" marB="0">
                    <a:solidFill>
                      <a:srgbClr val="EFEFEF"/>
                    </a:solidFill>
                  </a:tcPr>
                </a:tc>
                <a:tc>
                  <a:txBody>
                    <a:bodyPr/>
                    <a:lstStyle/>
                    <a:p>
                      <a:pPr algn="ctr">
                        <a:defRPr sz="1000">
                          <a:solidFill>
                            <a:srgbClr val="000000"/>
                          </a:solidFill>
                          <a:latin typeface="Montserrat"/>
                        </a:defRPr>
                      </a:pPr>
                      <a:r>
                        <a:t>8,109</a:t>
                      </a:r>
                    </a:p>
                  </a:txBody>
                  <a:tcPr marL="0" marR="0" marT="0" marB="0">
                    <a:solidFill>
                      <a:srgbClr val="EFEFEF"/>
                    </a:solidFill>
                  </a:tcPr>
                </a:tc>
                <a:tc>
                  <a:txBody>
                    <a:bodyPr/>
                    <a:lstStyle/>
                    <a:p>
                      <a:pPr algn="ctr">
                        <a:defRPr sz="1000">
                          <a:solidFill>
                            <a:srgbClr val="000000"/>
                          </a:solidFill>
                          <a:latin typeface="Montserrat"/>
                        </a:defRPr>
                      </a:pPr>
                      <a:r>
                        <a:t>73,783</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43.4%</a:t>
                      </a:r>
                    </a:p>
                  </a:txBody>
                  <a:tcPr marL="0" marR="0" marT="0" marB="0">
                    <a:solidFill>
                      <a:srgbClr val="ECD3D9"/>
                    </a:solidFill>
                  </a:tcPr>
                </a:tc>
              </a:tr>
              <a:tr h="151200">
                <a:tc>
                  <a:txBody>
                    <a:bodyPr/>
                    <a:lstStyle/>
                    <a:p>
                      <a:pPr algn="l">
                        <a:defRPr sz="1000">
                          <a:solidFill>
                            <a:srgbClr val="000000"/>
                          </a:solidFill>
                          <a:latin typeface="Montserrat"/>
                        </a:defRPr>
                      </a:pPr>
                      <a:r>
                        <a:t>UMF 7 Calz. Tlalpan</a:t>
                      </a:r>
                    </a:p>
                  </a:txBody>
                  <a:tcPr marL="0" marR="0" marT="0" marB="0">
                    <a:solidFill>
                      <a:srgbClr val="FFFFFF"/>
                    </a:solidFill>
                  </a:tcPr>
                </a:tc>
                <a:tc>
                  <a:txBody>
                    <a:bodyPr/>
                    <a:lstStyle/>
                    <a:p>
                      <a:pPr algn="ctr">
                        <a:defRPr sz="1000">
                          <a:solidFill>
                            <a:srgbClr val="000000"/>
                          </a:solidFill>
                          <a:latin typeface="Montserrat"/>
                        </a:defRPr>
                      </a:pPr>
                      <a:r>
                        <a:t>478,156</a:t>
                      </a:r>
                    </a:p>
                  </a:txBody>
                  <a:tcPr marL="0" marR="0" marT="0" marB="0">
                    <a:solidFill>
                      <a:srgbClr val="FFFFFF"/>
                    </a:solidFill>
                  </a:tcPr>
                </a:tc>
                <a:tc>
                  <a:txBody>
                    <a:bodyPr/>
                    <a:lstStyle/>
                    <a:p>
                      <a:pPr algn="ctr">
                        <a:defRPr sz="1000">
                          <a:solidFill>
                            <a:srgbClr val="000000"/>
                          </a:solidFill>
                          <a:latin typeface="Montserrat"/>
                        </a:defRPr>
                      </a:pPr>
                      <a:r>
                        <a:t>25,972</a:t>
                      </a:r>
                    </a:p>
                  </a:txBody>
                  <a:tcPr marL="0" marR="0" marT="0" marB="0">
                    <a:solidFill>
                      <a:srgbClr val="FFFFFF"/>
                    </a:solidFill>
                  </a:tcPr>
                </a:tc>
                <a:tc>
                  <a:txBody>
                    <a:bodyPr/>
                    <a:lstStyle/>
                    <a:p>
                      <a:pPr algn="ctr">
                        <a:defRPr sz="1000">
                          <a:solidFill>
                            <a:srgbClr val="000000"/>
                          </a:solidFill>
                          <a:latin typeface="Montserrat"/>
                        </a:defRPr>
                      </a:pPr>
                      <a:r>
                        <a:t>182,385</a:t>
                      </a:r>
                    </a:p>
                  </a:txBody>
                  <a:tcPr marL="0" marR="0" marT="0" marB="0">
                    <a:solidFill>
                      <a:srgbClr val="ECD3D9"/>
                    </a:solidFill>
                  </a:tcPr>
                </a:tc>
                <a:tc>
                  <a:txBody>
                    <a:bodyPr/>
                    <a:lstStyle/>
                    <a:p>
                      <a:pPr algn="ctr">
                        <a:defRPr sz="1000">
                          <a:solidFill>
                            <a:srgbClr val="000000"/>
                          </a:solidFill>
                          <a:latin typeface="Montserrat"/>
                        </a:defRPr>
                      </a:pPr>
                      <a:r>
                        <a:t>495,936</a:t>
                      </a:r>
                    </a:p>
                  </a:txBody>
                  <a:tcPr marL="0" marR="0" marT="0" marB="0">
                    <a:solidFill>
                      <a:srgbClr val="ECD3D9"/>
                    </a:solidFill>
                  </a:tcPr>
                </a:tc>
                <a:tc>
                  <a:txBody>
                    <a:bodyPr/>
                    <a:lstStyle/>
                    <a:p>
                      <a:pPr algn="ctr">
                        <a:defRPr sz="1000">
                          <a:solidFill>
                            <a:srgbClr val="000000"/>
                          </a:solidFill>
                          <a:latin typeface="Montserrat"/>
                        </a:defRPr>
                      </a:pPr>
                      <a:r>
                        <a:t>36.8%</a:t>
                      </a:r>
                    </a:p>
                  </a:txBody>
                  <a:tcPr marL="0" marR="0" marT="0" marB="0">
                    <a:solidFill>
                      <a:srgbClr val="ECD3D9"/>
                    </a:solidFill>
                  </a:tcPr>
                </a:tc>
              </a:tr>
              <a:tr h="151200">
                <a:tc>
                  <a:txBody>
                    <a:bodyPr/>
                    <a:lstStyle/>
                    <a:p>
                      <a:pPr algn="l">
                        <a:defRPr sz="1000">
                          <a:solidFill>
                            <a:srgbClr val="000000"/>
                          </a:solidFill>
                          <a:latin typeface="Montserrat"/>
                        </a:defRPr>
                      </a:pPr>
                      <a:r>
                        <a:t>UMF 15 Ermita Iztapalapa</a:t>
                      </a:r>
                    </a:p>
                  </a:txBody>
                  <a:tcPr marL="0" marR="0" marT="0" marB="0">
                    <a:solidFill>
                      <a:srgbClr val="EFEFEF"/>
                    </a:solidFill>
                  </a:tcPr>
                </a:tc>
                <a:tc>
                  <a:txBody>
                    <a:bodyPr/>
                    <a:lstStyle/>
                    <a:p>
                      <a:pPr algn="ctr">
                        <a:defRPr sz="1000">
                          <a:solidFill>
                            <a:srgbClr val="000000"/>
                          </a:solidFill>
                          <a:latin typeface="Montserrat"/>
                        </a:defRPr>
                      </a:pPr>
                      <a:r>
                        <a:t>445,984</a:t>
                      </a:r>
                    </a:p>
                  </a:txBody>
                  <a:tcPr marL="0" marR="0" marT="0" marB="0">
                    <a:solidFill>
                      <a:srgbClr val="EFEFEF"/>
                    </a:solidFill>
                  </a:tcPr>
                </a:tc>
                <a:tc>
                  <a:txBody>
                    <a:bodyPr/>
                    <a:lstStyle/>
                    <a:p>
                      <a:pPr algn="ctr">
                        <a:defRPr sz="1000">
                          <a:solidFill>
                            <a:srgbClr val="000000"/>
                          </a:solidFill>
                          <a:latin typeface="Montserrat"/>
                        </a:defRPr>
                      </a:pPr>
                      <a:r>
                        <a:t>6,689</a:t>
                      </a:r>
                    </a:p>
                  </a:txBody>
                  <a:tcPr marL="0" marR="0" marT="0" marB="0">
                    <a:solidFill>
                      <a:srgbClr val="EFEFEF"/>
                    </a:solidFill>
                  </a:tcPr>
                </a:tc>
                <a:tc>
                  <a:txBody>
                    <a:bodyPr/>
                    <a:lstStyle/>
                    <a:p>
                      <a:pPr algn="ctr">
                        <a:defRPr sz="1000">
                          <a:solidFill>
                            <a:srgbClr val="000000"/>
                          </a:solidFill>
                          <a:latin typeface="Montserrat"/>
                        </a:defRPr>
                      </a:pPr>
                      <a:r>
                        <a:t>183,832</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41.7%</a:t>
                      </a:r>
                    </a:p>
                  </a:txBody>
                  <a:tcPr marL="0" marR="0" marT="0" marB="0">
                    <a:solidFill>
                      <a:srgbClr val="ECD3D9"/>
                    </a:solidFill>
                  </a:tcPr>
                </a:tc>
              </a:tr>
              <a:tr h="151200">
                <a:tc>
                  <a:txBody>
                    <a:bodyPr/>
                    <a:lstStyle/>
                    <a:p>
                      <a:pPr algn="l">
                        <a:defRPr sz="1000">
                          <a:solidFill>
                            <a:srgbClr val="000000"/>
                          </a:solidFill>
                          <a:latin typeface="Montserrat"/>
                        </a:defRPr>
                      </a:pPr>
                      <a:r>
                        <a:t>UMF 49 El Arbolillo</a:t>
                      </a:r>
                    </a:p>
                  </a:txBody>
                  <a:tcPr marL="0" marR="0" marT="0" marB="0">
                    <a:solidFill>
                      <a:srgbClr val="FFFFFF"/>
                    </a:solidFill>
                  </a:tcPr>
                </a:tc>
                <a:tc>
                  <a:txBody>
                    <a:bodyPr/>
                    <a:lstStyle/>
                    <a:p>
                      <a:pPr algn="ctr">
                        <a:defRPr sz="1000">
                          <a:solidFill>
                            <a:srgbClr val="000000"/>
                          </a:solidFill>
                          <a:latin typeface="Montserrat"/>
                        </a:defRPr>
                      </a:pPr>
                      <a:r>
                        <a:t>142,858</a:t>
                      </a:r>
                    </a:p>
                  </a:txBody>
                  <a:tcPr marL="0" marR="0" marT="0" marB="0">
                    <a:solidFill>
                      <a:srgbClr val="FFFFFF"/>
                    </a:solidFill>
                  </a:tcPr>
                </a:tc>
                <a:tc>
                  <a:txBody>
                    <a:bodyPr/>
                    <a:lstStyle/>
                    <a:p>
                      <a:pPr algn="ctr">
                        <a:defRPr sz="1000">
                          <a:solidFill>
                            <a:srgbClr val="000000"/>
                          </a:solidFill>
                          <a:latin typeface="Montserrat"/>
                        </a:defRPr>
                      </a:pPr>
                      <a:r>
                        <a:t>16,531</a:t>
                      </a:r>
                    </a:p>
                  </a:txBody>
                  <a:tcPr marL="0" marR="0" marT="0" marB="0">
                    <a:solidFill>
                      <a:srgbClr val="FFFFFF"/>
                    </a:solidFill>
                  </a:tcPr>
                </a:tc>
                <a:tc>
                  <a:txBody>
                    <a:bodyPr/>
                    <a:lstStyle/>
                    <a:p>
                      <a:pPr algn="ctr">
                        <a:defRPr sz="1000">
                          <a:solidFill>
                            <a:srgbClr val="000000"/>
                          </a:solidFill>
                          <a:latin typeface="Montserrat"/>
                        </a:defRPr>
                      </a:pPr>
                      <a:r>
                        <a:t>56,867</a:t>
                      </a:r>
                    </a:p>
                  </a:txBody>
                  <a:tcPr marL="0" marR="0" marT="0" marB="0">
                    <a:solidFill>
                      <a:srgbClr val="ECD3D9"/>
                    </a:solidFill>
                  </a:tcPr>
                </a:tc>
                <a:tc>
                  <a:txBody>
                    <a:bodyPr/>
                    <a:lstStyle/>
                    <a:p>
                      <a:pPr algn="ctr">
                        <a:defRPr sz="1000">
                          <a:solidFill>
                            <a:srgbClr val="000000"/>
                          </a:solidFill>
                          <a:latin typeface="Montserrat"/>
                        </a:defRPr>
                      </a:pPr>
                      <a:r>
                        <a:t>139,000</a:t>
                      </a:r>
                    </a:p>
                  </a:txBody>
                  <a:tcPr marL="0" marR="0" marT="0" marB="0">
                    <a:solidFill>
                      <a:srgbClr val="ECD3D9"/>
                    </a:solidFill>
                  </a:tcPr>
                </a:tc>
                <a:tc>
                  <a:txBody>
                    <a:bodyPr/>
                    <a:lstStyle/>
                    <a:p>
                      <a:pPr algn="ctr">
                        <a:defRPr sz="1000">
                          <a:solidFill>
                            <a:srgbClr val="000000"/>
                          </a:solidFill>
                          <a:latin typeface="Montserrat"/>
                        </a:defRPr>
                      </a:pPr>
                      <a:r>
                        <a:t>40.9%</a:t>
                      </a:r>
                    </a:p>
                  </a:txBody>
                  <a:tcPr marL="0" marR="0" marT="0" marB="0">
                    <a:solidFill>
                      <a:srgbClr val="ECD3D9"/>
                    </a:solidFill>
                  </a:tcPr>
                </a:tc>
              </a:tr>
              <a:tr h="151200">
                <a:tc>
                  <a:txBody>
                    <a:bodyPr/>
                    <a:lstStyle/>
                    <a:p>
                      <a:pPr algn="l">
                        <a:defRPr sz="1000">
                          <a:solidFill>
                            <a:srgbClr val="000000"/>
                          </a:solidFill>
                          <a:latin typeface="Montserrat"/>
                        </a:defRPr>
                      </a:pPr>
                      <a:r>
                        <a:t>UMF-UMAA 162 Tláhuac</a:t>
                      </a:r>
                    </a:p>
                  </a:txBody>
                  <a:tcPr marL="0" marR="0" marT="0" marB="0">
                    <a:solidFill>
                      <a:srgbClr val="EFEFEF"/>
                    </a:solidFill>
                  </a:tcPr>
                </a:tc>
                <a:tc>
                  <a:txBody>
                    <a:bodyPr/>
                    <a:lstStyle/>
                    <a:p>
                      <a:pPr algn="ctr">
                        <a:defRPr sz="1000">
                          <a:solidFill>
                            <a:srgbClr val="000000"/>
                          </a:solidFill>
                          <a:latin typeface="Montserrat"/>
                        </a:defRPr>
                      </a:pPr>
                      <a:r>
                        <a:t>160,862</a:t>
                      </a:r>
                    </a:p>
                  </a:txBody>
                  <a:tcPr marL="0" marR="0" marT="0" marB="0">
                    <a:solidFill>
                      <a:srgbClr val="EFEFEF"/>
                    </a:solidFill>
                  </a:tcPr>
                </a:tc>
                <a:tc>
                  <a:txBody>
                    <a:bodyPr/>
                    <a:lstStyle/>
                    <a:p>
                      <a:pPr algn="ctr">
                        <a:defRPr sz="1000">
                          <a:solidFill>
                            <a:srgbClr val="000000"/>
                          </a:solidFill>
                          <a:latin typeface="Montserrat"/>
                        </a:defRPr>
                      </a:pPr>
                      <a:r>
                        <a:t>1,754</a:t>
                      </a:r>
                    </a:p>
                  </a:txBody>
                  <a:tcPr marL="0" marR="0" marT="0" marB="0">
                    <a:solidFill>
                      <a:srgbClr val="EFEFEF"/>
                    </a:solidFill>
                  </a:tcPr>
                </a:tc>
                <a:tc>
                  <a:txBody>
                    <a:bodyPr/>
                    <a:lstStyle/>
                    <a:p>
                      <a:pPr algn="ctr">
                        <a:defRPr sz="1000">
                          <a:solidFill>
                            <a:srgbClr val="000000"/>
                          </a:solidFill>
                          <a:latin typeface="Montserrat"/>
                        </a:defRPr>
                      </a:pPr>
                      <a:r>
                        <a:t>65,907</a:t>
                      </a:r>
                    </a:p>
                  </a:txBody>
                  <a:tcPr marL="0" marR="0" marT="0" marB="0">
                    <a:solidFill>
                      <a:srgbClr val="ECD3D9"/>
                    </a:solidFill>
                  </a:tcPr>
                </a:tc>
                <a:tc>
                  <a:txBody>
                    <a:bodyPr/>
                    <a:lstStyle/>
                    <a:p>
                      <a:pPr algn="ctr">
                        <a:defRPr sz="1000">
                          <a:solidFill>
                            <a:srgbClr val="000000"/>
                          </a:solidFill>
                          <a:latin typeface="Montserrat"/>
                        </a:defRPr>
                      </a:pPr>
                      <a:r>
                        <a:t>156,000</a:t>
                      </a:r>
                    </a:p>
                  </a:txBody>
                  <a:tcPr marL="0" marR="0" marT="0" marB="0">
                    <a:solidFill>
                      <a:srgbClr val="ECD3D9"/>
                    </a:solidFill>
                  </a:tcPr>
                </a:tc>
                <a:tc>
                  <a:txBody>
                    <a:bodyPr/>
                    <a:lstStyle/>
                    <a:p>
                      <a:pPr algn="ctr">
                        <a:defRPr sz="1000">
                          <a:solidFill>
                            <a:srgbClr val="000000"/>
                          </a:solidFill>
                          <a:latin typeface="Montserrat"/>
                        </a:defRPr>
                      </a:pPr>
                      <a:r>
                        <a:t>42.2%</a:t>
                      </a:r>
                    </a:p>
                  </a:txBody>
                  <a:tcPr marL="0" marR="0" marT="0" marB="0">
                    <a:solidFill>
                      <a:srgbClr val="ECD3D9"/>
                    </a:solidFill>
                  </a:tcPr>
                </a:tc>
              </a:tr>
              <a:tr h="151200">
                <a:tc>
                  <a:txBody>
                    <a:bodyPr/>
                    <a:lstStyle/>
                    <a:p>
                      <a:pPr algn="l">
                        <a:defRPr sz="1000">
                          <a:solidFill>
                            <a:srgbClr val="000000"/>
                          </a:solidFill>
                          <a:latin typeface="Montserrat"/>
                        </a:defRPr>
                      </a:pPr>
                      <a:r>
                        <a:t>UMF 163 Villa Coapa</a:t>
                      </a:r>
                    </a:p>
                  </a:txBody>
                  <a:tcPr marL="0" marR="0" marT="0" marB="0">
                    <a:solidFill>
                      <a:srgbClr val="FFFFFF"/>
                    </a:solidFill>
                  </a:tcPr>
                </a:tc>
                <a:tc>
                  <a:txBody>
                    <a:bodyPr/>
                    <a:lstStyle/>
                    <a:p>
                      <a:pPr algn="ctr">
                        <a:defRPr sz="1000">
                          <a:solidFill>
                            <a:srgbClr val="000000"/>
                          </a:solidFill>
                          <a:latin typeface="Montserrat"/>
                        </a:defRPr>
                      </a:pPr>
                      <a:r>
                        <a:t>195,738</a:t>
                      </a:r>
                    </a:p>
                  </a:txBody>
                  <a:tcPr marL="0" marR="0" marT="0" marB="0">
                    <a:solidFill>
                      <a:srgbClr val="FFFFFF"/>
                    </a:solidFill>
                  </a:tcPr>
                </a:tc>
                <a:tc>
                  <a:txBody>
                    <a:bodyPr/>
                    <a:lstStyle/>
                    <a:p>
                      <a:pPr algn="ctr">
                        <a:defRPr sz="1000">
                          <a:solidFill>
                            <a:srgbClr val="000000"/>
                          </a:solidFill>
                          <a:latin typeface="Montserrat"/>
                        </a:defRPr>
                      </a:pPr>
                      <a:r>
                        <a:t>9,675</a:t>
                      </a:r>
                    </a:p>
                  </a:txBody>
                  <a:tcPr marL="0" marR="0" marT="0" marB="0">
                    <a:solidFill>
                      <a:srgbClr val="FFFFFF"/>
                    </a:solidFill>
                  </a:tcPr>
                </a:tc>
                <a:tc>
                  <a:txBody>
                    <a:bodyPr/>
                    <a:lstStyle/>
                    <a:p>
                      <a:pPr algn="ctr">
                        <a:defRPr sz="1000">
                          <a:solidFill>
                            <a:srgbClr val="000000"/>
                          </a:solidFill>
                          <a:latin typeface="Montserrat"/>
                        </a:defRPr>
                      </a:pPr>
                      <a:r>
                        <a:t>81,998</a:t>
                      </a:r>
                    </a:p>
                  </a:txBody>
                  <a:tcPr marL="0" marR="0" marT="0" marB="0">
                    <a:solidFill>
                      <a:srgbClr val="ECD3D9"/>
                    </a:solidFill>
                  </a:tcPr>
                </a:tc>
                <a:tc>
                  <a:txBody>
                    <a:bodyPr/>
                    <a:lstStyle/>
                    <a:p>
                      <a:pPr algn="ctr">
                        <a:defRPr sz="1000">
                          <a:solidFill>
                            <a:srgbClr val="000000"/>
                          </a:solidFill>
                          <a:latin typeface="Montserrat"/>
                        </a:defRPr>
                      </a:pPr>
                      <a:r>
                        <a:t>192,864</a:t>
                      </a:r>
                    </a:p>
                  </a:txBody>
                  <a:tcPr marL="0" marR="0" marT="0" marB="0">
                    <a:solidFill>
                      <a:srgbClr val="ECD3D9"/>
                    </a:solidFill>
                  </a:tcPr>
                </a:tc>
                <a:tc>
                  <a:txBody>
                    <a:bodyPr/>
                    <a:lstStyle/>
                    <a:p>
                      <a:pPr algn="ctr">
                        <a:defRPr sz="1000">
                          <a:solidFill>
                            <a:srgbClr val="000000"/>
                          </a:solidFill>
                          <a:latin typeface="Montserrat"/>
                        </a:defRPr>
                      </a:pPr>
                      <a:r>
                        <a:t>42.5%</a:t>
                      </a:r>
                    </a:p>
                  </a:txBody>
                  <a:tcPr marL="0" marR="0" marT="0" marB="0">
                    <a:solidFill>
                      <a:srgbClr val="ECD3D9"/>
                    </a:solidFill>
                  </a:tcPr>
                </a:tc>
              </a:tr>
              <a:tr h="151200">
                <a:tc>
                  <a:txBody>
                    <a:bodyPr/>
                    <a:lstStyle/>
                    <a:p>
                      <a:pPr algn="l">
                        <a:defRPr sz="1000">
                          <a:solidFill>
                            <a:srgbClr val="000000"/>
                          </a:solidFill>
                          <a:latin typeface="Montserrat"/>
                        </a:defRPr>
                      </a:pPr>
                      <a:r>
                        <a:t>UMF 164</a:t>
                      </a:r>
                    </a:p>
                  </a:txBody>
                  <a:tcPr marL="0" marR="0" marT="0" marB="0">
                    <a:solidFill>
                      <a:srgbClr val="EFEFEF"/>
                    </a:solidFill>
                  </a:tcPr>
                </a:tc>
                <a:tc>
                  <a:txBody>
                    <a:bodyPr/>
                    <a:lstStyle/>
                    <a:p>
                      <a:pPr algn="ctr">
                        <a:defRPr sz="1000">
                          <a:solidFill>
                            <a:srgbClr val="000000"/>
                          </a:solidFill>
                          <a:latin typeface="Montserrat"/>
                        </a:defRPr>
                      </a:pPr>
                      <a:r>
                        <a:t>155,127</a:t>
                      </a:r>
                    </a:p>
                  </a:txBody>
                  <a:tcPr marL="0" marR="0" marT="0" marB="0">
                    <a:solidFill>
                      <a:srgbClr val="EFEFEF"/>
                    </a:solidFill>
                  </a:tcPr>
                </a:tc>
                <a:tc>
                  <a:txBody>
                    <a:bodyPr/>
                    <a:lstStyle/>
                    <a:p>
                      <a:pPr algn="ctr">
                        <a:defRPr sz="1000">
                          <a:solidFill>
                            <a:srgbClr val="000000"/>
                          </a:solidFill>
                          <a:latin typeface="Montserrat"/>
                        </a:defRPr>
                      </a:pPr>
                      <a:r>
                        <a:t>20,413</a:t>
                      </a:r>
                    </a:p>
                  </a:txBody>
                  <a:tcPr marL="0" marR="0" marT="0" marB="0">
                    <a:solidFill>
                      <a:srgbClr val="EFEFEF"/>
                    </a:solidFill>
                  </a:tcPr>
                </a:tc>
                <a:tc>
                  <a:txBody>
                    <a:bodyPr/>
                    <a:lstStyle/>
                    <a:p>
                      <a:pPr algn="ctr">
                        <a:defRPr sz="1000">
                          <a:solidFill>
                            <a:srgbClr val="000000"/>
                          </a:solidFill>
                          <a:latin typeface="Montserrat"/>
                        </a:defRPr>
                      </a:pPr>
                      <a:r>
                        <a:t>62,700</a:t>
                      </a:r>
                    </a:p>
                  </a:txBody>
                  <a:tcPr marL="0" marR="0" marT="0" marB="0">
                    <a:solidFill>
                      <a:srgbClr val="ECD3D9"/>
                    </a:solidFill>
                  </a:tcPr>
                </a:tc>
                <a:tc>
                  <a:txBody>
                    <a:bodyPr/>
                    <a:lstStyle/>
                    <a:p>
                      <a:pPr algn="ctr">
                        <a:defRPr sz="1000">
                          <a:solidFill>
                            <a:srgbClr val="000000"/>
                          </a:solidFill>
                          <a:latin typeface="Montserrat"/>
                        </a:defRPr>
                      </a:pPr>
                      <a:r>
                        <a:t>149,000</a:t>
                      </a:r>
                    </a:p>
                  </a:txBody>
                  <a:tcPr marL="0" marR="0" marT="0" marB="0">
                    <a:solidFill>
                      <a:srgbClr val="ECD3D9"/>
                    </a:solidFill>
                  </a:tcPr>
                </a:tc>
                <a:tc>
                  <a:txBody>
                    <a:bodyPr/>
                    <a:lstStyle/>
                    <a:p>
                      <a:pPr algn="ctr">
                        <a:defRPr sz="1000">
                          <a:solidFill>
                            <a:srgbClr val="000000"/>
                          </a:solidFill>
                          <a:latin typeface="Montserrat"/>
                        </a:defRPr>
                      </a:pPr>
                      <a:r>
                        <a:t>42.1%</a:t>
                      </a:r>
                    </a:p>
                  </a:txBody>
                  <a:tcPr marL="0" marR="0" marT="0" marB="0">
                    <a:solidFill>
                      <a:srgbClr val="ECD3D9"/>
                    </a:solidFill>
                  </a:tcPr>
                </a:tc>
              </a:tr>
            </a:tbl>
          </a:graphicData>
        </a:graphic>
      </p:graphicFrame>
      <p:graphicFrame>
        <p:nvGraphicFramePr>
          <p:cNvPr id="19" name="Chart 18"/>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0" name="TextBox 19"/>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2361919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25 I. Zaragoza</a:t>
                      </a:r>
                    </a:p>
                  </a:txBody>
                  <a:tcPr>
                    <a:solidFill>
                      <a:srgbClr val="FFFFFF"/>
                    </a:solidFill>
                  </a:tcPr>
                </a:tc>
                <a:tc>
                  <a:txBody>
                    <a:bodyPr/>
                    <a:lstStyle/>
                    <a:p>
                      <a:pPr algn="ctr">
                        <a:defRPr sz="1000">
                          <a:latin typeface="Montserrat"/>
                        </a:defRPr>
                      </a:pPr>
                      <a:r>
                        <a:t>8,308</a:t>
                      </a:r>
                    </a:p>
                  </a:txBody>
                  <a:tcPr>
                    <a:solidFill>
                      <a:srgbClr val="FFFFFF"/>
                    </a:solidFill>
                  </a:tcPr>
                </a:tc>
                <a:tc>
                  <a:txBody>
                    <a:bodyPr/>
                    <a:lstStyle/>
                    <a:p>
                      <a:pPr algn="ctr">
                        <a:defRPr sz="1000">
                          <a:latin typeface="Montserrat"/>
                        </a:defRPr>
                      </a:pPr>
                      <a:r>
                        <a:t>8,308</a:t>
                      </a:r>
                    </a:p>
                  </a:txBody>
                  <a:tcPr>
                    <a:solidFill>
                      <a:srgbClr val="FFFFFF"/>
                    </a:solidFill>
                  </a:tcPr>
                </a:tc>
                <a:tc>
                  <a:txBody>
                    <a:bodyPr/>
                    <a:lstStyle/>
                    <a:p>
                      <a:pPr algn="ctr">
                        <a:defRPr sz="1000">
                          <a:latin typeface="Montserrat"/>
                        </a:defRPr>
                      </a:pPr>
                      <a:r>
                        <a:t>61,533</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62.4%</a:t>
                      </a:r>
                    </a:p>
                  </a:txBody>
                  <a:tcPr>
                    <a:solidFill>
                      <a:srgbClr val="ECD3D9"/>
                    </a:solidFill>
                  </a:tcPr>
                </a:tc>
              </a:tr>
              <a:tr h="2844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151,147</a:t>
                      </a:r>
                    </a:p>
                  </a:txBody>
                  <a:tcPr>
                    <a:solidFill>
                      <a:srgbClr val="EFEFEF"/>
                    </a:solidFill>
                  </a:tcPr>
                </a:tc>
                <a:tc>
                  <a:txBody>
                    <a:bodyPr/>
                    <a:lstStyle/>
                    <a:p>
                      <a:pPr algn="ctr">
                        <a:defRPr sz="1000">
                          <a:latin typeface="Montserrat"/>
                        </a:defRPr>
                      </a:pPr>
                      <a:r>
                        <a:t>17,788</a:t>
                      </a:r>
                    </a:p>
                  </a:txBody>
                  <a:tcPr>
                    <a:solidFill>
                      <a:srgbClr val="EFEFEF"/>
                    </a:solidFill>
                  </a:tcPr>
                </a:tc>
                <a:tc>
                  <a:txBody>
                    <a:bodyPr/>
                    <a:lstStyle/>
                    <a:p>
                      <a:pPr algn="ctr">
                        <a:defRPr sz="1000">
                          <a:latin typeface="Montserrat"/>
                        </a:defRPr>
                      </a:pPr>
                      <a:r>
                        <a:t>61,582</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55.1%</a:t>
                      </a:r>
                    </a:p>
                  </a:txBody>
                  <a:tcPr>
                    <a:solidFill>
                      <a:srgbClr val="ECD3D9"/>
                    </a:solidFill>
                  </a:tcPr>
                </a:tc>
              </a:tr>
              <a:tr h="284400">
                <a:tc>
                  <a:txBody>
                    <a:bodyPr/>
                    <a:lstStyle/>
                    <a:p>
                      <a:pPr algn="l">
                        <a:defRPr sz="1000">
                          <a:latin typeface="Montserrat"/>
                        </a:defRPr>
                      </a:pPr>
                      <a:r>
                        <a:t>UMFR Villa Coapa</a:t>
                      </a:r>
                    </a:p>
                  </a:txBody>
                  <a:tcPr>
                    <a:solidFill>
                      <a:srgbClr val="FFFFFF"/>
                    </a:solidFill>
                  </a:tcPr>
                </a:tc>
                <a:tc>
                  <a:txBody>
                    <a:bodyPr/>
                    <a:lstStyle/>
                    <a:p>
                      <a:pPr algn="ctr">
                        <a:defRPr sz="1000">
                          <a:latin typeface="Montserrat"/>
                        </a:defRPr>
                      </a:pPr>
                      <a:r>
                        <a:t>42,851</a:t>
                      </a:r>
                    </a:p>
                  </a:txBody>
                  <a:tcPr>
                    <a:solidFill>
                      <a:srgbClr val="FFFFFF"/>
                    </a:solidFill>
                  </a:tcPr>
                </a:tc>
                <a:tc>
                  <a:txBody>
                    <a:bodyPr/>
                    <a:lstStyle/>
                    <a:p>
                      <a:pPr algn="ctr">
                        <a:defRPr sz="1000">
                          <a:latin typeface="Montserrat"/>
                        </a:defRPr>
                      </a:pPr>
                      <a:r>
                        <a:t>42,851</a:t>
                      </a:r>
                    </a:p>
                  </a:txBody>
                  <a:tcPr>
                    <a:solidFill>
                      <a:srgbClr val="FFFFFF"/>
                    </a:solidFill>
                  </a:tcPr>
                </a:tc>
                <a:tc>
                  <a:txBody>
                    <a:bodyPr/>
                    <a:lstStyle/>
                    <a:p>
                      <a:pPr algn="ctr">
                        <a:defRPr sz="1000">
                          <a:latin typeface="Montserrat"/>
                        </a:defRPr>
                      </a:pPr>
                      <a:r>
                        <a:t>38,815</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42.2%</a:t>
                      </a:r>
                    </a:p>
                  </a:txBody>
                  <a:tcPr>
                    <a:solidFill>
                      <a:srgbClr val="ECD3D9"/>
                    </a:solidFill>
                  </a:tcPr>
                </a:tc>
              </a:tr>
              <a:tr h="284400">
                <a:tc>
                  <a:txBody>
                    <a:bodyPr/>
                    <a:lstStyle/>
                    <a:p>
                      <a:pPr algn="l">
                        <a:defRPr sz="1000">
                          <a:latin typeface="Montserrat"/>
                        </a:defRPr>
                      </a:pPr>
                      <a:r>
                        <a:t>HGZ 48 San Pedro Xalpa</a:t>
                      </a:r>
                    </a:p>
                  </a:txBody>
                  <a:tcPr>
                    <a:solidFill>
                      <a:srgbClr val="EFEFEF"/>
                    </a:solidFill>
                  </a:tcPr>
                </a:tc>
                <a:tc>
                  <a:txBody>
                    <a:bodyPr/>
                    <a:lstStyle/>
                    <a:p>
                      <a:pPr algn="ctr">
                        <a:defRPr sz="1000">
                          <a:latin typeface="Montserrat"/>
                        </a:defRPr>
                      </a:pPr>
                      <a:r>
                        <a:t>198,843</a:t>
                      </a:r>
                    </a:p>
                  </a:txBody>
                  <a:tcPr>
                    <a:solidFill>
                      <a:srgbClr val="EFEFEF"/>
                    </a:solidFill>
                  </a:tcPr>
                </a:tc>
                <a:tc>
                  <a:txBody>
                    <a:bodyPr/>
                    <a:lstStyle/>
                    <a:p>
                      <a:pPr algn="ctr">
                        <a:defRPr sz="1000">
                          <a:latin typeface="Montserrat"/>
                        </a:defRPr>
                      </a:pPr>
                      <a:r>
                        <a:t>46,161</a:t>
                      </a:r>
                    </a:p>
                  </a:txBody>
                  <a:tcPr>
                    <a:solidFill>
                      <a:srgbClr val="EFEFEF"/>
                    </a:solidFill>
                  </a:tcPr>
                </a:tc>
                <a:tc>
                  <a:txBody>
                    <a:bodyPr/>
                    <a:lstStyle/>
                    <a:p>
                      <a:pPr algn="ctr">
                        <a:defRPr sz="1000">
                          <a:latin typeface="Montserrat"/>
                        </a:defRPr>
                      </a:pPr>
                      <a:r>
                        <a:t>82,530</a:t>
                      </a:r>
                    </a:p>
                  </a:txBody>
                  <a:tcPr>
                    <a:solidFill>
                      <a:srgbClr val="ECD3D9"/>
                    </a:solidFill>
                  </a:tcPr>
                </a:tc>
                <a:tc>
                  <a:txBody>
                    <a:bodyPr/>
                    <a:lstStyle/>
                    <a:p>
                      <a:pPr algn="ctr">
                        <a:defRPr sz="1000">
                          <a:latin typeface="Montserrat"/>
                        </a:defRPr>
                      </a:pPr>
                      <a:r>
                        <a:t>197,100</a:t>
                      </a:r>
                    </a:p>
                  </a:txBody>
                  <a:tcPr>
                    <a:solidFill>
                      <a:srgbClr val="ECD3D9"/>
                    </a:solidFill>
                  </a:tcPr>
                </a:tc>
                <a:tc>
                  <a:txBody>
                    <a:bodyPr/>
                    <a:lstStyle/>
                    <a:p>
                      <a:pPr algn="ctr">
                        <a:defRPr sz="1000">
                          <a:latin typeface="Montserrat"/>
                        </a:defRPr>
                      </a:pPr>
                      <a:r>
                        <a:t>41.9%</a:t>
                      </a:r>
                    </a:p>
                  </a:txBody>
                  <a:tcPr>
                    <a:solidFill>
                      <a:srgbClr val="ECD3D9"/>
                    </a:solidFill>
                  </a:tcPr>
                </a:tc>
              </a:tr>
              <a:tr h="284400">
                <a:tc>
                  <a:txBody>
                    <a:bodyPr/>
                    <a:lstStyle/>
                    <a:p>
                      <a:pPr algn="l">
                        <a:defRPr sz="1000">
                          <a:latin typeface="Montserrat"/>
                        </a:defRPr>
                      </a:pPr>
                      <a:r>
                        <a:t>HGZ 24 Insurgentes</a:t>
                      </a:r>
                    </a:p>
                  </a:txBody>
                  <a:tcPr>
                    <a:solidFill>
                      <a:srgbClr val="FFFFFF"/>
                    </a:solidFill>
                  </a:tcPr>
                </a:tc>
                <a:tc>
                  <a:txBody>
                    <a:bodyPr/>
                    <a:lstStyle/>
                    <a:p>
                      <a:pPr algn="ctr">
                        <a:defRPr sz="1000">
                          <a:latin typeface="Montserrat"/>
                        </a:defRPr>
                      </a:pPr>
                      <a:r>
                        <a:t>157,860</a:t>
                      </a:r>
                    </a:p>
                  </a:txBody>
                  <a:tcPr>
                    <a:solidFill>
                      <a:srgbClr val="FFFFFF"/>
                    </a:solidFill>
                  </a:tcPr>
                </a:tc>
                <a:tc>
                  <a:txBody>
                    <a:bodyPr/>
                    <a:lstStyle/>
                    <a:p>
                      <a:pPr algn="ctr">
                        <a:defRPr sz="1000">
                          <a:latin typeface="Montserrat"/>
                        </a:defRPr>
                      </a:pPr>
                      <a:r>
                        <a:t>37,507</a:t>
                      </a:r>
                    </a:p>
                  </a:txBody>
                  <a:tcPr>
                    <a:solidFill>
                      <a:srgbClr val="FFFFFF"/>
                    </a:solidFill>
                  </a:tcPr>
                </a:tc>
                <a:tc>
                  <a:txBody>
                    <a:bodyPr/>
                    <a:lstStyle/>
                    <a:p>
                      <a:pPr algn="ctr">
                        <a:defRPr sz="1000">
                          <a:latin typeface="Montserrat"/>
                        </a:defRPr>
                      </a:pPr>
                      <a:r>
                        <a:t>63,765</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38.8%</a:t>
                      </a:r>
                    </a:p>
                  </a:txBody>
                  <a:tcPr>
                    <a:solidFill>
                      <a:srgbClr val="ECD3D9"/>
                    </a:solidFill>
                  </a:tcPr>
                </a:tc>
              </a:tr>
              <a:tr h="284400">
                <a:tc>
                  <a:txBody>
                    <a:bodyPr/>
                    <a:lstStyle/>
                    <a:p>
                      <a:pPr algn="l">
                        <a:defRPr sz="1000">
                          <a:latin typeface="Montserrat"/>
                        </a:defRPr>
                      </a:pPr>
                      <a:r>
                        <a:t>HGZ 32 Villa Coapa</a:t>
                      </a:r>
                    </a:p>
                  </a:txBody>
                  <a:tcPr>
                    <a:solidFill>
                      <a:srgbClr val="EFEFEF"/>
                    </a:solidFill>
                  </a:tcPr>
                </a:tc>
                <a:tc>
                  <a:txBody>
                    <a:bodyPr/>
                    <a:lstStyle/>
                    <a:p>
                      <a:pPr algn="ctr">
                        <a:defRPr sz="1000">
                          <a:latin typeface="Montserrat"/>
                        </a:defRPr>
                      </a:pPr>
                      <a:r>
                        <a:t>210,515</a:t>
                      </a:r>
                    </a:p>
                  </a:txBody>
                  <a:tcPr>
                    <a:solidFill>
                      <a:srgbClr val="EFEFEF"/>
                    </a:solidFill>
                  </a:tcPr>
                </a:tc>
                <a:tc>
                  <a:txBody>
                    <a:bodyPr/>
                    <a:lstStyle/>
                    <a:p>
                      <a:pPr algn="ctr">
                        <a:defRPr sz="1000">
                          <a:latin typeface="Montserrat"/>
                        </a:defRPr>
                      </a:pPr>
                      <a:r>
                        <a:t>66,780</a:t>
                      </a:r>
                    </a:p>
                  </a:txBody>
                  <a:tcPr>
                    <a:solidFill>
                      <a:srgbClr val="EFEFEF"/>
                    </a:solidFill>
                  </a:tcPr>
                </a:tc>
                <a:tc>
                  <a:txBody>
                    <a:bodyPr/>
                    <a:lstStyle/>
                    <a:p>
                      <a:pPr algn="ctr">
                        <a:defRPr sz="1000">
                          <a:latin typeface="Montserrat"/>
                        </a:defRPr>
                      </a:pPr>
                      <a:r>
                        <a:t>83,787</a:t>
                      </a:r>
                    </a:p>
                  </a:txBody>
                  <a:tcPr>
                    <a:solidFill>
                      <a:srgbClr val="ECD3D9"/>
                    </a:solidFill>
                  </a:tcPr>
                </a:tc>
                <a:tc>
                  <a:txBody>
                    <a:bodyPr/>
                    <a:lstStyle/>
                    <a:p>
                      <a:pPr algn="ctr">
                        <a:defRPr sz="1000">
                          <a:latin typeface="Montserrat"/>
                        </a:defRPr>
                      </a:pPr>
                      <a:r>
                        <a:t>216,810</a:t>
                      </a:r>
                    </a:p>
                  </a:txBody>
                  <a:tcPr>
                    <a:solidFill>
                      <a:srgbClr val="ECD3D9"/>
                    </a:solidFill>
                  </a:tcPr>
                </a:tc>
                <a:tc>
                  <a:txBody>
                    <a:bodyPr/>
                    <a:lstStyle/>
                    <a:p>
                      <a:pPr algn="ctr">
                        <a:defRPr sz="1000">
                          <a:latin typeface="Montserrat"/>
                        </a:defRPr>
                      </a:pPr>
                      <a:r>
                        <a:t>38.6%</a:t>
                      </a:r>
                    </a:p>
                  </a:txBody>
                  <a:tcPr>
                    <a:solidFill>
                      <a:srgbClr val="ECD3D9"/>
                    </a:solidFill>
                  </a:tcPr>
                </a:tc>
              </a:tr>
              <a:tr h="284400">
                <a:tc>
                  <a:txBody>
                    <a:bodyPr/>
                    <a:lstStyle/>
                    <a:p>
                      <a:pPr algn="l">
                        <a:defRPr sz="1000">
                          <a:latin typeface="Montserrat"/>
                        </a:defRPr>
                      </a:pPr>
                      <a:r>
                        <a:t>HGR 1 Carlos Mc Gregor</a:t>
                      </a:r>
                    </a:p>
                  </a:txBody>
                  <a:tcPr>
                    <a:solidFill>
                      <a:srgbClr val="FFFFFF"/>
                    </a:solidFill>
                  </a:tcPr>
                </a:tc>
                <a:tc>
                  <a:txBody>
                    <a:bodyPr/>
                    <a:lstStyle/>
                    <a:p>
                      <a:pPr algn="ctr">
                        <a:defRPr sz="1000">
                          <a:latin typeface="Montserrat"/>
                        </a:defRPr>
                      </a:pPr>
                      <a:r>
                        <a:t>335,051</a:t>
                      </a:r>
                    </a:p>
                  </a:txBody>
                  <a:tcPr>
                    <a:solidFill>
                      <a:srgbClr val="FFFFFF"/>
                    </a:solidFill>
                  </a:tcPr>
                </a:tc>
                <a:tc>
                  <a:txBody>
                    <a:bodyPr/>
                    <a:lstStyle/>
                    <a:p>
                      <a:pPr algn="ctr">
                        <a:defRPr sz="1000">
                          <a:latin typeface="Montserrat"/>
                        </a:defRPr>
                      </a:pPr>
                      <a:r>
                        <a:t>104,279</a:t>
                      </a:r>
                    </a:p>
                  </a:txBody>
                  <a:tcPr>
                    <a:solidFill>
                      <a:srgbClr val="FFFFFF"/>
                    </a:solidFill>
                  </a:tcPr>
                </a:tc>
                <a:tc>
                  <a:txBody>
                    <a:bodyPr/>
                    <a:lstStyle/>
                    <a:p>
                      <a:pPr algn="ctr">
                        <a:defRPr sz="1000">
                          <a:latin typeface="Montserrat"/>
                        </a:defRPr>
                      </a:pPr>
                      <a:r>
                        <a:t>125,184</a:t>
                      </a:r>
                    </a:p>
                  </a:txBody>
                  <a:tcPr>
                    <a:solidFill>
                      <a:srgbClr val="ECD3D9"/>
                    </a:solidFill>
                  </a:tcPr>
                </a:tc>
                <a:tc>
                  <a:txBody>
                    <a:bodyPr/>
                    <a:lstStyle/>
                    <a:p>
                      <a:pPr algn="ctr">
                        <a:defRPr sz="1000">
                          <a:latin typeface="Montserrat"/>
                        </a:defRPr>
                      </a:pPr>
                      <a:r>
                        <a:t>335,070</a:t>
                      </a:r>
                    </a:p>
                  </a:txBody>
                  <a:tcPr>
                    <a:solidFill>
                      <a:srgbClr val="ECD3D9"/>
                    </a:solidFill>
                  </a:tcPr>
                </a:tc>
                <a:tc>
                  <a:txBody>
                    <a:bodyPr/>
                    <a:lstStyle/>
                    <a:p>
                      <a:pPr algn="ctr">
                        <a:defRPr sz="1000">
                          <a:latin typeface="Montserrat"/>
                        </a:defRPr>
                      </a:pPr>
                      <a:r>
                        <a:t>37.4%</a:t>
                      </a:r>
                    </a:p>
                  </a:txBody>
                  <a:tcPr>
                    <a:solidFill>
                      <a:srgbClr val="ECD3D9"/>
                    </a:solidFill>
                  </a:tcPr>
                </a:tc>
              </a:tr>
              <a:tr h="284400">
                <a:tc>
                  <a:txBody>
                    <a:bodyPr/>
                    <a:lstStyle/>
                    <a:p>
                      <a:pPr algn="l">
                        <a:defRPr sz="1000">
                          <a:latin typeface="Montserrat"/>
                        </a:defRPr>
                      </a:pPr>
                      <a:r>
                        <a:t>HGR 2 Villa Coapa</a:t>
                      </a:r>
                    </a:p>
                  </a:txBody>
                  <a:tcPr>
                    <a:solidFill>
                      <a:srgbClr val="EFEFEF"/>
                    </a:solidFill>
                  </a:tcPr>
                </a:tc>
                <a:tc>
                  <a:txBody>
                    <a:bodyPr/>
                    <a:lstStyle/>
                    <a:p>
                      <a:pPr algn="ctr">
                        <a:defRPr sz="1000">
                          <a:latin typeface="Montserrat"/>
                        </a:defRPr>
                      </a:pPr>
                      <a:r>
                        <a:t>205,575</a:t>
                      </a:r>
                    </a:p>
                  </a:txBody>
                  <a:tcPr>
                    <a:solidFill>
                      <a:srgbClr val="EFEFEF"/>
                    </a:solidFill>
                  </a:tcPr>
                </a:tc>
                <a:tc>
                  <a:txBody>
                    <a:bodyPr/>
                    <a:lstStyle/>
                    <a:p>
                      <a:pPr algn="ctr">
                        <a:defRPr sz="1000">
                          <a:latin typeface="Montserrat"/>
                        </a:defRPr>
                      </a:pPr>
                      <a:r>
                        <a:t>50,373</a:t>
                      </a:r>
                    </a:p>
                  </a:txBody>
                  <a:tcPr>
                    <a:solidFill>
                      <a:srgbClr val="EFEFEF"/>
                    </a:solidFill>
                  </a:tcPr>
                </a:tc>
                <a:tc>
                  <a:txBody>
                    <a:bodyPr/>
                    <a:lstStyle/>
                    <a:p>
                      <a:pPr algn="ctr">
                        <a:defRPr sz="1000">
                          <a:latin typeface="Montserrat"/>
                        </a:defRPr>
                      </a:pPr>
                      <a:r>
                        <a:t>76,066</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37.4%</a:t>
                      </a:r>
                    </a:p>
                  </a:txBody>
                  <a:tcPr>
                    <a:solidFill>
                      <a:srgbClr val="ECD3D9"/>
                    </a:solidFill>
                  </a:tcPr>
                </a:tc>
              </a:tr>
              <a:tr h="284400">
                <a:tc>
                  <a:txBody>
                    <a:bodyPr/>
                    <a:lstStyle/>
                    <a:p>
                      <a:pPr algn="l">
                        <a:defRPr sz="1000">
                          <a:latin typeface="Montserrat"/>
                        </a:defRPr>
                      </a:pPr>
                      <a:r>
                        <a:t>HGZ 1A Venados</a:t>
                      </a:r>
                    </a:p>
                  </a:txBody>
                  <a:tcPr>
                    <a:solidFill>
                      <a:srgbClr val="FFFFFF"/>
                    </a:solidFill>
                  </a:tcPr>
                </a:tc>
                <a:tc>
                  <a:txBody>
                    <a:bodyPr/>
                    <a:lstStyle/>
                    <a:p>
                      <a:pPr algn="ctr">
                        <a:defRPr sz="1000">
                          <a:latin typeface="Montserrat"/>
                        </a:defRPr>
                      </a:pPr>
                      <a:r>
                        <a:t>233,918</a:t>
                      </a:r>
                    </a:p>
                  </a:txBody>
                  <a:tcPr>
                    <a:solidFill>
                      <a:srgbClr val="FFFFFF"/>
                    </a:solidFill>
                  </a:tcPr>
                </a:tc>
                <a:tc>
                  <a:txBody>
                    <a:bodyPr/>
                    <a:lstStyle/>
                    <a:p>
                      <a:pPr algn="ctr">
                        <a:defRPr sz="1000">
                          <a:latin typeface="Montserrat"/>
                        </a:defRPr>
                      </a:pPr>
                      <a:r>
                        <a:t>74,071</a:t>
                      </a:r>
                    </a:p>
                  </a:txBody>
                  <a:tcPr>
                    <a:solidFill>
                      <a:srgbClr val="FFFFFF"/>
                    </a:solidFill>
                  </a:tcPr>
                </a:tc>
                <a:tc>
                  <a:txBody>
                    <a:bodyPr/>
                    <a:lstStyle/>
                    <a:p>
                      <a:pPr algn="ctr">
                        <a:defRPr sz="1000">
                          <a:latin typeface="Montserrat"/>
                        </a:defRPr>
                      </a:pPr>
                      <a:r>
                        <a:t>87,055</a:t>
                      </a:r>
                    </a:p>
                  </a:txBody>
                  <a:tcPr>
                    <a:solidFill>
                      <a:srgbClr val="ECD3D9"/>
                    </a:solidFill>
                  </a:tcPr>
                </a:tc>
                <a:tc>
                  <a:txBody>
                    <a:bodyPr/>
                    <a:lstStyle/>
                    <a:p>
                      <a:pPr algn="ctr">
                        <a:defRPr sz="1000">
                          <a:latin typeface="Montserrat"/>
                        </a:defRPr>
                      </a:pPr>
                      <a:r>
                        <a:t>236,520</a:t>
                      </a:r>
                    </a:p>
                  </a:txBody>
                  <a:tcPr>
                    <a:solidFill>
                      <a:srgbClr val="ECD3D9"/>
                    </a:solidFill>
                  </a:tcPr>
                </a:tc>
                <a:tc>
                  <a:txBody>
                    <a:bodyPr/>
                    <a:lstStyle/>
                    <a:p>
                      <a:pPr algn="ctr">
                        <a:defRPr sz="1000">
                          <a:latin typeface="Montserrat"/>
                        </a:defRPr>
                      </a:pPr>
                      <a:r>
                        <a:t>36.8%</a:t>
                      </a:r>
                    </a:p>
                  </a:txBody>
                  <a:tcPr>
                    <a:solidFill>
                      <a:srgbClr val="ECD3D9"/>
                    </a:solidFill>
                  </a:tcPr>
                </a:tc>
              </a:tr>
              <a:tr h="284400">
                <a:tc>
                  <a:txBody>
                    <a:bodyPr/>
                    <a:lstStyle/>
                    <a:p>
                      <a:pPr algn="l">
                        <a:defRPr sz="1000">
                          <a:latin typeface="Montserrat"/>
                        </a:defRPr>
                      </a:pPr>
                      <a:r>
                        <a:t>HGZMF 8 San Ángel</a:t>
                      </a:r>
                    </a:p>
                  </a:txBody>
                  <a:tcPr>
                    <a:solidFill>
                      <a:srgbClr val="EFEFEF"/>
                    </a:solidFill>
                  </a:tcPr>
                </a:tc>
                <a:tc>
                  <a:txBody>
                    <a:bodyPr/>
                    <a:lstStyle/>
                    <a:p>
                      <a:pPr algn="ctr">
                        <a:defRPr sz="1000">
                          <a:latin typeface="Montserrat"/>
                        </a:defRPr>
                      </a:pPr>
                      <a:r>
                        <a:t>158,010</a:t>
                      </a:r>
                    </a:p>
                  </a:txBody>
                  <a:tcPr>
                    <a:solidFill>
                      <a:srgbClr val="EFEFEF"/>
                    </a:solidFill>
                  </a:tcPr>
                </a:tc>
                <a:tc>
                  <a:txBody>
                    <a:bodyPr/>
                    <a:lstStyle/>
                    <a:p>
                      <a:pPr algn="ctr">
                        <a:defRPr sz="1000">
                          <a:latin typeface="Montserrat"/>
                        </a:defRPr>
                      </a:pPr>
                      <a:r>
                        <a:t>45,895</a:t>
                      </a:r>
                    </a:p>
                  </a:txBody>
                  <a:tcPr>
                    <a:solidFill>
                      <a:srgbClr val="EFEFEF"/>
                    </a:solidFill>
                  </a:tcPr>
                </a:tc>
                <a:tc>
                  <a:txBody>
                    <a:bodyPr/>
                    <a:lstStyle/>
                    <a:p>
                      <a:pPr algn="ctr">
                        <a:defRPr sz="1000">
                          <a:latin typeface="Montserrat"/>
                        </a:defRPr>
                      </a:pPr>
                      <a:r>
                        <a:t>55,503</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35.2%</a:t>
                      </a:r>
                    </a:p>
                  </a:txBody>
                  <a:tcPr>
                    <a:solidFill>
                      <a:srgbClr val="ECD3D9"/>
                    </a:solidFill>
                  </a:tcPr>
                </a:tc>
              </a:tr>
              <a:tr h="284400">
                <a:tc>
                  <a:txBody>
                    <a:bodyPr/>
                    <a:lstStyle/>
                    <a:p>
                      <a:pPr algn="l">
                        <a:defRPr sz="1000">
                          <a:latin typeface="Montserrat"/>
                        </a:defRPr>
                      </a:pPr>
                      <a:r>
                        <a:t>HGZ 2A PasoTroncoso</a:t>
                      </a:r>
                    </a:p>
                  </a:txBody>
                  <a:tcPr>
                    <a:solidFill>
                      <a:srgbClr val="FFFFFF"/>
                    </a:solidFill>
                  </a:tcPr>
                </a:tc>
                <a:tc>
                  <a:txBody>
                    <a:bodyPr/>
                    <a:lstStyle/>
                    <a:p>
                      <a:pPr algn="ctr">
                        <a:defRPr sz="1000">
                          <a:latin typeface="Montserrat"/>
                        </a:defRPr>
                      </a:pPr>
                      <a:r>
                        <a:t>205,295</a:t>
                      </a:r>
                    </a:p>
                  </a:txBody>
                  <a:tcPr>
                    <a:solidFill>
                      <a:srgbClr val="FFFFFF"/>
                    </a:solidFill>
                  </a:tcPr>
                </a:tc>
                <a:tc>
                  <a:txBody>
                    <a:bodyPr/>
                    <a:lstStyle/>
                    <a:p>
                      <a:pPr algn="ctr">
                        <a:defRPr sz="1000">
                          <a:latin typeface="Montserrat"/>
                        </a:defRPr>
                      </a:pPr>
                      <a:r>
                        <a:t>53,173</a:t>
                      </a:r>
                    </a:p>
                  </a:txBody>
                  <a:tcPr>
                    <a:solidFill>
                      <a:srgbClr val="FFFFFF"/>
                    </a:solidFill>
                  </a:tcPr>
                </a:tc>
                <a:tc>
                  <a:txBody>
                    <a:bodyPr/>
                    <a:lstStyle/>
                    <a:p>
                      <a:pPr algn="ctr">
                        <a:defRPr sz="1000">
                          <a:latin typeface="Montserrat"/>
                        </a:defRPr>
                      </a:pPr>
                      <a:r>
                        <a:t>73,387</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HGZ 27 Tlatelolco</a:t>
                      </a:r>
                    </a:p>
                  </a:txBody>
                  <a:tcPr>
                    <a:solidFill>
                      <a:srgbClr val="EFEFEF"/>
                    </a:solidFill>
                  </a:tcPr>
                </a:tc>
                <a:tc>
                  <a:txBody>
                    <a:bodyPr/>
                    <a:lstStyle/>
                    <a:p>
                      <a:pPr algn="ctr">
                        <a:defRPr sz="1000">
                          <a:latin typeface="Montserrat"/>
                        </a:defRPr>
                      </a:pPr>
                      <a:r>
                        <a:t>166,767</a:t>
                      </a:r>
                    </a:p>
                  </a:txBody>
                  <a:tcPr>
                    <a:solidFill>
                      <a:srgbClr val="EFEFEF"/>
                    </a:solidFill>
                  </a:tcPr>
                </a:tc>
                <a:tc>
                  <a:txBody>
                    <a:bodyPr/>
                    <a:lstStyle/>
                    <a:p>
                      <a:pPr algn="ctr">
                        <a:defRPr sz="1000">
                          <a:latin typeface="Montserrat"/>
                        </a:defRPr>
                      </a:pPr>
                      <a:r>
                        <a:t>24,994</a:t>
                      </a:r>
                    </a:p>
                  </a:txBody>
                  <a:tcPr>
                    <a:solidFill>
                      <a:srgbClr val="EFEFEF"/>
                    </a:solidFill>
                  </a:tcPr>
                </a:tc>
                <a:tc>
                  <a:txBody>
                    <a:bodyPr/>
                    <a:lstStyle/>
                    <a:p>
                      <a:pPr algn="ctr">
                        <a:defRPr sz="1000">
                          <a:latin typeface="Montserrat"/>
                        </a:defRPr>
                      </a:pPr>
                      <a:r>
                        <a:t>58,345</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34.2%</a:t>
                      </a:r>
                    </a:p>
                  </a:txBody>
                  <a:tcPr>
                    <a:solidFill>
                      <a:srgbClr val="ECD3D9"/>
                    </a:solidFill>
                  </a:tcPr>
                </a:tc>
              </a:tr>
              <a:tr h="284400">
                <a:tc>
                  <a:txBody>
                    <a:bodyPr/>
                    <a:lstStyle/>
                    <a:p>
                      <a:pPr algn="l">
                        <a:defRPr sz="1000">
                          <a:latin typeface="Montserrat"/>
                        </a:defRPr>
                      </a:pPr>
                      <a:r>
                        <a:t>HGZ 47 Vicente Guerrero</a:t>
                      </a:r>
                    </a:p>
                  </a:txBody>
                  <a:tcPr>
                    <a:solidFill>
                      <a:srgbClr val="FFFFFF"/>
                    </a:solidFill>
                  </a:tcPr>
                </a:tc>
                <a:tc>
                  <a:txBody>
                    <a:bodyPr/>
                    <a:lstStyle/>
                    <a:p>
                      <a:pPr algn="ctr">
                        <a:defRPr sz="1000">
                          <a:latin typeface="Montserrat"/>
                        </a:defRPr>
                      </a:pPr>
                      <a:r>
                        <a:t>155,844</a:t>
                      </a:r>
                    </a:p>
                  </a:txBody>
                  <a:tcPr>
                    <a:solidFill>
                      <a:srgbClr val="FFFFFF"/>
                    </a:solidFill>
                  </a:tcPr>
                </a:tc>
                <a:tc>
                  <a:txBody>
                    <a:bodyPr/>
                    <a:lstStyle/>
                    <a:p>
                      <a:pPr algn="ctr">
                        <a:defRPr sz="1000">
                          <a:latin typeface="Montserrat"/>
                        </a:defRPr>
                      </a:pPr>
                      <a:r>
                        <a:t>48,585</a:t>
                      </a:r>
                    </a:p>
                  </a:txBody>
                  <a:tcPr>
                    <a:solidFill>
                      <a:srgbClr val="FFFFFF"/>
                    </a:solidFill>
                  </a:tcPr>
                </a:tc>
                <a:tc>
                  <a:txBody>
                    <a:bodyPr/>
                    <a:lstStyle/>
                    <a:p>
                      <a:pPr algn="ctr">
                        <a:defRPr sz="1000">
                          <a:latin typeface="Montserrat"/>
                        </a:defRPr>
                      </a:pPr>
                      <a:r>
                        <a:t>53,413</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33.9%</a:t>
                      </a:r>
                    </a:p>
                  </a:txBody>
                  <a:tcPr>
                    <a:solidFill>
                      <a:srgbClr val="ECD3D9"/>
                    </a:solidFill>
                  </a:tcPr>
                </a:tc>
              </a:tr>
              <a:tr h="284400">
                <a:tc>
                  <a:txBody>
                    <a:bodyPr/>
                    <a:lstStyle/>
                    <a:p>
                      <a:pPr algn="l">
                        <a:defRPr sz="1000">
                          <a:latin typeface="Montserrat"/>
                        </a:defRPr>
                      </a:pPr>
                      <a:r>
                        <a:t>HGZ 30 Iztacalco</a:t>
                      </a:r>
                    </a:p>
                  </a:txBody>
                  <a:tcPr>
                    <a:solidFill>
                      <a:srgbClr val="EFEFEF"/>
                    </a:solidFill>
                  </a:tcPr>
                </a:tc>
                <a:tc>
                  <a:txBody>
                    <a:bodyPr/>
                    <a:lstStyle/>
                    <a:p>
                      <a:pPr algn="ctr">
                        <a:defRPr sz="1000">
                          <a:latin typeface="Montserrat"/>
                        </a:defRPr>
                      </a:pPr>
                      <a:r>
                        <a:t>116,852</a:t>
                      </a:r>
                    </a:p>
                  </a:txBody>
                  <a:tcPr>
                    <a:solidFill>
                      <a:srgbClr val="EFEFEF"/>
                    </a:solidFill>
                  </a:tcPr>
                </a:tc>
                <a:tc>
                  <a:txBody>
                    <a:bodyPr/>
                    <a:lstStyle/>
                    <a:p>
                      <a:pPr algn="ctr">
                        <a:defRPr sz="1000">
                          <a:latin typeface="Montserrat"/>
                        </a:defRPr>
                      </a:pPr>
                      <a:r>
                        <a:t>34,704</a:t>
                      </a:r>
                    </a:p>
                  </a:txBody>
                  <a:tcPr>
                    <a:solidFill>
                      <a:srgbClr val="EFEFEF"/>
                    </a:solidFill>
                  </a:tcPr>
                </a:tc>
                <a:tc>
                  <a:txBody>
                    <a:bodyPr/>
                    <a:lstStyle/>
                    <a:p>
                      <a:pPr algn="ctr">
                        <a:defRPr sz="1000">
                          <a:latin typeface="Montserrat"/>
                        </a:defRPr>
                      </a:pPr>
                      <a:r>
                        <a:t>40,905</a:t>
                      </a:r>
                    </a:p>
                  </a:txBody>
                  <a:tcPr>
                    <a:solidFill>
                      <a:srgbClr val="ECD3D9"/>
                    </a:solidFill>
                  </a:tcPr>
                </a:tc>
                <a:tc>
                  <a:txBody>
                    <a:bodyPr/>
                    <a:lstStyle/>
                    <a:p>
                      <a:pPr algn="ctr">
                        <a:defRPr sz="1000">
                          <a:latin typeface="Montserrat"/>
                        </a:defRPr>
                      </a:pPr>
                      <a:r>
                        <a:t>124,830</a:t>
                      </a:r>
                    </a:p>
                  </a:txBody>
                  <a:tcPr>
                    <a:solidFill>
                      <a:srgbClr val="ECD3D9"/>
                    </a:solidFill>
                  </a:tcPr>
                </a:tc>
                <a:tc>
                  <a:txBody>
                    <a:bodyPr/>
                    <a:lstStyle/>
                    <a:p>
                      <a:pPr algn="ctr">
                        <a:defRPr sz="1000">
                          <a:latin typeface="Montserrat"/>
                        </a:defRPr>
                      </a:pPr>
                      <a:r>
                        <a:t>32.8%</a:t>
                      </a:r>
                    </a:p>
                  </a:txBody>
                  <a:tcPr>
                    <a:solidFill>
                      <a:srgbClr val="ECD3D9"/>
                    </a:solidFill>
                  </a:tcPr>
                </a:tc>
              </a:tr>
              <a:tr h="2844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245,845</a:t>
                      </a:r>
                    </a:p>
                  </a:txBody>
                  <a:tcPr>
                    <a:solidFill>
                      <a:srgbClr val="FFFFFF"/>
                    </a:solidFill>
                  </a:tcPr>
                </a:tc>
                <a:tc>
                  <a:txBody>
                    <a:bodyPr/>
                    <a:lstStyle/>
                    <a:p>
                      <a:pPr algn="ctr">
                        <a:defRPr sz="1000">
                          <a:latin typeface="Montserrat"/>
                        </a:defRPr>
                      </a:pPr>
                      <a:r>
                        <a:t>15,545</a:t>
                      </a:r>
                    </a:p>
                  </a:txBody>
                  <a:tcPr>
                    <a:solidFill>
                      <a:srgbClr val="FFFFFF"/>
                    </a:solidFill>
                  </a:tcPr>
                </a:tc>
                <a:tc>
                  <a:txBody>
                    <a:bodyPr/>
                    <a:lstStyle/>
                    <a:p>
                      <a:pPr algn="ctr">
                        <a:defRPr sz="1000">
                          <a:latin typeface="Montserrat"/>
                        </a:defRPr>
                      </a:pPr>
                      <a:r>
                        <a:t>61,815</a:t>
                      </a:r>
                    </a:p>
                  </a:txBody>
                  <a:tcPr>
                    <a:solidFill>
                      <a:srgbClr val="ECD3D9"/>
                    </a:solidFill>
                  </a:tcPr>
                </a:tc>
                <a:tc>
                  <a:txBody>
                    <a:bodyPr/>
                    <a:lstStyle/>
                    <a:p>
                      <a:pPr algn="ctr">
                        <a:defRPr sz="1000">
                          <a:latin typeface="Montserrat"/>
                        </a:defRPr>
                      </a:pPr>
                      <a:r>
                        <a:t>243,090</a:t>
                      </a:r>
                    </a:p>
                  </a:txBody>
                  <a:tcPr>
                    <a:solidFill>
                      <a:srgbClr val="ECD3D9"/>
                    </a:solidFill>
                  </a:tcPr>
                </a:tc>
                <a:tc>
                  <a:txBody>
                    <a:bodyPr/>
                    <a:lstStyle/>
                    <a:p>
                      <a:pPr algn="ctr">
                        <a:defRPr sz="1000">
                          <a:latin typeface="Montserrat"/>
                        </a:defRPr>
                      </a:pPr>
                      <a:r>
                        <a:t>25.4%</a:t>
                      </a:r>
                    </a:p>
                  </a:txBody>
                  <a:tcPr>
                    <a:solidFill>
                      <a:srgbClr val="ECD3D9"/>
                    </a:solidFill>
                  </a:tcPr>
                </a:tc>
              </a:tr>
              <a:tr h="284400">
                <a:tc>
                  <a:txBody>
                    <a:bodyPr/>
                    <a:lstStyle/>
                    <a:p>
                      <a:pPr algn="l">
                        <a:defRPr sz="1000">
                          <a:latin typeface="Montserrat"/>
                        </a:defRPr>
                      </a:pPr>
                      <a:r>
                        <a:t>HPSIQ MF 10 Postal</a:t>
                      </a:r>
                    </a:p>
                  </a:txBody>
                  <a:tcPr>
                    <a:solidFill>
                      <a:srgbClr val="EFEFEF"/>
                    </a:solidFill>
                  </a:tcPr>
                </a:tc>
                <a:tc>
                  <a:txBody>
                    <a:bodyPr/>
                    <a:lstStyle/>
                    <a:p>
                      <a:pPr algn="ctr">
                        <a:defRPr sz="1000">
                          <a:latin typeface="Montserrat"/>
                        </a:defRPr>
                      </a:pPr>
                      <a:r>
                        <a:t>20,632</a:t>
                      </a:r>
                    </a:p>
                  </a:txBody>
                  <a:tcPr>
                    <a:solidFill>
                      <a:srgbClr val="EFEFEF"/>
                    </a:solidFill>
                  </a:tcPr>
                </a:tc>
                <a:tc>
                  <a:txBody>
                    <a:bodyPr/>
                    <a:lstStyle/>
                    <a:p>
                      <a:pPr algn="ctr">
                        <a:defRPr sz="1000">
                          <a:latin typeface="Montserrat"/>
                        </a:defRPr>
                      </a:pPr>
                      <a:r>
                        <a:t>6,424</a:t>
                      </a:r>
                    </a:p>
                  </a:txBody>
                  <a:tcPr>
                    <a:solidFill>
                      <a:srgbClr val="EFEFEF"/>
                    </a:solidFill>
                  </a:tcPr>
                </a:tc>
                <a:tc>
                  <a:txBody>
                    <a:bodyPr/>
                    <a:lstStyle/>
                    <a:p>
                      <a:pPr algn="ctr">
                        <a:defRPr sz="1000">
                          <a:latin typeface="Montserrat"/>
                        </a:defRPr>
                      </a:pPr>
                      <a:r>
                        <a:t>6,173</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23.5%</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2,613,313</a:t>
                      </a:r>
                    </a:p>
                  </a:txBody>
                  <a:tcPr>
                    <a:solidFill>
                      <a:srgbClr val="D3E9E7"/>
                    </a:solidFill>
                  </a:tcPr>
                </a:tc>
                <a:tc>
                  <a:txBody>
                    <a:bodyPr/>
                    <a:lstStyle/>
                    <a:p>
                      <a:pPr algn="ctr">
                        <a:defRPr sz="1000" b="1">
                          <a:solidFill>
                            <a:srgbClr val="006556"/>
                          </a:solidFill>
                          <a:latin typeface="Montserrat"/>
                        </a:defRPr>
                      </a:pPr>
                      <a:r>
                        <a:t>677,438</a:t>
                      </a:r>
                    </a:p>
                  </a:txBody>
                  <a:tcPr>
                    <a:solidFill>
                      <a:srgbClr val="D3E9E7"/>
                    </a:solidFill>
                  </a:tcPr>
                </a:tc>
                <a:tc>
                  <a:txBody>
                    <a:bodyPr/>
                    <a:lstStyle/>
                    <a:p>
                      <a:pPr algn="ctr">
                        <a:defRPr sz="1000" b="1">
                          <a:solidFill>
                            <a:srgbClr val="FFFFFF"/>
                          </a:solidFill>
                          <a:latin typeface="Montserrat"/>
                        </a:defRPr>
                      </a:pPr>
                      <a:r>
                        <a:t>1,029,858</a:t>
                      </a:r>
                    </a:p>
                  </a:txBody>
                  <a:tcPr>
                    <a:solidFill>
                      <a:srgbClr val="9F2241"/>
                    </a:solidFill>
                  </a:tcPr>
                </a:tc>
                <a:tc>
                  <a:txBody>
                    <a:bodyPr/>
                    <a:lstStyle/>
                    <a:p>
                      <a:pPr algn="ctr">
                        <a:defRPr sz="1000" b="1">
                          <a:solidFill>
                            <a:srgbClr val="FFFFFF"/>
                          </a:solidFill>
                          <a:latin typeface="Montserrat"/>
                        </a:defRPr>
                      </a:pPr>
                      <a:r>
                        <a:t>2,746,260</a:t>
                      </a:r>
                    </a:p>
                  </a:txBody>
                  <a:tcPr>
                    <a:solidFill>
                      <a:srgbClr val="9F2241"/>
                    </a:solidFill>
                  </a:tcPr>
                </a:tc>
                <a:tc>
                  <a:txBody>
                    <a:bodyPr/>
                    <a:lstStyle/>
                    <a:p>
                      <a:pPr algn="ctr">
                        <a:defRPr sz="1000" b="1">
                          <a:solidFill>
                            <a:srgbClr val="FFFFFF"/>
                          </a:solidFill>
                          <a:latin typeface="Montserrat"/>
                        </a:defRPr>
                      </a:pPr>
                      <a:r>
                        <a:t>37.5%</a:t>
                      </a:r>
                    </a:p>
                  </a:txBody>
                  <a:tcPr>
                    <a:solidFill>
                      <a:srgbClr val="9F2241"/>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5274040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25 I. Zaragoza</a:t>
                      </a:r>
                    </a:p>
                  </a:txBody>
                  <a:tcPr>
                    <a:solidFill>
                      <a:srgbClr val="FFFFFF"/>
                    </a:solidFill>
                  </a:tcPr>
                </a:tc>
                <a:tc>
                  <a:txBody>
                    <a:bodyPr/>
                    <a:lstStyle/>
                    <a:p>
                      <a:pPr algn="ctr">
                        <a:defRPr sz="1000">
                          <a:latin typeface="Montserrat"/>
                        </a:defRPr>
                      </a:pPr>
                      <a:r>
                        <a:t>154</a:t>
                      </a:r>
                    </a:p>
                  </a:txBody>
                  <a:tcPr>
                    <a:solidFill>
                      <a:srgbClr val="FFFFFF"/>
                    </a:solidFill>
                  </a:tcPr>
                </a:tc>
                <a:tc>
                  <a:txBody>
                    <a:bodyPr/>
                    <a:lstStyle/>
                    <a:p>
                      <a:pPr algn="ctr">
                        <a:defRPr sz="1000">
                          <a:latin typeface="Montserrat"/>
                        </a:defRPr>
                      </a:pPr>
                      <a:r>
                        <a:t>154</a:t>
                      </a:r>
                    </a:p>
                  </a:txBody>
                  <a:tcPr>
                    <a:solidFill>
                      <a:srgbClr val="FFFFFF"/>
                    </a:solidFill>
                  </a:tcPr>
                </a:tc>
                <a:tc>
                  <a:txBody>
                    <a:bodyPr/>
                    <a:lstStyle/>
                    <a:p>
                      <a:pPr algn="ctr">
                        <a:defRPr sz="1000">
                          <a:latin typeface="Montserrat"/>
                        </a:defRPr>
                      </a:pPr>
                      <a:r>
                        <a:t>2,469</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60.6%</a:t>
                      </a:r>
                    </a:p>
                  </a:txBody>
                  <a:tcPr>
                    <a:solidFill>
                      <a:srgbClr val="ECD3D9"/>
                    </a:solidFill>
                  </a:tcPr>
                </a:tc>
              </a:tr>
              <a:tr h="284400">
                <a:tc>
                  <a:txBody>
                    <a:bodyPr/>
                    <a:lstStyle/>
                    <a:p>
                      <a:pPr algn="l">
                        <a:defRPr sz="1000">
                          <a:latin typeface="Montserrat"/>
                        </a:defRPr>
                      </a:pPr>
                      <a:r>
                        <a:t>HGZ 24 Insurgentes</a:t>
                      </a:r>
                    </a:p>
                  </a:txBody>
                  <a:tcPr>
                    <a:solidFill>
                      <a:srgbClr val="EFEFEF"/>
                    </a:solidFill>
                  </a:tcPr>
                </a:tc>
                <a:tc>
                  <a:txBody>
                    <a:bodyPr/>
                    <a:lstStyle/>
                    <a:p>
                      <a:pPr algn="ctr">
                        <a:defRPr sz="1000">
                          <a:latin typeface="Montserrat"/>
                        </a:defRPr>
                      </a:pPr>
                      <a:r>
                        <a:t>6,277</a:t>
                      </a:r>
                    </a:p>
                  </a:txBody>
                  <a:tcPr>
                    <a:solidFill>
                      <a:srgbClr val="EFEFEF"/>
                    </a:solidFill>
                  </a:tcPr>
                </a:tc>
                <a:tc>
                  <a:txBody>
                    <a:bodyPr/>
                    <a:lstStyle/>
                    <a:p>
                      <a:pPr algn="ctr">
                        <a:defRPr sz="1000">
                          <a:latin typeface="Montserrat"/>
                        </a:defRPr>
                      </a:pPr>
                      <a:r>
                        <a:t>1,016</a:t>
                      </a:r>
                    </a:p>
                  </a:txBody>
                  <a:tcPr>
                    <a:solidFill>
                      <a:srgbClr val="EFEFEF"/>
                    </a:solidFill>
                  </a:tcPr>
                </a:tc>
                <a:tc>
                  <a:txBody>
                    <a:bodyPr/>
                    <a:lstStyle/>
                    <a:p>
                      <a:pPr algn="ctr">
                        <a:defRPr sz="1000">
                          <a:latin typeface="Montserrat"/>
                        </a:defRPr>
                      </a:pPr>
                      <a:r>
                        <a:t>2,905</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42.1%</a:t>
                      </a:r>
                    </a:p>
                  </a:txBody>
                  <a:tcPr>
                    <a:solidFill>
                      <a:srgbClr val="ECD3D9"/>
                    </a:solidFill>
                  </a:tcPr>
                </a:tc>
              </a:tr>
              <a:tr h="2844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7,330</a:t>
                      </a:r>
                    </a:p>
                  </a:txBody>
                  <a:tcPr>
                    <a:solidFill>
                      <a:srgbClr val="FFFFFF"/>
                    </a:solidFill>
                  </a:tcPr>
                </a:tc>
                <a:tc>
                  <a:txBody>
                    <a:bodyPr/>
                    <a:lstStyle/>
                    <a:p>
                      <a:pPr algn="ctr">
                        <a:defRPr sz="1000">
                          <a:latin typeface="Montserrat"/>
                        </a:defRPr>
                      </a:pPr>
                      <a:r>
                        <a:t>1,311</a:t>
                      </a:r>
                    </a:p>
                  </a:txBody>
                  <a:tcPr>
                    <a:solidFill>
                      <a:srgbClr val="FFFFFF"/>
                    </a:solidFill>
                  </a:tcPr>
                </a:tc>
                <a:tc>
                  <a:txBody>
                    <a:bodyPr/>
                    <a:lstStyle/>
                    <a:p>
                      <a:pPr algn="ctr">
                        <a:defRPr sz="1000">
                          <a:latin typeface="Montserrat"/>
                        </a:defRPr>
                      </a:pPr>
                      <a:r>
                        <a:t>3,063</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41.8%</a:t>
                      </a:r>
                    </a:p>
                  </a:txBody>
                  <a:tcPr>
                    <a:solidFill>
                      <a:srgbClr val="ECD3D9"/>
                    </a:solidFill>
                  </a:tcPr>
                </a:tc>
              </a:tr>
              <a:tr h="284400">
                <a:tc>
                  <a:txBody>
                    <a:bodyPr/>
                    <a:lstStyle/>
                    <a:p>
                      <a:pPr algn="l">
                        <a:defRPr sz="1000">
                          <a:latin typeface="Montserrat"/>
                        </a:defRPr>
                      </a:pPr>
                      <a:r>
                        <a:t>HGZMF 8 San Ángel</a:t>
                      </a:r>
                    </a:p>
                  </a:txBody>
                  <a:tcPr>
                    <a:solidFill>
                      <a:srgbClr val="EFEFEF"/>
                    </a:solidFill>
                  </a:tcPr>
                </a:tc>
                <a:tc>
                  <a:txBody>
                    <a:bodyPr/>
                    <a:lstStyle/>
                    <a:p>
                      <a:pPr algn="ctr">
                        <a:defRPr sz="1000">
                          <a:latin typeface="Montserrat"/>
                        </a:defRPr>
                      </a:pPr>
                      <a:r>
                        <a:t>6,514</a:t>
                      </a:r>
                    </a:p>
                  </a:txBody>
                  <a:tcPr>
                    <a:solidFill>
                      <a:srgbClr val="EFEFEF"/>
                    </a:solidFill>
                  </a:tcPr>
                </a:tc>
                <a:tc>
                  <a:txBody>
                    <a:bodyPr/>
                    <a:lstStyle/>
                    <a:p>
                      <a:pPr algn="ctr">
                        <a:defRPr sz="1000">
                          <a:latin typeface="Montserrat"/>
                        </a:defRPr>
                      </a:pPr>
                      <a:r>
                        <a:t>1,294</a:t>
                      </a:r>
                    </a:p>
                  </a:txBody>
                  <a:tcPr>
                    <a:solidFill>
                      <a:srgbClr val="EFEFEF"/>
                    </a:solidFill>
                  </a:tcPr>
                </a:tc>
                <a:tc>
                  <a:txBody>
                    <a:bodyPr/>
                    <a:lstStyle/>
                    <a:p>
                      <a:pPr algn="ctr">
                        <a:defRPr sz="1000">
                          <a:latin typeface="Montserrat"/>
                        </a:defRPr>
                      </a:pPr>
                      <a:r>
                        <a:t>3,051</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41.7%</a:t>
                      </a:r>
                    </a:p>
                  </a:txBody>
                  <a:tcPr>
                    <a:solidFill>
                      <a:srgbClr val="ECD3D9"/>
                    </a:solidFill>
                  </a:tcPr>
                </a:tc>
              </a:tr>
              <a:tr h="284400">
                <a:tc>
                  <a:txBody>
                    <a:bodyPr/>
                    <a:lstStyle/>
                    <a:p>
                      <a:pPr algn="l">
                        <a:defRPr sz="1000">
                          <a:latin typeface="Montserrat"/>
                        </a:defRPr>
                      </a:pPr>
                      <a:r>
                        <a:t>HGZ 30 Iztacalco</a:t>
                      </a:r>
                    </a:p>
                  </a:txBody>
                  <a:tcPr>
                    <a:solidFill>
                      <a:srgbClr val="FFFFFF"/>
                    </a:solidFill>
                  </a:tcPr>
                </a:tc>
                <a:tc>
                  <a:txBody>
                    <a:bodyPr/>
                    <a:lstStyle/>
                    <a:p>
                      <a:pPr algn="ctr">
                        <a:defRPr sz="1000">
                          <a:latin typeface="Montserrat"/>
                        </a:defRPr>
                      </a:pPr>
                      <a:r>
                        <a:t>4,057</a:t>
                      </a:r>
                    </a:p>
                  </a:txBody>
                  <a:tcPr>
                    <a:solidFill>
                      <a:srgbClr val="FFFFFF"/>
                    </a:solidFill>
                  </a:tcPr>
                </a:tc>
                <a:tc>
                  <a:txBody>
                    <a:bodyPr/>
                    <a:lstStyle/>
                    <a:p>
                      <a:pPr algn="ctr">
                        <a:defRPr sz="1000">
                          <a:latin typeface="Montserrat"/>
                        </a:defRPr>
                      </a:pPr>
                      <a:r>
                        <a:t>1,501</a:t>
                      </a:r>
                    </a:p>
                  </a:txBody>
                  <a:tcPr>
                    <a:solidFill>
                      <a:srgbClr val="FFFFFF"/>
                    </a:solidFill>
                  </a:tcPr>
                </a:tc>
                <a:tc>
                  <a:txBody>
                    <a:bodyPr/>
                    <a:lstStyle/>
                    <a:p>
                      <a:pPr algn="ctr">
                        <a:defRPr sz="1000">
                          <a:latin typeface="Montserrat"/>
                        </a:defRPr>
                      </a:pPr>
                      <a:r>
                        <a:t>2,257</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41.5%</a:t>
                      </a:r>
                    </a:p>
                  </a:txBody>
                  <a:tcPr>
                    <a:solidFill>
                      <a:srgbClr val="ECD3D9"/>
                    </a:solidFill>
                  </a:tcPr>
                </a:tc>
              </a:tr>
              <a:tr h="284400">
                <a:tc>
                  <a:txBody>
                    <a:bodyPr/>
                    <a:lstStyle/>
                    <a:p>
                      <a:pPr algn="l">
                        <a:defRPr sz="1000">
                          <a:latin typeface="Montserrat"/>
                        </a:defRPr>
                      </a:pPr>
                      <a:r>
                        <a:t>HGZ 1A Venados</a:t>
                      </a:r>
                    </a:p>
                  </a:txBody>
                  <a:tcPr>
                    <a:solidFill>
                      <a:srgbClr val="EFEFEF"/>
                    </a:solidFill>
                  </a:tcPr>
                </a:tc>
                <a:tc>
                  <a:txBody>
                    <a:bodyPr/>
                    <a:lstStyle/>
                    <a:p>
                      <a:pPr algn="ctr">
                        <a:defRPr sz="1000">
                          <a:latin typeface="Montserrat"/>
                        </a:defRPr>
                      </a:pPr>
                      <a:r>
                        <a:t>8,218</a:t>
                      </a:r>
                    </a:p>
                  </a:txBody>
                  <a:tcPr>
                    <a:solidFill>
                      <a:srgbClr val="EFEFEF"/>
                    </a:solidFill>
                  </a:tcPr>
                </a:tc>
                <a:tc>
                  <a:txBody>
                    <a:bodyPr/>
                    <a:lstStyle/>
                    <a:p>
                      <a:pPr algn="ctr">
                        <a:defRPr sz="1000">
                          <a:latin typeface="Montserrat"/>
                        </a:defRPr>
                      </a:pPr>
                      <a:r>
                        <a:t>506</a:t>
                      </a:r>
                    </a:p>
                  </a:txBody>
                  <a:tcPr>
                    <a:solidFill>
                      <a:srgbClr val="EFEFEF"/>
                    </a:solidFill>
                  </a:tcPr>
                </a:tc>
                <a:tc>
                  <a:txBody>
                    <a:bodyPr/>
                    <a:lstStyle/>
                    <a:p>
                      <a:pPr algn="ctr">
                        <a:defRPr sz="1000">
                          <a:latin typeface="Montserrat"/>
                        </a:defRPr>
                      </a:pPr>
                      <a:r>
                        <a:t>3,594</a:t>
                      </a:r>
                    </a:p>
                  </a:txBody>
                  <a:tcPr>
                    <a:solidFill>
                      <a:srgbClr val="ECD3D9"/>
                    </a:solidFill>
                  </a:tcPr>
                </a:tc>
                <a:tc>
                  <a:txBody>
                    <a:bodyPr/>
                    <a:lstStyle/>
                    <a:p>
                      <a:pPr algn="ctr">
                        <a:defRPr sz="1000">
                          <a:latin typeface="Montserrat"/>
                        </a:defRPr>
                      </a:pPr>
                      <a:r>
                        <a:t>8,784</a:t>
                      </a:r>
                    </a:p>
                  </a:txBody>
                  <a:tcPr>
                    <a:solidFill>
                      <a:srgbClr val="ECD3D9"/>
                    </a:solidFill>
                  </a:tcPr>
                </a:tc>
                <a:tc>
                  <a:txBody>
                    <a:bodyPr/>
                    <a:lstStyle/>
                    <a:p>
                      <a:pPr algn="ctr">
                        <a:defRPr sz="1000">
                          <a:latin typeface="Montserrat"/>
                        </a:defRPr>
                      </a:pPr>
                      <a:r>
                        <a:t>40.9%</a:t>
                      </a:r>
                    </a:p>
                  </a:txBody>
                  <a:tcPr>
                    <a:solidFill>
                      <a:srgbClr val="ECD3D9"/>
                    </a:solidFill>
                  </a:tcPr>
                </a:tc>
              </a:tr>
              <a:tr h="284400">
                <a:tc>
                  <a:txBody>
                    <a:bodyPr/>
                    <a:lstStyle/>
                    <a:p>
                      <a:pPr algn="l">
                        <a:defRPr sz="1000">
                          <a:latin typeface="Montserrat"/>
                        </a:defRPr>
                      </a:pPr>
                      <a:r>
                        <a:t>HGZ 48 San Pedro Xalpa</a:t>
                      </a:r>
                    </a:p>
                  </a:txBody>
                  <a:tcPr>
                    <a:solidFill>
                      <a:srgbClr val="FFFFFF"/>
                    </a:solidFill>
                  </a:tcPr>
                </a:tc>
                <a:tc>
                  <a:txBody>
                    <a:bodyPr/>
                    <a:lstStyle/>
                    <a:p>
                      <a:pPr algn="ctr">
                        <a:defRPr sz="1000">
                          <a:latin typeface="Montserrat"/>
                        </a:defRPr>
                      </a:pPr>
                      <a:r>
                        <a:t>8,281</a:t>
                      </a:r>
                    </a:p>
                  </a:txBody>
                  <a:tcPr>
                    <a:solidFill>
                      <a:srgbClr val="FFFFFF"/>
                    </a:solidFill>
                  </a:tcPr>
                </a:tc>
                <a:tc>
                  <a:txBody>
                    <a:bodyPr/>
                    <a:lstStyle/>
                    <a:p>
                      <a:pPr algn="ctr">
                        <a:defRPr sz="1000">
                          <a:latin typeface="Montserrat"/>
                        </a:defRPr>
                      </a:pPr>
                      <a:r>
                        <a:t>920</a:t>
                      </a:r>
                    </a:p>
                  </a:txBody>
                  <a:tcPr>
                    <a:solidFill>
                      <a:srgbClr val="FFFFFF"/>
                    </a:solidFill>
                  </a:tcPr>
                </a:tc>
                <a:tc>
                  <a:txBody>
                    <a:bodyPr/>
                    <a:lstStyle/>
                    <a:p>
                      <a:pPr algn="ctr">
                        <a:defRPr sz="1000">
                          <a:latin typeface="Montserrat"/>
                        </a:defRPr>
                      </a:pPr>
                      <a:r>
                        <a:t>4,142</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40.4%</a:t>
                      </a:r>
                    </a:p>
                  </a:txBody>
                  <a:tcPr>
                    <a:solidFill>
                      <a:srgbClr val="ECD3D9"/>
                    </a:solidFill>
                  </a:tcPr>
                </a:tc>
              </a:tr>
              <a:tr h="2844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9,418</a:t>
                      </a:r>
                    </a:p>
                  </a:txBody>
                  <a:tcPr>
                    <a:solidFill>
                      <a:srgbClr val="EFEFEF"/>
                    </a:solidFill>
                  </a:tcPr>
                </a:tc>
                <a:tc>
                  <a:txBody>
                    <a:bodyPr/>
                    <a:lstStyle/>
                    <a:p>
                      <a:pPr algn="ctr">
                        <a:defRPr sz="1000">
                          <a:latin typeface="Montserrat"/>
                        </a:defRPr>
                      </a:pPr>
                      <a:r>
                        <a:t>270</a:t>
                      </a:r>
                    </a:p>
                  </a:txBody>
                  <a:tcPr>
                    <a:solidFill>
                      <a:srgbClr val="EFEFEF"/>
                    </a:solidFill>
                  </a:tcPr>
                </a:tc>
                <a:tc>
                  <a:txBody>
                    <a:bodyPr/>
                    <a:lstStyle/>
                    <a:p>
                      <a:pPr algn="ctr">
                        <a:defRPr sz="1000">
                          <a:latin typeface="Montserrat"/>
                        </a:defRPr>
                      </a:pPr>
                      <a:r>
                        <a:t>4,068</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39.3%</a:t>
                      </a:r>
                    </a:p>
                  </a:txBody>
                  <a:tcPr>
                    <a:solidFill>
                      <a:srgbClr val="ECD3D9"/>
                    </a:solidFill>
                  </a:tcPr>
                </a:tc>
              </a:tr>
              <a:tr h="2844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8,790</a:t>
                      </a:r>
                    </a:p>
                  </a:txBody>
                  <a:tcPr>
                    <a:solidFill>
                      <a:srgbClr val="FFFFFF"/>
                    </a:solidFill>
                  </a:tcPr>
                </a:tc>
                <a:tc>
                  <a:txBody>
                    <a:bodyPr/>
                    <a:lstStyle/>
                    <a:p>
                      <a:pPr algn="ctr">
                        <a:defRPr sz="1000">
                          <a:latin typeface="Montserrat"/>
                        </a:defRPr>
                      </a:pPr>
                      <a:r>
                        <a:t>2,167</a:t>
                      </a:r>
                    </a:p>
                  </a:txBody>
                  <a:tcPr>
                    <a:solidFill>
                      <a:srgbClr val="FFFFFF"/>
                    </a:solidFill>
                  </a:tcPr>
                </a:tc>
                <a:tc>
                  <a:txBody>
                    <a:bodyPr/>
                    <a:lstStyle/>
                    <a:p>
                      <a:pPr algn="ctr">
                        <a:defRPr sz="1000">
                          <a:latin typeface="Montserrat"/>
                        </a:defRPr>
                      </a:pPr>
                      <a:r>
                        <a:t>4,717</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38.6%</a:t>
                      </a:r>
                    </a:p>
                  </a:txBody>
                  <a:tcPr>
                    <a:solidFill>
                      <a:srgbClr val="ECD3D9"/>
                    </a:solidFill>
                  </a:tcPr>
                </a:tc>
              </a:tr>
              <a:tr h="284400">
                <a:tc>
                  <a:txBody>
                    <a:bodyPr/>
                    <a:lstStyle/>
                    <a:p>
                      <a:pPr algn="l">
                        <a:defRPr sz="1000">
                          <a:latin typeface="Montserrat"/>
                        </a:defRPr>
                      </a:pPr>
                      <a:r>
                        <a:t>HGR 1 Carlos Mc Gregor</a:t>
                      </a:r>
                    </a:p>
                  </a:txBody>
                  <a:tcPr>
                    <a:solidFill>
                      <a:srgbClr val="EFEFEF"/>
                    </a:solidFill>
                  </a:tcPr>
                </a:tc>
                <a:tc>
                  <a:txBody>
                    <a:bodyPr/>
                    <a:lstStyle/>
                    <a:p>
                      <a:pPr algn="ctr">
                        <a:defRPr sz="1000">
                          <a:latin typeface="Montserrat"/>
                        </a:defRPr>
                      </a:pPr>
                      <a:r>
                        <a:t>9,068</a:t>
                      </a:r>
                    </a:p>
                  </a:txBody>
                  <a:tcPr>
                    <a:solidFill>
                      <a:srgbClr val="EFEFEF"/>
                    </a:solidFill>
                  </a:tcPr>
                </a:tc>
                <a:tc>
                  <a:txBody>
                    <a:bodyPr/>
                    <a:lstStyle/>
                    <a:p>
                      <a:pPr algn="ctr">
                        <a:defRPr sz="1000">
                          <a:latin typeface="Montserrat"/>
                        </a:defRPr>
                      </a:pPr>
                      <a:r>
                        <a:t>194</a:t>
                      </a:r>
                    </a:p>
                  </a:txBody>
                  <a:tcPr>
                    <a:solidFill>
                      <a:srgbClr val="EFEFEF"/>
                    </a:solidFill>
                  </a:tcPr>
                </a:tc>
                <a:tc>
                  <a:txBody>
                    <a:bodyPr/>
                    <a:lstStyle/>
                    <a:p>
                      <a:pPr algn="ctr">
                        <a:defRPr sz="1000">
                          <a:latin typeface="Montserrat"/>
                        </a:defRPr>
                      </a:pPr>
                      <a:r>
                        <a:t>3,910</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36.5%</a:t>
                      </a:r>
                    </a:p>
                  </a:txBody>
                  <a:tcPr>
                    <a:solidFill>
                      <a:srgbClr val="ECD3D9"/>
                    </a:solidFill>
                  </a:tcPr>
                </a:tc>
              </a:tr>
              <a:tr h="284400">
                <a:tc>
                  <a:txBody>
                    <a:bodyPr/>
                    <a:lstStyle/>
                    <a:p>
                      <a:pPr algn="l">
                        <a:defRPr sz="1000">
                          <a:latin typeface="Montserrat"/>
                        </a:defRPr>
                      </a:pPr>
                      <a:r>
                        <a:t>HGR 2 Villa Coapa</a:t>
                      </a:r>
                    </a:p>
                  </a:txBody>
                  <a:tcPr>
                    <a:solidFill>
                      <a:srgbClr val="FFFFFF"/>
                    </a:solidFill>
                  </a:tcPr>
                </a:tc>
                <a:tc>
                  <a:txBody>
                    <a:bodyPr/>
                    <a:lstStyle/>
                    <a:p>
                      <a:pPr algn="ctr">
                        <a:defRPr sz="1000">
                          <a:latin typeface="Montserrat"/>
                        </a:defRPr>
                      </a:pPr>
                      <a:r>
                        <a:t>13,693</a:t>
                      </a:r>
                    </a:p>
                  </a:txBody>
                  <a:tcPr>
                    <a:solidFill>
                      <a:srgbClr val="FFFFFF"/>
                    </a:solidFill>
                  </a:tcPr>
                </a:tc>
                <a:tc>
                  <a:txBody>
                    <a:bodyPr/>
                    <a:lstStyle/>
                    <a:p>
                      <a:pPr algn="ctr">
                        <a:defRPr sz="1000">
                          <a:latin typeface="Montserrat"/>
                        </a:defRPr>
                      </a:pPr>
                      <a:r>
                        <a:t>1,932</a:t>
                      </a:r>
                    </a:p>
                  </a:txBody>
                  <a:tcPr>
                    <a:solidFill>
                      <a:srgbClr val="FFFFFF"/>
                    </a:solidFill>
                  </a:tcPr>
                </a:tc>
                <a:tc>
                  <a:txBody>
                    <a:bodyPr/>
                    <a:lstStyle/>
                    <a:p>
                      <a:pPr algn="ctr">
                        <a:defRPr sz="1000">
                          <a:latin typeface="Montserrat"/>
                        </a:defRPr>
                      </a:pPr>
                      <a:r>
                        <a:t>5,594</a:t>
                      </a:r>
                    </a:p>
                  </a:txBody>
                  <a:tcPr>
                    <a:solidFill>
                      <a:srgbClr val="ECD3D9"/>
                    </a:solidFill>
                  </a:tcPr>
                </a:tc>
                <a:tc>
                  <a:txBody>
                    <a:bodyPr/>
                    <a:lstStyle/>
                    <a:p>
                      <a:pPr algn="ctr">
                        <a:defRPr sz="1000">
                          <a:latin typeface="Montserrat"/>
                        </a:defRPr>
                      </a:pPr>
                      <a:r>
                        <a:t>15,525</a:t>
                      </a:r>
                    </a:p>
                  </a:txBody>
                  <a:tcPr>
                    <a:solidFill>
                      <a:srgbClr val="ECD3D9"/>
                    </a:solidFill>
                  </a:tcPr>
                </a:tc>
                <a:tc>
                  <a:txBody>
                    <a:bodyPr/>
                    <a:lstStyle/>
                    <a:p>
                      <a:pPr algn="ctr">
                        <a:defRPr sz="1000">
                          <a:latin typeface="Montserrat"/>
                        </a:defRPr>
                      </a:pPr>
                      <a:r>
                        <a:t>36.0%</a:t>
                      </a:r>
                    </a:p>
                  </a:txBody>
                  <a:tcPr>
                    <a:solidFill>
                      <a:srgbClr val="ECD3D9"/>
                    </a:solidFill>
                  </a:tcPr>
                </a:tc>
              </a:tr>
              <a:tr h="284400">
                <a:tc>
                  <a:txBody>
                    <a:bodyPr/>
                    <a:lstStyle/>
                    <a:p>
                      <a:pPr algn="l">
                        <a:defRPr sz="1000">
                          <a:latin typeface="Montserrat"/>
                        </a:defRPr>
                      </a:pPr>
                      <a:r>
                        <a:t>HGZ 47 Vicente Guerrero</a:t>
                      </a:r>
                    </a:p>
                  </a:txBody>
                  <a:tcPr>
                    <a:solidFill>
                      <a:srgbClr val="EFEFEF"/>
                    </a:solidFill>
                  </a:tcPr>
                </a:tc>
                <a:tc>
                  <a:txBody>
                    <a:bodyPr/>
                    <a:lstStyle/>
                    <a:p>
                      <a:pPr algn="ctr">
                        <a:defRPr sz="1000">
                          <a:latin typeface="Montserrat"/>
                        </a:defRPr>
                      </a:pPr>
                      <a:r>
                        <a:t>5,343</a:t>
                      </a:r>
                    </a:p>
                  </a:txBody>
                  <a:tcPr>
                    <a:solidFill>
                      <a:srgbClr val="EFEFEF"/>
                    </a:solidFill>
                  </a:tcPr>
                </a:tc>
                <a:tc>
                  <a:txBody>
                    <a:bodyPr/>
                    <a:lstStyle/>
                    <a:p>
                      <a:pPr algn="ctr">
                        <a:defRPr sz="1000">
                          <a:latin typeface="Montserrat"/>
                        </a:defRPr>
                      </a:pPr>
                      <a:r>
                        <a:t>792</a:t>
                      </a:r>
                    </a:p>
                  </a:txBody>
                  <a:tcPr>
                    <a:solidFill>
                      <a:srgbClr val="EFEFEF"/>
                    </a:solidFill>
                  </a:tcPr>
                </a:tc>
                <a:tc>
                  <a:txBody>
                    <a:bodyPr/>
                    <a:lstStyle/>
                    <a:p>
                      <a:pPr algn="ctr">
                        <a:defRPr sz="1000">
                          <a:latin typeface="Montserrat"/>
                        </a:defRPr>
                      </a:pPr>
                      <a:r>
                        <a:t>2,076</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35.5%</a:t>
                      </a:r>
                    </a:p>
                  </a:txBody>
                  <a:tcPr>
                    <a:solidFill>
                      <a:srgbClr val="ECD3D9"/>
                    </a:solidFill>
                  </a:tcPr>
                </a:tc>
              </a:tr>
              <a:tr h="2844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6,478</a:t>
                      </a:r>
                    </a:p>
                  </a:txBody>
                  <a:tcPr>
                    <a:solidFill>
                      <a:srgbClr val="FFFFFF"/>
                    </a:solidFill>
                  </a:tcPr>
                </a:tc>
                <a:tc>
                  <a:txBody>
                    <a:bodyPr/>
                    <a:lstStyle/>
                    <a:p>
                      <a:pPr algn="ctr">
                        <a:defRPr sz="1000">
                          <a:latin typeface="Montserrat"/>
                        </a:defRPr>
                      </a:pPr>
                      <a:r>
                        <a:t>419</a:t>
                      </a:r>
                    </a:p>
                  </a:txBody>
                  <a:tcPr>
                    <a:solidFill>
                      <a:srgbClr val="FFFFFF"/>
                    </a:solidFill>
                  </a:tcPr>
                </a:tc>
                <a:tc>
                  <a:txBody>
                    <a:bodyPr/>
                    <a:lstStyle/>
                    <a:p>
                      <a:pPr algn="ctr">
                        <a:defRPr sz="1000">
                          <a:latin typeface="Montserrat"/>
                        </a:defRPr>
                      </a:pPr>
                      <a:r>
                        <a:t>2,564</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8,340</a:t>
                      </a:r>
                    </a:p>
                  </a:txBody>
                  <a:tcPr>
                    <a:solidFill>
                      <a:srgbClr val="EFEFEF"/>
                    </a:solidFill>
                  </a:tcPr>
                </a:tc>
                <a:tc>
                  <a:txBody>
                    <a:bodyPr/>
                    <a:lstStyle/>
                    <a:p>
                      <a:pPr algn="ctr">
                        <a:defRPr sz="1000">
                          <a:latin typeface="Montserrat"/>
                        </a:defRPr>
                      </a:pPr>
                      <a:r>
                        <a:t>1,986</a:t>
                      </a:r>
                    </a:p>
                  </a:txBody>
                  <a:tcPr>
                    <a:solidFill>
                      <a:srgbClr val="EFEFEF"/>
                    </a:solidFill>
                  </a:tcPr>
                </a:tc>
                <a:tc>
                  <a:txBody>
                    <a:bodyPr/>
                    <a:lstStyle/>
                    <a:p>
                      <a:pPr algn="ctr">
                        <a:defRPr sz="1000">
                          <a:latin typeface="Montserrat"/>
                        </a:defRPr>
                      </a:pPr>
                      <a:r>
                        <a:t>3,407</a:t>
                      </a:r>
                    </a:p>
                  </a:txBody>
                  <a:tcPr>
                    <a:solidFill>
                      <a:srgbClr val="ECD3D9"/>
                    </a:solidFill>
                  </a:tcPr>
                </a:tc>
                <a:tc>
                  <a:txBody>
                    <a:bodyPr/>
                    <a:lstStyle/>
                    <a:p>
                      <a:pPr algn="ctr">
                        <a:defRPr sz="1000">
                          <a:latin typeface="Montserrat"/>
                        </a:defRPr>
                      </a:pPr>
                      <a:r>
                        <a:t>10,872</a:t>
                      </a:r>
                    </a:p>
                  </a:txBody>
                  <a:tcPr>
                    <a:solidFill>
                      <a:srgbClr val="ECD3D9"/>
                    </a:solidFill>
                  </a:tcPr>
                </a:tc>
                <a:tc>
                  <a:txBody>
                    <a:bodyPr/>
                    <a:lstStyle/>
                    <a:p>
                      <a:pPr algn="ctr">
                        <a:defRPr sz="1000">
                          <a:latin typeface="Montserrat"/>
                        </a:defRPr>
                      </a:pPr>
                      <a:r>
                        <a:t>31.3%</a:t>
                      </a:r>
                    </a:p>
                  </a:txBody>
                  <a:tcPr>
                    <a:solidFill>
                      <a:srgbClr val="ECD3D9"/>
                    </a:solidFill>
                  </a:tcPr>
                </a:tc>
              </a:tr>
              <a:tr h="284400">
                <a:tc>
                  <a:txBody>
                    <a:bodyPr/>
                    <a:lstStyle/>
                    <a:p>
                      <a:pPr algn="l">
                        <a:defRPr sz="1000">
                          <a:latin typeface="Montserrat"/>
                        </a:defRPr>
                      </a:pPr>
                      <a:r>
                        <a:t>HGZ 20 Tláhuac</a:t>
                      </a:r>
                    </a:p>
                  </a:txBody>
                  <a:tcPr>
                    <a:solidFill>
                      <a:srgbClr val="FFFFFF"/>
                    </a:solidFill>
                  </a:tcPr>
                </a:tc>
                <a:tc>
                  <a:txBody>
                    <a:bodyPr/>
                    <a:lstStyle/>
                    <a:p>
                      <a:pPr algn="ctr">
                        <a:defRPr sz="1000">
                          <a:latin typeface="Montserrat"/>
                        </a:defRPr>
                      </a:pPr>
                      <a:r>
                        <a:t>1,523</a:t>
                      </a:r>
                    </a:p>
                  </a:txBody>
                  <a:tcPr>
                    <a:solidFill>
                      <a:srgbClr val="FFFFFF"/>
                    </a:solidFill>
                  </a:tcPr>
                </a:tc>
                <a:tc>
                  <a:txBody>
                    <a:bodyPr/>
                    <a:lstStyle/>
                    <a:p>
                      <a:pPr algn="ctr">
                        <a:defRPr sz="1000">
                          <a:latin typeface="Montserrat"/>
                        </a:defRPr>
                      </a:pPr>
                      <a:r>
                        <a:t>1,097</a:t>
                      </a:r>
                    </a:p>
                  </a:txBody>
                  <a:tcPr>
                    <a:solidFill>
                      <a:srgbClr val="FFFFFF"/>
                    </a:solidFill>
                  </a:tcPr>
                </a:tc>
                <a:tc>
                  <a:txBody>
                    <a:bodyPr/>
                    <a:lstStyle/>
                    <a:p>
                      <a:pPr algn="ctr">
                        <a:defRPr sz="1000">
                          <a:latin typeface="Montserrat"/>
                        </a:defRPr>
                      </a:pPr>
                      <a:r>
                        <a:t>650</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23.9%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103,484</a:t>
                      </a:r>
                    </a:p>
                  </a:txBody>
                  <a:tcPr>
                    <a:solidFill>
                      <a:srgbClr val="D3E9E7"/>
                    </a:solidFill>
                  </a:tcPr>
                </a:tc>
                <a:tc>
                  <a:txBody>
                    <a:bodyPr/>
                    <a:lstStyle/>
                    <a:p>
                      <a:pPr algn="ctr">
                        <a:defRPr sz="1000" b="1">
                          <a:solidFill>
                            <a:srgbClr val="006556"/>
                          </a:solidFill>
                          <a:latin typeface="Montserrat"/>
                        </a:defRPr>
                      </a:pPr>
                      <a:r>
                        <a:t>15,559</a:t>
                      </a:r>
                    </a:p>
                  </a:txBody>
                  <a:tcPr>
                    <a:solidFill>
                      <a:srgbClr val="D3E9E7"/>
                    </a:solidFill>
                  </a:tcPr>
                </a:tc>
                <a:tc>
                  <a:txBody>
                    <a:bodyPr/>
                    <a:lstStyle/>
                    <a:p>
                      <a:pPr algn="ctr">
                        <a:defRPr sz="1000" b="1">
                          <a:solidFill>
                            <a:srgbClr val="FFFFFF"/>
                          </a:solidFill>
                          <a:latin typeface="Montserrat"/>
                        </a:defRPr>
                      </a:pPr>
                      <a:r>
                        <a:t>48,467</a:t>
                      </a:r>
                    </a:p>
                  </a:txBody>
                  <a:tcPr>
                    <a:solidFill>
                      <a:srgbClr val="9F2241"/>
                    </a:solidFill>
                  </a:tcPr>
                </a:tc>
                <a:tc>
                  <a:txBody>
                    <a:bodyPr/>
                    <a:lstStyle/>
                    <a:p>
                      <a:pPr algn="ctr">
                        <a:defRPr sz="1000" b="1">
                          <a:solidFill>
                            <a:srgbClr val="FFFFFF"/>
                          </a:solidFill>
                          <a:latin typeface="Montserrat"/>
                        </a:defRPr>
                      </a:pPr>
                      <a:r>
                        <a:t>125,672</a:t>
                      </a:r>
                    </a:p>
                  </a:txBody>
                  <a:tcPr>
                    <a:solidFill>
                      <a:srgbClr val="9F2241"/>
                    </a:solidFill>
                  </a:tcPr>
                </a:tc>
                <a:tc>
                  <a:txBody>
                    <a:bodyPr/>
                    <a:lstStyle/>
                    <a:p>
                      <a:pPr algn="ctr">
                        <a:defRPr sz="1000" b="1">
                          <a:solidFill>
                            <a:srgbClr val="FFFFFF"/>
                          </a:solidFill>
                          <a:latin typeface="Montserrat"/>
                        </a:defRPr>
                      </a:pPr>
                      <a:r>
                        <a:t>38.6%</a:t>
                      </a:r>
                    </a:p>
                  </a:txBody>
                  <a:tcPr>
                    <a:solidFill>
                      <a:srgbClr val="9F224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451 en Hospitales, 8 en sede, 76 en UMF y 1274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9080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(Parte 2)</a:t>
                      </a:r>
                    </a:p>
                  </a:txBody>
                  <a:tcPr anchor="ctr">
                    <a:no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 Infantil y de la Adolescencia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0839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25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Angiología y Cirugía Vascular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bl>
          </a:graphicData>
        </a:graphic>
      </p:graphicFrame>
      <p:graphicFrame>
        <p:nvGraphicFramePr>
          <p:cNvPr id="10" name="Table 9"/>
          <p:cNvGraphicFramePr>
            <a:graphicFrameLocks noGrp="1"/>
          </p:cNvGraphicFramePr>
          <p:nvPr/>
        </p:nvGraphicFramePr>
        <p:xfrm>
          <a:off x="3960000" y="6083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Regional 25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52</a:t>
                      </a:r>
                    </a:p>
                  </a:txBody>
                  <a:tcPr>
                    <a:solidFill>
                      <a:srgbClr val="D3E9E7"/>
                    </a:solidFill>
                  </a:tcPr>
                </a:tc>
              </a:tr>
            </a:tbl>
          </a:graphicData>
        </a:graphic>
      </p:graphicFrame>
    </p:spTree>
    <p:extLst>
      <p:ext uri="{BB962C8B-B14F-4D97-AF65-F5344CB8AC3E}">
        <p14:creationId xmlns:p14="http://schemas.microsoft.com/office/powerpoint/2010/main" val="315955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191</a:t>
                      </a:r>
                    </a:p>
                  </a:txBody>
                  <a:tcPr anchor="ctr" marL="45720" marR="45720" marT="45720" marB="45720">
                    <a:solidFill>
                      <a:srgbClr val="FFFFFF"/>
                    </a:solidFill>
                  </a:tcPr>
                </a:tc>
                <a:tc>
                  <a:txBody>
                    <a:bodyPr/>
                    <a:lstStyle/>
                    <a:p>
                      <a:pPr algn="ctr">
                        <a:defRPr sz="1100" b="1">
                          <a:solidFill>
                            <a:srgbClr val="000000"/>
                          </a:solidFill>
                          <a:latin typeface="Montserrat"/>
                        </a:defRPr>
                      </a:pPr>
                      <a:r>
                        <a:t>10.5%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167</a:t>
                      </a:r>
                    </a:p>
                  </a:txBody>
                  <a:tcPr anchor="ctr" marL="45720" marR="45720" marT="45720" marB="45720">
                    <a:solidFill>
                      <a:srgbClr val="D9D9D9"/>
                    </a:solidFill>
                  </a:tcPr>
                </a:tc>
                <a:tc>
                  <a:txBody>
                    <a:bodyPr/>
                    <a:lstStyle/>
                    <a:p>
                      <a:pPr algn="ctr">
                        <a:defRPr sz="1100" b="1">
                          <a:solidFill>
                            <a:srgbClr val="000000"/>
                          </a:solidFill>
                          <a:latin typeface="Montserrat"/>
                        </a:defRPr>
                      </a:pPr>
                      <a:r>
                        <a:t>19.7%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152</a:t>
                      </a:r>
                    </a:p>
                  </a:txBody>
                  <a:tcPr anchor="ctr" marL="45720" marR="45720" marT="45720" marB="45720">
                    <a:solidFill>
                      <a:srgbClr val="FFFFFF"/>
                    </a:solidFill>
                  </a:tcPr>
                </a:tc>
                <a:tc>
                  <a:txBody>
                    <a:bodyPr/>
                    <a:lstStyle/>
                    <a:p>
                      <a:pPr algn="ctr">
                        <a:defRPr sz="1100" b="1">
                          <a:solidFill>
                            <a:srgbClr val="000000"/>
                          </a:solidFill>
                          <a:latin typeface="Montserrat"/>
                        </a:defRPr>
                      </a:pPr>
                      <a:r>
                        <a:t>28.1%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137</a:t>
                      </a:r>
                    </a:p>
                  </a:txBody>
                  <a:tcPr anchor="ctr" marL="45720" marR="45720" marT="45720" marB="45720">
                    <a:solidFill>
                      <a:srgbClr val="D9D9D9"/>
                    </a:solidFill>
                  </a:tcPr>
                </a:tc>
                <a:tc>
                  <a:txBody>
                    <a:bodyPr/>
                    <a:lstStyle/>
                    <a:p>
                      <a:pPr algn="ctr">
                        <a:defRPr sz="1100" b="1">
                          <a:solidFill>
                            <a:srgbClr val="000000"/>
                          </a:solidFill>
                          <a:latin typeface="Montserrat"/>
                        </a:defRPr>
                      </a:pPr>
                      <a:r>
                        <a:t>35.7%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123</a:t>
                      </a:r>
                    </a:p>
                  </a:txBody>
                  <a:tcPr anchor="ctr" marL="45720" marR="45720" marT="45720" marB="45720">
                    <a:solidFill>
                      <a:srgbClr val="FFFFFF"/>
                    </a:solidFill>
                  </a:tcPr>
                </a:tc>
                <a:tc>
                  <a:txBody>
                    <a:bodyPr/>
                    <a:lstStyle/>
                    <a:p>
                      <a:pPr algn="ctr">
                        <a:defRPr sz="1100" b="1">
                          <a:solidFill>
                            <a:srgbClr val="000000"/>
                          </a:solidFill>
                          <a:latin typeface="Montserrat"/>
                        </a:defRPr>
                      </a:pPr>
                      <a:r>
                        <a:t>42.5%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112</a:t>
                      </a:r>
                    </a:p>
                  </a:txBody>
                  <a:tcPr anchor="ctr" marL="45720" marR="45720" marT="45720" marB="45720">
                    <a:solidFill>
                      <a:srgbClr val="D9D9D9"/>
                    </a:solidFill>
                  </a:tcPr>
                </a:tc>
                <a:tc>
                  <a:txBody>
                    <a:bodyPr/>
                    <a:lstStyle/>
                    <a:p>
                      <a:pPr algn="ctr">
                        <a:defRPr sz="1100" b="1">
                          <a:solidFill>
                            <a:srgbClr val="000000"/>
                          </a:solidFill>
                          <a:latin typeface="Montserrat"/>
                        </a:defRPr>
                      </a:pPr>
                      <a:r>
                        <a:t>48.7%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96</a:t>
                      </a:r>
                    </a:p>
                  </a:txBody>
                  <a:tcPr anchor="ctr" marL="45720" marR="45720" marT="45720" marB="45720">
                    <a:solidFill>
                      <a:srgbClr val="FFFFFF"/>
                    </a:solidFill>
                  </a:tcPr>
                </a:tc>
                <a:tc>
                  <a:txBody>
                    <a:bodyPr/>
                    <a:lstStyle/>
                    <a:p>
                      <a:pPr algn="ctr">
                        <a:defRPr sz="1100" b="1">
                          <a:solidFill>
                            <a:srgbClr val="000000"/>
                          </a:solidFill>
                          <a:latin typeface="Montserrat"/>
                        </a:defRPr>
                      </a:pPr>
                      <a:r>
                        <a:t>54.0%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86</a:t>
                      </a:r>
                    </a:p>
                  </a:txBody>
                  <a:tcPr anchor="ctr" marL="45720" marR="45720" marT="45720" marB="45720">
                    <a:solidFill>
                      <a:srgbClr val="D9D9D9"/>
                    </a:solidFill>
                  </a:tcPr>
                </a:tc>
                <a:tc>
                  <a:txBody>
                    <a:bodyPr/>
                    <a:lstStyle/>
                    <a:p>
                      <a:pPr algn="ctr">
                        <a:defRPr sz="1100" b="1">
                          <a:solidFill>
                            <a:srgbClr val="000000"/>
                          </a:solidFill>
                          <a:latin typeface="Montserrat"/>
                        </a:defRPr>
                      </a:pPr>
                      <a:r>
                        <a:t>58.8%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52</a:t>
                      </a:r>
                    </a:p>
                  </a:txBody>
                  <a:tcPr anchor="ctr" marL="45720" marR="45720" marT="45720" marB="45720">
                    <a:solidFill>
                      <a:srgbClr val="FFFFFF"/>
                    </a:solidFill>
                  </a:tcPr>
                </a:tc>
                <a:tc>
                  <a:txBody>
                    <a:bodyPr/>
                    <a:lstStyle/>
                    <a:p>
                      <a:pPr algn="ctr">
                        <a:defRPr sz="1100" b="1">
                          <a:solidFill>
                            <a:srgbClr val="000000"/>
                          </a:solidFill>
                          <a:latin typeface="Montserrat"/>
                        </a:defRPr>
                      </a:pPr>
                      <a:r>
                        <a:t>61.6%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44</a:t>
                      </a:r>
                    </a:p>
                  </a:txBody>
                  <a:tcPr anchor="ctr" marL="45720" marR="45720" marT="45720" marB="45720">
                    <a:solidFill>
                      <a:srgbClr val="D9D9D9"/>
                    </a:solidFill>
                  </a:tcPr>
                </a:tc>
                <a:tc>
                  <a:txBody>
                    <a:bodyPr/>
                    <a:lstStyle/>
                    <a:p>
                      <a:pPr algn="ctr">
                        <a:defRPr sz="1100" b="1">
                          <a:solidFill>
                            <a:srgbClr val="000000"/>
                          </a:solidFill>
                          <a:latin typeface="Montserrat"/>
                        </a:defRPr>
                      </a:pPr>
                      <a:r>
                        <a:t>64.1%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43</a:t>
                      </a:r>
                    </a:p>
                  </a:txBody>
                  <a:tcPr anchor="ctr" marL="45720" marR="45720" marT="45720" marB="45720">
                    <a:solidFill>
                      <a:srgbClr val="FFFFFF"/>
                    </a:solidFill>
                  </a:tcPr>
                </a:tc>
                <a:tc>
                  <a:txBody>
                    <a:bodyPr/>
                    <a:lstStyle/>
                    <a:p>
                      <a:pPr algn="ctr">
                        <a:defRPr sz="1100" b="1">
                          <a:solidFill>
                            <a:srgbClr val="000000"/>
                          </a:solidFill>
                          <a:latin typeface="Montserrat"/>
                        </a:defRPr>
                      </a:pPr>
                      <a:r>
                        <a:t>66.5%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38</a:t>
                      </a:r>
                    </a:p>
                  </a:txBody>
                  <a:tcPr anchor="ctr" marL="45720" marR="45720" marT="45720" marB="45720">
                    <a:solidFill>
                      <a:srgbClr val="D9D9D9"/>
                    </a:solidFill>
                  </a:tcPr>
                </a:tc>
                <a:tc>
                  <a:txBody>
                    <a:bodyPr/>
                    <a:lstStyle/>
                    <a:p>
                      <a:pPr algn="ctr">
                        <a:defRPr sz="1100" b="1">
                          <a:solidFill>
                            <a:srgbClr val="000000"/>
                          </a:solidFill>
                          <a:latin typeface="Montserrat"/>
                        </a:defRPr>
                      </a:pPr>
                      <a:r>
                        <a:t>68.6%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32</a:t>
                      </a:r>
                    </a:p>
                  </a:txBody>
                  <a:tcPr anchor="ctr" marL="45720" marR="45720" marT="45720" marB="45720">
                    <a:solidFill>
                      <a:srgbClr val="FFFFFF"/>
                    </a:solidFill>
                  </a:tcPr>
                </a:tc>
                <a:tc>
                  <a:txBody>
                    <a:bodyPr/>
                    <a:lstStyle/>
                    <a:p>
                      <a:pPr algn="ctr">
                        <a:defRPr sz="1100" b="1">
                          <a:solidFill>
                            <a:srgbClr val="000000"/>
                          </a:solidFill>
                          <a:latin typeface="Montserrat"/>
                        </a:defRPr>
                      </a:pPr>
                      <a:r>
                        <a:t>70.3%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31</a:t>
                      </a:r>
                    </a:p>
                  </a:txBody>
                  <a:tcPr anchor="ctr" marL="45720" marR="45720" marT="45720" marB="45720">
                    <a:solidFill>
                      <a:srgbClr val="D9D9D9"/>
                    </a:solidFill>
                  </a:tcPr>
                </a:tc>
                <a:tc>
                  <a:txBody>
                    <a:bodyPr/>
                    <a:lstStyle/>
                    <a:p>
                      <a:pPr algn="ctr">
                        <a:defRPr sz="1100" b="1">
                          <a:solidFill>
                            <a:srgbClr val="000000"/>
                          </a:solidFill>
                          <a:latin typeface="Montserrat"/>
                        </a:defRPr>
                      </a:pPr>
                      <a:r>
                        <a:t>72.0%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27</a:t>
                      </a:r>
                    </a:p>
                  </a:txBody>
                  <a:tcPr anchor="ctr" marL="45720" marR="45720" marT="45720" marB="45720">
                    <a:solidFill>
                      <a:srgbClr val="FFFFFF"/>
                    </a:solidFill>
                  </a:tcPr>
                </a:tc>
                <a:tc>
                  <a:txBody>
                    <a:bodyPr/>
                    <a:lstStyle/>
                    <a:p>
                      <a:pPr algn="ctr">
                        <a:defRPr sz="1100" b="1">
                          <a:solidFill>
                            <a:srgbClr val="000000"/>
                          </a:solidFill>
                          <a:latin typeface="Montserrat"/>
                        </a:defRPr>
                      </a:pPr>
                      <a:r>
                        <a:t>73.5%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26</a:t>
                      </a:r>
                    </a:p>
                  </a:txBody>
                  <a:tcPr anchor="ctr" marL="45720" marR="45720" marT="45720" marB="45720">
                    <a:solidFill>
                      <a:srgbClr val="D9D9D9"/>
                    </a:solidFill>
                  </a:tcPr>
                </a:tc>
                <a:tc>
                  <a:txBody>
                    <a:bodyPr/>
                    <a:lstStyle/>
                    <a:p>
                      <a:pPr algn="ctr">
                        <a:defRPr sz="1100" b="1">
                          <a:solidFill>
                            <a:srgbClr val="000000"/>
                          </a:solidFill>
                          <a:latin typeface="Montserrat"/>
                        </a:defRPr>
                      </a:pPr>
                      <a:r>
                        <a:t>75.0%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FFFFFF"/>
                    </a:solidFill>
                  </a:tcPr>
                </a:tc>
                <a:tc>
                  <a:txBody>
                    <a:bodyPr/>
                    <a:lstStyle/>
                    <a:p>
                      <a:pPr algn="ctr">
                        <a:defRPr sz="1100" b="0">
                          <a:solidFill>
                            <a:srgbClr val="000000"/>
                          </a:solidFill>
                          <a:latin typeface="Montserrat"/>
                        </a:defRPr>
                      </a:pPr>
                      <a:r>
                        <a:t>26</a:t>
                      </a:r>
                    </a:p>
                  </a:txBody>
                  <a:tcPr anchor="ctr" marL="45720" marR="45720" marT="45720" marB="45720">
                    <a:solidFill>
                      <a:srgbClr val="FFFFFF"/>
                    </a:solidFill>
                  </a:tcPr>
                </a:tc>
                <a:tc>
                  <a:txBody>
                    <a:bodyPr/>
                    <a:lstStyle/>
                    <a:p>
                      <a:pPr algn="ctr">
                        <a:defRPr sz="1100" b="1">
                          <a:solidFill>
                            <a:srgbClr val="000000"/>
                          </a:solidFill>
                          <a:latin typeface="Montserrat"/>
                        </a:defRPr>
                      </a:pPr>
                      <a:r>
                        <a:t>76.4%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77.7%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78.9%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80.0%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20</a:t>
                      </a:r>
                    </a:p>
                  </a:txBody>
                  <a:tcPr anchor="ctr" marL="45720" marR="45720" marT="45720" marB="45720">
                    <a:solidFill>
                      <a:srgbClr val="FFFFFF"/>
                    </a:solidFill>
                  </a:tcPr>
                </a:tc>
                <a:tc>
                  <a:txBody>
                    <a:bodyPr/>
                    <a:lstStyle/>
                    <a:p>
                      <a:pPr algn="ctr">
                        <a:defRPr sz="1100" b="1">
                          <a:solidFill>
                            <a:srgbClr val="000000"/>
                          </a:solidFill>
                          <a:latin typeface="Montserrat"/>
                        </a:defRPr>
                      </a:pPr>
                      <a:r>
                        <a:t>81.1%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82.0%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83.0%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83.9%</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84.7%</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34343BA-0DD0-D92A-06B5-17BBF62EA3FA}"/>
              </a:ext>
            </a:extLst>
          </p:cNvPr>
          <p:cNvGraphicFramePr/>
          <p:nvPr>
            <p:extLst>
              <p:ext uri="{D42A27DB-BD31-4B8C-83A1-F6EECF244321}">
                <p14:modId xmlns:p14="http://schemas.microsoft.com/office/powerpoint/2010/main" val="135001201"/>
              </p:ext>
            </p:extLst>
          </p:nvPr>
        </p:nvGraphicFramePr>
        <p:xfrm>
          <a:off x="287050" y="896190"/>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CIUDAD DE MÉXICO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5,924</a:t>
                      </a:r>
                    </a:p>
                  </a:txBody>
                  <a:tcPr anchor="ctr">
                    <a:solidFill>
                      <a:srgbClr val="FFFFFF"/>
                    </a:solidFill>
                  </a:tcPr>
                </a:tc>
                <a:tc>
                  <a:txBody>
                    <a:bodyPr/>
                    <a:lstStyle/>
                    <a:p>
                      <a:pPr algn="ctr">
                        <a:defRPr sz="1000">
                          <a:latin typeface="Montserrat"/>
                        </a:defRPr>
                      </a:pPr>
                      <a:r>
                        <a:t>31.2%</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2,555</a:t>
                      </a:r>
                    </a:p>
                  </a:txBody>
                  <a:tcPr anchor="ctr">
                    <a:solidFill>
                      <a:srgbClr val="D9D9D9"/>
                    </a:solidFill>
                  </a:tcPr>
                </a:tc>
                <a:tc>
                  <a:txBody>
                    <a:bodyPr/>
                    <a:lstStyle/>
                    <a:p>
                      <a:pPr algn="ctr">
                        <a:defRPr sz="1000">
                          <a:latin typeface="Montserrat"/>
                        </a:defRPr>
                      </a:pPr>
                      <a:r>
                        <a:t>44.7%</a:t>
                      </a:r>
                    </a:p>
                  </a:txBody>
                  <a:tcPr anchor="ctr">
                    <a:solidFill>
                      <a:srgbClr val="D9D9D9"/>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2,145</a:t>
                      </a:r>
                    </a:p>
                  </a:txBody>
                  <a:tcPr anchor="ctr">
                    <a:solidFill>
                      <a:srgbClr val="FFFFFF"/>
                    </a:solidFill>
                  </a:tcPr>
                </a:tc>
                <a:tc>
                  <a:txBody>
                    <a:bodyPr/>
                    <a:lstStyle/>
                    <a:p>
                      <a:pPr algn="ctr">
                        <a:defRPr sz="1000">
                          <a:latin typeface="Montserrat"/>
                        </a:defRPr>
                      </a:pPr>
                      <a:r>
                        <a:t>56.0%</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1,855</a:t>
                      </a:r>
                    </a:p>
                  </a:txBody>
                  <a:tcPr anchor="ctr">
                    <a:solidFill>
                      <a:srgbClr val="D9D9D9"/>
                    </a:solidFill>
                  </a:tcPr>
                </a:tc>
                <a:tc>
                  <a:txBody>
                    <a:bodyPr/>
                    <a:lstStyle/>
                    <a:p>
                      <a:pPr algn="ctr">
                        <a:defRPr sz="1000">
                          <a:latin typeface="Montserrat"/>
                        </a:defRPr>
                      </a:pPr>
                      <a:r>
                        <a:t>65.8%</a:t>
                      </a:r>
                    </a:p>
                  </a:txBody>
                  <a:tcPr anchor="ctr">
                    <a:solidFill>
                      <a:srgbClr val="D9D9D9"/>
                    </a:solidFill>
                  </a:tcPr>
                </a:tc>
              </a:tr>
              <a:tr h="216000">
                <a:tc>
                  <a:txBody>
                    <a:bodyPr/>
                    <a:lstStyle/>
                    <a:p>
                      <a:pPr algn="l">
                        <a:defRPr sz="1000">
                          <a:latin typeface="Montserrat"/>
                        </a:defRPr>
                      </a:pPr>
                      <a:r>
                        <a:t>Ortopedia</a:t>
                      </a:r>
                    </a:p>
                  </a:txBody>
                  <a:tcPr anchor="ctr">
                    <a:solidFill>
                      <a:srgbClr val="FFFFFF"/>
                    </a:solidFill>
                  </a:tcPr>
                </a:tc>
                <a:tc>
                  <a:txBody>
                    <a:bodyPr/>
                    <a:lstStyle/>
                    <a:p>
                      <a:pPr algn="ctr">
                        <a:defRPr sz="1000">
                          <a:latin typeface="Montserrat"/>
                        </a:defRPr>
                      </a:pPr>
                      <a:r>
                        <a:t>1,843</a:t>
                      </a:r>
                    </a:p>
                  </a:txBody>
                  <a:tcPr anchor="ctr">
                    <a:solidFill>
                      <a:srgbClr val="FFFFFF"/>
                    </a:solidFill>
                  </a:tcPr>
                </a:tc>
                <a:tc>
                  <a:txBody>
                    <a:bodyPr/>
                    <a:lstStyle/>
                    <a:p>
                      <a:pPr algn="ctr">
                        <a:defRPr sz="1000">
                          <a:latin typeface="Montserrat"/>
                        </a:defRPr>
                      </a:pPr>
                      <a:r>
                        <a:t>75.5%</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1,517</a:t>
                      </a:r>
                    </a:p>
                  </a:txBody>
                  <a:tcPr anchor="ctr">
                    <a:solidFill>
                      <a:srgbClr val="D9D9D9"/>
                    </a:solidFill>
                  </a:tcPr>
                </a:tc>
                <a:tc>
                  <a:txBody>
                    <a:bodyPr/>
                    <a:lstStyle/>
                    <a:p>
                      <a:pPr algn="ctr">
                        <a:defRPr sz="1000">
                          <a:latin typeface="Montserrat"/>
                        </a:defRPr>
                      </a:pPr>
                      <a:r>
                        <a:t>83.5%</a:t>
                      </a:r>
                    </a:p>
                  </a:txBody>
                  <a:tcPr anchor="ctr">
                    <a:solidFill>
                      <a:srgbClr val="D9D9D9"/>
                    </a:solidFill>
                  </a:tcPr>
                </a:tc>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t>860</a:t>
                      </a:r>
                    </a:p>
                  </a:txBody>
                  <a:tcPr anchor="ctr">
                    <a:solidFill>
                      <a:srgbClr val="FFFFFF"/>
                    </a:solidFill>
                  </a:tcPr>
                </a:tc>
                <a:tc>
                  <a:txBody>
                    <a:bodyPr/>
                    <a:lstStyle/>
                    <a:p>
                      <a:pPr algn="ctr">
                        <a:defRPr sz="1000">
                          <a:latin typeface="Montserrat"/>
                        </a:defRPr>
                      </a:pPr>
                      <a:r>
                        <a:t>88.0%</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794</a:t>
                      </a:r>
                    </a:p>
                  </a:txBody>
                  <a:tcPr anchor="ctr">
                    <a:solidFill>
                      <a:srgbClr val="D9D9D9"/>
                    </a:solidFill>
                  </a:tcPr>
                </a:tc>
                <a:tc>
                  <a:txBody>
                    <a:bodyPr/>
                    <a:lstStyle/>
                    <a:p>
                      <a:pPr algn="ctr">
                        <a:defRPr sz="1000">
                          <a:latin typeface="Montserrat"/>
                        </a:defRPr>
                      </a:pPr>
                      <a:r>
                        <a:t>92.2%</a:t>
                      </a:r>
                    </a:p>
                  </a:txBody>
                  <a:tcPr anchor="ctr">
                    <a:solidFill>
                      <a:srgbClr val="D9D9D9"/>
                    </a:solidFill>
                  </a:tcPr>
                </a:tc>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787</a:t>
                      </a:r>
                    </a:p>
                  </a:txBody>
                  <a:tcPr anchor="ctr">
                    <a:solidFill>
                      <a:srgbClr val="FFFFFF"/>
                    </a:solidFill>
                  </a:tcPr>
                </a:tc>
                <a:tc>
                  <a:txBody>
                    <a:bodyPr/>
                    <a:lstStyle/>
                    <a:p>
                      <a:pPr algn="ctr">
                        <a:defRPr sz="1000">
                          <a:latin typeface="Montserrat"/>
                        </a:defRPr>
                      </a:pPr>
                      <a:r>
                        <a:t>96.3%</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693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18,973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1,448</a:t>
                      </a:r>
                    </a:p>
                  </a:txBody>
                  <a:tcPr anchor="ctr">
                    <a:solidFill>
                      <a:srgbClr val="FFFFFF"/>
                    </a:solidFill>
                  </a:tcPr>
                </a:tc>
                <a:tc>
                  <a:txBody>
                    <a:bodyPr/>
                    <a:lstStyle/>
                    <a:p>
                      <a:pPr algn="ctr">
                        <a:defRPr sz="1000">
                          <a:latin typeface="Montserrat"/>
                        </a:defRPr>
                      </a:pPr>
                      <a:r>
                        <a:t>30.1%</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1,089</a:t>
                      </a:r>
                    </a:p>
                  </a:txBody>
                  <a:tcPr anchor="ctr">
                    <a:solidFill>
                      <a:srgbClr val="D9D9D9"/>
                    </a:solidFill>
                  </a:tcPr>
                </a:tc>
                <a:tc>
                  <a:txBody>
                    <a:bodyPr/>
                    <a:lstStyle/>
                    <a:p>
                      <a:pPr algn="ctr">
                        <a:defRPr sz="1000">
                          <a:latin typeface="Montserrat"/>
                        </a:defRPr>
                      </a:pPr>
                      <a:r>
                        <a:t>52.8%</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686</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Histerectomías</a:t>
                      </a:r>
                    </a:p>
                  </a:txBody>
                  <a:tcPr anchor="ctr">
                    <a:solidFill>
                      <a:srgbClr val="D9D9D9"/>
                    </a:solidFill>
                  </a:tcPr>
                </a:tc>
                <a:tc>
                  <a:txBody>
                    <a:bodyPr/>
                    <a:lstStyle/>
                    <a:p>
                      <a:pPr algn="ctr">
                        <a:defRPr sz="1000">
                          <a:latin typeface="Montserrat"/>
                        </a:defRPr>
                      </a:pPr>
                      <a:r>
                        <a:t>515</a:t>
                      </a:r>
                    </a:p>
                  </a:txBody>
                  <a:tcPr anchor="ctr">
                    <a:solidFill>
                      <a:srgbClr val="D9D9D9"/>
                    </a:solidFill>
                  </a:tcPr>
                </a:tc>
                <a:tc>
                  <a:txBody>
                    <a:bodyPr/>
                    <a:lstStyle/>
                    <a:p>
                      <a:pPr algn="ctr">
                        <a:defRPr sz="1000">
                          <a:latin typeface="Montserrat"/>
                        </a:defRPr>
                      </a:pPr>
                      <a:r>
                        <a:t>77.8%</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480</a:t>
                      </a:r>
                    </a:p>
                  </a:txBody>
                  <a:tcPr anchor="ctr">
                    <a:solidFill>
                      <a:srgbClr val="FFFFFF"/>
                    </a:solidFill>
                  </a:tcPr>
                </a:tc>
                <a:tc>
                  <a:txBody>
                    <a:bodyPr/>
                    <a:lstStyle/>
                    <a:p>
                      <a:pPr algn="ctr">
                        <a:defRPr sz="1000">
                          <a:latin typeface="Montserrat"/>
                        </a:defRPr>
                      </a:pPr>
                      <a:r>
                        <a:t>87.8%</a:t>
                      </a:r>
                    </a:p>
                  </a:txBody>
                  <a:tcPr anchor="ctr">
                    <a:solidFill>
                      <a:srgbClr val="FFFFFF"/>
                    </a:solidFill>
                  </a:tcPr>
                </a:tc>
              </a:tr>
              <a:tr h="216000">
                <a:tc>
                  <a:txBody>
                    <a:bodyPr/>
                    <a:lstStyle/>
                    <a:p>
                      <a:pPr algn="l">
                        <a:defRPr sz="1000">
                          <a:latin typeface="Montserrat"/>
                        </a:defRPr>
                      </a:pPr>
                      <a:r>
                        <a:t>Mastectomías</a:t>
                      </a:r>
                    </a:p>
                  </a:txBody>
                  <a:tcPr anchor="ctr">
                    <a:solidFill>
                      <a:srgbClr val="D9D9D9"/>
                    </a:solidFill>
                  </a:tcPr>
                </a:tc>
                <a:tc>
                  <a:txBody>
                    <a:bodyPr/>
                    <a:lstStyle/>
                    <a:p>
                      <a:pPr algn="ctr">
                        <a:defRPr sz="1000">
                          <a:latin typeface="Montserrat"/>
                        </a:defRPr>
                      </a:pPr>
                      <a:r>
                        <a:t>369</a:t>
                      </a:r>
                    </a:p>
                  </a:txBody>
                  <a:tcPr anchor="ctr">
                    <a:solidFill>
                      <a:srgbClr val="D9D9D9"/>
                    </a:solidFill>
                  </a:tcPr>
                </a:tc>
                <a:tc>
                  <a:txBody>
                    <a:bodyPr/>
                    <a:lstStyle/>
                    <a:p>
                      <a:pPr algn="ctr">
                        <a:defRPr sz="1000">
                          <a:latin typeface="Montserrat"/>
                        </a:defRPr>
                      </a:pPr>
                      <a:r>
                        <a:t>95.5%</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218</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4,805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109,121	 Personal de Salud: 62,144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+244.5%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119</a:t>
                      </a:r>
                    </a:p>
                  </a:txBody>
                  <a:tcPr marL="0" marR="0" marT="0" marB="0">
                    <a:noFill/>
                  </a:tcPr>
                </a:tc>
                <a:tc>
                  <a:txBody>
                    <a:bodyPr/>
                    <a:lstStyle/>
                    <a:p>
                      <a:pPr algn="ctr">
                        <a:defRPr b="1" sz="1500">
                          <a:solidFill>
                            <a:srgbClr val="B4975A"/>
                          </a:solidFill>
                          <a:latin typeface="Montserrat"/>
                        </a:defRPr>
                      </a:pPr>
                      <a:r>
                        <a:t>410</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+28.2%</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9,324</a:t>
                      </a:r>
                    </a:p>
                  </a:txBody>
                  <a:tcPr marL="0" marR="0" marT="0" marB="0">
                    <a:noFill/>
                  </a:tcPr>
                </a:tc>
                <a:tc>
                  <a:txBody>
                    <a:bodyPr/>
                    <a:lstStyle/>
                    <a:p>
                      <a:pPr algn="ctr">
                        <a:defRPr b="1" sz="1500">
                          <a:solidFill>
                            <a:srgbClr val="B4975A"/>
                          </a:solidFill>
                          <a:latin typeface="Montserrat"/>
                        </a:defRPr>
                      </a:pPr>
                      <a:r>
                        <a:t>11,955</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+7.0%</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20,461</a:t>
                      </a:r>
                    </a:p>
                  </a:txBody>
                  <a:tcPr marL="0" marR="0" marT="0" marB="0">
                    <a:noFill/>
                  </a:tcPr>
                </a:tc>
                <a:tc>
                  <a:txBody>
                    <a:bodyPr/>
                    <a:lstStyle/>
                    <a:p>
                      <a:pPr algn="ctr">
                        <a:defRPr b="1" sz="1500">
                          <a:solidFill>
                            <a:srgbClr val="B4975A"/>
                          </a:solidFill>
                          <a:latin typeface="Montserrat"/>
                        </a:defRPr>
                      </a:pPr>
                      <a:r>
                        <a:t>21,890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15,853</a:t>
                      </a:r>
                    </a:p>
                  </a:txBody>
                  <a:tcPr marL="0" marR="0" marT="0" marB="0">
                    <a:noFill/>
                  </a:tcPr>
                </a:tc>
                <a:tc>
                  <a:txBody>
                    <a:bodyPr/>
                    <a:lstStyle/>
                    <a:p>
                      <a:pPr algn="ctr">
                        <a:defRPr b="1" sz="1500">
                          <a:solidFill>
                            <a:srgbClr val="B4975A"/>
                          </a:solidFill>
                          <a:latin typeface="Montserrat"/>
                        </a:defRPr>
                      </a:pPr>
                      <a:r>
                        <a:t>17,322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3,320</a:t>
                      </a:r>
                    </a:p>
                  </a:txBody>
                  <a:tcPr marL="0" marR="0" marT="0" marB="0">
                    <a:noFill/>
                  </a:tcPr>
                </a:tc>
                <a:tc>
                  <a:txBody>
                    <a:bodyPr/>
                    <a:lstStyle/>
                    <a:p>
                      <a:pPr algn="ctr">
                        <a:defRPr b="1" sz="1500">
                          <a:solidFill>
                            <a:srgbClr val="B4975A"/>
                          </a:solidFill>
                          <a:latin typeface="Montserrat"/>
                        </a:defRPr>
                      </a:pPr>
                      <a:r>
                        <a:t>4,854</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-4.6%</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5,986</a:t>
                      </a:r>
                    </a:p>
                  </a:txBody>
                  <a:tcPr marL="0" marR="0" marT="0" marB="0">
                    <a:noFill/>
                  </a:tcPr>
                </a:tc>
                <a:tc>
                  <a:txBody>
                    <a:bodyPr/>
                    <a:lstStyle/>
                    <a:p>
                      <a:pPr algn="ctr">
                        <a:defRPr b="1" sz="1500">
                          <a:solidFill>
                            <a:srgbClr val="B4975A"/>
                          </a:solidFill>
                          <a:latin typeface="Montserrat"/>
                        </a:defRPr>
                      </a:pPr>
                      <a:r>
                        <a:t>5,713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217</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157</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139</a:t>
                      </a:r>
                    </a:p>
                  </a:txBody>
                  <a:tcPr marL="45720" marR="45720" marT="45720" marB="45720">
                    <a:solidFill>
                      <a:srgbClr val="FFFFFF"/>
                    </a:solidFill>
                  </a:tcPr>
                </a:tc>
              </a:tr>
              <a:tr h="18288">
                <a:tc>
                  <a:txBody>
                    <a:bodyPr/>
                    <a:lstStyle/>
                    <a:p>
                      <a:pPr algn="l">
                        <a:defRPr sz="800">
                          <a:latin typeface="Montserrat"/>
                        </a:defRPr>
                      </a:pPr>
                      <a:r>
                        <a:t>Ginecología y Obstetricia</a:t>
                      </a:r>
                    </a:p>
                  </a:txBody>
                  <a:tcPr marL="45720" marR="45720" marT="45720" marB="45720">
                    <a:solidFill>
                      <a:srgbClr val="EFEFEF"/>
                    </a:solidFill>
                  </a:tcPr>
                </a:tc>
                <a:tc>
                  <a:txBody>
                    <a:bodyPr/>
                    <a:lstStyle/>
                    <a:p>
                      <a:pPr algn="ctr">
                        <a:defRPr sz="800">
                          <a:latin typeface="Montserrat"/>
                        </a:defRPr>
                      </a:pPr>
                      <a:r>
                        <a:t>88</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77</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186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144</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122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113</a:t>
                      </a:r>
                    </a:p>
                  </a:txBody>
                  <a:tcPr marL="45720" marR="45720" marT="45720" marB="45720">
                    <a:solidFill>
                      <a:srgbClr val="EFEFEF"/>
                    </a:solidFill>
                  </a:tcPr>
                </a:tc>
              </a:tr>
              <a:tr h="18288">
                <a:tc>
                  <a:txBody>
                    <a:bodyPr/>
                    <a:lstStyle/>
                    <a:p>
                      <a:pPr algn="l">
                        <a:defRPr sz="800">
                          <a:latin typeface="Montserrat"/>
                        </a:defRPr>
                      </a:pPr>
                      <a:r>
                        <a:t>Pediatría</a:t>
                      </a:r>
                    </a:p>
                  </a:txBody>
                  <a:tcPr marL="45720" marR="45720" marT="45720" marB="45720">
                    <a:solidFill>
                      <a:srgbClr val="FFFFFF"/>
                    </a:solidFill>
                  </a:tcPr>
                </a:tc>
                <a:tc>
                  <a:txBody>
                    <a:bodyPr/>
                    <a:lstStyle/>
                    <a:p>
                      <a:pPr algn="ctr">
                        <a:defRPr sz="800">
                          <a:latin typeface="Montserrat"/>
                        </a:defRPr>
                      </a:pPr>
                      <a:r>
                        <a:t>94</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631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1,126</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2,297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1,173</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5,227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48,891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2,634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739</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883</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21,888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4,642</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62</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78,055</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(579,281)</a:t>
                      </a:r>
                    </a:p>
                  </a:txBody>
                  <a:tcPr>
                    <a:solidFill>
                      <a:srgbClr val="FFFFFF"/>
                    </a:solidFill>
                  </a:tcPr>
                </a:tc>
                <a:tc>
                  <a:txBody>
                    <a:bodyPr/>
                    <a:lstStyle/>
                    <a:p>
                      <a:pPr algn="ctr"/>
                      <a:r>
                        <a:rPr sz="900" b="0">
                          <a:latin typeface="Montserrat"/>
                        </a:rPr>
                        <a:t>Tumores malignos
(201,518)</a:t>
                      </a:r>
                    </a:p>
                  </a:txBody>
                  <a:tcPr>
                    <a:solidFill>
                      <a:srgbClr val="FFFFFF"/>
                    </a:solidFill>
                  </a:tcPr>
                </a:tc>
                <a:tc>
                  <a:txBody>
                    <a:bodyPr/>
                    <a:lstStyle/>
                    <a:p>
                      <a:pPr algn="ctr"/>
                      <a:r>
                        <a:rPr sz="900" b="0">
                          <a:latin typeface="Montserrat"/>
                        </a:rPr>
                        <a:t>Tumores malignos
(6,823)</a:t>
                      </a:r>
                    </a:p>
                  </a:txBody>
                  <a:tcPr>
                    <a:solidFill>
                      <a:srgbClr val="FFFFFF"/>
                    </a:solidFill>
                  </a:tcPr>
                </a:tc>
                <a:tc>
                  <a:txBody>
                    <a:bodyPr/>
                    <a:lstStyle/>
                    <a:p>
                      <a:pPr algn="ctr"/>
                      <a:r>
                        <a:rPr sz="900" b="0">
                          <a:latin typeface="Montserrat"/>
                        </a:rPr>
                        <a:t>Embarazo, parto y puerperio
(14,660)</a:t>
                      </a:r>
                    </a:p>
                  </a:txBody>
                  <a:tcPr>
                    <a:solidFill>
                      <a:srgbClr val="FFFFFF"/>
                    </a:solidFill>
                  </a:tcPr>
                </a:tc>
                <a:tc>
                  <a:txBody>
                    <a:bodyPr/>
                    <a:lstStyle/>
                    <a:p>
                      <a:pPr algn="ctr"/>
                      <a:r>
                        <a:rPr sz="900" b="0">
                          <a:latin typeface="Montserrat"/>
                        </a:rPr>
                        <a:t>Enfermedades del corazón
(1,081)</a:t>
                      </a:r>
                    </a:p>
                  </a:txBody>
                  <a:tcPr>
                    <a:solidFill>
                      <a:srgbClr val="FFFFFF"/>
                    </a:solidFill>
                  </a:tcPr>
                </a:tc>
              </a:tr>
              <a:tr h="489600">
                <a:tc>
                  <a:txBody>
                    <a:bodyPr/>
                    <a:lstStyle/>
                    <a:p>
                      <a:pPr algn="ctr"/>
                      <a:r>
                        <a:rPr sz="900" b="0">
                          <a:latin typeface="Montserrat"/>
                        </a:rPr>
                        <a:t>Diabetes mellitus
(552,314)</a:t>
                      </a:r>
                    </a:p>
                  </a:txBody>
                  <a:tcPr>
                    <a:solidFill>
                      <a:srgbClr val="EFEFEF"/>
                    </a:solidFill>
                  </a:tcPr>
                </a:tc>
                <a:tc>
                  <a:txBody>
                    <a:bodyPr/>
                    <a:lstStyle/>
                    <a:p>
                      <a:pPr algn="ctr"/>
                      <a:r>
                        <a:rPr sz="900" b="0">
                          <a:latin typeface="Montserrat"/>
                        </a:rPr>
                        <a:t>Traumatismos e intoxicaciones
(79,776)</a:t>
                      </a:r>
                    </a:p>
                  </a:txBody>
                  <a:tcPr>
                    <a:solidFill>
                      <a:srgbClr val="EFEFEF"/>
                    </a:solidFill>
                  </a:tcPr>
                </a:tc>
                <a:tc>
                  <a:txBody>
                    <a:bodyPr/>
                    <a:lstStyle/>
                    <a:p>
                      <a:pPr algn="ctr"/>
                      <a:r>
                        <a:rPr sz="900" b="0">
                          <a:latin typeface="Montserrat"/>
                        </a:rPr>
                        <a:t>Traumatismos y envenenamientos
(6,814)</a:t>
                      </a:r>
                    </a:p>
                  </a:txBody>
                  <a:tcPr>
                    <a:solidFill>
                      <a:srgbClr val="EFEFEF"/>
                    </a:solidFill>
                  </a:tcPr>
                </a:tc>
                <a:tc>
                  <a:txBody>
                    <a:bodyPr/>
                    <a:lstStyle/>
                    <a:p>
                      <a:pPr algn="ctr"/>
                      <a:r>
                        <a:rPr sz="900" b="0">
                          <a:latin typeface="Montserrat"/>
                        </a:rPr>
                        <a:t>Tumores malignos
(10,619)</a:t>
                      </a:r>
                    </a:p>
                  </a:txBody>
                  <a:tcPr>
                    <a:solidFill>
                      <a:srgbClr val="EFEFEF"/>
                    </a:solidFill>
                  </a:tcPr>
                </a:tc>
                <a:tc>
                  <a:txBody>
                    <a:bodyPr/>
                    <a:lstStyle/>
                    <a:p>
                      <a:pPr algn="ctr"/>
                      <a:r>
                        <a:rPr sz="900" b="0">
                          <a:latin typeface="Montserrat"/>
                        </a:rPr>
                        <a:t>Neumonía e influenza
(778)</a:t>
                      </a:r>
                    </a:p>
                  </a:txBody>
                  <a:tcPr>
                    <a:solidFill>
                      <a:srgbClr val="EFEFEF"/>
                    </a:solidFill>
                  </a:tcPr>
                </a:tc>
              </a:tr>
              <a:tr h="489600">
                <a:tc>
                  <a:txBody>
                    <a:bodyPr/>
                    <a:lstStyle/>
                    <a:p>
                      <a:pPr algn="ctr"/>
                      <a:r>
                        <a:rPr sz="900" b="0">
                          <a:latin typeface="Montserrat"/>
                        </a:rPr>
                        <a:t>Infecciones respiratorias agudas
(171,458)</a:t>
                      </a:r>
                    </a:p>
                  </a:txBody>
                  <a:tcPr>
                    <a:solidFill>
                      <a:srgbClr val="FFFFFF"/>
                    </a:solidFill>
                  </a:tcPr>
                </a:tc>
                <a:tc>
                  <a:txBody>
                    <a:bodyPr/>
                    <a:lstStyle/>
                    <a:p>
                      <a:pPr algn="ctr"/>
                      <a:r>
                        <a:rPr sz="900" b="0">
                          <a:latin typeface="Montserrat"/>
                        </a:rPr>
                        <a:t>Enfermedades y trastornos de las articulaciones
(68,793)</a:t>
                      </a:r>
                    </a:p>
                  </a:txBody>
                  <a:tcPr>
                    <a:solidFill>
                      <a:srgbClr val="FFFFFF"/>
                    </a:solidFill>
                  </a:tcPr>
                </a:tc>
                <a:tc>
                  <a:txBody>
                    <a:bodyPr/>
                    <a:lstStyle/>
                    <a:p>
                      <a:pPr algn="ctr"/>
                      <a:r>
                        <a:rPr sz="900" b="0">
                          <a:latin typeface="Montserrat"/>
                        </a:rPr>
                        <a:t>Cesárea
(5,857)</a:t>
                      </a:r>
                    </a:p>
                  </a:txBody>
                  <a:tcPr>
                    <a:solidFill>
                      <a:srgbClr val="FFFFFF"/>
                    </a:solidFill>
                  </a:tcPr>
                </a:tc>
                <a:tc>
                  <a:txBody>
                    <a:bodyPr/>
                    <a:lstStyle/>
                    <a:p>
                      <a:pPr algn="ctr"/>
                      <a:r>
                        <a:rPr sz="900" b="0">
                          <a:latin typeface="Montserrat"/>
                        </a:rPr>
                        <a:t>Traumatismos e intoxicaciones
(8,073)</a:t>
                      </a:r>
                    </a:p>
                  </a:txBody>
                  <a:tcPr>
                    <a:solidFill>
                      <a:srgbClr val="FFFFFF"/>
                    </a:solidFill>
                  </a:tcPr>
                </a:tc>
                <a:tc>
                  <a:txBody>
                    <a:bodyPr/>
                    <a:lstStyle/>
                    <a:p>
                      <a:pPr algn="ctr"/>
                      <a:r>
                        <a:rPr sz="900" b="0">
                          <a:latin typeface="Montserrat"/>
                        </a:rPr>
                        <a:t>Tumores malignos
(751)</a:t>
                      </a:r>
                    </a:p>
                  </a:txBody>
                  <a:tcPr>
                    <a:solidFill>
                      <a:srgbClr val="FFFFFF"/>
                    </a:solidFill>
                  </a:tcPr>
                </a:tc>
              </a:tr>
              <a:tr h="489600">
                <a:tc>
                  <a:txBody>
                    <a:bodyPr/>
                    <a:lstStyle/>
                    <a:p>
                      <a:pPr algn="ctr"/>
                      <a:r>
                        <a:rPr sz="900" b="0">
                          <a:latin typeface="Montserrat"/>
                        </a:rPr>
                        <a:t>traumatismos e intoxicaciones
(128,783)</a:t>
                      </a:r>
                    </a:p>
                  </a:txBody>
                  <a:tcPr>
                    <a:solidFill>
                      <a:srgbClr val="EFEFEF"/>
                    </a:solidFill>
                  </a:tcPr>
                </a:tc>
                <a:tc>
                  <a:txBody>
                    <a:bodyPr/>
                    <a:lstStyle/>
                    <a:p>
                      <a:pPr algn="ctr"/>
                      <a:r>
                        <a:rPr sz="900" b="0">
                          <a:latin typeface="Montserrat"/>
                        </a:rPr>
                        <a:t>Enfermedades del corazón
(53,642)</a:t>
                      </a:r>
                    </a:p>
                  </a:txBody>
                  <a:tcPr>
                    <a:solidFill>
                      <a:srgbClr val="EFEFEF"/>
                    </a:solidFill>
                  </a:tcPr>
                </a:tc>
                <a:tc>
                  <a:txBody>
                    <a:bodyPr/>
                    <a:lstStyle/>
                    <a:p>
                      <a:pPr algn="ctr"/>
                      <a:r>
                        <a:rPr sz="900" b="0">
                          <a:latin typeface="Montserrat"/>
                        </a:rPr>
                        <a:t>Cirugía de Hernias (Hernioplastía)
(4,914)</a:t>
                      </a:r>
                    </a:p>
                  </a:txBody>
                  <a:tcPr>
                    <a:solidFill>
                      <a:srgbClr val="EFEFEF"/>
                    </a:solidFill>
                  </a:tcPr>
                </a:tc>
                <a:tc>
                  <a:txBody>
                    <a:bodyPr/>
                    <a:lstStyle/>
                    <a:p>
                      <a:pPr algn="ctr"/>
                      <a:r>
                        <a:rPr sz="900" b="0">
                          <a:latin typeface="Montserrat"/>
                        </a:rPr>
                        <a:t>Hernias
(5,486)</a:t>
                      </a:r>
                    </a:p>
                  </a:txBody>
                  <a:tcPr>
                    <a:solidFill>
                      <a:srgbClr val="EFEFEF"/>
                    </a:solidFill>
                  </a:tcPr>
                </a:tc>
                <a:tc>
                  <a:txBody>
                    <a:bodyPr/>
                    <a:lstStyle/>
                    <a:p>
                      <a:pPr algn="ctr"/>
                      <a:r>
                        <a:rPr sz="900" b="0">
                          <a:latin typeface="Montserrat"/>
                        </a:rPr>
                        <a:t>Diabetes mellitus
(452)</a:t>
                      </a:r>
                    </a:p>
                  </a:txBody>
                  <a:tcPr>
                    <a:solidFill>
                      <a:srgbClr val="EFEFEF"/>
                    </a:solidFill>
                  </a:tcPr>
                </a:tc>
              </a:tr>
              <a:tr h="489600">
                <a:tc>
                  <a:txBody>
                    <a:bodyPr/>
                    <a:lstStyle/>
                    <a:p>
                      <a:pPr algn="ctr"/>
                      <a:r>
                        <a:rPr sz="900" b="0">
                          <a:latin typeface="Montserrat"/>
                        </a:rPr>
                        <a:t>Enfermedades y trastornos de las articulaciones
(119,678)</a:t>
                      </a:r>
                    </a:p>
                  </a:txBody>
                  <a:tcPr>
                    <a:solidFill>
                      <a:srgbClr val="FFFFFF"/>
                    </a:solidFill>
                  </a:tcPr>
                </a:tc>
                <a:tc>
                  <a:txBody>
                    <a:bodyPr/>
                    <a:lstStyle/>
                    <a:p>
                      <a:pPr algn="ctr"/>
                      <a:r>
                        <a:rPr sz="900" b="0">
                          <a:latin typeface="Montserrat"/>
                        </a:rPr>
                        <a:t>Enfermedades mentales
(49,653)</a:t>
                      </a:r>
                    </a:p>
                  </a:txBody>
                  <a:tcPr>
                    <a:solidFill>
                      <a:srgbClr val="FFFFFF"/>
                    </a:solidFill>
                  </a:tcPr>
                </a:tc>
                <a:tc>
                  <a:txBody>
                    <a:bodyPr/>
                    <a:lstStyle/>
                    <a:p>
                      <a:pPr algn="ctr"/>
                      <a:r>
                        <a:rPr sz="900" b="0">
                          <a:latin typeface="Montserrat"/>
                        </a:rPr>
                        <a:t>Cirugía de cataratas (Facoemulsificación con implante de lente intraocular)
(4,374)</a:t>
                      </a:r>
                    </a:p>
                  </a:txBody>
                  <a:tcPr>
                    <a:solidFill>
                      <a:srgbClr val="FFFFFF"/>
                    </a:solidFill>
                  </a:tcPr>
                </a:tc>
                <a:tc>
                  <a:txBody>
                    <a:bodyPr/>
                    <a:lstStyle/>
                    <a:p>
                      <a:pPr algn="ctr"/>
                      <a:r>
                        <a:rPr sz="900" b="0">
                          <a:latin typeface="Montserrat"/>
                        </a:rPr>
                        <a:t>Enfermedades del corazón
(5,254)</a:t>
                      </a:r>
                    </a:p>
                  </a:txBody>
                  <a:tcPr>
                    <a:solidFill>
                      <a:srgbClr val="FFFFFF"/>
                    </a:solidFill>
                  </a:tcPr>
                </a:tc>
                <a:tc>
                  <a:txBody>
                    <a:bodyPr/>
                    <a:lstStyle/>
                    <a:p>
                      <a:pPr algn="ctr"/>
                      <a:r>
                        <a:rPr sz="900" b="0">
                          <a:latin typeface="Montserrat"/>
                        </a:rPr>
                        <a:t>Insuficiencia renal
(323)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CIUDAD DE MÉXICO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895,552</a:t>
                      </a:r>
                    </a:p>
                  </a:txBody>
                  <a:tcPr>
                    <a:solidFill>
                      <a:srgbClr val="FFFFFF"/>
                    </a:solidFill>
                  </a:tcPr>
                </a:tc>
                <a:tc>
                  <a:txBody>
                    <a:bodyPr/>
                    <a:lstStyle/>
                    <a:p>
                      <a:pPr algn="ctr"/>
                      <a:r>
                        <a:rPr sz="1100" b="0">
                          <a:solidFill>
                            <a:srgbClr val="434343"/>
                          </a:solidFill>
                          <a:latin typeface="Montserrat"/>
                        </a:rPr>
                        <a:t>8,302,761</a:t>
                      </a:r>
                    </a:p>
                  </a:txBody>
                  <a:tcPr>
                    <a:solidFill>
                      <a:srgbClr val="FFFFFF"/>
                    </a:solidFill>
                  </a:tcPr>
                </a:tc>
                <a:tc>
                  <a:txBody>
                    <a:bodyPr/>
                    <a:lstStyle/>
                    <a:p>
                      <a:pPr algn="ctr"/>
                      <a:r>
                        <a:rPr sz="1100" b="0">
                          <a:solidFill>
                            <a:srgbClr val="434343"/>
                          </a:solidFill>
                          <a:latin typeface="Montserrat"/>
                        </a:rPr>
                        <a:t>90.3%</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663,047</a:t>
                      </a:r>
                    </a:p>
                  </a:txBody>
                  <a:tcPr>
                    <a:solidFill>
                      <a:srgbClr val="D9D9D9"/>
                    </a:solidFill>
                  </a:tcPr>
                </a:tc>
                <a:tc>
                  <a:txBody>
                    <a:bodyPr/>
                    <a:lstStyle/>
                    <a:p>
                      <a:pPr algn="ctr"/>
                      <a:r>
                        <a:rPr sz="1100" b="1">
                          <a:solidFill>
                            <a:srgbClr val="006455"/>
                          </a:solidFill>
                          <a:latin typeface="Montserrat"/>
                        </a:rPr>
                        <a:t>8,100,579</a:t>
                      </a:r>
                    </a:p>
                  </a:txBody>
                  <a:tcPr>
                    <a:solidFill>
                      <a:srgbClr val="D9D9D9"/>
                    </a:solidFill>
                  </a:tcPr>
                </a:tc>
                <a:tc>
                  <a:txBody>
                    <a:bodyPr/>
                    <a:lstStyle/>
                    <a:p>
                      <a:pPr algn="ctr"/>
                      <a:r>
                        <a:rPr sz="1100" b="1">
                          <a:solidFill>
                            <a:srgbClr val="006455"/>
                          </a:solidFill>
                          <a:latin typeface="Montserrat"/>
                        </a:rPr>
                        <a:t>92.4%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2AE5-9C6B-24AB-648B-A98D00A1976D}"/>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CIUDAD DE MÉXICO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9.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1,356,132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t>1,031,315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688,286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638,816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628,835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550,589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539,973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520,627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500,463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481,160</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929027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505390"/>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Aceleradores</a:t>
            </a:r>
            <a:r>
              <a:rPr lang="en-US" sz="700" b="1" dirty="0">
                <a:solidFill>
                  <a:srgbClr val="BC955C"/>
                </a:solidFill>
                <a:latin typeface="Montserrat"/>
              </a:rPr>
              <a:t> </a:t>
            </a:r>
          </a:p>
          <a:p>
            <a:pPr algn="ctr"/>
            <a:r>
              <a:rPr lang="en-US" sz="700" b="1" err="1">
                <a:solidFill>
                  <a:srgbClr val="BC955C"/>
                </a:solidFill>
                <a:latin typeface="Montserrat"/>
              </a:rPr>
              <a:t>Lineales</a:t>
            </a:r>
            <a:endParaRPr lang="en-US" sz="700" b="1" dirty="0" err="1">
              <a:solidFill>
                <a:srgbClr val="BC955C"/>
              </a:solidFill>
              <a:latin typeface="Montserrat"/>
            </a:endParaRP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Salas</a:t>
            </a:r>
            <a:r>
              <a:rPr lang="en-US" sz="700" b="1" dirty="0">
                <a:solidFill>
                  <a:srgbClr val="BC955C"/>
                </a:solidFill>
                <a:latin typeface="Montserrat"/>
              </a:rPr>
              <a:t>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7" name="Table 16"/>
          <p:cNvGraphicFramePr>
            <a:graphicFrameLocks noGrp="1"/>
          </p:cNvGraphicFramePr>
          <p:nvPr/>
        </p:nvGraphicFramePr>
        <p:xfrm>
          <a:off x="1785600" y="1584000"/>
          <a:ext cx="5295600" cy="3780000"/>
        </p:xfrm>
        <a:graphic>
          <a:graphicData uri="http://schemas.openxmlformats.org/drawingml/2006/table">
            <a:tbl>
              <a:tblPr firstRow="1" bandRow="1">
                <a:tableStyleId>{5C22544A-7EE6-4342-B048-85BDC9FD1C3A}</a:tableStyleId>
              </a:tblPr>
              <a:tblGrid>
                <a:gridCol w="4176000"/>
                <a:gridCol w="1119600"/>
              </a:tblGrid>
              <a:tr h="42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20000">
                <a:tc>
                  <a:txBody>
                    <a:bodyPr/>
                    <a:lstStyle/>
                    <a:p>
                      <a:pPr algn="l">
                        <a:lnSpc>
                          <a:spcPct val="100000"/>
                        </a:lnSpc>
                      </a:pPr>
                      <a:r>
                        <a:rPr sz="1000">
                          <a:latin typeface="Montserrat"/>
                        </a:rPr>
                        <a:t>HGR de 180 camas, Zaragoza</a:t>
                      </a:r>
                    </a:p>
                  </a:txBody>
                  <a:tcPr marL="3600" marR="3600" marT="3600" marB="3600">
                    <a:solidFill>
                      <a:srgbClr val="FFFFFF"/>
                    </a:solidFill>
                  </a:tcPr>
                </a:tc>
                <a:tc>
                  <a:txBody>
                    <a:bodyPr/>
                    <a:lstStyle/>
                    <a:p>
                      <a:pPr algn="ctr">
                        <a:lnSpc>
                          <a:spcPct val="100000"/>
                        </a:lnSpc>
                      </a:pPr>
                      <a:r>
                        <a:rPr sz="1000">
                          <a:latin typeface="Montserrat"/>
                        </a:rPr>
                        <a:t>$2,437.6</a:t>
                      </a:r>
                    </a:p>
                  </a:txBody>
                  <a:tcPr marL="3600" marR="3600" marT="3600" marB="3600">
                    <a:solidFill>
                      <a:srgbClr val="FFFFFF"/>
                    </a:solidFill>
                  </a:tcPr>
                </a:tc>
              </a:tr>
              <a:tr h="420000">
                <a:tc>
                  <a:txBody>
                    <a:bodyPr/>
                    <a:lstStyle/>
                    <a:p>
                      <a:pPr algn="l">
                        <a:lnSpc>
                          <a:spcPct val="100000"/>
                        </a:lnSpc>
                      </a:pPr>
                      <a:r>
                        <a:rPr sz="1000">
                          <a:latin typeface="Montserrat"/>
                        </a:rPr>
                        <a:t>Construcción del Inmueble de Sustitución de la Central de Servicios del Centro Médico Nacional La Raza.</a:t>
                      </a:r>
                    </a:p>
                  </a:txBody>
                  <a:tcPr marL="3600" marR="3600" marT="3600" marB="3600">
                    <a:solidFill>
                      <a:srgbClr val="D9D9D9"/>
                    </a:solidFill>
                  </a:tcPr>
                </a:tc>
                <a:tc>
                  <a:txBody>
                    <a:bodyPr/>
                    <a:lstStyle/>
                    <a:p>
                      <a:pPr algn="ctr">
                        <a:lnSpc>
                          <a:spcPct val="100000"/>
                        </a:lnSpc>
                      </a:pPr>
                      <a:r>
                        <a:rPr sz="1000">
                          <a:latin typeface="Montserrat"/>
                        </a:rPr>
                        <a:t>$639.2</a:t>
                      </a:r>
                    </a:p>
                  </a:txBody>
                  <a:tcPr marL="3600" marR="3600" marT="3600" marB="3600">
                    <a:solidFill>
                      <a:srgbClr val="D9D9D9"/>
                    </a:solidFill>
                  </a:tcPr>
                </a:tc>
              </a:tr>
              <a:tr h="420000">
                <a:tc>
                  <a:txBody>
                    <a:bodyPr/>
                    <a:lstStyle/>
                    <a:p>
                      <a:pPr algn="l">
                        <a:lnSpc>
                          <a:spcPct val="100000"/>
                        </a:lnSpc>
                      </a:pPr>
                      <a:r>
                        <a:rPr sz="1000">
                          <a:latin typeface="Montserrat"/>
                        </a:rPr>
                        <a:t>Ampliación y remodelación de quirófanos y Terapia Intensiva Postquirúrgica de Cardiología “Siglo XXI”</a:t>
                      </a:r>
                    </a:p>
                  </a:txBody>
                  <a:tcPr marL="3600" marR="3600" marT="3600" marB="3600">
                    <a:solidFill>
                      <a:srgbClr val="FFFFFF"/>
                    </a:solidFill>
                  </a:tcPr>
                </a:tc>
                <a:tc>
                  <a:txBody>
                    <a:bodyPr/>
                    <a:lstStyle/>
                    <a:p>
                      <a:pPr algn="ctr">
                        <a:lnSpc>
                          <a:spcPct val="100000"/>
                        </a:lnSpc>
                      </a:pPr>
                      <a:r>
                        <a:rPr sz="1000">
                          <a:latin typeface="Montserrat"/>
                        </a:rPr>
                        <a:t>$375.9</a:t>
                      </a:r>
                    </a:p>
                  </a:txBody>
                  <a:tcPr marL="3600" marR="3600" marT="3600" marB="3600">
                    <a:solidFill>
                      <a:srgbClr val="FFFFFF"/>
                    </a:solidFill>
                  </a:tcPr>
                </a:tc>
              </a:tr>
              <a:tr h="420000">
                <a:tc>
                  <a:txBody>
                    <a:bodyPr/>
                    <a:lstStyle/>
                    <a:p>
                      <a:pPr algn="l">
                        <a:lnSpc>
                          <a:spcPct val="100000"/>
                        </a:lnSpc>
                      </a:pPr>
                      <a:r>
                        <a:rPr sz="1000">
                          <a:latin typeface="Montserrat"/>
                        </a:rPr>
                        <a:t>Ampliación y remodelación de salas de quirúrgicas en HGR No. 2, Villa Coapa</a:t>
                      </a:r>
                    </a:p>
                  </a:txBody>
                  <a:tcPr marL="3600" marR="3600" marT="3600" marB="3600">
                    <a:solidFill>
                      <a:srgbClr val="D9D9D9"/>
                    </a:solidFill>
                  </a:tcPr>
                </a:tc>
                <a:tc>
                  <a:txBody>
                    <a:bodyPr/>
                    <a:lstStyle/>
                    <a:p>
                      <a:pPr algn="ctr">
                        <a:lnSpc>
                          <a:spcPct val="100000"/>
                        </a:lnSpc>
                      </a:pPr>
                      <a:r>
                        <a:rPr sz="1000">
                          <a:latin typeface="Montserrat"/>
                        </a:rPr>
                        <a:t>$285.8</a:t>
                      </a:r>
                    </a:p>
                  </a:txBody>
                  <a:tcPr marL="3600" marR="3600" marT="3600" marB="3600">
                    <a:solidFill>
                      <a:srgbClr val="D9D9D9"/>
                    </a:solidFill>
                  </a:tcPr>
                </a:tc>
              </a:tr>
              <a:tr h="420000">
                <a:tc>
                  <a:txBody>
                    <a:bodyPr/>
                    <a:lstStyle/>
                    <a:p>
                      <a:pPr algn="l">
                        <a:lnSpc>
                          <a:spcPct val="100000"/>
                        </a:lnSpc>
                      </a:pPr>
                      <a:r>
                        <a:rPr sz="1000">
                          <a:latin typeface="Montserrat"/>
                        </a:rPr>
                        <a:t>Nueva Sala de Hemodinamia en el HGZ No. 1, Carlos Mc Gregor, Ciudad de México Sur.</a:t>
                      </a:r>
                    </a:p>
                  </a:txBody>
                  <a:tcPr marL="3600" marR="3600" marT="3600" marB="3600">
                    <a:solidFill>
                      <a:srgbClr val="FFFFFF"/>
                    </a:solidFill>
                  </a:tcPr>
                </a:tc>
                <a:tc>
                  <a:txBody>
                    <a:bodyPr/>
                    <a:lstStyle/>
                    <a:p>
                      <a:pPr algn="ctr">
                        <a:lnSpc>
                          <a:spcPct val="100000"/>
                        </a:lnSpc>
                      </a:pPr>
                      <a:r>
                        <a:rPr sz="1000">
                          <a:latin typeface="Montserrat"/>
                        </a:rPr>
                        <a:t>$46.0</a:t>
                      </a:r>
                    </a:p>
                  </a:txBody>
                  <a:tcPr marL="3600" marR="3600" marT="3600" marB="3600">
                    <a:solidFill>
                      <a:srgbClr val="FFFFFF"/>
                    </a:solidFill>
                  </a:tcPr>
                </a:tc>
              </a:tr>
              <a:tr h="420000">
                <a:tc>
                  <a:txBody>
                    <a:bodyPr/>
                    <a:lstStyle/>
                    <a:p>
                      <a:pPr algn="l">
                        <a:lnSpc>
                          <a:spcPct val="100000"/>
                        </a:lnSpc>
                      </a:pPr>
                      <a:r>
                        <a:rPr sz="1000">
                          <a:latin typeface="Montserrat"/>
                        </a:rPr>
                        <a:t>Sustitución de mobiliario de la Unidad de Congresos CMN SXXI</a:t>
                      </a:r>
                    </a:p>
                  </a:txBody>
                  <a:tcPr marL="3600" marR="3600" marT="3600" marB="3600">
                    <a:solidFill>
                      <a:srgbClr val="D9D9D9"/>
                    </a:solidFill>
                  </a:tcPr>
                </a:tc>
                <a:tc>
                  <a:txBody>
                    <a:bodyPr/>
                    <a:lstStyle/>
                    <a:p>
                      <a:pPr algn="ctr">
                        <a:lnSpc>
                          <a:spcPct val="100000"/>
                        </a:lnSpc>
                      </a:pPr>
                      <a:r>
                        <a:rPr sz="1000">
                          <a:latin typeface="Montserrat"/>
                        </a:rPr>
                        <a:t>$5.2</a:t>
                      </a:r>
                    </a:p>
                  </a:txBody>
                  <a:tcPr marL="3600" marR="3600" marT="3600" marB="3600">
                    <a:solidFill>
                      <a:srgbClr val="D9D9D9"/>
                    </a:solidFill>
                  </a:tcPr>
                </a:tc>
              </a:tr>
              <a:tr h="420000">
                <a:tc>
                  <a:txBody>
                    <a:bodyPr/>
                    <a:lstStyle/>
                    <a:p>
                      <a:pPr algn="l">
                        <a:lnSpc>
                          <a:spcPct val="100000"/>
                        </a:lnSpc>
                      </a:pPr>
                      <a:r>
                        <a:rPr sz="1000">
                          <a:latin typeface="Montserrat"/>
                        </a:rPr>
                        <a:t>Nueva Sala de Hemodinamia en el HC CMN Siglo XXI</a:t>
                      </a:r>
                    </a:p>
                  </a:txBody>
                  <a:tcPr marL="3600" marR="3600" marT="3600" marB="3600">
                    <a:solidFill>
                      <a:srgbClr val="FFFFFF"/>
                    </a:solidFill>
                  </a:tcPr>
                </a:tc>
                <a:tc>
                  <a:txBody>
                    <a:bodyPr/>
                    <a:lstStyle/>
                    <a:p>
                      <a:pPr algn="ctr">
                        <a:lnSpc>
                          <a:spcPct val="100000"/>
                        </a:lnSpc>
                      </a:pPr>
                      <a:r>
                        <a:rPr sz="1000">
                          <a:latin typeface="Montserrat"/>
                        </a:rPr>
                        <a:t>$1.0</a:t>
                      </a:r>
                    </a:p>
                  </a:txBody>
                  <a:tcPr marL="3600" marR="3600" marT="3600" marB="3600">
                    <a:solidFill>
                      <a:srgbClr val="FFFFFF"/>
                    </a:solidFill>
                  </a:tcPr>
                </a:tc>
              </a:tr>
              <a:tr h="42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$3,790.7</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5544000"/>
          <a:ext cx="5295600" cy="4860000"/>
        </p:xfrm>
        <a:graphic>
          <a:graphicData uri="http://schemas.openxmlformats.org/drawingml/2006/table">
            <a:tbl>
              <a:tblPr firstRow="1" bandRow="1">
                <a:tableStyleId>{5C22544A-7EE6-4342-B048-85BDC9FD1C3A}</a:tableStyleId>
              </a:tblPr>
              <a:tblGrid>
                <a:gridCol w="4176000"/>
                <a:gridCol w="1119600"/>
              </a:tblGrid>
              <a:tr h="486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6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$3,956.6</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terapia intensiva en 12 unidades, Ciudad de México</a:t>
                      </a:r>
                    </a:p>
                  </a:txBody>
                  <a:tcPr marL="3600" marR="3600" marT="3600" marB="3600">
                    <a:solidFill>
                      <a:srgbClr val="D9D9D9"/>
                    </a:solidFill>
                  </a:tcPr>
                </a:tc>
                <a:tc>
                  <a:txBody>
                    <a:bodyPr/>
                    <a:lstStyle/>
                    <a:p>
                      <a:pPr algn="ctr">
                        <a:lnSpc>
                          <a:spcPct val="100000"/>
                        </a:lnSpc>
                      </a:pPr>
                      <a:r>
                        <a:rPr sz="1000">
                          <a:latin typeface="Montserrat"/>
                        </a:rPr>
                        <a:t>$668.7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residencias médicas en 50 unidades, Ciudad de México</a:t>
                      </a:r>
                    </a:p>
                  </a:txBody>
                  <a:tcPr marL="3600" marR="3600" marT="3600" marB="3600">
                    <a:solidFill>
                      <a:srgbClr val="FFFFFF"/>
                    </a:solidFill>
                  </a:tcPr>
                </a:tc>
                <a:tc>
                  <a:txBody>
                    <a:bodyPr/>
                    <a:lstStyle/>
                    <a:p>
                      <a:pPr algn="ctr">
                        <a:lnSpc>
                          <a:spcPct val="100000"/>
                        </a:lnSpc>
                      </a:pPr>
                      <a:r>
                        <a:rPr sz="1000">
                          <a:latin typeface="Montserrat"/>
                        </a:rPr>
                        <a:t>$328.6</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Atención Médica Contínua en 16 unidades, Ciudad de México</a:t>
                      </a:r>
                    </a:p>
                  </a:txBody>
                  <a:tcPr marL="3600" marR="3600" marT="3600" marB="3600">
                    <a:solidFill>
                      <a:srgbClr val="D9D9D9"/>
                    </a:solidFill>
                  </a:tcPr>
                </a:tc>
                <a:tc>
                  <a:txBody>
                    <a:bodyPr/>
                    <a:lstStyle/>
                    <a:p>
                      <a:pPr algn="ctr">
                        <a:lnSpc>
                          <a:spcPct val="100000"/>
                        </a:lnSpc>
                      </a:pPr>
                      <a:r>
                        <a:rPr sz="1000">
                          <a:latin typeface="Montserrat"/>
                        </a:rPr>
                        <a:t>$78.7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mejora en 2 subdelegaciones No. 9 y No. 10, Ciudad de México</a:t>
                      </a:r>
                    </a:p>
                  </a:txBody>
                  <a:tcPr marL="3600" marR="3600" marT="3600" marB="3600">
                    <a:solidFill>
                      <a:srgbClr val="FFFFFF"/>
                    </a:solidFill>
                  </a:tcPr>
                </a:tc>
                <a:tc>
                  <a:txBody>
                    <a:bodyPr/>
                    <a:lstStyle/>
                    <a:p>
                      <a:pPr algn="ctr">
                        <a:lnSpc>
                          <a:spcPct val="100000"/>
                        </a:lnSpc>
                      </a:pPr>
                      <a:r>
                        <a:rPr sz="1000">
                          <a:latin typeface="Montserrat"/>
                        </a:rPr>
                        <a:t>$65.4</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salud mental en 21 unidades, Ciudad de México</a:t>
                      </a:r>
                    </a:p>
                  </a:txBody>
                  <a:tcPr marL="3600" marR="3600" marT="3600" marB="3600">
                    <a:solidFill>
                      <a:srgbClr val="D9D9D9"/>
                    </a:solidFill>
                  </a:tcPr>
                </a:tc>
                <a:tc>
                  <a:txBody>
                    <a:bodyPr/>
                    <a:lstStyle/>
                    <a:p>
                      <a:pPr algn="ctr">
                        <a:lnSpc>
                          <a:spcPct val="100000"/>
                        </a:lnSpc>
                      </a:pPr>
                      <a:r>
                        <a:rPr sz="1000">
                          <a:latin typeface="Montserrat"/>
                        </a:rPr>
                        <a:t>$42.7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hemodiálisis interna en 4 unidades (H. de Especialidades CMN Siglo XXI, Hospital de Ortopedia, Hospital de Traumatología, Hospital General del CMN La Raza)</a:t>
                      </a:r>
                    </a:p>
                  </a:txBody>
                  <a:tcPr marL="3600" marR="3600" marT="3600" marB="3600">
                    <a:solidFill>
                      <a:srgbClr val="FFFFFF"/>
                    </a:solidFill>
                  </a:tcPr>
                </a:tc>
                <a:tc>
                  <a:txBody>
                    <a:bodyPr/>
                    <a:lstStyle/>
                    <a:p>
                      <a:pPr algn="ctr">
                        <a:lnSpc>
                          <a:spcPct val="100000"/>
                        </a:lnSpc>
                      </a:pPr>
                      <a:r>
                        <a:rPr sz="1000">
                          <a:latin typeface="Montserrat"/>
                        </a:rPr>
                        <a:t>$34.0</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accesibilidad (rampas) en 30 unidades, Ciudad de México</a:t>
                      </a:r>
                    </a:p>
                  </a:txBody>
                  <a:tcPr marL="3600" marR="3600" marT="3600" marB="3600">
                    <a:solidFill>
                      <a:srgbClr val="D9D9D9"/>
                    </a:solidFill>
                  </a:tcPr>
                </a:tc>
                <a:tc>
                  <a:txBody>
                    <a:bodyPr/>
                    <a:lstStyle/>
                    <a:p>
                      <a:pPr algn="ctr">
                        <a:lnSpc>
                          <a:spcPct val="100000"/>
                        </a:lnSpc>
                      </a:pPr>
                      <a:r>
                        <a:rPr sz="1000">
                          <a:latin typeface="Montserrat"/>
                        </a:rPr>
                        <a:t>$26.1</a:t>
                      </a:r>
                    </a:p>
                  </a:txBody>
                  <a:tcPr marL="3600" marR="3600" marT="3600" marB="3600">
                    <a:solidFill>
                      <a:srgbClr val="D9D9D9"/>
                    </a:solidFill>
                  </a:tcPr>
                </a:tc>
              </a:tr>
              <a:tr h="486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$5,200.8</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0584000"/>
          <a:ext cx="5295600" cy="1980000"/>
        </p:xfrm>
        <a:graphic>
          <a:graphicData uri="http://schemas.openxmlformats.org/drawingml/2006/table">
            <a:tbl>
              <a:tblPr firstRow="1" bandRow="1">
                <a:tableStyleId>{5C22544A-7EE6-4342-B048-85BDC9FD1C3A}</a:tableStyleId>
              </a:tblPr>
              <a:tblGrid>
                <a:gridCol w="4176000"/>
                <a:gridCol w="1119600"/>
              </a:tblGrid>
              <a:tr h="99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90000">
                <a:tc>
                  <a:txBody>
                    <a:bodyPr/>
                    <a:lstStyle/>
                    <a:p>
                      <a:pPr algn="l">
                        <a:lnSpc>
                          <a:spcPct val="100000"/>
                        </a:lnSpc>
                      </a:pPr>
                      <a:r>
                        <a:rPr sz="1000">
                          <a:latin typeface="Montserrat"/>
                        </a:rPr>
                        <a:t>Adquisición de 65  piezas de equipo médico: 6 congeladores horizontales de refrigerantes para vacunas, 9 refrigeradores para vacunas, 4 refrigeradores congeladores de 5.4 pies cúbicos, 1 barrera de cristal de plomo, 5 monitores de signos vitales para el traslado del paciente (con protección antimagnética), 5 unidades de anestesia básica (con protección antimagnética), 3 calibradores de dósis de radioisótopos, 1 cofre de plomo, 3 monitores de radiación de pared, 2 aceleradores lineales, 1 angiógr</a:t>
                      </a:r>
                    </a:p>
                  </a:txBody>
                  <a:tcPr marL="3600" marR="3600" marT="3600" marB="3600">
                    <a:solidFill>
                      <a:srgbClr val="FFFFFF"/>
                    </a:solidFill>
                  </a:tcPr>
                </a:tc>
                <a:tc>
                  <a:txBody>
                    <a:bodyPr/>
                    <a:lstStyle/>
                    <a:p>
                      <a:pPr algn="ctr">
                        <a:lnSpc>
                          <a:spcPct val="100000"/>
                        </a:lnSpc>
                      </a:pPr>
                      <a:r>
                        <a:rPr sz="1000">
                          <a:latin typeface="Montserrat"/>
                        </a:rPr>
                        <a:t>$690.6</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274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$232.6</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9,914.7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62609"/>
            <a:ext cx="1599000" cy="7560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8212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700" b="1" dirty="0">
                <a:solidFill>
                  <a:srgbClr val="A42145"/>
                </a:solidFill>
                <a:latin typeface="Montserrat"/>
                <a:ea typeface="Montserrat"/>
                <a:cs typeface="Montserrat"/>
              </a:rPr>
              <a:t>Salas de </a:t>
            </a:r>
          </a:p>
          <a:p>
            <a:pPr algn="ctr"/>
            <a:r>
              <a:rPr lang="en-US" sz="700" b="1" dirty="0" err="1">
                <a:solidFill>
                  <a:srgbClr val="A42145"/>
                </a:solidFill>
                <a:latin typeface="Montserrat"/>
                <a:ea typeface="Montserrat"/>
                <a:cs typeface="Montserrat"/>
              </a:rPr>
              <a:t>Hemodiálisis</a:t>
            </a:r>
            <a:endParaRPr lang="en-US" sz="700" b="1" i="0" u="none" strike="noStrike">
              <a:solidFill>
                <a:srgbClr val="A42145"/>
              </a:solidFill>
              <a:latin typeface="Montserrat"/>
              <a:ea typeface="Montserrat"/>
              <a:cs typeface="Montserrat"/>
            </a:endParaRPr>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2977502"/>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16824" y="303777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3" name="Table 12"/>
          <p:cNvGraphicFramePr>
            <a:graphicFrameLocks noGrp="1"/>
          </p:cNvGraphicFramePr>
          <p:nvPr/>
        </p:nvGraphicFramePr>
        <p:xfrm>
          <a:off x="1785600" y="1584000"/>
          <a:ext cx="5396400" cy="2519990"/>
        </p:xfrm>
        <a:graphic>
          <a:graphicData uri="http://schemas.openxmlformats.org/drawingml/2006/table">
            <a:tbl>
              <a:tblPr firstRow="1" bandRow="1">
                <a:tableStyleId>{5C22544A-7EE6-4342-B048-85BDC9FD1C3A}</a:tableStyleId>
              </a:tblPr>
              <a:tblGrid>
                <a:gridCol w="4255200"/>
                <a:gridCol w="1141200"/>
              </a:tblGrid>
              <a:tr h="359998">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59998">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$6,132.5</a:t>
                      </a:r>
                    </a:p>
                  </a:txBody>
                  <a:tcPr marL="3600" marR="3600" marT="3600" marB="3600">
                    <a:solidFill>
                      <a:srgbClr val="FFFFFF"/>
                    </a:solidFill>
                  </a:tcPr>
                </a:tc>
              </a:tr>
              <a:tr h="359998">
                <a:tc>
                  <a:txBody>
                    <a:bodyPr/>
                    <a:lstStyle/>
                    <a:p>
                      <a:pPr algn="l">
                        <a:lnSpc>
                          <a:spcPct val="100000"/>
                        </a:lnSpc>
                      </a:pPr>
                      <a:r>
                        <a:rPr sz="1000">
                          <a:latin typeface="Montserrat"/>
                        </a:rPr>
                        <a:t>Centro de Mezclas UMAE Siglo XXI</a:t>
                      </a:r>
                    </a:p>
                  </a:txBody>
                  <a:tcPr marL="3600" marR="3600" marT="3600" marB="3600">
                    <a:solidFill>
                      <a:srgbClr val="D9D9D9"/>
                    </a:solidFill>
                  </a:tcPr>
                </a:tc>
                <a:tc>
                  <a:txBody>
                    <a:bodyPr/>
                    <a:lstStyle/>
                    <a:p>
                      <a:pPr algn="ctr">
                        <a:lnSpc>
                          <a:spcPct val="100000"/>
                        </a:lnSpc>
                      </a:pPr>
                      <a:r>
                        <a:rPr sz="1000">
                          <a:latin typeface="Montserrat"/>
                        </a:rPr>
                        <a:t>$10.3</a:t>
                      </a:r>
                    </a:p>
                  </a:txBody>
                  <a:tcPr marL="3600" marR="3600" marT="3600" marB="3600">
                    <a:solidFill>
                      <a:srgbClr val="D9D9D9"/>
                    </a:solidFill>
                  </a:tcPr>
                </a:tc>
              </a:tr>
              <a:tr h="359998">
                <a:tc>
                  <a:txBody>
                    <a:bodyPr/>
                    <a:lstStyle/>
                    <a:p>
                      <a:pPr algn="l">
                        <a:lnSpc>
                          <a:spcPct val="100000"/>
                        </a:lnSpc>
                      </a:pPr>
                      <a:r>
                        <a:rPr sz="1000">
                          <a:latin typeface="Montserrat"/>
                        </a:rPr>
                        <a:t>Nueva sala de Hemodiálisis en AEHos del HGZ No. 27, UMF No. 13 Azcapotzalco, UMAA No. 161 Avenida Toluca, HGZ No. 30 Iztacalco</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359998">
                <a:tc>
                  <a:txBody>
                    <a:bodyPr/>
                    <a:lstStyle/>
                    <a:p>
                      <a:pPr algn="l">
                        <a:lnSpc>
                          <a:spcPct val="100000"/>
                        </a:lnSpc>
                      </a:pPr>
                      <a:r>
                        <a:rPr sz="1000">
                          <a:latin typeface="Montserrat"/>
                        </a:rPr>
                        <a:t>Ampliación de área de Hemodiálisis en HGZ No. 48 San Pedro Xalpa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359998">
                <a:tc>
                  <a:txBody>
                    <a:bodyPr/>
                    <a:lstStyle/>
                    <a:p>
                      <a:pPr algn="l">
                        <a:lnSpc>
                          <a:spcPct val="100000"/>
                        </a:lnSpc>
                      </a:pPr>
                      <a:r>
                        <a:rPr sz="1000">
                          <a:latin typeface="Montserrat"/>
                        </a:rPr>
                        <a:t>Fortalecimiento de UCIN en HGP 3A Magdalena Salinas, HGZ 1A Venados y HGZ 2 A Troncoso</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360002">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$6,142.8</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4283990"/>
          <a:ext cx="5396400" cy="755997"/>
        </p:xfrm>
        <a:graphic>
          <a:graphicData uri="http://schemas.openxmlformats.org/drawingml/2006/table">
            <a:tbl>
              <a:tblPr firstRow="1" bandRow="1">
                <a:tableStyleId>{5C22544A-7EE6-4342-B048-85BDC9FD1C3A}</a:tableStyleId>
              </a:tblPr>
              <a:tblGrid>
                <a:gridCol w="4255200"/>
                <a:gridCol w="1141200"/>
              </a:tblGrid>
              <a:tr h="377998">
                <a:tc>
                  <a:txBody>
                    <a:bodyPr/>
                    <a:lstStyle/>
                    <a:p>
                      <a:pPr algn="ctr">
                        <a:defRPr b="1" sz="1000">
                          <a:solidFill>
                            <a:srgbClr val="FFFFFF"/>
                          </a:solidFill>
                          <a:latin typeface="Montserrat"/>
                        </a:defRPr>
                      </a:pPr>
                      <a:r>
                        <a:t>Equipo Médico 2026, Instalación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77999">
                <a:tc>
                  <a:txBody>
                    <a:bodyPr/>
                    <a:lstStyle/>
                    <a:p>
                      <a:pPr algn="l">
                        <a:lnSpc>
                          <a:spcPct val="100000"/>
                        </a:lnSpc>
                      </a:pPr>
                      <a:r>
                        <a:rPr sz="1000">
                          <a:latin typeface="Montserrat"/>
                        </a:rPr>
                        <a:t>Programa para la Adquisición de Equipo CeSiECQ Siglo XXI</a:t>
                      </a:r>
                    </a:p>
                  </a:txBody>
                  <a:tcPr marL="3600" marR="3600" marT="3600" marB="3600">
                    <a:solidFill>
                      <a:srgbClr val="FFFFFF"/>
                    </a:solidFill>
                  </a:tcPr>
                </a:tc>
                <a:tc>
                  <a:txBody>
                    <a:bodyPr/>
                    <a:lstStyle/>
                    <a:p>
                      <a:pPr algn="ctr">
                        <a:lnSpc>
                          <a:spcPct val="100000"/>
                        </a:lnSpc>
                      </a:pPr>
                      <a:r>
                        <a:rPr sz="1000">
                          <a:latin typeface="Montserrat"/>
                        </a:rPr>
                        <a:t>$35.7</a:t>
                      </a:r>
                    </a:p>
                  </a:txBody>
                  <a:tcPr marL="3600" marR="3600" marT="3600" marB="3600">
                    <a:solidFill>
                      <a:srgbClr val="FFFFFF"/>
                    </a:solidFill>
                  </a:tcPr>
                </a:tc>
              </a:tr>
            </a:tbl>
          </a:graphicData>
        </a:graphic>
      </p:graphicFrame>
      <p:graphicFrame>
        <p:nvGraphicFramePr>
          <p:cNvPr id="15" name="Table 14"/>
          <p:cNvGraphicFramePr>
            <a:graphicFrameLocks noGrp="1"/>
          </p:cNvGraphicFramePr>
          <p:nvPr/>
        </p:nvGraphicFramePr>
        <p:xfrm>
          <a:off x="1785600" y="5219987"/>
          <a:ext cx="5396400" cy="1763993"/>
        </p:xfrm>
        <a:graphic>
          <a:graphicData uri="http://schemas.openxmlformats.org/drawingml/2006/table">
            <a:tbl>
              <a:tblPr firstRow="1" bandRow="1">
                <a:tableStyleId>{5C22544A-7EE6-4342-B048-85BDC9FD1C3A}</a:tableStyleId>
              </a:tblPr>
              <a:tblGrid>
                <a:gridCol w="4255200"/>
                <a:gridCol w="1141200"/>
              </a:tblGrid>
              <a:tr h="440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440998">
                <a:tc>
                  <a:txBody>
                    <a:bodyPr/>
                    <a:lstStyle/>
                    <a:p>
                      <a:pPr algn="l">
                        <a:lnSpc>
                          <a:spcPct val="100000"/>
                        </a:lnSpc>
                      </a:pPr>
                      <a:r>
                        <a:rPr sz="1000">
                          <a:latin typeface="Montserrat"/>
                        </a:rPr>
                        <a:t>37 Equipos electromecánicos para Unidades Hospitalarias, 5 elevadores, 11 equipos para casas de máquinas, 3 para aire acondicionado, 10 lavadoras y 8 secadoras.</a:t>
                      </a:r>
                    </a:p>
                  </a:txBody>
                  <a:tcPr marL="3600" marR="3600" marT="3600" marB="3600">
                    <a:solidFill>
                      <a:srgbClr val="FFFFFF"/>
                    </a:solidFill>
                  </a:tcPr>
                </a:tc>
                <a:tc>
                  <a:txBody>
                    <a:bodyPr/>
                    <a:lstStyle/>
                    <a:p>
                      <a:pPr algn="ctr">
                        <a:lnSpc>
                          <a:spcPct val="100000"/>
                        </a:lnSpc>
                      </a:pPr>
                      <a:r>
                        <a:rPr sz="1000">
                          <a:latin typeface="Montserrat"/>
                        </a:rPr>
                        <a:t>$409.7</a:t>
                      </a:r>
                    </a:p>
                  </a:txBody>
                  <a:tcPr marL="3600" marR="3600" marT="3600" marB="3600">
                    <a:solidFill>
                      <a:srgbClr val="FFFFFF"/>
                    </a:solidFill>
                  </a:tcPr>
                </a:tc>
              </a:tr>
              <a:tr h="440998">
                <a:tc>
                  <a:txBody>
                    <a:bodyPr/>
                    <a:lstStyle/>
                    <a:p>
                      <a:pPr algn="l">
                        <a:lnSpc>
                          <a:spcPct val="100000"/>
                        </a:lnSpc>
                      </a:pPr>
                      <a:r>
                        <a:rPr sz="1000">
                          <a:latin typeface="Montserrat"/>
                        </a:rPr>
                        <a:t>24 Equipos electromecánicos para UMAEs 8 elevadores, 16 equipos para aire acondicionado.</a:t>
                      </a:r>
                    </a:p>
                  </a:txBody>
                  <a:tcPr marL="3600" marR="3600" marT="3600" marB="3600">
                    <a:solidFill>
                      <a:srgbClr val="D9D9D9"/>
                    </a:solidFill>
                  </a:tcPr>
                </a:tc>
                <a:tc>
                  <a:txBody>
                    <a:bodyPr/>
                    <a:lstStyle/>
                    <a:p>
                      <a:pPr algn="ctr">
                        <a:lnSpc>
                          <a:spcPct val="100000"/>
                        </a:lnSpc>
                      </a:pPr>
                      <a:r>
                        <a:rPr sz="1000">
                          <a:latin typeface="Montserrat"/>
                        </a:rPr>
                        <a:t>$176.3</a:t>
                      </a:r>
                    </a:p>
                  </a:txBody>
                  <a:tcPr marL="3600" marR="3600" marT="3600" marB="3600">
                    <a:solidFill>
                      <a:srgbClr val="D9D9D9"/>
                    </a:solidFill>
                  </a:tcPr>
                </a:tc>
              </a:tr>
              <a:tr h="440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$586.0</a:t>
                      </a:r>
                    </a:p>
                  </a:txBody>
                  <a:tcPr marL="3600" marR="3600" marT="3600" marB="3600">
                    <a:solidFill>
                      <a:srgbClr val="9F2241"/>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6,764.5</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0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47</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47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1/Sin predios en ruta.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CIUDAD DE MÉXICO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111 </a:t>
                      </a:r>
                      <a:r>
                        <a:rPr b="1" sz="1000">
                          <a:latin typeface="Montserrat"/>
                        </a:rPr>
                        <a:t>unidades</a:t>
                      </a:r>
                    </a:p>
                    <a:p>
                      <a:pPr algn="ctr">
                        <a:defRPr sz="1000">
                          <a:solidFill>
                            <a:srgbClr val="505050"/>
                          </a:solidFill>
                          <a:latin typeface="Montserrat"/>
                        </a:defRPr>
                      </a:pPr>
                      <a:r>
                        <a:t>50 directas</a:t>
                      </a:r>
                    </a:p>
                    <a:p>
                      <a:pPr algn="ctr">
                        <a:defRPr sz="1000">
                          <a:solidFill>
                            <a:srgbClr val="505050"/>
                          </a:solidFill>
                          <a:latin typeface="Montserrat"/>
                        </a:defRPr>
                      </a:pPr>
                      <a:r>
                        <a:t>61 indirectas</a:t>
                      </a:r>
                    </a:p>
                  </a:txBody>
                  <a:tcPr anchor="ctr">
                    <a:solidFill>
                      <a:srgbClr val="FFFFFF"/>
                    </a:solidFill>
                  </a:tcPr>
                </a:tc>
                <a:tc>
                  <a:txBody>
                    <a:bodyPr/>
                    <a:lstStyle/>
                    <a:p>
                      <a:pPr algn="ctr"/>
                      <a:r>
                        <a:rPr b="1" sz="1000">
                          <a:latin typeface="Montserrat"/>
                        </a:rPr>
                        <a:t>14,115 </a:t>
                      </a:r>
                      <a:r>
                        <a:rPr b="1" sz="1000">
                          <a:latin typeface="Montserrat"/>
                        </a:rPr>
                        <a:t>inscritos</a:t>
                      </a:r>
                    </a:p>
                    <a:p>
                      <a:pPr algn="ctr">
                        <a:defRPr sz="1000">
                          <a:solidFill>
                            <a:srgbClr val="505050"/>
                          </a:solidFill>
                          <a:latin typeface="Montserrat"/>
                        </a:defRPr>
                      </a:pPr>
                      <a:r>
                        <a:t>1,330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160892">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160892">
                <a:tc>
                  <a:txBody>
                    <a:bodyPr/>
                    <a:lstStyle/>
                    <a:p>
                      <a:pPr algn="ctr">
                        <a:defRPr sz="800" b="1">
                          <a:latin typeface="Montserrat"/>
                        </a:defRPr>
                      </a:pPr>
                      <a:r>
                        <a:t>2 CASSAAM</a:t>
                      </a:r>
                    </a:p>
                  </a:txBody>
                  <a:tcPr anchor="ctr" marL="28800" marR="28800" marT="0" marB="0">
                    <a:solidFill>
                      <a:srgbClr val="FFFFFF"/>
                    </a:solidFill>
                  </a:tcPr>
                </a:tc>
                <a:tc>
                  <a:txBody>
                    <a:bodyPr/>
                    <a:lstStyle/>
                    <a:p>
                      <a:pPr algn="ctr">
                        <a:defRPr sz="800">
                          <a:latin typeface="Montserrat"/>
                        </a:defRPr>
                      </a:pPr>
                      <a:r>
                        <a:t>San Pedro el Chico y Centro de Día (GAM)</a:t>
                      </a:r>
                    </a:p>
                  </a:txBody>
                  <a:tcPr anchor="ctr" marL="28800" marR="28800" marT="0" marB="0">
                    <a:solidFill>
                      <a:srgbClr val="FFFFFF"/>
                    </a:solidFill>
                  </a:tcPr>
                </a:tc>
              </a:tr>
              <a:tr h="160892">
                <a:tc>
                  <a:txBody>
                    <a:bodyPr/>
                    <a:lstStyle/>
                    <a:p>
                      <a:pPr algn="ctr">
                        <a:defRPr sz="800" b="1">
                          <a:latin typeface="Montserrat"/>
                        </a:defRPr>
                      </a:pPr>
                      <a:r>
                        <a:t>1 CECART</a:t>
                      </a:r>
                    </a:p>
                  </a:txBody>
                  <a:tcPr anchor="ctr" marL="28800" marR="28800" marT="0" marB="0">
                    <a:solidFill>
                      <a:srgbClr val="EFEFEF"/>
                    </a:solidFill>
                  </a:tcPr>
                </a:tc>
                <a:tc>
                  <a:txBody>
                    <a:bodyPr/>
                    <a:lstStyle/>
                    <a:p>
                      <a:pPr algn="ctr">
                        <a:defRPr sz="800">
                          <a:latin typeface="Montserrat"/>
                        </a:defRPr>
                      </a:pPr>
                      <a:r>
                        <a:t>Centro de Capacitación y Rehabilitación para el Trabajo (CECART)</a:t>
                      </a:r>
                    </a:p>
                  </a:txBody>
                  <a:tcPr anchor="ctr" marL="28800" marR="28800" marT="0" marB="0">
                    <a:solidFill>
                      <a:srgbClr val="EFEFEF"/>
                    </a:solidFill>
                  </a:tcPr>
                </a:tc>
              </a:tr>
              <a:tr h="160892">
                <a:tc>
                  <a:txBody>
                    <a:bodyPr/>
                    <a:lstStyle/>
                    <a:p>
                      <a:pPr algn="ctr">
                        <a:defRPr sz="800" b="1">
                          <a:latin typeface="Montserrat"/>
                        </a:defRPr>
                      </a:pPr>
                      <a:r>
                        <a:t>2 CECEM</a:t>
                      </a:r>
                    </a:p>
                  </a:txBody>
                  <a:tcPr anchor="ctr" marL="28800" marR="28800" marT="0" marB="0">
                    <a:solidFill>
                      <a:srgbClr val="FFFFFF"/>
                    </a:solidFill>
                  </a:tcPr>
                </a:tc>
                <a:tc>
                  <a:txBody>
                    <a:bodyPr/>
                    <a:lstStyle/>
                    <a:p>
                      <a:pPr algn="ctr">
                        <a:defRPr sz="800">
                          <a:latin typeface="Montserrat"/>
                        </a:defRPr>
                      </a:pPr>
                      <a:r>
                        <a:t>Santa María La Rivera,  Cuautepec Barrio Alto</a:t>
                      </a:r>
                    </a:p>
                  </a:txBody>
                  <a:tcPr anchor="ctr" marL="28800" marR="28800" marT="0" marB="0">
                    <a:solidFill>
                      <a:srgbClr val="FFFFFF"/>
                    </a:solidFill>
                  </a:tcPr>
                </a:tc>
              </a:tr>
              <a:tr h="160892">
                <a:tc>
                  <a:txBody>
                    <a:bodyPr/>
                    <a:lstStyle/>
                    <a:p>
                      <a:pPr algn="ctr">
                        <a:defRPr sz="800" b="1">
                          <a:latin typeface="Montserrat"/>
                        </a:defRPr>
                      </a:pPr>
                      <a:r>
                        <a:t>1 Centro Cultural</a:t>
                      </a:r>
                    </a:p>
                  </a:txBody>
                  <a:tcPr anchor="ctr" marL="28800" marR="28800" marT="0" marB="0">
                    <a:solidFill>
                      <a:srgbClr val="EFEFEF"/>
                    </a:solidFill>
                  </a:tcPr>
                </a:tc>
                <a:tc>
                  <a:txBody>
                    <a:bodyPr/>
                    <a:lstStyle/>
                    <a:p>
                      <a:pPr algn="ctr">
                        <a:defRPr sz="800">
                          <a:latin typeface="Montserrat"/>
                        </a:defRPr>
                      </a:pPr>
                      <a:r>
                        <a:t>Centro Cultural Rafael Solana, GAM</a:t>
                      </a:r>
                    </a:p>
                  </a:txBody>
                  <a:tcPr anchor="ctr" marL="28800" marR="28800" marT="0" marB="0">
                    <a:solidFill>
                      <a:srgbClr val="EFEFEF"/>
                    </a:solidFill>
                  </a:tcPr>
                </a:tc>
              </a:tr>
              <a:tr h="160892">
                <a:tc>
                  <a:txBody>
                    <a:bodyPr/>
                    <a:lstStyle/>
                    <a:p>
                      <a:pPr algn="ctr">
                        <a:defRPr sz="800" b="1">
                          <a:latin typeface="Montserrat"/>
                        </a:defRPr>
                      </a:pPr>
                      <a:r>
                        <a:t>1 CRESTCAP</a:t>
                      </a:r>
                    </a:p>
                  </a:txBody>
                  <a:tcPr anchor="ctr" marL="28800" marR="28800" marT="0" marB="0">
                    <a:solidFill>
                      <a:srgbClr val="FFFFFF"/>
                    </a:solidFill>
                  </a:tcPr>
                </a:tc>
                <a:tc>
                  <a:txBody>
                    <a:bodyPr/>
                    <a:lstStyle/>
                    <a:p>
                      <a:pPr algn="ctr">
                        <a:defRPr sz="800">
                          <a:latin typeface="Montserrat"/>
                        </a:defRPr>
                      </a:pPr>
                      <a:r>
                        <a:t>GAM y Coyoacán, CdMx</a:t>
                      </a:r>
                    </a:p>
                  </a:txBody>
                  <a:tcPr anchor="ctr" marL="28800" marR="28800" marT="0" marB="0">
                    <a:solidFill>
                      <a:srgbClr val="FFFFFF"/>
                    </a:solidFill>
                  </a:tcPr>
                </a:tc>
              </a:tr>
              <a:tr h="160892">
                <a:tc>
                  <a:txBody>
                    <a:bodyPr/>
                    <a:lstStyle/>
                    <a:p>
                      <a:pPr algn="ctr">
                        <a:defRPr sz="800" b="1">
                          <a:latin typeface="Montserrat"/>
                        </a:defRPr>
                      </a:pPr>
                      <a:r>
                        <a:t>1 Laboratorio de STyA</a:t>
                      </a:r>
                    </a:p>
                  </a:txBody>
                  <a:tcPr anchor="ctr" marL="28800" marR="28800" marT="0" marB="0">
                    <a:solidFill>
                      <a:srgbClr val="EFEFEF"/>
                    </a:solidFill>
                  </a:tcPr>
                </a:tc>
                <a:tc>
                  <a:txBody>
                    <a:bodyPr/>
                    <a:lstStyle/>
                    <a:p>
                      <a:pPr algn="ctr">
                        <a:defRPr sz="800">
                          <a:latin typeface="Montserrat"/>
                        </a:defRPr>
                      </a:pPr>
                      <a:r>
                        <a:t>HGZ 32 Tlalpan, CdMx</a:t>
                      </a:r>
                    </a:p>
                  </a:txBody>
                  <a:tcPr anchor="ctr" marL="28800" marR="28800" marT="0" marB="0">
                    <a:solidFill>
                      <a:srgbClr val="EFEFEF"/>
                    </a:solidFill>
                  </a:tcPr>
                </a:tc>
              </a:tr>
              <a:tr h="160892">
                <a:tc>
                  <a:txBody>
                    <a:bodyPr/>
                    <a:lstStyle/>
                    <a:p>
                      <a:pPr algn="ctr">
                        <a:defRPr sz="800" b="1">
                          <a:latin typeface="Montserrat"/>
                        </a:defRPr>
                      </a:pPr>
                      <a:r>
                        <a:t>2 Centros de Artesanias</a:t>
                      </a:r>
                    </a:p>
                  </a:txBody>
                  <a:tcPr anchor="ctr" marL="28800" marR="28800" marT="0" marB="0">
                    <a:solidFill>
                      <a:srgbClr val="FFFFFF"/>
                    </a:solidFill>
                  </a:tcPr>
                </a:tc>
                <a:tc>
                  <a:txBody>
                    <a:bodyPr/>
                    <a:lstStyle/>
                    <a:p>
                      <a:pPr algn="ctr">
                        <a:defRPr sz="800">
                          <a:latin typeface="Montserrat"/>
                        </a:defRPr>
                      </a:pPr>
                      <a:r>
                        <a:t>Morelos, Independencia</a:t>
                      </a:r>
                    </a:p>
                  </a:txBody>
                  <a:tcPr anchor="ctr" marL="28800" marR="28800" marT="0" marB="0">
                    <a:solidFill>
                      <a:srgbClr val="FFFFFF"/>
                    </a:solidFill>
                  </a:tcPr>
                </a:tc>
              </a:tr>
              <a:tr h="160892">
                <a:tc>
                  <a:txBody>
                    <a:bodyPr/>
                    <a:lstStyle/>
                    <a:p>
                      <a:pPr algn="ctr">
                        <a:defRPr sz="800" b="1">
                          <a:latin typeface="Montserrat"/>
                        </a:defRPr>
                      </a:pPr>
                      <a:r>
                        <a:t>3 CEBIS</a:t>
                      </a:r>
                    </a:p>
                  </a:txBody>
                  <a:tcPr anchor="ctr" marL="28800" marR="28800" marT="0" marB="0">
                    <a:solidFill>
                      <a:srgbClr val="EFEFEF"/>
                    </a:solidFill>
                  </a:tcPr>
                </a:tc>
                <a:tc>
                  <a:txBody>
                    <a:bodyPr/>
                    <a:lstStyle/>
                    <a:p>
                      <a:pPr algn="ctr">
                        <a:defRPr sz="800">
                          <a:latin typeface="Montserrat"/>
                        </a:defRPr>
                      </a:pPr>
                      <a:r>
                        <a:t>Álvaro Obregón, D.F.Sur, Santa Catarina, D.F.Sur, Piñanona, D.F.Sur</a:t>
                      </a:r>
                    </a:p>
                  </a:txBody>
                  <a:tcPr anchor="ctr" marL="28800" marR="28800" marT="0" marB="0">
                    <a:solidFill>
                      <a:srgbClr val="EFEFEF"/>
                    </a:solidFill>
                  </a:tcPr>
                </a:tc>
              </a:tr>
              <a:tr h="160892">
                <a:tc>
                  <a:txBody>
                    <a:bodyPr/>
                    <a:lstStyle/>
                    <a:p>
                      <a:pPr algn="ctr">
                        <a:defRPr sz="800" b="1">
                          <a:latin typeface="Montserrat"/>
                        </a:defRPr>
                      </a:pPr>
                      <a:r>
                        <a:t>15  Centros de Seguridad Social</a:t>
                      </a:r>
                    </a:p>
                  </a:txBody>
                  <a:tcPr anchor="ctr" marL="28800" marR="28800" marT="0" marB="0">
                    <a:solidFill>
                      <a:srgbClr val="FFFFFF"/>
                    </a:solidFill>
                  </a:tcPr>
                </a:tc>
                <a:tc>
                  <a:txBody>
                    <a:bodyPr/>
                    <a:lstStyle/>
                    <a:p>
                      <a:pPr algn="ctr">
                        <a:defRPr sz="800">
                          <a:latin typeface="Montserrat"/>
                        </a:defRPr>
                      </a:pPr>
                      <a:r>
                        <a:t>Contreras, Independencia, Ignacio Zaragoza, Merced, Tepeyac, Félix Azuela, Santa Fe, Tlalpan, Manuel Ávila Camacho, Progreso Nacional 100 Metros D1, Morelos, Anáhuac, Atzcapotzalco, Legaria, Tlatilco</a:t>
                      </a:r>
                    </a:p>
                  </a:txBody>
                  <a:tcPr anchor="ctr" marL="28800" marR="28800" marT="0" marB="0">
                    <a:solidFill>
                      <a:srgbClr val="FFFFFF"/>
                    </a:solidFill>
                  </a:tcPr>
                </a:tc>
              </a:tr>
              <a:tr h="160892">
                <a:tc>
                  <a:txBody>
                    <a:bodyPr/>
                    <a:lstStyle/>
                    <a:p>
                      <a:pPr algn="ctr">
                        <a:defRPr sz="800" b="1">
                          <a:latin typeface="Montserrat"/>
                        </a:defRPr>
                      </a:pPr>
                      <a:r>
                        <a:t>1 Cine</a:t>
                      </a:r>
                    </a:p>
                  </a:txBody>
                  <a:tcPr anchor="ctr" marL="28800" marR="28800" marT="0" marB="0">
                    <a:solidFill>
                      <a:srgbClr val="EFEFEF"/>
                    </a:solidFill>
                  </a:tcPr>
                </a:tc>
                <a:tc>
                  <a:txBody>
                    <a:bodyPr/>
                    <a:lstStyle/>
                    <a:p>
                      <a:pPr algn="ctr">
                        <a:defRPr sz="800">
                          <a:latin typeface="Montserrat"/>
                        </a:defRPr>
                      </a:pPr>
                      <a:r>
                        <a:t>Linterna Mágica</a:t>
                      </a:r>
                    </a:p>
                  </a:txBody>
                  <a:tcPr anchor="ctr" marL="28800" marR="28800" marT="0" marB="0">
                    <a:solidFill>
                      <a:srgbClr val="EFEFEF"/>
                    </a:solidFill>
                  </a:tcPr>
                </a:tc>
              </a:tr>
              <a:tr h="160892">
                <a:tc>
                  <a:txBody>
                    <a:bodyPr/>
                    <a:lstStyle/>
                    <a:p>
                      <a:pPr algn="ctr">
                        <a:defRPr sz="800" b="1">
                          <a:latin typeface="Montserrat"/>
                        </a:defRPr>
                      </a:pPr>
                      <a:r>
                        <a:t>10  Teatros</a:t>
                      </a:r>
                    </a:p>
                  </a:txBody>
                  <a:tcPr anchor="ctr" marL="28800" marR="28800" marT="0" marB="0">
                    <a:solidFill>
                      <a:srgbClr val="FFFFFF"/>
                    </a:solidFill>
                  </a:tcPr>
                </a:tc>
                <a:tc>
                  <a:txBody>
                    <a:bodyPr/>
                    <a:lstStyle/>
                    <a:p>
                      <a:pPr algn="ctr">
                        <a:defRPr sz="800">
                          <a:latin typeface="Montserrat"/>
                        </a:defRPr>
                      </a:pPr>
                      <a:r>
                        <a:t>Independencia, Santa Fe, Julio Prieto, Legaria, Reforma, Hidalgo, Morelos, Félix Azuela, Tepeyac, Isabela Corona</a:t>
                      </a:r>
                    </a:p>
                  </a:txBody>
                  <a:tcPr anchor="ctr" marL="28800" marR="28800" marT="0" marB="0">
                    <a:solidFill>
                      <a:srgbClr val="FFFFFF"/>
                    </a:solidFill>
                  </a:tcPr>
                </a:tc>
              </a:tr>
              <a:tr h="160895">
                <a:tc>
                  <a:txBody>
                    <a:bodyPr/>
                    <a:lstStyle/>
                    <a:p>
                      <a:pPr algn="ctr">
                        <a:defRPr sz="800" b="1">
                          <a:latin typeface="Montserrat"/>
                        </a:defRPr>
                      </a:pPr>
                      <a:r>
                        <a:t>4 Unidades Deportivas</a:t>
                      </a:r>
                    </a:p>
                  </a:txBody>
                  <a:tcPr anchor="ctr" marL="28800" marR="28800" marT="0" marB="0">
                    <a:solidFill>
                      <a:srgbClr val="EFEFEF"/>
                    </a:solidFill>
                  </a:tcPr>
                </a:tc>
                <a:tc>
                  <a:txBody>
                    <a:bodyPr/>
                    <a:lstStyle/>
                    <a:p>
                      <a:pPr algn="ctr">
                        <a:defRPr sz="800">
                          <a:latin typeface="Montserrat"/>
                        </a:defRPr>
                      </a:pPr>
                      <a:r>
                        <a:t>Benito Juárez Xalpa, Morelos,  Independencia, GAM</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043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04300">
                <a:tc>
                  <a:txBody>
                    <a:bodyPr/>
                    <a:lstStyle/>
                    <a:p>
                      <a:pPr algn="ctr">
                        <a:defRPr sz="800" b="1">
                          <a:latin typeface="Montserrat"/>
                        </a:defRPr>
                      </a:pPr>
                      <a:r>
                        <a:t>4 Tiendas IMSS-SNTSS</a:t>
                      </a:r>
                    </a:p>
                  </a:txBody>
                  <a:tcPr anchor="ctr" marL="28800" marR="28800" marT="0" marB="0">
                    <a:solidFill>
                      <a:srgbClr val="FFFFFF"/>
                    </a:solidFill>
                  </a:tcPr>
                </a:tc>
                <a:tc>
                  <a:txBody>
                    <a:bodyPr/>
                    <a:lstStyle/>
                    <a:p>
                      <a:pPr algn="ctr">
                        <a:defRPr sz="800">
                          <a:latin typeface="Montserrat"/>
                        </a:defRPr>
                      </a:pPr>
                      <a:r>
                        <a:t>No. 61 Magdalena de las Salinas, No. 62 Niño Perdido, No. 68 Independencia, No. 169 Saludable CMNSXXI</a:t>
                      </a:r>
                    </a:p>
                  </a:txBody>
                  <a:tcPr anchor="ctr" marL="28800" marR="28800" marT="0" marB="0">
                    <a:solidFill>
                      <a:srgbClr val="FFFFFF"/>
                    </a:solidFill>
                  </a:tcPr>
                </a:tc>
              </a:tr>
              <a:tr h="204300">
                <a:tc>
                  <a:txBody>
                    <a:bodyPr/>
                    <a:lstStyle/>
                    <a:p>
                      <a:pPr algn="ctr">
                        <a:defRPr sz="800" b="1">
                          <a:latin typeface="Montserrat"/>
                        </a:defRPr>
                      </a:pPr>
                      <a:r>
                        <a:t>1 Unidad de Congresos</a:t>
                      </a:r>
                    </a:p>
                  </a:txBody>
                  <a:tcPr anchor="ctr" marL="28800" marR="28800" marT="0" marB="0">
                    <a:solidFill>
                      <a:srgbClr val="EFEFEF"/>
                    </a:solidFill>
                  </a:tcPr>
                </a:tc>
                <a:tc>
                  <a:txBody>
                    <a:bodyPr/>
                    <a:lstStyle/>
                    <a:p>
                      <a:pPr algn="ctr">
                        <a:defRPr sz="800">
                          <a:latin typeface="Montserrat"/>
                        </a:defRPr>
                      </a:pPr>
                      <a:r>
                        <a:t>U. C. Centro Médico Nacional</a:t>
                      </a:r>
                    </a:p>
                  </a:txBody>
                  <a:tcPr anchor="ctr" marL="28800" marR="28800" marT="0" marB="0">
                    <a:solidFill>
                      <a:srgbClr val="EFEFEF"/>
                    </a:solidFill>
                  </a:tcPr>
                </a:tc>
              </a:tr>
              <a:tr h="204300">
                <a:tc>
                  <a:txBody>
                    <a:bodyPr/>
                    <a:lstStyle/>
                    <a:p>
                      <a:pPr algn="ctr">
                        <a:defRPr sz="800" b="1">
                          <a:latin typeface="Montserrat"/>
                        </a:defRPr>
                      </a:pPr>
                      <a:r>
                        <a:t>1 Velatorio</a:t>
                      </a:r>
                    </a:p>
                  </a:txBody>
                  <a:tcPr anchor="ctr" marL="28800" marR="28800" marT="0" marB="0">
                    <a:solidFill>
                      <a:srgbClr val="FFFFFF"/>
                    </a:solidFill>
                  </a:tcPr>
                </a:tc>
                <a:tc>
                  <a:txBody>
                    <a:bodyPr/>
                    <a:lstStyle/>
                    <a:p>
                      <a:pPr algn="ctr">
                        <a:defRPr sz="800">
                          <a:latin typeface="Montserrat"/>
                        </a:defRPr>
                      </a:pPr>
                      <a:r>
                        <a:t>Doctores</a:t>
                      </a:r>
                    </a:p>
                  </a:txBody>
                  <a:tcPr anchor="ctr" marL="28800" marR="28800" marT="0" marB="0">
                    <a:solidFill>
                      <a:srgbClr val="FFFFFF"/>
                    </a:solidFill>
                  </a:tcPr>
                </a:tc>
              </a:tr>
            </a:tbl>
          </a:graphicData>
        </a:graphic>
      </p:graphicFrame>
      <p:pic>
        <p:nvPicPr>
          <p:cNvPr id="470" name="Picture 469" descr="map_tipo2_09_cdmx.png"/>
          <p:cNvPicPr>
            <a:picLocks noChangeAspect="1"/>
          </p:cNvPicPr>
          <p:nvPr/>
        </p:nvPicPr>
        <p:blipFill>
          <a:blip r:embed="rId6"/>
          <a:stretch>
            <a:fillRect/>
          </a:stretch>
        </p:blipFill>
        <p:spPr>
          <a:xfrm>
            <a:off x="2822400" y="5929200"/>
            <a:ext cx="2656800" cy="3600028"/>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111</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108,735</a:t>
                      </a:r>
                    </a:p>
                  </a:txBody>
                  <a:tcPr anchor="ctr">
                    <a:solidFill>
                      <a:srgbClr val="FFFFFF"/>
                    </a:solidFill>
                  </a:tcPr>
                </a:tc>
                <a:tc>
                  <a:txBody>
                    <a:bodyPr/>
                    <a:lstStyle/>
                    <a:p>
                      <a:pPr algn="ctr">
                        <a:defRPr sz="850">
                          <a:latin typeface="Montserrat"/>
                        </a:defRPr>
                      </a:pPr>
                      <a:r>
                        <a:t>109,121</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Yatzi Servicios Publicitarios y Administrativos SAS</a:t>
                      </a:r>
                    </a:p>
                  </a:txBody>
                  <a:tcPr anchor="ctr">
                    <a:solidFill>
                      <a:srgbClr val="FFFFFF"/>
                    </a:solidFill>
                  </a:tcPr>
                </a:tc>
                <a:tc>
                  <a:txBody>
                    <a:bodyPr/>
                    <a:lstStyle/>
                    <a:p>
                      <a:pPr algn="ctr">
                        <a:defRPr sz="850">
                          <a:latin typeface="Montserrat"/>
                        </a:defRPr>
                      </a:pPr>
                      <a:r>
                        <a:t>14,329</a:t>
                      </a:r>
                    </a:p>
                  </a:txBody>
                  <a:tcPr anchor="ctr">
                    <a:solidFill>
                      <a:srgbClr val="FFFFFF"/>
                    </a:solidFill>
                  </a:tcPr>
                </a:tc>
                <a:tc>
                  <a:txBody>
                    <a:bodyPr/>
                    <a:lstStyle/>
                    <a:p>
                      <a:pPr algn="ctr">
                        <a:defRPr sz="850">
                          <a:latin typeface="Montserrat"/>
                        </a:defRPr>
                      </a:pPr>
                      <a:r>
                        <a:t>55,391</a:t>
                      </a:r>
                    </a:p>
                  </a:txBody>
                  <a:tcPr anchor="ctr">
                    <a:solidFill>
                      <a:srgbClr val="FFFFFF"/>
                    </a:solidFill>
                  </a:tcPr>
                </a:tc>
                <a:tc>
                  <a:txBody>
                    <a:bodyPr/>
                    <a:lstStyle/>
                    <a:p>
                      <a:pPr algn="ctr">
                        <a:defRPr sz="850" b="1">
                          <a:solidFill>
                            <a:srgbClr val="006455"/>
                          </a:solidFill>
                          <a:latin typeface="Montserrat"/>
                        </a:defRPr>
                      </a:pPr>
                      <a:r>
                        <a:t>286.6%</a:t>
                      </a:r>
                    </a:p>
                  </a:txBody>
                  <a:tcPr anchor="ctr">
                    <a:solidFill>
                      <a:srgbClr val="FFFFFF"/>
                    </a:solidFill>
                  </a:tcPr>
                </a:tc>
              </a:tr>
              <a:tr h="490320">
                <a:tc>
                  <a:txBody>
                    <a:bodyPr/>
                    <a:lstStyle/>
                    <a:p>
                      <a:pPr algn="ctr">
                        <a:defRPr sz="850">
                          <a:latin typeface="Montserrat"/>
                        </a:defRPr>
                      </a:pPr>
                      <a:r>
                        <a:t>Secretaría de la Defensa Nacional</a:t>
                      </a:r>
                    </a:p>
                  </a:txBody>
                  <a:tcPr anchor="ctr">
                    <a:solidFill>
                      <a:srgbClr val="D9D9D9"/>
                    </a:solidFill>
                  </a:tcPr>
                </a:tc>
                <a:tc>
                  <a:txBody>
                    <a:bodyPr/>
                    <a:lstStyle/>
                    <a:p>
                      <a:pPr algn="ctr">
                        <a:defRPr sz="850">
                          <a:latin typeface="Montserrat"/>
                        </a:defRPr>
                      </a:pPr>
                      <a:r>
                        <a:t>49,645</a:t>
                      </a:r>
                    </a:p>
                  </a:txBody>
                  <a:tcPr anchor="ctr">
                    <a:solidFill>
                      <a:srgbClr val="D9D9D9"/>
                    </a:solidFill>
                  </a:tcPr>
                </a:tc>
                <a:tc>
                  <a:txBody>
                    <a:bodyPr/>
                    <a:lstStyle/>
                    <a:p>
                      <a:pPr algn="ctr">
                        <a:defRPr sz="850">
                          <a:latin typeface="Montserrat"/>
                        </a:defRPr>
                      </a:pPr>
                      <a:r>
                        <a:t>46,562</a:t>
                      </a:r>
                    </a:p>
                  </a:txBody>
                  <a:tcPr anchor="ctr">
                    <a:solidFill>
                      <a:srgbClr val="D9D9D9"/>
                    </a:solidFill>
                  </a:tcPr>
                </a:tc>
                <a:tc>
                  <a:txBody>
                    <a:bodyPr/>
                    <a:lstStyle/>
                    <a:p>
                      <a:pPr algn="ctr">
                        <a:defRPr sz="850" b="1">
                          <a:solidFill>
                            <a:srgbClr val="691C32"/>
                          </a:solidFill>
                          <a:latin typeface="Montserrat"/>
                        </a:defRPr>
                      </a:pPr>
                      <a:r>
                        <a:t>-6.2%</a:t>
                      </a:r>
                    </a:p>
                  </a:txBody>
                  <a:tcPr anchor="ctr">
                    <a:solidFill>
                      <a:srgbClr val="D9D9D9"/>
                    </a:solidFill>
                  </a:tcPr>
                </a:tc>
                <a:tc>
                  <a:txBody>
                    <a:bodyPr/>
                    <a:lstStyle/>
                    <a:p>
                      <a:pPr algn="ctr">
                        <a:defRPr sz="850">
                          <a:latin typeface="Montserrat"/>
                        </a:defRPr>
                      </a:pPr>
                      <a:r>
                        <a:t>Lieberbv S. de R.L. de C.V.</a:t>
                      </a:r>
                    </a:p>
                  </a:txBody>
                  <a:tcPr anchor="ctr">
                    <a:solidFill>
                      <a:srgbClr val="D9D9D9"/>
                    </a:solidFill>
                  </a:tcPr>
                </a:tc>
                <a:tc>
                  <a:txBody>
                    <a:bodyPr/>
                    <a:lstStyle/>
                    <a:p>
                      <a:pPr algn="ctr">
                        <a:defRPr sz="850">
                          <a:latin typeface="Montserrat"/>
                        </a:defRPr>
                      </a:pPr>
                      <a:r>
                        <a:t>45,921</a:t>
                      </a:r>
                    </a:p>
                  </a:txBody>
                  <a:tcPr anchor="ctr">
                    <a:solidFill>
                      <a:srgbClr val="D9D9D9"/>
                    </a:solidFill>
                  </a:tcPr>
                </a:tc>
                <a:tc>
                  <a:txBody>
                    <a:bodyPr/>
                    <a:lstStyle/>
                    <a:p>
                      <a:pPr algn="ctr">
                        <a:defRPr sz="850">
                          <a:latin typeface="Montserrat"/>
                        </a:defRPr>
                      </a:pPr>
                      <a:r>
                        <a:t>43,745</a:t>
                      </a:r>
                    </a:p>
                  </a:txBody>
                  <a:tcPr anchor="ctr">
                    <a:solidFill>
                      <a:srgbClr val="D9D9D9"/>
                    </a:solidFill>
                  </a:tcPr>
                </a:tc>
                <a:tc>
                  <a:txBody>
                    <a:bodyPr/>
                    <a:lstStyle/>
                    <a:p>
                      <a:pPr algn="ctr">
                        <a:defRPr sz="850" b="1">
                          <a:solidFill>
                            <a:srgbClr val="691C32"/>
                          </a:solidFill>
                          <a:latin typeface="Montserrat"/>
                        </a:defRPr>
                      </a:pPr>
                      <a:r>
                        <a:t>-4.7%</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19,127</a:t>
                      </a:r>
                    </a:p>
                  </a:txBody>
                  <a:tcPr anchor="ctr">
                    <a:solidFill>
                      <a:srgbClr val="FFFFFF"/>
                    </a:solidFill>
                  </a:tcPr>
                </a:tc>
                <a:tc>
                  <a:txBody>
                    <a:bodyPr/>
                    <a:lstStyle/>
                    <a:p>
                      <a:pPr algn="ctr">
                        <a:defRPr sz="850">
                          <a:latin typeface="Montserrat"/>
                        </a:defRPr>
                      </a:pPr>
                      <a:r>
                        <a:t>19,062</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c>
                  <a:txBody>
                    <a:bodyPr/>
                    <a:lstStyle/>
                    <a:p>
                      <a:pPr algn="ctr">
                        <a:defRPr sz="850">
                          <a:latin typeface="Montserrat"/>
                        </a:defRPr>
                      </a:pPr>
                      <a:r>
                        <a:t>Banco Nacional de México SA</a:t>
                      </a:r>
                    </a:p>
                  </a:txBody>
                  <a:tcPr anchor="ctr">
                    <a:solidFill>
                      <a:srgbClr val="FFFFFF"/>
                    </a:solidFill>
                  </a:tcPr>
                </a:tc>
                <a:tc>
                  <a:txBody>
                    <a:bodyPr/>
                    <a:lstStyle/>
                    <a:p>
                      <a:pPr algn="ctr">
                        <a:defRPr sz="850">
                          <a:latin typeface="Montserrat"/>
                        </a:defRPr>
                      </a:pPr>
                      <a:r>
                        <a:t>34,221</a:t>
                      </a:r>
                    </a:p>
                  </a:txBody>
                  <a:tcPr anchor="ctr">
                    <a:solidFill>
                      <a:srgbClr val="FFFFFF"/>
                    </a:solidFill>
                  </a:tcPr>
                </a:tc>
                <a:tc>
                  <a:txBody>
                    <a:bodyPr/>
                    <a:lstStyle/>
                    <a:p>
                      <a:pPr algn="ctr">
                        <a:defRPr sz="850">
                          <a:latin typeface="Montserrat"/>
                        </a:defRPr>
                      </a:pPr>
                      <a:r>
                        <a:t>33,930</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-27.16%</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-19.43%</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+1.67%</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+4.53%</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+7.75%</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3,057,763</a:t>
                      </a:r>
                    </a:p>
                  </a:txBody>
                  <a:tcPr>
                    <a:solidFill>
                      <a:srgbClr val="FFFFFF"/>
                    </a:solidFill>
                  </a:tcPr>
                </a:tc>
                <a:tc>
                  <a:txBody>
                    <a:bodyPr/>
                    <a:lstStyle/>
                    <a:p>
                      <a:pPr algn="ctr">
                        <a:defRPr sz="900">
                          <a:latin typeface="Montserrat"/>
                        </a:defRPr>
                      </a:pPr>
                      <a:r>
                        <a:t>107</a:t>
                      </a:r>
                    </a:p>
                  </a:txBody>
                  <a:tcPr>
                    <a:solidFill>
                      <a:srgbClr val="FFFFFF"/>
                    </a:solidFill>
                  </a:tcPr>
                </a:tc>
                <a:tc>
                  <a:txBody>
                    <a:bodyPr/>
                    <a:lstStyle/>
                    <a:p>
                      <a:pPr algn="ctr">
                        <a:defRPr sz="900">
                          <a:latin typeface="Montserrat"/>
                        </a:defRPr>
                      </a:pPr>
                      <a:r>
                        <a:t>413,451</a:t>
                      </a:r>
                    </a:p>
                  </a:txBody>
                  <a:tcPr>
                    <a:solidFill>
                      <a:srgbClr val="FFFFFF"/>
                    </a:solidFill>
                  </a:tcPr>
                </a:tc>
                <a:tc>
                  <a:txBody>
                    <a:bodyPr/>
                    <a:lstStyle/>
                    <a:p>
                      <a:pPr algn="ctr">
                        <a:defRPr sz="900">
                          <a:latin typeface="Montserrat"/>
                        </a:defRPr>
                      </a:pPr>
                      <a:r>
                        <a:t>2</a:t>
                      </a:r>
                    </a:p>
                  </a:txBody>
                  <a:tcPr>
                    <a:solidFill>
                      <a:srgbClr val="FFFFFF"/>
                    </a:solidFill>
                  </a:tcPr>
                </a:tc>
                <a:tc>
                  <a:txBody>
                    <a:bodyPr/>
                    <a:lstStyle/>
                    <a:p>
                      <a:pPr algn="ctr">
                        <a:defRPr sz="900">
                          <a:latin typeface="Montserrat"/>
                        </a:defRPr>
                      </a:pPr>
                      <a:r>
                        <a:t>3,471,323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3,096,897</a:t>
                      </a:r>
                    </a:p>
                  </a:txBody>
                  <a:tcPr>
                    <a:solidFill>
                      <a:srgbClr val="D9D9D9"/>
                    </a:solidFill>
                  </a:tcPr>
                </a:tc>
                <a:tc>
                  <a:txBody>
                    <a:bodyPr/>
                    <a:lstStyle/>
                    <a:p>
                      <a:pPr algn="ctr">
                        <a:defRPr sz="900">
                          <a:latin typeface="Montserrat"/>
                        </a:defRPr>
                      </a:pPr>
                      <a:r>
                        <a:t>105</a:t>
                      </a:r>
                    </a:p>
                  </a:txBody>
                  <a:tcPr>
                    <a:solidFill>
                      <a:srgbClr val="D9D9D9"/>
                    </a:solidFill>
                  </a:tcPr>
                </a:tc>
                <a:tc>
                  <a:txBody>
                    <a:bodyPr/>
                    <a:lstStyle/>
                    <a:p>
                      <a:pPr algn="ctr">
                        <a:defRPr sz="900">
                          <a:latin typeface="Montserrat"/>
                        </a:defRPr>
                      </a:pPr>
                      <a:r>
                        <a:t>516,276</a:t>
                      </a:r>
                    </a:p>
                  </a:txBody>
                  <a:tcPr>
                    <a:solidFill>
                      <a:srgbClr val="D9D9D9"/>
                    </a:solidFill>
                  </a:tcPr>
                </a:tc>
                <a:tc>
                  <a:txBody>
                    <a:bodyPr/>
                    <a:lstStyle/>
                    <a:p>
                      <a:pPr algn="ctr">
                        <a:defRPr sz="900">
                          <a:latin typeface="Montserrat"/>
                        </a:defRPr>
                      </a:pPr>
                      <a:r>
                        <a:t>5</a:t>
                      </a:r>
                    </a:p>
                  </a:txBody>
                  <a:tcPr>
                    <a:solidFill>
                      <a:srgbClr val="D9D9D9"/>
                    </a:solidFill>
                  </a:tcPr>
                </a:tc>
                <a:tc>
                  <a:txBody>
                    <a:bodyPr/>
                    <a:lstStyle/>
                    <a:p>
                      <a:pPr algn="ctr">
                        <a:defRPr sz="900">
                          <a:latin typeface="Montserrat"/>
                        </a:defRPr>
                      </a:pPr>
                      <a:r>
                        <a:t>3,613,283</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+1.3%</a:t>
                      </a:r>
                    </a:p>
                  </a:txBody>
                  <a:tcPr>
                    <a:solidFill>
                      <a:srgbClr val="FFFFFF"/>
                    </a:solidFill>
                  </a:tcPr>
                </a:tc>
                <a:tc>
                  <a:txBody>
                    <a:bodyPr/>
                    <a:lstStyle/>
                    <a:p>
                      <a:pPr algn="ctr">
                        <a:defRPr sz="900" b="0">
                          <a:solidFill>
                            <a:srgbClr val="691C32"/>
                          </a:solidFill>
                          <a:latin typeface="Montserrat"/>
                        </a:defRPr>
                      </a:pPr>
                      <a:r>
                        <a:t>-1.9%</a:t>
                      </a:r>
                    </a:p>
                  </a:txBody>
                  <a:tcPr>
                    <a:solidFill>
                      <a:srgbClr val="FFFFFF"/>
                    </a:solidFill>
                  </a:tcPr>
                </a:tc>
                <a:tc>
                  <a:txBody>
                    <a:bodyPr/>
                    <a:lstStyle/>
                    <a:p>
                      <a:pPr algn="ctr">
                        <a:defRPr sz="900" b="1">
                          <a:solidFill>
                            <a:srgbClr val="006455"/>
                          </a:solidFill>
                          <a:latin typeface="Montserrat"/>
                        </a:defRPr>
                      </a:pPr>
                      <a:r>
                        <a:t>+24.9%</a:t>
                      </a:r>
                    </a:p>
                  </a:txBody>
                  <a:tcPr>
                    <a:solidFill>
                      <a:srgbClr val="FFFFFF"/>
                    </a:solidFill>
                  </a:tcPr>
                </a:tc>
                <a:tc>
                  <a:txBody>
                    <a:bodyPr/>
                    <a:lstStyle/>
                    <a:p>
                      <a:pPr algn="ctr">
                        <a:defRPr sz="900" b="1">
                          <a:solidFill>
                            <a:srgbClr val="006455"/>
                          </a:solidFill>
                          <a:latin typeface="Montserrat"/>
                        </a:defRPr>
                      </a:pPr>
                      <a:r>
                        <a:t>+150.0%</a:t>
                      </a:r>
                    </a:p>
                  </a:txBody>
                  <a:tcPr>
                    <a:solidFill>
                      <a:srgbClr val="FFFFFF"/>
                    </a:solidFill>
                  </a:tcPr>
                </a:tc>
                <a:tc>
                  <a:txBody>
                    <a:bodyPr/>
                    <a:lstStyle/>
                    <a:p>
                      <a:pPr algn="ctr">
                        <a:defRPr sz="900" b="1">
                          <a:solidFill>
                            <a:srgbClr val="006455"/>
                          </a:solidFill>
                          <a:latin typeface="Montserrat"/>
                        </a:defRPr>
                      </a:pPr>
                      <a:r>
                        <a:t>+4.1%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B78A4B-017C-C46C-EA20-11D65F9E1F40}"/>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$813.36</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$444.27</a:t>
                      </a:r>
                    </a:p>
                  </a:txBody>
                  <a:tcPr anchor="ctr">
                    <a:solidFill>
                      <a:srgbClr val="EEEEEE"/>
                    </a:solidFill>
                  </a:tcPr>
                </a:tc>
                <a:tc>
                  <a:txBody>
                    <a:bodyPr/>
                    <a:lstStyle/>
                    <a:p>
                      <a:pPr algn="ctr">
                        <a:defRPr sz="1100" b="1">
                          <a:latin typeface="Montserrat"/>
                        </a:defRPr>
                      </a:pPr>
                      <a:r>
                        <a:t>$813.36</a:t>
                      </a:r>
                    </a:p>
                  </a:txBody>
                  <a:tcPr anchor="ctr">
                    <a:solidFill>
                      <a:srgbClr val="EEEEEE"/>
                    </a:solidFill>
                  </a:tcPr>
                </a:tc>
                <a:tc>
                  <a:txBody>
                    <a:bodyPr/>
                    <a:lstStyle/>
                    <a:p>
                      <a:pPr algn="ctr">
                        <a:defRPr sz="1100">
                          <a:latin typeface="Montserrat"/>
                        </a:defRPr>
                      </a:pPr>
                      <a:r>
                        <a:t>29.3%</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$24,400.8</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Secretaría de la Defensa Nacional</a:t>
                      </a:r>
                    </a:p>
                  </a:txBody>
                  <a:tcPr>
                    <a:solidFill>
                      <a:srgbClr val="FFFFFF"/>
                    </a:solidFill>
                  </a:tcPr>
                </a:tc>
                <a:tc>
                  <a:txBody>
                    <a:bodyPr/>
                    <a:lstStyle/>
                    <a:p>
                      <a:pPr algn="ctr">
                        <a:defRPr sz="900">
                          <a:latin typeface="Montserrat"/>
                        </a:defRPr>
                      </a:pPr>
                      <a:r>
                        <a:t>$866.03</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Notimex Agencia de Noticias del Estado Mexicano</a:t>
                      </a:r>
                    </a:p>
                  </a:txBody>
                  <a:tcPr>
                    <a:solidFill>
                      <a:srgbClr val="EEEEEE"/>
                    </a:solidFill>
                  </a:tcPr>
                </a:tc>
                <a:tc>
                  <a:txBody>
                    <a:bodyPr/>
                    <a:lstStyle/>
                    <a:p>
                      <a:pPr algn="ctr">
                        <a:defRPr sz="900">
                          <a:latin typeface="Montserrat"/>
                        </a:defRPr>
                      </a:pPr>
                      <a:r>
                        <a:t>$4.05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 de Administración y Enajenación de Bienes  de San Ángel</a:t>
                      </a:r>
                    </a:p>
                  </a:txBody>
                  <a:tcPr>
                    <a:solidFill>
                      <a:srgbClr val="FFFFFF"/>
                    </a:solidFill>
                  </a:tcPr>
                </a:tc>
                <a:tc>
                  <a:txBody>
                    <a:bodyPr/>
                    <a:lstStyle/>
                    <a:p>
                      <a:pPr algn="ctr">
                        <a:defRPr sz="900">
                          <a:latin typeface="Montserrat"/>
                        </a:defRPr>
                      </a:pPr>
                      <a:r>
                        <a:t>$3.23</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México Railway Engineering Technology S A P I de CV</a:t>
                      </a:r>
                    </a:p>
                  </a:txBody>
                  <a:tcPr>
                    <a:solidFill>
                      <a:srgbClr val="EEEEEE"/>
                    </a:solidFill>
                  </a:tcPr>
                </a:tc>
                <a:tc>
                  <a:txBody>
                    <a:bodyPr/>
                    <a:lstStyle/>
                    <a:p>
                      <a:pPr algn="ctr">
                        <a:defRPr sz="900">
                          <a:latin typeface="Montserrat"/>
                        </a:defRPr>
                      </a:pPr>
                      <a:r>
                        <a:t>$246.62</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Miscelaneas Hersaco SAS de CV</a:t>
                      </a:r>
                    </a:p>
                  </a:txBody>
                  <a:tcPr>
                    <a:solidFill>
                      <a:srgbClr val="FFFFFF"/>
                    </a:solidFill>
                  </a:tcPr>
                </a:tc>
                <a:tc>
                  <a:txBody>
                    <a:bodyPr/>
                    <a:lstStyle/>
                    <a:p>
                      <a:pPr algn="ctr">
                        <a:defRPr sz="900">
                          <a:latin typeface="Montserrat"/>
                        </a:defRPr>
                      </a:pPr>
                      <a:r>
                        <a:t>$182.96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Consorcio TCA SA de CV</a:t>
                      </a:r>
                    </a:p>
                  </a:txBody>
                  <a:tcPr>
                    <a:solidFill>
                      <a:srgbClr val="EEEEEE"/>
                    </a:solidFill>
                  </a:tcPr>
                </a:tc>
                <a:tc>
                  <a:txBody>
                    <a:bodyPr/>
                    <a:lstStyle/>
                    <a:p>
                      <a:pPr algn="ctr">
                        <a:defRPr sz="900">
                          <a:latin typeface="Montserrat"/>
                        </a:defRPr>
                      </a:pPr>
                      <a:r>
                        <a:t>$134.04</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32 Villa Coapa</a:t>
                      </a:r>
                    </a:p>
                  </a:txBody>
                  <a:tcPr anchor="ctr">
                    <a:solidFill>
                      <a:srgbClr val="FFFFFF"/>
                    </a:solidFill>
                  </a:tcPr>
                </a:tc>
                <a:tc>
                  <a:txBody>
                    <a:bodyPr/>
                    <a:lstStyle/>
                    <a:p>
                      <a:pPr algn="ctr">
                        <a:defRPr sz="900">
                          <a:latin typeface="Montserrat"/>
                        </a:defRPr>
                      </a:pPr>
                      <a:r>
                        <a:t>Diciembre de 1978</a:t>
                      </a:r>
                    </a:p>
                  </a:txBody>
                  <a:tcPr anchor="ctr">
                    <a:solidFill>
                      <a:srgbClr val="FFFFFF"/>
                    </a:solidFill>
                  </a:tcPr>
                </a:tc>
                <a:tc>
                  <a:txBody>
                    <a:bodyPr/>
                    <a:lstStyle/>
                    <a:p>
                      <a:pPr algn="ctr">
                        <a:defRPr sz="900">
                          <a:latin typeface="Montserrat"/>
                        </a:defRPr>
                      </a:pPr>
                      <a:r>
                        <a:t>201</a:t>
                      </a:r>
                    </a:p>
                  </a:txBody>
                  <a:tcPr anchor="ctr">
                    <a:solidFill>
                      <a:srgbClr val="FFFFFF"/>
                    </a:solidFill>
                  </a:tcPr>
                </a:tc>
                <a:tc>
                  <a:txBody>
                    <a:bodyPr/>
                    <a:lstStyle/>
                    <a:p>
                      <a:pPr algn="ctr">
                        <a:defRPr sz="900">
                          <a:latin typeface="Montserrat"/>
                        </a:defRPr>
                      </a:pPr>
                      <a:r>
                        <a:t>83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53</a:t>
                      </a:r>
                    </a:p>
                  </a:txBody>
                  <a:tcPr anchor="ctr">
                    <a:solidFill>
                      <a:srgbClr val="FFFFFF"/>
                    </a:solidFill>
                  </a:tcPr>
                </a:tc>
              </a:tr>
              <a:tr h="230400">
                <a:tc>
                  <a:txBody>
                    <a:bodyPr/>
                    <a:lstStyle/>
                    <a:p>
                      <a:pPr algn="l">
                        <a:defRPr sz="900">
                          <a:latin typeface="Montserrat"/>
                        </a:defRPr>
                      </a:pPr>
                      <a:r>
                        <a:t>UMFR Villa Coapa</a:t>
                      </a:r>
                    </a:p>
                  </a:txBody>
                  <a:tcPr anchor="ctr">
                    <a:solidFill>
                      <a:srgbClr val="EFEFEF"/>
                    </a:solidFill>
                  </a:tcPr>
                </a:tc>
                <a:tc>
                  <a:txBody>
                    <a:bodyPr/>
                    <a:lstStyle/>
                    <a:p>
                      <a:pPr algn="ctr">
                        <a:defRPr sz="900">
                          <a:latin typeface="Montserrat"/>
                        </a:defRPr>
                      </a:pPr>
                      <a:r>
                        <a:t>Septiembre de 1988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22</a:t>
                      </a:r>
                    </a:p>
                  </a:txBody>
                  <a:tcPr anchor="ctr">
                    <a:solidFill>
                      <a:srgbClr val="EFEFEF"/>
                    </a:solidFill>
                  </a:tcPr>
                </a:tc>
              </a:tr>
              <a:tr h="230400">
                <a:tc>
                  <a:txBody>
                    <a:bodyPr/>
                    <a:lstStyle/>
                    <a:p>
                      <a:pPr algn="l">
                        <a:defRPr sz="900">
                          <a:latin typeface="Montserrat"/>
                        </a:defRPr>
                      </a:pPr>
                      <a:r>
                        <a:t>HGZ 47 Vicente Guerrero</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183</a:t>
                      </a:r>
                    </a:p>
                  </a:txBody>
                  <a:tcPr anchor="ctr">
                    <a:solidFill>
                      <a:srgbClr val="FFFFFF"/>
                    </a:solidFill>
                  </a:tcPr>
                </a:tc>
                <a:tc>
                  <a:txBody>
                    <a:bodyPr/>
                    <a:lstStyle/>
                    <a:p>
                      <a:pPr algn="ctr">
                        <a:defRPr sz="900">
                          <a:latin typeface="Montserrat"/>
                        </a:defRPr>
                      </a:pPr>
                      <a:r>
                        <a:t>102</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HGR 2 Villa Coapa</a:t>
                      </a:r>
                    </a:p>
                  </a:txBody>
                  <a:tcPr anchor="ctr">
                    <a:solidFill>
                      <a:srgbClr val="EFEFEF"/>
                    </a:solidFill>
                  </a:tcPr>
                </a:tc>
                <a:tc>
                  <a:txBody>
                    <a:bodyPr/>
                    <a:lstStyle/>
                    <a:p>
                      <a:pPr algn="ctr">
                        <a:defRPr sz="900">
                          <a:latin typeface="Montserrat"/>
                        </a:defRPr>
                      </a:pPr>
                      <a:r>
                        <a:t>Enero de 2008</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100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32</a:t>
                      </a:r>
                    </a:p>
                  </a:txBody>
                  <a:tcPr anchor="ctr">
                    <a:solidFill>
                      <a:srgbClr val="EFEFEF"/>
                    </a:solidFill>
                  </a:tcPr>
                </a:tc>
              </a:tr>
              <a:tr h="230400">
                <a:tc>
                  <a:txBody>
                    <a:bodyPr/>
                    <a:lstStyle/>
                    <a:p>
                      <a:pPr algn="l">
                        <a:defRPr sz="900">
                          <a:latin typeface="Montserrat"/>
                        </a:defRPr>
                      </a:pPr>
                      <a:r>
                        <a:t>HGZ 48 San Pedro Xalpa</a:t>
                      </a:r>
                    </a:p>
                  </a:txBody>
                  <a:tcPr anchor="ctr">
                    <a:solidFill>
                      <a:srgbClr val="FFFFFF"/>
                    </a:solidFill>
                  </a:tcPr>
                </a:tc>
                <a:tc>
                  <a:txBody>
                    <a:bodyPr/>
                    <a:lstStyle/>
                    <a:p>
                      <a:pPr algn="ctr">
                        <a:defRPr sz="900">
                          <a:latin typeface="Montserrat"/>
                        </a:defRPr>
                      </a:pPr>
                      <a:r>
                        <a:t>Abril de 2010</a:t>
                      </a:r>
                    </a:p>
                  </a:txBody>
                  <a:tcPr anchor="ctr">
                    <a:solidFill>
                      <a:srgbClr val="FFFFFF"/>
                    </a:solidFill>
                  </a:tcPr>
                </a:tc>
                <a:tc>
                  <a:txBody>
                    <a:bodyPr/>
                    <a:lstStyle/>
                    <a:p>
                      <a:pPr algn="ctr">
                        <a:defRPr sz="900">
                          <a:latin typeface="Montserrat"/>
                        </a:defRPr>
                      </a:pPr>
                      <a:r>
                        <a:t>203</a:t>
                      </a:r>
                    </a:p>
                  </a:txBody>
                  <a:tcPr anchor="ctr">
                    <a:solidFill>
                      <a:srgbClr val="FFFFFF"/>
                    </a:solidFill>
                  </a:tcPr>
                </a:tc>
                <a:tc>
                  <a:txBody>
                    <a:bodyPr/>
                    <a:lstStyle/>
                    <a:p>
                      <a:pPr algn="ctr">
                        <a:defRPr sz="900">
                          <a:latin typeface="Montserrat"/>
                        </a:defRPr>
                      </a:pPr>
                      <a:r>
                        <a:t>102</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31</a:t>
                      </a:r>
                    </a:p>
                  </a:txBody>
                  <a:tcPr anchor="ctr">
                    <a:solidFill>
                      <a:srgbClr val="FFFFFF"/>
                    </a:solidFill>
                  </a:tcPr>
                </a:tc>
              </a:tr>
              <a:tr h="230400">
                <a:tc>
                  <a:txBody>
                    <a:bodyPr/>
                    <a:lstStyle/>
                    <a:p>
                      <a:pPr algn="l">
                        <a:defRPr sz="900">
                          <a:latin typeface="Montserrat"/>
                        </a:defRPr>
                      </a:pPr>
                      <a:r>
                        <a:t>HGZ 20 Tláhuac</a:t>
                      </a:r>
                    </a:p>
                  </a:txBody>
                  <a:tcPr anchor="ctr">
                    <a:solidFill>
                      <a:srgbClr val="EFEFEF"/>
                    </a:solidFill>
                  </a:tcPr>
                </a:tc>
                <a:tc>
                  <a:txBody>
                    <a:bodyPr/>
                    <a:lstStyle/>
                    <a:p>
                      <a:pPr algn="ctr">
                        <a:defRPr sz="900">
                          <a:latin typeface="Montserrat"/>
                        </a:defRPr>
                      </a:pPr>
                      <a:r>
                        <a:t>Febrero de 2024</a:t>
                      </a:r>
                    </a:p>
                  </a:txBody>
                  <a:tcPr anchor="ctr">
                    <a:solidFill>
                      <a:srgbClr val="EFEFEF"/>
                    </a:solidFill>
                  </a:tcPr>
                </a:tc>
                <a:tc>
                  <a:txBody>
                    <a:bodyPr/>
                    <a:lstStyle/>
                    <a:p>
                      <a:pPr algn="ctr">
                        <a:defRPr sz="900">
                          <a:latin typeface="Montserrat"/>
                        </a:defRPr>
                      </a:pPr>
                      <a:r>
                        <a:t>103</a:t>
                      </a:r>
                    </a:p>
                  </a:txBody>
                  <a:tcPr anchor="ctr">
                    <a:solidFill>
                      <a:srgbClr val="EFEFEF"/>
                    </a:solidFill>
                  </a:tcPr>
                </a:tc>
                <a:tc>
                  <a:txBody>
                    <a:bodyPr/>
                    <a:lstStyle/>
                    <a:p>
                      <a:pPr algn="ctr">
                        <a:defRPr sz="900">
                          <a:latin typeface="Montserrat"/>
                        </a:defRPr>
                      </a:pPr>
                      <a:r>
                        <a:t>47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0</a:t>
                      </a:r>
                    </a:p>
                  </a:txBody>
                  <a:tcPr anchor="ctr">
                    <a:solidFill>
                      <a:srgbClr val="EFEFEF"/>
                    </a:solidFill>
                  </a:tcPr>
                </a:tc>
              </a:tr>
              <a:tr h="230400">
                <a:tc>
                  <a:txBody>
                    <a:bodyPr/>
                    <a:lstStyle/>
                    <a:p>
                      <a:pPr algn="l">
                        <a:defRPr sz="900">
                          <a:latin typeface="Montserrat"/>
                        </a:defRPr>
                      </a:pPr>
                      <a:r>
                        <a:t>HGR 25 I. Zaragoza</a:t>
                      </a:r>
                    </a:p>
                  </a:txBody>
                  <a:tcPr anchor="ctr">
                    <a:solidFill>
                      <a:srgbClr val="FFFFFF"/>
                    </a:solidFill>
                  </a:tcPr>
                </a:tc>
                <a:tc>
                  <a:txBody>
                    <a:bodyPr/>
                    <a:lstStyle/>
                    <a:p>
                      <a:pPr algn="ctr">
                        <a:defRPr sz="900">
                          <a:latin typeface="Montserrat"/>
                        </a:defRPr>
                      </a:pPr>
                      <a:r>
                        <a:t>Noviembre de 2025</a:t>
                      </a:r>
                    </a:p>
                  </a:txBody>
                  <a:tcPr anchor="ctr">
                    <a:solidFill>
                      <a:srgbClr val="FFFFFF"/>
                    </a:solidFill>
                  </a:tcPr>
                </a:tc>
                <a:tc>
                  <a:txBody>
                    <a:bodyPr/>
                    <a:lstStyle/>
                    <a:p>
                      <a:pPr algn="ctr">
                        <a:defRPr sz="900">
                          <a:latin typeface="Montserrat"/>
                        </a:defRPr>
                      </a:pPr>
                      <a:r>
                        <a:t>180</a:t>
                      </a:r>
                    </a:p>
                  </a:txBody>
                  <a:tcPr anchor="ctr">
                    <a:solidFill>
                      <a:srgbClr val="FFFFFF"/>
                    </a:solidFill>
                  </a:tcPr>
                </a:tc>
                <a:tc>
                  <a:txBody>
                    <a:bodyPr/>
                    <a:lstStyle/>
                    <a:p>
                      <a:pPr algn="ctr">
                        <a:defRPr sz="900">
                          <a:latin typeface="Montserrat"/>
                        </a:defRPr>
                      </a:pPr>
                      <a:r>
                        <a:t>169</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40</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2,918</a:t>
                      </a:r>
                    </a:p>
                  </a:txBody>
                  <a:tcPr anchor="ctr">
                    <a:solidFill>
                      <a:srgbClr val="D3E9E7"/>
                    </a:solidFill>
                  </a:tcPr>
                </a:tc>
                <a:tc>
                  <a:txBody>
                    <a:bodyPr/>
                    <a:lstStyle/>
                    <a:p>
                      <a:pPr algn="ctr">
                        <a:defRPr sz="900" b="1">
                          <a:solidFill>
                            <a:srgbClr val="006556"/>
                          </a:solidFill>
                          <a:latin typeface="Montserrat"/>
                        </a:defRPr>
                      </a:pPr>
                      <a:r>
                        <a:t>1,302</a:t>
                      </a:r>
                    </a:p>
                  </a:txBody>
                  <a:tcPr anchor="ctr">
                    <a:solidFill>
                      <a:srgbClr val="D3E9E7"/>
                    </a:solidFill>
                  </a:tcPr>
                </a:tc>
                <a:tc>
                  <a:txBody>
                    <a:bodyPr/>
                    <a:lstStyle/>
                    <a:p>
                      <a:pPr algn="ctr">
                        <a:defRPr sz="900" b="1">
                          <a:solidFill>
                            <a:srgbClr val="006556"/>
                          </a:solidFill>
                          <a:latin typeface="Montserrat"/>
                        </a:defRPr>
                      </a:pPr>
                      <a:r>
                        <a:t>102</a:t>
                      </a:r>
                    </a:p>
                  </a:txBody>
                  <a:tcPr anchor="ctr">
                    <a:solidFill>
                      <a:srgbClr val="D3E9E7"/>
                    </a:solidFill>
                  </a:tcPr>
                </a:tc>
                <a:tc>
                  <a:txBody>
                    <a:bodyPr/>
                    <a:lstStyle/>
                    <a:p>
                      <a:pPr algn="ctr">
                        <a:defRPr sz="900" b="1">
                          <a:solidFill>
                            <a:srgbClr val="006556"/>
                          </a:solidFill>
                          <a:latin typeface="Montserrat"/>
                        </a:defRPr>
                      </a:pPr>
                      <a:r>
                        <a:t>82</a:t>
                      </a:r>
                    </a:p>
                  </a:txBody>
                  <a:tcPr anchor="ctr">
                    <a:solidFill>
                      <a:srgbClr val="D3E9E7"/>
                    </a:solidFill>
                  </a:tcPr>
                </a:tc>
                <a:tc>
                  <a:txBody>
                    <a:bodyPr/>
                    <a:lstStyle/>
                    <a:p>
                      <a:pPr algn="ctr">
                        <a:defRPr sz="900" b="1">
                          <a:solidFill>
                            <a:srgbClr val="006556"/>
                          </a:solidFill>
                          <a:latin typeface="Montserrat"/>
                        </a:defRPr>
                      </a:pPr>
                      <a:r>
                        <a:t>561</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27648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 CMN La Raza.</a:t>
                      </a:r>
                    </a:p>
                  </a:txBody>
                  <a:tcPr anchor="ctr">
                    <a:solidFill>
                      <a:srgbClr val="FFFFFF"/>
                    </a:solidFill>
                  </a:tcPr>
                </a:tc>
                <a:tc>
                  <a:txBody>
                    <a:bodyPr/>
                    <a:lstStyle/>
                    <a:p>
                      <a:pPr algn="ctr">
                        <a:defRPr sz="900">
                          <a:latin typeface="Montserrat"/>
                        </a:defRPr>
                      </a:pPr>
                      <a:r>
                        <a:t>Febrero de 1954</a:t>
                      </a:r>
                    </a:p>
                  </a:txBody>
                  <a:tcPr anchor="ctr">
                    <a:solidFill>
                      <a:srgbClr val="FFFFFF"/>
                    </a:solidFill>
                  </a:tcPr>
                </a:tc>
                <a:tc>
                  <a:txBody>
                    <a:bodyPr/>
                    <a:lstStyle/>
                    <a:p>
                      <a:pPr algn="ctr">
                        <a:defRPr sz="900">
                          <a:latin typeface="Montserrat"/>
                        </a:defRPr>
                      </a:pPr>
                      <a:r>
                        <a:t>640</a:t>
                      </a:r>
                    </a:p>
                  </a:txBody>
                  <a:tcPr anchor="ctr">
                    <a:solidFill>
                      <a:srgbClr val="FFFFFF"/>
                    </a:solidFill>
                  </a:tcPr>
                </a:tc>
                <a:tc>
                  <a:txBody>
                    <a:bodyPr/>
                    <a:lstStyle/>
                    <a:p>
                      <a:pPr algn="ctr">
                        <a:defRPr sz="900">
                          <a:latin typeface="Montserrat"/>
                        </a:defRPr>
                      </a:pPr>
                      <a:r>
                        <a:t>246</a:t>
                      </a:r>
                    </a:p>
                  </a:txBody>
                  <a:tcPr anchor="ctr">
                    <a:solidFill>
                      <a:srgbClr val="FFFFFF"/>
                    </a:solidFill>
                  </a:tcPr>
                </a:tc>
                <a:tc>
                  <a:txBody>
                    <a:bodyPr/>
                    <a:lstStyle/>
                    <a:p>
                      <a:pPr algn="ctr">
                        <a:defRPr sz="900">
                          <a:latin typeface="Montserrat"/>
                        </a:defRPr>
                      </a:pPr>
                      <a:r>
                        <a:t>87</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86</a:t>
                      </a:r>
                    </a:p>
                  </a:txBody>
                  <a:tcPr anchor="ctr">
                    <a:solidFill>
                      <a:srgbClr val="FFFFFF"/>
                    </a:solidFill>
                  </a:tcPr>
                </a:tc>
              </a:tr>
              <a:tr h="230400">
                <a:tc>
                  <a:txBody>
                    <a:bodyPr/>
                    <a:lstStyle/>
                    <a:p>
                      <a:pPr algn="l">
                        <a:defRPr sz="900">
                          <a:latin typeface="Montserrat"/>
                        </a:defRPr>
                      </a:pPr>
                      <a:r>
                        <a:t>HGO 4 CMN Siglo XXI San Angel</a:t>
                      </a:r>
                    </a:p>
                  </a:txBody>
                  <a:tcPr anchor="ctr">
                    <a:solidFill>
                      <a:srgbClr val="EFEFEF"/>
                    </a:solidFill>
                  </a:tcPr>
                </a:tc>
                <a:tc>
                  <a:txBody>
                    <a:bodyPr/>
                    <a:lstStyle/>
                    <a:p>
                      <a:pPr algn="ctr">
                        <a:defRPr sz="900">
                          <a:latin typeface="Montserrat"/>
                        </a:defRPr>
                      </a:pPr>
                      <a:r>
                        <a:t>Julio de 1957</a:t>
                      </a:r>
                    </a:p>
                  </a:txBody>
                  <a:tcPr anchor="ctr">
                    <a:solidFill>
                      <a:srgbClr val="EFEFEF"/>
                    </a:solidFill>
                  </a:tcPr>
                </a:tc>
                <a:tc>
                  <a:txBody>
                    <a:bodyPr/>
                    <a:lstStyle/>
                    <a:p>
                      <a:pPr algn="ctr">
                        <a:defRPr sz="900">
                          <a:latin typeface="Montserrat"/>
                        </a:defRPr>
                      </a:pPr>
                      <a:r>
                        <a:t>451</a:t>
                      </a:r>
                    </a:p>
                  </a:txBody>
                  <a:tcPr anchor="ctr">
                    <a:solidFill>
                      <a:srgbClr val="EFEFEF"/>
                    </a:solidFill>
                  </a:tcPr>
                </a:tc>
                <a:tc>
                  <a:txBody>
                    <a:bodyPr/>
                    <a:lstStyle/>
                    <a:p>
                      <a:pPr algn="ctr">
                        <a:defRPr sz="900">
                          <a:latin typeface="Montserrat"/>
                        </a:defRPr>
                      </a:pPr>
                      <a:r>
                        <a:t>100</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a:txBody>
                    <a:bodyPr/>
                    <a:lstStyle/>
                    <a:p>
                      <a:pPr algn="l">
                        <a:defRPr sz="900">
                          <a:latin typeface="Montserrat"/>
                        </a:defRPr>
                      </a:pPr>
                      <a:r>
                        <a:t>HGO 3 CMN La Raza</a:t>
                      </a:r>
                    </a:p>
                  </a:txBody>
                  <a:tcPr anchor="ctr">
                    <a:solidFill>
                      <a:srgbClr val="FFFFFF"/>
                    </a:solidFill>
                  </a:tcPr>
                </a:tc>
                <a:tc>
                  <a:txBody>
                    <a:bodyPr/>
                    <a:lstStyle/>
                    <a:p>
                      <a:pPr algn="ctr">
                        <a:defRPr sz="900">
                          <a:latin typeface="Montserrat"/>
                        </a:defRPr>
                      </a:pPr>
                      <a:r>
                        <a:t>Junio de 1964</a:t>
                      </a:r>
                    </a:p>
                  </a:txBody>
                  <a:tcPr anchor="ctr">
                    <a:solidFill>
                      <a:srgbClr val="FFFFFF"/>
                    </a:solidFill>
                  </a:tcPr>
                </a:tc>
                <a:tc>
                  <a:txBody>
                    <a:bodyPr/>
                    <a:lstStyle/>
                    <a:p>
                      <a:pPr algn="ctr">
                        <a:defRPr sz="900">
                          <a:latin typeface="Montserrat"/>
                        </a:defRPr>
                      </a:pPr>
                      <a:r>
                        <a:t>308</a:t>
                      </a:r>
                    </a:p>
                  </a:txBody>
                  <a:tcPr anchor="ctr">
                    <a:solidFill>
                      <a:srgbClr val="FFFFFF"/>
                    </a:solidFill>
                  </a:tcPr>
                </a:tc>
                <a:tc>
                  <a:txBody>
                    <a:bodyPr/>
                    <a:lstStyle/>
                    <a:p>
                      <a:pPr algn="ctr">
                        <a:defRPr sz="900">
                          <a:latin typeface="Montserrat"/>
                        </a:defRPr>
                      </a:pPr>
                      <a:r>
                        <a:t>85</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31</a:t>
                      </a:r>
                    </a:p>
                  </a:txBody>
                  <a:tcPr anchor="ctr">
                    <a:solidFill>
                      <a:srgbClr val="FFFFFF"/>
                    </a:solidFill>
                  </a:tcPr>
                </a:tc>
              </a:tr>
              <a:tr h="230400">
                <a:tc>
                  <a:txBody>
                    <a:bodyPr/>
                    <a:lstStyle/>
                    <a:p>
                      <a:pPr algn="l">
                        <a:defRPr sz="900">
                          <a:latin typeface="Montserrat"/>
                        </a:defRPr>
                      </a:pPr>
                      <a:r>
                        <a:t>HES CMN La Raza</a:t>
                      </a:r>
                    </a:p>
                  </a:txBody>
                  <a:tcPr anchor="ctr">
                    <a:solidFill>
                      <a:srgbClr val="EFEFEF"/>
                    </a:solidFill>
                  </a:tcPr>
                </a:tc>
                <a:tc>
                  <a:txBody>
                    <a:bodyPr/>
                    <a:lstStyle/>
                    <a:p>
                      <a:pPr algn="ctr">
                        <a:defRPr sz="900">
                          <a:latin typeface="Montserrat"/>
                        </a:defRPr>
                      </a:pPr>
                      <a:r>
                        <a:t>Abril de 1979</a:t>
                      </a:r>
                    </a:p>
                  </a:txBody>
                  <a:tcPr anchor="ctr">
                    <a:solidFill>
                      <a:srgbClr val="EFEFEF"/>
                    </a:solidFill>
                  </a:tcPr>
                </a:tc>
                <a:tc>
                  <a:txBody>
                    <a:bodyPr/>
                    <a:lstStyle/>
                    <a:p>
                      <a:pPr algn="ctr">
                        <a:defRPr sz="900">
                          <a:latin typeface="Montserrat"/>
                        </a:defRPr>
                      </a:pPr>
                      <a:r>
                        <a:t>564</a:t>
                      </a:r>
                    </a:p>
                  </a:txBody>
                  <a:tcPr anchor="ctr">
                    <a:solidFill>
                      <a:srgbClr val="EFEFEF"/>
                    </a:solidFill>
                  </a:tcPr>
                </a:tc>
                <a:tc>
                  <a:txBody>
                    <a:bodyPr/>
                    <a:lstStyle/>
                    <a:p>
                      <a:pPr algn="ctr">
                        <a:defRPr sz="900">
                          <a:latin typeface="Montserrat"/>
                        </a:defRPr>
                      </a:pPr>
                      <a:r>
                        <a:t>132</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111</a:t>
                      </a:r>
                    </a:p>
                  </a:txBody>
                  <a:tcPr anchor="ctr">
                    <a:solidFill>
                      <a:srgbClr val="EFEFEF"/>
                    </a:solidFill>
                  </a:tcPr>
                </a:tc>
              </a:tr>
              <a:tr h="230400">
                <a:tc>
                  <a:txBody>
                    <a:bodyPr/>
                    <a:lstStyle/>
                    <a:p>
                      <a:pPr algn="l">
                        <a:defRPr sz="900">
                          <a:latin typeface="Montserrat"/>
                        </a:defRPr>
                      </a:pPr>
                      <a:r>
                        <a:t>HTO Magdalena de las Salinas.</a:t>
                      </a:r>
                    </a:p>
                  </a:txBody>
                  <a:tcPr anchor="ctr">
                    <a:solidFill>
                      <a:srgbClr val="FFFFFF"/>
                    </a:solidFill>
                  </a:tcPr>
                </a:tc>
                <a:tc>
                  <a:txBody>
                    <a:bodyPr/>
                    <a:lstStyle/>
                    <a:p>
                      <a:pPr algn="ctr">
                        <a:defRPr sz="900">
                          <a:latin typeface="Montserrat"/>
                        </a:defRPr>
                      </a:pPr>
                      <a:r>
                        <a:t>Junio de 1981</a:t>
                      </a:r>
                    </a:p>
                  </a:txBody>
                  <a:tcPr anchor="ctr">
                    <a:solidFill>
                      <a:srgbClr val="FFFFFF"/>
                    </a:solidFill>
                  </a:tcPr>
                </a:tc>
                <a:tc>
                  <a:txBody>
                    <a:bodyPr/>
                    <a:lstStyle/>
                    <a:p>
                      <a:pPr algn="ctr">
                        <a:defRPr sz="900">
                          <a:latin typeface="Montserrat"/>
                        </a:defRPr>
                      </a:pPr>
                      <a:r>
                        <a:t>527</a:t>
                      </a:r>
                    </a:p>
                  </a:txBody>
                  <a:tcPr anchor="ctr">
                    <a:solidFill>
                      <a:srgbClr val="FFFFFF"/>
                    </a:solidFill>
                  </a:tcPr>
                </a:tc>
                <a:tc>
                  <a:txBody>
                    <a:bodyPr/>
                    <a:lstStyle/>
                    <a:p>
                      <a:pPr algn="ctr">
                        <a:defRPr sz="900">
                          <a:latin typeface="Montserrat"/>
                        </a:defRPr>
                      </a:pPr>
                      <a:r>
                        <a:t>176</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30</a:t>
                      </a:r>
                    </a:p>
                  </a:txBody>
                  <a:tcPr anchor="ctr">
                    <a:solidFill>
                      <a:srgbClr val="FFFFFF"/>
                    </a:solidFill>
                  </a:tcPr>
                </a:tc>
                <a:tc>
                  <a:txBody>
                    <a:bodyPr/>
                    <a:lstStyle/>
                    <a:p>
                      <a:pPr algn="ctr">
                        <a:defRPr sz="900">
                          <a:latin typeface="Montserrat"/>
                        </a:defRPr>
                      </a:pPr>
                      <a:r>
                        <a:t>100</a:t>
                      </a:r>
                    </a:p>
                  </a:txBody>
                  <a:tcPr anchor="ctr">
                    <a:solidFill>
                      <a:srgbClr val="FFFFFF"/>
                    </a:solidFill>
                  </a:tcPr>
                </a:tc>
              </a:tr>
              <a:tr h="230400">
                <a:tc>
                  <a:txBody>
                    <a:bodyPr/>
                    <a:lstStyle/>
                    <a:p>
                      <a:pPr algn="l">
                        <a:defRPr sz="900">
                          <a:latin typeface="Montserrat"/>
                        </a:defRPr>
                      </a:pPr>
                      <a:r>
                        <a:t>HES CMN Siglo XXI</a:t>
                      </a:r>
                    </a:p>
                  </a:txBody>
                  <a:tcPr anchor="ctr">
                    <a:solidFill>
                      <a:srgbClr val="EFEFEF"/>
                    </a:solidFill>
                  </a:tcPr>
                </a:tc>
                <a:tc>
                  <a:txBody>
                    <a:bodyPr/>
                    <a:lstStyle/>
                    <a:p>
                      <a:pPr algn="ctr">
                        <a:defRPr sz="900">
                          <a:latin typeface="Montserrat"/>
                        </a:defRPr>
                      </a:pPr>
                      <a:r>
                        <a:t>Abril de 1992</a:t>
                      </a:r>
                    </a:p>
                  </a:txBody>
                  <a:tcPr anchor="ctr">
                    <a:solidFill>
                      <a:srgbClr val="EFEFEF"/>
                    </a:solidFill>
                  </a:tcPr>
                </a:tc>
                <a:tc>
                  <a:txBody>
                    <a:bodyPr/>
                    <a:lstStyle/>
                    <a:p>
                      <a:pPr algn="ctr">
                        <a:defRPr sz="900">
                          <a:latin typeface="Montserrat"/>
                        </a:defRPr>
                      </a:pPr>
                      <a:r>
                        <a:t>420</a:t>
                      </a:r>
                    </a:p>
                  </a:txBody>
                  <a:tcPr anchor="ctr">
                    <a:solidFill>
                      <a:srgbClr val="EFEFEF"/>
                    </a:solidFill>
                  </a:tcPr>
                </a:tc>
                <a:tc>
                  <a:txBody>
                    <a:bodyPr/>
                    <a:lstStyle/>
                    <a:p>
                      <a:pPr algn="ctr">
                        <a:defRPr sz="900">
                          <a:latin typeface="Montserrat"/>
                        </a:defRPr>
                      </a:pPr>
                      <a:r>
                        <a:t>164</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91</a:t>
                      </a:r>
                    </a:p>
                  </a:txBody>
                  <a:tcPr anchor="ctr">
                    <a:solidFill>
                      <a:srgbClr val="EFEFEF"/>
                    </a:solidFill>
                  </a:tcPr>
                </a:tc>
              </a:tr>
              <a:tr h="230400">
                <a:tc>
                  <a:txBody>
                    <a:bodyPr/>
                    <a:lstStyle/>
                    <a:p>
                      <a:pPr algn="l">
                        <a:defRPr sz="900">
                          <a:latin typeface="Montserrat"/>
                        </a:defRPr>
                      </a:pPr>
                      <a:r>
                        <a:t>HP CMN Siglo XXI</a:t>
                      </a:r>
                    </a:p>
                  </a:txBody>
                  <a:tcPr anchor="ctr">
                    <a:solidFill>
                      <a:srgbClr val="FFFFFF"/>
                    </a:solidFill>
                  </a:tcPr>
                </a:tc>
                <a:tc>
                  <a:txBody>
                    <a:bodyPr/>
                    <a:lstStyle/>
                    <a:p>
                      <a:pPr algn="ctr">
                        <a:defRPr sz="900">
                          <a:latin typeface="Montserrat"/>
                        </a:defRPr>
                      </a:pPr>
                      <a:r>
                        <a:t>Abril de 1992</a:t>
                      </a:r>
                    </a:p>
                  </a:txBody>
                  <a:tcPr anchor="ctr">
                    <a:solidFill>
                      <a:srgbClr val="FFFFFF"/>
                    </a:solidFill>
                  </a:tcPr>
                </a:tc>
                <a:tc>
                  <a:txBody>
                    <a:bodyPr/>
                    <a:lstStyle/>
                    <a:p>
                      <a:pPr algn="ctr">
                        <a:defRPr sz="900">
                          <a:latin typeface="Montserrat"/>
                        </a:defRPr>
                      </a:pPr>
                      <a:r>
                        <a:t>163</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41</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40</a:t>
                      </a:r>
                    </a:p>
                  </a:txBody>
                  <a:tcPr anchor="ctr">
                    <a:solidFill>
                      <a:srgbClr val="FFFFFF"/>
                    </a:solidFill>
                  </a:tcPr>
                </a:tc>
              </a:tr>
              <a:tr h="230400">
                <a:tc>
                  <a:txBody>
                    <a:bodyPr/>
                    <a:lstStyle/>
                    <a:p>
                      <a:pPr algn="l">
                        <a:defRPr sz="900">
                          <a:latin typeface="Montserrat"/>
                        </a:defRPr>
                      </a:pPr>
                      <a:r>
                        <a:t>HC CMN Siglo XXI</a:t>
                      </a:r>
                    </a:p>
                  </a:txBody>
                  <a:tcPr anchor="ctr">
                    <a:solidFill>
                      <a:srgbClr val="EFEFEF"/>
                    </a:solidFill>
                  </a:tcPr>
                </a:tc>
                <a:tc>
                  <a:txBody>
                    <a:bodyPr/>
                    <a:lstStyle/>
                    <a:p>
                      <a:pPr algn="ctr">
                        <a:defRPr sz="900">
                          <a:latin typeface="Montserrat"/>
                        </a:defRPr>
                      </a:pPr>
                      <a:r>
                        <a:t>Abril de 1992</a:t>
                      </a:r>
                    </a:p>
                  </a:txBody>
                  <a:tcPr anchor="ctr">
                    <a:solidFill>
                      <a:srgbClr val="EFEFEF"/>
                    </a:solidFill>
                  </a:tcPr>
                </a:tc>
                <a:tc>
                  <a:txBody>
                    <a:bodyPr/>
                    <a:lstStyle/>
                    <a:p>
                      <a:pPr algn="ctr">
                        <a:defRPr sz="900">
                          <a:latin typeface="Montserrat"/>
                        </a:defRPr>
                      </a:pPr>
                      <a:r>
                        <a:t>158</a:t>
                      </a:r>
                    </a:p>
                  </a:txBody>
                  <a:tcPr anchor="ctr">
                    <a:solidFill>
                      <a:srgbClr val="EFEFEF"/>
                    </a:solidFill>
                  </a:tcPr>
                </a:tc>
                <a:tc>
                  <a:txBody>
                    <a:bodyPr/>
                    <a:lstStyle/>
                    <a:p>
                      <a:pPr algn="ctr">
                        <a:defRPr sz="900">
                          <a:latin typeface="Montserrat"/>
                        </a:defRPr>
                      </a:pPr>
                      <a:r>
                        <a:t>74</a:t>
                      </a:r>
                    </a:p>
                  </a:txBody>
                  <a:tcPr anchor="ctr">
                    <a:solidFill>
                      <a:srgbClr val="EFEFEF"/>
                    </a:solidFill>
                  </a:tcPr>
                </a:tc>
                <a:tc>
                  <a:txBody>
                    <a:bodyPr/>
                    <a:lstStyle/>
                    <a:p>
                      <a:pPr algn="ctr">
                        <a:defRPr sz="900">
                          <a:latin typeface="Montserrat"/>
                        </a:defRPr>
                      </a:pPr>
                      <a:r>
                        <a:t>50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19</a:t>
                      </a:r>
                    </a:p>
                  </a:txBody>
                  <a:tcPr anchor="ctr">
                    <a:solidFill>
                      <a:srgbClr val="EFEFEF"/>
                    </a:solidFill>
                  </a:tcPr>
                </a:tc>
              </a:tr>
              <a:tr h="230400">
                <a:tc>
                  <a:txBody>
                    <a:bodyPr/>
                    <a:lstStyle/>
                    <a:p>
                      <a:pPr algn="l">
                        <a:defRPr sz="900">
                          <a:latin typeface="Montserrat"/>
                        </a:defRPr>
                      </a:pPr>
                      <a:r>
                        <a:t>HONCO CMN Siglo XXI</a:t>
                      </a:r>
                    </a:p>
                  </a:txBody>
                  <a:tcPr anchor="ctr">
                    <a:solidFill>
                      <a:srgbClr val="FFFFFF"/>
                    </a:solidFill>
                  </a:tcPr>
                </a:tc>
                <a:tc>
                  <a:txBody>
                    <a:bodyPr/>
                    <a:lstStyle/>
                    <a:p>
                      <a:pPr algn="ctr">
                        <a:defRPr sz="900">
                          <a:latin typeface="Montserrat"/>
                        </a:defRPr>
                      </a:pPr>
                      <a:r>
                        <a:t>Abril de 1992</a:t>
                      </a:r>
                    </a:p>
                  </a:txBody>
                  <a:tcPr anchor="ctr">
                    <a:solidFill>
                      <a:srgbClr val="FFFFFF"/>
                    </a:solidFill>
                  </a:tcPr>
                </a:tc>
                <a:tc>
                  <a:txBody>
                    <a:bodyPr/>
                    <a:lstStyle/>
                    <a:p>
                      <a:pPr algn="ctr">
                        <a:defRPr sz="900">
                          <a:latin typeface="Montserrat"/>
                        </a:defRPr>
                      </a:pPr>
                      <a:r>
                        <a:t>152</a:t>
                      </a:r>
                    </a:p>
                  </a:txBody>
                  <a:tcPr anchor="ctr">
                    <a:solidFill>
                      <a:srgbClr val="FFFFFF"/>
                    </a:solidFill>
                  </a:tcPr>
                </a:tc>
                <a:tc>
                  <a:txBody>
                    <a:bodyPr/>
                    <a:lstStyle/>
                    <a:p>
                      <a:pPr algn="ctr">
                        <a:defRPr sz="900">
                          <a:latin typeface="Montserrat"/>
                        </a:defRPr>
                      </a:pPr>
                      <a:r>
                        <a:t>95</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3,383</a:t>
                      </a:r>
                    </a:p>
                  </a:txBody>
                  <a:tcPr anchor="ctr">
                    <a:solidFill>
                      <a:srgbClr val="D3E9E7"/>
                    </a:solidFill>
                  </a:tcPr>
                </a:tc>
                <a:tc>
                  <a:txBody>
                    <a:bodyPr/>
                    <a:lstStyle/>
                    <a:p>
                      <a:pPr algn="ctr">
                        <a:defRPr sz="900" b="1">
                          <a:solidFill>
                            <a:srgbClr val="006556"/>
                          </a:solidFill>
                          <a:latin typeface="Montserrat"/>
                        </a:defRPr>
                      </a:pPr>
                      <a:r>
                        <a:t>1,179</a:t>
                      </a:r>
                    </a:p>
                  </a:txBody>
                  <a:tcPr anchor="ctr">
                    <a:solidFill>
                      <a:srgbClr val="D3E9E7"/>
                    </a:solidFill>
                  </a:tcPr>
                </a:tc>
                <a:tc>
                  <a:txBody>
                    <a:bodyPr/>
                    <a:lstStyle/>
                    <a:p>
                      <a:pPr algn="ctr">
                        <a:defRPr sz="900" b="1">
                          <a:solidFill>
                            <a:srgbClr val="006556"/>
                          </a:solidFill>
                          <a:latin typeface="Montserrat"/>
                        </a:defRPr>
                      </a:pPr>
                      <a:r>
                        <a:t>326</a:t>
                      </a:r>
                    </a:p>
                  </a:txBody>
                  <a:tcPr anchor="ctr">
                    <a:solidFill>
                      <a:srgbClr val="D3E9E7"/>
                    </a:solidFill>
                  </a:tcPr>
                </a:tc>
                <a:tc>
                  <a:txBody>
                    <a:bodyPr/>
                    <a:lstStyle/>
                    <a:p>
                      <a:pPr algn="ctr">
                        <a:defRPr sz="900" b="1">
                          <a:solidFill>
                            <a:srgbClr val="006556"/>
                          </a:solidFill>
                          <a:latin typeface="Montserrat"/>
                        </a:defRPr>
                      </a:pPr>
                      <a:r>
                        <a:t>129</a:t>
                      </a:r>
                    </a:p>
                  </a:txBody>
                  <a:tcPr anchor="ctr">
                    <a:solidFill>
                      <a:srgbClr val="D3E9E7"/>
                    </a:solidFill>
                  </a:tcPr>
                </a:tc>
                <a:tc>
                  <a:txBody>
                    <a:bodyPr/>
                    <a:lstStyle/>
                    <a:p>
                      <a:pPr algn="ctr">
                        <a:defRPr sz="900" b="1">
                          <a:solidFill>
                            <a:srgbClr val="006556"/>
                          </a:solidFill>
                          <a:latin typeface="Montserrat"/>
                        </a:defRPr>
                      </a:pPr>
                      <a:r>
                        <a:t>581</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6,301</a:t>
                      </a:r>
                    </a:p>
                  </a:txBody>
                  <a:tcPr anchor="ctr">
                    <a:solidFill>
                      <a:srgbClr val="D3E9E7"/>
                    </a:solidFill>
                  </a:tcPr>
                </a:tc>
                <a:tc>
                  <a:txBody>
                    <a:bodyPr/>
                    <a:lstStyle/>
                    <a:p>
                      <a:pPr algn="ctr">
                        <a:defRPr sz="900" b="1">
                          <a:solidFill>
                            <a:srgbClr val="006556"/>
                          </a:solidFill>
                          <a:latin typeface="Montserrat"/>
                        </a:defRPr>
                      </a:pPr>
                      <a:r>
                        <a:t>2,481</a:t>
                      </a:r>
                    </a:p>
                  </a:txBody>
                  <a:tcPr anchor="ctr">
                    <a:solidFill>
                      <a:srgbClr val="D3E9E7"/>
                    </a:solidFill>
                  </a:tcPr>
                </a:tc>
                <a:tc>
                  <a:txBody>
                    <a:bodyPr/>
                    <a:lstStyle/>
                    <a:p>
                      <a:pPr algn="ctr">
                        <a:defRPr sz="900" b="1">
                          <a:solidFill>
                            <a:srgbClr val="006556"/>
                          </a:solidFill>
                          <a:latin typeface="Montserrat"/>
                        </a:defRPr>
                      </a:pPr>
                      <a:r>
                        <a:t>428</a:t>
                      </a:r>
                    </a:p>
                  </a:txBody>
                  <a:tcPr anchor="ctr">
                    <a:solidFill>
                      <a:srgbClr val="D3E9E7"/>
                    </a:solidFill>
                  </a:tcPr>
                </a:tc>
                <a:tc>
                  <a:txBody>
                    <a:bodyPr/>
                    <a:lstStyle/>
                    <a:p>
                      <a:pPr algn="ctr">
                        <a:defRPr sz="900" b="1">
                          <a:solidFill>
                            <a:srgbClr val="006556"/>
                          </a:solidFill>
                          <a:latin typeface="Montserrat"/>
                        </a:defRPr>
                      </a:pPr>
                      <a:r>
                        <a:t>211</a:t>
                      </a:r>
                    </a:p>
                  </a:txBody>
                  <a:tcPr anchor="ctr">
                    <a:solidFill>
                      <a:srgbClr val="D3E9E7"/>
                    </a:solidFill>
                  </a:tcPr>
                </a:tc>
                <a:tc>
                  <a:txBody>
                    <a:bodyPr/>
                    <a:lstStyle/>
                    <a:p>
                      <a:pPr algn="ctr">
                        <a:defRPr sz="900" b="1">
                          <a:solidFill>
                            <a:srgbClr val="006556"/>
                          </a:solidFill>
                          <a:latin typeface="Montserrat"/>
                        </a:defRPr>
                      </a:pPr>
                      <a:r>
                        <a:t>1,142</a:t>
                      </a:r>
                    </a:p>
                  </a:txBody>
                  <a:tcPr anchor="ctr">
                    <a:solidFill>
                      <a:srgbClr val="D3E9E7"/>
                    </a:solidFill>
                  </a:tcPr>
                </a:tc>
              </a:tr>
            </a:tbl>
          </a:graphicData>
        </a:graphic>
      </p:graphicFrame>
      <p:sp>
        <p:nvSpPr>
          <p:cNvPr id="7" name="TextBox 6"/>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2591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HTO Magdalena de las Salinas.</a:t>
                      </a:r>
                    </a:p>
                  </a:txBody>
                  <a:tcPr>
                    <a:solidFill>
                      <a:srgbClr val="FFFFFF"/>
                    </a:solidFill>
                  </a:tcPr>
                </a:tc>
                <a:tc>
                  <a:txBody>
                    <a:bodyPr/>
                    <a:lstStyle/>
                    <a:p>
                      <a:pPr algn="ctr">
                        <a:defRPr sz="1000">
                          <a:latin typeface="Montserrat"/>
                        </a:defRPr>
                      </a:pPr>
                      <a:r>
                        <a:t>3</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HC CMN Siglo XXI</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6D194"/>
                    </a:solidFill>
                  </a:tcPr>
                </a:tc>
              </a:tr>
              <a:tr h="215999">
                <a:tc>
                  <a:txBody>
                    <a:bodyPr/>
                    <a:lstStyle/>
                    <a:p>
                      <a:pPr algn="l">
                        <a:defRPr sz="1000">
                          <a:latin typeface="Montserrat"/>
                        </a:defRPr>
                      </a:pPr>
                      <a:r>
                        <a:t>HP CMN Siglo XXI</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1</a:t>
                      </a:r>
                    </a:p>
                  </a:txBody>
                  <a:tcPr>
                    <a:solidFill>
                      <a:srgbClr val="FFFFFF"/>
                    </a:solidFill>
                  </a:tcPr>
                </a:tc>
              </a:tr>
              <a:tr h="215999">
                <a:tc>
                  <a:txBody>
                    <a:bodyPr/>
                    <a:lstStyle/>
                    <a:p>
                      <a:pPr algn="l">
                        <a:defRPr sz="1000">
                          <a:latin typeface="Montserrat"/>
                        </a:defRPr>
                      </a:pPr>
                      <a:r>
                        <a:t>HGO 3 CMN La Raza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HONCO CMN Siglo XXI</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r>
              <a:tr h="215999">
                <a:tc>
                  <a:txBody>
                    <a:bodyPr/>
                    <a:lstStyle/>
                    <a:p>
                      <a:pPr algn="l">
                        <a:defRPr sz="1000">
                          <a:latin typeface="Montserrat"/>
                        </a:defRPr>
                      </a:pPr>
                      <a:r>
                        <a:t>HES CMN Siglo XXI</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6D194"/>
                    </a:solidFill>
                  </a:tcPr>
                </a:tc>
                <a:tc>
                  <a:txBody>
                    <a:bodyPr/>
                    <a:lstStyle/>
                    <a:p>
                      <a:pPr algn="ctr">
                        <a:defRPr sz="1000">
                          <a:latin typeface="Montserrat"/>
                        </a:defRPr>
                      </a:pPr>
                      <a:r>
                        <a:t>21</a:t>
                      </a:r>
                    </a:p>
                  </a:txBody>
                  <a:tcPr>
                    <a:solidFill>
                      <a:srgbClr val="EFEFEF"/>
                    </a:solidFill>
                  </a:tcPr>
                </a:tc>
                <a:tc>
                  <a:txBody>
                    <a:bodyPr/>
                    <a:lstStyle/>
                    <a:p>
                      <a:pPr algn="ctr">
                        <a:defRPr sz="1000">
                          <a:latin typeface="Montserrat"/>
                        </a:defRPr>
                      </a:pPr>
                      <a:r>
                        <a:t>2</a:t>
                      </a:r>
                    </a:p>
                  </a:txBody>
                  <a:tcPr>
                    <a:solidFill>
                      <a:srgbClr val="EFEFEF"/>
                    </a:solidFill>
                  </a:tcPr>
                </a:tc>
              </a:tr>
              <a:tr h="215999">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3</a:t>
                      </a:r>
                    </a:p>
                  </a:txBody>
                  <a:tcPr>
                    <a:solidFill>
                      <a:srgbClr val="FFFFFF"/>
                    </a:solidFill>
                  </a:tcPr>
                </a:tc>
              </a:tr>
              <a:tr h="215999">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HG CMN La Raza.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2</a:t>
                      </a:r>
                    </a:p>
                  </a:txBody>
                  <a:tcPr>
                    <a:solidFill>
                      <a:srgbClr val="FFFFFF"/>
                    </a:solidFill>
                  </a:tcPr>
                </a:tc>
              </a:tr>
              <a:tr h="215999">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19</a:t>
                      </a:r>
                    </a:p>
                  </a:txBody>
                  <a:tcPr>
                    <a:solidFill>
                      <a:srgbClr val="D3E9E7"/>
                    </a:solidFill>
                  </a:tcPr>
                </a:tc>
                <a:tc>
                  <a:txBody>
                    <a:bodyPr/>
                    <a:lstStyle/>
                    <a:p>
                      <a:pPr algn="ctr">
                        <a:defRPr sz="1000" b="1">
                          <a:solidFill>
                            <a:srgbClr val="006556"/>
                          </a:solidFill>
                          <a:latin typeface="Montserrat"/>
                        </a:defRPr>
                      </a:pPr>
                      <a:r>
                        <a:t>38</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r>
              <a:tr h="21601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26</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26</a:t>
                      </a:r>
                    </a:p>
                  </a:txBody>
                  <a:tcPr>
                    <a:solidFill>
                      <a:srgbClr val="D3E9E7"/>
                    </a:solidFill>
                  </a:tcPr>
                </a:tc>
                <a:tc>
                  <a:txBody>
                    <a:bodyPr/>
                    <a:lstStyle/>
                    <a:p>
                      <a:pPr algn="ctr">
                        <a:defRPr sz="1000" b="1">
                          <a:solidFill>
                            <a:srgbClr val="006556"/>
                          </a:solidFill>
                          <a:latin typeface="Montserrat"/>
                        </a:defRPr>
                      </a:pPr>
                      <a:r>
                        <a:t>132</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cxnSp>
        <p:nvCxnSpPr>
          <p:cNvPr id="3" name="Connector 2"/>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22 Unidades Médicas de tiempo completo (96 consultorios)</a:t>
            </a:r>
          </a:p>
        </p:txBody>
      </p:sp>
      <p:sp>
        <p:nvSpPr>
          <p:cNvPr id="6" name="TextBox 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7" name="TextBox 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8" name="Table 7"/>
          <p:cNvGraphicFramePr>
            <a:graphicFrameLocks noGrp="1"/>
          </p:cNvGraphicFramePr>
          <p:nvPr/>
        </p:nvGraphicFramePr>
        <p:xfrm>
          <a:off x="151200" y="1695600"/>
          <a:ext cx="7473599" cy="302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5,995,398</a:t>
                      </a:r>
                    </a:p>
                  </a:txBody>
                  <a:tcPr marL="0" marR="0" marT="0" marB="0">
                    <a:solidFill>
                      <a:srgbClr val="D3E9E7"/>
                    </a:solidFill>
                  </a:tcPr>
                </a:tc>
                <a:tc>
                  <a:txBody>
                    <a:bodyPr/>
                    <a:lstStyle/>
                    <a:p>
                      <a:pPr algn="ctr">
                        <a:defRPr sz="1000" b="1">
                          <a:solidFill>
                            <a:srgbClr val="006556"/>
                          </a:solidFill>
                          <a:latin typeface="Montserrat"/>
                        </a:defRPr>
                      </a:pPr>
                      <a:r>
                        <a:t>312,358</a:t>
                      </a:r>
                    </a:p>
                  </a:txBody>
                  <a:tcPr marL="0" marR="0" marT="0" marB="0">
                    <a:solidFill>
                      <a:srgbClr val="D3E9E7"/>
                    </a:solidFill>
                  </a:tcPr>
                </a:tc>
                <a:tc>
                  <a:txBody>
                    <a:bodyPr/>
                    <a:lstStyle/>
                    <a:p>
                      <a:pPr algn="ctr">
                        <a:defRPr sz="1000" b="1">
                          <a:solidFill>
                            <a:srgbClr val="FFFFFF"/>
                          </a:solidFill>
                          <a:latin typeface="Montserrat"/>
                        </a:defRPr>
                      </a:pPr>
                      <a:r>
                        <a:t>2,434,896</a:t>
                      </a:r>
                    </a:p>
                  </a:txBody>
                  <a:tcPr marL="0" marR="0" marT="0" marB="0">
                    <a:solidFill>
                      <a:srgbClr val="9F2241"/>
                    </a:solidFill>
                  </a:tcPr>
                </a:tc>
                <a:tc>
                  <a:txBody>
                    <a:bodyPr/>
                    <a:lstStyle/>
                    <a:p>
                      <a:pPr algn="ctr">
                        <a:defRPr sz="1000" b="1">
                          <a:solidFill>
                            <a:srgbClr val="FFFFFF"/>
                          </a:solidFill>
                          <a:latin typeface="Montserrat"/>
                        </a:defRPr>
                      </a:pPr>
                      <a:r>
                        <a:t>6,076,064</a:t>
                      </a:r>
                    </a:p>
                  </a:txBody>
                  <a:tcPr marL="0" marR="0" marT="0" marB="0">
                    <a:solidFill>
                      <a:srgbClr val="9F2241"/>
                    </a:solidFill>
                  </a:tcPr>
                </a:tc>
                <a:tc>
                  <a:txBody>
                    <a:bodyPr/>
                    <a:lstStyle/>
                    <a:p>
                      <a:pPr algn="ctr">
                        <a:defRPr sz="1000" b="1">
                          <a:solidFill>
                            <a:srgbClr val="FFFFFF"/>
                          </a:solidFill>
                          <a:latin typeface="Montserrat"/>
                        </a:defRPr>
                      </a:pPr>
                      <a:r>
                        <a:t>40.1%</a:t>
                      </a:r>
                    </a:p>
                  </a:txBody>
                  <a:tcPr marL="0" marR="0" marT="0" marB="0">
                    <a:solidFill>
                      <a:srgbClr val="9F2241"/>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7" name="Table 6"/>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HGO 3 CMN La Raza</a:t>
                      </a:r>
                    </a:p>
                  </a:txBody>
                  <a:tcPr>
                    <a:solidFill>
                      <a:srgbClr val="FFFFFF"/>
                    </a:solidFill>
                  </a:tcPr>
                </a:tc>
                <a:tc>
                  <a:txBody>
                    <a:bodyPr/>
                    <a:lstStyle/>
                    <a:p>
                      <a:pPr algn="ctr">
                        <a:defRPr sz="1000">
                          <a:latin typeface="Montserrat"/>
                        </a:defRPr>
                      </a:pPr>
                      <a:r>
                        <a:t>187,659</a:t>
                      </a:r>
                    </a:p>
                  </a:txBody>
                  <a:tcPr>
                    <a:solidFill>
                      <a:srgbClr val="FFFFFF"/>
                    </a:solidFill>
                  </a:tcPr>
                </a:tc>
                <a:tc>
                  <a:txBody>
                    <a:bodyPr/>
                    <a:lstStyle/>
                    <a:p>
                      <a:pPr algn="ctr">
                        <a:defRPr sz="1000">
                          <a:latin typeface="Montserrat"/>
                        </a:defRPr>
                      </a:pPr>
                      <a:r>
                        <a:t>34,630</a:t>
                      </a:r>
                    </a:p>
                  </a:txBody>
                  <a:tcPr>
                    <a:solidFill>
                      <a:srgbClr val="FFFFFF"/>
                    </a:solidFill>
                  </a:tcPr>
                </a:tc>
                <a:tc>
                  <a:txBody>
                    <a:bodyPr/>
                    <a:lstStyle/>
                    <a:p>
                      <a:pPr algn="ctr">
                        <a:defRPr sz="1000">
                          <a:latin typeface="Montserrat"/>
                        </a:defRPr>
                      </a:pPr>
                      <a:r>
                        <a:t>89,469</a:t>
                      </a:r>
                    </a:p>
                  </a:txBody>
                  <a:tcPr>
                    <a:solidFill>
                      <a:srgbClr val="ECD3D9"/>
                    </a:solidFill>
                  </a:tcPr>
                </a:tc>
                <a:tc>
                  <a:txBody>
                    <a:bodyPr/>
                    <a:lstStyle/>
                    <a:p>
                      <a:pPr algn="ctr">
                        <a:defRPr sz="1000">
                          <a:latin typeface="Montserrat"/>
                        </a:defRPr>
                      </a:pPr>
                      <a:r>
                        <a:t>177,390</a:t>
                      </a:r>
                    </a:p>
                  </a:txBody>
                  <a:tcPr>
                    <a:solidFill>
                      <a:srgbClr val="ECD3D9"/>
                    </a:solidFill>
                  </a:tcPr>
                </a:tc>
                <a:tc>
                  <a:txBody>
                    <a:bodyPr/>
                    <a:lstStyle/>
                    <a:p>
                      <a:pPr algn="ctr">
                        <a:defRPr sz="1000">
                          <a:latin typeface="Montserrat"/>
                        </a:defRPr>
                      </a:pPr>
                      <a:r>
                        <a:t>50.4%</a:t>
                      </a:r>
                    </a:p>
                  </a:txBody>
                  <a:tcPr>
                    <a:solidFill>
                      <a:srgbClr val="ECD3D9"/>
                    </a:solidFill>
                  </a:tcPr>
                </a:tc>
              </a:tr>
              <a:tr h="284400">
                <a:tc>
                  <a:txBody>
                    <a:bodyPr/>
                    <a:lstStyle/>
                    <a:p>
                      <a:pPr algn="l">
                        <a:defRPr sz="1000">
                          <a:latin typeface="Montserrat"/>
                        </a:defRPr>
                      </a:pPr>
                      <a:r>
                        <a:t>HPSIQ Morelos</a:t>
                      </a:r>
                    </a:p>
                  </a:txBody>
                  <a:tcPr>
                    <a:solidFill>
                      <a:srgbClr val="EFEFEF"/>
                    </a:solidFill>
                  </a:tcPr>
                </a:tc>
                <a:tc>
                  <a:txBody>
                    <a:bodyPr/>
                    <a:lstStyle/>
                    <a:p>
                      <a:pPr algn="ctr">
                        <a:defRPr sz="1000">
                          <a:latin typeface="Montserrat"/>
                        </a:defRPr>
                      </a:pPr>
                      <a:r>
                        <a:t>17,787</a:t>
                      </a:r>
                    </a:p>
                  </a:txBody>
                  <a:tcPr>
                    <a:solidFill>
                      <a:srgbClr val="EFEFEF"/>
                    </a:solidFill>
                  </a:tcPr>
                </a:tc>
                <a:tc>
                  <a:txBody>
                    <a:bodyPr/>
                    <a:lstStyle/>
                    <a:p>
                      <a:pPr algn="ctr">
                        <a:defRPr sz="1000">
                          <a:latin typeface="Montserrat"/>
                        </a:defRPr>
                      </a:pPr>
                      <a:r>
                        <a:t>-390</a:t>
                      </a:r>
                    </a:p>
                  </a:txBody>
                  <a:tcPr>
                    <a:solidFill>
                      <a:srgbClr val="EFEFEF"/>
                    </a:solidFill>
                  </a:tcPr>
                </a:tc>
                <a:tc>
                  <a:txBody>
                    <a:bodyPr/>
                    <a:lstStyle/>
                    <a:p>
                      <a:pPr algn="ctr">
                        <a:defRPr sz="1000">
                          <a:latin typeface="Montserrat"/>
                        </a:defRPr>
                      </a:pPr>
                      <a:r>
                        <a:t>6,431</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48.9%</a:t>
                      </a:r>
                    </a:p>
                  </a:txBody>
                  <a:tcPr>
                    <a:solidFill>
                      <a:srgbClr val="ECD3D9"/>
                    </a:solidFill>
                  </a:tcPr>
                </a:tc>
              </a:tr>
              <a:tr h="284400">
                <a:tc>
                  <a:txBody>
                    <a:bodyPr/>
                    <a:lstStyle/>
                    <a:p>
                      <a:pPr algn="l">
                        <a:defRPr sz="1000">
                          <a:latin typeface="Montserrat"/>
                        </a:defRPr>
                      </a:pPr>
                      <a:r>
                        <a:t>HTO Magdalena de las Salinas.</a:t>
                      </a:r>
                    </a:p>
                  </a:txBody>
                  <a:tcPr>
                    <a:solidFill>
                      <a:srgbClr val="FFFFFF"/>
                    </a:solidFill>
                  </a:tcPr>
                </a:tc>
                <a:tc>
                  <a:txBody>
                    <a:bodyPr/>
                    <a:lstStyle/>
                    <a:p>
                      <a:pPr algn="ctr">
                        <a:defRPr sz="1000">
                          <a:latin typeface="Montserrat"/>
                        </a:defRPr>
                      </a:pPr>
                      <a:r>
                        <a:t>126,476</a:t>
                      </a:r>
                    </a:p>
                  </a:txBody>
                  <a:tcPr>
                    <a:solidFill>
                      <a:srgbClr val="FFFFFF"/>
                    </a:solidFill>
                  </a:tcPr>
                </a:tc>
                <a:tc>
                  <a:txBody>
                    <a:bodyPr/>
                    <a:lstStyle/>
                    <a:p>
                      <a:pPr algn="ctr">
                        <a:defRPr sz="1000">
                          <a:latin typeface="Montserrat"/>
                        </a:defRPr>
                      </a:pPr>
                      <a:r>
                        <a:t>28,301</a:t>
                      </a:r>
                    </a:p>
                  </a:txBody>
                  <a:tcPr>
                    <a:solidFill>
                      <a:srgbClr val="FFFFFF"/>
                    </a:solidFill>
                  </a:tcPr>
                </a:tc>
                <a:tc>
                  <a:txBody>
                    <a:bodyPr/>
                    <a:lstStyle/>
                    <a:p>
                      <a:pPr algn="ctr">
                        <a:defRPr sz="1000">
                          <a:latin typeface="Montserrat"/>
                        </a:defRPr>
                      </a:pPr>
                      <a:r>
                        <a:t>57,177</a:t>
                      </a:r>
                    </a:p>
                  </a:txBody>
                  <a:tcPr>
                    <a:solidFill>
                      <a:srgbClr val="ECD3D9"/>
                    </a:solidFill>
                  </a:tcPr>
                </a:tc>
                <a:tc>
                  <a:txBody>
                    <a:bodyPr/>
                    <a:lstStyle/>
                    <a:p>
                      <a:pPr algn="ctr">
                        <a:defRPr sz="1000">
                          <a:latin typeface="Montserrat"/>
                        </a:defRPr>
                      </a:pPr>
                      <a:r>
                        <a:t>122,000</a:t>
                      </a:r>
                    </a:p>
                  </a:txBody>
                  <a:tcPr>
                    <a:solidFill>
                      <a:srgbClr val="ECD3D9"/>
                    </a:solidFill>
                  </a:tcPr>
                </a:tc>
                <a:tc>
                  <a:txBody>
                    <a:bodyPr/>
                    <a:lstStyle/>
                    <a:p>
                      <a:pPr algn="ctr">
                        <a:defRPr sz="1000">
                          <a:latin typeface="Montserrat"/>
                        </a:defRPr>
                      </a:pPr>
                      <a:r>
                        <a:t>46.9%</a:t>
                      </a:r>
                    </a:p>
                  </a:txBody>
                  <a:tcPr>
                    <a:solidFill>
                      <a:srgbClr val="ECD3D9"/>
                    </a:solidFill>
                  </a:tcPr>
                </a:tc>
              </a:tr>
              <a:tr h="284400">
                <a:tc>
                  <a:txBody>
                    <a:bodyPr/>
                    <a:lstStyle/>
                    <a:p>
                      <a:pPr algn="l">
                        <a:defRPr sz="1000">
                          <a:latin typeface="Montserrat"/>
                        </a:defRPr>
                      </a:pPr>
                      <a:r>
                        <a:t>HONCO CMN Siglo XXI</a:t>
                      </a:r>
                    </a:p>
                  </a:txBody>
                  <a:tcPr>
                    <a:solidFill>
                      <a:srgbClr val="EFEFEF"/>
                    </a:solidFill>
                  </a:tcPr>
                </a:tc>
                <a:tc>
                  <a:txBody>
                    <a:bodyPr/>
                    <a:lstStyle/>
                    <a:p>
                      <a:pPr algn="ctr">
                        <a:defRPr sz="1000">
                          <a:latin typeface="Montserrat"/>
                        </a:defRPr>
                      </a:pPr>
                      <a:r>
                        <a:t>407,632</a:t>
                      </a:r>
                    </a:p>
                  </a:txBody>
                  <a:tcPr>
                    <a:solidFill>
                      <a:srgbClr val="EFEFEF"/>
                    </a:solidFill>
                  </a:tcPr>
                </a:tc>
                <a:tc>
                  <a:txBody>
                    <a:bodyPr/>
                    <a:lstStyle/>
                    <a:p>
                      <a:pPr algn="ctr">
                        <a:defRPr sz="1000">
                          <a:latin typeface="Montserrat"/>
                        </a:defRPr>
                      </a:pPr>
                      <a:r>
                        <a:t>226,531</a:t>
                      </a:r>
                    </a:p>
                  </a:txBody>
                  <a:tcPr>
                    <a:solidFill>
                      <a:srgbClr val="EFEFEF"/>
                    </a:solidFill>
                  </a:tcPr>
                </a:tc>
                <a:tc>
                  <a:txBody>
                    <a:bodyPr/>
                    <a:lstStyle/>
                    <a:p>
                      <a:pPr algn="ctr">
                        <a:defRPr sz="1000">
                          <a:latin typeface="Montserrat"/>
                        </a:defRPr>
                      </a:pPr>
                      <a:r>
                        <a:t>196,874</a:t>
                      </a:r>
                    </a:p>
                  </a:txBody>
                  <a:tcPr>
                    <a:solidFill>
                      <a:srgbClr val="ECD3D9"/>
                    </a:solidFill>
                  </a:tcPr>
                </a:tc>
                <a:tc>
                  <a:txBody>
                    <a:bodyPr/>
                    <a:lstStyle/>
                    <a:p>
                      <a:pPr algn="ctr">
                        <a:defRPr sz="1000">
                          <a:latin typeface="Montserrat"/>
                        </a:defRPr>
                      </a:pPr>
                      <a:r>
                        <a:t>433,620</a:t>
                      </a:r>
                    </a:p>
                  </a:txBody>
                  <a:tcPr>
                    <a:solidFill>
                      <a:srgbClr val="ECD3D9"/>
                    </a:solidFill>
                  </a:tcPr>
                </a:tc>
                <a:tc>
                  <a:txBody>
                    <a:bodyPr/>
                    <a:lstStyle/>
                    <a:p>
                      <a:pPr algn="ctr">
                        <a:defRPr sz="1000">
                          <a:latin typeface="Montserrat"/>
                        </a:defRPr>
                      </a:pPr>
                      <a:r>
                        <a:t>45.4%</a:t>
                      </a:r>
                    </a:p>
                  </a:txBody>
                  <a:tcPr>
                    <a:solidFill>
                      <a:srgbClr val="ECD3D9"/>
                    </a:solidFill>
                  </a:tcPr>
                </a:tc>
              </a:tr>
              <a:tr h="284400">
                <a:tc>
                  <a:txBody>
                    <a:bodyPr/>
                    <a:lstStyle/>
                    <a:p>
                      <a:pPr algn="l">
                        <a:defRPr sz="1000">
                          <a:latin typeface="Montserrat"/>
                        </a:defRPr>
                      </a:pPr>
                      <a:r>
                        <a:t>HG CMN La Raza.</a:t>
                      </a:r>
                    </a:p>
                  </a:txBody>
                  <a:tcPr>
                    <a:solidFill>
                      <a:srgbClr val="FFFFFF"/>
                    </a:solidFill>
                  </a:tcPr>
                </a:tc>
                <a:tc>
                  <a:txBody>
                    <a:bodyPr/>
                    <a:lstStyle/>
                    <a:p>
                      <a:pPr algn="ctr">
                        <a:defRPr sz="1000">
                          <a:latin typeface="Montserrat"/>
                        </a:defRPr>
                      </a:pPr>
                      <a:r>
                        <a:t>354,222</a:t>
                      </a:r>
                    </a:p>
                  </a:txBody>
                  <a:tcPr>
                    <a:solidFill>
                      <a:srgbClr val="FFFFFF"/>
                    </a:solidFill>
                  </a:tcPr>
                </a:tc>
                <a:tc>
                  <a:txBody>
                    <a:bodyPr/>
                    <a:lstStyle/>
                    <a:p>
                      <a:pPr algn="ctr">
                        <a:defRPr sz="1000">
                          <a:latin typeface="Montserrat"/>
                        </a:defRPr>
                      </a:pPr>
                      <a:r>
                        <a:t>66,421</a:t>
                      </a:r>
                    </a:p>
                  </a:txBody>
                  <a:tcPr>
                    <a:solidFill>
                      <a:srgbClr val="FFFFFF"/>
                    </a:solidFill>
                  </a:tcPr>
                </a:tc>
                <a:tc>
                  <a:txBody>
                    <a:bodyPr/>
                    <a:lstStyle/>
                    <a:p>
                      <a:pPr algn="ctr">
                        <a:defRPr sz="1000">
                          <a:latin typeface="Montserrat"/>
                        </a:defRPr>
                      </a:pPr>
                      <a:r>
                        <a:t>156,385</a:t>
                      </a:r>
                    </a:p>
                  </a:txBody>
                  <a:tcPr>
                    <a:solidFill>
                      <a:srgbClr val="ECD3D9"/>
                    </a:solidFill>
                  </a:tcPr>
                </a:tc>
                <a:tc>
                  <a:txBody>
                    <a:bodyPr/>
                    <a:lstStyle/>
                    <a:p>
                      <a:pPr algn="ctr">
                        <a:defRPr sz="1000">
                          <a:latin typeface="Montserrat"/>
                        </a:defRPr>
                      </a:pPr>
                      <a:r>
                        <a:t>354,780</a:t>
                      </a:r>
                    </a:p>
                  </a:txBody>
                  <a:tcPr>
                    <a:solidFill>
                      <a:srgbClr val="ECD3D9"/>
                    </a:solidFill>
                  </a:tcPr>
                </a:tc>
                <a:tc>
                  <a:txBody>
                    <a:bodyPr/>
                    <a:lstStyle/>
                    <a:p>
                      <a:pPr algn="ctr">
                        <a:defRPr sz="1000">
                          <a:latin typeface="Montserrat"/>
                        </a:defRPr>
                      </a:pPr>
                      <a:r>
                        <a:t>44.1%</a:t>
                      </a:r>
                    </a:p>
                  </a:txBody>
                  <a:tcPr>
                    <a:solidFill>
                      <a:srgbClr val="ECD3D9"/>
                    </a:solidFill>
                  </a:tcPr>
                </a:tc>
              </a:tr>
              <a:tr h="284400">
                <a:tc>
                  <a:txBody>
                    <a:bodyPr/>
                    <a:lstStyle/>
                    <a:p>
                      <a:pPr algn="l">
                        <a:defRPr sz="1000">
                          <a:latin typeface="Montserrat"/>
                        </a:defRPr>
                      </a:pPr>
                      <a:r>
                        <a:t>UMFR Magdalena de las Salinas</a:t>
                      </a:r>
                    </a:p>
                  </a:txBody>
                  <a:tcPr>
                    <a:solidFill>
                      <a:srgbClr val="EFEFEF"/>
                    </a:solidFill>
                  </a:tcPr>
                </a:tc>
                <a:tc>
                  <a:txBody>
                    <a:bodyPr/>
                    <a:lstStyle/>
                    <a:p>
                      <a:pPr algn="ctr">
                        <a:defRPr sz="1000">
                          <a:latin typeface="Montserrat"/>
                        </a:defRPr>
                      </a:pPr>
                      <a:r>
                        <a:t>81,318</a:t>
                      </a:r>
                    </a:p>
                  </a:txBody>
                  <a:tcPr>
                    <a:solidFill>
                      <a:srgbClr val="EFEFEF"/>
                    </a:solidFill>
                  </a:tcPr>
                </a:tc>
                <a:tc>
                  <a:txBody>
                    <a:bodyPr/>
                    <a:lstStyle/>
                    <a:p>
                      <a:pPr algn="ctr">
                        <a:defRPr sz="1000">
                          <a:latin typeface="Montserrat"/>
                        </a:defRPr>
                      </a:pPr>
                      <a:r>
                        <a:t>7,269</a:t>
                      </a:r>
                    </a:p>
                  </a:txBody>
                  <a:tcPr>
                    <a:solidFill>
                      <a:srgbClr val="EFEFEF"/>
                    </a:solidFill>
                  </a:tcPr>
                </a:tc>
                <a:tc>
                  <a:txBody>
                    <a:bodyPr/>
                    <a:lstStyle/>
                    <a:p>
                      <a:pPr algn="ctr">
                        <a:defRPr sz="1000">
                          <a:latin typeface="Montserrat"/>
                        </a:defRPr>
                      </a:pPr>
                      <a:r>
                        <a:t>39,704</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43.2%</a:t>
                      </a:r>
                    </a:p>
                  </a:txBody>
                  <a:tcPr>
                    <a:solidFill>
                      <a:srgbClr val="ECD3D9"/>
                    </a:solidFill>
                  </a:tcPr>
                </a:tc>
              </a:tr>
              <a:tr h="284400">
                <a:tc>
                  <a:txBody>
                    <a:bodyPr/>
                    <a:lstStyle/>
                    <a:p>
                      <a:pPr algn="l">
                        <a:defRPr sz="1000">
                          <a:latin typeface="Montserrat"/>
                        </a:defRPr>
                      </a:pPr>
                      <a:r>
                        <a:t>HORTO Magdalena de las Salinas</a:t>
                      </a:r>
                    </a:p>
                  </a:txBody>
                  <a:tcPr>
                    <a:solidFill>
                      <a:srgbClr val="FFFFFF"/>
                    </a:solidFill>
                  </a:tcPr>
                </a:tc>
                <a:tc>
                  <a:txBody>
                    <a:bodyPr/>
                    <a:lstStyle/>
                    <a:p>
                      <a:pPr algn="ctr">
                        <a:defRPr sz="1000">
                          <a:latin typeface="Montserrat"/>
                        </a:defRPr>
                      </a:pPr>
                      <a:r>
                        <a:t>162,615</a:t>
                      </a:r>
                    </a:p>
                  </a:txBody>
                  <a:tcPr>
                    <a:solidFill>
                      <a:srgbClr val="FFFFFF"/>
                    </a:solidFill>
                  </a:tcPr>
                </a:tc>
                <a:tc>
                  <a:txBody>
                    <a:bodyPr/>
                    <a:lstStyle/>
                    <a:p>
                      <a:pPr algn="ctr">
                        <a:defRPr sz="1000">
                          <a:latin typeface="Montserrat"/>
                        </a:defRPr>
                      </a:pPr>
                      <a:r>
                        <a:t>23,158</a:t>
                      </a:r>
                    </a:p>
                  </a:txBody>
                  <a:tcPr>
                    <a:solidFill>
                      <a:srgbClr val="FFFFFF"/>
                    </a:solidFill>
                  </a:tcPr>
                </a:tc>
                <a:tc>
                  <a:txBody>
                    <a:bodyPr/>
                    <a:lstStyle/>
                    <a:p>
                      <a:pPr algn="ctr">
                        <a:defRPr sz="1000">
                          <a:latin typeface="Montserrat"/>
                        </a:defRPr>
                      </a:pPr>
                      <a:r>
                        <a:t>67,356</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41.0%</a:t>
                      </a:r>
                    </a:p>
                  </a:txBody>
                  <a:tcPr>
                    <a:solidFill>
                      <a:srgbClr val="ECD3D9"/>
                    </a:solidFill>
                  </a:tcPr>
                </a:tc>
              </a:tr>
              <a:tr h="284400">
                <a:tc>
                  <a:txBody>
                    <a:bodyPr/>
                    <a:lstStyle/>
                    <a:p>
                      <a:pPr algn="l">
                        <a:defRPr sz="1000">
                          <a:latin typeface="Montserrat"/>
                        </a:defRPr>
                      </a:pPr>
                      <a:r>
                        <a:t>HES CMN Siglo XXI</a:t>
                      </a:r>
                    </a:p>
                  </a:txBody>
                  <a:tcPr>
                    <a:solidFill>
                      <a:srgbClr val="EFEFEF"/>
                    </a:solidFill>
                  </a:tcPr>
                </a:tc>
                <a:tc>
                  <a:txBody>
                    <a:bodyPr/>
                    <a:lstStyle/>
                    <a:p>
                      <a:pPr algn="ctr">
                        <a:defRPr sz="1000">
                          <a:latin typeface="Montserrat"/>
                        </a:defRPr>
                      </a:pPr>
                      <a:r>
                        <a:t>413,759</a:t>
                      </a:r>
                    </a:p>
                  </a:txBody>
                  <a:tcPr>
                    <a:solidFill>
                      <a:srgbClr val="EFEFEF"/>
                    </a:solidFill>
                  </a:tcPr>
                </a:tc>
                <a:tc>
                  <a:txBody>
                    <a:bodyPr/>
                    <a:lstStyle/>
                    <a:p>
                      <a:pPr algn="ctr">
                        <a:defRPr sz="1000">
                          <a:latin typeface="Montserrat"/>
                        </a:defRPr>
                      </a:pPr>
                      <a:r>
                        <a:t>176,462</a:t>
                      </a:r>
                    </a:p>
                  </a:txBody>
                  <a:tcPr>
                    <a:solidFill>
                      <a:srgbClr val="EFEFEF"/>
                    </a:solidFill>
                  </a:tcPr>
                </a:tc>
                <a:tc>
                  <a:txBody>
                    <a:bodyPr/>
                    <a:lstStyle/>
                    <a:p>
                      <a:pPr algn="ctr">
                        <a:defRPr sz="1000">
                          <a:latin typeface="Montserrat"/>
                        </a:defRPr>
                      </a:pPr>
                      <a:r>
                        <a:t>167,670</a:t>
                      </a:r>
                    </a:p>
                  </a:txBody>
                  <a:tcPr>
                    <a:solidFill>
                      <a:srgbClr val="ECD3D9"/>
                    </a:solidFill>
                  </a:tcPr>
                </a:tc>
                <a:tc>
                  <a:txBody>
                    <a:bodyPr/>
                    <a:lstStyle/>
                    <a:p>
                      <a:pPr algn="ctr">
                        <a:defRPr sz="1000">
                          <a:latin typeface="Montserrat"/>
                        </a:defRPr>
                      </a:pPr>
                      <a:r>
                        <a:t>413,910</a:t>
                      </a:r>
                    </a:p>
                  </a:txBody>
                  <a:tcPr>
                    <a:solidFill>
                      <a:srgbClr val="ECD3D9"/>
                    </a:solidFill>
                  </a:tcPr>
                </a:tc>
                <a:tc>
                  <a:txBody>
                    <a:bodyPr/>
                    <a:lstStyle/>
                    <a:p>
                      <a:pPr algn="ctr">
                        <a:defRPr sz="1000">
                          <a:latin typeface="Montserrat"/>
                        </a:defRPr>
                      </a:pPr>
                      <a:r>
                        <a:t>40.5%</a:t>
                      </a:r>
                    </a:p>
                  </a:txBody>
                  <a:tcPr>
                    <a:solidFill>
                      <a:srgbClr val="ECD3D9"/>
                    </a:solidFill>
                  </a:tcPr>
                </a:tc>
              </a:tr>
              <a:tr h="284400">
                <a:tc>
                  <a:txBody>
                    <a:bodyPr/>
                    <a:lstStyle/>
                    <a:p>
                      <a:pPr algn="l">
                        <a:defRPr sz="1000">
                          <a:latin typeface="Montserrat"/>
                        </a:defRPr>
                      </a:pPr>
                      <a:r>
                        <a:t>UMFR Conjunto Colonia</a:t>
                      </a:r>
                    </a:p>
                  </a:txBody>
                  <a:tcPr>
                    <a:solidFill>
                      <a:srgbClr val="FFFFFF"/>
                    </a:solidFill>
                  </a:tcPr>
                </a:tc>
                <a:tc>
                  <a:txBody>
                    <a:bodyPr/>
                    <a:lstStyle/>
                    <a:p>
                      <a:pPr algn="ctr">
                        <a:defRPr sz="1000">
                          <a:latin typeface="Montserrat"/>
                        </a:defRPr>
                      </a:pPr>
                      <a:r>
                        <a:t>37,471</a:t>
                      </a:r>
                    </a:p>
                  </a:txBody>
                  <a:tcPr>
                    <a:solidFill>
                      <a:srgbClr val="FFFFFF"/>
                    </a:solidFill>
                  </a:tcPr>
                </a:tc>
                <a:tc>
                  <a:txBody>
                    <a:bodyPr/>
                    <a:lstStyle/>
                    <a:p>
                      <a:pPr algn="ctr">
                        <a:defRPr sz="1000">
                          <a:latin typeface="Montserrat"/>
                        </a:defRPr>
                      </a:pPr>
                      <a:r>
                        <a:t>4,551</a:t>
                      </a:r>
                    </a:p>
                  </a:txBody>
                  <a:tcPr>
                    <a:solidFill>
                      <a:srgbClr val="FFFFFF"/>
                    </a:solidFill>
                  </a:tcPr>
                </a:tc>
                <a:tc>
                  <a:txBody>
                    <a:bodyPr/>
                    <a:lstStyle/>
                    <a:p>
                      <a:pPr algn="ctr">
                        <a:defRPr sz="1000">
                          <a:latin typeface="Montserrat"/>
                        </a:defRPr>
                      </a:pPr>
                      <a:r>
                        <a:t>18,553</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40.3%</a:t>
                      </a:r>
                    </a:p>
                  </a:txBody>
                  <a:tcPr>
                    <a:solidFill>
                      <a:srgbClr val="ECD3D9"/>
                    </a:solidFill>
                  </a:tcPr>
                </a:tc>
              </a:tr>
              <a:tr h="284400">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161,198</a:t>
                      </a:r>
                    </a:p>
                  </a:txBody>
                  <a:tcPr>
                    <a:solidFill>
                      <a:srgbClr val="EFEFEF"/>
                    </a:solidFill>
                  </a:tcPr>
                </a:tc>
                <a:tc>
                  <a:txBody>
                    <a:bodyPr/>
                    <a:lstStyle/>
                    <a:p>
                      <a:pPr algn="ctr">
                        <a:defRPr sz="1000">
                          <a:latin typeface="Montserrat"/>
                        </a:defRPr>
                      </a:pPr>
                      <a:r>
                        <a:t>38,952</a:t>
                      </a:r>
                    </a:p>
                  </a:txBody>
                  <a:tcPr>
                    <a:solidFill>
                      <a:srgbClr val="EFEFEF"/>
                    </a:solidFill>
                  </a:tcPr>
                </a:tc>
                <a:tc>
                  <a:txBody>
                    <a:bodyPr/>
                    <a:lstStyle/>
                    <a:p>
                      <a:pPr algn="ctr">
                        <a:defRPr sz="1000">
                          <a:latin typeface="Montserrat"/>
                        </a:defRPr>
                      </a:pPr>
                      <a:r>
                        <a:t>70,463</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38.3%</a:t>
                      </a:r>
                    </a:p>
                  </a:txBody>
                  <a:tcPr>
                    <a:solidFill>
                      <a:srgbClr val="ECD3D9"/>
                    </a:solidFill>
                  </a:tcPr>
                </a:tc>
              </a:tr>
              <a:tr h="284400">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315,498</a:t>
                      </a:r>
                    </a:p>
                  </a:txBody>
                  <a:tcPr>
                    <a:solidFill>
                      <a:srgbClr val="FFFFFF"/>
                    </a:solidFill>
                  </a:tcPr>
                </a:tc>
                <a:tc>
                  <a:txBody>
                    <a:bodyPr/>
                    <a:lstStyle/>
                    <a:p>
                      <a:pPr algn="ctr">
                        <a:defRPr sz="1000">
                          <a:latin typeface="Montserrat"/>
                        </a:defRPr>
                      </a:pPr>
                      <a:r>
                        <a:t>128,149</a:t>
                      </a:r>
                    </a:p>
                  </a:txBody>
                  <a:tcPr>
                    <a:solidFill>
                      <a:srgbClr val="FFFFFF"/>
                    </a:solidFill>
                  </a:tcPr>
                </a:tc>
                <a:tc>
                  <a:txBody>
                    <a:bodyPr/>
                    <a:lstStyle/>
                    <a:p>
                      <a:pPr algn="ctr">
                        <a:defRPr sz="1000">
                          <a:latin typeface="Montserrat"/>
                        </a:defRPr>
                      </a:pPr>
                      <a:r>
                        <a:t>134,094</a:t>
                      </a:r>
                    </a:p>
                  </a:txBody>
                  <a:tcPr>
                    <a:solidFill>
                      <a:srgbClr val="ECD3D9"/>
                    </a:solidFill>
                  </a:tcPr>
                </a:tc>
                <a:tc>
                  <a:txBody>
                    <a:bodyPr/>
                    <a:lstStyle/>
                    <a:p>
                      <a:pPr algn="ctr">
                        <a:defRPr sz="1000">
                          <a:latin typeface="Montserrat"/>
                        </a:defRPr>
                      </a:pPr>
                      <a:r>
                        <a:t>381,060</a:t>
                      </a:r>
                    </a:p>
                  </a:txBody>
                  <a:tcPr>
                    <a:solidFill>
                      <a:srgbClr val="ECD3D9"/>
                    </a:solidFill>
                  </a:tcPr>
                </a:tc>
                <a:tc>
                  <a:txBody>
                    <a:bodyPr/>
                    <a:lstStyle/>
                    <a:p>
                      <a:pPr algn="ctr">
                        <a:defRPr sz="1000">
                          <a:latin typeface="Montserrat"/>
                        </a:defRPr>
                      </a:pPr>
                      <a:r>
                        <a:t>35.2%</a:t>
                      </a:r>
                    </a:p>
                  </a:txBody>
                  <a:tcPr>
                    <a:solidFill>
                      <a:srgbClr val="ECD3D9"/>
                    </a:solidFill>
                  </a:tcPr>
                </a:tc>
              </a:tr>
              <a:tr h="284400">
                <a:tc>
                  <a:txBody>
                    <a:bodyPr/>
                    <a:lstStyle/>
                    <a:p>
                      <a:pPr algn="l">
                        <a:defRPr sz="1000">
                          <a:latin typeface="Montserrat"/>
                        </a:defRPr>
                      </a:pPr>
                      <a:r>
                        <a:t>HC CMN Siglo XXI</a:t>
                      </a:r>
                    </a:p>
                  </a:txBody>
                  <a:tcPr>
                    <a:solidFill>
                      <a:srgbClr val="EFEFEF"/>
                    </a:solidFill>
                  </a:tcPr>
                </a:tc>
                <a:tc>
                  <a:txBody>
                    <a:bodyPr/>
                    <a:lstStyle/>
                    <a:p>
                      <a:pPr algn="ctr">
                        <a:defRPr sz="1000">
                          <a:latin typeface="Montserrat"/>
                        </a:defRPr>
                      </a:pPr>
                      <a:r>
                        <a:t>63,066</a:t>
                      </a:r>
                    </a:p>
                  </a:txBody>
                  <a:tcPr>
                    <a:solidFill>
                      <a:srgbClr val="EFEFEF"/>
                    </a:solidFill>
                  </a:tcPr>
                </a:tc>
                <a:tc>
                  <a:txBody>
                    <a:bodyPr/>
                    <a:lstStyle/>
                    <a:p>
                      <a:pPr algn="ctr">
                        <a:defRPr sz="1000">
                          <a:latin typeface="Montserrat"/>
                        </a:defRPr>
                      </a:pPr>
                      <a:r>
                        <a:t>18,570</a:t>
                      </a:r>
                    </a:p>
                  </a:txBody>
                  <a:tcPr>
                    <a:solidFill>
                      <a:srgbClr val="EFEFEF"/>
                    </a:solidFill>
                  </a:tcPr>
                </a:tc>
                <a:tc>
                  <a:txBody>
                    <a:bodyPr/>
                    <a:lstStyle/>
                    <a:p>
                      <a:pPr algn="ctr">
                        <a:defRPr sz="1000">
                          <a:latin typeface="Montserrat"/>
                        </a:defRPr>
                      </a:pPr>
                      <a:r>
                        <a:t>32,174</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HPSIQ San Fernando</a:t>
                      </a:r>
                    </a:p>
                  </a:txBody>
                  <a:tcPr>
                    <a:solidFill>
                      <a:srgbClr val="FFFFFF"/>
                    </a:solidFill>
                  </a:tcPr>
                </a:tc>
                <a:tc>
                  <a:txBody>
                    <a:bodyPr/>
                    <a:lstStyle/>
                    <a:p>
                      <a:pPr algn="ctr">
                        <a:defRPr sz="1000">
                          <a:latin typeface="Montserrat"/>
                        </a:defRPr>
                      </a:pPr>
                      <a:r>
                        <a:t>12,751</a:t>
                      </a:r>
                    </a:p>
                  </a:txBody>
                  <a:tcPr>
                    <a:solidFill>
                      <a:srgbClr val="FFFFFF"/>
                    </a:solidFill>
                  </a:tcPr>
                </a:tc>
                <a:tc>
                  <a:txBody>
                    <a:bodyPr/>
                    <a:lstStyle/>
                    <a:p>
                      <a:pPr algn="ctr">
                        <a:defRPr sz="1000">
                          <a:latin typeface="Montserrat"/>
                        </a:defRPr>
                      </a:pPr>
                      <a:r>
                        <a:t>2,184</a:t>
                      </a:r>
                    </a:p>
                  </a:txBody>
                  <a:tcPr>
                    <a:solidFill>
                      <a:srgbClr val="FFFFFF"/>
                    </a:solidFill>
                  </a:tcPr>
                </a:tc>
                <a:tc>
                  <a:txBody>
                    <a:bodyPr/>
                    <a:lstStyle/>
                    <a:p>
                      <a:pPr algn="ctr">
                        <a:defRPr sz="1000">
                          <a:latin typeface="Montserrat"/>
                        </a:defRPr>
                      </a:pPr>
                      <a:r>
                        <a:t>5,170</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29.5%</a:t>
                      </a:r>
                    </a:p>
                  </a:txBody>
                  <a:tcPr>
                    <a:solidFill>
                      <a:srgbClr val="ECD3D9"/>
                    </a:solidFill>
                  </a:tcPr>
                </a:tc>
              </a:tr>
              <a:tr h="284400">
                <a:tc>
                  <a:txBody>
                    <a:bodyPr/>
                    <a:lstStyle/>
                    <a:p>
                      <a:pPr algn="l">
                        <a:defRPr sz="1000">
                          <a:latin typeface="Montserrat"/>
                        </a:defRPr>
                      </a:pPr>
                      <a:r>
                        <a:t>HP CMN Siglo XXI</a:t>
                      </a:r>
                    </a:p>
                  </a:txBody>
                  <a:tcPr>
                    <a:solidFill>
                      <a:srgbClr val="EFEFEF"/>
                    </a:solidFill>
                  </a:tcPr>
                </a:tc>
                <a:tc>
                  <a:txBody>
                    <a:bodyPr/>
                    <a:lstStyle/>
                    <a:p>
                      <a:pPr algn="ctr">
                        <a:defRPr sz="1000">
                          <a:latin typeface="Montserrat"/>
                        </a:defRPr>
                      </a:pPr>
                      <a:r>
                        <a:t>97,508</a:t>
                      </a:r>
                    </a:p>
                  </a:txBody>
                  <a:tcPr>
                    <a:solidFill>
                      <a:srgbClr val="EFEFEF"/>
                    </a:solidFill>
                  </a:tcPr>
                </a:tc>
                <a:tc>
                  <a:txBody>
                    <a:bodyPr/>
                    <a:lstStyle/>
                    <a:p>
                      <a:pPr algn="ctr">
                        <a:defRPr sz="1000">
                          <a:latin typeface="Montserrat"/>
                        </a:defRPr>
                      </a:pPr>
                      <a:r>
                        <a:t>23,273</a:t>
                      </a:r>
                    </a:p>
                  </a:txBody>
                  <a:tcPr>
                    <a:solidFill>
                      <a:srgbClr val="EFEFEF"/>
                    </a:solidFill>
                  </a:tcPr>
                </a:tc>
                <a:tc>
                  <a:txBody>
                    <a:bodyPr/>
                    <a:lstStyle/>
                    <a:p>
                      <a:pPr algn="ctr">
                        <a:defRPr sz="1000">
                          <a:latin typeface="Montserrat"/>
                        </a:defRPr>
                      </a:pPr>
                      <a:r>
                        <a:t>49,938</a:t>
                      </a:r>
                    </a:p>
                  </a:txBody>
                  <a:tcPr>
                    <a:solidFill>
                      <a:srgbClr val="ECD3D9"/>
                    </a:solidFill>
                  </a:tcPr>
                </a:tc>
                <a:tc>
                  <a:txBody>
                    <a:bodyPr/>
                    <a:lstStyle/>
                    <a:p>
                      <a:pPr algn="ctr">
                        <a:defRPr sz="1000">
                          <a:latin typeface="Montserrat"/>
                        </a:defRPr>
                      </a:pPr>
                      <a:r>
                        <a:t>190,530</a:t>
                      </a:r>
                    </a:p>
                  </a:txBody>
                  <a:tcPr>
                    <a:solidFill>
                      <a:srgbClr val="ECD3D9"/>
                    </a:solidFill>
                  </a:tcPr>
                </a:tc>
                <a:tc>
                  <a:txBody>
                    <a:bodyPr/>
                    <a:lstStyle/>
                    <a:p>
                      <a:pPr algn="ctr">
                        <a:defRPr sz="1000">
                          <a:latin typeface="Montserrat"/>
                        </a:defRPr>
                      </a:pPr>
                      <a:r>
                        <a:t>26.2%</a:t>
                      </a:r>
                    </a:p>
                  </a:txBody>
                  <a:tcPr>
                    <a:solidFill>
                      <a:srgbClr val="ECD3D9"/>
                    </a:solidFill>
                  </a:tcPr>
                </a:tc>
              </a:tr>
              <a:tr h="284400">
                <a:tc>
                  <a:txBody>
                    <a:bodyPr/>
                    <a:lstStyle/>
                    <a:p>
                      <a:pPr algn="l">
                        <a:defRPr sz="1000">
                          <a:latin typeface="Montserrat"/>
                        </a:defRPr>
                      </a:pPr>
                      <a:r>
                        <a:t>HINF CMN La Raza</a:t>
                      </a:r>
                    </a:p>
                  </a:txBody>
                  <a:tcPr>
                    <a:solidFill>
                      <a:srgbClr val="FFFFFF"/>
                    </a:solidFill>
                  </a:tcPr>
                </a:tc>
                <a:tc>
                  <a:txBody>
                    <a:bodyPr/>
                    <a:lstStyle/>
                    <a:p>
                      <a:pPr algn="ctr">
                        <a:defRPr sz="1000">
                          <a:latin typeface="Montserrat"/>
                        </a:defRPr>
                      </a:pPr>
                      <a:r>
                        <a:t>17,352</a:t>
                      </a:r>
                    </a:p>
                  </a:txBody>
                  <a:tcPr>
                    <a:solidFill>
                      <a:srgbClr val="FFFFFF"/>
                    </a:solidFill>
                  </a:tcPr>
                </a:tc>
                <a:tc>
                  <a:txBody>
                    <a:bodyPr/>
                    <a:lstStyle/>
                    <a:p>
                      <a:pPr algn="ctr">
                        <a:defRPr sz="1000">
                          <a:latin typeface="Montserrat"/>
                        </a:defRPr>
                      </a:pPr>
                      <a:r>
                        <a:t>4,110</a:t>
                      </a:r>
                    </a:p>
                  </a:txBody>
                  <a:tcPr>
                    <a:solidFill>
                      <a:srgbClr val="FFFFFF"/>
                    </a:solidFill>
                  </a:tcPr>
                </a:tc>
                <a:tc>
                  <a:txBody>
                    <a:bodyPr/>
                    <a:lstStyle/>
                    <a:p>
                      <a:pPr algn="ctr">
                        <a:defRPr sz="1000">
                          <a:latin typeface="Montserrat"/>
                        </a:defRPr>
                      </a:pPr>
                      <a:r>
                        <a:t>6,599</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20.1%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2,456,312</a:t>
                      </a:r>
                    </a:p>
                  </a:txBody>
                  <a:tcPr>
                    <a:solidFill>
                      <a:srgbClr val="D3E9E7"/>
                    </a:solidFill>
                  </a:tcPr>
                </a:tc>
                <a:tc>
                  <a:txBody>
                    <a:bodyPr/>
                    <a:lstStyle/>
                    <a:p>
                      <a:pPr algn="ctr">
                        <a:defRPr sz="1000" b="1">
                          <a:solidFill>
                            <a:srgbClr val="006556"/>
                          </a:solidFill>
                          <a:latin typeface="Montserrat"/>
                        </a:defRPr>
                      </a:pPr>
                      <a:r>
                        <a:t>782,171</a:t>
                      </a:r>
                    </a:p>
                  </a:txBody>
                  <a:tcPr>
                    <a:solidFill>
                      <a:srgbClr val="D3E9E7"/>
                    </a:solidFill>
                  </a:tcPr>
                </a:tc>
                <a:tc>
                  <a:txBody>
                    <a:bodyPr/>
                    <a:lstStyle/>
                    <a:p>
                      <a:pPr algn="ctr">
                        <a:defRPr sz="1000" b="1">
                          <a:solidFill>
                            <a:srgbClr val="FFFFFF"/>
                          </a:solidFill>
                          <a:latin typeface="Montserrat"/>
                        </a:defRPr>
                      </a:pPr>
                      <a:r>
                        <a:t>1,098,057</a:t>
                      </a:r>
                    </a:p>
                  </a:txBody>
                  <a:tcPr>
                    <a:solidFill>
                      <a:srgbClr val="9F2241"/>
                    </a:solidFill>
                  </a:tcPr>
                </a:tc>
                <a:tc>
                  <a:txBody>
                    <a:bodyPr/>
                    <a:lstStyle/>
                    <a:p>
                      <a:pPr algn="ctr">
                        <a:defRPr sz="1000" b="1">
                          <a:solidFill>
                            <a:srgbClr val="FFFFFF"/>
                          </a:solidFill>
                          <a:latin typeface="Montserrat"/>
                        </a:defRPr>
                      </a:pPr>
                      <a:r>
                        <a:t>2,714,960</a:t>
                      </a:r>
                    </a:p>
                  </a:txBody>
                  <a:tcPr>
                    <a:solidFill>
                      <a:srgbClr val="9F2241"/>
                    </a:solidFill>
                  </a:tcPr>
                </a:tc>
                <a:tc>
                  <a:txBody>
                    <a:bodyPr/>
                    <a:lstStyle/>
                    <a:p>
                      <a:pPr algn="ctr">
                        <a:defRPr sz="1000" b="1">
                          <a:solidFill>
                            <a:srgbClr val="FFFFFF"/>
                          </a:solidFill>
                          <a:latin typeface="Montserrat"/>
                        </a:defRPr>
                      </a:pPr>
                      <a:r>
                        <a:t>40.4%</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5,069,625</a:t>
                      </a:r>
                    </a:p>
                  </a:txBody>
                  <a:tcPr>
                    <a:solidFill>
                      <a:srgbClr val="D3E9E7"/>
                    </a:solidFill>
                  </a:tcPr>
                </a:tc>
                <a:tc>
                  <a:txBody>
                    <a:bodyPr/>
                    <a:lstStyle/>
                    <a:p>
                      <a:pPr algn="ctr">
                        <a:defRPr sz="1000" b="1">
                          <a:solidFill>
                            <a:srgbClr val="006556"/>
                          </a:solidFill>
                          <a:latin typeface="Montserrat"/>
                        </a:defRPr>
                      </a:pPr>
                      <a:r>
                        <a:t>1,459,609</a:t>
                      </a:r>
                    </a:p>
                  </a:txBody>
                  <a:tcPr>
                    <a:solidFill>
                      <a:srgbClr val="D3E9E7"/>
                    </a:solidFill>
                  </a:tcPr>
                </a:tc>
                <a:tc>
                  <a:txBody>
                    <a:bodyPr/>
                    <a:lstStyle/>
                    <a:p>
                      <a:pPr algn="ctr">
                        <a:defRPr sz="1000" b="1">
                          <a:solidFill>
                            <a:srgbClr val="FFFFFF"/>
                          </a:solidFill>
                          <a:latin typeface="Montserrat"/>
                        </a:defRPr>
                      </a:pPr>
                      <a:r>
                        <a:t>2,127,915</a:t>
                      </a:r>
                    </a:p>
                  </a:txBody>
                  <a:tcPr>
                    <a:solidFill>
                      <a:srgbClr val="9F2241"/>
                    </a:solidFill>
                  </a:tcPr>
                </a:tc>
                <a:tc>
                  <a:txBody>
                    <a:bodyPr/>
                    <a:lstStyle/>
                    <a:p>
                      <a:pPr algn="ctr">
                        <a:defRPr sz="1000" b="1">
                          <a:solidFill>
                            <a:srgbClr val="FFFFFF"/>
                          </a:solidFill>
                          <a:latin typeface="Montserrat"/>
                        </a:defRPr>
                      </a:pPr>
                      <a:r>
                        <a:t>5,461,220</a:t>
                      </a:r>
                    </a:p>
                  </a:txBody>
                  <a:tcPr>
                    <a:solidFill>
                      <a:srgbClr val="9F2241"/>
                    </a:solidFill>
                  </a:tcPr>
                </a:tc>
                <a:tc>
                  <a:txBody>
                    <a:bodyPr/>
                    <a:lstStyle/>
                    <a:p>
                      <a:pPr algn="ctr">
                        <a:defRPr sz="1000" b="1">
                          <a:solidFill>
                            <a:srgbClr val="FFFFFF"/>
                          </a:solidFill>
                          <a:latin typeface="Montserrat"/>
                        </a:defRPr>
                      </a:pPr>
                      <a:r>
                        <a:t>39.0%</a:t>
                      </a:r>
                    </a:p>
                  </a:txBody>
                  <a:tcPr>
                    <a:solidFill>
                      <a:srgbClr val="9F2241"/>
                    </a:solidFill>
                  </a:tcPr>
                </a:tc>
              </a:tr>
            </a:tbl>
          </a:graphicData>
        </a:graphic>
      </p:graphicFrame>
      <p:graphicFrame>
        <p:nvGraphicFramePr>
          <p:cNvPr id="8" name="Chart 7"/>
          <p:cNvGraphicFramePr>
            <a:graphicFrameLocks noGrp="1"/>
          </p:cNvGraphicFramePr>
          <p:nvPr/>
        </p:nvGraphicFramePr>
        <p:xfrm>
          <a:off x="4780800" y="70380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7758000"/>
            <a:ext cx="1800000" cy="360000"/>
          </a:xfrm>
          <a:prstGeom prst="rect">
            <a:avLst/>
          </a:prstGeom>
          <a:noFill/>
        </p:spPr>
        <p:txBody>
          <a:bodyPr wrap="none">
            <a:spAutoFit/>
          </a:bodyPr>
          <a:lstStyle/>
          <a:p>
            <a:pPr algn="ctr"/>
            <a:r>
              <a:rPr sz="2400" b="1">
                <a:solidFill>
                  <a:srgbClr val="9F2241"/>
                </a:solidFill>
                <a:latin typeface="Montserrat"/>
              </a:rPr>
              <a:t>39.0%</a:t>
            </a:r>
          </a:p>
        </p:txBody>
      </p:sp>
      <p:sp>
        <p:nvSpPr>
          <p:cNvPr id="10" name="TextBox 9"/>
          <p:cNvSpPr txBox="1"/>
          <p:nvPr/>
        </p:nvSpPr>
        <p:spPr>
          <a:xfrm>
            <a:off x="4780800" y="865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7038000"/>
            <a:ext cx="2854800" cy="1198800"/>
          </a:xfrm>
          <a:prstGeom prst="rect">
            <a:avLst/>
          </a:prstGeom>
          <a:noFill/>
        </p:spPr>
        <p:txBody>
          <a:bodyPr wrap="square">
            <a:spAutoFit/>
          </a:bodyPr>
          <a:lstStyle/>
          <a:p>
            <a:pPr algn="ctr">
              <a:defRPr sz="3600" b="1">
                <a:solidFill>
                  <a:srgbClr val="9F2241"/>
                </a:solidFill>
                <a:latin typeface="Montserrat"/>
              </a:defRPr>
            </a:pPr>
            <a:r>
              <a:t>5,461,220 </a:t>
            </a:r>
            <a:br/>
            <a:r>
              <a:t>Meta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6" name="Table 5"/>
          <p:cNvGraphicFramePr>
            <a:graphicFrameLocks noGrp="1"/>
          </p:cNvGraphicFramePr>
          <p:nvPr/>
        </p:nvGraphicFramePr>
        <p:xfrm>
          <a:off x="144000" y="1137600"/>
          <a:ext cx="7340399" cy="3981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HC CMN Siglo XXI</a:t>
                      </a:r>
                    </a:p>
                  </a:txBody>
                  <a:tcPr>
                    <a:solidFill>
                      <a:srgbClr val="FFFFFF"/>
                    </a:solidFill>
                  </a:tcPr>
                </a:tc>
                <a:tc>
                  <a:txBody>
                    <a:bodyPr/>
                    <a:lstStyle/>
                    <a:p>
                      <a:pPr algn="ctr">
                        <a:defRPr sz="1000">
                          <a:latin typeface="Montserrat"/>
                        </a:defRPr>
                      </a:pPr>
                      <a:r>
                        <a:t>3,901</a:t>
                      </a:r>
                    </a:p>
                  </a:txBody>
                  <a:tcPr>
                    <a:solidFill>
                      <a:srgbClr val="FFFFFF"/>
                    </a:solidFill>
                  </a:tcPr>
                </a:tc>
                <a:tc>
                  <a:txBody>
                    <a:bodyPr/>
                    <a:lstStyle/>
                    <a:p>
                      <a:pPr algn="ctr">
                        <a:defRPr sz="1000">
                          <a:latin typeface="Montserrat"/>
                        </a:defRPr>
                      </a:pPr>
                      <a:r>
                        <a:t>2,699</a:t>
                      </a:r>
                    </a:p>
                  </a:txBody>
                  <a:tcPr>
                    <a:solidFill>
                      <a:srgbClr val="FFFFFF"/>
                    </a:solidFill>
                  </a:tcPr>
                </a:tc>
                <a:tc>
                  <a:txBody>
                    <a:bodyPr/>
                    <a:lstStyle/>
                    <a:p>
                      <a:pPr algn="ctr">
                        <a:defRPr sz="1000">
                          <a:latin typeface="Montserrat"/>
                        </a:defRPr>
                      </a:pPr>
                      <a:r>
                        <a:t>2,997</a:t>
                      </a:r>
                    </a:p>
                  </a:txBody>
                  <a:tcPr>
                    <a:solidFill>
                      <a:srgbClr val="ECD3D9"/>
                    </a:solidFill>
                  </a:tcPr>
                </a:tc>
                <a:tc>
                  <a:txBody>
                    <a:bodyPr/>
                    <a:lstStyle/>
                    <a:p>
                      <a:pPr algn="ctr">
                        <a:defRPr sz="1000">
                          <a:latin typeface="Montserrat"/>
                        </a:defRPr>
                      </a:pPr>
                      <a:r>
                        <a:t>7,045</a:t>
                      </a:r>
                    </a:p>
                  </a:txBody>
                  <a:tcPr>
                    <a:solidFill>
                      <a:srgbClr val="ECD3D9"/>
                    </a:solidFill>
                  </a:tcPr>
                </a:tc>
                <a:tc>
                  <a:txBody>
                    <a:bodyPr/>
                    <a:lstStyle/>
                    <a:p>
                      <a:pPr algn="ctr">
                        <a:defRPr sz="1000">
                          <a:latin typeface="Montserrat"/>
                        </a:defRPr>
                      </a:pPr>
                      <a:r>
                        <a:t>42.5%</a:t>
                      </a:r>
                    </a:p>
                  </a:txBody>
                  <a:tcPr>
                    <a:solidFill>
                      <a:srgbClr val="ECD3D9"/>
                    </a:solidFill>
                  </a:tcPr>
                </a:tc>
              </a:tr>
              <a:tr h="284400">
                <a:tc>
                  <a:txBody>
                    <a:bodyPr/>
                    <a:lstStyle/>
                    <a:p>
                      <a:pPr algn="l">
                        <a:defRPr sz="1000">
                          <a:latin typeface="Montserrat"/>
                        </a:defRPr>
                      </a:pPr>
                      <a:r>
                        <a:t>HGO 3 CMN La Raza</a:t>
                      </a:r>
                    </a:p>
                  </a:txBody>
                  <a:tcPr>
                    <a:solidFill>
                      <a:srgbClr val="EFEFEF"/>
                    </a:solidFill>
                  </a:tcPr>
                </a:tc>
                <a:tc>
                  <a:txBody>
                    <a:bodyPr/>
                    <a:lstStyle/>
                    <a:p>
                      <a:pPr algn="ctr">
                        <a:defRPr sz="1000">
                          <a:latin typeface="Montserrat"/>
                        </a:defRPr>
                      </a:pPr>
                      <a:r>
                        <a:t>11,195</a:t>
                      </a:r>
                    </a:p>
                  </a:txBody>
                  <a:tcPr>
                    <a:solidFill>
                      <a:srgbClr val="EFEFEF"/>
                    </a:solidFill>
                  </a:tcPr>
                </a:tc>
                <a:tc>
                  <a:txBody>
                    <a:bodyPr/>
                    <a:lstStyle/>
                    <a:p>
                      <a:pPr algn="ctr">
                        <a:defRPr sz="1000">
                          <a:latin typeface="Montserrat"/>
                        </a:defRPr>
                      </a:pPr>
                      <a:r>
                        <a:t>1,745</a:t>
                      </a:r>
                    </a:p>
                  </a:txBody>
                  <a:tcPr>
                    <a:solidFill>
                      <a:srgbClr val="EFEFEF"/>
                    </a:solidFill>
                  </a:tcPr>
                </a:tc>
                <a:tc>
                  <a:txBody>
                    <a:bodyPr/>
                    <a:lstStyle/>
                    <a:p>
                      <a:pPr algn="ctr">
                        <a:defRPr sz="1000">
                          <a:latin typeface="Montserrat"/>
                        </a:defRPr>
                      </a:pPr>
                      <a:r>
                        <a:t>4,685</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38.8%</a:t>
                      </a:r>
                    </a:p>
                  </a:txBody>
                  <a:tcPr>
                    <a:solidFill>
                      <a:srgbClr val="ECD3D9"/>
                    </a:solidFill>
                  </a:tcPr>
                </a:tc>
              </a:tr>
              <a:tr h="284400">
                <a:tc>
                  <a:txBody>
                    <a:bodyPr/>
                    <a:lstStyle/>
                    <a:p>
                      <a:pPr algn="l">
                        <a:defRPr sz="1000">
                          <a:latin typeface="Montserrat"/>
                        </a:defRPr>
                      </a:pPr>
                      <a:r>
                        <a:t>HES CMN Siglo XXI</a:t>
                      </a:r>
                    </a:p>
                  </a:txBody>
                  <a:tcPr>
                    <a:solidFill>
                      <a:srgbClr val="FFFFFF"/>
                    </a:solidFill>
                  </a:tcPr>
                </a:tc>
                <a:tc>
                  <a:txBody>
                    <a:bodyPr/>
                    <a:lstStyle/>
                    <a:p>
                      <a:pPr algn="ctr">
                        <a:defRPr sz="1000">
                          <a:latin typeface="Montserrat"/>
                        </a:defRPr>
                      </a:pPr>
                      <a:r>
                        <a:t>20,484</a:t>
                      </a:r>
                    </a:p>
                  </a:txBody>
                  <a:tcPr>
                    <a:solidFill>
                      <a:srgbClr val="FFFFFF"/>
                    </a:solidFill>
                  </a:tcPr>
                </a:tc>
                <a:tc>
                  <a:txBody>
                    <a:bodyPr/>
                    <a:lstStyle/>
                    <a:p>
                      <a:pPr algn="ctr">
                        <a:defRPr sz="1000">
                          <a:latin typeface="Montserrat"/>
                        </a:defRPr>
                      </a:pPr>
                      <a:r>
                        <a:t>8,109</a:t>
                      </a:r>
                    </a:p>
                  </a:txBody>
                  <a:tcPr>
                    <a:solidFill>
                      <a:srgbClr val="FFFFFF"/>
                    </a:solidFill>
                  </a:tcPr>
                </a:tc>
                <a:tc>
                  <a:txBody>
                    <a:bodyPr/>
                    <a:lstStyle/>
                    <a:p>
                      <a:pPr algn="ctr">
                        <a:defRPr sz="1000">
                          <a:latin typeface="Montserrat"/>
                        </a:defRPr>
                      </a:pPr>
                      <a:r>
                        <a:t>11,248</a:t>
                      </a:r>
                    </a:p>
                  </a:txBody>
                  <a:tcPr>
                    <a:solidFill>
                      <a:srgbClr val="ECD3D9"/>
                    </a:solidFill>
                  </a:tcPr>
                </a:tc>
                <a:tc>
                  <a:txBody>
                    <a:bodyPr/>
                    <a:lstStyle/>
                    <a:p>
                      <a:pPr algn="ctr">
                        <a:defRPr sz="1000">
                          <a:latin typeface="Montserrat"/>
                        </a:defRPr>
                      </a:pPr>
                      <a:r>
                        <a:t>32,775</a:t>
                      </a:r>
                    </a:p>
                  </a:txBody>
                  <a:tcPr>
                    <a:solidFill>
                      <a:srgbClr val="ECD3D9"/>
                    </a:solidFill>
                  </a:tcPr>
                </a:tc>
                <a:tc>
                  <a:txBody>
                    <a:bodyPr/>
                    <a:lstStyle/>
                    <a:p>
                      <a:pPr algn="ctr">
                        <a:defRPr sz="1000">
                          <a:latin typeface="Montserrat"/>
                        </a:defRPr>
                      </a:pPr>
                      <a:r>
                        <a:t>34.3%</a:t>
                      </a:r>
                    </a:p>
                  </a:txBody>
                  <a:tcPr>
                    <a:solidFill>
                      <a:srgbClr val="ECD3D9"/>
                    </a:solidFill>
                  </a:tcPr>
                </a:tc>
              </a:tr>
              <a:tr h="284400">
                <a:tc>
                  <a:txBody>
                    <a:bodyPr/>
                    <a:lstStyle/>
                    <a:p>
                      <a:pPr algn="l">
                        <a:defRPr sz="1000">
                          <a:latin typeface="Montserrat"/>
                        </a:defRPr>
                      </a:pPr>
                      <a:r>
                        <a:t>HTO Magdalena de las Salinas.</a:t>
                      </a:r>
                    </a:p>
                  </a:txBody>
                  <a:tcPr>
                    <a:solidFill>
                      <a:srgbClr val="EFEFEF"/>
                    </a:solidFill>
                  </a:tcPr>
                </a:tc>
                <a:tc>
                  <a:txBody>
                    <a:bodyPr/>
                    <a:lstStyle/>
                    <a:p>
                      <a:pPr algn="ctr">
                        <a:defRPr sz="1000">
                          <a:latin typeface="Montserrat"/>
                        </a:defRPr>
                      </a:pPr>
                      <a:r>
                        <a:t>22,077</a:t>
                      </a:r>
                    </a:p>
                  </a:txBody>
                  <a:tcPr>
                    <a:solidFill>
                      <a:srgbClr val="EFEFEF"/>
                    </a:solidFill>
                  </a:tcPr>
                </a:tc>
                <a:tc>
                  <a:txBody>
                    <a:bodyPr/>
                    <a:lstStyle/>
                    <a:p>
                      <a:pPr algn="ctr">
                        <a:defRPr sz="1000">
                          <a:latin typeface="Montserrat"/>
                        </a:defRPr>
                      </a:pPr>
                      <a:r>
                        <a:t>5,440</a:t>
                      </a:r>
                    </a:p>
                  </a:txBody>
                  <a:tcPr>
                    <a:solidFill>
                      <a:srgbClr val="EFEFEF"/>
                    </a:solidFill>
                  </a:tcPr>
                </a:tc>
                <a:tc>
                  <a:txBody>
                    <a:bodyPr/>
                    <a:lstStyle/>
                    <a:p>
                      <a:pPr algn="ctr">
                        <a:defRPr sz="1000">
                          <a:latin typeface="Montserrat"/>
                        </a:defRPr>
                      </a:pPr>
                      <a:r>
                        <a:t>8,606</a:t>
                      </a:r>
                    </a:p>
                  </a:txBody>
                  <a:tcPr>
                    <a:solidFill>
                      <a:srgbClr val="ECD3D9"/>
                    </a:solidFill>
                  </a:tcPr>
                </a:tc>
                <a:tc>
                  <a:txBody>
                    <a:bodyPr/>
                    <a:lstStyle/>
                    <a:p>
                      <a:pPr algn="ctr">
                        <a:defRPr sz="1000">
                          <a:latin typeface="Montserrat"/>
                        </a:defRPr>
                      </a:pPr>
                      <a:r>
                        <a:t>27,600</a:t>
                      </a:r>
                    </a:p>
                  </a:txBody>
                  <a:tcPr>
                    <a:solidFill>
                      <a:srgbClr val="ECD3D9"/>
                    </a:solidFill>
                  </a:tcPr>
                </a:tc>
                <a:tc>
                  <a:txBody>
                    <a:bodyPr/>
                    <a:lstStyle/>
                    <a:p>
                      <a:pPr algn="ctr">
                        <a:defRPr sz="1000">
                          <a:latin typeface="Montserrat"/>
                        </a:defRPr>
                      </a:pPr>
                      <a:r>
                        <a:t>31.2%</a:t>
                      </a:r>
                    </a:p>
                  </a:txBody>
                  <a:tcPr>
                    <a:solidFill>
                      <a:srgbClr val="ECD3D9"/>
                    </a:solidFill>
                  </a:tcPr>
                </a:tc>
              </a:tr>
              <a:tr h="284400">
                <a:tc>
                  <a:txBody>
                    <a:bodyPr/>
                    <a:lstStyle/>
                    <a:p>
                      <a:pPr algn="l">
                        <a:defRPr sz="1000">
                          <a:latin typeface="Montserrat"/>
                        </a:defRPr>
                      </a:pPr>
                      <a:r>
                        <a:t>HG CMN La Raza.</a:t>
                      </a:r>
                    </a:p>
                  </a:txBody>
                  <a:tcPr>
                    <a:solidFill>
                      <a:srgbClr val="FFFFFF"/>
                    </a:solidFill>
                  </a:tcPr>
                </a:tc>
                <a:tc>
                  <a:txBody>
                    <a:bodyPr/>
                    <a:lstStyle/>
                    <a:p>
                      <a:pPr algn="ctr">
                        <a:defRPr sz="1000">
                          <a:latin typeface="Montserrat"/>
                        </a:defRPr>
                      </a:pPr>
                      <a:r>
                        <a:t>23,736</a:t>
                      </a:r>
                    </a:p>
                  </a:txBody>
                  <a:tcPr>
                    <a:solidFill>
                      <a:srgbClr val="FFFFFF"/>
                    </a:solidFill>
                  </a:tcPr>
                </a:tc>
                <a:tc>
                  <a:txBody>
                    <a:bodyPr/>
                    <a:lstStyle/>
                    <a:p>
                      <a:pPr algn="ctr">
                        <a:defRPr sz="1000">
                          <a:latin typeface="Montserrat"/>
                        </a:defRPr>
                      </a:pPr>
                      <a:r>
                        <a:t>9,151</a:t>
                      </a:r>
                    </a:p>
                  </a:txBody>
                  <a:tcPr>
                    <a:solidFill>
                      <a:srgbClr val="FFFFFF"/>
                    </a:solidFill>
                  </a:tcPr>
                </a:tc>
                <a:tc>
                  <a:txBody>
                    <a:bodyPr/>
                    <a:lstStyle/>
                    <a:p>
                      <a:pPr algn="ctr">
                        <a:defRPr sz="1000">
                          <a:latin typeface="Montserrat"/>
                        </a:defRPr>
                      </a:pPr>
                      <a:r>
                        <a:t>10,374</a:t>
                      </a:r>
                    </a:p>
                  </a:txBody>
                  <a:tcPr>
                    <a:solidFill>
                      <a:srgbClr val="ECD3D9"/>
                    </a:solidFill>
                  </a:tcPr>
                </a:tc>
                <a:tc>
                  <a:txBody>
                    <a:bodyPr/>
                    <a:lstStyle/>
                    <a:p>
                      <a:pPr algn="ctr">
                        <a:defRPr sz="1000">
                          <a:latin typeface="Montserrat"/>
                        </a:defRPr>
                      </a:pPr>
                      <a:r>
                        <a:t>34,500</a:t>
                      </a:r>
                    </a:p>
                  </a:txBody>
                  <a:tcPr>
                    <a:solidFill>
                      <a:srgbClr val="ECD3D9"/>
                    </a:solidFill>
                  </a:tcPr>
                </a:tc>
                <a:tc>
                  <a:txBody>
                    <a:bodyPr/>
                    <a:lstStyle/>
                    <a:p>
                      <a:pPr algn="ctr">
                        <a:defRPr sz="1000">
                          <a:latin typeface="Montserrat"/>
                        </a:defRPr>
                      </a:pPr>
                      <a:r>
                        <a:t>30.1%</a:t>
                      </a:r>
                    </a:p>
                  </a:txBody>
                  <a:tcPr>
                    <a:solidFill>
                      <a:srgbClr val="ECD3D9"/>
                    </a:solidFill>
                  </a:tcPr>
                </a:tc>
              </a:tr>
              <a:tr h="284400">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16,488</a:t>
                      </a:r>
                    </a:p>
                  </a:txBody>
                  <a:tcPr>
                    <a:solidFill>
                      <a:srgbClr val="EFEFEF"/>
                    </a:solidFill>
                  </a:tcPr>
                </a:tc>
                <a:tc>
                  <a:txBody>
                    <a:bodyPr/>
                    <a:lstStyle/>
                    <a:p>
                      <a:pPr algn="ctr">
                        <a:defRPr sz="1000">
                          <a:latin typeface="Montserrat"/>
                        </a:defRPr>
                      </a:pPr>
                      <a:r>
                        <a:t>5,724</a:t>
                      </a:r>
                    </a:p>
                  </a:txBody>
                  <a:tcPr>
                    <a:solidFill>
                      <a:srgbClr val="EFEFEF"/>
                    </a:solidFill>
                  </a:tcPr>
                </a:tc>
                <a:tc>
                  <a:txBody>
                    <a:bodyPr/>
                    <a:lstStyle/>
                    <a:p>
                      <a:pPr algn="ctr">
                        <a:defRPr sz="1000">
                          <a:latin typeface="Montserrat"/>
                        </a:defRPr>
                      </a:pPr>
                      <a:r>
                        <a:t>5,781</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27.9%</a:t>
                      </a:r>
                    </a:p>
                  </a:txBody>
                  <a:tcPr>
                    <a:solidFill>
                      <a:srgbClr val="ECD3D9"/>
                    </a:solidFill>
                  </a:tcPr>
                </a:tc>
              </a:tr>
              <a:tr h="284400">
                <a:tc>
                  <a:txBody>
                    <a:bodyPr/>
                    <a:lstStyle/>
                    <a:p>
                      <a:pPr algn="l">
                        <a:defRPr sz="1000">
                          <a:latin typeface="Montserrat"/>
                        </a:defRPr>
                      </a:pPr>
                      <a:r>
                        <a:t>HONCO CMN Siglo XXI</a:t>
                      </a:r>
                    </a:p>
                  </a:txBody>
                  <a:tcPr>
                    <a:solidFill>
                      <a:srgbClr val="FFFFFF"/>
                    </a:solidFill>
                  </a:tcPr>
                </a:tc>
                <a:tc>
                  <a:txBody>
                    <a:bodyPr/>
                    <a:lstStyle/>
                    <a:p>
                      <a:pPr algn="ctr">
                        <a:defRPr sz="1000">
                          <a:latin typeface="Montserrat"/>
                        </a:defRPr>
                      </a:pPr>
                      <a:r>
                        <a:t>11,109</a:t>
                      </a:r>
                    </a:p>
                  </a:txBody>
                  <a:tcPr>
                    <a:solidFill>
                      <a:srgbClr val="FFFFFF"/>
                    </a:solidFill>
                  </a:tcPr>
                </a:tc>
                <a:tc>
                  <a:txBody>
                    <a:bodyPr/>
                    <a:lstStyle/>
                    <a:p>
                      <a:pPr algn="ctr">
                        <a:defRPr sz="1000">
                          <a:latin typeface="Montserrat"/>
                        </a:defRPr>
                      </a:pPr>
                      <a:r>
                        <a:t>4,409</a:t>
                      </a:r>
                    </a:p>
                  </a:txBody>
                  <a:tcPr>
                    <a:solidFill>
                      <a:srgbClr val="FFFFFF"/>
                    </a:solidFill>
                  </a:tcPr>
                </a:tc>
                <a:tc>
                  <a:txBody>
                    <a:bodyPr/>
                    <a:lstStyle/>
                    <a:p>
                      <a:pPr algn="ctr">
                        <a:defRPr sz="1000">
                          <a:latin typeface="Montserrat"/>
                        </a:defRPr>
                      </a:pPr>
                      <a:r>
                        <a:t>4,618</a:t>
                      </a:r>
                    </a:p>
                  </a:txBody>
                  <a:tcPr>
                    <a:solidFill>
                      <a:srgbClr val="ECD3D9"/>
                    </a:solidFill>
                  </a:tcPr>
                </a:tc>
                <a:tc>
                  <a:txBody>
                    <a:bodyPr/>
                    <a:lstStyle/>
                    <a:p>
                      <a:pPr algn="ctr">
                        <a:defRPr sz="1000">
                          <a:latin typeface="Montserrat"/>
                        </a:defRPr>
                      </a:pPr>
                      <a:r>
                        <a:t>18,250</a:t>
                      </a:r>
                    </a:p>
                  </a:txBody>
                  <a:tcPr>
                    <a:solidFill>
                      <a:srgbClr val="ECD3D9"/>
                    </a:solidFill>
                  </a:tcPr>
                </a:tc>
                <a:tc>
                  <a:txBody>
                    <a:bodyPr/>
                    <a:lstStyle/>
                    <a:p>
                      <a:pPr algn="ctr">
                        <a:defRPr sz="1000">
                          <a:latin typeface="Montserrat"/>
                        </a:defRPr>
                      </a:pPr>
                      <a:r>
                        <a:t>25.3%</a:t>
                      </a:r>
                    </a:p>
                  </a:txBody>
                  <a:tcPr>
                    <a:solidFill>
                      <a:srgbClr val="ECD3D9"/>
                    </a:solidFill>
                  </a:tcPr>
                </a:tc>
              </a:tr>
              <a:tr h="284400">
                <a:tc>
                  <a:txBody>
                    <a:bodyPr/>
                    <a:lstStyle/>
                    <a:p>
                      <a:pPr algn="l">
                        <a:defRPr sz="1000">
                          <a:latin typeface="Montserrat"/>
                        </a:defRPr>
                      </a:pPr>
                      <a:r>
                        <a:t>HORTO Magdalena de las Salinas</a:t>
                      </a:r>
                    </a:p>
                  </a:txBody>
                  <a:tcPr>
                    <a:solidFill>
                      <a:srgbClr val="EFEFEF"/>
                    </a:solidFill>
                  </a:tcPr>
                </a:tc>
                <a:tc>
                  <a:txBody>
                    <a:bodyPr/>
                    <a:lstStyle/>
                    <a:p>
                      <a:pPr algn="ctr">
                        <a:defRPr sz="1000">
                          <a:latin typeface="Montserrat"/>
                        </a:defRPr>
                      </a:pPr>
                      <a:r>
                        <a:t>14,007</a:t>
                      </a:r>
                    </a:p>
                  </a:txBody>
                  <a:tcPr>
                    <a:solidFill>
                      <a:srgbClr val="EFEFEF"/>
                    </a:solidFill>
                  </a:tcPr>
                </a:tc>
                <a:tc>
                  <a:txBody>
                    <a:bodyPr/>
                    <a:lstStyle/>
                    <a:p>
                      <a:pPr algn="ctr">
                        <a:defRPr sz="1000">
                          <a:latin typeface="Montserrat"/>
                        </a:defRPr>
                      </a:pPr>
                      <a:r>
                        <a:t>2,510</a:t>
                      </a:r>
                    </a:p>
                  </a:txBody>
                  <a:tcPr>
                    <a:solidFill>
                      <a:srgbClr val="EFEFEF"/>
                    </a:solidFill>
                  </a:tcPr>
                </a:tc>
                <a:tc>
                  <a:txBody>
                    <a:bodyPr/>
                    <a:lstStyle/>
                    <a:p>
                      <a:pPr algn="ctr">
                        <a:defRPr sz="1000">
                          <a:latin typeface="Montserrat"/>
                        </a:defRPr>
                      </a:pPr>
                      <a:r>
                        <a:t>5,226</a:t>
                      </a:r>
                    </a:p>
                  </a:txBody>
                  <a:tcPr>
                    <a:solidFill>
                      <a:srgbClr val="ECD3D9"/>
                    </a:solidFill>
                  </a:tcPr>
                </a:tc>
                <a:tc>
                  <a:txBody>
                    <a:bodyPr/>
                    <a:lstStyle/>
                    <a:p>
                      <a:pPr algn="ctr">
                        <a:defRPr sz="1000">
                          <a:latin typeface="Montserrat"/>
                        </a:defRPr>
                      </a:pPr>
                      <a:r>
                        <a:t>25,550</a:t>
                      </a:r>
                    </a:p>
                  </a:txBody>
                  <a:tcPr>
                    <a:solidFill>
                      <a:srgbClr val="ECD3D9"/>
                    </a:solidFill>
                  </a:tcPr>
                </a:tc>
                <a:tc>
                  <a:txBody>
                    <a:bodyPr/>
                    <a:lstStyle/>
                    <a:p>
                      <a:pPr algn="ctr">
                        <a:defRPr sz="1000">
                          <a:latin typeface="Montserrat"/>
                        </a:defRPr>
                      </a:pPr>
                      <a:r>
                        <a:t>20.4%</a:t>
                      </a:r>
                    </a:p>
                  </a:txBody>
                  <a:tcPr>
                    <a:solidFill>
                      <a:srgbClr val="ECD3D9"/>
                    </a:solidFill>
                  </a:tcPr>
                </a:tc>
              </a:tr>
              <a:tr h="284400">
                <a:tc>
                  <a:txBody>
                    <a:bodyPr/>
                    <a:lstStyle/>
                    <a:p>
                      <a:pPr algn="l">
                        <a:defRPr sz="1000">
                          <a:latin typeface="Montserrat"/>
                        </a:defRPr>
                      </a:pPr>
                      <a:r>
                        <a:t>HINF CMN La Raza</a:t>
                      </a:r>
                    </a:p>
                  </a:txBody>
                  <a:tcPr>
                    <a:solidFill>
                      <a:srgbClr val="FFFFFF"/>
                    </a:solidFill>
                  </a:tcPr>
                </a:tc>
                <a:tc>
                  <a:txBody>
                    <a:bodyPr/>
                    <a:lstStyle/>
                    <a:p>
                      <a:pPr algn="ctr">
                        <a:defRPr sz="1000">
                          <a:latin typeface="Montserrat"/>
                        </a:defRPr>
                      </a:pPr>
                      <a:r>
                        <a:t>719</a:t>
                      </a:r>
                    </a:p>
                  </a:txBody>
                  <a:tcPr>
                    <a:solidFill>
                      <a:srgbClr val="FFFFFF"/>
                    </a:solidFill>
                  </a:tcPr>
                </a:tc>
                <a:tc>
                  <a:txBody>
                    <a:bodyPr/>
                    <a:lstStyle/>
                    <a:p>
                      <a:pPr algn="ctr">
                        <a:defRPr sz="1000">
                          <a:latin typeface="Montserrat"/>
                        </a:defRPr>
                      </a:pPr>
                      <a:r>
                        <a:t>358</a:t>
                      </a:r>
                    </a:p>
                  </a:txBody>
                  <a:tcPr>
                    <a:solidFill>
                      <a:srgbClr val="FFFFFF"/>
                    </a:solidFill>
                  </a:tcPr>
                </a:tc>
                <a:tc>
                  <a:txBody>
                    <a:bodyPr/>
                    <a:lstStyle/>
                    <a:p>
                      <a:pPr algn="ctr">
                        <a:defRPr sz="1000">
                          <a:latin typeface="Montserrat"/>
                        </a:defRPr>
                      </a:pPr>
                      <a:r>
                        <a:t>366</a:t>
                      </a:r>
                    </a:p>
                  </a:txBody>
                  <a:tcPr>
                    <a:solidFill>
                      <a:srgbClr val="ECD3D9"/>
                    </a:solidFill>
                  </a:tcPr>
                </a:tc>
                <a:tc>
                  <a:txBody>
                    <a:bodyPr/>
                    <a:lstStyle/>
                    <a:p>
                      <a:pPr algn="ctr">
                        <a:defRPr sz="1000">
                          <a:latin typeface="Montserrat"/>
                        </a:defRPr>
                      </a:pPr>
                      <a:r>
                        <a:t>1,825</a:t>
                      </a:r>
                    </a:p>
                  </a:txBody>
                  <a:tcPr>
                    <a:solidFill>
                      <a:srgbClr val="ECD3D9"/>
                    </a:solidFill>
                  </a:tcPr>
                </a:tc>
                <a:tc>
                  <a:txBody>
                    <a:bodyPr/>
                    <a:lstStyle/>
                    <a:p>
                      <a:pPr algn="ctr">
                        <a:defRPr sz="1000">
                          <a:latin typeface="Montserrat"/>
                        </a:defRPr>
                      </a:pPr>
                      <a:r>
                        <a:t>20.1%</a:t>
                      </a:r>
                    </a:p>
                  </a:txBody>
                  <a:tcPr>
                    <a:solidFill>
                      <a:srgbClr val="ECD3D9"/>
                    </a:solidFill>
                  </a:tcPr>
                </a:tc>
              </a:tr>
              <a:tr h="284400">
                <a:tc>
                  <a:txBody>
                    <a:bodyPr/>
                    <a:lstStyle/>
                    <a:p>
                      <a:pPr algn="l">
                        <a:defRPr sz="1000">
                          <a:latin typeface="Montserrat"/>
                        </a:defRPr>
                      </a:pPr>
                      <a:r>
                        <a:t>HP CMN Siglo XXI</a:t>
                      </a:r>
                    </a:p>
                  </a:txBody>
                  <a:tcPr>
                    <a:solidFill>
                      <a:srgbClr val="EFEFEF"/>
                    </a:solidFill>
                  </a:tcPr>
                </a:tc>
                <a:tc>
                  <a:txBody>
                    <a:bodyPr/>
                    <a:lstStyle/>
                    <a:p>
                      <a:pPr algn="ctr">
                        <a:defRPr sz="1000">
                          <a:latin typeface="Montserrat"/>
                        </a:defRPr>
                      </a:pPr>
                      <a:r>
                        <a:t>4,860</a:t>
                      </a:r>
                    </a:p>
                  </a:txBody>
                  <a:tcPr>
                    <a:solidFill>
                      <a:srgbClr val="EFEFEF"/>
                    </a:solidFill>
                  </a:tcPr>
                </a:tc>
                <a:tc>
                  <a:txBody>
                    <a:bodyPr/>
                    <a:lstStyle/>
                    <a:p>
                      <a:pPr algn="ctr">
                        <a:defRPr sz="1000">
                          <a:latin typeface="Montserrat"/>
                        </a:defRPr>
                      </a:pPr>
                      <a:r>
                        <a:t>1,403</a:t>
                      </a:r>
                    </a:p>
                  </a:txBody>
                  <a:tcPr>
                    <a:solidFill>
                      <a:srgbClr val="EFEFEF"/>
                    </a:solidFill>
                  </a:tcPr>
                </a:tc>
                <a:tc>
                  <a:txBody>
                    <a:bodyPr/>
                    <a:lstStyle/>
                    <a:p>
                      <a:pPr algn="ctr">
                        <a:defRPr sz="1000">
                          <a:latin typeface="Montserrat"/>
                        </a:defRPr>
                      </a:pPr>
                      <a:r>
                        <a:t>2,650</a:t>
                      </a:r>
                    </a:p>
                  </a:txBody>
                  <a:tcPr>
                    <a:solidFill>
                      <a:srgbClr val="ECD3D9"/>
                    </a:solidFill>
                  </a:tcPr>
                </a:tc>
                <a:tc>
                  <a:txBody>
                    <a:bodyPr/>
                    <a:lstStyle/>
                    <a:p>
                      <a:pPr algn="ctr">
                        <a:defRPr sz="1000">
                          <a:latin typeface="Montserrat"/>
                        </a:defRPr>
                      </a:pPr>
                      <a:r>
                        <a:t>13,800</a:t>
                      </a:r>
                    </a:p>
                  </a:txBody>
                  <a:tcPr>
                    <a:solidFill>
                      <a:srgbClr val="ECD3D9"/>
                    </a:solidFill>
                  </a:tcPr>
                </a:tc>
                <a:tc>
                  <a:txBody>
                    <a:bodyPr/>
                    <a:lstStyle/>
                    <a:p>
                      <a:pPr algn="ctr">
                        <a:defRPr sz="1000">
                          <a:latin typeface="Montserrat"/>
                        </a:defRPr>
                      </a:pPr>
                      <a:r>
                        <a:t>19.2%</a:t>
                      </a:r>
                    </a:p>
                  </a:txBody>
                  <a:tcPr>
                    <a:solidFill>
                      <a:srgbClr val="ECD3D9"/>
                    </a:solidFill>
                  </a:tcPr>
                </a:tc>
              </a:tr>
              <a:tr h="284400">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9,687</a:t>
                      </a:r>
                    </a:p>
                  </a:txBody>
                  <a:tcPr>
                    <a:solidFill>
                      <a:srgbClr val="FFFFFF"/>
                    </a:solidFill>
                  </a:tcPr>
                </a:tc>
                <a:tc>
                  <a:txBody>
                    <a:bodyPr/>
                    <a:lstStyle/>
                    <a:p>
                      <a:pPr algn="ctr">
                        <a:defRPr sz="1000">
                          <a:latin typeface="Montserrat"/>
                        </a:defRPr>
                      </a:pPr>
                      <a:r>
                        <a:t>2,326</a:t>
                      </a:r>
                    </a:p>
                  </a:txBody>
                  <a:tcPr>
                    <a:solidFill>
                      <a:srgbClr val="FFFFFF"/>
                    </a:solidFill>
                  </a:tcPr>
                </a:tc>
                <a:tc>
                  <a:txBody>
                    <a:bodyPr/>
                    <a:lstStyle/>
                    <a:p>
                      <a:pPr algn="ctr">
                        <a:defRPr sz="1000">
                          <a:latin typeface="Montserrat"/>
                        </a:defRPr>
                      </a:pPr>
                      <a:r>
                        <a:t>3,416</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16.5%</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138,263</a:t>
                      </a:r>
                    </a:p>
                  </a:txBody>
                  <a:tcPr>
                    <a:solidFill>
                      <a:srgbClr val="D3E9E7"/>
                    </a:solidFill>
                  </a:tcPr>
                </a:tc>
                <a:tc>
                  <a:txBody>
                    <a:bodyPr/>
                    <a:lstStyle/>
                    <a:p>
                      <a:pPr algn="ctr">
                        <a:defRPr sz="1000" b="1">
                          <a:solidFill>
                            <a:srgbClr val="006556"/>
                          </a:solidFill>
                          <a:latin typeface="Montserrat"/>
                        </a:defRPr>
                      </a:pPr>
                      <a:r>
                        <a:t>43,874</a:t>
                      </a:r>
                    </a:p>
                  </a:txBody>
                  <a:tcPr>
                    <a:solidFill>
                      <a:srgbClr val="D3E9E7"/>
                    </a:solidFill>
                  </a:tcPr>
                </a:tc>
                <a:tc>
                  <a:txBody>
                    <a:bodyPr/>
                    <a:lstStyle/>
                    <a:p>
                      <a:pPr algn="ctr">
                        <a:defRPr sz="1000" b="1">
                          <a:solidFill>
                            <a:srgbClr val="FFFFFF"/>
                          </a:solidFill>
                          <a:latin typeface="Montserrat"/>
                        </a:defRPr>
                      </a:pPr>
                      <a:r>
                        <a:t>59,967</a:t>
                      </a:r>
                    </a:p>
                  </a:txBody>
                  <a:tcPr>
                    <a:solidFill>
                      <a:srgbClr val="9F2241"/>
                    </a:solidFill>
                  </a:tcPr>
                </a:tc>
                <a:tc>
                  <a:txBody>
                    <a:bodyPr/>
                    <a:lstStyle/>
                    <a:p>
                      <a:pPr algn="ctr">
                        <a:defRPr sz="1000" b="1">
                          <a:solidFill>
                            <a:srgbClr val="FFFFFF"/>
                          </a:solidFill>
                          <a:latin typeface="Montserrat"/>
                        </a:defRPr>
                      </a:pPr>
                      <a:r>
                        <a:t>214,820</a:t>
                      </a:r>
                    </a:p>
                  </a:txBody>
                  <a:tcPr>
                    <a:solidFill>
                      <a:srgbClr val="9F2241"/>
                    </a:solidFill>
                  </a:tcPr>
                </a:tc>
                <a:tc>
                  <a:txBody>
                    <a:bodyPr/>
                    <a:lstStyle/>
                    <a:p>
                      <a:pPr algn="ctr">
                        <a:defRPr sz="1000" b="1">
                          <a:solidFill>
                            <a:srgbClr val="FFFFFF"/>
                          </a:solidFill>
                          <a:latin typeface="Montserrat"/>
                        </a:defRPr>
                      </a:pPr>
                      <a:r>
                        <a:t>27.9%</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241,747</a:t>
                      </a:r>
                    </a:p>
                  </a:txBody>
                  <a:tcPr>
                    <a:solidFill>
                      <a:srgbClr val="D3E9E7"/>
                    </a:solidFill>
                  </a:tcPr>
                </a:tc>
                <a:tc>
                  <a:txBody>
                    <a:bodyPr/>
                    <a:lstStyle/>
                    <a:p>
                      <a:pPr algn="ctr">
                        <a:defRPr sz="1000" b="1">
                          <a:solidFill>
                            <a:srgbClr val="006556"/>
                          </a:solidFill>
                          <a:latin typeface="Montserrat"/>
                        </a:defRPr>
                      </a:pPr>
                      <a:r>
                        <a:t>59,433</a:t>
                      </a:r>
                    </a:p>
                  </a:txBody>
                  <a:tcPr>
                    <a:solidFill>
                      <a:srgbClr val="D3E9E7"/>
                    </a:solidFill>
                  </a:tcPr>
                </a:tc>
                <a:tc>
                  <a:txBody>
                    <a:bodyPr/>
                    <a:lstStyle/>
                    <a:p>
                      <a:pPr algn="ctr">
                        <a:defRPr sz="1000" b="1">
                          <a:solidFill>
                            <a:srgbClr val="FFFFFF"/>
                          </a:solidFill>
                          <a:latin typeface="Montserrat"/>
                        </a:defRPr>
                      </a:pPr>
                      <a:r>
                        <a:t>108,434</a:t>
                      </a:r>
                    </a:p>
                  </a:txBody>
                  <a:tcPr>
                    <a:solidFill>
                      <a:srgbClr val="9F2241"/>
                    </a:solidFill>
                  </a:tcPr>
                </a:tc>
                <a:tc>
                  <a:txBody>
                    <a:bodyPr/>
                    <a:lstStyle/>
                    <a:p>
                      <a:pPr algn="ctr">
                        <a:defRPr sz="1000" b="1">
                          <a:solidFill>
                            <a:srgbClr val="FFFFFF"/>
                          </a:solidFill>
                          <a:latin typeface="Montserrat"/>
                        </a:defRPr>
                      </a:pPr>
                      <a:r>
                        <a:t>340,492</a:t>
                      </a:r>
                    </a:p>
                  </a:txBody>
                  <a:tcPr>
                    <a:solidFill>
                      <a:srgbClr val="9F2241"/>
                    </a:solidFill>
                  </a:tcPr>
                </a:tc>
                <a:tc>
                  <a:txBody>
                    <a:bodyPr/>
                    <a:lstStyle/>
                    <a:p>
                      <a:pPr algn="ctr">
                        <a:defRPr sz="1000" b="1">
                          <a:solidFill>
                            <a:srgbClr val="FFFFFF"/>
                          </a:solidFill>
                          <a:latin typeface="Montserrat"/>
                        </a:defRPr>
                      </a:pPr>
                      <a:r>
                        <a:t>31.9%</a:t>
                      </a:r>
                    </a:p>
                  </a:txBody>
                  <a:tcPr>
                    <a:solidFill>
                      <a:srgbClr val="9F2241"/>
                    </a:solidFill>
                  </a:tcPr>
                </a:tc>
              </a:tr>
            </a:tbl>
          </a:graphicData>
        </a:graphic>
      </p:graphicFrame>
      <p:graphicFrame>
        <p:nvGraphicFramePr>
          <p:cNvPr id="7" name="Chart 6"/>
          <p:cNvGraphicFramePr>
            <a:graphicFrameLocks noGrp="1"/>
          </p:cNvGraphicFramePr>
          <p:nvPr/>
        </p:nvGraphicFramePr>
        <p:xfrm>
          <a:off x="4780800" y="5529600"/>
          <a:ext cx="1800000" cy="1800000"/>
        </p:xfrm>
        <a:graphic>
          <a:graphicData uri="http://schemas.openxmlformats.org/drawingml/2006/chart">
            <c:chart xmlns:c="http://schemas.openxmlformats.org/drawingml/2006/chart" r:id="rId2"/>
          </a:graphicData>
        </a:graphic>
      </p:graphicFrame>
      <p:sp>
        <p:nvSpPr>
          <p:cNvPr id="8" name="TextBox 7"/>
          <p:cNvSpPr txBox="1"/>
          <p:nvPr/>
        </p:nvSpPr>
        <p:spPr>
          <a:xfrm>
            <a:off x="4780800" y="6249600"/>
            <a:ext cx="1800000" cy="360000"/>
          </a:xfrm>
          <a:prstGeom prst="rect">
            <a:avLst/>
          </a:prstGeom>
          <a:noFill/>
        </p:spPr>
        <p:txBody>
          <a:bodyPr wrap="none">
            <a:spAutoFit/>
          </a:bodyPr>
          <a:lstStyle/>
          <a:p>
            <a:pPr algn="ctr"/>
            <a:r>
              <a:rPr sz="2400" b="1">
                <a:solidFill>
                  <a:srgbClr val="9F2241"/>
                </a:solidFill>
                <a:latin typeface="Montserrat"/>
              </a:rPr>
              <a:t>31.9%</a:t>
            </a:r>
          </a:p>
        </p:txBody>
      </p:sp>
      <p:sp>
        <p:nvSpPr>
          <p:cNvPr id="9" name="TextBox 8"/>
          <p:cNvSpPr txBox="1"/>
          <p:nvPr/>
        </p:nvSpPr>
        <p:spPr>
          <a:xfrm>
            <a:off x="4780800" y="714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0" name="TextBox 9"/>
          <p:cNvSpPr txBox="1"/>
          <p:nvPr/>
        </p:nvSpPr>
        <p:spPr>
          <a:xfrm>
            <a:off x="730799" y="5529600"/>
            <a:ext cx="2854800" cy="1198800"/>
          </a:xfrm>
          <a:prstGeom prst="rect">
            <a:avLst/>
          </a:prstGeom>
          <a:noFill/>
        </p:spPr>
        <p:txBody>
          <a:bodyPr wrap="square">
            <a:spAutoFit/>
          </a:bodyPr>
          <a:lstStyle/>
          <a:p>
            <a:pPr algn="ctr">
              <a:defRPr sz="3600" b="1">
                <a:solidFill>
                  <a:srgbClr val="9F2241"/>
                </a:solidFill>
                <a:latin typeface="Montserrat"/>
              </a:defRPr>
            </a:pPr>
            <a:r>
              <a:t>340,492 </a:t>
            </a:r>
            <a:br/>
            <a:r>
              <a:t>Meta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C/UMAA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Calidad de la Atención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27</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73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2a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73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30</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401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401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47</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C/MF 29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C/UMAA 48</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Servicios de Sangre</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de Cardiología 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Cardiotorácica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20</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1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de Especialidades 1 (Parte 2)</a:t>
                      </a:r>
                    </a:p>
                  </a:txBody>
                  <a:tcPr anchor="ctr">
                    <a:no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Terapia Endovascular Neurológica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Especialidades No. 1</a:t>
                      </a:r>
                    </a:p>
                  </a:txBody>
                  <a:tcPr anchor="ctr">
                    <a:no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Gineco Obstetricia 3</a:t>
                      </a:r>
                    </a:p>
                  </a:txBody>
                  <a:tcPr anchor="ctr">
                    <a:no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Gineco Obstetricia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Gineco-pediatría 3a</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72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Infectología</a:t>
                      </a:r>
                    </a:p>
                  </a:txBody>
                  <a:tcPr anchor="ctr">
                    <a:no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72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de Oncología</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14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Ortopedia</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141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Pediatría 1</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Cardiotorácica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 y Nutrición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 Infantil y de la Adolescencia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29</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Psiquiatría</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Psiquiatría 1</a:t>
                      </a:r>
                    </a:p>
                  </a:txBody>
                  <a:tcPr anchor="ctr">
                    <a:no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Psiquiatría C/MF 10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de Traumatología</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
        <p:nvSpPr>
          <p:cNvPr id="11" name="TextBox 10"/>
          <p:cNvSpPr txBox="1"/>
          <p:nvPr/>
        </p:nvSpPr>
        <p:spPr>
          <a:xfrm>
            <a:off x="360000" y="4557598"/>
            <a:ext cx="6840000" cy="360000"/>
          </a:xfrm>
          <a:prstGeom prst="rect">
            <a:avLst/>
          </a:prstGeom>
          <a:noFill/>
        </p:spPr>
        <p:txBody>
          <a:bodyPr wrap="none" anchor="ctr">
            <a:spAutoFit/>
          </a:bodyPr>
          <a:lstStyle/>
          <a:p>
            <a:pPr algn="l">
              <a:defRPr sz="2000" b="1">
                <a:solidFill>
                  <a:srgbClr val="BC955C"/>
                </a:solidFill>
                <a:latin typeface="Montserrat"/>
              </a:defRPr>
            </a:pPr>
            <a:r>
              <a:t>8 Sede delegacional</a:t>
            </a:r>
          </a:p>
        </p:txBody>
      </p:sp>
      <p:cxnSp>
        <p:nvCxnSpPr>
          <p:cNvPr id="12" name="Connector 11"/>
          <p:cNvCxnSpPr/>
          <p:nvPr/>
        </p:nvCxnSpPr>
        <p:spPr>
          <a:xfrm>
            <a:off x="360000" y="495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025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76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Banco de Sangre</a:t>
                      </a:r>
                    </a:p>
                  </a:txBody>
                  <a:tcPr anchor="ctr">
                    <a:no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Laboratorio de Análisis Clínicos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Guardería Hijos Madres Empleadas No. 4</a:t>
                      </a:r>
                    </a:p>
                  </a:txBody>
                  <a:tcPr anchor="ctr">
                    <a:no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Detección y Diagnóstico 1</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521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45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6573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6573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18</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621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94</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42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58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162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58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Física 1</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1274 especialistas (sustitutos)</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164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Biología de la Reproducción Humana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Calidad de la Atención Clínica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148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7" name="Table 6"/>
          <p:cNvGraphicFramePr>
            <a:graphicFrameLocks noGrp="1"/>
          </p:cNvGraphicFramePr>
          <p:nvPr/>
        </p:nvGraphicFramePr>
        <p:xfrm>
          <a:off x="39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Endoscopia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 y Nutrición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31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27</a:t>
                      </a:r>
                    </a:p>
                  </a:txBody>
                  <a:tcPr>
                    <a:solidFill>
                      <a:srgbClr val="FFFFFF"/>
                    </a:solidFill>
                  </a:tcPr>
                </a:tc>
              </a:tr>
            </a:tbl>
          </a:graphicData>
        </a:graphic>
      </p:graphicFrame>
      <p:graphicFrame>
        <p:nvGraphicFramePr>
          <p:cNvPr id="8" name="Table 7"/>
          <p:cNvGraphicFramePr>
            <a:graphicFrameLocks noGrp="1"/>
          </p:cNvGraphicFramePr>
          <p:nvPr/>
        </p:nvGraphicFramePr>
        <p:xfrm>
          <a:off x="360000" y="574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3)</a:t>
                      </a:r>
                    </a:p>
                  </a:txBody>
                  <a:tcPr anchor="ctr">
                    <a:no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Laboratorio de Análisis Clínicos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95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Materno Fetal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20</a:t>
                      </a:r>
                    </a:p>
                  </a:txBody>
                  <a:tcPr>
                    <a:solidFill>
                      <a:srgbClr val="FFFFFF"/>
                    </a:solidFill>
                  </a:tcPr>
                </a:tc>
              </a:tr>
            </a:tbl>
          </a:graphicData>
        </a:graphic>
      </p:graphicFrame>
      <p:graphicFrame>
        <p:nvGraphicFramePr>
          <p:cNvPr id="9" name="Table 8"/>
          <p:cNvGraphicFramePr>
            <a:graphicFrameLocks noGrp="1"/>
          </p:cNvGraphicFramePr>
          <p:nvPr/>
        </p:nvGraphicFramePr>
        <p:xfrm>
          <a:off x="3960000" y="574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4)</a:t>
                      </a:r>
                    </a:p>
                  </a:txBody>
                  <a:tcPr anchor="ctr">
                    <a:noFill/>
                  </a:tcPr>
                </a:tc>
                <a:tc>
                  <a:txBody>
                    <a:bodyPr/>
                    <a:lstStyle/>
                    <a:p>
                      <a:pPr algn="ctr">
                        <a:defRPr sz="800" b="0">
                          <a:solidFill>
                            <a:srgbClr val="000000"/>
                          </a:solidFill>
                          <a:latin typeface="Montserrat"/>
                        </a:defRPr>
                      </a:pPr>
                      <a:r>
                        <a:t>Neumología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Neurofisiología Clínica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 Infantil y de la Adolescencia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1274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5)</a:t>
                      </a:r>
                    </a:p>
                  </a:txBody>
                  <a:tcPr anchor="ctr">
                    <a:noFill/>
                  </a:tcPr>
                </a:tc>
                <a:tc>
                  <a:txBody>
                    <a:bodyPr/>
                    <a:lstStyle/>
                    <a:p>
                      <a:pPr algn="ctr">
                        <a:defRPr sz="800" b="0">
                          <a:solidFill>
                            <a:srgbClr val="000000"/>
                          </a:solidFill>
                          <a:latin typeface="Montserrat"/>
                        </a:defRPr>
                      </a:pPr>
                      <a:r>
                        <a:t>Terapia Endovascular Neurológica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120</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1,274</a:t>
                      </a:r>
                    </a:p>
                  </a:txBody>
                  <a:tcPr>
                    <a:solidFill>
                      <a:srgbClr val="D3E9E7"/>
                    </a:solidFill>
                  </a:tcPr>
                </a:tc>
              </a:tr>
            </a:tbl>
          </a:graphicData>
        </a:graphic>
      </p:graphicFrame>
      <p:sp>
        <p:nvSpPr>
          <p:cNvPr id="8" name="TextBox 7"/>
          <p:cNvSpPr txBox="1"/>
          <p:nvPr/>
        </p:nvSpPr>
        <p:spPr>
          <a:xfrm>
            <a:off x="270000" y="4125599"/>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85.5%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86.2%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13</a:t>
                      </a:r>
                    </a:p>
                  </a:txBody>
                  <a:tcPr anchor="ctr" marL="45720" marR="45720" marT="45720" marB="45720">
                    <a:solidFill>
                      <a:srgbClr val="D9D9D9"/>
                    </a:solidFill>
                  </a:tcPr>
                </a:tc>
                <a:tc>
                  <a:txBody>
                    <a:bodyPr/>
                    <a:lstStyle/>
                    <a:p>
                      <a:pPr algn="ctr">
                        <a:defRPr sz="1100" b="1">
                          <a:solidFill>
                            <a:srgbClr val="000000"/>
                          </a:solidFill>
                          <a:latin typeface="Montserrat"/>
                        </a:defRPr>
                      </a:pPr>
                      <a:r>
                        <a:t>86.9%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Genética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87.5%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88.1%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89.2%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89.8%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Cardiotorácica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90.3%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Calidad de la Atención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90.8%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91.3%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Nuclear e Imagenología Molecular</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91.8%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Gastroenterología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92.3%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Infectología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92.7%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93.2%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Coloproctología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93.5%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93.9%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Endoscopia</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94.3%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Materno Fetal</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94.6%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95.0%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Radioncología Directa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95.6%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96.3%</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Terapia Endovascular Neurológica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96.6%</a:t>
                      </a:r>
                    </a:p>
                  </a:txBody>
                  <a:tcPr anchor="ctr" marL="45720" marR="45720" marT="45720" marB="45720">
                    <a:solidFill>
                      <a:srgbClr val="D9D9D9"/>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7505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75050">
                <a:tc>
                  <a:txBody>
                    <a:bodyPr/>
                    <a:lstStyle/>
                    <a:p>
                      <a:pPr algn="l">
                        <a:defRPr sz="1100" b="0">
                          <a:solidFill>
                            <a:srgbClr val="000000"/>
                          </a:solidFill>
                          <a:latin typeface="Montserrat"/>
                        </a:defRPr>
                      </a:pPr>
                      <a:r>
                        <a:t>Hematología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96.9%</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Servicios de Sangre</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97.1%</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Gastroenterología y Nutrición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97.4%</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Psiquiatría Infantil y de la Adolescencia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97.6%</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Patología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97.8%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Medicina Paliativa y del Dolor</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98.1%</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Dermatología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Neurología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98.5%</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Biología de la Reproducción Humana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98.7%</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Neumología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98.8%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Ginecología Oncológica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99.0%</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Laboratorio de Análisis Clínicos</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99.2%</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Neurocirugía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Angiología y Cirugía Vascular</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99.4%</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Neurofisiología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99.5%</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Infectología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99.6%</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Alergia e Inmunología Clínica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Endocrinología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99.7%</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Patología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Reumatología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Urgencias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99.9%</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r h="17505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1,809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430</TotalTime>
  <Words>527</Words>
  <Application>Microsoft Office PowerPoint</Application>
  <PresentationFormat>Personalizado</PresentationFormat>
  <Paragraphs>104</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125</cp:revision>
  <dcterms:modified xsi:type="dcterms:W3CDTF">2026-05-12T22:31:28Z</dcterms:modified>
</cp:coreProperties>
</file>