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6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7.xml" ContentType="application/vnd.openxmlformats-officedocument.drawingml.chart+xml"/>
  <Override PartName="/ppt/notesSlides/notesSlide20.xml" ContentType="application/vnd.openxmlformats-officedocument.presentationml.notesSlide+xml"/>
  <Override PartName="/ppt/charts/chart8.xml" ContentType="application/vnd.openxmlformats-officedocument.drawingml.chart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89" r:id="rId3"/>
    <p:sldId id="258" r:id="rId4"/>
    <p:sldId id="259" r:id="rId5"/>
    <p:sldId id="260" r:id="rId6"/>
    <p:sldId id="301" r:id="rId7"/>
    <p:sldId id="261" r:id="rId8"/>
    <p:sldId id="287" r:id="rId9"/>
    <p:sldId id="262" r:id="rId10"/>
    <p:sldId id="263" r:id="rId11"/>
    <p:sldId id="280" r:id="rId12"/>
    <p:sldId id="267" r:id="rId13"/>
    <p:sldId id="298" r:id="rId14"/>
    <p:sldId id="302" r:id="rId15"/>
    <p:sldId id="303" r:id="rId16"/>
    <p:sldId id="304" r:id="rId17"/>
    <p:sldId id="305" r:id="rId18"/>
    <p:sldId id="281" r:id="rId19"/>
    <p:sldId id="306" r:id="rId20"/>
    <p:sldId id="288" r:id="rId21"/>
    <p:sldId id="270" r:id="rId22"/>
    <p:sldId id="271" r:id="rId23"/>
    <p:sldId id="272" r:id="rId24"/>
    <p:sldId id="300" r:id="rId25"/>
    <p:sldId id="297" r:id="rId26"/>
    <p:sldId id="284" r:id="rId27"/>
    <p:sldId id="277" r:id="rId28"/>
    <p:sldId id="278" r:id="rId29"/>
    <p:sldId id="279" r:id="rId30"/>
    <p:sldId id="282" r:id="rId31"/>
  </p:sldIdLst>
  <p:sldSz cx="7772400" cy="10058400"/>
  <p:notesSz cx="6858000" cy="9144000"/>
  <p:embeddedFontLst>
    <p:embeddedFont>
      <p:font typeface="Montserrat" panose="00000500000000000000" pitchFamily="2" charset="0"/>
      <p:regular r:id="rId33"/>
      <p:bold r:id="rId34"/>
      <p:italic r:id="rId35"/>
      <p:boldItalic r:id="rId36"/>
    </p:embeddedFont>
    <p:embeddedFont>
      <p:font typeface="Noto Sans" panose="020B0502040504020204" pitchFamily="34" charset="0"/>
      <p:regular r:id="rId37"/>
      <p:bold r:id="rId38"/>
      <p:italic r:id="rId39"/>
      <p:boldItalic r:id="rId40"/>
    </p:embeddedFont>
    <p:embeddedFont>
      <p:font typeface="Noto Sans Black" panose="020B0604020202020204" charset="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E9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EEFD1A-C77F-4456-82BA-18992468037C}" v="2" dt="2026-07-03T00:08:11.429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/>
    <p:restoredTop sz="94759"/>
  </p:normalViewPr>
  <p:slideViewPr>
    <p:cSldViewPr snapToGrid="0">
      <p:cViewPr varScale="1">
        <p:scale>
          <a:sx n="67" d="100"/>
          <a:sy n="67" d="100"/>
        </p:scale>
        <p:origin x="804" y="66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52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20" Type="http://schemas.openxmlformats.org/officeDocument/2006/relationships/slide" Target="slides/slide19.xml"/><Relationship Id="rId41" Type="http://schemas.openxmlformats.org/officeDocument/2006/relationships/font" Target="fonts/font9.fntdata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ura Patricia Galvan Chavez" userId="S::laura.galvan@imss.gob.mx::6b13af50-ce8b-483e-8fc4-f994efaf3289" providerId="AD" clId="Web-{7C4FB945-5281-2DF8-C1A5-6D21ADEA02E2}"/>
    <pc:docChg chg="modSld">
      <pc:chgData name="Laura Patricia Galvan Chavez" userId="S::laura.galvan@imss.gob.mx::6b13af50-ce8b-483e-8fc4-f994efaf3289" providerId="AD" clId="Web-{7C4FB945-5281-2DF8-C1A5-6D21ADEA02E2}" dt="2026-06-23T20:23:08.664" v="13" actId="14100"/>
      <pc:docMkLst>
        <pc:docMk/>
      </pc:docMkLst>
      <pc:sldChg chg="addSp delSp modSp">
        <pc:chgData name="Laura Patricia Galvan Chavez" userId="S::laura.galvan@imss.gob.mx::6b13af50-ce8b-483e-8fc4-f994efaf3289" providerId="AD" clId="Web-{7C4FB945-5281-2DF8-C1A5-6D21ADEA02E2}" dt="2026-06-23T20:23:08.664" v="13" actId="14100"/>
        <pc:sldMkLst>
          <pc:docMk/>
          <pc:sldMk cId="0" sldId="260"/>
        </pc:sldMkLst>
        <pc:picChg chg="add mod">
          <ac:chgData name="Laura Patricia Galvan Chavez" userId="S::laura.galvan@imss.gob.mx::6b13af50-ce8b-483e-8fc4-f994efaf3289" providerId="AD" clId="Web-{7C4FB945-5281-2DF8-C1A5-6D21ADEA02E2}" dt="2026-06-23T20:23:05.398" v="12" actId="1076"/>
          <ac:picMkLst>
            <pc:docMk/>
            <pc:sldMk cId="0" sldId="260"/>
            <ac:picMk id="3" creationId="{2A2E13DB-3BBB-8DCA-D251-3090DA20B5FC}"/>
          </ac:picMkLst>
        </pc:picChg>
        <pc:picChg chg="mod">
          <ac:chgData name="Laura Patricia Galvan Chavez" userId="S::laura.galvan@imss.gob.mx::6b13af50-ce8b-483e-8fc4-f994efaf3289" providerId="AD" clId="Web-{7C4FB945-5281-2DF8-C1A5-6D21ADEA02E2}" dt="2026-06-23T20:23:08.664" v="13" actId="14100"/>
          <ac:picMkLst>
            <pc:docMk/>
            <pc:sldMk cId="0" sldId="260"/>
            <ac:picMk id="6" creationId="{330A8DDA-C1ED-884F-2685-9B99501C5AF1}"/>
          </ac:picMkLst>
        </pc:picChg>
      </pc:sldChg>
    </pc:docChg>
  </pc:docChgLst>
  <pc:docChgLst>
    <pc:chgData name="Laura Patricia Galvan Chavez" userId="S::laura.galvan@imss.gob.mx::6b13af50-ce8b-483e-8fc4-f994efaf3289" providerId="AD" clId="Web-{92FCEE6D-3F31-690D-DFAA-6113FAE2F47E}"/>
    <pc:docChg chg="modSld">
      <pc:chgData name="Laura Patricia Galvan Chavez" userId="S::laura.galvan@imss.gob.mx::6b13af50-ce8b-483e-8fc4-f994efaf3289" providerId="AD" clId="Web-{92FCEE6D-3F31-690D-DFAA-6113FAE2F47E}" dt="2026-06-23T23:11:36.503" v="7" actId="1076"/>
      <pc:docMkLst>
        <pc:docMk/>
      </pc:docMkLst>
      <pc:sldChg chg="modSp">
        <pc:chgData name="Laura Patricia Galvan Chavez" userId="S::laura.galvan@imss.gob.mx::6b13af50-ce8b-483e-8fc4-f994efaf3289" providerId="AD" clId="Web-{92FCEE6D-3F31-690D-DFAA-6113FAE2F47E}" dt="2026-06-23T23:11:36.503" v="7" actId="1076"/>
        <pc:sldMkLst>
          <pc:docMk/>
          <pc:sldMk cId="364733940" sldId="284"/>
        </pc:sldMkLst>
      </pc:sldChg>
    </pc:docChg>
  </pc:docChgLst>
  <pc:docChgLst>
    <pc:chgData name="Gerardo Jahir Lara Garcia" userId="84d5cd65-4601-4e92-b448-a9da4809e012" providerId="ADAL" clId="{848F2E50-180B-4DB9-9EF6-4803D25AC9EC}"/>
    <pc:docChg chg="undo custSel modSld">
      <pc:chgData name="Gerardo Jahir Lara Garcia" userId="84d5cd65-4601-4e92-b448-a9da4809e012" providerId="ADAL" clId="{848F2E50-180B-4DB9-9EF6-4803D25AC9EC}" dt="2026-07-03T00:40:52.570" v="446" actId="1036"/>
      <pc:docMkLst>
        <pc:docMk/>
      </pc:docMkLst>
      <pc:sldChg chg="modSp mod">
        <pc:chgData name="Gerardo Jahir Lara Garcia" userId="84d5cd65-4601-4e92-b448-a9da4809e012" providerId="ADAL" clId="{848F2E50-180B-4DB9-9EF6-4803D25AC9EC}" dt="2026-07-03T00:00:50.450" v="3" actId="20577"/>
        <pc:sldMkLst>
          <pc:docMk/>
          <pc:sldMk cId="0" sldId="259"/>
        </pc:sldMkLst>
        <pc:graphicFrameChg chg="modGraphic">
          <ac:chgData name="Gerardo Jahir Lara Garcia" userId="84d5cd65-4601-4e92-b448-a9da4809e012" providerId="ADAL" clId="{848F2E50-180B-4DB9-9EF6-4803D25AC9EC}" dt="2026-07-03T00:00:50.450" v="3" actId="20577"/>
          <ac:graphicFrameMkLst>
            <pc:docMk/>
            <pc:sldMk cId="0" sldId="259"/>
            <ac:graphicFrameMk id="136" creationId="{00000000-0000-0000-0000-000000000000}"/>
          </ac:graphicFrameMkLst>
        </pc:graphicFrameChg>
      </pc:sldChg>
      <pc:sldChg chg="modSp mod">
        <pc:chgData name="Gerardo Jahir Lara Garcia" userId="84d5cd65-4601-4e92-b448-a9da4809e012" providerId="ADAL" clId="{848F2E50-180B-4DB9-9EF6-4803D25AC9EC}" dt="2026-07-03T00:39:34.921" v="437" actId="2062"/>
        <pc:sldMkLst>
          <pc:docMk/>
          <pc:sldMk cId="0" sldId="262"/>
        </pc:sldMkLst>
        <pc:graphicFrameChg chg="modGraphic">
          <ac:chgData name="Gerardo Jahir Lara Garcia" userId="84d5cd65-4601-4e92-b448-a9da4809e012" providerId="ADAL" clId="{848F2E50-180B-4DB9-9EF6-4803D25AC9EC}" dt="2026-07-03T00:39:34.921" v="437" actId="2062"/>
          <ac:graphicFrameMkLst>
            <pc:docMk/>
            <pc:sldMk cId="0" sldId="262"/>
            <ac:graphicFrameMk id="8" creationId="{00000000-0000-0000-0000-000000000000}"/>
          </ac:graphicFrameMkLst>
        </pc:graphicFrameChg>
      </pc:sldChg>
      <pc:sldChg chg="modSp mod">
        <pc:chgData name="Gerardo Jahir Lara Garcia" userId="84d5cd65-4601-4e92-b448-a9da4809e012" providerId="ADAL" clId="{848F2E50-180B-4DB9-9EF6-4803D25AC9EC}" dt="2026-07-03T00:39:38.722" v="438" actId="2062"/>
        <pc:sldMkLst>
          <pc:docMk/>
          <pc:sldMk cId="0" sldId="263"/>
        </pc:sldMkLst>
        <pc:graphicFrameChg chg="modGraphic">
          <ac:chgData name="Gerardo Jahir Lara Garcia" userId="84d5cd65-4601-4e92-b448-a9da4809e012" providerId="ADAL" clId="{848F2E50-180B-4DB9-9EF6-4803D25AC9EC}" dt="2026-07-03T00:39:38.722" v="438" actId="2062"/>
          <ac:graphicFrameMkLst>
            <pc:docMk/>
            <pc:sldMk cId="0" sldId="263"/>
            <ac:graphicFrameMk id="261" creationId="{00000000-0000-0000-0000-000000000000}"/>
          </ac:graphicFrameMkLst>
        </pc:graphicFrameChg>
      </pc:sldChg>
      <pc:sldChg chg="modSp mod">
        <pc:chgData name="Gerardo Jahir Lara Garcia" userId="84d5cd65-4601-4e92-b448-a9da4809e012" providerId="ADAL" clId="{848F2E50-180B-4DB9-9EF6-4803D25AC9EC}" dt="2026-07-03T00:40:00.557" v="443" actId="1035"/>
        <pc:sldMkLst>
          <pc:docMk/>
          <pc:sldMk cId="0" sldId="270"/>
        </pc:sldMkLst>
        <pc:graphicFrameChg chg="mod">
          <ac:chgData name="Gerardo Jahir Lara Garcia" userId="84d5cd65-4601-4e92-b448-a9da4809e012" providerId="ADAL" clId="{848F2E50-180B-4DB9-9EF6-4803D25AC9EC}" dt="2026-07-03T00:40:00.557" v="443" actId="1035"/>
          <ac:graphicFrameMkLst>
            <pc:docMk/>
            <pc:sldMk cId="0" sldId="270"/>
            <ac:graphicFrameMk id="320" creationId="{00000000-0000-0000-0000-000000000000}"/>
          </ac:graphicFrameMkLst>
        </pc:graphicFrameChg>
      </pc:sldChg>
      <pc:sldChg chg="modSp mod">
        <pc:chgData name="Gerardo Jahir Lara Garcia" userId="84d5cd65-4601-4e92-b448-a9da4809e012" providerId="ADAL" clId="{848F2E50-180B-4DB9-9EF6-4803D25AC9EC}" dt="2026-07-03T00:40:52.570" v="446" actId="1036"/>
        <pc:sldMkLst>
          <pc:docMk/>
          <pc:sldMk cId="0" sldId="277"/>
        </pc:sldMkLst>
        <pc:graphicFrameChg chg="modGraphic">
          <ac:chgData name="Gerardo Jahir Lara Garcia" userId="84d5cd65-4601-4e92-b448-a9da4809e012" providerId="ADAL" clId="{848F2E50-180B-4DB9-9EF6-4803D25AC9EC}" dt="2026-07-03T00:14:13.200" v="305" actId="20577"/>
          <ac:graphicFrameMkLst>
            <pc:docMk/>
            <pc:sldMk cId="0" sldId="277"/>
            <ac:graphicFrameMk id="467" creationId="{00000000-0000-0000-0000-000000000000}"/>
          </ac:graphicFrameMkLst>
        </pc:graphicFrameChg>
        <pc:graphicFrameChg chg="mod modGraphic">
          <ac:chgData name="Gerardo Jahir Lara Garcia" userId="84d5cd65-4601-4e92-b448-a9da4809e012" providerId="ADAL" clId="{848F2E50-180B-4DB9-9EF6-4803D25AC9EC}" dt="2026-07-03T00:40:52.570" v="446" actId="1036"/>
          <ac:graphicFrameMkLst>
            <pc:docMk/>
            <pc:sldMk cId="0" sldId="277"/>
            <ac:graphicFrameMk id="468" creationId="{00000000-0000-0000-0000-000000000000}"/>
          </ac:graphicFrameMkLst>
        </pc:graphicFrameChg>
        <pc:graphicFrameChg chg="mod">
          <ac:chgData name="Gerardo Jahir Lara Garcia" userId="84d5cd65-4601-4e92-b448-a9da4809e012" providerId="ADAL" clId="{848F2E50-180B-4DB9-9EF6-4803D25AC9EC}" dt="2026-07-03T00:14:50.583" v="311" actId="1036"/>
          <ac:graphicFrameMkLst>
            <pc:docMk/>
            <pc:sldMk cId="0" sldId="277"/>
            <ac:graphicFrameMk id="469" creationId="{00000000-0000-0000-0000-000000000000}"/>
          </ac:graphicFrameMkLst>
        </pc:graphicFrameChg>
      </pc:sldChg>
      <pc:sldChg chg="modSp mod">
        <pc:chgData name="Gerardo Jahir Lara Garcia" userId="84d5cd65-4601-4e92-b448-a9da4809e012" providerId="ADAL" clId="{848F2E50-180B-4DB9-9EF6-4803D25AC9EC}" dt="2026-07-03T00:40:36.908" v="444" actId="255"/>
        <pc:sldMkLst>
          <pc:docMk/>
          <pc:sldMk cId="364733940" sldId="284"/>
        </pc:sldMkLst>
        <pc:spChg chg="mod">
          <ac:chgData name="Gerardo Jahir Lara Garcia" userId="84d5cd65-4601-4e92-b448-a9da4809e012" providerId="ADAL" clId="{848F2E50-180B-4DB9-9EF6-4803D25AC9EC}" dt="2026-07-03T00:11:02.128" v="199" actId="1076"/>
          <ac:spMkLst>
            <pc:docMk/>
            <pc:sldMk cId="364733940" sldId="284"/>
            <ac:spMk id="18" creationId="{7121D152-E656-4C2B-C795-E43A5EEA7AA4}"/>
          </ac:spMkLst>
        </pc:spChg>
        <pc:spChg chg="mod">
          <ac:chgData name="Gerardo Jahir Lara Garcia" userId="84d5cd65-4601-4e92-b448-a9da4809e012" providerId="ADAL" clId="{848F2E50-180B-4DB9-9EF6-4803D25AC9EC}" dt="2026-07-03T00:37:45.119" v="436" actId="20577"/>
          <ac:spMkLst>
            <pc:docMk/>
            <pc:sldMk cId="364733940" sldId="284"/>
            <ac:spMk id="36" creationId="{AD1A70A3-DE62-D86E-0CE0-BC5CC2AB184A}"/>
          </ac:spMkLst>
        </pc:spChg>
        <pc:spChg chg="mod">
          <ac:chgData name="Gerardo Jahir Lara Garcia" userId="84d5cd65-4601-4e92-b448-a9da4809e012" providerId="ADAL" clId="{848F2E50-180B-4DB9-9EF6-4803D25AC9EC}" dt="2026-07-03T00:06:40.418" v="98" actId="1035"/>
          <ac:spMkLst>
            <pc:docMk/>
            <pc:sldMk cId="364733940" sldId="284"/>
            <ac:spMk id="44" creationId="{D5931F12-CFE2-ADA8-7ADB-B89C5D1D1C5A}"/>
          </ac:spMkLst>
        </pc:spChg>
        <pc:spChg chg="mod">
          <ac:chgData name="Gerardo Jahir Lara Garcia" userId="84d5cd65-4601-4e92-b448-a9da4809e012" providerId="ADAL" clId="{848F2E50-180B-4DB9-9EF6-4803D25AC9EC}" dt="2026-07-03T00:06:26.036" v="55" actId="14100"/>
          <ac:spMkLst>
            <pc:docMk/>
            <pc:sldMk cId="364733940" sldId="284"/>
            <ac:spMk id="50" creationId="{DBC8DC90-B620-F49E-98AF-41DAA5F98F0D}"/>
          </ac:spMkLst>
        </pc:spChg>
        <pc:spChg chg="mod">
          <ac:chgData name="Gerardo Jahir Lara Garcia" userId="84d5cd65-4601-4e92-b448-a9da4809e012" providerId="ADAL" clId="{848F2E50-180B-4DB9-9EF6-4803D25AC9EC}" dt="2026-07-03T00:12:34.726" v="279" actId="1038"/>
          <ac:spMkLst>
            <pc:docMk/>
            <pc:sldMk cId="364733940" sldId="284"/>
            <ac:spMk id="52" creationId="{640541C6-B754-A8E4-7C77-048D7ED7BF32}"/>
          </ac:spMkLst>
        </pc:spChg>
        <pc:spChg chg="mod">
          <ac:chgData name="Gerardo Jahir Lara Garcia" userId="84d5cd65-4601-4e92-b448-a9da4809e012" providerId="ADAL" clId="{848F2E50-180B-4DB9-9EF6-4803D25AC9EC}" dt="2026-07-03T00:12:34.726" v="279" actId="1038"/>
          <ac:spMkLst>
            <pc:docMk/>
            <pc:sldMk cId="364733940" sldId="284"/>
            <ac:spMk id="54" creationId="{35C91B07-4817-34F8-7169-6B482A9ABA05}"/>
          </ac:spMkLst>
        </pc:spChg>
        <pc:spChg chg="mod">
          <ac:chgData name="Gerardo Jahir Lara Garcia" userId="84d5cd65-4601-4e92-b448-a9da4809e012" providerId="ADAL" clId="{848F2E50-180B-4DB9-9EF6-4803D25AC9EC}" dt="2026-07-03T00:12:34.726" v="279" actId="1038"/>
          <ac:spMkLst>
            <pc:docMk/>
            <pc:sldMk cId="364733940" sldId="284"/>
            <ac:spMk id="56" creationId="{541F9EE6-700C-0470-25C4-AAF198F0E5C1}"/>
          </ac:spMkLst>
        </pc:spChg>
        <pc:spChg chg="mod">
          <ac:chgData name="Gerardo Jahir Lara Garcia" userId="84d5cd65-4601-4e92-b448-a9da4809e012" providerId="ADAL" clId="{848F2E50-180B-4DB9-9EF6-4803D25AC9EC}" dt="2026-07-03T00:12:07.543" v="262" actId="1035"/>
          <ac:spMkLst>
            <pc:docMk/>
            <pc:sldMk cId="364733940" sldId="284"/>
            <ac:spMk id="58" creationId="{2E1F84E3-B101-E75F-4682-2383131FB6CD}"/>
          </ac:spMkLst>
        </pc:spChg>
        <pc:spChg chg="mod">
          <ac:chgData name="Gerardo Jahir Lara Garcia" userId="84d5cd65-4601-4e92-b448-a9da4809e012" providerId="ADAL" clId="{848F2E50-180B-4DB9-9EF6-4803D25AC9EC}" dt="2026-07-03T00:12:34.726" v="279" actId="1038"/>
          <ac:spMkLst>
            <pc:docMk/>
            <pc:sldMk cId="364733940" sldId="284"/>
            <ac:spMk id="62" creationId="{E015C4CB-48B1-69EC-3966-FFE8D0A9EBF5}"/>
          </ac:spMkLst>
        </pc:spChg>
        <pc:spChg chg="mod">
          <ac:chgData name="Gerardo Jahir Lara Garcia" userId="84d5cd65-4601-4e92-b448-a9da4809e012" providerId="ADAL" clId="{848F2E50-180B-4DB9-9EF6-4803D25AC9EC}" dt="2026-07-03T00:12:34.726" v="279" actId="1038"/>
          <ac:spMkLst>
            <pc:docMk/>
            <pc:sldMk cId="364733940" sldId="284"/>
            <ac:spMk id="64" creationId="{7D7D2C8F-EE4C-B4C0-DD55-57AC52C06821}"/>
          </ac:spMkLst>
        </pc:spChg>
        <pc:graphicFrameChg chg="mod">
          <ac:chgData name="Gerardo Jahir Lara Garcia" userId="84d5cd65-4601-4e92-b448-a9da4809e012" providerId="ADAL" clId="{848F2E50-180B-4DB9-9EF6-4803D25AC9EC}" dt="2026-07-03T00:07:12.733" v="137" actId="1035"/>
          <ac:graphicFrameMkLst>
            <pc:docMk/>
            <pc:sldMk cId="364733940" sldId="284"/>
            <ac:graphicFrameMk id="30" creationId="{C554D2C4-3570-30D3-C1A8-E8A7F2BB4E3C}"/>
          </ac:graphicFrameMkLst>
        </pc:graphicFrameChg>
        <pc:graphicFrameChg chg="mod modGraphic">
          <ac:chgData name="Gerardo Jahir Lara Garcia" userId="84d5cd65-4601-4e92-b448-a9da4809e012" providerId="ADAL" clId="{848F2E50-180B-4DB9-9EF6-4803D25AC9EC}" dt="2026-07-03T00:40:36.908" v="444" actId="255"/>
          <ac:graphicFrameMkLst>
            <pc:docMk/>
            <pc:sldMk cId="364733940" sldId="284"/>
            <ac:graphicFrameMk id="32" creationId="{D668551B-500B-6F77-66B3-5A7D7DE798EF}"/>
          </ac:graphicFrameMkLst>
        </pc:graphicFrameChg>
        <pc:graphicFrameChg chg="mod">
          <ac:chgData name="Gerardo Jahir Lara Garcia" userId="84d5cd65-4601-4e92-b448-a9da4809e012" providerId="ADAL" clId="{848F2E50-180B-4DB9-9EF6-4803D25AC9EC}" dt="2026-07-03T00:37:12.327" v="409" actId="1036"/>
          <ac:graphicFrameMkLst>
            <pc:docMk/>
            <pc:sldMk cId="364733940" sldId="284"/>
            <ac:graphicFrameMk id="34" creationId="{89953754-31C6-9602-9A4D-049A35366C50}"/>
          </ac:graphicFrameMkLst>
        </pc:graphicFrameChg>
        <pc:graphicFrameChg chg="mod">
          <ac:chgData name="Gerardo Jahir Lara Garcia" userId="84d5cd65-4601-4e92-b448-a9da4809e012" providerId="ADAL" clId="{848F2E50-180B-4DB9-9EF6-4803D25AC9EC}" dt="2026-07-03T00:37:22.698" v="428" actId="1035"/>
          <ac:graphicFrameMkLst>
            <pc:docMk/>
            <pc:sldMk cId="364733940" sldId="284"/>
            <ac:graphicFrameMk id="40" creationId="{52D49B08-839F-9112-06BE-3901232C0A69}"/>
          </ac:graphicFrameMkLst>
        </pc:graphicFrameChg>
        <pc:graphicFrameChg chg="mod">
          <ac:chgData name="Gerardo Jahir Lara Garcia" userId="84d5cd65-4601-4e92-b448-a9da4809e012" providerId="ADAL" clId="{848F2E50-180B-4DB9-9EF6-4803D25AC9EC}" dt="2026-07-03T00:37:22.698" v="428" actId="1035"/>
          <ac:graphicFrameMkLst>
            <pc:docMk/>
            <pc:sldMk cId="364733940" sldId="284"/>
            <ac:graphicFrameMk id="42" creationId="{DB74AD58-F62B-2501-FA23-5BB69634E82B}"/>
          </ac:graphicFrameMkLst>
        </pc:graphicFrameChg>
        <pc:graphicFrameChg chg="mod">
          <ac:chgData name="Gerardo Jahir Lara Garcia" userId="84d5cd65-4601-4e92-b448-a9da4809e012" providerId="ADAL" clId="{848F2E50-180B-4DB9-9EF6-4803D25AC9EC}" dt="2026-07-03T00:06:33.406" v="78" actId="1035"/>
          <ac:graphicFrameMkLst>
            <pc:docMk/>
            <pc:sldMk cId="364733940" sldId="284"/>
            <ac:graphicFrameMk id="48" creationId="{87185316-D4F6-89C2-B1D5-CEA5AA209BED}"/>
          </ac:graphicFrameMkLst>
        </pc:graphicFrameChg>
        <pc:graphicFrameChg chg="mod">
          <ac:chgData name="Gerardo Jahir Lara Garcia" userId="84d5cd65-4601-4e92-b448-a9da4809e012" providerId="ADAL" clId="{848F2E50-180B-4DB9-9EF6-4803D25AC9EC}" dt="2026-07-03T00:12:07.543" v="262" actId="1035"/>
          <ac:graphicFrameMkLst>
            <pc:docMk/>
            <pc:sldMk cId="364733940" sldId="284"/>
            <ac:graphicFrameMk id="60" creationId="{0D7DB8D2-C886-82D6-7638-4524BDAB3E5A}"/>
          </ac:graphicFrameMkLst>
        </pc:graphicFrameChg>
        <pc:picChg chg="mod">
          <ac:chgData name="Gerardo Jahir Lara Garcia" userId="84d5cd65-4601-4e92-b448-a9da4809e012" providerId="ADAL" clId="{848F2E50-180B-4DB9-9EF6-4803D25AC9EC}" dt="2026-07-03T00:10:52.892" v="198" actId="1038"/>
          <ac:picMkLst>
            <pc:docMk/>
            <pc:sldMk cId="364733940" sldId="284"/>
            <ac:picMk id="20" creationId="{C9C0C0FD-BE96-4E4A-3198-FB7F8F03A9DC}"/>
          </ac:picMkLst>
        </pc:picChg>
        <pc:picChg chg="mod">
          <ac:chgData name="Gerardo Jahir Lara Garcia" userId="84d5cd65-4601-4e92-b448-a9da4809e012" providerId="ADAL" clId="{848F2E50-180B-4DB9-9EF6-4803D25AC9EC}" dt="2026-07-03T00:06:28.846" v="56" actId="14100"/>
          <ac:picMkLst>
            <pc:docMk/>
            <pc:sldMk cId="364733940" sldId="284"/>
            <ac:picMk id="46" creationId="{946D7325-0D53-DEBB-5EC3-74790618CBBD}"/>
          </ac:picMkLst>
        </pc:picChg>
      </pc:sldChg>
    </pc:docChg>
  </pc:docChgLst>
  <pc:docChgLst>
    <pc:chgData name="Laura Patricia Galvan Chavez" userId="6b13af50-ce8b-483e-8fc4-f994efaf3289" providerId="ADAL" clId="{655D084B-7DF1-4C24-9447-417D7DC498B8}"/>
    <pc:docChg chg="modSld">
      <pc:chgData name="Laura Patricia Galvan Chavez" userId="6b13af50-ce8b-483e-8fc4-f994efaf3289" providerId="ADAL" clId="{655D084B-7DF1-4C24-9447-417D7DC498B8}" dt="2026-07-03T16:36:00.087" v="24" actId="113"/>
      <pc:docMkLst>
        <pc:docMk/>
      </pc:docMkLst>
      <pc:sldChg chg="modSp mod">
        <pc:chgData name="Laura Patricia Galvan Chavez" userId="6b13af50-ce8b-483e-8fc4-f994efaf3289" providerId="ADAL" clId="{655D084B-7DF1-4C24-9447-417D7DC498B8}" dt="2026-06-29T19:01:53.419" v="0" actId="1076"/>
        <pc:sldMkLst>
          <pc:docMk/>
          <pc:sldMk cId="0" sldId="260"/>
        </pc:sldMkLst>
        <pc:picChg chg="mod">
          <ac:chgData name="Laura Patricia Galvan Chavez" userId="6b13af50-ce8b-483e-8fc4-f994efaf3289" providerId="ADAL" clId="{655D084B-7DF1-4C24-9447-417D7DC498B8}" dt="2026-06-29T19:01:53.419" v="0" actId="1076"/>
          <ac:picMkLst>
            <pc:docMk/>
            <pc:sldMk cId="0" sldId="260"/>
            <ac:picMk id="10" creationId="{00000000-0000-0000-0000-000000000000}"/>
          </ac:picMkLst>
        </pc:picChg>
      </pc:sldChg>
      <pc:sldChg chg="modSp mod">
        <pc:chgData name="Laura Patricia Galvan Chavez" userId="6b13af50-ce8b-483e-8fc4-f994efaf3289" providerId="ADAL" clId="{655D084B-7DF1-4C24-9447-417D7DC498B8}" dt="2026-06-29T19:03:55.645" v="12" actId="20577"/>
        <pc:sldMkLst>
          <pc:docMk/>
          <pc:sldMk cId="0" sldId="279"/>
        </pc:sldMkLst>
        <pc:graphicFrameChg chg="modGraphic">
          <ac:chgData name="Laura Patricia Galvan Chavez" userId="6b13af50-ce8b-483e-8fc4-f994efaf3289" providerId="ADAL" clId="{655D084B-7DF1-4C24-9447-417D7DC498B8}" dt="2026-06-29T19:03:55.645" v="12" actId="20577"/>
          <ac:graphicFrameMkLst>
            <pc:docMk/>
            <pc:sldMk cId="0" sldId="279"/>
            <ac:graphicFrameMk id="514" creationId="{00000000-0000-0000-0000-000000000000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7-03T16:36:00.087" v="24" actId="113"/>
        <pc:sldMkLst>
          <pc:docMk/>
          <pc:sldMk cId="364733940" sldId="284"/>
        </pc:sldMkLst>
        <pc:graphicFrameChg chg="modGraphic">
          <ac:chgData name="Laura Patricia Galvan Chavez" userId="6b13af50-ce8b-483e-8fc4-f994efaf3289" providerId="ADAL" clId="{655D084B-7DF1-4C24-9447-417D7DC498B8}" dt="2026-07-03T16:35:08.887" v="22" actId="113"/>
          <ac:graphicFrameMkLst>
            <pc:docMk/>
            <pc:sldMk cId="364733940" sldId="284"/>
            <ac:graphicFrameMk id="30" creationId="{C554D2C4-3570-30D3-C1A8-E8A7F2BB4E3C}"/>
          </ac:graphicFrameMkLst>
        </pc:graphicFrameChg>
        <pc:graphicFrameChg chg="modGraphic">
          <ac:chgData name="Laura Patricia Galvan Chavez" userId="6b13af50-ce8b-483e-8fc4-f994efaf3289" providerId="ADAL" clId="{655D084B-7DF1-4C24-9447-417D7DC498B8}" dt="2026-07-03T16:35:37.779" v="23" actId="113"/>
          <ac:graphicFrameMkLst>
            <pc:docMk/>
            <pc:sldMk cId="364733940" sldId="284"/>
            <ac:graphicFrameMk id="34" creationId="{89953754-31C6-9602-9A4D-049A35366C50}"/>
          </ac:graphicFrameMkLst>
        </pc:graphicFrameChg>
        <pc:graphicFrameChg chg="modGraphic">
          <ac:chgData name="Laura Patricia Galvan Chavez" userId="6b13af50-ce8b-483e-8fc4-f994efaf3289" providerId="ADAL" clId="{655D084B-7DF1-4C24-9447-417D7DC498B8}" dt="2026-07-03T16:36:00.087" v="24" actId="113"/>
          <ac:graphicFrameMkLst>
            <pc:docMk/>
            <pc:sldMk cId="364733940" sldId="284"/>
            <ac:graphicFrameMk id="42" creationId="{DB74AD58-F62B-2501-FA23-5BB69634E82B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6-29T19:02:41.591" v="2" actId="1076"/>
        <pc:sldMkLst>
          <pc:docMk/>
          <pc:sldMk cId="3805655920" sldId="288"/>
        </pc:sldMkLst>
        <pc:spChg chg="mod">
          <ac:chgData name="Laura Patricia Galvan Chavez" userId="6b13af50-ce8b-483e-8fc4-f994efaf3289" providerId="ADAL" clId="{655D084B-7DF1-4C24-9447-417D7DC498B8}" dt="2026-06-29T19:02:41.591" v="2" actId="1076"/>
          <ac:spMkLst>
            <pc:docMk/>
            <pc:sldMk cId="3805655920" sldId="288"/>
            <ac:spMk id="4" creationId="{00000000-0000-0000-0000-000000000000}"/>
          </ac:spMkLst>
        </pc:spChg>
      </pc:sldChg>
      <pc:sldChg chg="modSp mod">
        <pc:chgData name="Laura Patricia Galvan Chavez" userId="6b13af50-ce8b-483e-8fc4-f994efaf3289" providerId="ADAL" clId="{655D084B-7DF1-4C24-9447-417D7DC498B8}" dt="2026-07-03T16:34:26.053" v="21" actId="113"/>
        <pc:sldMkLst>
          <pc:docMk/>
          <pc:sldMk cId="3240565764" sldId="297"/>
        </pc:sldMkLst>
        <pc:graphicFrameChg chg="modGraphic">
          <ac:chgData name="Laura Patricia Galvan Chavez" userId="6b13af50-ce8b-483e-8fc4-f994efaf3289" providerId="ADAL" clId="{655D084B-7DF1-4C24-9447-417D7DC498B8}" dt="2026-07-03T16:34:26.053" v="21" actId="113"/>
          <ac:graphicFrameMkLst>
            <pc:docMk/>
            <pc:sldMk cId="3240565764" sldId="297"/>
            <ac:graphicFrameMk id="45" creationId="{E347A5CE-CC30-A082-8A8A-06390FA25C82}"/>
          </ac:graphicFrameMkLst>
        </pc:graphicFrameChg>
        <pc:graphicFrameChg chg="modGraphic">
          <ac:chgData name="Laura Patricia Galvan Chavez" userId="6b13af50-ce8b-483e-8fc4-f994efaf3289" providerId="ADAL" clId="{655D084B-7DF1-4C24-9447-417D7DC498B8}" dt="2026-07-03T16:34:11.931" v="20" actId="113"/>
          <ac:graphicFrameMkLst>
            <pc:docMk/>
            <pc:sldMk cId="3240565764" sldId="297"/>
            <ac:graphicFrameMk id="49" creationId="{7C17EAC0-42A7-5945-0BBE-160F04F736BC}"/>
          </ac:graphicFrameMkLst>
        </pc:graphicFrameChg>
        <pc:graphicFrameChg chg="modGraphic">
          <ac:chgData name="Laura Patricia Galvan Chavez" userId="6b13af50-ce8b-483e-8fc4-f994efaf3289" providerId="ADAL" clId="{655D084B-7DF1-4C24-9447-417D7DC498B8}" dt="2026-07-03T16:34:06.649" v="19" actId="113"/>
          <ac:graphicFrameMkLst>
            <pc:docMk/>
            <pc:sldMk cId="3240565764" sldId="297"/>
            <ac:graphicFrameMk id="51" creationId="{494C1DF0-C76B-34FB-343E-A81A4B7A2B7C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7-03T16:32:03.419" v="18" actId="1076"/>
        <pc:sldMkLst>
          <pc:docMk/>
          <pc:sldMk cId="3216744436" sldId="300"/>
        </pc:sldMkLst>
        <pc:spChg chg="mod">
          <ac:chgData name="Laura Patricia Galvan Chavez" userId="6b13af50-ce8b-483e-8fc4-f994efaf3289" providerId="ADAL" clId="{655D084B-7DF1-4C24-9447-417D7DC498B8}" dt="2026-07-03T16:32:03.419" v="18" actId="1076"/>
          <ac:spMkLst>
            <pc:docMk/>
            <pc:sldMk cId="3216744436" sldId="300"/>
            <ac:spMk id="7" creationId="{00000000-0000-0000-0000-000000000000}"/>
          </ac:spMkLst>
        </pc:spChg>
        <pc:graphicFrameChg chg="mod">
          <ac:chgData name="Laura Patricia Galvan Chavez" userId="6b13af50-ce8b-483e-8fc4-f994efaf3289" providerId="ADAL" clId="{655D084B-7DF1-4C24-9447-417D7DC498B8}" dt="2026-07-03T16:31:58.021" v="17" actId="1076"/>
          <ac:graphicFrameMkLst>
            <pc:docMk/>
            <pc:sldMk cId="3216744436" sldId="300"/>
            <ac:graphicFrameMk id="9" creationId="{00000000-0000-0000-0000-000000000000}"/>
          </ac:graphicFrameMkLst>
        </pc:graphicFrameChg>
        <pc:cxnChg chg="mod">
          <ac:chgData name="Laura Patricia Galvan Chavez" userId="6b13af50-ce8b-483e-8fc4-f994efaf3289" providerId="ADAL" clId="{655D084B-7DF1-4C24-9447-417D7DC498B8}" dt="2026-07-03T16:31:58.021" v="17" actId="1076"/>
          <ac:cxnSpMkLst>
            <pc:docMk/>
            <pc:sldMk cId="3216744436" sldId="300"/>
            <ac:cxnSpMk id="8" creationId="{00000000-0000-0000-0000-000000000000}"/>
          </ac:cxnSpMkLst>
        </pc:cxnChg>
      </pc:sldChg>
      <pc:sldChg chg="modSp mod">
        <pc:chgData name="Laura Patricia Galvan Chavez" userId="6b13af50-ce8b-483e-8fc4-f994efaf3289" providerId="ADAL" clId="{655D084B-7DF1-4C24-9447-417D7DC498B8}" dt="2026-07-03T16:31:15.766" v="16" actId="20577"/>
        <pc:sldMkLst>
          <pc:docMk/>
          <pc:sldMk cId="0" sldId="304"/>
        </pc:sldMkLst>
        <pc:spChg chg="mod">
          <ac:chgData name="Laura Patricia Galvan Chavez" userId="6b13af50-ce8b-483e-8fc4-f994efaf3289" providerId="ADAL" clId="{655D084B-7DF1-4C24-9447-417D7DC498B8}" dt="2026-07-03T16:31:15.766" v="16" actId="20577"/>
          <ac:spMkLst>
            <pc:docMk/>
            <pc:sldMk cId="0" sldId="304"/>
            <ac:spMk id="14" creationId="{00000000-0000-0000-0000-000000000000}"/>
          </ac:spMkLst>
        </pc:spChg>
      </pc:sldChg>
      <pc:sldChg chg="modSp mod">
        <pc:chgData name="Laura Patricia Galvan Chavez" userId="6b13af50-ce8b-483e-8fc4-f994efaf3289" providerId="ADAL" clId="{655D084B-7DF1-4C24-9447-417D7DC498B8}" dt="2026-07-03T16:31:02.559" v="14" actId="20577"/>
        <pc:sldMkLst>
          <pc:docMk/>
          <pc:sldMk cId="0" sldId="305"/>
        </pc:sldMkLst>
        <pc:spChg chg="mod">
          <ac:chgData name="Laura Patricia Galvan Chavez" userId="6b13af50-ce8b-483e-8fc4-f994efaf3289" providerId="ADAL" clId="{655D084B-7DF1-4C24-9447-417D7DC498B8}" dt="2026-07-03T16:31:02.559" v="14" actId="20577"/>
          <ac:spMkLst>
            <pc:docMk/>
            <pc:sldMk cId="0" sldId="305"/>
            <ac:spMk id="5" creationId="{00000000-0000-0000-0000-000000000000}"/>
          </ac:spMkLst>
        </pc:spChg>
      </pc:sldChg>
    </pc:docChg>
  </pc:docChgLst>
  <pc:docChgLst>
    <pc:chgData name="Rohan Myron Oprisko" userId="a7c52ab4-f8b1-4d15-aaf6-6388cc510347" providerId="ADAL" clId="{97C26823-81C0-4343-94EC-E87AB1317939}"/>
    <pc:docChg chg="custSel modSld">
      <pc:chgData name="Rohan Myron Oprisko" userId="a7c52ab4-f8b1-4d15-aaf6-6388cc510347" providerId="ADAL" clId="{97C26823-81C0-4343-94EC-E87AB1317939}" dt="2026-06-24T15:57:59.734" v="2" actId="22"/>
      <pc:docMkLst>
        <pc:docMk/>
      </pc:docMkLst>
      <pc:sldChg chg="addSp delSp mod">
        <pc:chgData name="Rohan Myron Oprisko" userId="a7c52ab4-f8b1-4d15-aaf6-6388cc510347" providerId="ADAL" clId="{97C26823-81C0-4343-94EC-E87AB1317939}" dt="2026-06-24T15:57:59.734" v="2" actId="22"/>
        <pc:sldMkLst>
          <pc:docMk/>
          <pc:sldMk cId="748044913" sldId="287"/>
        </pc:sldMkLst>
        <pc:spChg chg="add">
          <ac:chgData name="Rohan Myron Oprisko" userId="a7c52ab4-f8b1-4d15-aaf6-6388cc510347" providerId="ADAL" clId="{97C26823-81C0-4343-94EC-E87AB1317939}" dt="2026-06-24T15:57:59.734" v="2" actId="22"/>
          <ac:spMkLst>
            <pc:docMk/>
            <pc:sldMk cId="748044913" sldId="287"/>
            <ac:spMk id="10" creationId="{931A1F01-7FEE-73A0-3AFC-318BCAB974C5}"/>
          </ac:spMkLst>
        </pc:spChg>
        <pc:spChg chg="add">
          <ac:chgData name="Rohan Myron Oprisko" userId="a7c52ab4-f8b1-4d15-aaf6-6388cc510347" providerId="ADAL" clId="{97C26823-81C0-4343-94EC-E87AB1317939}" dt="2026-06-24T15:57:59.734" v="2" actId="22"/>
          <ac:spMkLst>
            <pc:docMk/>
            <pc:sldMk cId="748044913" sldId="287"/>
            <ac:spMk id="12" creationId="{D70F247F-0853-E5D0-330A-DCC7E7107A05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006455"/>
              </a:solidFill>
            </c:spPr>
            <c:extLst>
              <c:ext xmlns:c16="http://schemas.microsoft.com/office/drawing/2014/chart" uri="{C3380CC4-5D6E-409C-BE32-E72D297353CC}">
                <c16:uniqueId val="{00000001-A687-4DE7-B2EE-11589426C880}"/>
              </c:ext>
            </c:extLst>
          </c:dPt>
          <c:dPt>
            <c:idx val="1"/>
            <c:bubble3D val="0"/>
            <c:spPr>
              <a:solidFill>
                <a:schemeClr val="tx2"/>
              </a:solidFill>
            </c:spPr>
            <c:extLst>
              <c:ext xmlns:c16="http://schemas.microsoft.com/office/drawing/2014/chart" uri="{C3380CC4-5D6E-409C-BE32-E72D297353CC}">
                <c16:uniqueId val="{00000003-A687-4DE7-B2EE-11589426C880}"/>
              </c:ext>
            </c:extLst>
          </c:dPt>
          <c:dPt>
            <c:idx val="2"/>
            <c:bubble3D val="0"/>
            <c:spPr>
              <a:solidFill>
                <a:srgbClr val="691C32"/>
              </a:solidFill>
            </c:spPr>
            <c:extLst>
              <c:ext xmlns:c16="http://schemas.microsoft.com/office/drawing/2014/chart" uri="{C3380CC4-5D6E-409C-BE32-E72D297353CC}">
                <c16:uniqueId val="{00000005-A687-4DE7-B2EE-11589426C880}"/>
              </c:ext>
            </c:extLst>
          </c:dPt>
          <c:dPt>
            <c:idx val="3"/>
            <c:bubble3D val="0"/>
            <c:spPr>
              <a:solidFill>
                <a:srgbClr val="BC955C"/>
              </a:solidFill>
            </c:spPr>
            <c:extLst>
              <c:ext xmlns:c16="http://schemas.microsoft.com/office/drawing/2014/chart" uri="{C3380CC4-5D6E-409C-BE32-E72D297353CC}">
                <c16:uniqueId val="{00000007-A687-4DE7-B2EE-11589426C880}"/>
              </c:ext>
            </c:extLst>
          </c:dPt>
          <c:dPt>
            <c:idx val="4"/>
            <c:bubble3D val="0"/>
            <c:spPr>
              <a:solidFill>
                <a:srgbClr val="9E9E9E"/>
              </a:solidFill>
            </c:spPr>
            <c:extLst>
              <c:ext xmlns:c16="http://schemas.microsoft.com/office/drawing/2014/chart" uri="{C3380CC4-5D6E-409C-BE32-E72D297353CC}">
                <c16:uniqueId val="{00000009-A687-4DE7-B2EE-11589426C880}"/>
              </c:ext>
            </c:extLst>
          </c:dPt>
          <c:cat>
            <c:strRef>
              <c:f>Sheet1!$A$2:$A$6</c:f>
              <c:strCache>
                <c:ptCount val="5"/>
                <c:pt idx="0">
                  <c:v>IMSS</c:v>
                </c:pt>
                <c:pt idx="1">
                  <c:v>IMSS Coplamar</c:v>
                </c:pt>
                <c:pt idx="2">
                  <c:v>ISSSTE</c:v>
                </c:pt>
                <c:pt idx="3">
                  <c:v>IMSS-BIENESTAR</c:v>
                </c:pt>
                <c:pt idx="4">
                  <c:v>Otros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2218508</c:v>
                </c:pt>
                <c:pt idx="1">
                  <c:v>1203362</c:v>
                </c:pt>
                <c:pt idx="2">
                  <c:v>479627</c:v>
                </c:pt>
                <c:pt idx="3">
                  <c:v>3215388</c:v>
                </c:pt>
                <c:pt idx="4">
                  <c:v>32254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687-4DE7-B2EE-11589426C8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3F86-4B08-90B8-DBA86ABD6228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3F86-4B08-90B8-DBA86ABD6228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38.705772328155035</c:v>
                </c:pt>
                <c:pt idx="1">
                  <c:v>61.294227671844965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F86-4B08-90B8-DBA86ABD62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title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AE21-45C6-9B54-4B83C80AF693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AE21-45C6-9B54-4B83C80AF693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13.9435635463</c:v>
                </c:pt>
                <c:pt idx="1">
                  <c:v>86.056436453700002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E21-45C6-9B54-4B83C80AF6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zero"/>
    <c:showDLblsOverMax val="1"/>
  </c:char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F5FA-4F91-9FED-EC2CB720AE77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F5FA-4F91-9FED-EC2CB720AE77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43.42</c:v>
                </c:pt>
                <c:pt idx="1">
                  <c:v>56.58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5FA-4F91-9FED-EC2CB720AE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4AF1-485A-A0CA-9E322FA7B258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4AF1-485A-A0CA-9E322FA7B258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35.61</c:v>
                </c:pt>
                <c:pt idx="1">
                  <c:v>64.39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AF1-485A-A0CA-9E322FA7B2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006455"/>
            </a:solidFill>
          </c:spPr>
          <c:invertIfNegative val="1"/>
          <c:dPt>
            <c:idx val="3"/>
            <c:invertIfNegative val="1"/>
            <c:bubble3D val="0"/>
            <c:spPr>
              <a:solidFill>
                <a:srgbClr val="691C32"/>
              </a:solidFill>
            </c:spPr>
            <c:extLst>
              <c:ext xmlns:c16="http://schemas.microsoft.com/office/drawing/2014/chart" uri="{C3380CC4-5D6E-409C-BE32-E72D297353CC}">
                <c16:uniqueId val="{00000001-D815-46DC-8A18-916DA0770B2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FFFFFF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155</c:v>
                </c:pt>
                <c:pt idx="1">
                  <c:v>354</c:v>
                </c:pt>
                <c:pt idx="2">
                  <c:v>438</c:v>
                </c:pt>
                <c:pt idx="3">
                  <c:v>449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D815-46DC-8A18-916DA0770B22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248193792"/>
        <c:axId val="248225792"/>
      </c:barChart>
      <c:catAx>
        <c:axId val="24819379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  <a:endParaRPr lang="es-MX"/>
          </a:p>
        </c:txPr>
        <c:crossAx val="248225792"/>
        <c:crosses val="autoZero"/>
        <c:auto val="1"/>
        <c:lblAlgn val="ctr"/>
        <c:lblOffset val="100"/>
        <c:noMultiLvlLbl val="0"/>
      </c:catAx>
      <c:valAx>
        <c:axId val="248225792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248193792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Servicios para Empresas, Personas y el Hogar</c:v>
                </c:pt>
                <c:pt idx="1">
                  <c:v>Agricultura, Ganaderia, Silvicultura, Pesca y Caza</c:v>
                </c:pt>
                <c:pt idx="2">
                  <c:v>Industrias de la Transformación</c:v>
                </c:pt>
                <c:pt idx="3">
                  <c:v>Ind Eléctrica y Captación y Suministro de Agua Potable</c:v>
                </c:pt>
                <c:pt idx="4">
                  <c:v>Comercio</c:v>
                </c:pt>
                <c:pt idx="5">
                  <c:v>Transportes y Comunicaciones</c:v>
                </c:pt>
                <c:pt idx="6">
                  <c:v>Servicios Sociales y Comunales</c:v>
                </c:pt>
                <c:pt idx="7">
                  <c:v>Industria de la Construcción</c:v>
                </c:pt>
                <c:pt idx="8">
                  <c:v>Industrias Extractivas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124079</c:v>
                </c:pt>
                <c:pt idx="1">
                  <c:v>22241</c:v>
                </c:pt>
                <c:pt idx="2">
                  <c:v>191291</c:v>
                </c:pt>
                <c:pt idx="3">
                  <c:v>5824</c:v>
                </c:pt>
                <c:pt idx="4">
                  <c:v>161570</c:v>
                </c:pt>
                <c:pt idx="5">
                  <c:v>40985</c:v>
                </c:pt>
                <c:pt idx="6">
                  <c:v>64160</c:v>
                </c:pt>
                <c:pt idx="7">
                  <c:v>49249</c:v>
                </c:pt>
                <c:pt idx="8">
                  <c:v>1504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400A-417E-8E61-A240176A658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Servicios para Empresas, Personas y el Hogar</c:v>
                </c:pt>
                <c:pt idx="1">
                  <c:v>Agricultura, Ganaderia, Silvicultura, Pesca y Caza</c:v>
                </c:pt>
                <c:pt idx="2">
                  <c:v>Industrias de la Transformación</c:v>
                </c:pt>
                <c:pt idx="3">
                  <c:v>Ind Eléctrica y Captación y Suministro de Agua Potable</c:v>
                </c:pt>
                <c:pt idx="4">
                  <c:v>Comercio</c:v>
                </c:pt>
                <c:pt idx="5">
                  <c:v>Transportes y Comunicaciones</c:v>
                </c:pt>
                <c:pt idx="6">
                  <c:v>Servicios Sociales y Comunales</c:v>
                </c:pt>
                <c:pt idx="7">
                  <c:v>Industria de la Construcción</c:v>
                </c:pt>
                <c:pt idx="8">
                  <c:v>Industrias Extractivas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121881</c:v>
                </c:pt>
                <c:pt idx="1">
                  <c:v>21877</c:v>
                </c:pt>
                <c:pt idx="2">
                  <c:v>188213</c:v>
                </c:pt>
                <c:pt idx="3">
                  <c:v>5795</c:v>
                </c:pt>
                <c:pt idx="4">
                  <c:v>163625</c:v>
                </c:pt>
                <c:pt idx="5">
                  <c:v>41598</c:v>
                </c:pt>
                <c:pt idx="6">
                  <c:v>66038</c:v>
                </c:pt>
                <c:pt idx="7">
                  <c:v>50829</c:v>
                </c:pt>
                <c:pt idx="8">
                  <c:v>1565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400A-417E-8E61-A240176A65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205365632"/>
        <c:axId val="205367168"/>
      </c:barChart>
      <c:catAx>
        <c:axId val="205365632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  <a:endParaRPr lang="es-MX"/>
          </a:p>
        </c:txPr>
        <c:crossAx val="205367168"/>
        <c:crosses val="autoZero"/>
        <c:auto val="1"/>
        <c:lblAlgn val="ctr"/>
        <c:lblOffset val="100"/>
        <c:noMultiLvlLbl val="0"/>
      </c:catAx>
      <c:valAx>
        <c:axId val="205367168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205365632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612217</c:v>
                </c:pt>
                <c:pt idx="1">
                  <c:v>625132</c:v>
                </c:pt>
                <c:pt idx="2">
                  <c:v>591591</c:v>
                </c:pt>
                <c:pt idx="3">
                  <c:v>590768</c:v>
                </c:pt>
                <c:pt idx="4">
                  <c:v>616137</c:v>
                </c:pt>
                <c:pt idx="5">
                  <c:v>637794</c:v>
                </c:pt>
                <c:pt idx="6">
                  <c:v>655095</c:v>
                </c:pt>
                <c:pt idx="7">
                  <c:v>660903</c:v>
                </c:pt>
                <c:pt idx="8">
                  <c:v>661421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C874-4857-8165-02F4177A4F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248875264"/>
        <c:axId val="248877056"/>
      </c:barChart>
      <c:catAx>
        <c:axId val="248875264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nextTo"/>
        <c:crossAx val="248877056"/>
        <c:crosses val="autoZero"/>
        <c:auto val="1"/>
        <c:lblAlgn val="ctr"/>
        <c:lblOffset val="100"/>
        <c:noMultiLvlLbl val="0"/>
      </c:catAx>
      <c:valAx>
        <c:axId val="248877056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248875264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3760224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25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26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chart" Target="../charts/chart1.xml"/><Relationship Id="rId10" Type="http://schemas.openxmlformats.org/officeDocument/2006/relationships/image" Target="../media/image18.png"/><Relationship Id="rId4" Type="http://schemas.openxmlformats.org/officeDocument/2006/relationships/image" Target="../media/image13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2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chart" Target="../charts/chart6.xml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8.xml"/><Relationship Id="rId4" Type="http://schemas.openxmlformats.org/officeDocument/2006/relationships/image" Target="../media/image4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Puebla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176711" y="5472000"/>
            <a:ext cx="1418978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rPr dirty="0" err="1"/>
              <a:t>Ficha</a:t>
            </a:r>
            <a:r>
              <a:rPr dirty="0"/>
              <a:t>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rPr dirty="0"/>
              <a:t>Ju</a:t>
            </a:r>
            <a:r>
              <a:rPr lang="es-MX" dirty="0"/>
              <a:t>l</a:t>
            </a:r>
            <a:r>
              <a:rPr dirty="0"/>
              <a:t>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5" name="Google Shape;83;p16">
            <a:extLst>
              <a:ext uri="{FF2B5EF4-FFF2-40B4-BE49-F238E27FC236}">
                <a16:creationId xmlns:a16="http://schemas.microsoft.com/office/drawing/2014/main" id="{4F24C730-AE1E-FA9A-13D9-9399EE6AA02E}"/>
              </a:ext>
            </a:extLst>
          </p:cNvPr>
          <p:cNvSpPr/>
          <p:nvPr/>
        </p:nvSpPr>
        <p:spPr>
          <a:xfrm>
            <a:off x="0" y="571500"/>
            <a:ext cx="7772400" cy="1688001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" name="Google Shape;84;p16">
            <a:extLst>
              <a:ext uri="{FF2B5EF4-FFF2-40B4-BE49-F238E27FC236}">
                <a16:creationId xmlns:a16="http://schemas.microsoft.com/office/drawing/2014/main" id="{5DEE2817-7DD3-83A1-987C-8C138D1091F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12468738"/>
              </p:ext>
            </p:extLst>
          </p:nvPr>
        </p:nvGraphicFramePr>
        <p:xfrm>
          <a:off x="142050" y="2287772"/>
          <a:ext cx="7462750" cy="712546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74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9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9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3625">
                <a:tc>
                  <a:txBody>
                    <a:bodyPr/>
                    <a:lstStyle/>
                    <a:p>
                      <a:pPr marL="90000" marR="35999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100" b="1" u="none" strike="noStrike" cap="none" dirty="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90000" marR="35999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100" b="1" u="none" strike="noStrike" cap="none" dirty="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</a:t>
                      </a:r>
                      <a:br>
                        <a:rPr lang="es" sz="1100" b="1" u="none" strike="noStrike" cap="none" dirty="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es" sz="1100" b="1" u="none" strike="noStrike" cap="none" dirty="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Prestaciones Médicas</a:t>
                      </a:r>
                      <a:endParaRPr sz="1100" b="1" u="none" strike="noStrike" cap="none" dirty="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72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Mtro.</a:t>
                      </a:r>
                      <a:r>
                        <a:rPr lang="es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Ernesto Corona Alvarado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Médico Cirujano y Partero, Maestría en Administración Hospitalaria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01 de </a:t>
                      </a:r>
                      <a:r>
                        <a:rPr lang="es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abril </a:t>
                      </a: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de 2025</a:t>
                      </a:r>
                      <a:endParaRPr sz="11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marL="90000" marR="35999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</a:t>
                      </a:r>
                      <a:b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Salud en el Trabajo, Prestaciones Económicas </a:t>
                      </a:r>
                      <a:b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 Sociales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72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Erick Mauricio Gutiérrez Cortés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Licenciatura en Derecho y Ciencias Sociales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01 de julio 2023</a:t>
                      </a:r>
                      <a:endParaRPr sz="11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marL="90000" marR="35999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</a:t>
                      </a:r>
                      <a:b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Afiliación y Cobranza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72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Vladimir Ramírez Peralta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Licenciatura en Contabilidad y Auditor</a:t>
                      </a:r>
                      <a:r>
                        <a:rPr lang="es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.</a:t>
                      </a: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02 de diciembre de 2024</a:t>
                      </a:r>
                      <a:endParaRPr sz="11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marL="90000" marR="35999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100" b="1" u="none" strike="noStrike" cap="none" dirty="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</a:t>
                      </a:r>
                      <a:br>
                        <a:rPr lang="es" sz="1100" b="1" u="none" strike="noStrike" cap="none" dirty="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es" sz="1100" b="1" u="none" strike="noStrike" cap="none" dirty="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Desarrollo de Personal</a:t>
                      </a:r>
                      <a:endParaRPr sz="1100" b="1" u="none" strike="noStrike" cap="none" dirty="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72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Gabriela Bernardina Pérez Arcega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Licenciatura en Derecho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01 de diciembre de 2022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marL="90000" marR="35999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</a:t>
                      </a:r>
                      <a:b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Finanzas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72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Manuel Sanromán Vázquez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Licenciatura en Contaduría Pública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17 de febrero de 2014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marL="90000" marR="35999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Administrativos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72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C. </a:t>
                      </a:r>
                      <a:r>
                        <a:rPr lang="es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Mauricio Roldán Parra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20 de febrero de 2025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marL="90000" marR="35999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Jurídicos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72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José Maccise Flores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Licenciatura en Derecho y Juicios Orales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02 de diciembre de 2024</a:t>
                      </a:r>
                      <a:endParaRPr sz="11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marL="90000" marR="35999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Secretario General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90000" marR="35999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 b="1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la Sección I SNTSS 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72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5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C.D.</a:t>
                      </a:r>
                      <a:r>
                        <a:rPr lang="es-MX" sz="10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María Elena López de la Vega</a:t>
                      </a:r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Cirujano Dentista</a:t>
                      </a:r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0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 16 junio de 2025</a:t>
                      </a:r>
                      <a:endParaRPr lang="es-MX" sz="11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5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-9000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55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Google Shape;85;p16">
            <a:extLst>
              <a:ext uri="{FF2B5EF4-FFF2-40B4-BE49-F238E27FC236}">
                <a16:creationId xmlns:a16="http://schemas.microsoft.com/office/drawing/2014/main" id="{9B5F7AB3-0677-F879-0A2E-23EAD9F2F0B4}"/>
              </a:ext>
            </a:extLst>
          </p:cNvPr>
          <p:cNvSpPr txBox="1"/>
          <p:nvPr/>
        </p:nvSpPr>
        <p:spPr>
          <a:xfrm>
            <a:off x="2489525" y="633935"/>
            <a:ext cx="5020500" cy="1304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1" i="0" u="none" strike="noStrike" cap="none">
                <a:solidFill>
                  <a:srgbClr val="005C4C"/>
                </a:solidFill>
                <a:latin typeface="Montserrat"/>
                <a:ea typeface="Montserrat"/>
                <a:cs typeface="Montserrat"/>
                <a:sym typeface="Montserrat"/>
              </a:rPr>
              <a:t>Dra. María Magdalena Tinajero Esquivel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00" b="0" i="0" u="none" strike="noStrike" cap="none">
                <a:solidFill>
                  <a:srgbClr val="474747"/>
                </a:solidFill>
                <a:latin typeface="Montserrat"/>
                <a:ea typeface="Montserrat"/>
                <a:cs typeface="Montserrat"/>
                <a:sym typeface="Montserrat"/>
              </a:rPr>
              <a:t>Médica Cirujana especialista en Genética Humana</a:t>
            </a:r>
            <a:endParaRPr sz="1000" b="0" i="0" u="none" strike="noStrike" cap="none">
              <a:solidFill>
                <a:srgbClr val="47474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00">
                <a:solidFill>
                  <a:srgbClr val="474747"/>
                </a:solidFill>
                <a:latin typeface="Montserrat"/>
                <a:ea typeface="Montserrat"/>
                <a:cs typeface="Montserrat"/>
                <a:sym typeface="Montserrat"/>
              </a:rPr>
              <a:t>Maestría en Ciencias de la Salud</a:t>
            </a:r>
            <a:endParaRPr sz="1000">
              <a:solidFill>
                <a:srgbClr val="47474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00">
                <a:solidFill>
                  <a:srgbClr val="474747"/>
                </a:solidFill>
                <a:latin typeface="Montserrat"/>
                <a:ea typeface="Montserrat"/>
                <a:cs typeface="Montserrat"/>
                <a:sym typeface="Montserrat"/>
              </a:rPr>
              <a:t>Doctorado en Alta Dirección en Establecimientos de Salud</a:t>
            </a: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s" sz="1000">
              <a:solidFill>
                <a:srgbClr val="47474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00">
                <a:solidFill>
                  <a:srgbClr val="474747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200" b="1" i="0" u="none" strike="noStrike" cap="none">
                <a:solidFill>
                  <a:srgbClr val="005C4C"/>
                </a:solidFill>
                <a:latin typeface="Montserrat"/>
                <a:ea typeface="Montserrat"/>
                <a:cs typeface="Montserrat"/>
                <a:sym typeface="Montserrat"/>
              </a:rPr>
              <a:t>Inicio en el cargo: </a:t>
            </a:r>
            <a:r>
              <a:rPr lang="es" sz="1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16 de mayo de 2024.</a:t>
            </a:r>
            <a:endParaRPr sz="11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" name="Google Shape;88;p16">
            <a:extLst>
              <a:ext uri="{FF2B5EF4-FFF2-40B4-BE49-F238E27FC236}">
                <a16:creationId xmlns:a16="http://schemas.microsoft.com/office/drawing/2014/main" id="{4AC51FFD-BF48-A264-E9A0-F5C4802D904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6950" r="15482" b="8842"/>
          <a:stretch/>
        </p:blipFill>
        <p:spPr>
          <a:xfrm>
            <a:off x="659325" y="686864"/>
            <a:ext cx="1567825" cy="1329400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pic>
      <p:pic>
        <p:nvPicPr>
          <p:cNvPr id="13" name="Google Shape;89;p16">
            <a:extLst>
              <a:ext uri="{FF2B5EF4-FFF2-40B4-BE49-F238E27FC236}">
                <a16:creationId xmlns:a16="http://schemas.microsoft.com/office/drawing/2014/main" id="{164D347D-111E-2368-3B9E-7D3896CA8B3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15146" b="18287"/>
          <a:stretch/>
        </p:blipFill>
        <p:spPr>
          <a:xfrm>
            <a:off x="5768511" y="2259501"/>
            <a:ext cx="1138625" cy="915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0;p16">
            <a:extLst>
              <a:ext uri="{FF2B5EF4-FFF2-40B4-BE49-F238E27FC236}">
                <a16:creationId xmlns:a16="http://schemas.microsoft.com/office/drawing/2014/main" id="{E0D31C37-85B1-F424-B995-4B29970F045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5456" t="-1348" r="8829" b="1348"/>
          <a:stretch>
            <a:fillRect/>
          </a:stretch>
        </p:blipFill>
        <p:spPr>
          <a:xfrm>
            <a:off x="5768512" y="3126338"/>
            <a:ext cx="1138624" cy="10831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91;p16">
            <a:extLst>
              <a:ext uri="{FF2B5EF4-FFF2-40B4-BE49-F238E27FC236}">
                <a16:creationId xmlns:a16="http://schemas.microsoft.com/office/drawing/2014/main" id="{16909567-F690-008B-230E-343AF2BE1E42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rcRect l="5272" r="1607" b="10547"/>
          <a:stretch>
            <a:fillRect/>
          </a:stretch>
        </p:blipFill>
        <p:spPr>
          <a:xfrm>
            <a:off x="5768512" y="4209453"/>
            <a:ext cx="1138624" cy="89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92;p16">
            <a:extLst>
              <a:ext uri="{FF2B5EF4-FFF2-40B4-BE49-F238E27FC236}">
                <a16:creationId xmlns:a16="http://schemas.microsoft.com/office/drawing/2014/main" id="{2E9E68BF-9F3C-FD10-F52D-77B9B67508DF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r="3782" b="12296"/>
          <a:stretch>
            <a:fillRect/>
          </a:stretch>
        </p:blipFill>
        <p:spPr>
          <a:xfrm>
            <a:off x="5768511" y="5106879"/>
            <a:ext cx="1138624" cy="82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93;p16">
            <a:extLst>
              <a:ext uri="{FF2B5EF4-FFF2-40B4-BE49-F238E27FC236}">
                <a16:creationId xmlns:a16="http://schemas.microsoft.com/office/drawing/2014/main" id="{616BF7E5-214A-EA7D-0C5E-9E0C1306A543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6334" t="10501" r="9643" b="2172"/>
          <a:stretch>
            <a:fillRect/>
          </a:stretch>
        </p:blipFill>
        <p:spPr>
          <a:xfrm>
            <a:off x="5768510" y="5935378"/>
            <a:ext cx="1138624" cy="91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94;p16">
            <a:extLst>
              <a:ext uri="{FF2B5EF4-FFF2-40B4-BE49-F238E27FC236}">
                <a16:creationId xmlns:a16="http://schemas.microsoft.com/office/drawing/2014/main" id="{BCF6E37C-384F-DB04-FC80-50671E885CD8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 l="774" t="4086" r="738" b="16075"/>
          <a:stretch>
            <a:fillRect/>
          </a:stretch>
        </p:blipFill>
        <p:spPr>
          <a:xfrm>
            <a:off x="5768508" y="6851228"/>
            <a:ext cx="1138623" cy="82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95;p16">
            <a:extLst>
              <a:ext uri="{FF2B5EF4-FFF2-40B4-BE49-F238E27FC236}">
                <a16:creationId xmlns:a16="http://schemas.microsoft.com/office/drawing/2014/main" id="{2755192D-E869-9823-BC11-5A1E5A57A653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 l="1239" r="1239" b="15958"/>
          <a:stretch>
            <a:fillRect/>
          </a:stretch>
        </p:blipFill>
        <p:spPr>
          <a:xfrm>
            <a:off x="5768507" y="7679728"/>
            <a:ext cx="1138623" cy="87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35ECB733-BCAC-1A40-F80A-51B5302681F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68507" y="8567306"/>
            <a:ext cx="1138623" cy="838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48% de la población (incluye COPLAMAR)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82800" y="462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CONAPO, proyección a enero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2228582"/>
              </p:ext>
            </p:extLst>
          </p:nvPr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6136068" y="1548748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rPr dirty="0"/>
              <a:t>2,218,508</a:t>
            </a:r>
            <a:br>
              <a:rPr dirty="0"/>
            </a:br>
            <a:r>
              <a:rPr dirty="0"/>
              <a:t>31%</a:t>
            </a:r>
          </a:p>
        </p:txBody>
      </p:sp>
      <p:pic>
        <p:nvPicPr>
          <p:cNvPr id="119" name="Picture 118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8578" y="1605599"/>
            <a:ext cx="377265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5449950" y="1778399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6172561" y="32904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rPr dirty="0"/>
              <a:t>1,203,362</a:t>
            </a:r>
            <a:br>
              <a:rPr dirty="0"/>
            </a:br>
            <a:r>
              <a:rPr dirty="0"/>
              <a:t>17%</a:t>
            </a:r>
          </a:p>
        </p:txBody>
      </p:sp>
      <p:pic>
        <p:nvPicPr>
          <p:cNvPr id="122" name="Picture 121" descr="imss_coplam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51200" y="3351599"/>
            <a:ext cx="586036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5327550" y="3524848"/>
            <a:ext cx="122400" cy="1224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5461877" y="435555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rPr dirty="0"/>
              <a:t>479,627</a:t>
            </a:r>
            <a:br>
              <a:rPr dirty="0"/>
            </a:br>
            <a:r>
              <a:rPr dirty="0"/>
              <a:t>7%</a:t>
            </a:r>
          </a:p>
        </p:txBody>
      </p:sp>
      <p:pic>
        <p:nvPicPr>
          <p:cNvPr id="125" name="Picture 124" descr="isss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14059" y="4377600"/>
            <a:ext cx="1437091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3759225" y="4561186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528716" y="3272848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>
              <a:defRPr sz="1400" b="1">
                <a:solidFill>
                  <a:srgbClr val="595959"/>
                </a:solidFill>
                <a:latin typeface="Montserrat"/>
              </a:defRPr>
            </a:pPr>
            <a:r>
              <a:rPr dirty="0"/>
              <a:t>3,215,388</a:t>
            </a:r>
            <a:br>
              <a:rPr dirty="0"/>
            </a:br>
            <a:r>
              <a:rPr dirty="0"/>
              <a:t>45%</a:t>
            </a:r>
          </a:p>
        </p:txBody>
      </p:sp>
      <p:pic>
        <p:nvPicPr>
          <p:cNvPr id="128" name="Picture 127" descr="2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2730" y="2857979"/>
            <a:ext cx="1247031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1943775" y="303077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1336196" y="124878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>
              <a:defRPr sz="1400" b="1">
                <a:solidFill>
                  <a:srgbClr val="595959"/>
                </a:solidFill>
                <a:latin typeface="Montserrat"/>
              </a:defRPr>
            </a:pPr>
            <a:r>
              <a:rPr dirty="0" err="1"/>
              <a:t>Otros</a:t>
            </a:r>
            <a:br>
              <a:rPr dirty="0"/>
            </a:br>
            <a:r>
              <a:rPr dirty="0"/>
              <a:t>32,254</a:t>
            </a:r>
            <a:br>
              <a:rPr dirty="0"/>
            </a:br>
            <a:r>
              <a:rPr dirty="0"/>
              <a:t>0.45%</a:t>
            </a:r>
          </a:p>
        </p:txBody>
      </p:sp>
      <p:pic>
        <p:nvPicPr>
          <p:cNvPr id="131" name="Picture 130" descr="otro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94575" y="1227590"/>
            <a:ext cx="468000" cy="468000"/>
          </a:xfrm>
          <a:prstGeom prst="rect">
            <a:avLst/>
          </a:prstGeom>
        </p:spPr>
      </p:pic>
      <p:sp>
        <p:nvSpPr>
          <p:cNvPr id="132" name="Rectangle 131"/>
          <p:cNvSpPr/>
          <p:nvPr/>
        </p:nvSpPr>
        <p:spPr>
          <a:xfrm>
            <a:off x="2491200" y="13536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7,149,139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2800" y="95076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mayo de 2026.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2800" y="96588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 Se refiere a personas derechohabientes (titulares y familiares) adscritas a UMF.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2800" y="9813600"/>
            <a:ext cx="7653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² La afiliación al Seguro de Salud de Familia disminuye en virtud del incremento en los nuevos esquemas de aseguramiento.</a:t>
            </a:r>
          </a:p>
        </p:txBody>
      </p:sp>
      <p:graphicFrame>
        <p:nvGraphicFramePr>
          <p:cNvPr id="137" name="Table 1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6129298"/>
              </p:ext>
            </p:extLst>
          </p:nvPr>
        </p:nvGraphicFramePr>
        <p:xfrm>
          <a:off x="313200" y="5270400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Categoría</a:t>
                      </a:r>
                      <a:endParaRPr dirty="0"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PDA¹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1,954,798</a:t>
                      </a:r>
                    </a:p>
                  </a:txBody>
                  <a:tcPr anchor="ctr"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2,218,508</a:t>
                      </a:r>
                    </a:p>
                  </a:txBody>
                  <a:tcPr anchor="ctr"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13%</a:t>
                      </a:r>
                    </a:p>
                  </a:txBody>
                  <a:tcPr anchor="ctr">
                    <a:solidFill>
                      <a:srgbClr val="EBD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1,196,326</a:t>
                      </a:r>
                    </a:p>
                  </a:txBody>
                  <a:tcPr anchor="ctr"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1,408,684</a:t>
                      </a:r>
                    </a:p>
                  </a:txBody>
                  <a:tcPr anchor="ctr"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18%</a:t>
                      </a:r>
                    </a:p>
                  </a:txBody>
                  <a:tcPr anchor="ctr">
                    <a:solidFill>
                      <a:srgbClr val="EBD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 anchor="ctr"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620,188</a:t>
                      </a:r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661,421</a:t>
                      </a:r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138,512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194,349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18,772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20,278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418,854</a:t>
                      </a:r>
                    </a:p>
                  </a:txBody>
                  <a:tcPr anchor="ctr"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485,163</a:t>
                      </a:r>
                    </a:p>
                  </a:txBody>
                  <a:tcPr anchor="ctr"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16%</a:t>
                      </a:r>
                    </a:p>
                  </a:txBody>
                  <a:tcPr anchor="ctr">
                    <a:solidFill>
                      <a:srgbClr val="CCE0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408,795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477,770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6,185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1,927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-69%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3,874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5,466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758,472</a:t>
                      </a:r>
                    </a:p>
                  </a:txBody>
                  <a:tcPr anchor="ctr"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809,824</a:t>
                      </a:r>
                    </a:p>
                  </a:txBody>
                  <a:tcPr anchor="ctr"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7%</a:t>
                      </a:r>
                    </a:p>
                  </a:txBody>
                  <a:tcPr anchor="ctr">
                    <a:solidFill>
                      <a:srgbClr val="EBD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252,564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285,161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13%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356,640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316,606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-11%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149,268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208,057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39%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138" name="Table 1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0678328"/>
              </p:ext>
            </p:extLst>
          </p:nvPr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mayo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Variación</a:t>
                      </a:r>
                      <a:endParaRPr dirty="0"/>
                    </a:p>
                  </a:txBody>
                  <a:tcPr marL="0" marR="0" marT="216000" marB="0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2026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1,460</a:t>
                      </a:r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1,398</a:t>
                      </a:r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rPr dirty="0"/>
                        <a:t>-4%</a:t>
                      </a:r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9" name="Table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4950551"/>
              </p:ext>
            </p:extLst>
          </p:nvPr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mayo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Variación</a:t>
                      </a:r>
                      <a:endParaRPr dirty="0"/>
                    </a:p>
                  </a:txBody>
                  <a:tcPr marL="0" marR="0" marT="216000" marB="0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2026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8,801</a:t>
                      </a:r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rPr dirty="0"/>
                        <a:t>11,783</a:t>
                      </a:r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rPr dirty="0"/>
                        <a:t>34%</a:t>
                      </a:r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/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 e IMSS Coplamar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21_p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475999"/>
            <a:ext cx="5461200" cy="5011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1145641"/>
              </p:ext>
            </p:extLst>
          </p:nvPr>
        </p:nvGraphicFramePr>
        <p:xfrm>
          <a:off x="97200" y="6854400"/>
          <a:ext cx="4359600" cy="149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Nivel</a:t>
                      </a:r>
                      <a:endParaRPr dirty="0"/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 dirty="0">
                          <a:latin typeface="Montserrat"/>
                        </a:rPr>
                        <a:t>4</a:t>
                      </a:r>
                      <a:r>
                        <a:rPr lang="es-MX" sz="1000" dirty="0">
                          <a:latin typeface="Montserrat"/>
                        </a:rPr>
                        <a:t>5</a:t>
                      </a:r>
                      <a:r>
                        <a:rPr lang="es-MX" sz="1050" b="0" baseline="30000" dirty="0">
                          <a:latin typeface="Montserrat"/>
                        </a:rPr>
                        <a:t>1</a:t>
                      </a:r>
                      <a:endParaRPr sz="700" b="0" baseline="30000" dirty="0">
                        <a:latin typeface="Montserrat"/>
                      </a:endParaRP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235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25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125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7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 dirty="0">
                          <a:latin typeface="Montserrat"/>
                        </a:rPr>
                        <a:t>6</a:t>
                      </a:r>
                      <a:r>
                        <a:rPr lang="es-MX" sz="1000" dirty="0">
                          <a:latin typeface="Montserrat"/>
                        </a:rPr>
                        <a:t>88</a:t>
                      </a:r>
                      <a:endParaRPr sz="1000" dirty="0">
                        <a:latin typeface="Montserrat"/>
                      </a:endParaRP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395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Tercer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423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115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54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235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 dirty="0">
                          <a:latin typeface="Montserrat"/>
                        </a:rPr>
                        <a:t>1,1</a:t>
                      </a:r>
                      <a:r>
                        <a:rPr lang="es-MX" sz="1000" dirty="0">
                          <a:latin typeface="Montserrat"/>
                        </a:rPr>
                        <a:t>36</a:t>
                      </a:r>
                      <a:endParaRPr sz="1000" dirty="0">
                        <a:latin typeface="Montserrat"/>
                      </a:endParaRP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 dirty="0">
                          <a:latin typeface="Montserrat"/>
                        </a:rPr>
                        <a:t>635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0284406"/>
              </p:ext>
            </p:extLst>
          </p:nvPr>
        </p:nvGraphicFramePr>
        <p:xfrm>
          <a:off x="4536000" y="6854400"/>
          <a:ext cx="3096000" cy="1489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6963">
                <a:tc gridSpan="4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IMSS-COPLAMAR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30</a:t>
                      </a:r>
                      <a:r>
                        <a:rPr lang="es-MX" dirty="0"/>
                        <a:t>9</a:t>
                      </a:r>
                      <a:r>
                        <a:rPr lang="es-MX" sz="1050" baseline="30000" dirty="0"/>
                        <a:t>2</a:t>
                      </a:r>
                      <a:endParaRPr baseline="30000" dirty="0"/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2812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270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31</a:t>
                      </a:r>
                      <a:r>
                        <a:rPr lang="es-MX" dirty="0"/>
                        <a:t>6</a:t>
                      </a:r>
                      <a:endParaRPr dirty="0"/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340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270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5659200" y="1155600"/>
          <a:ext cx="20268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5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8" name="TextBox 137"/>
          <p:cNvSpPr txBox="1"/>
          <p:nvPr/>
        </p:nvSpPr>
        <p:spPr>
          <a:xfrm>
            <a:off x="212400" y="9540000"/>
            <a:ext cx="7200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FFFFFF"/>
                </a:solidFill>
                <a:latin typeface="Montserrat"/>
              </a:defRPr>
            </a:pPr>
            <a:r>
              <a:t>¹ Incluye 37 UMF, 8 UMFH y no incluye 0 Unidades Auxiliares de Medicina Familiar.</a:t>
            </a:r>
            <a:br/>
            <a:r>
              <a:t>² No incluye Unidades médicas móviles (UMM) ni Brigadas de salud (BS).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12400" y="9774000"/>
            <a:ext cx="1713600" cy="1077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FFFFFF"/>
                </a:solidFill>
                <a:latin typeface="Montserrat"/>
              </a:defRPr>
            </a:pPr>
            <a:r>
              <a:rPr dirty="0"/>
              <a:t>Corte de </a:t>
            </a:r>
            <a:r>
              <a:rPr dirty="0" err="1"/>
              <a:t>información</a:t>
            </a:r>
            <a:r>
              <a:rPr dirty="0"/>
              <a:t>: ma</a:t>
            </a:r>
            <a:r>
              <a:rPr lang="es-MX" dirty="0"/>
              <a:t>y</a:t>
            </a:r>
            <a:r>
              <a:rPr dirty="0"/>
              <a:t>o de 2026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212;g3d0b4d3c5c9_0_70">
            <a:extLst>
              <a:ext uri="{FF2B5EF4-FFF2-40B4-BE49-F238E27FC236}">
                <a16:creationId xmlns:a16="http://schemas.microsoft.com/office/drawing/2014/main" id="{08E93805-88E4-D852-2D80-21866ECE8E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81166150"/>
              </p:ext>
            </p:extLst>
          </p:nvPr>
        </p:nvGraphicFramePr>
        <p:xfrm>
          <a:off x="288000" y="1191600"/>
          <a:ext cx="7198700" cy="4267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19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4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400" b="1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400" b="1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Sanatorio No. 1 de la Caja Regional, Ciudad de Puebla</a:t>
                      </a:r>
                      <a:endParaRPr sz="14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Google Shape;217;g3d0b4d3c5c9_0_70">
            <a:extLst>
              <a:ext uri="{FF2B5EF4-FFF2-40B4-BE49-F238E27FC236}">
                <a16:creationId xmlns:a16="http://schemas.microsoft.com/office/drawing/2014/main" id="{330A8DDA-C1ED-884F-2685-9B99501C5AF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1232" y="2003858"/>
            <a:ext cx="2524463" cy="24391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A2E13DB-3BBB-8DCA-D251-3090DA20B5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3235" y="1709571"/>
            <a:ext cx="4596897" cy="310551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" y="640080"/>
            <a:ext cx="5218095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rPr dirty="0" err="1"/>
              <a:t>Capacidad</a:t>
            </a:r>
            <a:r>
              <a:rPr dirty="0"/>
              <a:t> </a:t>
            </a:r>
            <a:r>
              <a:rPr dirty="0" err="1"/>
              <a:t>médica</a:t>
            </a:r>
            <a:r>
              <a:rPr dirty="0"/>
              <a:t> </a:t>
            </a:r>
            <a:r>
              <a:rPr dirty="0" err="1"/>
              <a:t>instalada</a:t>
            </a:r>
            <a:r>
              <a:rPr lang="es-MX" dirty="0"/>
              <a:t> (1 de 2)</a:t>
            </a:r>
            <a:endParaRPr dirty="0"/>
          </a:p>
        </p:txBody>
      </p:sp>
      <p:cxnSp>
        <p:nvCxnSpPr>
          <p:cNvPr id="9" name="Connector 8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21_PUEBL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800" y="5136926"/>
            <a:ext cx="7488000" cy="727200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2136586"/>
              </p:ext>
            </p:extLst>
          </p:nvPr>
        </p:nvGraphicFramePr>
        <p:xfrm>
          <a:off x="75600" y="6476399"/>
          <a:ext cx="7650000" cy="2481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7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Unidad</a:t>
                      </a:r>
                      <a:endParaRPr dirty="0"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 10 Nuevo Necaxa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15 Tehuacán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1979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lang="es-MX" dirty="0"/>
                        <a:t>72</a:t>
                      </a:r>
                      <a:endParaRPr dirty="0"/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5 Metepec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4</a:t>
                      </a:r>
                      <a:r>
                        <a:rPr lang="es-MX" dirty="0"/>
                        <a:t>6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23 Teziutlán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1985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3</a:t>
                      </a:r>
                      <a:r>
                        <a:rPr lang="es-MX" dirty="0"/>
                        <a:t>4</a:t>
                      </a:r>
                      <a:endParaRPr dirty="0"/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20 La Margarita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2009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35 Cuautlancingo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2023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lang="es-MX" dirty="0"/>
                        <a:t>102</a:t>
                      </a:r>
                      <a:endParaRPr dirty="0"/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53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HGR 36 San Alejandro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2025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lang="es-MX" dirty="0"/>
                        <a:t>201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6</a:t>
                      </a:r>
                      <a:r>
                        <a:rPr lang="es-MX" dirty="0"/>
                        <a:t>88</a:t>
                      </a:r>
                      <a:endParaRPr dirty="0"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395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106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00800" y="9507600"/>
            <a:ext cx="73872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rPr dirty="0"/>
              <a:t>¹Incluye </a:t>
            </a:r>
            <a:r>
              <a:rPr dirty="0" err="1"/>
              <a:t>salas</a:t>
            </a:r>
            <a:r>
              <a:rPr dirty="0"/>
              <a:t> de </a:t>
            </a:r>
            <a:r>
              <a:rPr dirty="0" err="1"/>
              <a:t>quirófano</a:t>
            </a:r>
            <a:r>
              <a:rPr dirty="0"/>
              <a:t>, </a:t>
            </a:r>
            <a:r>
              <a:rPr dirty="0" err="1"/>
              <a:t>salas</a:t>
            </a:r>
            <a:r>
              <a:rPr dirty="0"/>
              <a:t> </a:t>
            </a:r>
            <a:r>
              <a:rPr dirty="0" err="1"/>
              <a:t>híbridas</a:t>
            </a:r>
            <a:r>
              <a:rPr dirty="0"/>
              <a:t> y </a:t>
            </a:r>
            <a:r>
              <a:rPr dirty="0" err="1"/>
              <a:t>salas</a:t>
            </a:r>
            <a:r>
              <a:rPr dirty="0"/>
              <a:t> </a:t>
            </a:r>
            <a:r>
              <a:rPr dirty="0" err="1"/>
              <a:t>mixtas</a:t>
            </a:r>
            <a:r>
              <a:rPr dirty="0"/>
              <a:t>, no </a:t>
            </a:r>
            <a:r>
              <a:rPr dirty="0" err="1"/>
              <a:t>considera</a:t>
            </a:r>
            <a:r>
              <a:rPr dirty="0"/>
              <a:t> </a:t>
            </a:r>
            <a:r>
              <a:rPr dirty="0" err="1"/>
              <a:t>salas</a:t>
            </a:r>
            <a:r>
              <a:rPr dirty="0"/>
              <a:t> de </a:t>
            </a:r>
            <a:r>
              <a:rPr dirty="0" err="1"/>
              <a:t>tococirugía</a:t>
            </a:r>
            <a:r>
              <a:rPr dirty="0"/>
              <a:t> y </a:t>
            </a:r>
            <a:r>
              <a:rPr dirty="0" err="1"/>
              <a:t>expulsión</a:t>
            </a:r>
            <a:r>
              <a:rPr dirty="0"/>
              <a:t>.</a:t>
            </a:r>
            <a:br>
              <a:rPr dirty="0"/>
            </a:br>
            <a:r>
              <a:rPr dirty="0" err="1"/>
              <a:t>Fuente</a:t>
            </a:r>
            <a:r>
              <a:rPr dirty="0"/>
              <a:t>: </a:t>
            </a:r>
            <a:r>
              <a:rPr dirty="0" err="1"/>
              <a:t>Cédula</a:t>
            </a:r>
            <a:r>
              <a:rPr dirty="0"/>
              <a:t> de </a:t>
            </a:r>
            <a:r>
              <a:rPr dirty="0" err="1"/>
              <a:t>actualización</a:t>
            </a:r>
            <a:r>
              <a:rPr dirty="0"/>
              <a:t> de variables </a:t>
            </a:r>
            <a:r>
              <a:rPr dirty="0" err="1"/>
              <a:t>seleccionados</a:t>
            </a:r>
            <a:r>
              <a:rPr dirty="0"/>
              <a:t> del IFU </a:t>
            </a:r>
            <a:r>
              <a:rPr dirty="0" err="1"/>
              <a:t>enviados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el OOAD.</a:t>
            </a:r>
            <a:br>
              <a:rPr dirty="0"/>
            </a:br>
            <a:r>
              <a:rPr dirty="0"/>
              <a:t>Corte de </a:t>
            </a:r>
            <a:r>
              <a:rPr dirty="0" err="1"/>
              <a:t>Información</a:t>
            </a:r>
            <a:r>
              <a:rPr dirty="0"/>
              <a:t>: m</a:t>
            </a:r>
            <a:r>
              <a:rPr lang="es-MX" dirty="0"/>
              <a:t>ay</a:t>
            </a:r>
            <a:r>
              <a:rPr dirty="0"/>
              <a:t>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" y="640080"/>
            <a:ext cx="5270995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rPr dirty="0" err="1"/>
              <a:t>Capacidad</a:t>
            </a:r>
            <a:r>
              <a:rPr dirty="0"/>
              <a:t> </a:t>
            </a:r>
            <a:r>
              <a:rPr dirty="0" err="1"/>
              <a:t>médica</a:t>
            </a:r>
            <a:r>
              <a:rPr dirty="0"/>
              <a:t> </a:t>
            </a:r>
            <a:r>
              <a:rPr dirty="0" err="1"/>
              <a:t>instalada</a:t>
            </a:r>
            <a:r>
              <a:rPr lang="es-MX" dirty="0"/>
              <a:t> (2 de 2)</a:t>
            </a:r>
            <a:endParaRPr dirty="0"/>
          </a:p>
        </p:txBody>
      </p:sp>
      <p:cxnSp>
        <p:nvCxnSpPr>
          <p:cNvPr id="4" name="Connector 3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77388"/>
              </p:ext>
            </p:extLst>
          </p:nvPr>
        </p:nvGraphicFramePr>
        <p:xfrm>
          <a:off x="75600" y="1234800"/>
          <a:ext cx="7650000" cy="2481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7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San Salvador El Seco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Diciembre de 1975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lang="es-MX" dirty="0"/>
                        <a:t>44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Zacapoaxtla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1980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lang="es-MX" dirty="0"/>
                        <a:t>52</a:t>
                      </a:r>
                      <a:endParaRPr dirty="0"/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lang="es-MX" dirty="0"/>
                        <a:t>8</a:t>
                      </a:r>
                      <a:endParaRPr dirty="0"/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Chiautla de Tapia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1986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lang="es-MX" dirty="0"/>
                        <a:t>30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Chignahuapan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1986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lang="es-MX" dirty="0"/>
                        <a:t>45</a:t>
                      </a:r>
                      <a:endParaRPr dirty="0"/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lang="es-MX" dirty="0"/>
                        <a:t>11</a:t>
                      </a:r>
                      <a:endParaRPr dirty="0"/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Villa Ávila Camacho (La Ceiba)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1994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4</a:t>
                      </a:r>
                      <a:r>
                        <a:rPr lang="es-MX" dirty="0"/>
                        <a:t>1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lang="es-MX" dirty="0"/>
                        <a:t>8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Tepexi de Rodríguez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1994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lang="es-MX" dirty="0"/>
                        <a:t>28</a:t>
                      </a:r>
                      <a:endParaRPr dirty="0"/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lang="es-MX" dirty="0"/>
                        <a:t>8</a:t>
                      </a:r>
                      <a:endParaRPr dirty="0"/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Ixtepec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Enero de 2011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lang="es-MX" dirty="0"/>
                        <a:t>8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2</a:t>
                      </a:r>
                      <a:r>
                        <a:rPr lang="es-MX" dirty="0"/>
                        <a:t>70</a:t>
                      </a:r>
                      <a:endParaRPr dirty="0"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56</a:t>
                      </a:r>
                      <a:endParaRPr dirty="0"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6305410"/>
              </p:ext>
            </p:extLst>
          </p:nvPr>
        </p:nvGraphicFramePr>
        <p:xfrm>
          <a:off x="75600" y="3916050"/>
          <a:ext cx="7650000" cy="1424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7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UMAE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HES CMN Puebla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1958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311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HTO CMN Puebla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1988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423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72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1,381</a:t>
                      </a:r>
                      <a:endParaRPr dirty="0"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605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64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53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234</a:t>
                      </a:r>
                      <a:endParaRPr dirty="0"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0800" y="9507600"/>
            <a:ext cx="73872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rPr dirty="0"/>
              <a:t>¹Incluye </a:t>
            </a:r>
            <a:r>
              <a:rPr dirty="0" err="1"/>
              <a:t>salas</a:t>
            </a:r>
            <a:r>
              <a:rPr dirty="0"/>
              <a:t> de </a:t>
            </a:r>
            <a:r>
              <a:rPr dirty="0" err="1"/>
              <a:t>quirófano</a:t>
            </a:r>
            <a:r>
              <a:rPr dirty="0"/>
              <a:t>, </a:t>
            </a:r>
            <a:r>
              <a:rPr dirty="0" err="1"/>
              <a:t>salas</a:t>
            </a:r>
            <a:r>
              <a:rPr dirty="0"/>
              <a:t> </a:t>
            </a:r>
            <a:r>
              <a:rPr dirty="0" err="1"/>
              <a:t>híbridas</a:t>
            </a:r>
            <a:r>
              <a:rPr dirty="0"/>
              <a:t> y </a:t>
            </a:r>
            <a:r>
              <a:rPr dirty="0" err="1"/>
              <a:t>salas</a:t>
            </a:r>
            <a:r>
              <a:rPr dirty="0"/>
              <a:t> </a:t>
            </a:r>
            <a:r>
              <a:rPr dirty="0" err="1"/>
              <a:t>mixtas</a:t>
            </a:r>
            <a:r>
              <a:rPr dirty="0"/>
              <a:t>, no </a:t>
            </a:r>
            <a:r>
              <a:rPr dirty="0" err="1"/>
              <a:t>considera</a:t>
            </a:r>
            <a:r>
              <a:rPr dirty="0"/>
              <a:t> </a:t>
            </a:r>
            <a:r>
              <a:rPr dirty="0" err="1"/>
              <a:t>salas</a:t>
            </a:r>
            <a:r>
              <a:rPr dirty="0"/>
              <a:t> de </a:t>
            </a:r>
            <a:r>
              <a:rPr dirty="0" err="1"/>
              <a:t>tococirugía</a:t>
            </a:r>
            <a:r>
              <a:rPr dirty="0"/>
              <a:t> y </a:t>
            </a:r>
            <a:r>
              <a:rPr dirty="0" err="1"/>
              <a:t>expulsión</a:t>
            </a:r>
            <a:r>
              <a:rPr dirty="0"/>
              <a:t>.</a:t>
            </a:r>
            <a:br>
              <a:rPr dirty="0"/>
            </a:br>
            <a:r>
              <a:rPr dirty="0" err="1"/>
              <a:t>Fuente</a:t>
            </a:r>
            <a:r>
              <a:rPr dirty="0"/>
              <a:t>: </a:t>
            </a:r>
            <a:r>
              <a:rPr dirty="0" err="1"/>
              <a:t>Cédula</a:t>
            </a:r>
            <a:r>
              <a:rPr dirty="0"/>
              <a:t> de </a:t>
            </a:r>
            <a:r>
              <a:rPr dirty="0" err="1"/>
              <a:t>actualización</a:t>
            </a:r>
            <a:r>
              <a:rPr dirty="0"/>
              <a:t> de variables </a:t>
            </a:r>
            <a:r>
              <a:rPr dirty="0" err="1"/>
              <a:t>seleccionados</a:t>
            </a:r>
            <a:r>
              <a:rPr dirty="0"/>
              <a:t> del IFU </a:t>
            </a:r>
            <a:r>
              <a:rPr dirty="0" err="1"/>
              <a:t>enviados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el OOAD.</a:t>
            </a:r>
            <a:br>
              <a:rPr dirty="0"/>
            </a:br>
            <a:r>
              <a:rPr dirty="0"/>
              <a:t>Corte de </a:t>
            </a:r>
            <a:r>
              <a:rPr dirty="0" err="1"/>
              <a:t>Información</a:t>
            </a:r>
            <a:r>
              <a:rPr dirty="0"/>
              <a:t>: ma</a:t>
            </a:r>
            <a:r>
              <a:rPr lang="es-MX" dirty="0"/>
              <a:t>y</a:t>
            </a:r>
            <a:r>
              <a:rPr dirty="0"/>
              <a:t>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" name="Grupo 1">
            <a:extLst>
              <a:ext uri="{FF2B5EF4-FFF2-40B4-BE49-F238E27FC236}">
                <a16:creationId xmlns:a16="http://schemas.microsoft.com/office/drawing/2014/main" id="{E3F5B5BC-2B7E-8C34-F7F1-5D1ADC587717}"/>
              </a:ext>
            </a:extLst>
          </p:cNvPr>
          <p:cNvGrpSpPr/>
          <p:nvPr/>
        </p:nvGrpSpPr>
        <p:grpSpPr>
          <a:xfrm>
            <a:off x="-25201" y="5605887"/>
            <a:ext cx="7772400" cy="3212045"/>
            <a:chOff x="-25201" y="5605887"/>
            <a:chExt cx="7772400" cy="3212045"/>
          </a:xfrm>
        </p:grpSpPr>
        <p:sp>
          <p:nvSpPr>
            <p:cNvPr id="7" name="Google Shape;255;g3d635d120e2_2_52">
              <a:extLst>
                <a:ext uri="{FF2B5EF4-FFF2-40B4-BE49-F238E27FC236}">
                  <a16:creationId xmlns:a16="http://schemas.microsoft.com/office/drawing/2014/main" id="{4C8AA8FE-E2F6-5427-1841-8E863D3F6E79}"/>
                </a:ext>
              </a:extLst>
            </p:cNvPr>
            <p:cNvSpPr txBox="1"/>
            <p:nvPr/>
          </p:nvSpPr>
          <p:spPr>
            <a:xfrm>
              <a:off x="-25201" y="5605887"/>
              <a:ext cx="7772400" cy="34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Fortalecimiento de equipo médico</a:t>
              </a:r>
              <a:endParaRPr sz="1600" b="1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Compra 2025-2026 equipo mayor</a:t>
              </a:r>
              <a:endParaRPr sz="2300" b="1" i="0" u="none" strike="noStrike" cap="none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" name="Google Shape;260;g3d635d120e2_2_52">
              <a:extLst>
                <a:ext uri="{FF2B5EF4-FFF2-40B4-BE49-F238E27FC236}">
                  <a16:creationId xmlns:a16="http://schemas.microsoft.com/office/drawing/2014/main" id="{07B1BC02-E6B2-3132-18DF-8638B522C85B}"/>
                </a:ext>
              </a:extLst>
            </p:cNvPr>
            <p:cNvSpPr/>
            <p:nvPr/>
          </p:nvSpPr>
          <p:spPr>
            <a:xfrm>
              <a:off x="3159219" y="7889721"/>
              <a:ext cx="1918251" cy="377700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1" i="0" u="none" strike="noStrike" cap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Tomógrafos</a:t>
              </a: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261;g3d635d120e2_2_52">
              <a:extLst>
                <a:ext uri="{FF2B5EF4-FFF2-40B4-BE49-F238E27FC236}">
                  <a16:creationId xmlns:a16="http://schemas.microsoft.com/office/drawing/2014/main" id="{7D1A9AED-2D34-6619-F890-CC97921D2FD7}"/>
                </a:ext>
              </a:extLst>
            </p:cNvPr>
            <p:cNvSpPr/>
            <p:nvPr/>
          </p:nvSpPr>
          <p:spPr>
            <a:xfrm>
              <a:off x="2694917" y="7889721"/>
              <a:ext cx="469264" cy="377700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2</a:t>
              </a:r>
              <a:endParaRPr sz="1400" b="0" i="0" u="none" strike="noStrike" cap="none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pic>
          <p:nvPicPr>
            <p:cNvPr id="10" name="Google Shape;262;g3d635d120e2_2_52">
              <a:extLst>
                <a:ext uri="{FF2B5EF4-FFF2-40B4-BE49-F238E27FC236}">
                  <a16:creationId xmlns:a16="http://schemas.microsoft.com/office/drawing/2014/main" id="{794D4B75-6ABE-E9FE-F800-C341261817D6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94917" y="6327387"/>
              <a:ext cx="2382553" cy="156233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" name="Google Shape;264;g3d635d120e2_2_52">
              <a:extLst>
                <a:ext uri="{FF2B5EF4-FFF2-40B4-BE49-F238E27FC236}">
                  <a16:creationId xmlns:a16="http://schemas.microsoft.com/office/drawing/2014/main" id="{97F283B9-B1CF-4E1E-DCFC-5A0DC06C5190}"/>
                </a:ext>
              </a:extLst>
            </p:cNvPr>
            <p:cNvSpPr txBox="1"/>
            <p:nvPr/>
          </p:nvSpPr>
          <p:spPr>
            <a:xfrm>
              <a:off x="2712300" y="8267432"/>
              <a:ext cx="2347800" cy="55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HES CMN Puebla</a:t>
              </a:r>
              <a:endParaRPr sz="1300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HTO CMN Puebla </a:t>
              </a: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1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$59.3 mdp</a:t>
              </a:r>
              <a:endParaRPr sz="1300" b="1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1388763"/>
              </p:ext>
            </p:extLst>
          </p:nvPr>
        </p:nvGraphicFramePr>
        <p:xfrm>
          <a:off x="93600" y="1180800"/>
          <a:ext cx="7534799" cy="2453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07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1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Unidad</a:t>
                      </a:r>
                      <a:endParaRPr dirty="0"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36 San Alejandro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lang="es-MX" dirty="0"/>
                        <a:t>29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20 La Margarita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lang="es-MX" dirty="0"/>
                        <a:t>6</a:t>
                      </a:r>
                      <a:endParaRPr dirty="0"/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23 Teziutlán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lang="es-MX" dirty="0"/>
                        <a:t>6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15 Tehuacán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10 Nuevo Necaxa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35 Cuautlancingo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5 Metepec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7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47</a:t>
                      </a:r>
                      <a:endParaRPr dirty="0"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05199" y="96696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406799" y="9568800"/>
            <a:ext cx="714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Montserrat"/>
              </a:defRPr>
            </a:pPr>
            <a:r>
              <a:rPr dirty="0" err="1"/>
              <a:t>Proyectos</a:t>
            </a:r>
            <a:r>
              <a:rPr dirty="0"/>
              <a:t> de </a:t>
            </a:r>
            <a:r>
              <a:rPr dirty="0" err="1"/>
              <a:t>implementación</a:t>
            </a:r>
            <a:r>
              <a:rPr dirty="0"/>
              <a:t>/</a:t>
            </a:r>
            <a:r>
              <a:rPr dirty="0" err="1"/>
              <a:t>sustitución</a:t>
            </a:r>
            <a:r>
              <a:rPr dirty="0"/>
              <a:t> 2019-2025. </a:t>
            </a:r>
            <a:r>
              <a:rPr dirty="0" err="1"/>
              <a:t>Incluye</a:t>
            </a:r>
            <a:r>
              <a:rPr dirty="0"/>
              <a:t> </a:t>
            </a:r>
            <a:r>
              <a:rPr dirty="0" err="1"/>
              <a:t>equipo</a:t>
            </a:r>
            <a:r>
              <a:rPr dirty="0"/>
              <a:t> de la </a:t>
            </a:r>
            <a:r>
              <a:rPr dirty="0" err="1"/>
              <a:t>compra</a:t>
            </a:r>
            <a:r>
              <a:rPr dirty="0"/>
              <a:t> 2025-2026.</a:t>
            </a:r>
            <a:br>
              <a:rPr dirty="0"/>
            </a:br>
            <a:r>
              <a:rPr dirty="0" err="1"/>
              <a:t>Fuente</a:t>
            </a:r>
            <a:r>
              <a:rPr dirty="0"/>
              <a:t>: </a:t>
            </a:r>
            <a:r>
              <a:rPr dirty="0" err="1"/>
              <a:t>Cédula</a:t>
            </a:r>
            <a:r>
              <a:rPr dirty="0"/>
              <a:t> de </a:t>
            </a:r>
            <a:r>
              <a:rPr dirty="0" err="1"/>
              <a:t>actualización</a:t>
            </a:r>
            <a:r>
              <a:rPr dirty="0"/>
              <a:t> de variables </a:t>
            </a:r>
            <a:r>
              <a:rPr dirty="0" err="1"/>
              <a:t>seleccionadas</a:t>
            </a:r>
            <a:r>
              <a:rPr dirty="0"/>
              <a:t> del IFU, </a:t>
            </a:r>
            <a:r>
              <a:rPr dirty="0" err="1"/>
              <a:t>enviadas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el OOAD.</a:t>
            </a:r>
            <a:br>
              <a:rPr dirty="0"/>
            </a:br>
            <a:r>
              <a:rPr dirty="0"/>
              <a:t>Corte de </a:t>
            </a:r>
            <a:r>
              <a:rPr dirty="0" err="1"/>
              <a:t>información</a:t>
            </a:r>
            <a:r>
              <a:rPr dirty="0"/>
              <a:t>: ma</a:t>
            </a:r>
            <a:r>
              <a:rPr lang="es-MX" dirty="0"/>
              <a:t>yo</a:t>
            </a:r>
            <a:r>
              <a:rPr dirty="0"/>
              <a:t> de 2026</a:t>
            </a:r>
          </a:p>
        </p:txBody>
      </p:sp>
      <p:graphicFrame>
        <p:nvGraphicFramePr>
          <p:cNvPr id="157" name="Table 1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7043802"/>
              </p:ext>
            </p:extLst>
          </p:nvPr>
        </p:nvGraphicFramePr>
        <p:xfrm>
          <a:off x="93600" y="3936750"/>
          <a:ext cx="7534799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07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1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UMAE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HES CMN Puebla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HTO CMN Puebla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51</a:t>
                      </a:r>
                      <a:endParaRPr dirty="0"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27176301"/>
              </p:ext>
            </p:extLst>
          </p:nvPr>
        </p:nvGraphicFramePr>
        <p:xfrm>
          <a:off x="143502" y="6830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312EC76B-8F98-7BC1-1ED3-274ABDF69E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8233477"/>
              </p:ext>
            </p:extLst>
          </p:nvPr>
        </p:nvGraphicFramePr>
        <p:xfrm>
          <a:off x="143502" y="4166360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560AEE02-FB93-3143-CD02-D48145AA9574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114007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BB6FB028-4D77-480D-6780-9F1CD68CC681}"/>
              </a:ext>
            </a:extLst>
          </p:cNvPr>
          <p:cNvCxnSpPr>
            <a:cxnSpLocks/>
          </p:cNvCxnSpPr>
          <p:nvPr/>
        </p:nvCxnSpPr>
        <p:spPr>
          <a:xfrm>
            <a:off x="5210629" y="5586778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401BCE7B-54BF-1EC7-5032-74C077243E82}"/>
              </a:ext>
            </a:extLst>
          </p:cNvPr>
          <p:cNvCxnSpPr>
            <a:cxnSpLocks/>
          </p:cNvCxnSpPr>
          <p:nvPr/>
        </p:nvCxnSpPr>
        <p:spPr>
          <a:xfrm>
            <a:off x="5210629" y="72486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AF5E90DF-811B-39B9-714F-AF7023AD783F}"/>
              </a:ext>
            </a:extLst>
          </p:cNvPr>
          <p:cNvSpPr txBox="1"/>
          <p:nvPr/>
        </p:nvSpPr>
        <p:spPr>
          <a:xfrm>
            <a:off x="5064096" y="6510000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CuadroTexto 6">
            <a:extLst>
              <a:ext uri="{FF2B5EF4-FFF2-40B4-BE49-F238E27FC236}">
                <a16:creationId xmlns:a16="http://schemas.microsoft.com/office/drawing/2014/main" id="{931A1F01-7FEE-73A0-3AFC-318BCAB974C5}"/>
              </a:ext>
            </a:extLst>
          </p:cNvPr>
          <p:cNvSpPr txBox="1"/>
          <p:nvPr/>
        </p:nvSpPr>
        <p:spPr>
          <a:xfrm>
            <a:off x="5064096" y="8117456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CuadroTexto 8">
            <a:extLst>
              <a:ext uri="{FF2B5EF4-FFF2-40B4-BE49-F238E27FC236}">
                <a16:creationId xmlns:a16="http://schemas.microsoft.com/office/drawing/2014/main" id="{D70F247F-0853-E5D0-330A-DCC7E7107A05}"/>
              </a:ext>
            </a:extLst>
          </p:cNvPr>
          <p:cNvSpPr txBox="1"/>
          <p:nvPr/>
        </p:nvSpPr>
        <p:spPr>
          <a:xfrm>
            <a:off x="4701239" y="4744510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9565200"/>
            <a:ext cx="46800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Corte de información: semana 24, 7 junio 2026</a:t>
            </a:r>
            <a:br/>
            <a:r>
              <a:t>¹Las consultas de medicina familiar incluyen los hospitales con 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7488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+3,411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42336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+153,328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+116,762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620000"/>
          <a:ext cx="7469999" cy="182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7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Indicador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3,177,818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153,328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1,457,409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3,160,196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46.1%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Especialidad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779,391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116,762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393,842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907,030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43.4%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45,359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3,411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22,932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64,398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35.6%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45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89894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dirty="0"/>
              <a:t>25 UMF de lunes a </a:t>
            </a:r>
            <a:r>
              <a:rPr dirty="0" err="1"/>
              <a:t>viernes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95616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En el año 2025 no incluye información de HR y UMR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curso:2025 (del 26 de dic de 2024 al 25 de dic de 2025).</a:t>
            </a:r>
            <a:br/>
            <a:r>
              <a:t>Corte de información: Semana 24, 7 junio 2026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3354536"/>
              </p:ext>
            </p:extLst>
          </p:nvPr>
        </p:nvGraphicFramePr>
        <p:xfrm>
          <a:off x="151200" y="1692000"/>
          <a:ext cx="7473599" cy="435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79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5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Consultas</a:t>
                      </a:r>
                      <a:r>
                        <a:rPr dirty="0"/>
                        <a:t>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25 Aire Llibre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4,260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795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1,920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32.0%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32 Lagunillas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9,067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171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4,049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40.5%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29 S.José Tilapa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1,215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-222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525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17.5%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27 V. Ajalpan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9,502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1,240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4,256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38.7%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26 Atencingo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22,372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-693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8,671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28,188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30.8%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28 Calipan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9,459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-883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4,568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41.5%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33 Villa Rafael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7,124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3,171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39.6%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31 Chietla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8,308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4,110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9,000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45.7%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17 Xicotepec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11,103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1,385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4,581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38.2%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19 Huauchinango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11,451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1,282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5,037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38.7%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21 Puebla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20,733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-1,171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9,390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37.5%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56 Mazatepec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2,887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87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1,205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4,000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30.1%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37 Los Libres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8,964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-1,944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3,988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39.9%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49 Tetela Ocampo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2,018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126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899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30.0%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40 Oriental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10,501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-402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4,720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42.9%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38 Palmar Bravo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6,753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-150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3,372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42.2%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50 Acatlán Osorio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4,972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2,181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36.4%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44 Tlacotepec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8,175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-77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4,151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46.1%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39 Zacatlán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790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3,480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34.8%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16 Tecamachalco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30,867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353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14,938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39.7%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43 Cd. Cerdán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11,157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2,830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6,048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50.4%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8 El Mayorazgo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65,822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303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29,209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45.6%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18 Nuevo Necaxa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15,844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7,419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43.6%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46 Tlatlauquitepec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5,922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-92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3,041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43.4%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58 San José Chiapa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29,817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1,111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14,065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50,112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28.1%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327,298</a:t>
                      </a:r>
                    </a:p>
                  </a:txBody>
                  <a:tcPr marL="0" marR="0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6,490</a:t>
                      </a:r>
                    </a:p>
                  </a:txBody>
                  <a:tcPr marL="0" marR="0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148,994</a:t>
                      </a:r>
                    </a:p>
                  </a:txBody>
                  <a:tcPr marL="0" marR="0" marT="0" marB="0"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384,940</a:t>
                      </a:r>
                    </a:p>
                  </a:txBody>
                  <a:tcPr marL="0" marR="0" marT="0" marB="0"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38.7%</a:t>
                      </a:r>
                    </a:p>
                  </a:txBody>
                  <a:tcPr marL="0" marR="0" marT="0" marB="0"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4423988"/>
              </p:ext>
            </p:extLst>
          </p:nvPr>
        </p:nvGraphicFramePr>
        <p:xfrm>
          <a:off x="4214249" y="6267750"/>
          <a:ext cx="1800000" cy="18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214249" y="698775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38.7%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14249" y="788775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9449" y="674835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rPr dirty="0"/>
              <a:t>384,940 </a:t>
            </a:r>
            <a:br>
              <a:rPr dirty="0"/>
            </a:br>
            <a:r>
              <a:rPr dirty="0"/>
              <a:t>Meta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CuadroTexto 251">
            <a:extLst>
              <a:ext uri="{FF2B5EF4-FFF2-40B4-BE49-F238E27FC236}">
                <a16:creationId xmlns:a16="http://schemas.microsoft.com/office/drawing/2014/main" id="{AC6E74FB-60D7-4532-9A98-68CA3A5F5544}"/>
              </a:ext>
            </a:extLst>
          </p:cNvPr>
          <p:cNvSpPr txBox="1"/>
          <p:nvPr/>
        </p:nvSpPr>
        <p:spPr>
          <a:xfrm>
            <a:off x="4328665" y="5720406"/>
            <a:ext cx="300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1 Nueva UMTC con 2 consultorios</a:t>
            </a:r>
          </a:p>
        </p:txBody>
      </p:sp>
      <p:sp>
        <p:nvSpPr>
          <p:cNvPr id="253" name="CuadroTexto 252">
            <a:extLst>
              <a:ext uri="{FF2B5EF4-FFF2-40B4-BE49-F238E27FC236}">
                <a16:creationId xmlns:a16="http://schemas.microsoft.com/office/drawing/2014/main" id="{940F794C-65A8-FBF0-2490-002716D13D10}"/>
              </a:ext>
            </a:extLst>
          </p:cNvPr>
          <p:cNvSpPr txBox="1"/>
          <p:nvPr/>
        </p:nvSpPr>
        <p:spPr>
          <a:xfrm>
            <a:off x="4488998" y="6846623"/>
            <a:ext cx="26860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dirty="0">
                <a:latin typeface="Montserrat" panose="00000500000000000000" pitchFamily="2" charset="0"/>
              </a:rPr>
              <a:t>UMF 8 El Mayorazgo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45 Unidades de Medicina Familiar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rPr sz="1800" dirty="0"/>
              <a:t>20 </a:t>
            </a:r>
            <a:r>
              <a:rPr sz="1800" dirty="0" err="1"/>
              <a:t>Unidades</a:t>
            </a:r>
            <a:r>
              <a:rPr sz="1800" dirty="0"/>
              <a:t> </a:t>
            </a:r>
            <a:r>
              <a:rPr sz="1800" dirty="0" err="1"/>
              <a:t>Médicas</a:t>
            </a:r>
            <a:r>
              <a:rPr sz="1800" dirty="0"/>
              <a:t> de </a:t>
            </a:r>
            <a:r>
              <a:rPr sz="1800" dirty="0" err="1"/>
              <a:t>tiempo</a:t>
            </a:r>
            <a:r>
              <a:rPr sz="1800" dirty="0"/>
              <a:t> </a:t>
            </a:r>
            <a:r>
              <a:rPr sz="1800" dirty="0" err="1"/>
              <a:t>completo</a:t>
            </a:r>
            <a:r>
              <a:rPr sz="1800" dirty="0"/>
              <a:t> (82 </a:t>
            </a:r>
            <a:r>
              <a:rPr sz="1800" dirty="0" err="1"/>
              <a:t>consultorios</a:t>
            </a:r>
            <a:r>
              <a:rPr sz="1800" dirty="0"/>
              <a:t>)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258" name="Connector 257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9" name="TextBox 258"/>
          <p:cNvSpPr txBox="1"/>
          <p:nvPr/>
        </p:nvSpPr>
        <p:spPr>
          <a:xfrm>
            <a:off x="147600" y="95328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En el año 2025 no incluye información de HR y UMR.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 2025 (del 26 de Dic de 2024 al 25 de Dic de 2025).</a:t>
            </a:r>
            <a:br/>
            <a:r>
              <a:t>Corte de información: Semana 24, 7 junio 2026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1940400" y="5584800"/>
            <a:ext cx="1810800" cy="15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t>de las consultas en 2025 fueron en fin de semana (406,642 consultas)</a:t>
            </a:r>
          </a:p>
        </p:txBody>
      </p:sp>
      <p:graphicFrame>
        <p:nvGraphicFramePr>
          <p:cNvPr id="261" name="Table 2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1124418"/>
              </p:ext>
            </p:extLst>
          </p:nvPr>
        </p:nvGraphicFramePr>
        <p:xfrm>
          <a:off x="151200" y="1695600"/>
          <a:ext cx="7473599" cy="3596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79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5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12 S. Pedro Cholula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177,104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8,802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82,926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172,000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48.2%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 Constancia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58,872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5,278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26,812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47.0%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 San Felipe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112,712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1,689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49,774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110,000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45.2%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 Puebla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237,496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19,649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107,423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229,000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46.9%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UMFH 24 Izucar Matamor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53,892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6,185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25,297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53,000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47.7%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34 Atlixco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86,117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3,469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40,814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84,000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48.6%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41 Huejotzingo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32,061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5,946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15,847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51.1%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 Puebla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291,089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10,844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134,584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288,144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46.7%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UMFH 11 S. Martín Texme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116,709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12,276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55,622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114,000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48.8%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14 Pueblo Nuevo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69,664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2,398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30,921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68,000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45.5%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47 S. Miguel Xoxtla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23,712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8,880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10,924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43.6%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55 Puebla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349,430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2,727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160,112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339,000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47.2%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42 Tepeaca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25,217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1,512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12,812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51.1%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6 Puebla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279,123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20,048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129,524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269,000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48.2%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13 Puebla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102,341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3,644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45,235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100,000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45.2%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57 La Margarita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290,453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-4,435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131,210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282,000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46.5%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30 Tehuacán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123,298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5,800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58,252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120,000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48.5%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7 Sn Bartolo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115,285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1,058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49,540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112,000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44.2%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9 Santa María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160,674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20,849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71,975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156,000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46.1%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22 Teziutlán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145,271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10,219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68,811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141,000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48.8%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2,850,520</a:t>
                      </a:r>
                    </a:p>
                  </a:txBody>
                  <a:tcPr marL="0" marR="0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146,838</a:t>
                      </a:r>
                    </a:p>
                  </a:txBody>
                  <a:tcPr marL="0" marR="0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1,308,415</a:t>
                      </a:r>
                    </a:p>
                  </a:txBody>
                  <a:tcPr marL="0" marR="0" marT="0" marB="0"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2,775,256</a:t>
                      </a:r>
                    </a:p>
                  </a:txBody>
                  <a:tcPr marL="0" marR="0" marT="0" marB="0"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47.1%</a:t>
                      </a:r>
                    </a:p>
                  </a:txBody>
                  <a:tcPr marL="0" marR="0" marT="0" marB="0"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  <p:graphicFrame>
        <p:nvGraphicFramePr>
          <p:cNvPr id="262" name="Chart 2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2409498"/>
              </p:ext>
            </p:extLst>
          </p:nvPr>
        </p:nvGraphicFramePr>
        <p:xfrm>
          <a:off x="385200" y="5552400"/>
          <a:ext cx="1555200" cy="153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63" name="TextBox 262"/>
          <p:cNvSpPr txBox="1"/>
          <p:nvPr/>
        </p:nvSpPr>
        <p:spPr>
          <a:xfrm>
            <a:off x="385200" y="6234450"/>
            <a:ext cx="15552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dirty="0">
                <a:solidFill>
                  <a:srgbClr val="9F2241"/>
                </a:solidFill>
                <a:latin typeface="Montserrat"/>
              </a:rPr>
              <a:t>13%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58052545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7600" y="95724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No incluye la productividad de especialidad generada en UMF ni en HR. En el año 2025 no incluye información de HR y UMR.</a:t>
            </a:r>
            <a:br/>
            <a:r>
              <a:t>El año de proceso inicia del 26 de diciembre del año anterior al 25 de diciembre del año en curso:2025 (del 26 de dic de 2024 al 25 de dic de 2025). Corte de información: Semana: 24, 7 junio 2026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494000"/>
          <a:ext cx="7340399" cy="2640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5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36 San Alejandro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22,830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22,830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101,337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98,550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102.8%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15 Tehuacán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52,325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9,835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26,034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62,050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20 La Margarita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293,756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13,335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74,046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190,530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35 Cuautlancingo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45,943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17,689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19,547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52,560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5 Metepec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32,355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17,320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49,640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23 Teziutlán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25,891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3,787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12,874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37,230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10 Nuevo Necaxa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8,401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3,776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481,501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72,442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254,934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502,240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50.8%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237" name="Table 2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9921422"/>
              </p:ext>
            </p:extLst>
          </p:nvPr>
        </p:nvGraphicFramePr>
        <p:xfrm>
          <a:off x="144000" y="4295550"/>
          <a:ext cx="7340399" cy="150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5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HTO CMN Puebla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97,888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22,076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42,671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96,000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HES CMN Puebla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200,002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22,244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96,237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308,790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297,890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44,320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138,908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404,790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34.3%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779,391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116,762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393,842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907,030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43.4%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38" name="Chart 2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8247019"/>
              </p:ext>
            </p:extLst>
          </p:nvPr>
        </p:nvGraphicFramePr>
        <p:xfrm>
          <a:off x="4242300" y="5945400"/>
          <a:ext cx="1800000" cy="18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9" name="TextBox 238"/>
          <p:cNvSpPr txBox="1"/>
          <p:nvPr/>
        </p:nvSpPr>
        <p:spPr>
          <a:xfrm>
            <a:off x="4242300" y="66654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43.4%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4242300" y="75654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dirty="0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1315500" y="63666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rPr dirty="0"/>
              <a:t>907,030 </a:t>
            </a:r>
            <a:br>
              <a:rPr dirty="0"/>
            </a:br>
            <a:r>
              <a:rPr dirty="0"/>
              <a:t>Meta 2026</a:t>
            </a:r>
          </a:p>
        </p:txBody>
      </p:sp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3351491891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95616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No incluye las cirugías realizadas en HR.</a:t>
            </a:r>
            <a:br/>
            <a:r>
              <a:t>Sólo se consideran cirugías principales.</a:t>
            </a:r>
            <a:br/>
            <a:r>
              <a:t>Corte de información: Semana: 24, 7 junio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340399" cy="2640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5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36 San Alejandro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5,005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5,436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92.1%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35 Cuautlancingo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5,463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2,534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5,175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23 Teziutlán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1,725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5 Metepec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1,923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2,718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20 La Margarita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14,222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-286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3,655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13,800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10 Nuevo Necaxa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15 Tehuacán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1,338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5,436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27,784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1,697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14,320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35,073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40.8%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234" name="Table 233"/>
          <p:cNvGraphicFramePr>
            <a:graphicFrameLocks noGrp="1"/>
          </p:cNvGraphicFramePr>
          <p:nvPr/>
        </p:nvGraphicFramePr>
        <p:xfrm>
          <a:off x="144000" y="3729600"/>
          <a:ext cx="7340399" cy="150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5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HTO CMN Puebla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9,269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4,212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12,075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HES CMN Puebla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8,306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4,400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17,250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17,575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1,714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8,612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29,325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29.4%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45,359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3,411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22,932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64,398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35.6%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35" name="Chart 2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5462885"/>
              </p:ext>
            </p:extLst>
          </p:nvPr>
        </p:nvGraphicFramePr>
        <p:xfrm>
          <a:off x="4051800" y="5425560"/>
          <a:ext cx="1800000" cy="18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6" name="TextBox 235"/>
          <p:cNvSpPr txBox="1"/>
          <p:nvPr/>
        </p:nvSpPr>
        <p:spPr>
          <a:xfrm>
            <a:off x="4051800" y="614556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35.6%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4051800" y="704556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1125000" y="584676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rPr dirty="0"/>
              <a:t>64,398 </a:t>
            </a:r>
            <a:br>
              <a:rPr dirty="0"/>
            </a:br>
            <a:r>
              <a:rPr dirty="0"/>
              <a:t>Meta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379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2973" y="1007999"/>
            <a:ext cx="412645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C955C"/>
                </a:solidFill>
                <a:latin typeface="Montserrat"/>
              </a:defRPr>
            </a:pPr>
            <a:r>
              <a:rPr dirty="0"/>
              <a:t>152 </a:t>
            </a:r>
            <a:r>
              <a:rPr dirty="0" err="1"/>
              <a:t>en</a:t>
            </a:r>
            <a:r>
              <a:rPr dirty="0"/>
              <a:t> Hospitales, 10 </a:t>
            </a:r>
            <a:r>
              <a:rPr dirty="0" err="1"/>
              <a:t>en</a:t>
            </a:r>
            <a:r>
              <a:rPr dirty="0"/>
              <a:t> UMF y 217 </a:t>
            </a:r>
            <a:r>
              <a:rPr dirty="0" err="1"/>
              <a:t>sustitutos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360000" y="1419945"/>
            <a:ext cx="3475631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rPr dirty="0"/>
              <a:t>152 </a:t>
            </a:r>
            <a:r>
              <a:rPr dirty="0" err="1"/>
              <a:t>en</a:t>
            </a:r>
            <a:r>
              <a:rPr dirty="0"/>
              <a:t> Hospitales</a:t>
            </a:r>
            <a:r>
              <a:rPr lang="es-MX" dirty="0"/>
              <a:t> (1 de 5)</a:t>
            </a:r>
            <a:endParaRPr dirty="0"/>
          </a:p>
        </p:txBody>
      </p:sp>
      <p:cxnSp>
        <p:nvCxnSpPr>
          <p:cNvPr id="6" name="Connector 5"/>
          <p:cNvCxnSpPr/>
          <p:nvPr/>
        </p:nvCxnSpPr>
        <p:spPr>
          <a:xfrm>
            <a:off x="360000" y="18360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908000"/>
          <a:ext cx="3456000" cy="379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1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36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Alergia e Inmunología Clínica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Calidad de la Atención Clínica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Dermatología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Endocrinología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Endoscopia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de Sangre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6015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908000"/>
          <a:ext cx="3456000" cy="119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15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6215426"/>
              </p:ext>
            </p:extLst>
          </p:nvPr>
        </p:nvGraphicFramePr>
        <p:xfrm>
          <a:off x="360000" y="6069299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23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7217634"/>
              </p:ext>
            </p:extLst>
          </p:nvPr>
        </p:nvGraphicFramePr>
        <p:xfrm>
          <a:off x="3960000" y="3459449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35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4313482"/>
              </p:ext>
            </p:extLst>
          </p:nvPr>
        </p:nvGraphicFramePr>
        <p:xfrm>
          <a:off x="360000" y="7515748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0931839"/>
              </p:ext>
            </p:extLst>
          </p:nvPr>
        </p:nvGraphicFramePr>
        <p:xfrm>
          <a:off x="3960000" y="5115448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C/UMAA 20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68234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379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81545"/>
            <a:ext cx="3525324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rPr dirty="0"/>
              <a:t>152 </a:t>
            </a:r>
            <a:r>
              <a:rPr dirty="0" err="1"/>
              <a:t>en</a:t>
            </a:r>
            <a:r>
              <a:rPr dirty="0"/>
              <a:t> Hospitales (</a:t>
            </a:r>
            <a:r>
              <a:rPr lang="es-MX" dirty="0"/>
              <a:t>2 de 5</a:t>
            </a:r>
            <a:r>
              <a:rPr dirty="0"/>
              <a:t>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1369299"/>
              </p:ext>
            </p:extLst>
          </p:nvPr>
        </p:nvGraphicFramePr>
        <p:xfrm>
          <a:off x="340950" y="1626750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Chiautla de Tapia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515000"/>
              </p:ext>
            </p:extLst>
          </p:nvPr>
        </p:nvGraphicFramePr>
        <p:xfrm>
          <a:off x="3940950" y="1626750"/>
          <a:ext cx="3456000" cy="194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1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8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Chignahuapan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7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19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2649030"/>
              </p:ext>
            </p:extLst>
          </p:nvPr>
        </p:nvGraphicFramePr>
        <p:xfrm>
          <a:off x="340950" y="38292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Ixtepec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6870534"/>
              </p:ext>
            </p:extLst>
          </p:nvPr>
        </p:nvGraphicFramePr>
        <p:xfrm>
          <a:off x="3940950" y="3829200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San Salvador El Seco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508765"/>
              </p:ext>
            </p:extLst>
          </p:nvPr>
        </p:nvGraphicFramePr>
        <p:xfrm>
          <a:off x="340950" y="5836799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Tepexi de Rodríguez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9985997"/>
              </p:ext>
            </p:extLst>
          </p:nvPr>
        </p:nvGraphicFramePr>
        <p:xfrm>
          <a:off x="3940950" y="5836799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Villa Ávila Camacho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379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81545"/>
            <a:ext cx="3526928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rPr dirty="0"/>
              <a:t>152 </a:t>
            </a:r>
            <a:r>
              <a:rPr dirty="0" err="1"/>
              <a:t>en</a:t>
            </a:r>
            <a:r>
              <a:rPr dirty="0"/>
              <a:t> Hospitales (</a:t>
            </a:r>
            <a:r>
              <a:rPr lang="es-MX" dirty="0"/>
              <a:t>3 de 5</a:t>
            </a:r>
            <a:r>
              <a:rPr dirty="0"/>
              <a:t>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5962530"/>
              </p:ext>
            </p:extLst>
          </p:nvPr>
        </p:nvGraphicFramePr>
        <p:xfrm>
          <a:off x="360000" y="1722000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Zacapoaxtla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7424866"/>
              </p:ext>
            </p:extLst>
          </p:nvPr>
        </p:nvGraphicFramePr>
        <p:xfrm>
          <a:off x="3886200" y="1722000"/>
          <a:ext cx="3529800" cy="23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9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9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08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10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Hospital de </a:t>
                      </a:r>
                      <a:r>
                        <a:rPr dirty="0" err="1"/>
                        <a:t>Especialidades</a:t>
                      </a:r>
                      <a:r>
                        <a:rPr dirty="0"/>
                        <a:t>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Paliativa y del Dolor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Reumatología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de Sangre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11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842703"/>
              </p:ext>
            </p:extLst>
          </p:nvPr>
        </p:nvGraphicFramePr>
        <p:xfrm>
          <a:off x="324000" y="3761699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Traumatología y Ortopedia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379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081545"/>
            <a:ext cx="6219972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rPr dirty="0"/>
              <a:t>10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Unidades</a:t>
            </a:r>
            <a:r>
              <a:rPr dirty="0"/>
              <a:t> de Medicina Familiar</a:t>
            </a:r>
            <a:r>
              <a:rPr lang="es-MX" dirty="0"/>
              <a:t> (4 de 5)</a:t>
            </a:r>
            <a:endParaRPr dirty="0"/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69600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960000" y="1569600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0000" y="2469599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960000" y="2469599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0000" y="3369598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960000" y="3369598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5904423"/>
              </p:ext>
            </p:extLst>
          </p:nvPr>
        </p:nvGraphicFramePr>
        <p:xfrm>
          <a:off x="360000" y="4269597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960000" y="4269597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60000" y="5167889"/>
            <a:ext cx="3895618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rPr dirty="0"/>
              <a:t>217 </a:t>
            </a:r>
            <a:r>
              <a:rPr dirty="0" err="1"/>
              <a:t>especialistas</a:t>
            </a:r>
            <a:r>
              <a:rPr dirty="0"/>
              <a:t> </a:t>
            </a:r>
            <a:r>
              <a:rPr dirty="0" err="1"/>
              <a:t>sustitutos</a:t>
            </a:r>
            <a:endParaRPr dirty="0"/>
          </a:p>
        </p:txBody>
      </p:sp>
      <p:cxnSp>
        <p:nvCxnSpPr>
          <p:cNvPr id="15" name="Connector 14"/>
          <p:cNvCxnSpPr/>
          <p:nvPr/>
        </p:nvCxnSpPr>
        <p:spPr>
          <a:xfrm>
            <a:off x="360000" y="5583944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6565037"/>
              </p:ext>
            </p:extLst>
          </p:nvPr>
        </p:nvGraphicFramePr>
        <p:xfrm>
          <a:off x="2079945" y="5655944"/>
          <a:ext cx="3456000" cy="357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1)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Alergia e Inmunología Clínica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Alergia e Inmunología Clínica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Cardiotorácica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Coloproctología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Endocrinología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Genética Médica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379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81545"/>
            <a:ext cx="5030544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rPr dirty="0"/>
              <a:t>217 </a:t>
            </a:r>
            <a:r>
              <a:rPr dirty="0" err="1"/>
              <a:t>especialistas</a:t>
            </a:r>
            <a:r>
              <a:rPr dirty="0"/>
              <a:t> </a:t>
            </a:r>
            <a:r>
              <a:rPr dirty="0" err="1"/>
              <a:t>sustitutos</a:t>
            </a:r>
            <a:r>
              <a:rPr dirty="0"/>
              <a:t> (</a:t>
            </a:r>
            <a:r>
              <a:rPr lang="es-MX" dirty="0"/>
              <a:t>5 de 5</a:t>
            </a:r>
            <a:r>
              <a:rPr dirty="0"/>
              <a:t>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72400" y="7019999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Montserrat"/>
              </a:defRPr>
            </a:pPr>
            <a:r>
              <a:t>Sustitutos se integran a los Listados de Bolsa de Trabajo, para cubrir las futuras vacantes por jubilación, renuncia, fallecimiento, etc., así como ausentismo programado y no programado.</a:t>
            </a:r>
          </a:p>
        </p:txBody>
      </p:sp>
      <p:graphicFrame>
        <p:nvGraphicFramePr>
          <p:cNvPr id="10" name="Table 16">
            <a:extLst>
              <a:ext uri="{FF2B5EF4-FFF2-40B4-BE49-F238E27FC236}">
                <a16:creationId xmlns:a16="http://schemas.microsoft.com/office/drawing/2014/main" id="{1DC15843-BCC1-52DD-5B74-39A9510072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1933893"/>
              </p:ext>
            </p:extLst>
          </p:nvPr>
        </p:nvGraphicFramePr>
        <p:xfrm>
          <a:off x="2052000" y="1908600"/>
          <a:ext cx="3456000" cy="47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18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 err="1"/>
                        <a:t>Sustitución</a:t>
                      </a:r>
                      <a:r>
                        <a:rPr dirty="0"/>
                        <a:t> 8 (</a:t>
                      </a:r>
                      <a:r>
                        <a:rPr dirty="0" err="1"/>
                        <a:t>Parte</a:t>
                      </a:r>
                      <a:r>
                        <a:rPr dirty="0"/>
                        <a:t> 2)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Pediátrico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 err="1"/>
                        <a:t>Nefrología</a:t>
                      </a:r>
                      <a:endParaRPr dirty="0"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 err="1"/>
                        <a:t>Patología</a:t>
                      </a:r>
                      <a:r>
                        <a:rPr dirty="0"/>
                        <a:t> Clínica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 err="1"/>
                        <a:t>Psiquiatría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 err="1"/>
                        <a:t>Radioncología</a:t>
                      </a:r>
                      <a:r>
                        <a:rPr dirty="0"/>
                        <a:t> Directa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2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8284850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endParaRPr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053488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endParaRPr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217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522979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5795176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rPr dirty="0" err="1"/>
              <a:t>Contrataciones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especialidad</a:t>
            </a:r>
            <a:r>
              <a:rPr lang="es-MX" dirty="0"/>
              <a:t> (1 de 2)</a:t>
            </a:r>
            <a:endParaRPr dirty="0"/>
          </a:p>
        </p:txBody>
      </p:sp>
      <p:cxnSp>
        <p:nvCxnSpPr>
          <p:cNvPr id="4" name="Connector 3"/>
          <p:cNvCxnSpPr/>
          <p:nvPr/>
        </p:nvCxnSpPr>
        <p:spPr>
          <a:xfrm>
            <a:off x="223200" y="11357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700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5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158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12.1%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24.0%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35.0%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44.5%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53.5%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61.4%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68.8%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74.1%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76.2%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78.1%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79.6%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81.2%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 Pediátrica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82.5%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83.9%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85.2%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86.2%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87.3%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88.1%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 Pediátrica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88.9%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Endoscopia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89.7%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Radioncología Directa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90.2%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de Sangre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90.7%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91.2%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91.8%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616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92.3%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5848076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rPr dirty="0" err="1"/>
              <a:t>Contrataciones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especialidad</a:t>
            </a:r>
            <a:r>
              <a:rPr lang="es-MX" dirty="0"/>
              <a:t> (2 de 2)</a:t>
            </a:r>
            <a:endParaRPr dirty="0"/>
          </a:p>
        </p:txBody>
      </p:sp>
      <p:cxnSp>
        <p:nvCxnSpPr>
          <p:cNvPr id="4" name="Connector 3"/>
          <p:cNvCxnSpPr/>
          <p:nvPr/>
        </p:nvCxnSpPr>
        <p:spPr>
          <a:xfrm>
            <a:off x="223200" y="111674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717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5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158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92.8%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Alergia e Inmunología Clínica Pediátrica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93.4%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Patología Clínica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93.9%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94.4%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94.9%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Alergia e Inmunología Clínica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95.2%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Calidad de la Atención Clínica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95.5%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Cardiotorácica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95.7%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Endocrinología Pediátrica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96.0%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Endocrinología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96.3%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Dermatología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96.5%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Coloproctología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96.8%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97.0%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97.3%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Genética Médica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97.6%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97.8%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Pediátrico en Estado Crítico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98.1%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Paliativa y del Dolor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98.4%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98.6%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 Pediátrica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98.9%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99.2%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Pediátrica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99.4%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Reumatología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99.7%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 Pediátrica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616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45720" marR="45720" anchor="ctr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379</a:t>
                      </a:r>
                    </a:p>
                  </a:txBody>
                  <a:tcPr marL="45720" marR="45720" anchor="ctr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marL="45720" marR="45720" anchor="ctr">
                    <a:solidFill>
                      <a:srgbClr val="CBE6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223D0623-FD42-67B3-C108-57C4CD4444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2113708"/>
              </p:ext>
            </p:extLst>
          </p:nvPr>
        </p:nvGraphicFramePr>
        <p:xfrm>
          <a:off x="287050" y="740239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51800" y="4558115"/>
            <a:ext cx="5324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rPr dirty="0">
                <a:solidFill>
                  <a:schemeClr val="tx1"/>
                </a:solidFill>
              </a:rPr>
              <a:t>Corte de </a:t>
            </a:r>
            <a:r>
              <a:rPr dirty="0" err="1">
                <a:solidFill>
                  <a:schemeClr val="tx1"/>
                </a:solidFill>
              </a:rPr>
              <a:t>información</a:t>
            </a:r>
            <a:r>
              <a:rPr dirty="0">
                <a:solidFill>
                  <a:schemeClr val="tx1"/>
                </a:solidFill>
              </a:rPr>
              <a:t>: </a:t>
            </a:r>
            <a:r>
              <a:rPr dirty="0" err="1">
                <a:solidFill>
                  <a:schemeClr val="tx1"/>
                </a:solidFill>
              </a:rPr>
              <a:t>semana</a:t>
            </a:r>
            <a:r>
              <a:rPr dirty="0">
                <a:solidFill>
                  <a:schemeClr val="tx1"/>
                </a:solidFill>
              </a:rPr>
              <a:t> 24, 7 </a:t>
            </a:r>
            <a:r>
              <a:rPr dirty="0" err="1">
                <a:solidFill>
                  <a:schemeClr val="tx1"/>
                </a:solidFill>
              </a:rPr>
              <a:t>junio</a:t>
            </a:r>
            <a:r>
              <a:rPr dirty="0">
                <a:solidFill>
                  <a:schemeClr val="tx1"/>
                </a:solidFill>
              </a:rPr>
              <a:t>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24993"/>
              </p:ext>
            </p:extLst>
          </p:nvPr>
        </p:nvGraphicFramePr>
        <p:xfrm>
          <a:off x="127650" y="1588050"/>
          <a:ext cx="3639599" cy="358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2,164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75.6%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84.7%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89.6%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96.6%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Gastroenterología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9,089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8486387"/>
              </p:ext>
            </p:extLst>
          </p:nvPr>
        </p:nvGraphicFramePr>
        <p:xfrm>
          <a:off x="3992400" y="1962450"/>
          <a:ext cx="3639599" cy="236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76.2%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84.4%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1,912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Box 231">
            <a:extLst>
              <a:ext uri="{FF2B5EF4-FFF2-40B4-BE49-F238E27FC236}">
                <a16:creationId xmlns:a16="http://schemas.microsoft.com/office/drawing/2014/main" id="{1EE473E6-A680-7514-FDE8-87424F4B3CAC}"/>
              </a:ext>
            </a:extLst>
          </p:cNvPr>
          <p:cNvSpPr txBox="1"/>
          <p:nvPr/>
        </p:nvSpPr>
        <p:spPr>
          <a:xfrm>
            <a:off x="642541" y="6543353"/>
            <a:ext cx="5324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</a:t>
            </a:r>
            <a:r>
              <a:rPr err="1"/>
              <a:t>información</a:t>
            </a:r>
            <a:r>
              <a:t>: </a:t>
            </a:r>
            <a:r>
              <a:rPr lang="es-MX"/>
              <a:t>18</a:t>
            </a:r>
            <a:r>
              <a:t> </a:t>
            </a:r>
            <a:r>
              <a:rPr lang="es-MX"/>
              <a:t>junio</a:t>
            </a:r>
            <a:r>
              <a:t> 2026</a:t>
            </a:r>
          </a:p>
        </p:txBody>
      </p:sp>
      <p:graphicFrame>
        <p:nvGraphicFramePr>
          <p:cNvPr id="10" name="Google Shape;230;g370e87ffe7a_2_137">
            <a:extLst>
              <a:ext uri="{FF2B5EF4-FFF2-40B4-BE49-F238E27FC236}">
                <a16:creationId xmlns:a16="http://schemas.microsoft.com/office/drawing/2014/main" id="{E280E0A8-9C6C-AC33-5B07-DD7769391A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35077341"/>
              </p:ext>
            </p:extLst>
          </p:nvPr>
        </p:nvGraphicFramePr>
        <p:xfrm>
          <a:off x="200058" y="5283594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Vive saludable, Vive feliz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232">
            <a:extLst>
              <a:ext uri="{FF2B5EF4-FFF2-40B4-BE49-F238E27FC236}">
                <a16:creationId xmlns:a16="http://schemas.microsoft.com/office/drawing/2014/main" id="{1E7C87B7-C48A-37A6-96AC-D7C8A3A284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2297897"/>
              </p:ext>
            </p:extLst>
          </p:nvPr>
        </p:nvGraphicFramePr>
        <p:xfrm>
          <a:off x="659906" y="5778128"/>
          <a:ext cx="6352206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26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32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31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3169">
                  <a:extLst>
                    <a:ext uri="{9D8B030D-6E8A-4147-A177-3AD203B41FA5}">
                      <a16:colId xmlns:a16="http://schemas.microsoft.com/office/drawing/2014/main" val="1781743087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Total de Escuelas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Escuelas visitadas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Población 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Menores tamizados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/>
                        <a:t>4,268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/>
                        <a:t>4,066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/>
                        <a:t>796,926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/>
                        <a:t>522,223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14" name="Table 232">
            <a:extLst>
              <a:ext uri="{FF2B5EF4-FFF2-40B4-BE49-F238E27FC236}">
                <a16:creationId xmlns:a16="http://schemas.microsoft.com/office/drawing/2014/main" id="{C96EE2C1-1203-96A4-CDF6-F3F85DCD6B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7365991"/>
              </p:ext>
            </p:extLst>
          </p:nvPr>
        </p:nvGraphicFramePr>
        <p:xfrm>
          <a:off x="1735038" y="6853281"/>
          <a:ext cx="3705868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26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32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Brigadas</a:t>
                      </a:r>
                      <a:endParaRPr dirty="0"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Personal de enfermería IMSS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/>
                        <a:t>42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210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6" name="TextBox 231">
            <a:extLst>
              <a:ext uri="{FF2B5EF4-FFF2-40B4-BE49-F238E27FC236}">
                <a16:creationId xmlns:a16="http://schemas.microsoft.com/office/drawing/2014/main" id="{2C617DCA-4C12-1CD8-1541-2CD73C8D20EA}"/>
              </a:ext>
            </a:extLst>
          </p:cNvPr>
          <p:cNvSpPr txBox="1"/>
          <p:nvPr/>
        </p:nvSpPr>
        <p:spPr>
          <a:xfrm>
            <a:off x="1735038" y="7555168"/>
            <a:ext cx="5324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rPr lang="es-MX" dirty="0"/>
              <a:t>En cada brigada participan 5 personas del IMSS.</a:t>
            </a:r>
            <a:endParaRPr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0156F45-CA23-1109-34C1-AED9F4FE6F06}"/>
              </a:ext>
            </a:extLst>
          </p:cNvPr>
          <p:cNvSpPr txBox="1"/>
          <p:nvPr/>
        </p:nvSpPr>
        <p:spPr>
          <a:xfrm>
            <a:off x="464128" y="8500887"/>
            <a:ext cx="1841269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>
                <a:solidFill>
                  <a:srgbClr val="006556"/>
                </a:solidFill>
                <a:latin typeface="Montserrat"/>
                <a:ea typeface="Montserrat"/>
                <a:cs typeface="Montserrat"/>
              </a:rPr>
              <a:t>8,355</a:t>
            </a:r>
            <a:endParaRPr lang="en-US" sz="2800" b="1" i="0" u="none" strike="noStrike">
              <a:solidFill>
                <a:srgbClr val="006556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1200" b="1" i="0" u="none" strike="noStrike" err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Valoraciones</a:t>
            </a:r>
            <a:r>
              <a:rPr lang="en-US" sz="1200" b="1" i="0" u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 </a:t>
            </a:r>
            <a:br>
              <a:rPr lang="en-US" sz="1200" b="1">
                <a:latin typeface="Montserrat"/>
                <a:ea typeface="Montserrat"/>
                <a:cs typeface="Montserrat"/>
              </a:rPr>
            </a:br>
            <a:r>
              <a:rPr lang="en-US" sz="1200" b="1" i="0" u="none" strike="noStrike" err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nutricionales</a:t>
            </a:r>
            <a:endParaRPr lang="en-US" sz="1200" b="1" i="0" u="none" strike="noStrike">
              <a:solidFill>
                <a:srgbClr val="434343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D8D19940-FB35-A8DB-2513-CF8755442E45}"/>
              </a:ext>
            </a:extLst>
          </p:cNvPr>
          <p:cNvSpPr txBox="1"/>
          <p:nvPr/>
        </p:nvSpPr>
        <p:spPr>
          <a:xfrm>
            <a:off x="3000203" y="8500887"/>
            <a:ext cx="1832957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>
                <a:solidFill>
                  <a:srgbClr val="006556"/>
                </a:solidFill>
                <a:latin typeface="Montserrat"/>
                <a:ea typeface="Montserrat"/>
                <a:cs typeface="Montserrat"/>
              </a:rPr>
              <a:t>14,689</a:t>
            </a:r>
            <a:endParaRPr lang="en-US" sz="2800" b="1" i="0" u="none" strike="noStrike">
              <a:solidFill>
                <a:srgbClr val="006556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1200" b="1" i="0" u="none" strike="noStrike" err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Valoraciones</a:t>
            </a:r>
            <a:r>
              <a:rPr lang="en-US" sz="1200" b="1" i="0" u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 </a:t>
            </a:r>
            <a:br>
              <a:rPr lang="en-US" sz="1200" b="1">
                <a:latin typeface="Montserrat"/>
                <a:ea typeface="Montserrat"/>
                <a:cs typeface="Montserrat"/>
              </a:rPr>
            </a:br>
            <a:r>
              <a:rPr lang="en-US" sz="1200" b="1" err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bucales</a:t>
            </a:r>
            <a:endParaRPr lang="en-US" sz="1200" b="1" i="0" u="none" strike="noStrike">
              <a:solidFill>
                <a:srgbClr val="434343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A70AD37-D414-815B-23ED-131CE0936042}"/>
              </a:ext>
            </a:extLst>
          </p:cNvPr>
          <p:cNvSpPr txBox="1"/>
          <p:nvPr/>
        </p:nvSpPr>
        <p:spPr>
          <a:xfrm>
            <a:off x="5370715" y="8500887"/>
            <a:ext cx="184126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>
                <a:solidFill>
                  <a:srgbClr val="006556"/>
                </a:solidFill>
                <a:latin typeface="Montserrat"/>
                <a:ea typeface="Montserrat"/>
                <a:cs typeface="Montserrat"/>
              </a:rPr>
              <a:t>11,548</a:t>
            </a:r>
            <a:endParaRPr lang="en-US" sz="2800" b="1" i="0" u="none" strike="noStrike">
              <a:solidFill>
                <a:srgbClr val="006556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1200" b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Salud visual</a:t>
            </a:r>
            <a:endParaRPr lang="en-US" sz="1200" b="1" i="0" u="none" strike="noStrike">
              <a:solidFill>
                <a:srgbClr val="434343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24" name="Imagen 23" descr="Icono&#10;&#10;El contenido generado por IA puede ser incorrecto.">
            <a:extLst>
              <a:ext uri="{FF2B5EF4-FFF2-40B4-BE49-F238E27FC236}">
                <a16:creationId xmlns:a16="http://schemas.microsoft.com/office/drawing/2014/main" id="{5710897A-06B5-000E-C358-D1991AABF1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9144" y="7887824"/>
            <a:ext cx="730135" cy="669175"/>
          </a:xfrm>
          <a:prstGeom prst="rect">
            <a:avLst/>
          </a:prstGeom>
        </p:spPr>
      </p:pic>
      <p:pic>
        <p:nvPicPr>
          <p:cNvPr id="26" name="Imagen 25" descr="Icono&#10;&#10;El contenido generado por IA puede ser incorrecto.">
            <a:extLst>
              <a:ext uri="{FF2B5EF4-FFF2-40B4-BE49-F238E27FC236}">
                <a16:creationId xmlns:a16="http://schemas.microsoft.com/office/drawing/2014/main" id="{776AA02D-0651-DF7B-4F89-CF87705FA4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8345" y="8034855"/>
            <a:ext cx="924445" cy="491944"/>
          </a:xfrm>
          <a:prstGeom prst="rect">
            <a:avLst/>
          </a:prstGeom>
        </p:spPr>
      </p:pic>
      <p:pic>
        <p:nvPicPr>
          <p:cNvPr id="28" name="Imagen 27" descr="Icono&#10;&#10;El contenido generado por IA puede ser incorrecto.">
            <a:extLst>
              <a:ext uri="{FF2B5EF4-FFF2-40B4-BE49-F238E27FC236}">
                <a16:creationId xmlns:a16="http://schemas.microsoft.com/office/drawing/2014/main" id="{07A646DE-1A17-B42E-6AC6-D1F1D3F113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3079" y="7869813"/>
            <a:ext cx="603366" cy="713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18,187	 Personal de Salud: 10,864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+120.4%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1121122"/>
              </p:ext>
            </p:extLst>
          </p:nvPr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rPr dirty="0"/>
                        <a:t>2018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rPr dirty="0"/>
                        <a:t>2026</a:t>
                      </a: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54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rPr dirty="0"/>
                        <a:t>119</a:t>
                      </a: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+38.3%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1394030"/>
              </p:ext>
            </p:extLst>
          </p:nvPr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rPr dirty="0"/>
                        <a:t>2018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318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1,703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rPr dirty="0"/>
                        <a:t>2,356</a:t>
                      </a: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+10.5%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7661374"/>
              </p:ext>
            </p:extLst>
          </p:nvPr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rPr dirty="0"/>
                        <a:t>2018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rPr dirty="0"/>
                        <a:t>2026</a:t>
                      </a: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462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3,444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rPr dirty="0"/>
                        <a:t>3,805</a:t>
                      </a: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+16.4%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7866859"/>
              </p:ext>
            </p:extLst>
          </p:nvPr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rPr dirty="0"/>
                        <a:t>2018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462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2,258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rPr dirty="0"/>
                        <a:t>2,629</a:t>
                      </a: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+162.0%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4599570"/>
              </p:ext>
            </p:extLst>
          </p:nvPr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rPr dirty="0"/>
                        <a:t>2018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rPr dirty="0"/>
                        <a:t>2026</a:t>
                      </a: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540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rPr dirty="0"/>
                        <a:t>1,415</a:t>
                      </a: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-9.7%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8903486"/>
              </p:ext>
            </p:extLst>
          </p:nvPr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rPr dirty="0"/>
                        <a:t>2018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598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rPr dirty="0"/>
                        <a:t>540</a:t>
                      </a: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1277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120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59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46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1399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89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62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48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Imagenología Diagnóstica y Terapéutica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1127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8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102</a:t>
                      </a:r>
                    </a:p>
                  </a:txBody>
                  <a:tcPr marL="36576" marR="36576" marT="36576" marB="36576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158</a:t>
                      </a:r>
                    </a:p>
                  </a:txBody>
                  <a:tcPr marL="36576" marR="3657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235</a:t>
                      </a:r>
                    </a:p>
                  </a:txBody>
                  <a:tcPr marL="36576" marR="36576" marT="36576" marB="36576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186</a:t>
                      </a:r>
                    </a:p>
                  </a:txBody>
                  <a:tcPr marL="36576" marR="3657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681</a:t>
                      </a:r>
                    </a:p>
                  </a:txBody>
                  <a:tcPr marL="36576" marR="36576" marT="36576" marB="36576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5820664"/>
              </p:ext>
            </p:extLst>
          </p:nvPr>
        </p:nvGraphicFramePr>
        <p:xfrm>
          <a:off x="320040" y="5319439"/>
          <a:ext cx="3438144" cy="20665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junio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Sistema de Información Operativa. Personal de base. Corte de información: mayo 2026.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13,276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723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140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213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3,463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1,389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19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18,851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6108172"/>
              </p:ext>
            </p:extLst>
          </p:nvPr>
        </p:nvGraphicFramePr>
        <p:xfrm>
          <a:off x="110745" y="1548000"/>
          <a:ext cx="7567200" cy="3141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Medicina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latin typeface="Montserrat"/>
                        </a:rPr>
                        <a:t>Diabetes mellitus
(196,487)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(18,743)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 err="1">
                          <a:latin typeface="Montserrat"/>
                        </a:rPr>
                        <a:t>Cesárea</a:t>
                      </a:r>
                      <a:r>
                        <a:rPr sz="900" b="0" dirty="0">
                          <a:latin typeface="Montserrat"/>
                        </a:rPr>
                        <a:t>
(2,081)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(3,822)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(195)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(141,149)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(15,909)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 err="1">
                          <a:latin typeface="Montserrat"/>
                        </a:rPr>
                        <a:t>Traumatismos</a:t>
                      </a:r>
                      <a:r>
                        <a:rPr sz="900" b="0" dirty="0">
                          <a:latin typeface="Montserrat"/>
                        </a:rPr>
                        <a:t> y </a:t>
                      </a:r>
                      <a:r>
                        <a:rPr sz="900" b="0" dirty="0" err="1">
                          <a:latin typeface="Montserrat"/>
                        </a:rPr>
                        <a:t>envenenamientos</a:t>
                      </a:r>
                      <a:r>
                        <a:rPr sz="900" b="0" dirty="0">
                          <a:latin typeface="Montserrat"/>
                        </a:rPr>
                        <a:t>
(1,961)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 err="1">
                          <a:latin typeface="Montserrat"/>
                        </a:rPr>
                        <a:t>Tumores</a:t>
                      </a:r>
                      <a:r>
                        <a:rPr sz="900" b="0" dirty="0">
                          <a:latin typeface="Montserrat"/>
                        </a:rPr>
                        <a:t> </a:t>
                      </a:r>
                      <a:r>
                        <a:rPr sz="900" b="0" dirty="0" err="1">
                          <a:latin typeface="Montserrat"/>
                        </a:rPr>
                        <a:t>malignos</a:t>
                      </a:r>
                      <a:r>
                        <a:rPr sz="900" b="0" dirty="0">
                          <a:latin typeface="Montserrat"/>
                        </a:rPr>
                        <a:t>
(3,370)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(185)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(53,675)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(14,907)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Hernias (Hernioplastía)
(1,270)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 err="1">
                          <a:latin typeface="Montserrat"/>
                        </a:rPr>
                        <a:t>Traumatismos</a:t>
                      </a:r>
                      <a:r>
                        <a:rPr sz="900" b="0" dirty="0">
                          <a:latin typeface="Montserrat"/>
                        </a:rPr>
                        <a:t> e </a:t>
                      </a:r>
                      <a:r>
                        <a:rPr sz="900" b="0" dirty="0" err="1">
                          <a:latin typeface="Montserrat"/>
                        </a:rPr>
                        <a:t>intoxicaciones</a:t>
                      </a:r>
                      <a:r>
                        <a:rPr sz="900" b="0" dirty="0">
                          <a:latin typeface="Montserrat"/>
                        </a:rPr>
                        <a:t>
(2,545)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(168)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(33,613)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(11,042)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vesicula biliar (Colecistectomía)
(807)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latin typeface="Montserrat"/>
                        </a:rPr>
                        <a:t>Hernias
(1,453)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 err="1">
                          <a:latin typeface="Montserrat"/>
                        </a:rPr>
                        <a:t>Enfermedades</a:t>
                      </a:r>
                      <a:r>
                        <a:rPr sz="900" b="0" dirty="0">
                          <a:latin typeface="Montserrat"/>
                        </a:rPr>
                        <a:t> </a:t>
                      </a:r>
                      <a:r>
                        <a:rPr sz="900" b="0" dirty="0" err="1">
                          <a:latin typeface="Montserrat"/>
                        </a:rPr>
                        <a:t>cerebrovasculares</a:t>
                      </a:r>
                      <a:r>
                        <a:rPr sz="900" b="0" dirty="0">
                          <a:latin typeface="Montserrat"/>
                        </a:rPr>
                        <a:t>
(139)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(22,718)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(7,866)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(803)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(1,379)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 err="1">
                          <a:latin typeface="Montserrat"/>
                        </a:rPr>
                        <a:t>Neumonía</a:t>
                      </a:r>
                      <a:r>
                        <a:rPr sz="900" b="0" dirty="0">
                          <a:latin typeface="Montserrat"/>
                        </a:rPr>
                        <a:t> e influenza
(125)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rPr dirty="0" err="1"/>
              <a:t>Recetas</a:t>
            </a:r>
            <a:r>
              <a:rPr dirty="0"/>
              <a:t> </a:t>
            </a:r>
            <a:r>
              <a:rPr dirty="0" err="1"/>
              <a:t>surtidas</a:t>
            </a:r>
            <a:r>
              <a:rPr dirty="0"/>
              <a:t> y </a:t>
            </a:r>
            <a:r>
              <a:rPr dirty="0" err="1"/>
              <a:t>negadas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mayo de cada año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Fuente: Portal de Control de Abasto. En 2026, se muestra lo correspondiente al periodo del 1 de enero al 31 de mayo de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43600"/>
            <a:ext cx="414408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rPr sz="1800" b="1" dirty="0" err="1"/>
              <a:t>Recetas</a:t>
            </a:r>
            <a:r>
              <a:rPr sz="1800" b="1" dirty="0"/>
              <a:t> </a:t>
            </a:r>
            <a:r>
              <a:rPr sz="1800" b="1" dirty="0" err="1"/>
              <a:t>manuales</a:t>
            </a:r>
            <a:r>
              <a:rPr sz="1800" b="1" dirty="0"/>
              <a:t> y </a:t>
            </a:r>
            <a:r>
              <a:rPr sz="1800" b="1" dirty="0" err="1"/>
              <a:t>electrónicas</a:t>
            </a:r>
            <a:endParaRPr sz="1800" b="1" dirty="0"/>
          </a:p>
        </p:txBody>
      </p:sp>
      <p:cxnSp>
        <p:nvCxnSpPr>
          <p:cNvPr id="9" name="Connector 8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583680"/>
          <a:ext cx="6858000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282,694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2,666,216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90.4%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186,213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2,695,416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93.5%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965160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Fuente: Portal de Control de Abasto. En 2026, se muestra lo correspondiente al periodo del 1 de enero al 31 de mayo de 2026.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F82B9-A745-5EC5-EB82-7BE9BC782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99084"/>
            <a:ext cx="5400000" cy="32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Medicamentos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1070396"/>
            <a:ext cx="2205732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rPr sz="1800" dirty="0" err="1"/>
              <a:t>Piezas</a:t>
            </a:r>
            <a:r>
              <a:rPr sz="1800" dirty="0"/>
              <a:t> </a:t>
            </a:r>
            <a:r>
              <a:rPr sz="1800" dirty="0" err="1"/>
              <a:t>consumidas</a:t>
            </a:r>
            <a:endParaRPr sz="1800" dirty="0"/>
          </a:p>
        </p:txBody>
      </p:sp>
      <p:cxnSp>
        <p:nvCxnSpPr>
          <p:cNvPr id="5" name="Connector 4"/>
          <p:cNvCxnSpPr/>
          <p:nvPr/>
        </p:nvCxnSpPr>
        <p:spPr>
          <a:xfrm>
            <a:off x="180000" y="1340397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fica_piezas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" y="1513197"/>
            <a:ext cx="7441200" cy="217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000" y="4552499"/>
            <a:ext cx="6840000" cy="288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Medicamentos con mayor demanda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6200" y="4975201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2884363"/>
              </p:ext>
            </p:extLst>
          </p:nvPr>
        </p:nvGraphicFramePr>
        <p:xfrm>
          <a:off x="286200" y="5155201"/>
          <a:ext cx="7200000" cy="214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8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Con mayor </a:t>
                      </a:r>
                      <a:r>
                        <a:rPr dirty="0" err="1"/>
                        <a:t>demanda</a:t>
                      </a:r>
                      <a:r>
                        <a:rPr dirty="0"/>
                        <a:t> de </a:t>
                      </a:r>
                      <a:r>
                        <a:rPr dirty="0" err="1"/>
                        <a:t>enero</a:t>
                      </a:r>
                      <a:r>
                        <a:rPr dirty="0"/>
                        <a:t> a </a:t>
                      </a:r>
                      <a:r>
                        <a:rPr lang="es-MX" dirty="0"/>
                        <a:t>mayo</a:t>
                      </a:r>
                      <a:r>
                        <a:rPr dirty="0"/>
                        <a:t>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Consumo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Paracetamol, tableta (analgésico)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507,070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Losartán, gragea o comprimido recubierto (hipertensión)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310,818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Electrolitos orales solución (hidratación)  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279,474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Dapagliflozina, tableta (hipoglucemiante)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239,423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Pantoprazol o Rabeprazol u Omeprazol, tableta o gragea o cápsula (antiácido)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211,703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Metformina, tableta (hipoglucemiante)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200,990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Atorvastatina, tableta (reducir colesterol y triglicéridos)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195,383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Cloruro de sodio, solución inyectable al 0.9% (deshidratación)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185,660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Cloruro de sodio, solución inyectable al 0.9% (deshidratación)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175,458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Pioglitazona, tableta (hipoglucemiante)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dirty="0"/>
                        <a:t>165,508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9651600"/>
            <a:ext cx="68580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rPr dirty="0"/>
              <a:t>Fuente: Portal de Control de Abasto. En 2026, se </a:t>
            </a:r>
            <a:r>
              <a:rPr dirty="0" err="1"/>
              <a:t>muestra</a:t>
            </a:r>
            <a:r>
              <a:rPr dirty="0"/>
              <a:t> lo </a:t>
            </a:r>
            <a:r>
              <a:rPr dirty="0" err="1"/>
              <a:t>correspondiente</a:t>
            </a:r>
            <a:r>
              <a:rPr dirty="0"/>
              <a:t> al </a:t>
            </a:r>
            <a:r>
              <a:rPr dirty="0" err="1"/>
              <a:t>periodo</a:t>
            </a:r>
            <a:r>
              <a:rPr dirty="0"/>
              <a:t> del 1 de </a:t>
            </a:r>
            <a:r>
              <a:rPr dirty="0" err="1"/>
              <a:t>enero</a:t>
            </a:r>
            <a:r>
              <a:rPr dirty="0"/>
              <a:t> al 3</a:t>
            </a:r>
            <a:r>
              <a:rPr lang="es-MX" dirty="0"/>
              <a:t>1 de mayo </a:t>
            </a:r>
            <a:r>
              <a:rPr dirty="0"/>
              <a:t>de 2026.</a:t>
            </a:r>
          </a:p>
        </p:txBody>
      </p:sp>
    </p:spTree>
    <p:extLst>
      <p:ext uri="{BB962C8B-B14F-4D97-AF65-F5344CB8AC3E}">
        <p14:creationId xmlns:p14="http://schemas.microsoft.com/office/powerpoint/2010/main" val="32167444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graphicFrame>
        <p:nvGraphicFramePr>
          <p:cNvPr id="9" name="Google Shape;394;p15">
            <a:extLst>
              <a:ext uri="{FF2B5EF4-FFF2-40B4-BE49-F238E27FC236}">
                <a16:creationId xmlns:a16="http://schemas.microsoft.com/office/drawing/2014/main" id="{7F86ED9E-F630-06D5-0EB0-027A377211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13582526"/>
              </p:ext>
            </p:extLst>
          </p:nvPr>
        </p:nvGraphicFramePr>
        <p:xfrm>
          <a:off x="282946" y="937475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3" name="Google Shape;395;p15">
            <a:extLst>
              <a:ext uri="{FF2B5EF4-FFF2-40B4-BE49-F238E27FC236}">
                <a16:creationId xmlns:a16="http://schemas.microsoft.com/office/drawing/2014/main" id="{4C54C1FA-ED10-1A71-4979-0F6892397AA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85796" y="546892"/>
            <a:ext cx="1599000" cy="771583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396;p15">
            <a:extLst>
              <a:ext uri="{FF2B5EF4-FFF2-40B4-BE49-F238E27FC236}">
                <a16:creationId xmlns:a16="http://schemas.microsoft.com/office/drawing/2014/main" id="{6CB81413-5D56-3ED3-6D54-01639ECE4B84}"/>
              </a:ext>
            </a:extLst>
          </p:cNvPr>
          <p:cNvSpPr txBox="1"/>
          <p:nvPr/>
        </p:nvSpPr>
        <p:spPr>
          <a:xfrm>
            <a:off x="4047046" y="886725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CuadroTexto 10">
            <a:extLst>
              <a:ext uri="{FF2B5EF4-FFF2-40B4-BE49-F238E27FC236}">
                <a16:creationId xmlns:a16="http://schemas.microsoft.com/office/drawing/2014/main" id="{8AC5C446-8957-A6F9-6C5E-4CAD4B8FC6EC}"/>
              </a:ext>
            </a:extLst>
          </p:cNvPr>
          <p:cNvSpPr txBox="1"/>
          <p:nvPr/>
        </p:nvSpPr>
        <p:spPr>
          <a:xfrm>
            <a:off x="-1061653" y="2733114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Remodelación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29" name="Imagen 28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523F30C3-EB62-B51A-89E9-A02E5C2CC28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401644" y="3166593"/>
            <a:ext cx="875508" cy="854908"/>
          </a:xfrm>
          <a:prstGeom prst="rect">
            <a:avLst/>
          </a:prstGeom>
        </p:spPr>
      </p:pic>
      <p:sp>
        <p:nvSpPr>
          <p:cNvPr id="31" name="CuadroTexto 12">
            <a:extLst>
              <a:ext uri="{FF2B5EF4-FFF2-40B4-BE49-F238E27FC236}">
                <a16:creationId xmlns:a16="http://schemas.microsoft.com/office/drawing/2014/main" id="{6EB23171-5EED-1A1F-E425-5E8923F8DBD0}"/>
              </a:ext>
            </a:extLst>
          </p:cNvPr>
          <p:cNvSpPr txBox="1"/>
          <p:nvPr/>
        </p:nvSpPr>
        <p:spPr>
          <a:xfrm>
            <a:off x="-1109278" y="3125583"/>
            <a:ext cx="3886200" cy="72327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4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Áreas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de </a:t>
            </a:r>
            <a:endParaRPr lang="en-US" dirty="0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Terapia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</a:t>
            </a:r>
            <a:endParaRPr lang="en-US" dirty="0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Intensiva</a:t>
            </a:r>
            <a:endParaRPr lang="en-US" dirty="0"/>
          </a:p>
        </p:txBody>
      </p:sp>
      <p:sp>
        <p:nvSpPr>
          <p:cNvPr id="33" name="CuadroTexto 10">
            <a:extLst>
              <a:ext uri="{FF2B5EF4-FFF2-40B4-BE49-F238E27FC236}">
                <a16:creationId xmlns:a16="http://schemas.microsoft.com/office/drawing/2014/main" id="{058EAF1B-61A8-5D7A-ED32-409124BB5E53}"/>
              </a:ext>
            </a:extLst>
          </p:cNvPr>
          <p:cNvSpPr txBox="1"/>
          <p:nvPr/>
        </p:nvSpPr>
        <p:spPr>
          <a:xfrm>
            <a:off x="-1109278" y="4040658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Adquisición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35" name="Imagen 34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70CDEB20-0E7C-E57D-CCB8-EB444B4BB3B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400282" y="4504694"/>
            <a:ext cx="875508" cy="897907"/>
          </a:xfrm>
          <a:prstGeom prst="rect">
            <a:avLst/>
          </a:prstGeom>
        </p:spPr>
      </p:pic>
      <p:sp>
        <p:nvSpPr>
          <p:cNvPr id="37" name="CuadroTexto 12">
            <a:extLst>
              <a:ext uri="{FF2B5EF4-FFF2-40B4-BE49-F238E27FC236}">
                <a16:creationId xmlns:a16="http://schemas.microsoft.com/office/drawing/2014/main" id="{EF64A267-63BC-1567-1D6D-23D5150134D8}"/>
              </a:ext>
            </a:extLst>
          </p:cNvPr>
          <p:cNvSpPr txBox="1"/>
          <p:nvPr/>
        </p:nvSpPr>
        <p:spPr>
          <a:xfrm>
            <a:off x="-1113930" y="4566940"/>
            <a:ext cx="38862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2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 dirty="0" err="1">
                <a:solidFill>
                  <a:srgbClr val="BC955C"/>
                </a:solidFill>
                <a:latin typeface="Montserrat"/>
              </a:rPr>
              <a:t>Tomógrafos</a:t>
            </a:r>
            <a:endParaRPr lang="en-US" sz="800" b="1" dirty="0">
              <a:solidFill>
                <a:srgbClr val="BC955C"/>
              </a:solidFill>
              <a:latin typeface="Montserrat"/>
            </a:endParaRPr>
          </a:p>
        </p:txBody>
      </p:sp>
      <p:sp>
        <p:nvSpPr>
          <p:cNvPr id="39" name="CuadroTexto 10">
            <a:extLst>
              <a:ext uri="{FF2B5EF4-FFF2-40B4-BE49-F238E27FC236}">
                <a16:creationId xmlns:a16="http://schemas.microsoft.com/office/drawing/2014/main" id="{FB54AB4E-0617-FFBC-08E2-B31193E38312}"/>
              </a:ext>
            </a:extLst>
          </p:cNvPr>
          <p:cNvSpPr txBox="1"/>
          <p:nvPr/>
        </p:nvSpPr>
        <p:spPr>
          <a:xfrm>
            <a:off x="-1061653" y="1407021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1" name="Imagen 40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E21B8E7B-89F1-17AC-B476-95371EC249C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400282" y="1836026"/>
            <a:ext cx="875508" cy="854908"/>
          </a:xfrm>
          <a:prstGeom prst="rect">
            <a:avLst/>
          </a:prstGeom>
        </p:spPr>
      </p:pic>
      <p:sp>
        <p:nvSpPr>
          <p:cNvPr id="43" name="CuadroTexto 12">
            <a:extLst>
              <a:ext uri="{FF2B5EF4-FFF2-40B4-BE49-F238E27FC236}">
                <a16:creationId xmlns:a16="http://schemas.microsoft.com/office/drawing/2014/main" id="{75BA8FC9-2740-AC5C-A6E5-0DF1E8C5FC62}"/>
              </a:ext>
            </a:extLst>
          </p:cNvPr>
          <p:cNvSpPr txBox="1"/>
          <p:nvPr/>
        </p:nvSpPr>
        <p:spPr>
          <a:xfrm>
            <a:off x="-1109278" y="1924258"/>
            <a:ext cx="38862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 dirty="0">
                <a:solidFill>
                  <a:srgbClr val="BC955C"/>
                </a:solidFill>
                <a:latin typeface="Montserrat"/>
              </a:rPr>
              <a:t>Hospital</a:t>
            </a:r>
          </a:p>
        </p:txBody>
      </p:sp>
      <p:graphicFrame>
        <p:nvGraphicFramePr>
          <p:cNvPr id="45" name="Table 16">
            <a:extLst>
              <a:ext uri="{FF2B5EF4-FFF2-40B4-BE49-F238E27FC236}">
                <a16:creationId xmlns:a16="http://schemas.microsoft.com/office/drawing/2014/main" id="{E347A5CE-CC30-A082-8A8A-06390FA25C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9254189"/>
              </p:ext>
            </p:extLst>
          </p:nvPr>
        </p:nvGraphicFramePr>
        <p:xfrm>
          <a:off x="1677725" y="1451339"/>
          <a:ext cx="5740842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271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37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</a:t>
                      </a:r>
                      <a:r>
                        <a:rPr err="1"/>
                        <a:t>Infraestructura</a:t>
                      </a:r>
                      <a:r>
                        <a:t> 2025</a:t>
                      </a:r>
                    </a:p>
                  </a:txBody>
                  <a:tcPr marL="3600" marR="3600" marT="3600" marB="36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</a:t>
                      </a:r>
                      <a:r>
                        <a:rPr err="1"/>
                        <a:t>mdp</a:t>
                      </a:r>
                      <a:r>
                        <a:t>)</a:t>
                      </a:r>
                    </a:p>
                  </a:txBody>
                  <a:tcPr marL="3600" marR="3600" marT="3600" marB="36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HGR</a:t>
                      </a:r>
                      <a:r>
                        <a:rPr lang="es-MX" sz="1000">
                          <a:latin typeface="Montserrat"/>
                        </a:rPr>
                        <a:t> 36, Carmen Serdán</a:t>
                      </a:r>
                      <a:r>
                        <a:rPr sz="1000">
                          <a:latin typeface="Montserrat"/>
                        </a:rPr>
                        <a:t> de 180 camas, (</a:t>
                      </a:r>
                      <a:r>
                        <a:rPr lang="es-MX" sz="1000">
                          <a:latin typeface="Montserrat"/>
                        </a:rPr>
                        <a:t>antes San Alejandro</a:t>
                      </a:r>
                      <a:r>
                        <a:rPr sz="1000">
                          <a:latin typeface="Montserrat"/>
                        </a:rPr>
                        <a:t>)</a:t>
                      </a:r>
                    </a:p>
                  </a:txBody>
                  <a:tcPr marL="3600" marR="3600" marT="360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9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0" dirty="0">
                          <a:latin typeface="Montserrat"/>
                        </a:rPr>
                        <a:t>$2,652.0</a:t>
                      </a:r>
                    </a:p>
                  </a:txBody>
                  <a:tcPr marL="3600" marR="3600" marT="3600" marB="36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9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7" name="Table 17">
            <a:extLst>
              <a:ext uri="{FF2B5EF4-FFF2-40B4-BE49-F238E27FC236}">
                <a16:creationId xmlns:a16="http://schemas.microsoft.com/office/drawing/2014/main" id="{3928FE11-09B3-5E1D-95A2-117D1B00E6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4195998"/>
              </p:ext>
            </p:extLst>
          </p:nvPr>
        </p:nvGraphicFramePr>
        <p:xfrm>
          <a:off x="1677725" y="2124203"/>
          <a:ext cx="5740842" cy="38292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271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37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6074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Obras de </a:t>
                      </a:r>
                      <a:r>
                        <a:rPr sz="1000" err="1"/>
                        <a:t>Conservación</a:t>
                      </a:r>
                      <a:r>
                        <a:rPr sz="1000"/>
                        <a:t> 2025</a:t>
                      </a:r>
                    </a:p>
                  </a:txBody>
                  <a:tcPr marL="3600" marR="3600" marT="3600" marB="36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Monto (mdp)</a:t>
                      </a:r>
                    </a:p>
                  </a:txBody>
                  <a:tcPr marL="3600" marR="3600" marT="3600" marB="3600"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Mantenimiento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Infraestructura</a:t>
                      </a:r>
                      <a:r>
                        <a:rPr sz="1000">
                          <a:latin typeface="Montserrat"/>
                        </a:rPr>
                        <a:t> (PAO 2025)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$589.5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Remodelación</a:t>
                      </a:r>
                      <a:r>
                        <a:rPr sz="1000">
                          <a:latin typeface="Montserrat"/>
                        </a:rPr>
                        <a:t> y </a:t>
                      </a:r>
                      <a:r>
                        <a:rPr sz="1000" err="1">
                          <a:latin typeface="Montserrat"/>
                        </a:rPr>
                        <a:t>mejora</a:t>
                      </a:r>
                      <a:r>
                        <a:rPr sz="1000">
                          <a:latin typeface="Montserrat"/>
                        </a:rPr>
                        <a:t> de imagen </a:t>
                      </a:r>
                      <a:r>
                        <a:rPr sz="1000" err="1">
                          <a:latin typeface="Montserrat"/>
                        </a:rPr>
                        <a:t>en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el</a:t>
                      </a:r>
                      <a:r>
                        <a:rPr sz="1000">
                          <a:latin typeface="Montserrat"/>
                        </a:rPr>
                        <a:t> HGR No. 20 Puebla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$98.8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Intervención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en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áreas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terapia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intensiva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en</a:t>
                      </a:r>
                      <a:r>
                        <a:rPr sz="1000">
                          <a:latin typeface="Montserrat"/>
                        </a:rPr>
                        <a:t> 4 </a:t>
                      </a:r>
                      <a:r>
                        <a:rPr sz="1000" err="1">
                          <a:latin typeface="Montserrat"/>
                        </a:rPr>
                        <a:t>unidades</a:t>
                      </a:r>
                      <a:r>
                        <a:rPr sz="1000">
                          <a:latin typeface="Montserrat"/>
                        </a:rPr>
                        <a:t> (H. de </a:t>
                      </a:r>
                      <a:r>
                        <a:rPr sz="1000" err="1">
                          <a:latin typeface="Montserrat"/>
                        </a:rPr>
                        <a:t>Especialidades</a:t>
                      </a:r>
                      <a:r>
                        <a:rPr sz="1000">
                          <a:latin typeface="Montserrat"/>
                        </a:rPr>
                        <a:t> CMN Puebla,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H. Traum. y </a:t>
                      </a:r>
                      <a:r>
                        <a:rPr sz="1000" err="1">
                          <a:latin typeface="Montserrat"/>
                        </a:rPr>
                        <a:t>Ortopedia</a:t>
                      </a:r>
                      <a:r>
                        <a:rPr sz="1000">
                          <a:latin typeface="Montserrat"/>
                        </a:rPr>
                        <a:t> CMN Puebla, HGZ No. 20 Puebla, HGZ No.15 </a:t>
                      </a:r>
                      <a:r>
                        <a:rPr sz="1000" err="1">
                          <a:latin typeface="Montserrat"/>
                        </a:rPr>
                        <a:t>Tehuacán</a:t>
                      </a:r>
                      <a:r>
                        <a:rPr sz="1000">
                          <a:latin typeface="Montserrat"/>
                        </a:rPr>
                        <a:t>)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$38.9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Intervención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en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áreas</a:t>
                      </a:r>
                      <a:r>
                        <a:rPr sz="1000">
                          <a:latin typeface="Montserrat"/>
                        </a:rPr>
                        <a:t> de residencias </a:t>
                      </a:r>
                      <a:r>
                        <a:rPr sz="1000" err="1">
                          <a:latin typeface="Montserrat"/>
                        </a:rPr>
                        <a:t>médicas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en</a:t>
                      </a:r>
                      <a:r>
                        <a:rPr sz="1000">
                          <a:latin typeface="Montserrat"/>
                        </a:rPr>
                        <a:t> 8 </a:t>
                      </a:r>
                      <a:r>
                        <a:rPr sz="1000" err="1">
                          <a:latin typeface="Montserrat"/>
                        </a:rPr>
                        <a:t>unidades</a:t>
                      </a:r>
                      <a:r>
                        <a:rPr sz="1000">
                          <a:latin typeface="Montserrat"/>
                        </a:rPr>
                        <a:t> (H. de </a:t>
                      </a:r>
                      <a:r>
                        <a:rPr sz="1000" err="1">
                          <a:latin typeface="Montserrat"/>
                        </a:rPr>
                        <a:t>Especialidades</a:t>
                      </a:r>
                      <a:r>
                        <a:rPr sz="1000">
                          <a:latin typeface="Montserrat"/>
                        </a:rPr>
                        <a:t> CMN Puebla, HGZ No. 20, UMF No. 35, UMF No. 34, UMF No. 55 Puebla; HGZ No. 15 </a:t>
                      </a:r>
                      <a:r>
                        <a:rPr sz="1000" err="1">
                          <a:latin typeface="Montserrat"/>
                        </a:rPr>
                        <a:t>Tehuacán</a:t>
                      </a:r>
                      <a:r>
                        <a:rPr sz="1000">
                          <a:latin typeface="Montserrat"/>
                        </a:rPr>
                        <a:t>, HGZ No. 23 </a:t>
                      </a:r>
                      <a:r>
                        <a:rPr sz="1000" err="1">
                          <a:latin typeface="Montserrat"/>
                        </a:rPr>
                        <a:t>Teziutlán</a:t>
                      </a:r>
                      <a:r>
                        <a:rPr sz="1000">
                          <a:latin typeface="Montserrat"/>
                        </a:rPr>
                        <a:t>, HGZ No. 5 </a:t>
                      </a:r>
                      <a:r>
                        <a:rPr sz="1000" err="1">
                          <a:latin typeface="Montserrat"/>
                        </a:rPr>
                        <a:t>Atlixco</a:t>
                      </a:r>
                      <a:r>
                        <a:rPr sz="1000">
                          <a:latin typeface="Montserrat"/>
                        </a:rPr>
                        <a:t>)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$18.5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mejora en subdelegaciones en 3 unidades (Norte, Sur y Teziutlán)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$16.7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accesibilidad (rampas) en 4 unidades, Puebla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$7.7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670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Intervención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en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áreas</a:t>
                      </a:r>
                      <a:r>
                        <a:rPr sz="1000">
                          <a:latin typeface="Montserrat"/>
                        </a:rPr>
                        <a:t> de salud mental </a:t>
                      </a:r>
                      <a:r>
                        <a:rPr sz="1000" err="1">
                          <a:latin typeface="Montserrat"/>
                        </a:rPr>
                        <a:t>en</a:t>
                      </a:r>
                      <a:r>
                        <a:rPr sz="1000">
                          <a:latin typeface="Montserrat"/>
                        </a:rPr>
                        <a:t> HGZ No. 20 Puebla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$0.1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rPr sz="1000"/>
                        <a:t>Subtotal</a:t>
                      </a:r>
                    </a:p>
                  </a:txBody>
                  <a:tcPr marL="3600" marR="3600" marT="3600" marB="3600" anchor="ctr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rPr sz="1000" dirty="0"/>
                        <a:t>$770.2</a:t>
                      </a:r>
                    </a:p>
                  </a:txBody>
                  <a:tcPr marL="3600" marR="3600" marT="3600" marB="3600" anchor="ctr">
                    <a:solidFill>
                      <a:srgbClr val="ECE1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49" name="Table 18">
            <a:extLst>
              <a:ext uri="{FF2B5EF4-FFF2-40B4-BE49-F238E27FC236}">
                <a16:creationId xmlns:a16="http://schemas.microsoft.com/office/drawing/2014/main" id="{7C17EAC0-42A7-5945-0BBE-160F04F736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2207272"/>
              </p:ext>
            </p:extLst>
          </p:nvPr>
        </p:nvGraphicFramePr>
        <p:xfrm>
          <a:off x="1677725" y="6239100"/>
          <a:ext cx="5740842" cy="1356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271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37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24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Equipo Médico 2025</a:t>
                      </a:r>
                    </a:p>
                  </a:txBody>
                  <a:tcPr marL="3600" marR="3600" marT="3600" marB="36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Adquisición</a:t>
                      </a:r>
                      <a:r>
                        <a:rPr sz="1000">
                          <a:latin typeface="Montserrat"/>
                        </a:rPr>
                        <a:t> de 15  </a:t>
                      </a:r>
                      <a:r>
                        <a:rPr sz="1000" err="1">
                          <a:latin typeface="Montserrat"/>
                        </a:rPr>
                        <a:t>piezas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equipo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médico</a:t>
                      </a:r>
                      <a:r>
                        <a:rPr sz="1000">
                          <a:latin typeface="Montserrat"/>
                        </a:rPr>
                        <a:t>: 2 </a:t>
                      </a:r>
                      <a:r>
                        <a:rPr sz="1000" err="1">
                          <a:latin typeface="Montserrat"/>
                        </a:rPr>
                        <a:t>congeladores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horizontales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refrigerantes</a:t>
                      </a:r>
                      <a:r>
                        <a:rPr sz="1000">
                          <a:latin typeface="Montserrat"/>
                        </a:rPr>
                        <a:t> para </a:t>
                      </a:r>
                      <a:r>
                        <a:rPr sz="1000" err="1">
                          <a:latin typeface="Montserrat"/>
                        </a:rPr>
                        <a:t>vacunas</a:t>
                      </a:r>
                      <a:r>
                        <a:rPr sz="1000">
                          <a:latin typeface="Montserrat"/>
                        </a:rPr>
                        <a:t>, 5 </a:t>
                      </a:r>
                      <a:r>
                        <a:rPr sz="1000" err="1">
                          <a:latin typeface="Montserrat"/>
                        </a:rPr>
                        <a:t>refrigeradores</a:t>
                      </a:r>
                      <a:r>
                        <a:rPr sz="1000">
                          <a:latin typeface="Montserrat"/>
                        </a:rPr>
                        <a:t> para </a:t>
                      </a:r>
                      <a:r>
                        <a:rPr sz="1000" err="1">
                          <a:latin typeface="Montserrat"/>
                        </a:rPr>
                        <a:t>vacunas</a:t>
                      </a:r>
                      <a:r>
                        <a:rPr sz="1000">
                          <a:latin typeface="Montserrat"/>
                        </a:rPr>
                        <a:t>, 3 </a:t>
                      </a:r>
                      <a:r>
                        <a:rPr sz="1000" err="1">
                          <a:latin typeface="Montserrat"/>
                        </a:rPr>
                        <a:t>refrigeradores</a:t>
                      </a:r>
                      <a:r>
                        <a:rPr sz="1000">
                          <a:latin typeface="Montserrat"/>
                        </a:rPr>
                        <a:t> con </a:t>
                      </a:r>
                      <a:r>
                        <a:rPr sz="1000" err="1">
                          <a:latin typeface="Montserrat"/>
                        </a:rPr>
                        <a:t>congelador</a:t>
                      </a:r>
                      <a:r>
                        <a:rPr sz="1000">
                          <a:latin typeface="Montserrat"/>
                        </a:rPr>
                        <a:t> de 5.4 pies </a:t>
                      </a:r>
                      <a:r>
                        <a:rPr sz="1000" err="1">
                          <a:latin typeface="Montserrat"/>
                        </a:rPr>
                        <a:t>cúbicos</a:t>
                      </a:r>
                      <a:r>
                        <a:rPr sz="1000">
                          <a:latin typeface="Montserrat"/>
                        </a:rPr>
                        <a:t>, 1 </a:t>
                      </a:r>
                      <a:r>
                        <a:rPr sz="1000" err="1">
                          <a:latin typeface="Montserrat"/>
                        </a:rPr>
                        <a:t>calibrador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dósis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radioisótopos</a:t>
                      </a:r>
                      <a:r>
                        <a:rPr sz="1000">
                          <a:latin typeface="Montserrat"/>
                        </a:rPr>
                        <a:t>, 1 monitor de </a:t>
                      </a:r>
                      <a:r>
                        <a:rPr sz="1000" err="1">
                          <a:latin typeface="Montserrat"/>
                        </a:rPr>
                        <a:t>signos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vitales</a:t>
                      </a:r>
                      <a:r>
                        <a:rPr sz="1000">
                          <a:latin typeface="Montserrat"/>
                        </a:rPr>
                        <a:t> para </a:t>
                      </a:r>
                      <a:r>
                        <a:rPr sz="1000" err="1">
                          <a:latin typeface="Montserrat"/>
                        </a:rPr>
                        <a:t>el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traslado</a:t>
                      </a:r>
                      <a:r>
                        <a:rPr sz="1000">
                          <a:latin typeface="Montserrat"/>
                        </a:rPr>
                        <a:t> del </a:t>
                      </a:r>
                      <a:r>
                        <a:rPr sz="1000" err="1">
                          <a:latin typeface="Montserrat"/>
                        </a:rPr>
                        <a:t>pacientes</a:t>
                      </a:r>
                      <a:r>
                        <a:rPr sz="1000">
                          <a:latin typeface="Montserrat"/>
                        </a:rPr>
                        <a:t>, (con </a:t>
                      </a:r>
                      <a:r>
                        <a:rPr sz="1000" err="1">
                          <a:latin typeface="Montserrat"/>
                        </a:rPr>
                        <a:t>protección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antimagnética</a:t>
                      </a:r>
                      <a:r>
                        <a:rPr sz="1000">
                          <a:latin typeface="Montserrat"/>
                        </a:rPr>
                        <a:t>), 1 </a:t>
                      </a:r>
                      <a:r>
                        <a:rPr sz="1000" err="1">
                          <a:latin typeface="Montserrat"/>
                        </a:rPr>
                        <a:t>equipo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anestesia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básica</a:t>
                      </a:r>
                      <a:r>
                        <a:rPr sz="1000">
                          <a:latin typeface="Montserrat"/>
                        </a:rPr>
                        <a:t> (con </a:t>
                      </a:r>
                      <a:r>
                        <a:rPr sz="1000" err="1">
                          <a:latin typeface="Montserrat"/>
                        </a:rPr>
                        <a:t>protección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antimagnética</a:t>
                      </a:r>
                      <a:r>
                        <a:rPr sz="1000">
                          <a:latin typeface="Montserrat"/>
                        </a:rPr>
                        <a:t>), 2 </a:t>
                      </a:r>
                      <a:r>
                        <a:rPr sz="1000" err="1">
                          <a:latin typeface="Montserrat"/>
                        </a:rPr>
                        <a:t>unidades</a:t>
                      </a:r>
                      <a:r>
                        <a:rPr sz="1000">
                          <a:latin typeface="Montserrat"/>
                        </a:rPr>
                        <a:t> para </a:t>
                      </a:r>
                      <a:r>
                        <a:rPr sz="1000" err="1">
                          <a:latin typeface="Montserrat"/>
                        </a:rPr>
                        <a:t>tomografia</a:t>
                      </a:r>
                      <a:r>
                        <a:rPr sz="1000">
                          <a:latin typeface="Montserrat"/>
                        </a:rPr>
                        <a:t> axial </a:t>
                      </a:r>
                      <a:r>
                        <a:rPr sz="1000" err="1">
                          <a:latin typeface="Montserrat"/>
                        </a:rPr>
                        <a:t>computarizada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alta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resolución</a:t>
                      </a:r>
                      <a:endParaRPr sz="1000">
                        <a:latin typeface="Montserrat"/>
                      </a:endParaRPr>
                    </a:p>
                  </a:txBody>
                  <a:tcPr marL="3600" marR="3600" marT="360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9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0" dirty="0">
                          <a:latin typeface="Montserrat"/>
                        </a:rPr>
                        <a:t>$64.0</a:t>
                      </a:r>
                    </a:p>
                  </a:txBody>
                  <a:tcPr marL="3600" marR="3600" marT="3600" marB="36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9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1" name="Table 19">
            <a:extLst>
              <a:ext uri="{FF2B5EF4-FFF2-40B4-BE49-F238E27FC236}">
                <a16:creationId xmlns:a16="http://schemas.microsoft.com/office/drawing/2014/main" id="{494C1DF0-C76B-34FB-343E-A81A4B7A2B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556744"/>
              </p:ext>
            </p:extLst>
          </p:nvPr>
        </p:nvGraphicFramePr>
        <p:xfrm>
          <a:off x="1677725" y="7902258"/>
          <a:ext cx="5685183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32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19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</a:t>
                      </a:r>
                      <a:r>
                        <a:rPr lang="es-MX"/>
                        <a:t>o</a:t>
                      </a:r>
                      <a:r>
                        <a:t> </a:t>
                      </a:r>
                      <a:r>
                        <a:rPr err="1"/>
                        <a:t>Electromecánico</a:t>
                      </a:r>
                      <a:r>
                        <a:t> 2025</a:t>
                      </a:r>
                    </a:p>
                  </a:txBody>
                  <a:tcPr marL="3600" marR="3600" marT="3600" marB="36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</a:t>
                      </a:r>
                      <a:r>
                        <a:rPr err="1"/>
                        <a:t>mdp</a:t>
                      </a:r>
                      <a:r>
                        <a:t>)</a:t>
                      </a:r>
                    </a:p>
                  </a:txBody>
                  <a:tcPr marL="3600" marR="3600" marT="3600" marB="36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Adquisición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elevadores</a:t>
                      </a:r>
                      <a:endParaRPr sz="1000">
                        <a:latin typeface="Montserrat"/>
                      </a:endParaRPr>
                    </a:p>
                  </a:txBody>
                  <a:tcPr marL="3600" marR="3600" marT="360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9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0" dirty="0">
                          <a:latin typeface="Montserrat"/>
                        </a:rPr>
                        <a:t>$8.9</a:t>
                      </a:r>
                    </a:p>
                  </a:txBody>
                  <a:tcPr marL="3600" marR="3600" marT="3600" marB="36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9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3" name="TextBox 20">
            <a:extLst>
              <a:ext uri="{FF2B5EF4-FFF2-40B4-BE49-F238E27FC236}">
                <a16:creationId xmlns:a16="http://schemas.microsoft.com/office/drawing/2014/main" id="{3BBB6106-50AE-4682-B897-0B88268196B3}"/>
              </a:ext>
            </a:extLst>
          </p:cNvPr>
          <p:cNvSpPr txBox="1"/>
          <p:nvPr/>
        </p:nvSpPr>
        <p:spPr>
          <a:xfrm>
            <a:off x="5769646" y="709675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3,495.1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graphicFrame>
        <p:nvGraphicFramePr>
          <p:cNvPr id="9" name="Google Shape;394;p15">
            <a:extLst>
              <a:ext uri="{FF2B5EF4-FFF2-40B4-BE49-F238E27FC236}">
                <a16:creationId xmlns:a16="http://schemas.microsoft.com/office/drawing/2014/main" id="{C8ABDBD1-EB25-3C25-CBAC-7730FC28746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4033084"/>
              </p:ext>
            </p:extLst>
          </p:nvPr>
        </p:nvGraphicFramePr>
        <p:xfrm>
          <a:off x="308201" y="85590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Google Shape;396;p15">
            <a:extLst>
              <a:ext uri="{FF2B5EF4-FFF2-40B4-BE49-F238E27FC236}">
                <a16:creationId xmlns:a16="http://schemas.microsoft.com/office/drawing/2014/main" id="{7121D152-E656-4C2B-C795-E43A5EEA7AA4}"/>
              </a:ext>
            </a:extLst>
          </p:cNvPr>
          <p:cNvSpPr txBox="1"/>
          <p:nvPr/>
        </p:nvSpPr>
        <p:spPr>
          <a:xfrm>
            <a:off x="4060164" y="759851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" name="Google Shape;395;p15">
            <a:extLst>
              <a:ext uri="{FF2B5EF4-FFF2-40B4-BE49-F238E27FC236}">
                <a16:creationId xmlns:a16="http://schemas.microsoft.com/office/drawing/2014/main" id="{C9C0C0FD-BE96-4E4A-3198-FB7F8F03A9DC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589300" y="492823"/>
            <a:ext cx="1659101" cy="77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Imagen 21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BCC3A292-E2C2-B638-DB42-00F6D4D729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773" y="2821998"/>
            <a:ext cx="872667" cy="849944"/>
          </a:xfrm>
          <a:prstGeom prst="rect">
            <a:avLst/>
          </a:prstGeom>
        </p:spPr>
      </p:pic>
      <p:sp>
        <p:nvSpPr>
          <p:cNvPr id="24" name="CuadroTexto 11">
            <a:extLst>
              <a:ext uri="{FF2B5EF4-FFF2-40B4-BE49-F238E27FC236}">
                <a16:creationId xmlns:a16="http://schemas.microsoft.com/office/drawing/2014/main" id="{2EE070D6-410B-D0AF-12ED-15B0312D231A}"/>
              </a:ext>
            </a:extLst>
          </p:cNvPr>
          <p:cNvSpPr txBox="1"/>
          <p:nvPr/>
        </p:nvSpPr>
        <p:spPr>
          <a:xfrm>
            <a:off x="-1110995" y="2874783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2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Salas de </a:t>
            </a:r>
          </a:p>
          <a:p>
            <a:pPr algn="ctr"/>
            <a:r>
              <a:rPr lang="en-US" sz="7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Hemodiálisis</a:t>
            </a:r>
            <a:endParaRPr lang="en-US" sz="7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26" name="Imagen 25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9697407D-0451-26BD-C0A6-71DC8671C3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996" y="1855365"/>
            <a:ext cx="872667" cy="849944"/>
          </a:xfrm>
          <a:prstGeom prst="rect">
            <a:avLst/>
          </a:prstGeom>
        </p:spPr>
      </p:pic>
      <p:sp>
        <p:nvSpPr>
          <p:cNvPr id="28" name="CuadroTexto 11">
            <a:extLst>
              <a:ext uri="{FF2B5EF4-FFF2-40B4-BE49-F238E27FC236}">
                <a16:creationId xmlns:a16="http://schemas.microsoft.com/office/drawing/2014/main" id="{F953B407-CD16-548E-32A8-FFCF8BB752E5}"/>
              </a:ext>
            </a:extLst>
          </p:cNvPr>
          <p:cNvSpPr txBox="1"/>
          <p:nvPr/>
        </p:nvSpPr>
        <p:spPr>
          <a:xfrm>
            <a:off x="-1135296" y="1891813"/>
            <a:ext cx="3886200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</a:rPr>
              <a:t>Centro de </a:t>
            </a:r>
            <a:endParaRPr lang="en-US"/>
          </a:p>
          <a:p>
            <a:pPr algn="ctr"/>
            <a:r>
              <a:rPr lang="en-US" sz="800" b="1" err="1">
                <a:solidFill>
                  <a:srgbClr val="A42145"/>
                </a:solidFill>
                <a:latin typeface="Montserrat"/>
              </a:rPr>
              <a:t>Mezclas</a:t>
            </a:r>
            <a:endParaRPr lang="en-US" err="1"/>
          </a:p>
        </p:txBody>
      </p:sp>
      <p:graphicFrame>
        <p:nvGraphicFramePr>
          <p:cNvPr id="30" name="Table 12">
            <a:extLst>
              <a:ext uri="{FF2B5EF4-FFF2-40B4-BE49-F238E27FC236}">
                <a16:creationId xmlns:a16="http://schemas.microsoft.com/office/drawing/2014/main" id="{C554D2C4-3570-30D3-C1A8-E8A7F2BB4E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6682362"/>
              </p:ext>
            </p:extLst>
          </p:nvPr>
        </p:nvGraphicFramePr>
        <p:xfrm>
          <a:off x="1659874" y="1274829"/>
          <a:ext cx="5544031" cy="7647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716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2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0703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Obras de </a:t>
                      </a:r>
                      <a:r>
                        <a:rPr dirty="0" err="1"/>
                        <a:t>Infraestructura</a:t>
                      </a:r>
                      <a:r>
                        <a:rPr dirty="0"/>
                        <a:t> 2026</a:t>
                      </a:r>
                    </a:p>
                  </a:txBody>
                  <a:tcPr marL="3600" marR="3600" marT="3600" marB="36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Construcción</a:t>
                      </a:r>
                      <a:r>
                        <a:rPr sz="1000">
                          <a:latin typeface="Montserrat"/>
                        </a:rPr>
                        <a:t> de Centro de </a:t>
                      </a:r>
                      <a:r>
                        <a:rPr sz="1000" err="1">
                          <a:latin typeface="Montserrat"/>
                        </a:rPr>
                        <a:t>Simulación</a:t>
                      </a:r>
                      <a:r>
                        <a:rPr sz="1000">
                          <a:latin typeface="Montserrat"/>
                        </a:rPr>
                        <a:t> para la Excelencia Clínica y </a:t>
                      </a:r>
                      <a:r>
                        <a:rPr sz="1000" err="1">
                          <a:latin typeface="Montserrat"/>
                        </a:rPr>
                        <a:t>Quirúrgica</a:t>
                      </a:r>
                      <a:r>
                        <a:rPr sz="1000">
                          <a:latin typeface="Montserrat"/>
                        </a:rPr>
                        <a:t> Centro </a:t>
                      </a:r>
                      <a:r>
                        <a:rPr sz="1000" err="1">
                          <a:latin typeface="Montserrat"/>
                        </a:rPr>
                        <a:t>en</a:t>
                      </a:r>
                      <a:r>
                        <a:rPr sz="1000">
                          <a:latin typeface="Montserrat"/>
                        </a:rPr>
                        <a:t> San Andres Cholula, Puebla.</a:t>
                      </a:r>
                    </a:p>
                  </a:txBody>
                  <a:tcPr marL="3600" marR="3600" marT="360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0" dirty="0">
                          <a:latin typeface="Montserrat"/>
                        </a:rPr>
                        <a:t>$154.3</a:t>
                      </a:r>
                    </a:p>
                  </a:txBody>
                  <a:tcPr marL="3600" marR="3600" marT="3600" marB="36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2" name="Table 13">
            <a:extLst>
              <a:ext uri="{FF2B5EF4-FFF2-40B4-BE49-F238E27FC236}">
                <a16:creationId xmlns:a16="http://schemas.microsoft.com/office/drawing/2014/main" id="{D668551B-500B-6F77-66B3-5A7D7DE798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0492637"/>
              </p:ext>
            </p:extLst>
          </p:nvPr>
        </p:nvGraphicFramePr>
        <p:xfrm>
          <a:off x="1679944" y="2109964"/>
          <a:ext cx="5556405" cy="25055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3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2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754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 dirty="0"/>
                        <a:t>Obras de </a:t>
                      </a:r>
                      <a:r>
                        <a:rPr sz="1000" dirty="0" err="1"/>
                        <a:t>Conservación</a:t>
                      </a:r>
                      <a:r>
                        <a:rPr sz="1000" dirty="0"/>
                        <a:t> 2026</a:t>
                      </a:r>
                    </a:p>
                  </a:txBody>
                  <a:tcPr marL="3600" marR="3600" marT="3600" marB="3600"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Monto (mdp)</a:t>
                      </a:r>
                    </a:p>
                  </a:txBody>
                  <a:tcPr marL="3600" marR="3600" marT="3600" marB="3600"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54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dirty="0" err="1">
                          <a:latin typeface="Montserrat"/>
                        </a:rPr>
                        <a:t>Mantenimiento</a:t>
                      </a:r>
                      <a:r>
                        <a:rPr sz="1000" dirty="0">
                          <a:latin typeface="Montserrat"/>
                        </a:rPr>
                        <a:t> de </a:t>
                      </a:r>
                      <a:r>
                        <a:rPr sz="1000" dirty="0" err="1">
                          <a:latin typeface="Montserrat"/>
                        </a:rPr>
                        <a:t>infraestructura</a:t>
                      </a:r>
                      <a:r>
                        <a:rPr sz="1000" dirty="0">
                          <a:latin typeface="Montserrat"/>
                        </a:rPr>
                        <a:t> (PAO 2026)</a:t>
                      </a:r>
                    </a:p>
                  </a:txBody>
                  <a:tcPr marL="3600" marR="3600" marT="3600" marB="3600"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$326.0</a:t>
                      </a:r>
                    </a:p>
                  </a:txBody>
                  <a:tcPr marL="3600" marR="3600" marT="3600" marB="3600"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54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Centro de </a:t>
                      </a:r>
                      <a:r>
                        <a:rPr sz="1000" dirty="0" err="1">
                          <a:latin typeface="Montserrat"/>
                        </a:rPr>
                        <a:t>Mezclas</a:t>
                      </a:r>
                      <a:r>
                        <a:rPr sz="1000" dirty="0">
                          <a:latin typeface="Montserrat"/>
                        </a:rPr>
                        <a:t> UMAE HE CMN Puebla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$10.3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92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s-MX" sz="1000">
                          <a:latin typeface="Montserrat"/>
                        </a:rPr>
                        <a:t>Remodelación en área de hemodiálisis en UMAA no. 36  Carmen Serdan antes San Alejandro </a:t>
                      </a:r>
                      <a:endParaRPr sz="1000">
                        <a:latin typeface="Montserrat"/>
                      </a:endParaRPr>
                    </a:p>
                  </a:txBody>
                  <a:tcPr marL="3600" marR="3600" marT="3600" marB="360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MX" sz="1000" dirty="0">
                          <a:latin typeface="Montserrat"/>
                        </a:rPr>
                        <a:t>$9.8</a:t>
                      </a:r>
                      <a:endParaRPr sz="1000" dirty="0">
                        <a:latin typeface="Montserrat"/>
                      </a:endParaRPr>
                    </a:p>
                  </a:txBody>
                  <a:tcPr marL="3600" marR="3600" marT="3600" marB="3600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7911152"/>
                  </a:ext>
                </a:extLst>
              </a:tr>
              <a:tr h="32792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s-MX" sz="1000" dirty="0">
                          <a:latin typeface="Montserrat"/>
                        </a:rPr>
                        <a:t>Nueva sala de hemodiálisis de </a:t>
                      </a:r>
                      <a:r>
                        <a:rPr lang="es-MX" sz="1000" dirty="0" err="1">
                          <a:latin typeface="Montserrat"/>
                        </a:rPr>
                        <a:t>AEHos</a:t>
                      </a:r>
                      <a:r>
                        <a:rPr lang="es-MX" sz="1000" dirty="0">
                          <a:latin typeface="Montserrat"/>
                        </a:rPr>
                        <a:t> del HGZ 20, La Margarita y en UMF 6 Villa San Alejandro</a:t>
                      </a:r>
                      <a:endParaRPr sz="1000" dirty="0">
                        <a:latin typeface="Montserrat"/>
                      </a:endParaRP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MX" sz="1000" dirty="0">
                          <a:latin typeface="Montserrat"/>
                        </a:rPr>
                        <a:t>$36.4</a:t>
                      </a:r>
                      <a:endParaRPr sz="1000" dirty="0">
                        <a:latin typeface="Montserrat"/>
                      </a:endParaRP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5634870"/>
                  </a:ext>
                </a:extLst>
              </a:tr>
              <a:tr h="30754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s-MX" sz="1000" dirty="0">
                          <a:latin typeface="Montserrat"/>
                        </a:rPr>
                        <a:t>Servicio de Mantenimiento Integral en áreas de urgencias y talleres de conservación en el HTO Puebla</a:t>
                      </a:r>
                      <a:endParaRPr sz="1000" dirty="0">
                        <a:latin typeface="Montserrat"/>
                      </a:endParaRPr>
                    </a:p>
                  </a:txBody>
                  <a:tcPr marL="3600" marR="3600" marT="3600" marB="3600"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MX" sz="1000" dirty="0">
                          <a:latin typeface="Montserrat"/>
                        </a:rPr>
                        <a:t>$5.8</a:t>
                      </a:r>
                      <a:endParaRPr sz="1000" dirty="0">
                        <a:latin typeface="Montserrat"/>
                      </a:endParaRPr>
                    </a:p>
                  </a:txBody>
                  <a:tcPr marL="3600" marR="3600" marT="3600" marB="3600" anchor="ctr"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715133"/>
                  </a:ext>
                </a:extLst>
              </a:tr>
              <a:tr h="30754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s-MX" sz="1000" dirty="0">
                          <a:latin typeface="Montserrat"/>
                        </a:rPr>
                        <a:t>Servicio de Habilitado de Aula de Simulación en el HTO Puebla</a:t>
                      </a:r>
                      <a:endParaRPr sz="1000" dirty="0">
                        <a:latin typeface="Montserrat"/>
                      </a:endParaRP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MX" sz="1000" dirty="0">
                          <a:latin typeface="Montserrat"/>
                        </a:rPr>
                        <a:t>$0.2</a:t>
                      </a:r>
                      <a:endParaRPr sz="1000" dirty="0">
                        <a:latin typeface="Montserrat"/>
                      </a:endParaRP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9613454"/>
                  </a:ext>
                </a:extLst>
              </a:tr>
              <a:tr h="30755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Subtotal</a:t>
                      </a:r>
                    </a:p>
                  </a:txBody>
                  <a:tcPr marL="3600" marR="3600" marT="3600" marB="3600"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 dirty="0"/>
                        <a:t>$</a:t>
                      </a:r>
                      <a:r>
                        <a:rPr lang="es-MX" sz="1000" dirty="0"/>
                        <a:t>388.5</a:t>
                      </a:r>
                      <a:endParaRPr sz="1000" dirty="0"/>
                    </a:p>
                  </a:txBody>
                  <a:tcPr marL="3600" marR="3600" marT="3600" marB="3600"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4" name="Table 14">
            <a:extLst>
              <a:ext uri="{FF2B5EF4-FFF2-40B4-BE49-F238E27FC236}">
                <a16:creationId xmlns:a16="http://schemas.microsoft.com/office/drawing/2014/main" id="{89953754-31C6-9602-9A4D-049A35366C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7791933"/>
              </p:ext>
            </p:extLst>
          </p:nvPr>
        </p:nvGraphicFramePr>
        <p:xfrm>
          <a:off x="1692318" y="4683736"/>
          <a:ext cx="5544031" cy="7863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716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2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2316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Equip</a:t>
                      </a:r>
                      <a:r>
                        <a:rPr lang="es-MX" dirty="0"/>
                        <a:t>o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Electromecánico</a:t>
                      </a:r>
                      <a:r>
                        <a:rPr dirty="0"/>
                        <a:t> 2026</a:t>
                      </a:r>
                    </a:p>
                  </a:txBody>
                  <a:tcPr marL="3600" marR="3600" marT="3600" marB="36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</a:t>
                      </a:r>
                      <a:r>
                        <a:rPr err="1"/>
                        <a:t>mdp</a:t>
                      </a:r>
                      <a:r>
                        <a:t>)</a:t>
                      </a:r>
                    </a:p>
                  </a:txBody>
                  <a:tcPr marL="3600" marR="3600" marT="3600" marB="36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12 </a:t>
                      </a:r>
                      <a:r>
                        <a:rPr sz="1000" err="1">
                          <a:latin typeface="Montserrat"/>
                        </a:rPr>
                        <a:t>Equipos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electromecánicos</a:t>
                      </a:r>
                      <a:r>
                        <a:rPr sz="1000">
                          <a:latin typeface="Montserrat"/>
                        </a:rPr>
                        <a:t> para 3 </a:t>
                      </a:r>
                      <a:r>
                        <a:rPr sz="1000" err="1">
                          <a:latin typeface="Montserrat"/>
                        </a:rPr>
                        <a:t>unidades</a:t>
                      </a:r>
                      <a:r>
                        <a:rPr sz="1000">
                          <a:latin typeface="Montserrat"/>
                        </a:rPr>
                        <a:t>; 2 </a:t>
                      </a:r>
                      <a:r>
                        <a:rPr sz="1000" err="1">
                          <a:latin typeface="Montserrat"/>
                        </a:rPr>
                        <a:t>elevadores</a:t>
                      </a:r>
                      <a:r>
                        <a:rPr sz="1000">
                          <a:latin typeface="Montserrat"/>
                        </a:rPr>
                        <a:t>, 2 </a:t>
                      </a:r>
                      <a:r>
                        <a:rPr sz="1000" err="1">
                          <a:latin typeface="Montserrat"/>
                        </a:rPr>
                        <a:t>lavadoras</a:t>
                      </a:r>
                      <a:r>
                        <a:rPr sz="1000">
                          <a:latin typeface="Montserrat"/>
                        </a:rPr>
                        <a:t>, 1 </a:t>
                      </a:r>
                      <a:r>
                        <a:rPr sz="1000" err="1">
                          <a:latin typeface="Montserrat"/>
                        </a:rPr>
                        <a:t>secadora</a:t>
                      </a:r>
                      <a:r>
                        <a:rPr sz="1000">
                          <a:latin typeface="Montserrat"/>
                        </a:rPr>
                        <a:t>, 7 </a:t>
                      </a:r>
                      <a:r>
                        <a:rPr sz="1000" err="1">
                          <a:latin typeface="Montserrat"/>
                        </a:rPr>
                        <a:t>equipos</a:t>
                      </a:r>
                      <a:r>
                        <a:rPr sz="1000">
                          <a:latin typeface="Montserrat"/>
                        </a:rPr>
                        <a:t> para </a:t>
                      </a:r>
                      <a:r>
                        <a:rPr sz="1000" err="1">
                          <a:latin typeface="Montserrat"/>
                        </a:rPr>
                        <a:t>aire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acondicionado</a:t>
                      </a:r>
                      <a:endParaRPr sz="1000">
                        <a:latin typeface="Montserrat"/>
                      </a:endParaRPr>
                    </a:p>
                  </a:txBody>
                  <a:tcPr marL="3600" marR="3600" marT="360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0" dirty="0">
                          <a:latin typeface="Montserrat"/>
                        </a:rPr>
                        <a:t>$82.9</a:t>
                      </a:r>
                    </a:p>
                  </a:txBody>
                  <a:tcPr marL="3600" marR="3600" marT="3600" marB="36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6" name="TextBox 15">
            <a:extLst>
              <a:ext uri="{FF2B5EF4-FFF2-40B4-BE49-F238E27FC236}">
                <a16:creationId xmlns:a16="http://schemas.microsoft.com/office/drawing/2014/main" id="{AD1A70A3-DE62-D86E-0CE0-BC5CC2AB184A}"/>
              </a:ext>
            </a:extLst>
          </p:cNvPr>
          <p:cNvSpPr txBox="1"/>
          <p:nvPr/>
        </p:nvSpPr>
        <p:spPr>
          <a:xfrm>
            <a:off x="6206839" y="629101"/>
            <a:ext cx="66877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rPr lang="es-MX" dirty="0"/>
              <a:t>625.7</a:t>
            </a:r>
            <a:endParaRPr dirty="0"/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rPr dirty="0" err="1"/>
              <a:t>mdp</a:t>
            </a:r>
            <a:endParaRPr dirty="0"/>
          </a:p>
        </p:txBody>
      </p:sp>
      <p:sp>
        <p:nvSpPr>
          <p:cNvPr id="38" name="CuadroTexto 9">
            <a:extLst>
              <a:ext uri="{FF2B5EF4-FFF2-40B4-BE49-F238E27FC236}">
                <a16:creationId xmlns:a16="http://schemas.microsoft.com/office/drawing/2014/main" id="{3FFDAE49-3AF5-0AB9-BDC5-E5263F4C9CD2}"/>
              </a:ext>
            </a:extLst>
          </p:cNvPr>
          <p:cNvSpPr txBox="1"/>
          <p:nvPr/>
        </p:nvSpPr>
        <p:spPr>
          <a:xfrm>
            <a:off x="-1049571" y="1485474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graphicFrame>
        <p:nvGraphicFramePr>
          <p:cNvPr id="40" name="Google Shape;394;p15">
            <a:extLst>
              <a:ext uri="{FF2B5EF4-FFF2-40B4-BE49-F238E27FC236}">
                <a16:creationId xmlns:a16="http://schemas.microsoft.com/office/drawing/2014/main" id="{52D49B08-839F-9112-06BE-3901232C0A6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64371112"/>
              </p:ext>
            </p:extLst>
          </p:nvPr>
        </p:nvGraphicFramePr>
        <p:xfrm>
          <a:off x="308201" y="565096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en planeación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2" name="Table 19">
            <a:extLst>
              <a:ext uri="{FF2B5EF4-FFF2-40B4-BE49-F238E27FC236}">
                <a16:creationId xmlns:a16="http://schemas.microsoft.com/office/drawing/2014/main" id="{DB74AD58-F62B-2501-FA23-5BB69634E8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3411872"/>
              </p:ext>
            </p:extLst>
          </p:nvPr>
        </p:nvGraphicFramePr>
        <p:xfrm>
          <a:off x="1659873" y="6112652"/>
          <a:ext cx="5544032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727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12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</a:t>
                      </a:r>
                      <a:r>
                        <a:rPr err="1"/>
                        <a:t>Infraestructura</a:t>
                      </a:r>
                      <a:endParaRPr/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</a:t>
                      </a:r>
                      <a:r>
                        <a:rPr err="1"/>
                        <a:t>mdp</a:t>
                      </a:r>
                      <a:r>
                        <a:t>)</a:t>
                      </a: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No. 260 camas </a:t>
                      </a:r>
                      <a:r>
                        <a:rPr err="1"/>
                        <a:t>Amozoc</a:t>
                      </a:r>
                      <a:r>
                        <a:t> (2027)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b="0" dirty="0"/>
                        <a:t>$3,692.0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4" name="TextBox 23">
            <a:extLst>
              <a:ext uri="{FF2B5EF4-FFF2-40B4-BE49-F238E27FC236}">
                <a16:creationId xmlns:a16="http://schemas.microsoft.com/office/drawing/2014/main" id="{D5931F12-CFE2-ADA8-7ADB-B89C5D1D1C5A}"/>
              </a:ext>
            </a:extLst>
          </p:cNvPr>
          <p:cNvSpPr txBox="1"/>
          <p:nvPr/>
        </p:nvSpPr>
        <p:spPr>
          <a:xfrm>
            <a:off x="5827799" y="5799845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3,692.0 mdp</a:t>
            </a:r>
          </a:p>
        </p:txBody>
      </p:sp>
      <p:pic>
        <p:nvPicPr>
          <p:cNvPr id="46" name="Google Shape;551;g3d0ffe769cd_0_0">
            <a:extLst>
              <a:ext uri="{FF2B5EF4-FFF2-40B4-BE49-F238E27FC236}">
                <a16:creationId xmlns:a16="http://schemas.microsoft.com/office/drawing/2014/main" id="{946D7325-0D53-DEBB-5EC3-74790618CBBD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382" t="14684" r="1598" b="17771"/>
          <a:stretch/>
        </p:blipFill>
        <p:spPr>
          <a:xfrm>
            <a:off x="230902" y="7192526"/>
            <a:ext cx="7368300" cy="223677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8" name="Google Shape;559;g3d0ffe769cd_0_0">
            <a:extLst>
              <a:ext uri="{FF2B5EF4-FFF2-40B4-BE49-F238E27FC236}">
                <a16:creationId xmlns:a16="http://schemas.microsoft.com/office/drawing/2014/main" id="{87185316-D4F6-89C2-B1D5-CEA5AA209BE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21487324"/>
              </p:ext>
            </p:extLst>
          </p:nvPr>
        </p:nvGraphicFramePr>
        <p:xfrm>
          <a:off x="147600" y="674370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0" name="Google Shape;552;g3d0ffe769cd_0_0">
            <a:extLst>
              <a:ext uri="{FF2B5EF4-FFF2-40B4-BE49-F238E27FC236}">
                <a16:creationId xmlns:a16="http://schemas.microsoft.com/office/drawing/2014/main" id="{DBC8DC90-B620-F49E-98AF-41DAA5F98F0D}"/>
              </a:ext>
            </a:extLst>
          </p:cNvPr>
          <p:cNvSpPr/>
          <p:nvPr/>
        </p:nvSpPr>
        <p:spPr>
          <a:xfrm>
            <a:off x="234692" y="7192526"/>
            <a:ext cx="7338300" cy="2253435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56;g3d0ffe769cd_0_0">
            <a:extLst>
              <a:ext uri="{FF2B5EF4-FFF2-40B4-BE49-F238E27FC236}">
                <a16:creationId xmlns:a16="http://schemas.microsoft.com/office/drawing/2014/main" id="{640541C6-B754-A8E4-7C77-048D7ED7BF32}"/>
              </a:ext>
            </a:extLst>
          </p:cNvPr>
          <p:cNvSpPr/>
          <p:nvPr/>
        </p:nvSpPr>
        <p:spPr>
          <a:xfrm>
            <a:off x="899709" y="7445256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53;g3d0ffe769cd_0_0">
            <a:extLst>
              <a:ext uri="{FF2B5EF4-FFF2-40B4-BE49-F238E27FC236}">
                <a16:creationId xmlns:a16="http://schemas.microsoft.com/office/drawing/2014/main" id="{35C91B07-4817-34F8-7169-6B482A9ABA05}"/>
              </a:ext>
            </a:extLst>
          </p:cNvPr>
          <p:cNvSpPr/>
          <p:nvPr/>
        </p:nvSpPr>
        <p:spPr>
          <a:xfrm>
            <a:off x="338423" y="8211903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54;g3d0ffe769cd_0_0">
            <a:extLst>
              <a:ext uri="{FF2B5EF4-FFF2-40B4-BE49-F238E27FC236}">
                <a16:creationId xmlns:a16="http://schemas.microsoft.com/office/drawing/2014/main" id="{541F9EE6-700C-0470-25C4-AAF198F0E5C1}"/>
              </a:ext>
            </a:extLst>
          </p:cNvPr>
          <p:cNvSpPr txBox="1"/>
          <p:nvPr/>
        </p:nvSpPr>
        <p:spPr>
          <a:xfrm>
            <a:off x="324326" y="8802890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" name="Google Shape;562;g3d0ffe769cd_0_0">
            <a:extLst>
              <a:ext uri="{FF2B5EF4-FFF2-40B4-BE49-F238E27FC236}">
                <a16:creationId xmlns:a16="http://schemas.microsoft.com/office/drawing/2014/main" id="{2E1F84E3-B101-E75F-4682-2383131FB6CD}"/>
              </a:ext>
            </a:extLst>
          </p:cNvPr>
          <p:cNvSpPr txBox="1"/>
          <p:nvPr/>
        </p:nvSpPr>
        <p:spPr>
          <a:xfrm rot="16200000">
            <a:off x="1910119" y="8564623"/>
            <a:ext cx="1659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60" name="Table 21">
            <a:extLst>
              <a:ext uri="{FF2B5EF4-FFF2-40B4-BE49-F238E27FC236}">
                <a16:creationId xmlns:a16="http://schemas.microsoft.com/office/drawing/2014/main" id="{0D7DB8D2-C886-82D6-7638-4524BDAB3E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9864270"/>
              </p:ext>
            </p:extLst>
          </p:nvPr>
        </p:nvGraphicFramePr>
        <p:xfrm>
          <a:off x="2483849" y="7303426"/>
          <a:ext cx="4928400" cy="2035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6 </a:t>
                      </a:r>
                      <a:r>
                        <a:rPr dirty="0" err="1"/>
                        <a:t>Predios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en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ruta</a:t>
                      </a:r>
                      <a:r>
                        <a:rPr dirty="0"/>
                        <a:t> 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Estatus terrenos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300">
                <a:tc rowSpan="2">
                  <a:txBody>
                    <a:bodyPr/>
                    <a:lstStyle/>
                    <a:p>
                      <a:endParaRPr dirty="0"/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0 Reserva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-</a:t>
                      </a:r>
                    </a:p>
                  </a:txBody>
                  <a:tcPr marL="72000" marR="72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3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6 Donación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Puebla (2), San Martín </a:t>
                      </a:r>
                      <a:r>
                        <a:rPr dirty="0" err="1"/>
                        <a:t>Texmelucan</a:t>
                      </a:r>
                      <a:r>
                        <a:rPr dirty="0"/>
                        <a:t>, San Andrés Cholula, </a:t>
                      </a:r>
                      <a:r>
                        <a:rPr dirty="0" err="1"/>
                        <a:t>Tehuacán</a:t>
                      </a:r>
                      <a:r>
                        <a:rPr dirty="0"/>
                        <a:t> (2)</a:t>
                      </a:r>
                    </a:p>
                  </a:txBody>
                  <a:tcPr marL="72000" marR="72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2" name="Oval 22">
            <a:extLst>
              <a:ext uri="{FF2B5EF4-FFF2-40B4-BE49-F238E27FC236}">
                <a16:creationId xmlns:a16="http://schemas.microsoft.com/office/drawing/2014/main" id="{E015C4CB-48B1-69EC-3966-FFE8D0A9EBF5}"/>
              </a:ext>
            </a:extLst>
          </p:cNvPr>
          <p:cNvSpPr/>
          <p:nvPr/>
        </p:nvSpPr>
        <p:spPr>
          <a:xfrm>
            <a:off x="933225" y="7468125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705085"/>
                </a:solidFill>
                <a:latin typeface="Montserrat"/>
              </a:defRPr>
            </a:pPr>
            <a:r>
              <a:t>12</a:t>
            </a:r>
          </a:p>
        </p:txBody>
      </p:sp>
      <p:sp>
        <p:nvSpPr>
          <p:cNvPr id="64" name="Rectangle 23">
            <a:extLst>
              <a:ext uri="{FF2B5EF4-FFF2-40B4-BE49-F238E27FC236}">
                <a16:creationId xmlns:a16="http://schemas.microsoft.com/office/drawing/2014/main" id="{7D7D2C8F-EE4C-B4C0-DD55-57AC52C06821}"/>
              </a:ext>
            </a:extLst>
          </p:cNvPr>
          <p:cNvSpPr/>
          <p:nvPr/>
        </p:nvSpPr>
        <p:spPr>
          <a:xfrm>
            <a:off x="411225" y="8252925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rPr dirty="0"/>
              <a:t>10 CECI IMSS</a:t>
            </a:r>
          </a:p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rPr dirty="0"/>
              <a:t>2 CECI CAMPO</a:t>
            </a:r>
          </a:p>
        </p:txBody>
      </p:sp>
      <p:sp>
        <p:nvSpPr>
          <p:cNvPr id="66" name="TextBox 24">
            <a:extLst>
              <a:ext uri="{FF2B5EF4-FFF2-40B4-BE49-F238E27FC236}">
                <a16:creationId xmlns:a16="http://schemas.microsoft.com/office/drawing/2014/main" id="{1569A4DB-2162-234A-1922-A609BB8EBF3F}"/>
              </a:ext>
            </a:extLst>
          </p:cNvPr>
          <p:cNvSpPr txBox="1"/>
          <p:nvPr/>
        </p:nvSpPr>
        <p:spPr>
          <a:xfrm>
            <a:off x="288958" y="9532267"/>
            <a:ext cx="7249898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>
                <a:solidFill>
                  <a:srgbClr val="FFFFFF"/>
                </a:solidFill>
                <a:latin typeface="Montserrat"/>
              </a:defRPr>
            </a:pPr>
            <a:r>
              <a:rPr dirty="0"/>
              <a:t>¹ </a:t>
            </a:r>
            <a:r>
              <a:rPr dirty="0" err="1"/>
              <a:t>Terrenos</a:t>
            </a:r>
            <a:r>
              <a:rPr dirty="0"/>
              <a:t> </a:t>
            </a:r>
            <a:r>
              <a:rPr dirty="0" err="1"/>
              <a:t>validados</a:t>
            </a:r>
            <a:r>
              <a:rPr dirty="0"/>
              <a:t>. 1 CECI para </a:t>
            </a:r>
            <a:r>
              <a:rPr dirty="0" err="1"/>
              <a:t>entregar</a:t>
            </a:r>
            <a:r>
              <a:rPr dirty="0"/>
              <a:t> a SICT </a:t>
            </a:r>
            <a:r>
              <a:rPr dirty="0" err="1"/>
              <a:t>en</a:t>
            </a:r>
            <a:r>
              <a:rPr dirty="0"/>
              <a:t> San Martín </a:t>
            </a:r>
            <a:r>
              <a:rPr dirty="0" err="1"/>
              <a:t>Texmelucan</a:t>
            </a:r>
            <a:r>
              <a:rPr dirty="0"/>
              <a:t>. 4 CECI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integración</a:t>
            </a:r>
            <a:r>
              <a:rPr dirty="0"/>
              <a:t> de </a:t>
            </a:r>
            <a:r>
              <a:rPr dirty="0" err="1"/>
              <a:t>expediente</a:t>
            </a:r>
            <a:r>
              <a:rPr dirty="0"/>
              <a:t> para </a:t>
            </a:r>
            <a:r>
              <a:rPr dirty="0" err="1"/>
              <a:t>donación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Puebla, San Andrés Cholula y </a:t>
            </a:r>
            <a:r>
              <a:rPr dirty="0" err="1"/>
              <a:t>Tehuacán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877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4795" y="484044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9104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441357"/>
              </p:ext>
            </p:extLst>
          </p:nvPr>
        </p:nvGraphicFramePr>
        <p:xfrm>
          <a:off x="2311200" y="1670400"/>
          <a:ext cx="5032800" cy="90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latin typeface="Montserrat"/>
                        </a:rPr>
                        <a:t>32 </a:t>
                      </a:r>
                      <a:r>
                        <a:rPr sz="1000" b="1" dirty="0" err="1">
                          <a:latin typeface="Montserrat"/>
                        </a:rPr>
                        <a:t>unidades</a:t>
                      </a:r>
                      <a:endParaRPr sz="1000" b="1" dirty="0">
                        <a:latin typeface="Montserrat"/>
                      </a:endParaRP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rPr dirty="0"/>
                        <a:t>4 </a:t>
                      </a:r>
                      <a:r>
                        <a:rPr dirty="0" err="1"/>
                        <a:t>directas</a:t>
                      </a:r>
                      <a:endParaRPr dirty="0"/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rPr dirty="0"/>
                        <a:t>28 </a:t>
                      </a:r>
                      <a:r>
                        <a:rPr dirty="0" err="1"/>
                        <a:t>indirectas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latin typeface="Montserrat"/>
                        </a:rPr>
                        <a:t>3,</a:t>
                      </a:r>
                      <a:r>
                        <a:rPr lang="es-MX" sz="1000" b="1" dirty="0">
                          <a:latin typeface="Montserrat"/>
                        </a:rPr>
                        <a:t>589</a:t>
                      </a:r>
                      <a:r>
                        <a:rPr sz="1000" b="1" dirty="0">
                          <a:latin typeface="Montserrat"/>
                        </a:rPr>
                        <a:t> </a:t>
                      </a:r>
                      <a:r>
                        <a:rPr sz="1000" b="1" dirty="0" err="1">
                          <a:latin typeface="Montserrat"/>
                        </a:rPr>
                        <a:t>inscritos</a:t>
                      </a:r>
                      <a:endParaRPr sz="1000" b="1" dirty="0">
                        <a:latin typeface="Montserrat"/>
                      </a:endParaRP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421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en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espera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0017772"/>
              </p:ext>
            </p:extLst>
          </p:nvPr>
        </p:nvGraphicFramePr>
        <p:xfrm>
          <a:off x="2311200" y="2702691"/>
          <a:ext cx="50328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rPr sz="1000" dirty="0"/>
                        <a:t>4 CECEM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rPr sz="1000" dirty="0"/>
                        <a:t>San Martin </a:t>
                      </a:r>
                      <a:r>
                        <a:rPr sz="1000" dirty="0" err="1"/>
                        <a:t>Texmelucan</a:t>
                      </a:r>
                      <a:r>
                        <a:rPr sz="1000" dirty="0"/>
                        <a:t>, </a:t>
                      </a:r>
                      <a:r>
                        <a:rPr sz="1000" dirty="0" err="1"/>
                        <a:t>Atlixco</a:t>
                      </a:r>
                      <a:r>
                        <a:rPr sz="1000" dirty="0"/>
                        <a:t>, </a:t>
                      </a:r>
                      <a:r>
                        <a:rPr sz="1000" dirty="0" err="1"/>
                        <a:t>Tehuacán</a:t>
                      </a:r>
                      <a:r>
                        <a:rPr sz="1000" dirty="0"/>
                        <a:t>, Benito Juárez G.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rPr sz="1000"/>
                        <a:t>2 CEBIS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rPr sz="1000" dirty="0"/>
                        <a:t>Bosques de Manzanilla y Lomas de San Miguel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rPr lang="es-MX" sz="1000" dirty="0"/>
                        <a:t>3</a:t>
                      </a:r>
                      <a:r>
                        <a:rPr sz="1000" dirty="0"/>
                        <a:t> Centros de </a:t>
                      </a:r>
                      <a:r>
                        <a:rPr sz="1000" dirty="0" err="1"/>
                        <a:t>Seguridad</a:t>
                      </a:r>
                      <a:r>
                        <a:rPr sz="1000" dirty="0"/>
                        <a:t> Social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rPr sz="1000" dirty="0"/>
                        <a:t>Puebla, Cholula e </a:t>
                      </a:r>
                      <a:r>
                        <a:rPr sz="1000" dirty="0" err="1"/>
                        <a:t>Izúcar</a:t>
                      </a:r>
                      <a:r>
                        <a:rPr sz="1000" dirty="0"/>
                        <a:t> de Matamoros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rPr lang="es-MX" sz="1000" dirty="0"/>
                        <a:t>1 Casa del Jubilado</a:t>
                      </a:r>
                      <a:endParaRPr sz="1000" dirty="0"/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rPr lang="es-MX" sz="1000" dirty="0"/>
                        <a:t>Puebla</a:t>
                      </a:r>
                      <a:endParaRPr sz="1000" dirty="0"/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815826"/>
                  </a:ext>
                </a:extLst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8504843"/>
              </p:ext>
            </p:extLst>
          </p:nvPr>
        </p:nvGraphicFramePr>
        <p:xfrm>
          <a:off x="2311200" y="4592045"/>
          <a:ext cx="50328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rPr sz="1000" dirty="0"/>
                        <a:t>1 Centro </a:t>
                      </a:r>
                      <a:r>
                        <a:rPr sz="1000" dirty="0" err="1"/>
                        <a:t>Vacacional</a:t>
                      </a:r>
                      <a:endParaRPr sz="1000" dirty="0"/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rPr sz="1000"/>
                        <a:t>Atlixco-Metepec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rPr sz="1000"/>
                        <a:t>1 Tienda IMSS-SNTSS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rPr sz="1000" dirty="0"/>
                        <a:t>No. 34 Puebla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rPr sz="1000"/>
                        <a:t>1 Velatorio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rPr sz="1000" dirty="0"/>
                        <a:t>Puebla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Montserrat"/>
              </a:defRPr>
            </a:pPr>
            <a:r>
              <a:t>Guarderías    32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640800"/>
            <a:ext cx="4258800" cy="23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>
                <a:solidFill>
                  <a:srgbClr val="FFFFFF"/>
                </a:solidFill>
                <a:latin typeface="Montserrat"/>
              </a:defRPr>
            </a:pPr>
            <a:r>
              <a:t>Fuente: Dirección de Prestaciones Económicas y Sociales, mayo de 2026.</a:t>
            </a:r>
          </a:p>
        </p:txBody>
      </p:sp>
      <p:pic>
        <p:nvPicPr>
          <p:cNvPr id="3" name="Picture 469" descr="map_tipo2_21_pue.png">
            <a:extLst>
              <a:ext uri="{FF2B5EF4-FFF2-40B4-BE49-F238E27FC236}">
                <a16:creationId xmlns:a16="http://schemas.microsoft.com/office/drawing/2014/main" id="{4B511436-9DC8-2AD9-C65C-E02032A26D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5200" y="6065989"/>
            <a:ext cx="2407200" cy="3241379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8438039"/>
              </p:ext>
            </p:extLst>
          </p:nvPr>
        </p:nvGraphicFramePr>
        <p:xfrm>
          <a:off x="284400" y="1087200"/>
          <a:ext cx="6984000" cy="19431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PRINCIPALES EMPLEADORES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Variación</a:t>
                      </a:r>
                      <a:endParaRPr dirty="0"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Empleador</a:t>
                      </a:r>
                      <a:r>
                        <a:rPr dirty="0"/>
                        <a:t>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17,760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18,187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rPr dirty="0"/>
                        <a:t>Volkswagen de México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10,966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10,952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Municipio de Puebla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7,148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7,132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-0.2%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Nueva Wal Mart de México S. de R.L.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rPr dirty="0"/>
                        <a:t>7,378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rPr dirty="0"/>
                        <a:t>7,526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rPr dirty="0"/>
                        <a:t>Comisión Federal de </a:t>
                      </a:r>
                      <a:r>
                        <a:rPr dirty="0" err="1"/>
                        <a:t>Electricidad</a:t>
                      </a:r>
                      <a:r>
                        <a:rPr dirty="0"/>
                        <a:t> Epe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rPr dirty="0"/>
                        <a:t>3,357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3,313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rPr dirty="0"/>
                        <a:t>-1.3%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rPr dirty="0"/>
                        <a:t>Cadena </a:t>
                      </a:r>
                      <a:r>
                        <a:rPr dirty="0" err="1"/>
                        <a:t>Comercial</a:t>
                      </a:r>
                      <a:r>
                        <a:rPr dirty="0"/>
                        <a:t> OXXO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rPr dirty="0"/>
                        <a:t>5,265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rPr dirty="0"/>
                        <a:t>5,286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0.4%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-1.77%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-1.64%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-1.61%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-0.50%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+1.27%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+1.50%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+2.93%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+3.21%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+4.06%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May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May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558,159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14,409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84,526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3,809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660,903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 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565,412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13,593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78,120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4,296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661,421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-5.7%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-7.6%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+12.8%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+0.1%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644400"/>
            <a:ext cx="4316400" cy="24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01561C33-C0D9-F281-9BD9-867DE42DAC9D}"/>
              </a:ext>
            </a:extLst>
          </p:cNvPr>
          <p:cNvSpPr/>
          <p:nvPr/>
        </p:nvSpPr>
        <p:spPr>
          <a:xfrm>
            <a:off x="743811" y="1139700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$584.39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Mayo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102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Mayo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$319.46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$584.39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29.3%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$671.25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$17,531.7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4298037"/>
              </p:ext>
            </p:extLst>
          </p:nvPr>
        </p:nvGraphicFramePr>
        <p:xfrm>
          <a:off x="320400" y="6649200"/>
          <a:ext cx="7038000" cy="241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PRINCIPALES DEUDORES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Principal</a:t>
                      </a:r>
                      <a:r>
                        <a:rPr lang="es-MX" dirty="0"/>
                        <a:t>es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deudor</a:t>
                      </a:r>
                      <a:r>
                        <a:rPr lang="es-MX" dirty="0"/>
                        <a:t>es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público</a:t>
                      </a:r>
                      <a:r>
                        <a:rPr lang="es-MX" dirty="0"/>
                        <a:t>s</a:t>
                      </a:r>
                      <a:endParaRPr dirty="0"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Municipio de Puebla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 err="1"/>
                        <a:t>Benemérita</a:t>
                      </a:r>
                      <a:r>
                        <a:rPr dirty="0"/>
                        <a:t> Universidad </a:t>
                      </a:r>
                      <a:r>
                        <a:rPr dirty="0" err="1"/>
                        <a:t>Autónoma</a:t>
                      </a:r>
                      <a:r>
                        <a:rPr dirty="0"/>
                        <a:t> de Puebla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$0.03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Banco Nacional de Obras y </a:t>
                      </a:r>
                      <a:r>
                        <a:rPr dirty="0" err="1"/>
                        <a:t>Servicios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Públicos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Principal</a:t>
                      </a:r>
                      <a:r>
                        <a:rPr lang="es-MX" dirty="0"/>
                        <a:t>es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deudor</a:t>
                      </a:r>
                      <a:r>
                        <a:rPr lang="es-MX" dirty="0"/>
                        <a:t>es</a:t>
                      </a:r>
                      <a:r>
                        <a:rPr dirty="0"/>
                        <a:t> privado</a:t>
                      </a:r>
                      <a:r>
                        <a:rPr lang="es-MX" dirty="0"/>
                        <a:t>s</a:t>
                      </a:r>
                      <a:endParaRPr dirty="0"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Constructora Toram SAS de CV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$26.52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 err="1"/>
                        <a:t>Gcool</a:t>
                      </a:r>
                      <a:r>
                        <a:rPr dirty="0"/>
                        <a:t> Innovation of </a:t>
                      </a:r>
                      <a:r>
                        <a:rPr dirty="0" err="1"/>
                        <a:t>Cormecial</a:t>
                      </a:r>
                      <a:r>
                        <a:rPr dirty="0"/>
                        <a:t> Technology SAS de CV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$25.44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 err="1"/>
                        <a:t>Cuvs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Construcción</a:t>
                      </a:r>
                      <a:r>
                        <a:rPr dirty="0"/>
                        <a:t> y </a:t>
                      </a:r>
                      <a:r>
                        <a:rPr dirty="0" err="1"/>
                        <a:t>Mantenimiento</a:t>
                      </a:r>
                      <a:r>
                        <a:rPr dirty="0"/>
                        <a:t> SAS de CV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$23.09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2350800"/>
            <a:ext cx="4316400" cy="24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rPr>
                <a:solidFill>
                  <a:schemeClr val="tx1"/>
                </a:solidFill>
              </a:rPr>
              <a:t>Salario Base de Cotización: tado: Se utilizó como deflactor del salario el cociente del INPC entre diciembre 2018 (103.02) y abril 2026 (145.831) de 0.706434.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mayo 2026.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" name="Google Shape;512;g370e87ffe7a_0_0"/>
          <p:cNvGraphicFramePr/>
          <p:nvPr/>
        </p:nvGraphicFramePr>
        <p:xfrm>
          <a:off x="-126" y="2788487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 Productividad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8" name="Google Shape;518;g370e87ffe7a_0_0"/>
          <p:cNvGraphicFramePr/>
          <p:nvPr/>
        </p:nvGraphicFramePr>
        <p:xfrm>
          <a:off x="0" y="5391789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 dirty="0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 Personal</a:t>
                      </a:r>
                      <a:endParaRPr sz="1700" b="1" u="none" strike="noStrike" cap="none" dirty="0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0" name="Google Shape;520;g370e87ffe7a_0_0"/>
          <p:cNvGraphicFramePr/>
          <p:nvPr/>
        </p:nvGraphicFramePr>
        <p:xfrm>
          <a:off x="-2134" y="811308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635000" marR="0" lvl="0" indent="-336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455"/>
                        </a:buClr>
                        <a:buSzPts val="1700"/>
                        <a:buFont typeface="Montserrat"/>
                        <a:buAutoNum type="arabicPeriod"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1" name="Google Shape;521;g370e87ffe7a_0_0"/>
          <p:cNvGraphicFramePr/>
          <p:nvPr/>
        </p:nvGraphicFramePr>
        <p:xfrm>
          <a:off x="-126" y="7519253"/>
          <a:ext cx="7772400" cy="39605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0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 Organización comunitaria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3" name="Google Shape;523;g370e87ffe7a_0_0"/>
          <p:cNvGraphicFramePr/>
          <p:nvPr>
            <p:extLst>
              <p:ext uri="{D42A27DB-BD31-4B8C-83A1-F6EECF244321}">
                <p14:modId xmlns:p14="http://schemas.microsoft.com/office/powerpoint/2010/main" val="994782085"/>
              </p:ext>
            </p:extLst>
          </p:nvPr>
        </p:nvGraphicFramePr>
        <p:xfrm>
          <a:off x="3884217" y="812291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 dirty="0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  Población beneficiada </a:t>
                      </a:r>
                      <a:endParaRPr sz="1600" b="1" u="none" strike="noStrike" cap="none" dirty="0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24" name="Google Shape;524;g370e87ffe7a_0_0"/>
          <p:cNvCxnSpPr/>
          <p:nvPr/>
        </p:nvCxnSpPr>
        <p:spPr>
          <a:xfrm>
            <a:off x="6004683" y="135507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9" name="Google Shape;529;g370e87ffe7a_0_0"/>
          <p:cNvCxnSpPr/>
          <p:nvPr/>
        </p:nvCxnSpPr>
        <p:spPr>
          <a:xfrm>
            <a:off x="6004683" y="222502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0" name="TextBox 529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FFFFF"/>
                </a:solidFill>
                <a:latin typeface="Montserrat"/>
              </a:defRPr>
            </a:pPr>
            <a:r>
              <a:t>PUEBLA PROGRAMA IMSS-COPLAMAR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309600" y="5119200"/>
            <a:ext cx="1958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rPr>
                <a:solidFill>
                  <a:schemeClr val="tx1"/>
                </a:solidFill>
              </a:rPr>
              <a:t>enero-diciembre 2025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309600" y="9622800"/>
            <a:ext cx="1958400" cy="27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enero-diciembre 2025</a:t>
            </a:r>
          </a:p>
        </p:txBody>
      </p:sp>
      <p:graphicFrame>
        <p:nvGraphicFramePr>
          <p:cNvPr id="533" name="Table 532"/>
          <p:cNvGraphicFramePr>
            <a:graphicFrameLocks noGrp="1"/>
          </p:cNvGraphicFramePr>
          <p:nvPr/>
        </p:nvGraphicFramePr>
        <p:xfrm>
          <a:off x="310896" y="1335024"/>
          <a:ext cx="3575304" cy="1464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765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65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65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Rural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309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65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Brigada Salud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765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Móvil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65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Centros de Atención Rural Obstétrica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76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338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34" name="Table 533"/>
          <p:cNvGraphicFramePr>
            <a:graphicFrameLocks noGrp="1"/>
          </p:cNvGraphicFramePr>
          <p:nvPr/>
        </p:nvGraphicFramePr>
        <p:xfrm>
          <a:off x="310896" y="3209544"/>
          <a:ext cx="4965192" cy="1744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5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5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79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Concepto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Día Típico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consultas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1,129,079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4,277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Familiar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1,006,114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3,855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Estomatología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18,290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70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45,050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123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59,625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228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7,516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Partos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5,386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Egresos Hosp.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13,782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35" name="Table 534"/>
          <p:cNvGraphicFramePr>
            <a:graphicFrameLocks noGrp="1"/>
          </p:cNvGraphicFramePr>
          <p:nvPr/>
        </p:nvGraphicFramePr>
        <p:xfrm>
          <a:off x="310896" y="5815584"/>
          <a:ext cx="7022592" cy="1648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35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6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Disciplina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Base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Confianza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Estatuto 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Sustitutos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Médicos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277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334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Enfermeras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520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347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876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Paramédicos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63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84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Administrativas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60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151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Generales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215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295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Acción Comunitaria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1,135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91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96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441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1,763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36" name="Table 5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8615882"/>
              </p:ext>
            </p:extLst>
          </p:nvPr>
        </p:nvGraphicFramePr>
        <p:xfrm>
          <a:off x="310896" y="7991856"/>
          <a:ext cx="7004303" cy="7147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6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66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2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92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24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642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632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Concepto</a:t>
                      </a:r>
                      <a:endParaRPr dirty="0"/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 Rurales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Comités</a:t>
                      </a:r>
                      <a:r>
                        <a:rPr dirty="0"/>
                        <a:t> de Salud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Integrantes</a:t>
                      </a:r>
                      <a:r>
                        <a:rPr dirty="0"/>
                        <a:t> de </a:t>
                      </a:r>
                      <a:r>
                        <a:rPr dirty="0" err="1"/>
                        <a:t>Comités</a:t>
                      </a:r>
                      <a:endParaRPr dirty="0"/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Voluntarios</a:t>
                      </a:r>
                      <a:endParaRPr dirty="0"/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Parteras </a:t>
                      </a:r>
                      <a:r>
                        <a:rPr dirty="0" err="1"/>
                        <a:t>Voluntarias</a:t>
                      </a:r>
                      <a:endParaRPr dirty="0"/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Médicos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Tradicionales</a:t>
                      </a:r>
                      <a:endParaRPr dirty="0"/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Programa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1,307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1,290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7,724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11,783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622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122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37" name="Rounded Rectangle 536"/>
          <p:cNvSpPr/>
          <p:nvPr/>
        </p:nvSpPr>
        <p:spPr>
          <a:xfrm rot="16200000">
            <a:off x="5438850" y="-93600"/>
            <a:ext cx="7920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38" name="Connector 537"/>
          <p:cNvCxnSpPr/>
          <p:nvPr/>
        </p:nvCxnSpPr>
        <p:spPr>
          <a:xfrm>
            <a:off x="6004050" y="1353600"/>
            <a:ext cx="0" cy="5760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TextBox 538"/>
          <p:cNvSpPr txBox="1"/>
          <p:nvPr/>
        </p:nvSpPr>
        <p:spPr>
          <a:xfrm>
            <a:off x="4268850" y="1429200"/>
            <a:ext cx="16452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1,203,362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beneficiaria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6184050" y="1195200"/>
            <a:ext cx="11376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A08250"/>
                </a:solidFill>
                <a:latin typeface="Montserrat"/>
              </a:defRPr>
            </a:pPr>
            <a:r>
              <a:t>241,388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Derechohabiente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5233650" y="1602000"/>
            <a:ext cx="2998800" cy="37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A08250"/>
                </a:solidFill>
                <a:latin typeface="Montserrat"/>
              </a:defRPr>
            </a:pPr>
            <a:r>
              <a:t>961,974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abierta</a:t>
            </a:r>
          </a:p>
        </p:txBody>
      </p:sp>
      <p:sp>
        <p:nvSpPr>
          <p:cNvPr id="542" name="Rounded Rectangle 541"/>
          <p:cNvSpPr/>
          <p:nvPr/>
        </p:nvSpPr>
        <p:spPr>
          <a:xfrm rot="16200000">
            <a:off x="5442450" y="802800"/>
            <a:ext cx="7632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43" name="Connector 542"/>
          <p:cNvCxnSpPr/>
          <p:nvPr/>
        </p:nvCxnSpPr>
        <p:spPr>
          <a:xfrm>
            <a:off x="6004050" y="2224800"/>
            <a:ext cx="0" cy="5256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4463250" y="2289600"/>
            <a:ext cx="11988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403,182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6292050" y="2163600"/>
            <a:ext cx="1007999" cy="5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08250"/>
                </a:solidFill>
                <a:latin typeface="Montserrat"/>
              </a:defRPr>
            </a:pPr>
            <a:r>
              <a:t>Población en localidades indígenas</a:t>
            </a:r>
          </a:p>
        </p:txBody>
      </p:sp>
      <p:sp>
        <p:nvSpPr>
          <p:cNvPr id="546" name="Rounded Rectangle 545"/>
          <p:cNvSpPr/>
          <p:nvPr/>
        </p:nvSpPr>
        <p:spPr>
          <a:xfrm>
            <a:off x="5475450" y="32904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7" name="TextBox 546"/>
          <p:cNvSpPr txBox="1"/>
          <p:nvPr/>
        </p:nvSpPr>
        <p:spPr>
          <a:xfrm>
            <a:off x="5475450" y="32904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Montserrat"/>
              </a:defRPr>
            </a:pPr>
            <a:r>
              <a:t>1,129,079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consultas anuales</a:t>
            </a:r>
          </a:p>
        </p:txBody>
      </p:sp>
      <p:sp>
        <p:nvSpPr>
          <p:cNvPr id="548" name="Rounded Rectangle 547"/>
          <p:cNvSpPr/>
          <p:nvPr/>
        </p:nvSpPr>
        <p:spPr>
          <a:xfrm>
            <a:off x="5475450" y="42120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9" name="TextBox 548"/>
          <p:cNvSpPr txBox="1"/>
          <p:nvPr/>
        </p:nvSpPr>
        <p:spPr>
          <a:xfrm>
            <a:off x="5475450" y="42120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Montserrat"/>
              </a:defRPr>
            </a:pPr>
            <a:r>
              <a:t>7,516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cirugías anuales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511</TotalTime>
  <Words>5595</Words>
  <Application>Microsoft Office PowerPoint</Application>
  <PresentationFormat>Personalizado</PresentationFormat>
  <Paragraphs>2213</Paragraphs>
  <Slides>30</Slides>
  <Notes>21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6" baseType="lpstr">
      <vt:lpstr>Arial</vt:lpstr>
      <vt:lpstr>Noto Sans Black</vt:lpstr>
      <vt:lpstr>Calibri</vt:lpstr>
      <vt:lpstr>Noto Sans</vt:lpstr>
      <vt:lpstr>Montserrat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Guillermo Martinez Flores</dc:creator>
  <cp:lastModifiedBy>Laura Patricia Galvan Chavez</cp:lastModifiedBy>
  <cp:revision>130</cp:revision>
  <dcterms:modified xsi:type="dcterms:W3CDTF">2026-07-03T16:36:11Z</dcterms:modified>
</cp:coreProperties>
</file>