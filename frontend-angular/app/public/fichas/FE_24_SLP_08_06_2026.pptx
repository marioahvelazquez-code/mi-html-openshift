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304" r:id="rId49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6FD69-692C-54B0-F403-8CC55491E71E}" v="47" dt="2026-05-12T23:40:55.51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6E36FD69-692C-54B0-F403-8CC55491E71E}"/>
    <pc:docChg chg="modSld">
      <pc:chgData name="Gerardo Jahir Lara Garcia" userId="S::gerardo.larag@imss.gob.mx::84d5cd65-4601-4e92-b448-a9da4809e012" providerId="AD" clId="Web-{6E36FD69-692C-54B0-F403-8CC55491E71E}" dt="2026-05-12T23:40:54.590" v="23" actId="20577"/>
      <pc:docMkLst>
        <pc:docMk/>
      </pc:docMkLst>
      <pc:sldChg chg="addSp delSp modSp">
        <pc:chgData name="Gerardo Jahir Lara Garcia" userId="S::gerardo.larag@imss.gob.mx::84d5cd65-4601-4e92-b448-a9da4809e012" providerId="AD" clId="Web-{6E36FD69-692C-54B0-F403-8CC55491E71E}" dt="2026-05-12T23:40:54.590" v="23" actId="20577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6E36FD69-692C-54B0-F403-8CC55491E71E}" dt="2026-05-12T23:40:48.136" v="1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40:54.590" v="23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6E36FD69-692C-54B0-F403-8CC55491E71E}" dt="2026-05-12T23:40:36.574" v="8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6E36FD69-692C-54B0-F403-8CC55491E71E}" dt="2026-05-12T23:40:36.574" v="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6E36FD69-692C-54B0-F403-8CC55491E71E}" dt="2026-05-12T23:39:12.837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6E36FD69-692C-54B0-F403-8CC55491E71E}" dt="2026-05-12T23:40:36.574" v="9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6E36FD69-692C-54B0-F403-8CC55491E71E}" dt="2026-05-12T23:40:36.574" v="7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6E36FD69-692C-54B0-F403-8CC55491E71E}" dt="2026-05-12T23:40:00.291" v="5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39:50.431" v="3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40:00.291" v="5" actId="20577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34.753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34.753" v="0"/>
        <pc:sldMkLst>
          <pc:docMk/>
          <pc:sldMk cId="1105498175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3:11.593" v="160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6:54.098" v="149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6:54.098" v="149" actId="1036"/>
          <ac:spMkLst>
            <pc:docMk/>
            <pc:sldMk cId="0" sldId="260"/>
            <ac:spMk id="9" creationId="{FBAF5346-D648-B9AE-B0F1-458A103E5D71}"/>
          </ac:spMkLst>
        </pc:spChg>
        <pc:graphicFrameChg chg="add mod">
          <ac:chgData name="Edgar Rosales Ortega" userId="d1d54fc2-1570-4978-babc-e22e1526833f" providerId="ADAL" clId="{66BE7C30-C669-4152-AC74-10076FC0590C}" dt="2026-04-30T23:16:09.886" v="30" actId="1076"/>
          <ac:graphicFrameMkLst>
            <pc:docMk/>
            <pc:sldMk cId="0" sldId="260"/>
            <ac:graphicFrameMk id="6" creationId="{240F9A41-0B01-22EC-C6AE-5A39EE7CD907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6:46.819" v="126" actId="1038"/>
          <ac:picMkLst>
            <pc:docMk/>
            <pc:sldMk cId="0" sldId="260"/>
            <ac:picMk id="7" creationId="{4FC89116-CB3D-3A2D-5444-DE9B7AE9B337}"/>
          </ac:picMkLst>
        </pc:picChg>
        <pc:picChg chg="add mod">
          <ac:chgData name="Edgar Rosales Ortega" userId="d1d54fc2-1570-4978-babc-e22e1526833f" providerId="ADAL" clId="{66BE7C30-C669-4152-AC74-10076FC0590C}" dt="2026-04-30T23:16:44.240" v="116" actId="1038"/>
          <ac:picMkLst>
            <pc:docMk/>
            <pc:sldMk cId="0" sldId="260"/>
            <ac:picMk id="8" creationId="{8E9F1FC3-9D5F-70AB-F252-F7739990D20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4:07.291" v="15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2" creationId="{124F9EC3-6999-6FA8-47D6-C83A53F90766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3" creationId="{12D335A1-B966-EFDD-B816-A281954B87CE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4" creationId="{14B34961-5EBD-F5D4-901E-61FAB0B128EC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5" creationId="{3F400975-A331-0DB2-C93D-8B270E1B34C6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6" creationId="{8CB6AA02-E19D-A130-FD35-1DF2F7253139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7" creationId="{A62193FC-5A80-4C78-8B22-8B72A0E7165A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8" creationId="{6236E7ED-E34F-68D2-CB4B-4EB2D059B768}"/>
          </ac:spMkLst>
        </pc:spChg>
        <pc:grpChg chg="add mod">
          <ac:chgData name="Edgar Rosales Ortega" userId="d1d54fc2-1570-4978-babc-e22e1526833f" providerId="ADAL" clId="{66BE7C30-C669-4152-AC74-10076FC0590C}" dt="2026-05-05T18:04:07.291" v="150" actId="164"/>
          <ac:grpSpMkLst>
            <pc:docMk/>
            <pc:sldMk cId="0" sldId="261"/>
            <ac:grpSpMk id="2" creationId="{15EE4F23-344C-0F42-1B1D-D690AA7AAF05}"/>
          </ac:grpSpMkLst>
        </pc:grpChg>
        <pc:picChg chg="add mod">
          <ac:chgData name="Edgar Rosales Ortega" userId="d1d54fc2-1570-4978-babc-e22e1526833f" providerId="ADAL" clId="{66BE7C30-C669-4152-AC74-10076FC0590C}" dt="2026-05-05T18:04:07.291" v="150" actId="164"/>
          <ac:picMkLst>
            <pc:docMk/>
            <pc:sldMk cId="0" sldId="261"/>
            <ac:picMk id="11" creationId="{1138C818-0027-4827-5BDA-04EFA6DAFE48}"/>
          </ac:picMkLst>
        </pc:picChg>
        <pc:picChg chg="add mod">
          <ac:chgData name="Edgar Rosales Ortega" userId="d1d54fc2-1570-4978-babc-e22e1526833f" providerId="ADAL" clId="{66BE7C30-C669-4152-AC74-10076FC0590C}" dt="2026-05-05T18:04:07.291" v="150" actId="164"/>
          <ac:picMkLst>
            <pc:docMk/>
            <pc:sldMk cId="0" sldId="261"/>
            <ac:picMk id="19" creationId="{04985761-1D6F-9866-8169-BC9715AE7288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2:29.243" v="15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2:34.536" v="15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5:09.982" v="2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1:40.593" v="1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2:42.831" v="15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2:42.831" v="15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24.596" v="15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0:10.188" v="27" actId="1076"/>
          <ac:spMkLst>
            <pc:docMk/>
            <pc:sldMk cId="0" sldId="279"/>
            <ac:spMk id="2" creationId="{8494FB21-A12E-3D74-628B-23299256F739}"/>
          </ac:spMkLst>
        </pc:spChg>
        <pc:spChg chg="mod">
          <ac:chgData name="Edgar Rosales Ortega" userId="d1d54fc2-1570-4978-babc-e22e1526833f" providerId="ADAL" clId="{66BE7C30-C669-4152-AC74-10076FC0590C}" dt="2026-05-05T18:04:24.596" v="15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5:06.567" v="2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1:43.501" v="1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13.457" v="15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3:11.593" v="160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3:11.593" v="160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4:58.067" v="2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1:47.060" v="1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2:56.958" v="15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2:56.958" v="159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2:51.953" v="1"/>
        <pc:sldMkLst>
          <pc:docMk/>
          <pc:sldMk cId="329960283" sldId="298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1397369.0</c:v>
                </c:pt>
                <c:pt idx="1">
                  <c:v>611344.0</c:v>
                </c:pt>
                <c:pt idx="2">
                  <c:v>339985.0</c:v>
                </c:pt>
                <c:pt idx="3">
                  <c:v>645851.0</c:v>
                </c:pt>
                <c:pt idx="4">
                  <c:v>8102.0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36.12151358195987</c:v>
                </c:pt>
                <c:pt idx="1">
                  <c:v>63.87848641804013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12.2288237609</c:v>
                </c:pt>
                <c:pt idx="1">
                  <c:v>87.7711762391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35.54422121449245</c:v>
                </c:pt>
                <c:pt idx="1">
                  <c:v>64.45577878550755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34.47294205289204</c:v>
                </c:pt>
                <c:pt idx="1">
                  <c:v>65.52705794710796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63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Industrias Extractivas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34707</c:v>
                </c:pt>
                <c:pt idx="1">
                  <c:v>2523</c:v>
                </c:pt>
                <c:pt idx="2">
                  <c:v>203159</c:v>
                </c:pt>
                <c:pt idx="3">
                  <c:v>5414</c:v>
                </c:pt>
                <c:pt idx="4">
                  <c:v>53507</c:v>
                </c:pt>
                <c:pt idx="5">
                  <c:v>23460</c:v>
                </c:pt>
                <c:pt idx="6">
                  <c:v>59458</c:v>
                </c:pt>
                <c:pt idx="7">
                  <c:v>27179</c:v>
                </c:pt>
                <c:pt idx="8">
                  <c:v>77697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Industrias Extractivas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33235</c:v>
                </c:pt>
                <c:pt idx="1">
                  <c:v>2479</c:v>
                </c:pt>
                <c:pt idx="2">
                  <c:v>200308</c:v>
                </c:pt>
                <c:pt idx="3">
                  <c:v>5344</c:v>
                </c:pt>
                <c:pt idx="4">
                  <c:v>53391</c:v>
                </c:pt>
                <c:pt idx="5">
                  <c:v>23579</c:v>
                </c:pt>
                <c:pt idx="6">
                  <c:v>59881</c:v>
                </c:pt>
                <c:pt idx="7">
                  <c:v>27466</c:v>
                </c:pt>
                <c:pt idx="8">
                  <c:v>80411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437193</c:v>
                </c:pt>
                <c:pt idx="1">
                  <c:v>448394</c:v>
                </c:pt>
                <c:pt idx="2">
                  <c:v>442906</c:v>
                </c:pt>
                <c:pt idx="3">
                  <c:v>447102</c:v>
                </c:pt>
                <c:pt idx="4">
                  <c:v>458772</c:v>
                </c:pt>
                <c:pt idx="5">
                  <c:v>472317</c:v>
                </c:pt>
                <c:pt idx="6">
                  <c:v>486631</c:v>
                </c:pt>
                <c:pt idx="7">
                  <c:v>487104</c:v>
                </c:pt>
                <c:pt idx="8">
                  <c:v>486094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planoinformativo.com/898713/celebra-imss-80-anos-de-servicio-a-los-mexicanos-" TargetMode="External"/><Relationship Id="rId7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San Luis Potosí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_S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67%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1,397,369</a:t>
            </a:r>
            <a:br/>
            <a:r>
              <a:t>47%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611,344</a:t>
            </a:r>
            <a:br/>
            <a:r>
              <a:t>20%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339,985</a:t>
            </a:r>
            <a:br/>
            <a:r>
              <a:t>11%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645,851</a:t>
            </a:r>
            <a:br/>
            <a:r>
              <a:t>22%</a:t>
            </a:r>
          </a:p>
        </p:txBody>
      </p:sp>
      <p:pic>
        <p:nvPicPr>
          <p:cNvPr id="128" name="Picture 127" descr="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8,102</a:t>
            </a:r>
            <a:br/>
            <a:r>
              <a:t>0.27%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3,002,651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1,261,206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1,397,369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690,349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827,031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439,816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486,094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148,300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570,857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570,338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196,946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258,102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613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5,060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7,024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4_s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29 UMF, 2 UMFH y no incluye 6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228;g3d0b4d3c5c9_0_66">
            <a:extLst>
              <a:ext uri="{FF2B5EF4-FFF2-40B4-BE49-F238E27FC236}">
                <a16:creationId xmlns:a16="http://schemas.microsoft.com/office/drawing/2014/main" id="{240F9A41-0B01-22EC-C6AE-5A39EE7CD9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7586784"/>
              </p:ext>
            </p:extLst>
          </p:nvPr>
        </p:nvGraphicFramePr>
        <p:xfrm>
          <a:off x="2929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 2, San Luis Potosí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229;g3d0b4d3c5c9_0_66">
            <a:extLst>
              <a:ext uri="{FF2B5EF4-FFF2-40B4-BE49-F238E27FC236}">
                <a16:creationId xmlns:a16="http://schemas.microsoft.com/office/drawing/2014/main" id="{4FC89116-CB3D-3A2D-5444-DE9B7AE9B3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9140"/>
          <a:stretch/>
        </p:blipFill>
        <p:spPr>
          <a:xfrm>
            <a:off x="302018" y="3613806"/>
            <a:ext cx="2367860" cy="188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0;g3d0b4d3c5c9_0_66">
            <a:extLst>
              <a:ext uri="{FF2B5EF4-FFF2-40B4-BE49-F238E27FC236}">
                <a16:creationId xmlns:a16="http://schemas.microsoft.com/office/drawing/2014/main" id="{8E9F1FC3-9D5F-70AB-F252-F7739990D20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034" y="1940041"/>
            <a:ext cx="2500592" cy="151108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BAF5346-D648-B9AE-B0F1-458A103E5D71}"/>
              </a:ext>
            </a:extLst>
          </p:cNvPr>
          <p:cNvSpPr txBox="1"/>
          <p:nvPr/>
        </p:nvSpPr>
        <p:spPr>
          <a:xfrm>
            <a:off x="2875938" y="2345150"/>
            <a:ext cx="4771420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en 1958. En ese año inició actividades con una clínica general ubicada en la esquina de Morelos e Insurgentes, en el Centro Histórico, y un sanatorio en la avenida Venustiano Carranza. Las consultas se otorgaban principalmente de manera ambulatoria, en medicina general y atención básica.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6"/>
              </a:rPr>
              <a:t> </a:t>
            </a:r>
            <a:endParaRPr lang="es-ES" sz="11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formal del IMSS en San Luis Potosí fue el Hospital General de Zona (HGZ) No. 2, cuya construcción e inicio de operaciones se concretaron a partir de 1960.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sus primeros años de operación, el HGZ No. 2 contó con capacidad instalada propia de un hospital general de la época y comenzó brindando servicios de hospitalización general, urgencias, cirugía básica, gineco‑obstetricia, pediatría, medicina interna y auxiliares de diagnóstico.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24_S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15EE4F23-344C-0F42-1B1D-D690AA7AAF05}"/>
              </a:ext>
            </a:extLst>
          </p:cNvPr>
          <p:cNvGrpSpPr/>
          <p:nvPr/>
        </p:nvGrpSpPr>
        <p:grpSpPr>
          <a:xfrm>
            <a:off x="0" y="4988328"/>
            <a:ext cx="7772400" cy="3880563"/>
            <a:chOff x="0" y="4988328"/>
            <a:chExt cx="7772400" cy="3880563"/>
          </a:xfrm>
        </p:grpSpPr>
        <p:pic>
          <p:nvPicPr>
            <p:cNvPr id="11" name="Google Shape;293;g3d635d120e2_2_123" title="HGZ 86 URUAPAN.jpg">
              <a:extLst>
                <a:ext uri="{FF2B5EF4-FFF2-40B4-BE49-F238E27FC236}">
                  <a16:creationId xmlns:a16="http://schemas.microsoft.com/office/drawing/2014/main" id="{1138C818-0027-4827-5BDA-04EFA6DAFE4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605588" y="5934085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2" name="Google Shape;295;g3d635d120e2_2_123">
              <a:extLst>
                <a:ext uri="{FF2B5EF4-FFF2-40B4-BE49-F238E27FC236}">
                  <a16:creationId xmlns:a16="http://schemas.microsoft.com/office/drawing/2014/main" id="{124F9EC3-6999-6FA8-47D6-C83A53F90766}"/>
                </a:ext>
              </a:extLst>
            </p:cNvPr>
            <p:cNvSpPr/>
            <p:nvPr/>
          </p:nvSpPr>
          <p:spPr>
            <a:xfrm>
              <a:off x="1028129" y="7510289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13" name="Google Shape;296;g3d635d120e2_2_123">
              <a:extLst>
                <a:ext uri="{FF2B5EF4-FFF2-40B4-BE49-F238E27FC236}">
                  <a16:creationId xmlns:a16="http://schemas.microsoft.com/office/drawing/2014/main" id="{12D335A1-B966-EFDD-B816-A281954B87CE}"/>
                </a:ext>
              </a:extLst>
            </p:cNvPr>
            <p:cNvSpPr/>
            <p:nvPr/>
          </p:nvSpPr>
          <p:spPr>
            <a:xfrm>
              <a:off x="605597" y="7510278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4" name="Google Shape;297;g3d635d120e2_2_123">
              <a:extLst>
                <a:ext uri="{FF2B5EF4-FFF2-40B4-BE49-F238E27FC236}">
                  <a16:creationId xmlns:a16="http://schemas.microsoft.com/office/drawing/2014/main" id="{14B34961-5EBD-F5D4-901E-61FAB0B128EC}"/>
                </a:ext>
              </a:extLst>
            </p:cNvPr>
            <p:cNvSpPr txBox="1"/>
            <p:nvPr/>
          </p:nvSpPr>
          <p:spPr>
            <a:xfrm>
              <a:off x="551574" y="7994066"/>
              <a:ext cx="2323200" cy="874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UMF 47 San Luis Potosí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 Cd. Valles</a:t>
              </a:r>
            </a:p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$6.7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" name="Google Shape;304;g3d635d120e2_2_123">
              <a:extLst>
                <a:ext uri="{FF2B5EF4-FFF2-40B4-BE49-F238E27FC236}">
                  <a16:creationId xmlns:a16="http://schemas.microsoft.com/office/drawing/2014/main" id="{3F400975-A331-0DB2-C93D-8B270E1B34C6}"/>
                </a:ext>
              </a:extLst>
            </p:cNvPr>
            <p:cNvSpPr txBox="1"/>
            <p:nvPr/>
          </p:nvSpPr>
          <p:spPr>
            <a:xfrm>
              <a:off x="0" y="4988328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Google Shape;305;g3d635d120e2_2_123">
              <a:extLst>
                <a:ext uri="{FF2B5EF4-FFF2-40B4-BE49-F238E27FC236}">
                  <a16:creationId xmlns:a16="http://schemas.microsoft.com/office/drawing/2014/main" id="{8CB6AA02-E19D-A130-FD35-1DF2F7253139}"/>
                </a:ext>
              </a:extLst>
            </p:cNvPr>
            <p:cNvSpPr/>
            <p:nvPr/>
          </p:nvSpPr>
          <p:spPr>
            <a:xfrm>
              <a:off x="4833500" y="7425823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06;g3d635d120e2_2_123">
              <a:extLst>
                <a:ext uri="{FF2B5EF4-FFF2-40B4-BE49-F238E27FC236}">
                  <a16:creationId xmlns:a16="http://schemas.microsoft.com/office/drawing/2014/main" id="{A62193FC-5A80-4C78-8B22-8B72A0E7165A}"/>
                </a:ext>
              </a:extLst>
            </p:cNvPr>
            <p:cNvSpPr/>
            <p:nvPr/>
          </p:nvSpPr>
          <p:spPr>
            <a:xfrm>
              <a:off x="4331461" y="7425823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" name="Google Shape;307;g3d635d120e2_2_123">
              <a:extLst>
                <a:ext uri="{FF2B5EF4-FFF2-40B4-BE49-F238E27FC236}">
                  <a16:creationId xmlns:a16="http://schemas.microsoft.com/office/drawing/2014/main" id="{6236E7ED-E34F-68D2-CB4B-4EB2D059B768}"/>
                </a:ext>
              </a:extLst>
            </p:cNvPr>
            <p:cNvSpPr txBox="1"/>
            <p:nvPr/>
          </p:nvSpPr>
          <p:spPr>
            <a:xfrm>
              <a:off x="4348222" y="7779506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1 San Luis Potosí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$29.6 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9" name="Google Shape;308;g3d635d120e2_2_123">
              <a:extLst>
                <a:ext uri="{FF2B5EF4-FFF2-40B4-BE49-F238E27FC236}">
                  <a16:creationId xmlns:a16="http://schemas.microsoft.com/office/drawing/2014/main" id="{04985761-1D6F-9866-8169-BC9715AE7288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9197" y="586348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96304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DD7EE663-5579-875B-CC3D-960B584F76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7112832-D34C-074E-3273-4E16CF6D63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F26EDE6-0EBD-E427-CD39-4E7E72D2D46A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9242074-0944-4E92-7328-9CCE749234D5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F073028-792B-9670-B7B3-AF423D8F062E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1A182-A345-65D3-1EC5-712923339A1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4F2440-EF6C-1039-D404-275A8DCB344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+2,819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+185,547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+47,680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2,225,079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185,547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926,604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2,307,428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456,021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47,680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188,507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530,345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30,266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12,957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37,586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12 Tamasopo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Rascón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El Tamuin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Matehuala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91,564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39,366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S.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Tampamolon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Cedral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Venegas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Cd. Maíz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V. Reyes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51,047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22,781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Cárdenas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Cerritos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Cd. Santos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Ebano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Tanlajas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Aquismon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S. María Río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Venado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-2,741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V. Alfredo M.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Moctezuma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V. Zaragoza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Guadalcazar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Morales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44,081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La Hincada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Tamazunchale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501,668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28,883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214,517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593,876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494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2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1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494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593,876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adroTexto 277">
            <a:extLst>
              <a:ext uri="{FF2B5EF4-FFF2-40B4-BE49-F238E27FC236}">
                <a16:creationId xmlns:a16="http://schemas.microsoft.com/office/drawing/2014/main" id="{C10F4116-C85F-4B4D-7D47-5F7E20F63F26}"/>
              </a:ext>
            </a:extLst>
          </p:cNvPr>
          <p:cNvSpPr txBox="1"/>
          <p:nvPr/>
        </p:nvSpPr>
        <p:spPr>
          <a:xfrm>
            <a:off x="4362328" y="5408115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9 consultorios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F7B75E48-C3EE-BB8B-3397-6F9204C9BEAD}"/>
              </a:ext>
            </a:extLst>
          </p:cNvPr>
          <p:cNvSpPr txBox="1"/>
          <p:nvPr/>
        </p:nvSpPr>
        <p:spPr>
          <a:xfrm>
            <a:off x="4753532" y="6900581"/>
            <a:ext cx="29021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HGSMF 9 Río Verde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2 San Luis Potosí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1 San Luis Potosí.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(31 consultorios)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(170,258 consultas)</a:t>
            </a:r>
          </a:p>
        </p:txBody>
      </p:sp>
      <p:graphicFrame>
        <p:nvGraphicFramePr>
          <p:cNvPr id="287" name="Table 286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Soledad Graciano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59,046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San Luis Potosí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462,841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51,776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189,586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468,384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45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304,641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125,344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Cd. Valles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236,703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95,145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234,192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98,216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41,612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María Cecilia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143,673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60,784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1,392,268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130,904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571,517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1,374,576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9" name="TextBox 288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374950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42,906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66,888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82,574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32,301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40,678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130,305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456,021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47,680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188,507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530,345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51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2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35.5%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1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51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530,345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23090326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30,266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12,957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37,586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34.5%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37,586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73 en Hospitales, 1 en sede, 19 en UMF y 77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219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219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88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Axtla de Terraza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78839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Cerritos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3E23A56-B904-2CAF-6A39-1039758B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453992"/>
              </p:ext>
            </p:extLst>
          </p:nvPr>
        </p:nvGraphicFramePr>
        <p:xfrm>
          <a:off x="287050" y="1035674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7,657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2,343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10,817	 Personal de Salud: 6,132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+54.7%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+31.1%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1,057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1,386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2,001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+180.7%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-7.7%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9,323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498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1,975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12,638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(150,004)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(31,965)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(1,692)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(3,079)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(116,829)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(13,511)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(1,432)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(2,111)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(31,992)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(12,834)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(607)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(31,075)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(9,145)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(601)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(835)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(125)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(21,954)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(9,018)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(701)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171,831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1,498,683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83,395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1,567,353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E65F-2E35-AEE5-D508-B2417D72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537,648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394,602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267,340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242,410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228,569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226,933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205,463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200,950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193,159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187,677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498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50 Tangamanga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6 unidades (UMF No.3 Ciudad Valles; HGZMF No.1, HGZ No. 50, HGZMF No. 2, UMF No. 45, UMF No. 47 San Luis Potosí)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en San Luis Potosí (Oriente, Poniente)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6 Ciudad Valles y HGZ No. 50 San Luis Potosí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47 San Luis Potosí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No.1, HGZ No.50 San Luis Potosí; HGZ No.6 Ciudad Valles)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15 unidades, San Luis Potosí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6 Ciudad Valles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$251.5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1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5  piezas de equipo médico: 2 refrigeradores congeladores de 5.4 pies cúbicos, 1 mastógrafo digital con estereotaxia, 1 unidad para tomografía axial computarizada de alta resolución,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4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332.7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Fortalecimiento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UCIN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UMF 45 (UMF 20 CMF + 5 EEMF + Urgencias + 4 Especialidades) (Sin MFR)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$490.5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51999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HGZMF 1 San Luis Potosí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$164.3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707993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19 Equipos electromecánicos para 4 unidades; 10 lavadoras, 8 secadoras y 1 equipo para casa de máquinas. San Luis Potisí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711.0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25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1/Sin predios en ruta.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5,146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1,754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Soledad de Graciano Sánchez y El Naranjo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Potosí, Ciudad Valles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39 Ciudad Valles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4_s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42374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San Luis Potosi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General Motors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10,838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10,817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Controladora Mabe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-4.24%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-0.22%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+0.51%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+0.71%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+3.49%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394,695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487,104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396,395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11,976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68,733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8,990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486,094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494FB21-A12E-3D74-628B-23299256F739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$668.74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$359.30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$668.74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$20,062.2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Centro de Producción Santa Rita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Organismo Público Descentralizado de Agua Potable, Alcantarillado y Saneamiento de Axtla de Terrazas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Unión Turística Ejidal Gogorron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Machinery y Soluciones Alk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Xico Ingenieros Civiles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Productos Especializados de Acero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550,383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467,791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1,792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12,764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5,721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14,741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8,471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611,344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168,147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443,197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157,108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550,383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6,601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Charcas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Matehuala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Cerritos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Zacatipan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Axtla de Terrazas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Los Hernandez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73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Los Hernández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Zacatipán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973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de Matehuala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4557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4953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610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650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5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5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373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373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4953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77 especialistas (sustitutos)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349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421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421597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0000" y="1049759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84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406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107</cp:revision>
  <dcterms:modified xsi:type="dcterms:W3CDTF">2026-05-12T23:40:57Z</dcterms:modified>
</cp:coreProperties>
</file>