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charts/chart8.xml" ContentType="application/vnd.openxmlformats-officedocument.drawingml.chart+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306" r:id="rId3"/>
    <p:sldId id="258" r:id="rId4"/>
    <p:sldId id="259" r:id="rId5"/>
    <p:sldId id="260" r:id="rId6"/>
    <p:sldId id="261" r:id="rId7"/>
    <p:sldId id="287" r:id="rId8"/>
    <p:sldId id="262" r:id="rId9"/>
    <p:sldId id="263" r:id="rId10"/>
    <p:sldId id="280" r:id="rId11"/>
    <p:sldId id="267" r:id="rId12"/>
    <p:sldId id="298" r:id="rId13"/>
    <p:sldId id="302" r:id="rId14"/>
    <p:sldId id="303" r:id="rId15"/>
    <p:sldId id="304" r:id="rId16"/>
    <p:sldId id="281" r:id="rId17"/>
    <p:sldId id="305" r:id="rId18"/>
    <p:sldId id="288" r:id="rId19"/>
    <p:sldId id="270" r:id="rId20"/>
    <p:sldId id="271" r:id="rId21"/>
    <p:sldId id="272" r:id="rId22"/>
    <p:sldId id="300" r:id="rId23"/>
    <p:sldId id="297" r:id="rId24"/>
    <p:sldId id="284" r:id="rId25"/>
    <p:sldId id="277" r:id="rId26"/>
    <p:sldId id="278" r:id="rId27"/>
    <p:sldId id="279" r:id="rId28"/>
    <p:sldId id="282" r:id="rId29"/>
  </p:sldIdLst>
  <p:sldSz cx="7772400" cy="10058400"/>
  <p:notesSz cx="6858000" cy="9144000"/>
  <p:embeddedFontLst>
    <p:embeddedFont>
      <p:font typeface="Montserrat" panose="00000500000000000000" pitchFamily="2" charset="0"/>
      <p:regular r:id="rId31"/>
      <p:bold r:id="rId32"/>
      <p:italic r:id="rId33"/>
      <p:boldItalic r:id="rId34"/>
    </p:embeddedFont>
    <p:embeddedFont>
      <p:font typeface="Noto Sans" panose="020B0502040504020204" pitchFamily="34" charset="0"/>
      <p:regular r:id="rId35"/>
      <p:bold r:id="rId36"/>
      <p:italic r:id="rId37"/>
      <p:boldItalic r:id="rId38"/>
    </p:embeddedFont>
    <p:embeddedFont>
      <p:font typeface="Noto Sans Black" panose="020B0604020202020204" charset="0"/>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D1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3480DE-232D-4223-A9D0-7E30EF288E6A}" v="1" dt="2026-07-03T19:30:16.248"/>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918" y="-330"/>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ma Edith Jimenez Hernandez" userId="71858b7e-10a9-4afa-b58c-7b4a6c30cd53" providerId="ADAL" clId="{91141CC3-E5EA-4DD9-AA7B-0F0F2578B8AD}"/>
    <pc:docChg chg="modSld">
      <pc:chgData name="Norma Edith Jimenez Hernandez" userId="71858b7e-10a9-4afa-b58c-7b4a6c30cd53" providerId="ADAL" clId="{91141CC3-E5EA-4DD9-AA7B-0F0F2578B8AD}" dt="2026-06-29T18:53:12.616" v="23" actId="20577"/>
      <pc:docMkLst>
        <pc:docMk/>
      </pc:docMkLst>
      <pc:sldChg chg="modSp mod">
        <pc:chgData name="Norma Edith Jimenez Hernandez" userId="71858b7e-10a9-4afa-b58c-7b4a6c30cd53" providerId="ADAL" clId="{91141CC3-E5EA-4DD9-AA7B-0F0F2578B8AD}" dt="2026-06-29T18:52:36.508" v="3" actId="208"/>
        <pc:sldMkLst>
          <pc:docMk/>
          <pc:sldMk cId="0" sldId="258"/>
        </pc:sldMkLst>
        <pc:spChg chg="mod">
          <ac:chgData name="Norma Edith Jimenez Hernandez" userId="71858b7e-10a9-4afa-b58c-7b4a6c30cd53" providerId="ADAL" clId="{91141CC3-E5EA-4DD9-AA7B-0F0F2578B8AD}" dt="2026-06-29T18:52:36.508" v="3" actId="208"/>
          <ac:spMkLst>
            <pc:docMk/>
            <pc:sldMk cId="0" sldId="258"/>
            <ac:spMk id="123" creationId="{00000000-0000-0000-0000-000000000000}"/>
          </ac:spMkLst>
        </pc:spChg>
        <pc:graphicFrameChg chg="mod">
          <ac:chgData name="Norma Edith Jimenez Hernandez" userId="71858b7e-10a9-4afa-b58c-7b4a6c30cd53" providerId="ADAL" clId="{91141CC3-E5EA-4DD9-AA7B-0F0F2578B8AD}" dt="2026-06-29T18:52:23.812" v="1" actId="207"/>
          <ac:graphicFrameMkLst>
            <pc:docMk/>
            <pc:sldMk cId="0" sldId="258"/>
            <ac:graphicFrameMk id="117" creationId="{00000000-0000-0000-0000-000000000000}"/>
          </ac:graphicFrameMkLst>
        </pc:graphicFrameChg>
      </pc:sldChg>
      <pc:sldChg chg="modSp mod">
        <pc:chgData name="Norma Edith Jimenez Hernandez" userId="71858b7e-10a9-4afa-b58c-7b4a6c30cd53" providerId="ADAL" clId="{91141CC3-E5EA-4DD9-AA7B-0F0F2578B8AD}" dt="2026-06-29T18:52:51.789" v="8" actId="20577"/>
        <pc:sldMkLst>
          <pc:docMk/>
          <pc:sldMk cId="0" sldId="259"/>
        </pc:sldMkLst>
        <pc:spChg chg="mod">
          <ac:chgData name="Norma Edith Jimenez Hernandez" userId="71858b7e-10a9-4afa-b58c-7b4a6c30cd53" providerId="ADAL" clId="{91141CC3-E5EA-4DD9-AA7B-0F0F2578B8AD}" dt="2026-06-29T18:52:51.789" v="8" actId="20577"/>
          <ac:spMkLst>
            <pc:docMk/>
            <pc:sldMk cId="0" sldId="259"/>
            <ac:spMk id="139" creationId="{00000000-0000-0000-0000-000000000000}"/>
          </ac:spMkLst>
        </pc:spChg>
      </pc:sldChg>
      <pc:sldChg chg="modSp mod">
        <pc:chgData name="Norma Edith Jimenez Hernandez" userId="71858b7e-10a9-4afa-b58c-7b4a6c30cd53" providerId="ADAL" clId="{91141CC3-E5EA-4DD9-AA7B-0F0F2578B8AD}" dt="2026-06-29T18:52:58.035" v="13" actId="20577"/>
        <pc:sldMkLst>
          <pc:docMk/>
          <pc:sldMk cId="0" sldId="260"/>
        </pc:sldMkLst>
        <pc:spChg chg="mod">
          <ac:chgData name="Norma Edith Jimenez Hernandez" userId="71858b7e-10a9-4afa-b58c-7b4a6c30cd53" providerId="ADAL" clId="{91141CC3-E5EA-4DD9-AA7B-0F0F2578B8AD}" dt="2026-06-29T18:52:58.035" v="13" actId="20577"/>
          <ac:spMkLst>
            <pc:docMk/>
            <pc:sldMk cId="0" sldId="260"/>
            <ac:spMk id="13" creationId="{00000000-0000-0000-0000-000000000000}"/>
          </ac:spMkLst>
        </pc:spChg>
      </pc:sldChg>
      <pc:sldChg chg="modSp mod">
        <pc:chgData name="Norma Edith Jimenez Hernandez" userId="71858b7e-10a9-4afa-b58c-7b4a6c30cd53" providerId="ADAL" clId="{91141CC3-E5EA-4DD9-AA7B-0F0F2578B8AD}" dt="2026-06-29T18:53:12.616" v="23" actId="20577"/>
        <pc:sldMkLst>
          <pc:docMk/>
          <pc:sldMk cId="0" sldId="261"/>
        </pc:sldMkLst>
        <pc:spChg chg="mod">
          <ac:chgData name="Norma Edith Jimenez Hernandez" userId="71858b7e-10a9-4afa-b58c-7b4a6c30cd53" providerId="ADAL" clId="{91141CC3-E5EA-4DD9-AA7B-0F0F2578B8AD}" dt="2026-06-29T18:53:12.616" v="23" actId="20577"/>
          <ac:spMkLst>
            <pc:docMk/>
            <pc:sldMk cId="0" sldId="261"/>
            <ac:spMk id="156" creationId="{00000000-0000-0000-0000-000000000000}"/>
          </ac:spMkLst>
        </pc:sp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6:53.342" v="2" actId="22"/>
      <pc:docMkLst>
        <pc:docMk/>
      </pc:docMkLst>
      <pc:sldChg chg="addSp delSp mod">
        <pc:chgData name="Rohan Myron Oprisko" userId="a7c52ab4-f8b1-4d15-aaf6-6388cc510347" providerId="ADAL" clId="{97C26823-81C0-4343-94EC-E87AB1317939}" dt="2026-06-24T15:56:53.342" v="2" actId="22"/>
        <pc:sldMkLst>
          <pc:docMk/>
          <pc:sldMk cId="748044913" sldId="287"/>
        </pc:sldMkLst>
        <pc:spChg chg="add">
          <ac:chgData name="Rohan Myron Oprisko" userId="a7c52ab4-f8b1-4d15-aaf6-6388cc510347" providerId="ADAL" clId="{97C26823-81C0-4343-94EC-E87AB1317939}" dt="2026-06-24T15:56:53.342" v="2" actId="22"/>
          <ac:spMkLst>
            <pc:docMk/>
            <pc:sldMk cId="748044913" sldId="287"/>
            <ac:spMk id="10" creationId="{621FB93F-C475-12F7-D004-6CE845AF59A4}"/>
          </ac:spMkLst>
        </pc:spChg>
        <pc:spChg chg="add">
          <ac:chgData name="Rohan Myron Oprisko" userId="a7c52ab4-f8b1-4d15-aaf6-6388cc510347" providerId="ADAL" clId="{97C26823-81C0-4343-94EC-E87AB1317939}" dt="2026-06-24T15:56:53.342" v="2" actId="22"/>
          <ac:spMkLst>
            <pc:docMk/>
            <pc:sldMk cId="748044913" sldId="287"/>
            <ac:spMk id="12" creationId="{B9AC3CFC-0AAA-3C5E-9284-61E2B6827C2E}"/>
          </ac:spMkLst>
        </pc:spChg>
      </pc:sldChg>
    </pc:docChg>
  </pc:docChgLst>
  <pc:docChgLst>
    <pc:chgData name="Laura Patricia Galvan Chavez" userId="S::laura.galvan@imss.gob.mx::6b13af50-ce8b-483e-8fc4-f994efaf3289" providerId="AD" clId="Web-{7BC36095-6BDD-56C6-CD85-82E301E73B77}"/>
    <pc:docChg chg="modSld">
      <pc:chgData name="Laura Patricia Galvan Chavez" userId="S::laura.galvan@imss.gob.mx::6b13af50-ce8b-483e-8fc4-f994efaf3289" providerId="AD" clId="Web-{7BC36095-6BDD-56C6-CD85-82E301E73B77}" dt="2026-06-23T20:38:49.985" v="15"/>
      <pc:docMkLst>
        <pc:docMk/>
      </pc:docMkLst>
      <pc:sldChg chg="modSp">
        <pc:chgData name="Laura Patricia Galvan Chavez" userId="S::laura.galvan@imss.gob.mx::6b13af50-ce8b-483e-8fc4-f994efaf3289" providerId="AD" clId="Web-{7BC36095-6BDD-56C6-CD85-82E301E73B77}" dt="2026-06-23T20:38:49.985" v="15"/>
        <pc:sldMkLst>
          <pc:docMk/>
          <pc:sldMk cId="0" sldId="260"/>
        </pc:sldMkLst>
        <pc:graphicFrameChg chg="mod modGraphic">
          <ac:chgData name="Laura Patricia Galvan Chavez" userId="S::laura.galvan@imss.gob.mx::6b13af50-ce8b-483e-8fc4-f994efaf3289" providerId="AD" clId="Web-{7BC36095-6BDD-56C6-CD85-82E301E73B77}" dt="2026-06-23T20:38:49.985" v="15"/>
          <ac:graphicFrameMkLst>
            <pc:docMk/>
            <pc:sldMk cId="0" sldId="260"/>
            <ac:graphicFrameMk id="5" creationId="{04FBA469-16E2-B7DE-1FA8-ECC94DD46987}"/>
          </ac:graphicFrameMkLst>
        </pc:graphicFrameChg>
      </pc:sldChg>
    </pc:docChg>
  </pc:docChgLst>
  <pc:docChgLst>
    <pc:chgData name="Laura Patricia Galvan Chavez" userId="S::laura.galvan@imss.gob.mx::6b13af50-ce8b-483e-8fc4-f994efaf3289" providerId="AD" clId="Web-{500418B8-F018-0223-2736-33950832E7A4}"/>
    <pc:docChg chg="modSld">
      <pc:chgData name="Laura Patricia Galvan Chavez" userId="S::laura.galvan@imss.gob.mx::6b13af50-ce8b-483e-8fc4-f994efaf3289" providerId="AD" clId="Web-{500418B8-F018-0223-2736-33950832E7A4}" dt="2026-06-23T23:27:55.437" v="36" actId="1076"/>
      <pc:docMkLst>
        <pc:docMk/>
      </pc:docMkLst>
      <pc:sldChg chg="addSp delSp modSp">
        <pc:chgData name="Laura Patricia Galvan Chavez" userId="S::laura.galvan@imss.gob.mx::6b13af50-ce8b-483e-8fc4-f994efaf3289" providerId="AD" clId="Web-{500418B8-F018-0223-2736-33950832E7A4}" dt="2026-06-23T23:27:55.437" v="36" actId="1076"/>
        <pc:sldMkLst>
          <pc:docMk/>
          <pc:sldMk cId="3240565764" sldId="297"/>
        </pc:sldMkLst>
        <pc:spChg chg="mod">
          <ac:chgData name="Laura Patricia Galvan Chavez" userId="S::laura.galvan@imss.gob.mx::6b13af50-ce8b-483e-8fc4-f994efaf3289" providerId="AD" clId="Web-{500418B8-F018-0223-2736-33950832E7A4}" dt="2026-06-23T23:25:09.778" v="0" actId="1076"/>
          <ac:spMkLst>
            <pc:docMk/>
            <pc:sldMk cId="3240565764" sldId="297"/>
            <ac:spMk id="10" creationId="{991C7EE4-1170-AC4C-597D-3383D8E8A8F9}"/>
          </ac:spMkLst>
        </pc:spChg>
        <pc:spChg chg="mod">
          <ac:chgData name="Laura Patricia Galvan Chavez" userId="S::laura.galvan@imss.gob.mx::6b13af50-ce8b-483e-8fc4-f994efaf3289" providerId="AD" clId="Web-{500418B8-F018-0223-2736-33950832E7A4}" dt="2026-06-23T23:27:55.437" v="36" actId="1076"/>
          <ac:spMkLst>
            <pc:docMk/>
            <pc:sldMk cId="3240565764" sldId="297"/>
            <ac:spMk id="12" creationId="{CA535D92-E281-11D7-D7CB-F8BAB9F176B8}"/>
          </ac:spMkLst>
        </pc:spChg>
        <pc:spChg chg="mod">
          <ac:chgData name="Laura Patricia Galvan Chavez" userId="S::laura.galvan@imss.gob.mx::6b13af50-ce8b-483e-8fc4-f994efaf3289" providerId="AD" clId="Web-{500418B8-F018-0223-2736-33950832E7A4}" dt="2026-06-23T23:25:30.590" v="9" actId="20577"/>
          <ac:spMkLst>
            <pc:docMk/>
            <pc:sldMk cId="3240565764" sldId="297"/>
            <ac:spMk id="13" creationId="{B9C2E918-974F-A566-8C8B-5DDE4ED4290B}"/>
          </ac:spMkLst>
        </pc:spChg>
        <pc:picChg chg="add mod">
          <ac:chgData name="Laura Patricia Galvan Chavez" userId="S::laura.galvan@imss.gob.mx::6b13af50-ce8b-483e-8fc4-f994efaf3289" providerId="AD" clId="Web-{500418B8-F018-0223-2736-33950832E7A4}" dt="2026-06-23T23:27:11.108" v="25" actId="1076"/>
          <ac:picMkLst>
            <pc:docMk/>
            <pc:sldMk cId="3240565764" sldId="297"/>
            <ac:picMk id="3" creationId="{08D43A5F-4C5A-1955-797E-ACCE000D6ACF}"/>
          </ac:picMkLst>
        </pc:picChg>
        <pc:picChg chg="add mod">
          <ac:chgData name="Laura Patricia Galvan Chavez" userId="S::laura.galvan@imss.gob.mx::6b13af50-ce8b-483e-8fc4-f994efaf3289" providerId="AD" clId="Web-{500418B8-F018-0223-2736-33950832E7A4}" dt="2026-06-23T23:27:11.108" v="26" actId="1076"/>
          <ac:picMkLst>
            <pc:docMk/>
            <pc:sldMk cId="3240565764" sldId="297"/>
            <ac:picMk id="4" creationId="{59558EE9-07D6-6C76-6996-37C0E0B1B9E6}"/>
          </ac:picMkLst>
        </pc:picChg>
        <pc:picChg chg="add mod">
          <ac:chgData name="Laura Patricia Galvan Chavez" userId="S::laura.galvan@imss.gob.mx::6b13af50-ce8b-483e-8fc4-f994efaf3289" providerId="AD" clId="Web-{500418B8-F018-0223-2736-33950832E7A4}" dt="2026-06-23T23:27:11.108" v="27" actId="1076"/>
          <ac:picMkLst>
            <pc:docMk/>
            <pc:sldMk cId="3240565764" sldId="297"/>
            <ac:picMk id="7" creationId="{D6BA3C13-C25E-EBC0-9429-9634AD0B43FB}"/>
          </ac:picMkLst>
        </pc:picChg>
        <pc:picChg chg="mod">
          <ac:chgData name="Laura Patricia Galvan Chavez" userId="S::laura.galvan@imss.gob.mx::6b13af50-ce8b-483e-8fc4-f994efaf3289" providerId="AD" clId="Web-{500418B8-F018-0223-2736-33950832E7A4}" dt="2026-06-23T23:27:32.343" v="32" actId="1076"/>
          <ac:picMkLst>
            <pc:docMk/>
            <pc:sldMk cId="3240565764" sldId="297"/>
            <ac:picMk id="11" creationId="{F7B31A16-FD1A-331A-6F76-259EB810FD76}"/>
          </ac:picMkLst>
        </pc:picChg>
      </pc:sldChg>
    </pc:docChg>
  </pc:docChgLst>
  <pc:docChgLst>
    <pc:chgData name="Laura Patricia Galvan Chavez" userId="6b13af50-ce8b-483e-8fc4-f994efaf3289" providerId="ADAL" clId="{655D084B-7DF1-4C24-9447-417D7DC498B8}"/>
    <pc:docChg chg="custSel delSld modSld">
      <pc:chgData name="Laura Patricia Galvan Chavez" userId="6b13af50-ce8b-483e-8fc4-f994efaf3289" providerId="ADAL" clId="{655D084B-7DF1-4C24-9447-417D7DC498B8}" dt="2026-07-03T19:38:11.427" v="170" actId="1076"/>
      <pc:docMkLst>
        <pc:docMk/>
      </pc:docMkLst>
      <pc:sldChg chg="addSp modSp mod">
        <pc:chgData name="Laura Patricia Galvan Chavez" userId="6b13af50-ce8b-483e-8fc4-f994efaf3289" providerId="ADAL" clId="{655D084B-7DF1-4C24-9447-417D7DC498B8}" dt="2026-07-03T19:31:33.192" v="151" actId="1076"/>
        <pc:sldMkLst>
          <pc:docMk/>
          <pc:sldMk cId="0" sldId="260"/>
        </pc:sldMkLst>
        <pc:spChg chg="mod">
          <ac:chgData name="Laura Patricia Galvan Chavez" userId="6b13af50-ce8b-483e-8fc4-f994efaf3289" providerId="ADAL" clId="{655D084B-7DF1-4C24-9447-417D7DC498B8}" dt="2026-07-03T19:30:36.323" v="143" actId="1076"/>
          <ac:spMkLst>
            <pc:docMk/>
            <pc:sldMk cId="0" sldId="260"/>
            <ac:spMk id="7" creationId="{47C18AA5-16CE-E9BB-B9A7-2A31CF00968A}"/>
          </ac:spMkLst>
        </pc:spChg>
        <pc:graphicFrameChg chg="add mod">
          <ac:chgData name="Laura Patricia Galvan Chavez" userId="6b13af50-ce8b-483e-8fc4-f994efaf3289" providerId="ADAL" clId="{655D084B-7DF1-4C24-9447-417D7DC498B8}" dt="2026-07-03T19:31:33.192" v="151" actId="1076"/>
          <ac:graphicFrameMkLst>
            <pc:docMk/>
            <pc:sldMk cId="0" sldId="260"/>
            <ac:graphicFrameMk id="2" creationId="{8BA27617-42F6-BDD5-DDCB-786C5E26D6E3}"/>
          </ac:graphicFrameMkLst>
        </pc:graphicFrameChg>
        <pc:graphicFrameChg chg="mod">
          <ac:chgData name="Laura Patricia Galvan Chavez" userId="6b13af50-ce8b-483e-8fc4-f994efaf3289" providerId="ADAL" clId="{655D084B-7DF1-4C24-9447-417D7DC498B8}" dt="2026-07-03T19:30:30.232" v="142" actId="1076"/>
          <ac:graphicFrameMkLst>
            <pc:docMk/>
            <pc:sldMk cId="0" sldId="260"/>
            <ac:graphicFrameMk id="5" creationId="{04FBA469-16E2-B7DE-1FA8-ECC94DD46987}"/>
          </ac:graphicFrameMkLst>
        </pc:graphicFrameChg>
        <pc:graphicFrameChg chg="mod">
          <ac:chgData name="Laura Patricia Galvan Chavez" userId="6b13af50-ce8b-483e-8fc4-f994efaf3289" providerId="ADAL" clId="{655D084B-7DF1-4C24-9447-417D7DC498B8}" dt="2026-07-03T19:31:26.517" v="150" actId="1076"/>
          <ac:graphicFrameMkLst>
            <pc:docMk/>
            <pc:sldMk cId="0" sldId="260"/>
            <ac:graphicFrameMk id="12" creationId="{00000000-0000-0000-0000-000000000000}"/>
          </ac:graphicFrameMkLst>
        </pc:graphicFrameChg>
        <pc:picChg chg="mod">
          <ac:chgData name="Laura Patricia Galvan Chavez" userId="6b13af50-ce8b-483e-8fc4-f994efaf3289" providerId="ADAL" clId="{655D084B-7DF1-4C24-9447-417D7DC498B8}" dt="2026-07-03T19:30:44.479" v="145" actId="14100"/>
          <ac:picMkLst>
            <pc:docMk/>
            <pc:sldMk cId="0" sldId="260"/>
            <ac:picMk id="6" creationId="{5D1BEE81-670A-254B-15C8-6E5B3A507319}"/>
          </ac:picMkLst>
        </pc:picChg>
        <pc:picChg chg="mod">
          <ac:chgData name="Laura Patricia Galvan Chavez" userId="6b13af50-ce8b-483e-8fc4-f994efaf3289" providerId="ADAL" clId="{655D084B-7DF1-4C24-9447-417D7DC498B8}" dt="2026-07-03T19:31:22.630" v="149" actId="1076"/>
          <ac:picMkLst>
            <pc:docMk/>
            <pc:sldMk cId="0" sldId="260"/>
            <ac:picMk id="11" creationId="{00000000-0000-0000-0000-000000000000}"/>
          </ac:picMkLst>
        </pc:picChg>
      </pc:sldChg>
      <pc:sldChg chg="modSp mod">
        <pc:chgData name="Laura Patricia Galvan Chavez" userId="6b13af50-ce8b-483e-8fc4-f994efaf3289" providerId="ADAL" clId="{655D084B-7DF1-4C24-9447-417D7DC498B8}" dt="2026-07-03T19:35:42.874" v="168" actId="207"/>
        <pc:sldMkLst>
          <pc:docMk/>
          <pc:sldMk cId="0" sldId="261"/>
        </pc:sldMkLst>
        <pc:graphicFrameChg chg="modGraphic">
          <ac:chgData name="Laura Patricia Galvan Chavez" userId="6b13af50-ce8b-483e-8fc4-f994efaf3289" providerId="ADAL" clId="{655D084B-7DF1-4C24-9447-417D7DC498B8}" dt="2026-07-03T19:35:42.874" v="168" actId="207"/>
          <ac:graphicFrameMkLst>
            <pc:docMk/>
            <pc:sldMk cId="0" sldId="261"/>
            <ac:graphicFrameMk id="154" creationId="{00000000-0000-0000-0000-000000000000}"/>
          </ac:graphicFrameMkLst>
        </pc:graphicFrameChg>
      </pc:sldChg>
      <pc:sldChg chg="modSp mod">
        <pc:chgData name="Laura Patricia Galvan Chavez" userId="6b13af50-ce8b-483e-8fc4-f994efaf3289" providerId="ADAL" clId="{655D084B-7DF1-4C24-9447-417D7DC498B8}" dt="2026-06-29T19:31:17.888" v="94" actId="1076"/>
        <pc:sldMkLst>
          <pc:docMk/>
          <pc:sldMk cId="0" sldId="262"/>
        </pc:sldMkLst>
        <pc:spChg chg="mod">
          <ac:chgData name="Laura Patricia Galvan Chavez" userId="6b13af50-ce8b-483e-8fc4-f994efaf3289" providerId="ADAL" clId="{655D084B-7DF1-4C24-9447-417D7DC498B8}" dt="2026-06-29T19:31:17.888" v="94" actId="1076"/>
          <ac:spMkLst>
            <pc:docMk/>
            <pc:sldMk cId="0" sldId="262"/>
            <ac:spMk id="11" creationId="{00000000-0000-0000-0000-000000000000}"/>
          </ac:spMkLst>
        </pc:spChg>
      </pc:sldChg>
      <pc:sldChg chg="modSp mod">
        <pc:chgData name="Laura Patricia Galvan Chavez" userId="6b13af50-ce8b-483e-8fc4-f994efaf3289" providerId="ADAL" clId="{655D084B-7DF1-4C24-9447-417D7DC498B8}" dt="2026-06-29T19:31:30.772" v="96" actId="1076"/>
        <pc:sldMkLst>
          <pc:docMk/>
          <pc:sldMk cId="0" sldId="263"/>
        </pc:sldMkLst>
        <pc:spChg chg="mod">
          <ac:chgData name="Laura Patricia Galvan Chavez" userId="6b13af50-ce8b-483e-8fc4-f994efaf3289" providerId="ADAL" clId="{655D084B-7DF1-4C24-9447-417D7DC498B8}" dt="2026-06-29T19:31:30.772" v="96" actId="1076"/>
          <ac:spMkLst>
            <pc:docMk/>
            <pc:sldMk cId="0" sldId="263"/>
            <ac:spMk id="327" creationId="{00000000-0000-0000-0000-000000000000}"/>
          </ac:spMkLst>
        </pc:spChg>
        <pc:graphicFrameChg chg="modGraphic">
          <ac:chgData name="Laura Patricia Galvan Chavez" userId="6b13af50-ce8b-483e-8fc4-f994efaf3289" providerId="ADAL" clId="{655D084B-7DF1-4C24-9447-417D7DC498B8}" dt="2026-06-29T19:31:26.662" v="95" actId="14100"/>
          <ac:graphicFrameMkLst>
            <pc:docMk/>
            <pc:sldMk cId="0" sldId="263"/>
            <ac:graphicFrameMk id="325" creationId="{00000000-0000-0000-0000-000000000000}"/>
          </ac:graphicFrameMkLst>
        </pc:graphicFrameChg>
      </pc:sldChg>
      <pc:sldChg chg="modSp mod">
        <pc:chgData name="Laura Patricia Galvan Chavez" userId="6b13af50-ce8b-483e-8fc4-f994efaf3289" providerId="ADAL" clId="{655D084B-7DF1-4C24-9447-417D7DC498B8}" dt="2026-07-03T19:37:58.594" v="169" actId="1076"/>
        <pc:sldMkLst>
          <pc:docMk/>
          <pc:sldMk cId="0" sldId="272"/>
        </pc:sldMkLst>
        <pc:spChg chg="mod">
          <ac:chgData name="Laura Patricia Galvan Chavez" userId="6b13af50-ce8b-483e-8fc4-f994efaf3289" providerId="ADAL" clId="{655D084B-7DF1-4C24-9447-417D7DC498B8}" dt="2026-07-03T19:37:58.594" v="169" actId="1076"/>
          <ac:spMkLst>
            <pc:docMk/>
            <pc:sldMk cId="0" sldId="272"/>
            <ac:spMk id="8" creationId="{00000000-0000-0000-0000-000000000000}"/>
          </ac:spMkLst>
        </pc:spChg>
        <pc:graphicFrameChg chg="mod">
          <ac:chgData name="Laura Patricia Galvan Chavez" userId="6b13af50-ce8b-483e-8fc4-f994efaf3289" providerId="ADAL" clId="{655D084B-7DF1-4C24-9447-417D7DC498B8}" dt="2026-07-03T19:37:58.594" v="169" actId="1076"/>
          <ac:graphicFrameMkLst>
            <pc:docMk/>
            <pc:sldMk cId="0" sldId="272"/>
            <ac:graphicFrameMk id="10" creationId="{00000000-0000-0000-0000-000000000000}"/>
          </ac:graphicFrameMkLst>
        </pc:graphicFrameChg>
        <pc:cxnChg chg="mod">
          <ac:chgData name="Laura Patricia Galvan Chavez" userId="6b13af50-ce8b-483e-8fc4-f994efaf3289" providerId="ADAL" clId="{655D084B-7DF1-4C24-9447-417D7DC498B8}" dt="2026-07-03T19:37:58.594" v="169" actId="1076"/>
          <ac:cxnSpMkLst>
            <pc:docMk/>
            <pc:sldMk cId="0" sldId="272"/>
            <ac:cxnSpMk id="9" creationId="{00000000-0000-0000-0000-000000000000}"/>
          </ac:cxnSpMkLst>
        </pc:cxnChg>
      </pc:sldChg>
      <pc:sldChg chg="modSp mod">
        <pc:chgData name="Laura Patricia Galvan Chavez" userId="6b13af50-ce8b-483e-8fc4-f994efaf3289" providerId="ADAL" clId="{655D084B-7DF1-4C24-9447-417D7DC498B8}" dt="2026-06-29T19:33:19.076" v="130" actId="20577"/>
        <pc:sldMkLst>
          <pc:docMk/>
          <pc:sldMk cId="0" sldId="279"/>
        </pc:sldMkLst>
        <pc:graphicFrameChg chg="modGraphic">
          <ac:chgData name="Laura Patricia Galvan Chavez" userId="6b13af50-ce8b-483e-8fc4-f994efaf3289" providerId="ADAL" clId="{655D084B-7DF1-4C24-9447-417D7DC498B8}" dt="2026-06-29T19:33:19.076" v="130" actId="20577"/>
          <ac:graphicFrameMkLst>
            <pc:docMk/>
            <pc:sldMk cId="0" sldId="279"/>
            <ac:graphicFrameMk id="514" creationId="{00000000-0000-0000-0000-000000000000}"/>
          </ac:graphicFrameMkLst>
        </pc:graphicFrameChg>
      </pc:sldChg>
      <pc:sldChg chg="modSp mod">
        <pc:chgData name="Laura Patricia Galvan Chavez" userId="6b13af50-ce8b-483e-8fc4-f994efaf3289" providerId="ADAL" clId="{655D084B-7DF1-4C24-9447-417D7DC498B8}" dt="2026-06-29T19:31:56.937" v="109" actId="20577"/>
        <pc:sldMkLst>
          <pc:docMk/>
          <pc:sldMk cId="3828482411" sldId="281"/>
        </pc:sldMkLst>
        <pc:spChg chg="mod">
          <ac:chgData name="Laura Patricia Galvan Chavez" userId="6b13af50-ce8b-483e-8fc4-f994efaf3289" providerId="ADAL" clId="{655D084B-7DF1-4C24-9447-417D7DC498B8}" dt="2026-06-29T19:31:56.937" v="109" actId="20577"/>
          <ac:spMkLst>
            <pc:docMk/>
            <pc:sldMk cId="3828482411" sldId="281"/>
            <ac:spMk id="3" creationId="{00000000-0000-0000-0000-000000000000}"/>
          </ac:spMkLst>
        </pc:spChg>
      </pc:sldChg>
      <pc:sldChg chg="modSp mod">
        <pc:chgData name="Laura Patricia Galvan Chavez" userId="6b13af50-ce8b-483e-8fc4-f994efaf3289" providerId="ADAL" clId="{655D084B-7DF1-4C24-9447-417D7DC498B8}" dt="2026-06-29T19:32:23.924" v="120" actId="1076"/>
        <pc:sldMkLst>
          <pc:docMk/>
          <pc:sldMk cId="3805655920" sldId="288"/>
        </pc:sldMkLst>
        <pc:spChg chg="mod">
          <ac:chgData name="Laura Patricia Galvan Chavez" userId="6b13af50-ce8b-483e-8fc4-f994efaf3289" providerId="ADAL" clId="{655D084B-7DF1-4C24-9447-417D7DC498B8}" dt="2026-06-29T19:32:23.924" v="120" actId="1076"/>
          <ac:spMkLst>
            <pc:docMk/>
            <pc:sldMk cId="3805655920" sldId="288"/>
            <ac:spMk id="4" creationId="{00000000-0000-0000-0000-000000000000}"/>
          </ac:spMkLst>
        </pc:spChg>
      </pc:sldChg>
      <pc:sldChg chg="modSp mod">
        <pc:chgData name="Laura Patricia Galvan Chavez" userId="6b13af50-ce8b-483e-8fc4-f994efaf3289" providerId="ADAL" clId="{655D084B-7DF1-4C24-9447-417D7DC498B8}" dt="2026-07-03T19:38:11.427" v="170" actId="1076"/>
        <pc:sldMkLst>
          <pc:docMk/>
          <pc:sldMk cId="110968613" sldId="300"/>
        </pc:sldMkLst>
        <pc:spChg chg="mod">
          <ac:chgData name="Laura Patricia Galvan Chavez" userId="6b13af50-ce8b-483e-8fc4-f994efaf3289" providerId="ADAL" clId="{655D084B-7DF1-4C24-9447-417D7DC498B8}" dt="2026-07-03T19:38:11.427" v="170" actId="1076"/>
          <ac:spMkLst>
            <pc:docMk/>
            <pc:sldMk cId="110968613" sldId="300"/>
            <ac:spMk id="7" creationId="{00000000-0000-0000-0000-000000000000}"/>
          </ac:spMkLst>
        </pc:spChg>
        <pc:graphicFrameChg chg="mod">
          <ac:chgData name="Laura Patricia Galvan Chavez" userId="6b13af50-ce8b-483e-8fc4-f994efaf3289" providerId="ADAL" clId="{655D084B-7DF1-4C24-9447-417D7DC498B8}" dt="2026-07-03T19:38:11.427" v="170" actId="1076"/>
          <ac:graphicFrameMkLst>
            <pc:docMk/>
            <pc:sldMk cId="110968613" sldId="300"/>
            <ac:graphicFrameMk id="9" creationId="{00000000-0000-0000-0000-000000000000}"/>
          </ac:graphicFrameMkLst>
        </pc:graphicFrameChg>
        <pc:cxnChg chg="mod">
          <ac:chgData name="Laura Patricia Galvan Chavez" userId="6b13af50-ce8b-483e-8fc4-f994efaf3289" providerId="ADAL" clId="{655D084B-7DF1-4C24-9447-417D7DC498B8}" dt="2026-07-03T19:38:11.427" v="170" actId="1076"/>
          <ac:cxnSpMkLst>
            <pc:docMk/>
            <pc:sldMk cId="110968613" sldId="300"/>
            <ac:cxnSpMk id="8" creationId="{00000000-0000-0000-0000-000000000000}"/>
          </ac:cxnSpMkLst>
        </pc:cxnChg>
      </pc:sldChg>
      <pc:sldChg chg="del">
        <pc:chgData name="Laura Patricia Galvan Chavez" userId="6b13af50-ce8b-483e-8fc4-f994efaf3289" providerId="ADAL" clId="{655D084B-7DF1-4C24-9447-417D7DC498B8}" dt="2026-07-03T19:32:20.515" v="152" actId="47"/>
        <pc:sldMkLst>
          <pc:docMk/>
          <pc:sldMk cId="0" sldId="301"/>
        </pc:sldMkLst>
      </pc:sldChg>
      <pc:sldChg chg="modSp mod">
        <pc:chgData name="Laura Patricia Galvan Chavez" userId="6b13af50-ce8b-483e-8fc4-f994efaf3289" providerId="ADAL" clId="{655D084B-7DF1-4C24-9447-417D7DC498B8}" dt="2026-06-29T19:32:07.650" v="118" actId="20577"/>
        <pc:sldMkLst>
          <pc:docMk/>
          <pc:sldMk cId="0" sldId="305"/>
        </pc:sldMkLst>
        <pc:spChg chg="mod">
          <ac:chgData name="Laura Patricia Galvan Chavez" userId="6b13af50-ce8b-483e-8fc4-f994efaf3289" providerId="ADAL" clId="{655D084B-7DF1-4C24-9447-417D7DC498B8}" dt="2026-06-29T19:32:07.650" v="118" actId="20577"/>
          <ac:spMkLst>
            <pc:docMk/>
            <pc:sldMk cId="0" sldId="305"/>
            <ac:spMk id="3" creationId="{00000000-0000-0000-0000-000000000000}"/>
          </ac:spMkLst>
        </pc:spChg>
      </pc:sldChg>
      <pc:sldChg chg="modSp mod">
        <pc:chgData name="Laura Patricia Galvan Chavez" userId="6b13af50-ce8b-483e-8fc4-f994efaf3289" providerId="ADAL" clId="{655D084B-7DF1-4C24-9447-417D7DC498B8}" dt="2026-07-03T19:28:11.259" v="136" actId="313"/>
        <pc:sldMkLst>
          <pc:docMk/>
          <pc:sldMk cId="0" sldId="306"/>
        </pc:sldMkLst>
        <pc:spChg chg="mod">
          <ac:chgData name="Laura Patricia Galvan Chavez" userId="6b13af50-ce8b-483e-8fc4-f994efaf3289" providerId="ADAL" clId="{655D084B-7DF1-4C24-9447-417D7DC498B8}" dt="2026-06-26T18:42:03.114" v="82" actId="20577"/>
          <ac:spMkLst>
            <pc:docMk/>
            <pc:sldMk cId="0" sldId="306"/>
            <ac:spMk id="67" creationId="{00000000-0000-0000-0000-000000000000}"/>
          </ac:spMkLst>
        </pc:spChg>
        <pc:graphicFrameChg chg="modGraphic">
          <ac:chgData name="Laura Patricia Galvan Chavez" userId="6b13af50-ce8b-483e-8fc4-f994efaf3289" providerId="ADAL" clId="{655D084B-7DF1-4C24-9447-417D7DC498B8}" dt="2026-07-03T19:28:11.259" v="136" actId="313"/>
          <ac:graphicFrameMkLst>
            <pc:docMk/>
            <pc:sldMk cId="0" sldId="306"/>
            <ac:graphicFrameMk id="70" creationId="{00000000-0000-0000-0000-000000000000}"/>
          </ac:graphicFrameMkLst>
        </pc:graphicFrameChg>
      </pc:sldChg>
    </pc:docChg>
  </pc:docChgLst>
  <pc:docChgLst>
    <pc:chgData name="Diana Lizbeth Tetzicatl Navarro" userId="107c7f69-3e79-4791-b4e3-6f668d949ed0" providerId="ADAL" clId="{110A36E0-6EE1-4B4C-B27B-C66899872E81}"/>
    <pc:docChg chg="undo custSel addSld delSld modSld">
      <pc:chgData name="Diana Lizbeth Tetzicatl Navarro" userId="107c7f69-3e79-4791-b4e3-6f668d949ed0" providerId="ADAL" clId="{110A36E0-6EE1-4B4C-B27B-C66899872E81}" dt="2026-06-29T19:39:57.973" v="1000" actId="20577"/>
      <pc:docMkLst>
        <pc:docMk/>
      </pc:docMkLst>
      <pc:sldChg chg="addSp delSp modSp mod">
        <pc:chgData name="Diana Lizbeth Tetzicatl Navarro" userId="107c7f69-3e79-4791-b4e3-6f668d949ed0" providerId="ADAL" clId="{110A36E0-6EE1-4B4C-B27B-C66899872E81}" dt="2026-06-25T23:25:04.902" v="288" actId="22"/>
        <pc:sldMkLst>
          <pc:docMk/>
          <pc:sldMk cId="0" sldId="256"/>
        </pc:sldMkLst>
        <pc:spChg chg="add">
          <ac:chgData name="Diana Lizbeth Tetzicatl Navarro" userId="107c7f69-3e79-4791-b4e3-6f668d949ed0" providerId="ADAL" clId="{110A36E0-6EE1-4B4C-B27B-C66899872E81}" dt="2026-06-25T23:23:21.043" v="278" actId="22"/>
          <ac:spMkLst>
            <pc:docMk/>
            <pc:sldMk cId="0" sldId="256"/>
            <ac:spMk id="3" creationId="{8F9FA679-83A6-3575-4574-7AC82E33AF13}"/>
          </ac:spMkLst>
        </pc:spChg>
        <pc:spChg chg="mod">
          <ac:chgData name="Diana Lizbeth Tetzicatl Navarro" userId="107c7f69-3e79-4791-b4e3-6f668d949ed0" providerId="ADAL" clId="{110A36E0-6EE1-4B4C-B27B-C66899872E81}" dt="2026-06-25T22:51:01.390" v="1" actId="20577"/>
          <ac:spMkLst>
            <pc:docMk/>
            <pc:sldMk cId="0" sldId="256"/>
            <ac:spMk id="70" creationId="{00000000-0000-0000-0000-000000000000}"/>
          </ac:spMkLst>
        </pc:spChg>
      </pc:sldChg>
      <pc:sldChg chg="modSp mod">
        <pc:chgData name="Diana Lizbeth Tetzicatl Navarro" userId="107c7f69-3e79-4791-b4e3-6f668d949ed0" providerId="ADAL" clId="{110A36E0-6EE1-4B4C-B27B-C66899872E81}" dt="2026-06-25T23:58:52.660" v="786" actId="1036"/>
        <pc:sldMkLst>
          <pc:docMk/>
          <pc:sldMk cId="0" sldId="258"/>
        </pc:sldMkLst>
        <pc:spChg chg="mod">
          <ac:chgData name="Diana Lizbeth Tetzicatl Navarro" userId="107c7f69-3e79-4791-b4e3-6f668d949ed0" providerId="ADAL" clId="{110A36E0-6EE1-4B4C-B27B-C66899872E81}" dt="2026-06-25T22:53:24.915" v="96" actId="1037"/>
          <ac:spMkLst>
            <pc:docMk/>
            <pc:sldMk cId="0" sldId="258"/>
            <ac:spMk id="116" creationId="{00000000-0000-0000-0000-000000000000}"/>
          </ac:spMkLst>
        </pc:spChg>
        <pc:spChg chg="mod">
          <ac:chgData name="Diana Lizbeth Tetzicatl Navarro" userId="107c7f69-3e79-4791-b4e3-6f668d949ed0" providerId="ADAL" clId="{110A36E0-6EE1-4B4C-B27B-C66899872E81}" dt="2026-06-25T22:53:13.656" v="73" actId="1076"/>
          <ac:spMkLst>
            <pc:docMk/>
            <pc:sldMk cId="0" sldId="258"/>
            <ac:spMk id="118" creationId="{00000000-0000-0000-0000-000000000000}"/>
          </ac:spMkLst>
        </pc:spChg>
        <pc:spChg chg="mod">
          <ac:chgData name="Diana Lizbeth Tetzicatl Navarro" userId="107c7f69-3e79-4791-b4e3-6f668d949ed0" providerId="ADAL" clId="{110A36E0-6EE1-4B4C-B27B-C66899872E81}" dt="2026-06-25T22:53:24.915" v="96" actId="1037"/>
          <ac:spMkLst>
            <pc:docMk/>
            <pc:sldMk cId="0" sldId="258"/>
            <ac:spMk id="120" creationId="{00000000-0000-0000-0000-000000000000}"/>
          </ac:spMkLst>
        </pc:spChg>
        <pc:spChg chg="mod">
          <ac:chgData name="Diana Lizbeth Tetzicatl Navarro" userId="107c7f69-3e79-4791-b4e3-6f668d949ed0" providerId="ADAL" clId="{110A36E0-6EE1-4B4C-B27B-C66899872E81}" dt="2026-06-25T22:53:24.915" v="96" actId="1037"/>
          <ac:spMkLst>
            <pc:docMk/>
            <pc:sldMk cId="0" sldId="258"/>
            <ac:spMk id="121" creationId="{00000000-0000-0000-0000-000000000000}"/>
          </ac:spMkLst>
        </pc:spChg>
        <pc:spChg chg="mod">
          <ac:chgData name="Diana Lizbeth Tetzicatl Navarro" userId="107c7f69-3e79-4791-b4e3-6f668d949ed0" providerId="ADAL" clId="{110A36E0-6EE1-4B4C-B27B-C66899872E81}" dt="2026-06-25T22:53:24.915" v="96" actId="1037"/>
          <ac:spMkLst>
            <pc:docMk/>
            <pc:sldMk cId="0" sldId="258"/>
            <ac:spMk id="123" creationId="{00000000-0000-0000-0000-000000000000}"/>
          </ac:spMkLst>
        </pc:spChg>
        <pc:spChg chg="mod">
          <ac:chgData name="Diana Lizbeth Tetzicatl Navarro" userId="107c7f69-3e79-4791-b4e3-6f668d949ed0" providerId="ADAL" clId="{110A36E0-6EE1-4B4C-B27B-C66899872E81}" dt="2026-06-25T22:53:34.419" v="97" actId="1076"/>
          <ac:spMkLst>
            <pc:docMk/>
            <pc:sldMk cId="0" sldId="258"/>
            <ac:spMk id="124" creationId="{00000000-0000-0000-0000-000000000000}"/>
          </ac:spMkLst>
        </pc:spChg>
        <pc:spChg chg="mod">
          <ac:chgData name="Diana Lizbeth Tetzicatl Navarro" userId="107c7f69-3e79-4791-b4e3-6f668d949ed0" providerId="ADAL" clId="{110A36E0-6EE1-4B4C-B27B-C66899872E81}" dt="2026-06-25T22:53:38.707" v="99" actId="1076"/>
          <ac:spMkLst>
            <pc:docMk/>
            <pc:sldMk cId="0" sldId="258"/>
            <ac:spMk id="126" creationId="{00000000-0000-0000-0000-000000000000}"/>
          </ac:spMkLst>
        </pc:spChg>
        <pc:spChg chg="mod">
          <ac:chgData name="Diana Lizbeth Tetzicatl Navarro" userId="107c7f69-3e79-4791-b4e3-6f668d949ed0" providerId="ADAL" clId="{110A36E0-6EE1-4B4C-B27B-C66899872E81}" dt="2026-06-25T23:58:40.662" v="754" actId="1036"/>
          <ac:spMkLst>
            <pc:docMk/>
            <pc:sldMk cId="0" sldId="258"/>
            <ac:spMk id="127" creationId="{00000000-0000-0000-0000-000000000000}"/>
          </ac:spMkLst>
        </pc:spChg>
        <pc:spChg chg="mod">
          <ac:chgData name="Diana Lizbeth Tetzicatl Navarro" userId="107c7f69-3e79-4791-b4e3-6f668d949ed0" providerId="ADAL" clId="{110A36E0-6EE1-4B4C-B27B-C66899872E81}" dt="2026-06-25T23:58:52.660" v="786" actId="1036"/>
          <ac:spMkLst>
            <pc:docMk/>
            <pc:sldMk cId="0" sldId="258"/>
            <ac:spMk id="129" creationId="{00000000-0000-0000-0000-000000000000}"/>
          </ac:spMkLst>
        </pc:spChg>
        <pc:spChg chg="mod">
          <ac:chgData name="Diana Lizbeth Tetzicatl Navarro" userId="107c7f69-3e79-4791-b4e3-6f668d949ed0" providerId="ADAL" clId="{110A36E0-6EE1-4B4C-B27B-C66899872E81}" dt="2026-06-25T22:53:24.915" v="96" actId="1037"/>
          <ac:spMkLst>
            <pc:docMk/>
            <pc:sldMk cId="0" sldId="258"/>
            <ac:spMk id="130" creationId="{00000000-0000-0000-0000-000000000000}"/>
          </ac:spMkLst>
        </pc:spChg>
        <pc:spChg chg="mod">
          <ac:chgData name="Diana Lizbeth Tetzicatl Navarro" userId="107c7f69-3e79-4791-b4e3-6f668d949ed0" providerId="ADAL" clId="{110A36E0-6EE1-4B4C-B27B-C66899872E81}" dt="2026-06-25T22:53:24.915" v="96" actId="1037"/>
          <ac:spMkLst>
            <pc:docMk/>
            <pc:sldMk cId="0" sldId="258"/>
            <ac:spMk id="132" creationId="{00000000-0000-0000-0000-000000000000}"/>
          </ac:spMkLst>
        </pc:spChg>
        <pc:spChg chg="mod">
          <ac:chgData name="Diana Lizbeth Tetzicatl Navarro" userId="107c7f69-3e79-4791-b4e3-6f668d949ed0" providerId="ADAL" clId="{110A36E0-6EE1-4B4C-B27B-C66899872E81}" dt="2026-06-25T22:53:24.915" v="96" actId="1037"/>
          <ac:spMkLst>
            <pc:docMk/>
            <pc:sldMk cId="0" sldId="258"/>
            <ac:spMk id="133" creationId="{00000000-0000-0000-0000-000000000000}"/>
          </ac:spMkLst>
        </pc:spChg>
        <pc:graphicFrameChg chg="mod">
          <ac:chgData name="Diana Lizbeth Tetzicatl Navarro" userId="107c7f69-3e79-4791-b4e3-6f668d949ed0" providerId="ADAL" clId="{110A36E0-6EE1-4B4C-B27B-C66899872E81}" dt="2026-06-25T22:51:31.190" v="4" actId="1076"/>
          <ac:graphicFrameMkLst>
            <pc:docMk/>
            <pc:sldMk cId="0" sldId="258"/>
            <ac:graphicFrameMk id="117" creationId="{00000000-0000-0000-0000-000000000000}"/>
          </ac:graphicFrameMkLst>
        </pc:graphicFrameChg>
        <pc:picChg chg="mod">
          <ac:chgData name="Diana Lizbeth Tetzicatl Navarro" userId="107c7f69-3e79-4791-b4e3-6f668d949ed0" providerId="ADAL" clId="{110A36E0-6EE1-4B4C-B27B-C66899872E81}" dt="2026-06-25T22:53:10.035" v="72" actId="1076"/>
          <ac:picMkLst>
            <pc:docMk/>
            <pc:sldMk cId="0" sldId="258"/>
            <ac:picMk id="119" creationId="{00000000-0000-0000-0000-000000000000}"/>
          </ac:picMkLst>
        </pc:picChg>
        <pc:picChg chg="mod">
          <ac:chgData name="Diana Lizbeth Tetzicatl Navarro" userId="107c7f69-3e79-4791-b4e3-6f668d949ed0" providerId="ADAL" clId="{110A36E0-6EE1-4B4C-B27B-C66899872E81}" dt="2026-06-25T22:53:00.620" v="69" actId="1076"/>
          <ac:picMkLst>
            <pc:docMk/>
            <pc:sldMk cId="0" sldId="258"/>
            <ac:picMk id="122" creationId="{00000000-0000-0000-0000-000000000000}"/>
          </ac:picMkLst>
        </pc:picChg>
        <pc:picChg chg="mod">
          <ac:chgData name="Diana Lizbeth Tetzicatl Navarro" userId="107c7f69-3e79-4791-b4e3-6f668d949ed0" providerId="ADAL" clId="{110A36E0-6EE1-4B4C-B27B-C66899872E81}" dt="2026-06-25T22:53:36.276" v="98" actId="1076"/>
          <ac:picMkLst>
            <pc:docMk/>
            <pc:sldMk cId="0" sldId="258"/>
            <ac:picMk id="125" creationId="{00000000-0000-0000-0000-000000000000}"/>
          </ac:picMkLst>
        </pc:picChg>
        <pc:picChg chg="mod">
          <ac:chgData name="Diana Lizbeth Tetzicatl Navarro" userId="107c7f69-3e79-4791-b4e3-6f668d949ed0" providerId="ADAL" clId="{110A36E0-6EE1-4B4C-B27B-C66899872E81}" dt="2026-06-25T23:58:46.672" v="773" actId="1037"/>
          <ac:picMkLst>
            <pc:docMk/>
            <pc:sldMk cId="0" sldId="258"/>
            <ac:picMk id="128" creationId="{00000000-0000-0000-0000-000000000000}"/>
          </ac:picMkLst>
        </pc:picChg>
        <pc:picChg chg="mod">
          <ac:chgData name="Diana Lizbeth Tetzicatl Navarro" userId="107c7f69-3e79-4791-b4e3-6f668d949ed0" providerId="ADAL" clId="{110A36E0-6EE1-4B4C-B27B-C66899872E81}" dt="2026-06-25T22:52:11.463" v="37" actId="1038"/>
          <ac:picMkLst>
            <pc:docMk/>
            <pc:sldMk cId="0" sldId="258"/>
            <ac:picMk id="131" creationId="{00000000-0000-0000-0000-000000000000}"/>
          </ac:picMkLst>
        </pc:picChg>
        <pc:cxnChg chg="mod">
          <ac:chgData name="Diana Lizbeth Tetzicatl Navarro" userId="107c7f69-3e79-4791-b4e3-6f668d949ed0" providerId="ADAL" clId="{110A36E0-6EE1-4B4C-B27B-C66899872E81}" dt="2026-06-25T22:52:00.392" v="12" actId="1076"/>
          <ac:cxnSpMkLst>
            <pc:docMk/>
            <pc:sldMk cId="0" sldId="258"/>
            <ac:cxnSpMk id="115" creationId="{00000000-0000-0000-0000-000000000000}"/>
          </ac:cxnSpMkLst>
        </pc:cxnChg>
      </pc:sldChg>
      <pc:sldChg chg="modSp mod">
        <pc:chgData name="Diana Lizbeth Tetzicatl Navarro" userId="107c7f69-3e79-4791-b4e3-6f668d949ed0" providerId="ADAL" clId="{110A36E0-6EE1-4B4C-B27B-C66899872E81}" dt="2026-06-29T18:11:41.606" v="967" actId="20577"/>
        <pc:sldMkLst>
          <pc:docMk/>
          <pc:sldMk cId="0" sldId="259"/>
        </pc:sldMkLst>
        <pc:graphicFrameChg chg="modGraphic">
          <ac:chgData name="Diana Lizbeth Tetzicatl Navarro" userId="107c7f69-3e79-4791-b4e3-6f668d949ed0" providerId="ADAL" clId="{110A36E0-6EE1-4B4C-B27B-C66899872E81}" dt="2026-06-29T18:11:41.606" v="967" actId="20577"/>
          <ac:graphicFrameMkLst>
            <pc:docMk/>
            <pc:sldMk cId="0" sldId="259"/>
            <ac:graphicFrameMk id="135" creationId="{00000000-0000-0000-0000-000000000000}"/>
          </ac:graphicFrameMkLst>
        </pc:graphicFrameChg>
      </pc:sldChg>
      <pc:sldChg chg="modSp mod">
        <pc:chgData name="Diana Lizbeth Tetzicatl Navarro" userId="107c7f69-3e79-4791-b4e3-6f668d949ed0" providerId="ADAL" clId="{110A36E0-6EE1-4B4C-B27B-C66899872E81}" dt="2026-06-25T22:55:05.200" v="120" actId="1035"/>
        <pc:sldMkLst>
          <pc:docMk/>
          <pc:sldMk cId="0" sldId="260"/>
        </pc:sldMkLst>
        <pc:graphicFrameChg chg="mod">
          <ac:chgData name="Diana Lizbeth Tetzicatl Navarro" userId="107c7f69-3e79-4791-b4e3-6f668d949ed0" providerId="ADAL" clId="{110A36E0-6EE1-4B4C-B27B-C66899872E81}" dt="2026-06-25T22:55:05.200" v="120" actId="1035"/>
          <ac:graphicFrameMkLst>
            <pc:docMk/>
            <pc:sldMk cId="0" sldId="260"/>
            <ac:graphicFrameMk id="12" creationId="{00000000-0000-0000-0000-000000000000}"/>
          </ac:graphicFrameMkLst>
        </pc:graphicFrameChg>
        <pc:picChg chg="mod">
          <ac:chgData name="Diana Lizbeth Tetzicatl Navarro" userId="107c7f69-3e79-4791-b4e3-6f668d949ed0" providerId="ADAL" clId="{110A36E0-6EE1-4B4C-B27B-C66899872E81}" dt="2026-06-25T22:55:05.200" v="120" actId="1035"/>
          <ac:picMkLst>
            <pc:docMk/>
            <pc:sldMk cId="0" sldId="260"/>
            <ac:picMk id="11" creationId="{00000000-0000-0000-0000-000000000000}"/>
          </ac:picMkLst>
        </pc:picChg>
      </pc:sldChg>
      <pc:sldChg chg="modSp mod">
        <pc:chgData name="Diana Lizbeth Tetzicatl Navarro" userId="107c7f69-3e79-4791-b4e3-6f668d949ed0" providerId="ADAL" clId="{110A36E0-6EE1-4B4C-B27B-C66899872E81}" dt="2026-06-29T19:39:57.973" v="1000" actId="20577"/>
        <pc:sldMkLst>
          <pc:docMk/>
          <pc:sldMk cId="0" sldId="261"/>
        </pc:sldMkLst>
        <pc:graphicFrameChg chg="modGraphic">
          <ac:chgData name="Diana Lizbeth Tetzicatl Navarro" userId="107c7f69-3e79-4791-b4e3-6f668d949ed0" providerId="ADAL" clId="{110A36E0-6EE1-4B4C-B27B-C66899872E81}" dt="2026-06-29T19:39:57.973" v="1000" actId="20577"/>
          <ac:graphicFrameMkLst>
            <pc:docMk/>
            <pc:sldMk cId="0" sldId="261"/>
            <ac:graphicFrameMk id="154" creationId="{00000000-0000-0000-0000-000000000000}"/>
          </ac:graphicFrameMkLst>
        </pc:graphicFrameChg>
      </pc:sldChg>
      <pc:sldChg chg="modSp mod">
        <pc:chgData name="Diana Lizbeth Tetzicatl Navarro" userId="107c7f69-3e79-4791-b4e3-6f668d949ed0" providerId="ADAL" clId="{110A36E0-6EE1-4B4C-B27B-C66899872E81}" dt="2026-06-25T23:14:08.867" v="129" actId="255"/>
        <pc:sldMkLst>
          <pc:docMk/>
          <pc:sldMk cId="0" sldId="262"/>
        </pc:sldMkLst>
        <pc:spChg chg="mod">
          <ac:chgData name="Diana Lizbeth Tetzicatl Navarro" userId="107c7f69-3e79-4791-b4e3-6f668d949ed0" providerId="ADAL" clId="{110A36E0-6EE1-4B4C-B27B-C66899872E81}" dt="2026-06-25T23:13:37.705" v="124" actId="255"/>
          <ac:spMkLst>
            <pc:docMk/>
            <pc:sldMk cId="0" sldId="262"/>
            <ac:spMk id="10" creationId="{00000000-0000-0000-0000-000000000000}"/>
          </ac:spMkLst>
        </pc:spChg>
        <pc:spChg chg="mod">
          <ac:chgData name="Diana Lizbeth Tetzicatl Navarro" userId="107c7f69-3e79-4791-b4e3-6f668d949ed0" providerId="ADAL" clId="{110A36E0-6EE1-4B4C-B27B-C66899872E81}" dt="2026-06-25T23:13:43.364" v="125" actId="1076"/>
          <ac:spMkLst>
            <pc:docMk/>
            <pc:sldMk cId="0" sldId="262"/>
            <ac:spMk id="11" creationId="{00000000-0000-0000-0000-000000000000}"/>
          </ac:spMkLst>
        </pc:spChg>
        <pc:spChg chg="mod">
          <ac:chgData name="Diana Lizbeth Tetzicatl Navarro" userId="107c7f69-3e79-4791-b4e3-6f668d949ed0" providerId="ADAL" clId="{110A36E0-6EE1-4B4C-B27B-C66899872E81}" dt="2026-06-25T23:14:08.867" v="129" actId="255"/>
          <ac:spMkLst>
            <pc:docMk/>
            <pc:sldMk cId="0" sldId="262"/>
            <ac:spMk id="12" creationId="{00000000-0000-0000-0000-000000000000}"/>
          </ac:spMkLst>
        </pc:spChg>
        <pc:graphicFrameChg chg="mod">
          <ac:chgData name="Diana Lizbeth Tetzicatl Navarro" userId="107c7f69-3e79-4791-b4e3-6f668d949ed0" providerId="ADAL" clId="{110A36E0-6EE1-4B4C-B27B-C66899872E81}" dt="2026-06-25T23:13:31.379" v="122" actId="14100"/>
          <ac:graphicFrameMkLst>
            <pc:docMk/>
            <pc:sldMk cId="0" sldId="262"/>
            <ac:graphicFrameMk id="9" creationId="{00000000-0000-0000-0000-000000000000}"/>
          </ac:graphicFrameMkLst>
        </pc:graphicFrameChg>
      </pc:sldChg>
      <pc:sldChg chg="modSp mod">
        <pc:chgData name="Diana Lizbeth Tetzicatl Navarro" userId="107c7f69-3e79-4791-b4e3-6f668d949ed0" providerId="ADAL" clId="{110A36E0-6EE1-4B4C-B27B-C66899872E81}" dt="2026-06-25T23:14:21.610" v="142" actId="1036"/>
        <pc:sldMkLst>
          <pc:docMk/>
          <pc:sldMk cId="0" sldId="263"/>
        </pc:sldMkLst>
        <pc:spChg chg="mod">
          <ac:chgData name="Diana Lizbeth Tetzicatl Navarro" userId="107c7f69-3e79-4791-b4e3-6f668d949ed0" providerId="ADAL" clId="{110A36E0-6EE1-4B4C-B27B-C66899872E81}" dt="2026-06-25T23:14:21.610" v="142" actId="1036"/>
          <ac:spMkLst>
            <pc:docMk/>
            <pc:sldMk cId="0" sldId="263"/>
            <ac:spMk id="321" creationId="{00000000-0000-0000-0000-000000000000}"/>
          </ac:spMkLst>
        </pc:spChg>
        <pc:graphicFrameChg chg="mod">
          <ac:chgData name="Diana Lizbeth Tetzicatl Navarro" userId="107c7f69-3e79-4791-b4e3-6f668d949ed0" providerId="ADAL" clId="{110A36E0-6EE1-4B4C-B27B-C66899872E81}" dt="2026-06-25T23:14:21.610" v="142" actId="1036"/>
          <ac:graphicFrameMkLst>
            <pc:docMk/>
            <pc:sldMk cId="0" sldId="263"/>
            <ac:graphicFrameMk id="325" creationId="{00000000-0000-0000-0000-000000000000}"/>
          </ac:graphicFrameMkLst>
        </pc:graphicFrameChg>
      </pc:sldChg>
      <pc:sldChg chg="modSp mod">
        <pc:chgData name="Diana Lizbeth Tetzicatl Navarro" userId="107c7f69-3e79-4791-b4e3-6f668d949ed0" providerId="ADAL" clId="{110A36E0-6EE1-4B4C-B27B-C66899872E81}" dt="2026-06-25T23:50:31.133" v="340" actId="207"/>
        <pc:sldMkLst>
          <pc:docMk/>
          <pc:sldMk cId="0" sldId="270"/>
        </pc:sldMkLst>
        <pc:spChg chg="mod">
          <ac:chgData name="Diana Lizbeth Tetzicatl Navarro" userId="107c7f69-3e79-4791-b4e3-6f668d949ed0" providerId="ADAL" clId="{110A36E0-6EE1-4B4C-B27B-C66899872E81}" dt="2026-06-25T23:50:31.133" v="340" actId="207"/>
          <ac:spMkLst>
            <pc:docMk/>
            <pc:sldMk cId="0" sldId="270"/>
            <ac:spMk id="323" creationId="{00000000-0000-0000-0000-000000000000}"/>
          </ac:spMkLst>
        </pc:spChg>
      </pc:sldChg>
      <pc:sldChg chg="modSp mod">
        <pc:chgData name="Diana Lizbeth Tetzicatl Navarro" userId="107c7f69-3e79-4791-b4e3-6f668d949ed0" providerId="ADAL" clId="{110A36E0-6EE1-4B4C-B27B-C66899872E81}" dt="2026-06-25T23:16:53.524" v="207" actId="1035"/>
        <pc:sldMkLst>
          <pc:docMk/>
          <pc:sldMk cId="0" sldId="271"/>
        </pc:sldMkLst>
        <pc:spChg chg="mod">
          <ac:chgData name="Diana Lizbeth Tetzicatl Navarro" userId="107c7f69-3e79-4791-b4e3-6f668d949ed0" providerId="ADAL" clId="{110A36E0-6EE1-4B4C-B27B-C66899872E81}" dt="2026-06-25T23:16:53.524" v="207" actId="1035"/>
          <ac:spMkLst>
            <pc:docMk/>
            <pc:sldMk cId="0" sldId="271"/>
            <ac:spMk id="345" creationId="{00000000-0000-0000-0000-000000000000}"/>
          </ac:spMkLst>
        </pc:spChg>
      </pc:sldChg>
      <pc:sldChg chg="modSp mod">
        <pc:chgData name="Diana Lizbeth Tetzicatl Navarro" userId="107c7f69-3e79-4791-b4e3-6f668d949ed0" providerId="ADAL" clId="{110A36E0-6EE1-4B4C-B27B-C66899872E81}" dt="2026-06-25T23:53:55.323" v="506" actId="1036"/>
        <pc:sldMkLst>
          <pc:docMk/>
          <pc:sldMk cId="0" sldId="277"/>
        </pc:sldMkLst>
        <pc:spChg chg="mod">
          <ac:chgData name="Diana Lizbeth Tetzicatl Navarro" userId="107c7f69-3e79-4791-b4e3-6f668d949ed0" providerId="ADAL" clId="{110A36E0-6EE1-4B4C-B27B-C66899872E81}" dt="2026-06-25T23:53:20.305" v="418" actId="1035"/>
          <ac:spMkLst>
            <pc:docMk/>
            <pc:sldMk cId="0" sldId="277"/>
            <ac:spMk id="460" creationId="{00000000-0000-0000-0000-000000000000}"/>
          </ac:spMkLst>
        </pc:spChg>
        <pc:graphicFrameChg chg="mod">
          <ac:chgData name="Diana Lizbeth Tetzicatl Navarro" userId="107c7f69-3e79-4791-b4e3-6f668d949ed0" providerId="ADAL" clId="{110A36E0-6EE1-4B4C-B27B-C66899872E81}" dt="2026-06-25T23:53:20.305" v="418" actId="1035"/>
          <ac:graphicFrameMkLst>
            <pc:docMk/>
            <pc:sldMk cId="0" sldId="277"/>
            <ac:graphicFrameMk id="457" creationId="{00000000-0000-0000-0000-000000000000}"/>
          </ac:graphicFrameMkLst>
        </pc:graphicFrameChg>
        <pc:graphicFrameChg chg="mod">
          <ac:chgData name="Diana Lizbeth Tetzicatl Navarro" userId="107c7f69-3e79-4791-b4e3-6f668d949ed0" providerId="ADAL" clId="{110A36E0-6EE1-4B4C-B27B-C66899872E81}" dt="2026-06-25T23:53:20.305" v="418" actId="1035"/>
          <ac:graphicFrameMkLst>
            <pc:docMk/>
            <pc:sldMk cId="0" sldId="277"/>
            <ac:graphicFrameMk id="467" creationId="{00000000-0000-0000-0000-000000000000}"/>
          </ac:graphicFrameMkLst>
        </pc:graphicFrameChg>
        <pc:graphicFrameChg chg="mod modGraphic">
          <ac:chgData name="Diana Lizbeth Tetzicatl Navarro" userId="107c7f69-3e79-4791-b4e3-6f668d949ed0" providerId="ADAL" clId="{110A36E0-6EE1-4B4C-B27B-C66899872E81}" dt="2026-06-25T23:53:42.176" v="448" actId="14100"/>
          <ac:graphicFrameMkLst>
            <pc:docMk/>
            <pc:sldMk cId="0" sldId="277"/>
            <ac:graphicFrameMk id="468" creationId="{00000000-0000-0000-0000-000000000000}"/>
          </ac:graphicFrameMkLst>
        </pc:graphicFrameChg>
        <pc:graphicFrameChg chg="mod">
          <ac:chgData name="Diana Lizbeth Tetzicatl Navarro" userId="107c7f69-3e79-4791-b4e3-6f668d949ed0" providerId="ADAL" clId="{110A36E0-6EE1-4B4C-B27B-C66899872E81}" dt="2026-06-25T23:53:46.656" v="466" actId="1035"/>
          <ac:graphicFrameMkLst>
            <pc:docMk/>
            <pc:sldMk cId="0" sldId="277"/>
            <ac:graphicFrameMk id="469" creationId="{00000000-0000-0000-0000-000000000000}"/>
          </ac:graphicFrameMkLst>
        </pc:graphicFrameChg>
        <pc:picChg chg="mod">
          <ac:chgData name="Diana Lizbeth Tetzicatl Navarro" userId="107c7f69-3e79-4791-b4e3-6f668d949ed0" providerId="ADAL" clId="{110A36E0-6EE1-4B4C-B27B-C66899872E81}" dt="2026-06-25T23:53:20.305" v="418" actId="1035"/>
          <ac:picMkLst>
            <pc:docMk/>
            <pc:sldMk cId="0" sldId="277"/>
            <ac:picMk id="458" creationId="{00000000-0000-0000-0000-000000000000}"/>
          </ac:picMkLst>
        </pc:picChg>
        <pc:picChg chg="mod">
          <ac:chgData name="Diana Lizbeth Tetzicatl Navarro" userId="107c7f69-3e79-4791-b4e3-6f668d949ed0" providerId="ADAL" clId="{110A36E0-6EE1-4B4C-B27B-C66899872E81}" dt="2026-06-25T23:53:20.305" v="418" actId="1035"/>
          <ac:picMkLst>
            <pc:docMk/>
            <pc:sldMk cId="0" sldId="277"/>
            <ac:picMk id="459" creationId="{00000000-0000-0000-0000-000000000000}"/>
          </ac:picMkLst>
        </pc:picChg>
        <pc:picChg chg="mod">
          <ac:chgData name="Diana Lizbeth Tetzicatl Navarro" userId="107c7f69-3e79-4791-b4e3-6f668d949ed0" providerId="ADAL" clId="{110A36E0-6EE1-4B4C-B27B-C66899872E81}" dt="2026-06-25T23:53:55.323" v="506" actId="1036"/>
          <ac:picMkLst>
            <pc:docMk/>
            <pc:sldMk cId="0" sldId="277"/>
            <ac:picMk id="470" creationId="{00000000-0000-0000-0000-000000000000}"/>
          </ac:picMkLst>
        </pc:picChg>
      </pc:sldChg>
      <pc:sldChg chg="modSp mod">
        <pc:chgData name="Diana Lizbeth Tetzicatl Navarro" userId="107c7f69-3e79-4791-b4e3-6f668d949ed0" providerId="ADAL" clId="{110A36E0-6EE1-4B4C-B27B-C66899872E81}" dt="2026-06-25T23:54:50.186" v="541" actId="1037"/>
        <pc:sldMkLst>
          <pc:docMk/>
          <pc:sldMk cId="0" sldId="282"/>
        </pc:sldMkLst>
        <pc:spChg chg="mod">
          <ac:chgData name="Diana Lizbeth Tetzicatl Navarro" userId="107c7f69-3e79-4791-b4e3-6f668d949ed0" providerId="ADAL" clId="{110A36E0-6EE1-4B4C-B27B-C66899872E81}" dt="2026-06-25T23:54:24.462" v="524" actId="1036"/>
          <ac:spMkLst>
            <pc:docMk/>
            <pc:sldMk cId="0" sldId="282"/>
            <ac:spMk id="531" creationId="{00000000-0000-0000-0000-000000000000}"/>
          </ac:spMkLst>
        </pc:spChg>
        <pc:spChg chg="mod">
          <ac:chgData name="Diana Lizbeth Tetzicatl Navarro" userId="107c7f69-3e79-4791-b4e3-6f668d949ed0" providerId="ADAL" clId="{110A36E0-6EE1-4B4C-B27B-C66899872E81}" dt="2026-06-25T23:54:50.186" v="541" actId="1037"/>
          <ac:spMkLst>
            <pc:docMk/>
            <pc:sldMk cId="0" sldId="282"/>
            <ac:spMk id="537" creationId="{00000000-0000-0000-0000-000000000000}"/>
          </ac:spMkLst>
        </pc:spChg>
        <pc:spChg chg="mod">
          <ac:chgData name="Diana Lizbeth Tetzicatl Navarro" userId="107c7f69-3e79-4791-b4e3-6f668d949ed0" providerId="ADAL" clId="{110A36E0-6EE1-4B4C-B27B-C66899872E81}" dt="2026-06-25T23:54:50.186" v="541" actId="1037"/>
          <ac:spMkLst>
            <pc:docMk/>
            <pc:sldMk cId="0" sldId="282"/>
            <ac:spMk id="539" creationId="{00000000-0000-0000-0000-000000000000}"/>
          </ac:spMkLst>
        </pc:spChg>
        <pc:spChg chg="mod">
          <ac:chgData name="Diana Lizbeth Tetzicatl Navarro" userId="107c7f69-3e79-4791-b4e3-6f668d949ed0" providerId="ADAL" clId="{110A36E0-6EE1-4B4C-B27B-C66899872E81}" dt="2026-06-25T23:54:50.186" v="541" actId="1037"/>
          <ac:spMkLst>
            <pc:docMk/>
            <pc:sldMk cId="0" sldId="282"/>
            <ac:spMk id="540" creationId="{00000000-0000-0000-0000-000000000000}"/>
          </ac:spMkLst>
        </pc:spChg>
        <pc:spChg chg="mod">
          <ac:chgData name="Diana Lizbeth Tetzicatl Navarro" userId="107c7f69-3e79-4791-b4e3-6f668d949ed0" providerId="ADAL" clId="{110A36E0-6EE1-4B4C-B27B-C66899872E81}" dt="2026-06-25T23:54:50.186" v="541" actId="1037"/>
          <ac:spMkLst>
            <pc:docMk/>
            <pc:sldMk cId="0" sldId="282"/>
            <ac:spMk id="542" creationId="{00000000-0000-0000-0000-000000000000}"/>
          </ac:spMkLst>
        </pc:spChg>
        <pc:spChg chg="mod">
          <ac:chgData name="Diana Lizbeth Tetzicatl Navarro" userId="107c7f69-3e79-4791-b4e3-6f668d949ed0" providerId="ADAL" clId="{110A36E0-6EE1-4B4C-B27B-C66899872E81}" dt="2026-06-25T23:54:50.186" v="541" actId="1037"/>
          <ac:spMkLst>
            <pc:docMk/>
            <pc:sldMk cId="0" sldId="282"/>
            <ac:spMk id="544" creationId="{00000000-0000-0000-0000-000000000000}"/>
          </ac:spMkLst>
        </pc:spChg>
        <pc:spChg chg="mod">
          <ac:chgData name="Diana Lizbeth Tetzicatl Navarro" userId="107c7f69-3e79-4791-b4e3-6f668d949ed0" providerId="ADAL" clId="{110A36E0-6EE1-4B4C-B27B-C66899872E81}" dt="2026-06-25T23:54:50.186" v="541" actId="1037"/>
          <ac:spMkLst>
            <pc:docMk/>
            <pc:sldMk cId="0" sldId="282"/>
            <ac:spMk id="545" creationId="{00000000-0000-0000-0000-000000000000}"/>
          </ac:spMkLst>
        </pc:spChg>
        <pc:spChg chg="mod">
          <ac:chgData name="Diana Lizbeth Tetzicatl Navarro" userId="107c7f69-3e79-4791-b4e3-6f668d949ed0" providerId="ADAL" clId="{110A36E0-6EE1-4B4C-B27B-C66899872E81}" dt="2026-06-25T23:54:42.633" v="535" actId="1037"/>
          <ac:spMkLst>
            <pc:docMk/>
            <pc:sldMk cId="0" sldId="282"/>
            <ac:spMk id="546" creationId="{00000000-0000-0000-0000-000000000000}"/>
          </ac:spMkLst>
        </pc:spChg>
        <pc:spChg chg="mod">
          <ac:chgData name="Diana Lizbeth Tetzicatl Navarro" userId="107c7f69-3e79-4791-b4e3-6f668d949ed0" providerId="ADAL" clId="{110A36E0-6EE1-4B4C-B27B-C66899872E81}" dt="2026-06-25T23:54:42.633" v="535" actId="1037"/>
          <ac:spMkLst>
            <pc:docMk/>
            <pc:sldMk cId="0" sldId="282"/>
            <ac:spMk id="547" creationId="{00000000-0000-0000-0000-000000000000}"/>
          </ac:spMkLst>
        </pc:spChg>
        <pc:spChg chg="mod">
          <ac:chgData name="Diana Lizbeth Tetzicatl Navarro" userId="107c7f69-3e79-4791-b4e3-6f668d949ed0" providerId="ADAL" clId="{110A36E0-6EE1-4B4C-B27B-C66899872E81}" dt="2026-06-25T23:54:42.633" v="535" actId="1037"/>
          <ac:spMkLst>
            <pc:docMk/>
            <pc:sldMk cId="0" sldId="282"/>
            <ac:spMk id="548" creationId="{00000000-0000-0000-0000-000000000000}"/>
          </ac:spMkLst>
        </pc:spChg>
        <pc:spChg chg="mod">
          <ac:chgData name="Diana Lizbeth Tetzicatl Navarro" userId="107c7f69-3e79-4791-b4e3-6f668d949ed0" providerId="ADAL" clId="{110A36E0-6EE1-4B4C-B27B-C66899872E81}" dt="2026-06-25T23:54:42.633" v="535" actId="1037"/>
          <ac:spMkLst>
            <pc:docMk/>
            <pc:sldMk cId="0" sldId="282"/>
            <ac:spMk id="549" creationId="{00000000-0000-0000-0000-000000000000}"/>
          </ac:spMkLst>
        </pc:spChg>
        <pc:graphicFrameChg chg="mod">
          <ac:chgData name="Diana Lizbeth Tetzicatl Navarro" userId="107c7f69-3e79-4791-b4e3-6f668d949ed0" providerId="ADAL" clId="{110A36E0-6EE1-4B4C-B27B-C66899872E81}" dt="2026-06-25T23:54:42.633" v="535" actId="1037"/>
          <ac:graphicFrameMkLst>
            <pc:docMk/>
            <pc:sldMk cId="0" sldId="282"/>
            <ac:graphicFrameMk id="512" creationId="{00000000-0000-0000-0000-000000000000}"/>
          </ac:graphicFrameMkLst>
        </pc:graphicFrameChg>
        <pc:graphicFrameChg chg="mod">
          <ac:chgData name="Diana Lizbeth Tetzicatl Navarro" userId="107c7f69-3e79-4791-b4e3-6f668d949ed0" providerId="ADAL" clId="{110A36E0-6EE1-4B4C-B27B-C66899872E81}" dt="2026-06-25T23:54:24.462" v="524" actId="1036"/>
          <ac:graphicFrameMkLst>
            <pc:docMk/>
            <pc:sldMk cId="0" sldId="282"/>
            <ac:graphicFrameMk id="518" creationId="{00000000-0000-0000-0000-000000000000}"/>
          </ac:graphicFrameMkLst>
        </pc:graphicFrameChg>
        <pc:graphicFrameChg chg="mod">
          <ac:chgData name="Diana Lizbeth Tetzicatl Navarro" userId="107c7f69-3e79-4791-b4e3-6f668d949ed0" providerId="ADAL" clId="{110A36E0-6EE1-4B4C-B27B-C66899872E81}" dt="2026-06-25T23:54:16.890" v="516" actId="1036"/>
          <ac:graphicFrameMkLst>
            <pc:docMk/>
            <pc:sldMk cId="0" sldId="282"/>
            <ac:graphicFrameMk id="521" creationId="{00000000-0000-0000-0000-000000000000}"/>
          </ac:graphicFrameMkLst>
        </pc:graphicFrameChg>
        <pc:graphicFrameChg chg="mod">
          <ac:chgData name="Diana Lizbeth Tetzicatl Navarro" userId="107c7f69-3e79-4791-b4e3-6f668d949ed0" providerId="ADAL" clId="{110A36E0-6EE1-4B4C-B27B-C66899872E81}" dt="2026-06-25T23:54:50.186" v="541" actId="1037"/>
          <ac:graphicFrameMkLst>
            <pc:docMk/>
            <pc:sldMk cId="0" sldId="282"/>
            <ac:graphicFrameMk id="523" creationId="{00000000-0000-0000-0000-000000000000}"/>
          </ac:graphicFrameMkLst>
        </pc:graphicFrameChg>
        <pc:graphicFrameChg chg="mod">
          <ac:chgData name="Diana Lizbeth Tetzicatl Navarro" userId="107c7f69-3e79-4791-b4e3-6f668d949ed0" providerId="ADAL" clId="{110A36E0-6EE1-4B4C-B27B-C66899872E81}" dt="2026-06-25T23:54:42.633" v="535" actId="1037"/>
          <ac:graphicFrameMkLst>
            <pc:docMk/>
            <pc:sldMk cId="0" sldId="282"/>
            <ac:graphicFrameMk id="534" creationId="{00000000-0000-0000-0000-000000000000}"/>
          </ac:graphicFrameMkLst>
        </pc:graphicFrameChg>
        <pc:graphicFrameChg chg="mod">
          <ac:chgData name="Diana Lizbeth Tetzicatl Navarro" userId="107c7f69-3e79-4791-b4e3-6f668d949ed0" providerId="ADAL" clId="{110A36E0-6EE1-4B4C-B27B-C66899872E81}" dt="2026-06-25T23:54:24.462" v="524" actId="1036"/>
          <ac:graphicFrameMkLst>
            <pc:docMk/>
            <pc:sldMk cId="0" sldId="282"/>
            <ac:graphicFrameMk id="535" creationId="{00000000-0000-0000-0000-000000000000}"/>
          </ac:graphicFrameMkLst>
        </pc:graphicFrameChg>
        <pc:graphicFrameChg chg="mod">
          <ac:chgData name="Diana Lizbeth Tetzicatl Navarro" userId="107c7f69-3e79-4791-b4e3-6f668d949ed0" providerId="ADAL" clId="{110A36E0-6EE1-4B4C-B27B-C66899872E81}" dt="2026-06-25T23:54:16.890" v="516" actId="1036"/>
          <ac:graphicFrameMkLst>
            <pc:docMk/>
            <pc:sldMk cId="0" sldId="282"/>
            <ac:graphicFrameMk id="536" creationId="{00000000-0000-0000-0000-000000000000}"/>
          </ac:graphicFrameMkLst>
        </pc:graphicFrameChg>
        <pc:cxnChg chg="mod">
          <ac:chgData name="Diana Lizbeth Tetzicatl Navarro" userId="107c7f69-3e79-4791-b4e3-6f668d949ed0" providerId="ADAL" clId="{110A36E0-6EE1-4B4C-B27B-C66899872E81}" dt="2026-06-25T23:54:50.186" v="541" actId="1037"/>
          <ac:cxnSpMkLst>
            <pc:docMk/>
            <pc:sldMk cId="0" sldId="282"/>
            <ac:cxnSpMk id="529" creationId="{00000000-0000-0000-0000-000000000000}"/>
          </ac:cxnSpMkLst>
        </pc:cxnChg>
        <pc:cxnChg chg="mod">
          <ac:chgData name="Diana Lizbeth Tetzicatl Navarro" userId="107c7f69-3e79-4791-b4e3-6f668d949ed0" providerId="ADAL" clId="{110A36E0-6EE1-4B4C-B27B-C66899872E81}" dt="2026-06-25T23:54:50.186" v="541" actId="1037"/>
          <ac:cxnSpMkLst>
            <pc:docMk/>
            <pc:sldMk cId="0" sldId="282"/>
            <ac:cxnSpMk id="538" creationId="{00000000-0000-0000-0000-000000000000}"/>
          </ac:cxnSpMkLst>
        </pc:cxnChg>
        <pc:cxnChg chg="mod">
          <ac:chgData name="Diana Lizbeth Tetzicatl Navarro" userId="107c7f69-3e79-4791-b4e3-6f668d949ed0" providerId="ADAL" clId="{110A36E0-6EE1-4B4C-B27B-C66899872E81}" dt="2026-06-25T23:54:50.186" v="541" actId="1037"/>
          <ac:cxnSpMkLst>
            <pc:docMk/>
            <pc:sldMk cId="0" sldId="282"/>
            <ac:cxnSpMk id="543" creationId="{00000000-0000-0000-0000-000000000000}"/>
          </ac:cxnSpMkLst>
        </pc:cxnChg>
      </pc:sldChg>
      <pc:sldChg chg="addSp modSp mod">
        <pc:chgData name="Diana Lizbeth Tetzicatl Navarro" userId="107c7f69-3e79-4791-b4e3-6f668d949ed0" providerId="ADAL" clId="{110A36E0-6EE1-4B4C-B27B-C66899872E81}" dt="2026-06-25T23:56:05.947" v="667"/>
        <pc:sldMkLst>
          <pc:docMk/>
          <pc:sldMk cId="364733940" sldId="284"/>
        </pc:sldMkLst>
        <pc:spChg chg="mod">
          <ac:chgData name="Diana Lizbeth Tetzicatl Navarro" userId="107c7f69-3e79-4791-b4e3-6f668d949ed0" providerId="ADAL" clId="{110A36E0-6EE1-4B4C-B27B-C66899872E81}" dt="2026-06-25T23:20:08.365" v="277" actId="1036"/>
          <ac:spMkLst>
            <pc:docMk/>
            <pc:sldMk cId="364733940" sldId="284"/>
            <ac:spMk id="6" creationId="{4578A0AA-9DC1-3453-263A-76BE5A8BE282}"/>
          </ac:spMkLst>
        </pc:spChg>
        <pc:spChg chg="add mod">
          <ac:chgData name="Diana Lizbeth Tetzicatl Navarro" userId="107c7f69-3e79-4791-b4e3-6f668d949ed0" providerId="ADAL" clId="{110A36E0-6EE1-4B4C-B27B-C66899872E81}" dt="2026-06-25T23:56:02.884" v="666" actId="1035"/>
          <ac:spMkLst>
            <pc:docMk/>
            <pc:sldMk cId="364733940" sldId="284"/>
            <ac:spMk id="14" creationId="{99FD54A4-EC6D-9895-D74D-216D1EF1D5BB}"/>
          </ac:spMkLst>
        </pc:spChg>
        <pc:spChg chg="add mod">
          <ac:chgData name="Diana Lizbeth Tetzicatl Navarro" userId="107c7f69-3e79-4791-b4e3-6f668d949ed0" providerId="ADAL" clId="{110A36E0-6EE1-4B4C-B27B-C66899872E81}" dt="2026-06-25T23:56:02.884" v="666" actId="1035"/>
          <ac:spMkLst>
            <pc:docMk/>
            <pc:sldMk cId="364733940" sldId="284"/>
            <ac:spMk id="15" creationId="{B8C3E738-3589-2B5B-8A57-0756D025BDAE}"/>
          </ac:spMkLst>
        </pc:spChg>
        <pc:spChg chg="add mod">
          <ac:chgData name="Diana Lizbeth Tetzicatl Navarro" userId="107c7f69-3e79-4791-b4e3-6f668d949ed0" providerId="ADAL" clId="{110A36E0-6EE1-4B4C-B27B-C66899872E81}" dt="2026-06-25T23:56:02.884" v="666" actId="1035"/>
          <ac:spMkLst>
            <pc:docMk/>
            <pc:sldMk cId="364733940" sldId="284"/>
            <ac:spMk id="16" creationId="{E7DBB6EE-4D53-7C0B-5D02-13F45EC01FCF}"/>
          </ac:spMkLst>
        </pc:spChg>
        <pc:spChg chg="add mod">
          <ac:chgData name="Diana Lizbeth Tetzicatl Navarro" userId="107c7f69-3e79-4791-b4e3-6f668d949ed0" providerId="ADAL" clId="{110A36E0-6EE1-4B4C-B27B-C66899872E81}" dt="2026-06-25T23:56:02.884" v="666" actId="1035"/>
          <ac:spMkLst>
            <pc:docMk/>
            <pc:sldMk cId="364733940" sldId="284"/>
            <ac:spMk id="17" creationId="{C6CB86DE-8C57-74D9-AEBA-C92C358A92CE}"/>
          </ac:spMkLst>
        </pc:spChg>
        <pc:spChg chg="add mod">
          <ac:chgData name="Diana Lizbeth Tetzicatl Navarro" userId="107c7f69-3e79-4791-b4e3-6f668d949ed0" providerId="ADAL" clId="{110A36E0-6EE1-4B4C-B27B-C66899872E81}" dt="2026-06-25T23:56:02.884" v="666" actId="1035"/>
          <ac:spMkLst>
            <pc:docMk/>
            <pc:sldMk cId="364733940" sldId="284"/>
            <ac:spMk id="18" creationId="{0884666F-68BB-A655-6716-60C5B0E2221A}"/>
          </ac:spMkLst>
        </pc:spChg>
        <pc:spChg chg="add mod">
          <ac:chgData name="Diana Lizbeth Tetzicatl Navarro" userId="107c7f69-3e79-4791-b4e3-6f668d949ed0" providerId="ADAL" clId="{110A36E0-6EE1-4B4C-B27B-C66899872E81}" dt="2026-06-25T23:56:02.884" v="666" actId="1035"/>
          <ac:spMkLst>
            <pc:docMk/>
            <pc:sldMk cId="364733940" sldId="284"/>
            <ac:spMk id="20" creationId="{F3F29302-C7C6-5BDE-FA2A-3DABAFC72EA4}"/>
          </ac:spMkLst>
        </pc:spChg>
        <pc:spChg chg="add mod">
          <ac:chgData name="Diana Lizbeth Tetzicatl Navarro" userId="107c7f69-3e79-4791-b4e3-6f668d949ed0" providerId="ADAL" clId="{110A36E0-6EE1-4B4C-B27B-C66899872E81}" dt="2026-06-25T23:56:02.884" v="666" actId="1035"/>
          <ac:spMkLst>
            <pc:docMk/>
            <pc:sldMk cId="364733940" sldId="284"/>
            <ac:spMk id="21" creationId="{5F579629-660C-0EBD-D256-E156FC138AE9}"/>
          </ac:spMkLst>
        </pc:spChg>
        <pc:spChg chg="add mod">
          <ac:chgData name="Diana Lizbeth Tetzicatl Navarro" userId="107c7f69-3e79-4791-b4e3-6f668d949ed0" providerId="ADAL" clId="{110A36E0-6EE1-4B4C-B27B-C66899872E81}" dt="2026-06-25T23:56:05.947" v="667"/>
          <ac:spMkLst>
            <pc:docMk/>
            <pc:sldMk cId="364733940" sldId="284"/>
            <ac:spMk id="22" creationId="{124DAB09-44CA-9DAB-D076-39EC9EE9F50E}"/>
          </ac:spMkLst>
        </pc:spChg>
        <pc:graphicFrameChg chg="mod">
          <ac:chgData name="Diana Lizbeth Tetzicatl Navarro" userId="107c7f69-3e79-4791-b4e3-6f668d949ed0" providerId="ADAL" clId="{110A36E0-6EE1-4B4C-B27B-C66899872E81}" dt="2026-06-25T23:19:38.753" v="261" actId="1036"/>
          <ac:graphicFrameMkLst>
            <pc:docMk/>
            <pc:sldMk cId="364733940" sldId="284"/>
            <ac:graphicFrameMk id="9" creationId="{00000000-0000-0000-0000-000000000000}"/>
          </ac:graphicFrameMkLst>
        </pc:graphicFrameChg>
        <pc:graphicFrameChg chg="mod modGraphic">
          <ac:chgData name="Diana Lizbeth Tetzicatl Navarro" userId="107c7f69-3e79-4791-b4e3-6f668d949ed0" providerId="ADAL" clId="{110A36E0-6EE1-4B4C-B27B-C66899872E81}" dt="2026-06-25T23:19:38.753" v="261" actId="1036"/>
          <ac:graphicFrameMkLst>
            <pc:docMk/>
            <pc:sldMk cId="364733940" sldId="284"/>
            <ac:graphicFrameMk id="10" creationId="{00000000-0000-0000-0000-000000000000}"/>
          </ac:graphicFrameMkLst>
        </pc:graphicFrameChg>
        <pc:graphicFrameChg chg="add mod">
          <ac:chgData name="Diana Lizbeth Tetzicatl Navarro" userId="107c7f69-3e79-4791-b4e3-6f668d949ed0" providerId="ADAL" clId="{110A36E0-6EE1-4B4C-B27B-C66899872E81}" dt="2026-06-25T23:56:02.884" v="666" actId="1035"/>
          <ac:graphicFrameMkLst>
            <pc:docMk/>
            <pc:sldMk cId="364733940" sldId="284"/>
            <ac:graphicFrameMk id="13" creationId="{3A8F2BC0-8A24-A177-1B1B-80B6F355A986}"/>
          </ac:graphicFrameMkLst>
        </pc:graphicFrameChg>
        <pc:graphicFrameChg chg="add mod">
          <ac:chgData name="Diana Lizbeth Tetzicatl Navarro" userId="107c7f69-3e79-4791-b4e3-6f668d949ed0" providerId="ADAL" clId="{110A36E0-6EE1-4B4C-B27B-C66899872E81}" dt="2026-06-25T23:56:02.884" v="666" actId="1035"/>
          <ac:graphicFrameMkLst>
            <pc:docMk/>
            <pc:sldMk cId="364733940" sldId="284"/>
            <ac:graphicFrameMk id="19" creationId="{683DB9DC-9D0A-3C1B-5383-3408BF77CFB0}"/>
          </ac:graphicFrameMkLst>
        </pc:graphicFrameChg>
        <pc:picChg chg="mod">
          <ac:chgData name="Diana Lizbeth Tetzicatl Navarro" userId="107c7f69-3e79-4791-b4e3-6f668d949ed0" providerId="ADAL" clId="{110A36E0-6EE1-4B4C-B27B-C66899872E81}" dt="2026-06-25T23:19:48.018" v="264" actId="1036"/>
          <ac:picMkLst>
            <pc:docMk/>
            <pc:sldMk cId="364733940" sldId="284"/>
            <ac:picMk id="4" creationId="{488C755F-8E2D-8CE1-6C1B-6DBB55EE2CD3}"/>
          </ac:picMkLst>
        </pc:picChg>
        <pc:picChg chg="add mod">
          <ac:chgData name="Diana Lizbeth Tetzicatl Navarro" userId="107c7f69-3e79-4791-b4e3-6f668d949ed0" providerId="ADAL" clId="{110A36E0-6EE1-4B4C-B27B-C66899872E81}" dt="2026-06-25T23:56:02.884" v="666" actId="1035"/>
          <ac:picMkLst>
            <pc:docMk/>
            <pc:sldMk cId="364733940" sldId="284"/>
            <ac:picMk id="12" creationId="{5D195D3B-DAFE-EE73-59CC-3648981BB3A9}"/>
          </ac:picMkLst>
        </pc:picChg>
      </pc:sldChg>
      <pc:sldChg chg="addSp modSp mod">
        <pc:chgData name="Diana Lizbeth Tetzicatl Navarro" userId="107c7f69-3e79-4791-b4e3-6f668d949ed0" providerId="ADAL" clId="{110A36E0-6EE1-4B4C-B27B-C66899872E81}" dt="2026-06-26T19:19:45.861" v="915" actId="1036"/>
        <pc:sldMkLst>
          <pc:docMk/>
          <pc:sldMk cId="3805655920" sldId="288"/>
        </pc:sldMkLst>
        <pc:spChg chg="add mod">
          <ac:chgData name="Diana Lizbeth Tetzicatl Navarro" userId="107c7f69-3e79-4791-b4e3-6f668d949ed0" providerId="ADAL" clId="{110A36E0-6EE1-4B4C-B27B-C66899872E81}" dt="2026-06-26T19:19:20.540" v="896" actId="1036"/>
          <ac:spMkLst>
            <pc:docMk/>
            <pc:sldMk cId="3805655920" sldId="288"/>
            <ac:spMk id="7" creationId="{B61C72BA-6E3C-A6EB-7540-849B119368DD}"/>
          </ac:spMkLst>
        </pc:spChg>
        <pc:spChg chg="add mod">
          <ac:chgData name="Diana Lizbeth Tetzicatl Navarro" userId="107c7f69-3e79-4791-b4e3-6f668d949ed0" providerId="ADAL" clId="{110A36E0-6EE1-4B4C-B27B-C66899872E81}" dt="2026-06-26T19:19:45.861" v="915" actId="1036"/>
          <ac:spMkLst>
            <pc:docMk/>
            <pc:sldMk cId="3805655920" sldId="288"/>
            <ac:spMk id="11" creationId="{17895669-21E6-51AB-4F91-CCEEAC66D9B6}"/>
          </ac:spMkLst>
        </pc:spChg>
        <pc:spChg chg="add mod">
          <ac:chgData name="Diana Lizbeth Tetzicatl Navarro" userId="107c7f69-3e79-4791-b4e3-6f668d949ed0" providerId="ADAL" clId="{110A36E0-6EE1-4B4C-B27B-C66899872E81}" dt="2026-06-26T19:19:20.540" v="896" actId="1036"/>
          <ac:spMkLst>
            <pc:docMk/>
            <pc:sldMk cId="3805655920" sldId="288"/>
            <ac:spMk id="12" creationId="{CCB0DD8C-5BAC-378B-8E81-E06A46D1AE7D}"/>
          </ac:spMkLst>
        </pc:spChg>
        <pc:spChg chg="add mod">
          <ac:chgData name="Diana Lizbeth Tetzicatl Navarro" userId="107c7f69-3e79-4791-b4e3-6f668d949ed0" providerId="ADAL" clId="{110A36E0-6EE1-4B4C-B27B-C66899872E81}" dt="2026-06-26T19:19:20.540" v="896" actId="1036"/>
          <ac:spMkLst>
            <pc:docMk/>
            <pc:sldMk cId="3805655920" sldId="288"/>
            <ac:spMk id="13" creationId="{21BEC12E-BD6A-7A69-901E-901DB3A4CED4}"/>
          </ac:spMkLst>
        </pc:spChg>
        <pc:spChg chg="add mod">
          <ac:chgData name="Diana Lizbeth Tetzicatl Navarro" userId="107c7f69-3e79-4791-b4e3-6f668d949ed0" providerId="ADAL" clId="{110A36E0-6EE1-4B4C-B27B-C66899872E81}" dt="2026-06-26T19:19:20.540" v="896" actId="1036"/>
          <ac:spMkLst>
            <pc:docMk/>
            <pc:sldMk cId="3805655920" sldId="288"/>
            <ac:spMk id="14" creationId="{D7700F18-25CB-D386-AA50-3D8D404E23C2}"/>
          </ac:spMkLst>
        </pc:spChg>
        <pc:graphicFrameChg chg="mod">
          <ac:chgData name="Diana Lizbeth Tetzicatl Navarro" userId="107c7f69-3e79-4791-b4e3-6f668d949ed0" providerId="ADAL" clId="{110A36E0-6EE1-4B4C-B27B-C66899872E81}" dt="2026-06-26T19:18:05.093" v="840" actId="1035"/>
          <ac:graphicFrameMkLst>
            <pc:docMk/>
            <pc:sldMk cId="3805655920" sldId="288"/>
            <ac:graphicFrameMk id="5" creationId="{00000000-0000-0000-0000-000000000000}"/>
          </ac:graphicFrameMkLst>
        </pc:graphicFrameChg>
        <pc:graphicFrameChg chg="mod">
          <ac:chgData name="Diana Lizbeth Tetzicatl Navarro" userId="107c7f69-3e79-4791-b4e3-6f668d949ed0" providerId="ADAL" clId="{110A36E0-6EE1-4B4C-B27B-C66899872E81}" dt="2026-06-26T19:18:05.093" v="840" actId="1035"/>
          <ac:graphicFrameMkLst>
            <pc:docMk/>
            <pc:sldMk cId="3805655920" sldId="288"/>
            <ac:graphicFrameMk id="6" creationId="{00000000-0000-0000-0000-000000000000}"/>
          </ac:graphicFrameMkLst>
        </pc:graphicFrameChg>
        <pc:graphicFrameChg chg="add mod">
          <ac:chgData name="Diana Lizbeth Tetzicatl Navarro" userId="107c7f69-3e79-4791-b4e3-6f668d949ed0" providerId="ADAL" clId="{110A36E0-6EE1-4B4C-B27B-C66899872E81}" dt="2026-06-26T19:19:20.540" v="896" actId="1036"/>
          <ac:graphicFrameMkLst>
            <pc:docMk/>
            <pc:sldMk cId="3805655920" sldId="288"/>
            <ac:graphicFrameMk id="8" creationId="{B6B652DB-DC60-514A-8868-7F0BA1774D05}"/>
          </ac:graphicFrameMkLst>
        </pc:graphicFrameChg>
        <pc:graphicFrameChg chg="modGraphic">
          <ac:chgData name="Diana Lizbeth Tetzicatl Navarro" userId="107c7f69-3e79-4791-b4e3-6f668d949ed0" providerId="ADAL" clId="{110A36E0-6EE1-4B4C-B27B-C66899872E81}" dt="2026-06-26T19:19:30.340" v="898" actId="14734"/>
          <ac:graphicFrameMkLst>
            <pc:docMk/>
            <pc:sldMk cId="3805655920" sldId="288"/>
            <ac:graphicFrameMk id="9" creationId="{C0C86281-86FF-4877-C565-7B0E2C76DC58}"/>
          </ac:graphicFrameMkLst>
        </pc:graphicFrameChg>
        <pc:graphicFrameChg chg="add mod">
          <ac:chgData name="Diana Lizbeth Tetzicatl Navarro" userId="107c7f69-3e79-4791-b4e3-6f668d949ed0" providerId="ADAL" clId="{110A36E0-6EE1-4B4C-B27B-C66899872E81}" dt="2026-06-26T19:19:38.301" v="910" actId="1036"/>
          <ac:graphicFrameMkLst>
            <pc:docMk/>
            <pc:sldMk cId="3805655920" sldId="288"/>
            <ac:graphicFrameMk id="10" creationId="{7BAA41BA-C386-5BA5-3DD2-E66C82D4D30A}"/>
          </ac:graphicFrameMkLst>
        </pc:graphicFrameChg>
        <pc:picChg chg="add mod">
          <ac:chgData name="Diana Lizbeth Tetzicatl Navarro" userId="107c7f69-3e79-4791-b4e3-6f668d949ed0" providerId="ADAL" clId="{110A36E0-6EE1-4B4C-B27B-C66899872E81}" dt="2026-06-26T19:19:20.540" v="896" actId="1036"/>
          <ac:picMkLst>
            <pc:docMk/>
            <pc:sldMk cId="3805655920" sldId="288"/>
            <ac:picMk id="15" creationId="{3F2838FD-6957-CF4A-7601-CC3678309991}"/>
          </ac:picMkLst>
        </pc:picChg>
        <pc:picChg chg="add mod">
          <ac:chgData name="Diana Lizbeth Tetzicatl Navarro" userId="107c7f69-3e79-4791-b4e3-6f668d949ed0" providerId="ADAL" clId="{110A36E0-6EE1-4B4C-B27B-C66899872E81}" dt="2026-06-26T19:19:20.540" v="896" actId="1036"/>
          <ac:picMkLst>
            <pc:docMk/>
            <pc:sldMk cId="3805655920" sldId="288"/>
            <ac:picMk id="16" creationId="{67FFB3A5-2981-2C19-BD1A-D22670B01E41}"/>
          </ac:picMkLst>
        </pc:picChg>
        <pc:picChg chg="add mod">
          <ac:chgData name="Diana Lizbeth Tetzicatl Navarro" userId="107c7f69-3e79-4791-b4e3-6f668d949ed0" providerId="ADAL" clId="{110A36E0-6EE1-4B4C-B27B-C66899872E81}" dt="2026-06-26T19:19:20.540" v="896" actId="1036"/>
          <ac:picMkLst>
            <pc:docMk/>
            <pc:sldMk cId="3805655920" sldId="288"/>
            <ac:picMk id="17" creationId="{E45BF1C6-440B-B72A-8EAC-61B49BB98FBC}"/>
          </ac:picMkLst>
        </pc:picChg>
      </pc:sldChg>
      <pc:sldChg chg="modSp mod">
        <pc:chgData name="Diana Lizbeth Tetzicatl Navarro" userId="107c7f69-3e79-4791-b4e3-6f668d949ed0" providerId="ADAL" clId="{110A36E0-6EE1-4B4C-B27B-C66899872E81}" dt="2026-06-25T23:19:19.622" v="244" actId="242"/>
        <pc:sldMkLst>
          <pc:docMk/>
          <pc:sldMk cId="3240565764" sldId="297"/>
        </pc:sldMkLst>
        <pc:graphicFrameChg chg="mod modGraphic">
          <ac:chgData name="Diana Lizbeth Tetzicatl Navarro" userId="107c7f69-3e79-4791-b4e3-6f668d949ed0" providerId="ADAL" clId="{110A36E0-6EE1-4B4C-B27B-C66899872E81}" dt="2026-06-25T23:17:32.627" v="216" actId="14100"/>
          <ac:graphicFrameMkLst>
            <pc:docMk/>
            <pc:sldMk cId="3240565764" sldId="297"/>
            <ac:graphicFrameMk id="15" creationId="{00000000-0000-0000-0000-000000000000}"/>
          </ac:graphicFrameMkLst>
        </pc:graphicFrameChg>
        <pc:graphicFrameChg chg="mod modGraphic">
          <ac:chgData name="Diana Lizbeth Tetzicatl Navarro" userId="107c7f69-3e79-4791-b4e3-6f668d949ed0" providerId="ADAL" clId="{110A36E0-6EE1-4B4C-B27B-C66899872E81}" dt="2026-06-25T23:18:49.722" v="224" actId="242"/>
          <ac:graphicFrameMkLst>
            <pc:docMk/>
            <pc:sldMk cId="3240565764" sldId="297"/>
            <ac:graphicFrameMk id="16" creationId="{00000000-0000-0000-0000-000000000000}"/>
          </ac:graphicFrameMkLst>
        </pc:graphicFrameChg>
        <pc:graphicFrameChg chg="mod modGraphic">
          <ac:chgData name="Diana Lizbeth Tetzicatl Navarro" userId="107c7f69-3e79-4791-b4e3-6f668d949ed0" providerId="ADAL" clId="{110A36E0-6EE1-4B4C-B27B-C66899872E81}" dt="2026-06-25T23:19:14.643" v="243" actId="242"/>
          <ac:graphicFrameMkLst>
            <pc:docMk/>
            <pc:sldMk cId="3240565764" sldId="297"/>
            <ac:graphicFrameMk id="17" creationId="{00000000-0000-0000-0000-000000000000}"/>
          </ac:graphicFrameMkLst>
        </pc:graphicFrameChg>
        <pc:graphicFrameChg chg="modGraphic">
          <ac:chgData name="Diana Lizbeth Tetzicatl Navarro" userId="107c7f69-3e79-4791-b4e3-6f668d949ed0" providerId="ADAL" clId="{110A36E0-6EE1-4B4C-B27B-C66899872E81}" dt="2026-06-25T23:19:19.622" v="244" actId="242"/>
          <ac:graphicFrameMkLst>
            <pc:docMk/>
            <pc:sldMk cId="3240565764" sldId="297"/>
            <ac:graphicFrameMk id="18" creationId="{00000000-0000-0000-0000-000000000000}"/>
          </ac:graphicFrameMkLst>
        </pc:graphicFrameChg>
      </pc:sldChg>
      <pc:sldChg chg="modSp mod">
        <pc:chgData name="Diana Lizbeth Tetzicatl Navarro" userId="107c7f69-3e79-4791-b4e3-6f668d949ed0" providerId="ADAL" clId="{110A36E0-6EE1-4B4C-B27B-C66899872E81}" dt="2026-06-25T23:49:48.869" v="337" actId="20577"/>
        <pc:sldMkLst>
          <pc:docMk/>
          <pc:sldMk cId="3609473420" sldId="298"/>
        </pc:sldMkLst>
        <pc:spChg chg="mod">
          <ac:chgData name="Diana Lizbeth Tetzicatl Navarro" userId="107c7f69-3e79-4791-b4e3-6f668d949ed0" providerId="ADAL" clId="{110A36E0-6EE1-4B4C-B27B-C66899872E81}" dt="2026-06-25T23:49:48.869" v="337" actId="20577"/>
          <ac:spMkLst>
            <pc:docMk/>
            <pc:sldMk cId="3609473420" sldId="298"/>
            <ac:spMk id="5" creationId="{00000000-0000-0000-0000-000000000000}"/>
          </ac:spMkLst>
        </pc:spChg>
      </pc:sldChg>
      <pc:sldChg chg="modSp mod">
        <pc:chgData name="Diana Lizbeth Tetzicatl Navarro" userId="107c7f69-3e79-4791-b4e3-6f668d949ed0" providerId="ADAL" clId="{110A36E0-6EE1-4B4C-B27B-C66899872E81}" dt="2026-06-26T18:43:12.329" v="805" actId="20577"/>
        <pc:sldMkLst>
          <pc:docMk/>
          <pc:sldMk cId="110968613" sldId="300"/>
        </pc:sldMkLst>
        <pc:spChg chg="mod">
          <ac:chgData name="Diana Lizbeth Tetzicatl Navarro" userId="107c7f69-3e79-4791-b4e3-6f668d949ed0" providerId="ADAL" clId="{110A36E0-6EE1-4B4C-B27B-C66899872E81}" dt="2026-06-26T18:43:12.329" v="805" actId="20577"/>
          <ac:spMkLst>
            <pc:docMk/>
            <pc:sldMk cId="110968613" sldId="300"/>
            <ac:spMk id="10" creationId="{00000000-0000-0000-0000-000000000000}"/>
          </ac:spMkLst>
        </pc:spChg>
        <pc:graphicFrameChg chg="modGraphic">
          <ac:chgData name="Diana Lizbeth Tetzicatl Navarro" userId="107c7f69-3e79-4791-b4e3-6f668d949ed0" providerId="ADAL" clId="{110A36E0-6EE1-4B4C-B27B-C66899872E81}" dt="2026-06-26T18:43:01.051" v="796" actId="20577"/>
          <ac:graphicFrameMkLst>
            <pc:docMk/>
            <pc:sldMk cId="110968613" sldId="300"/>
            <ac:graphicFrameMk id="9" creationId="{00000000-0000-0000-0000-000000000000}"/>
          </ac:graphicFrameMkLst>
        </pc:graphicFrameChg>
      </pc:sldChg>
      <pc:sldChg chg="modSp mod">
        <pc:chgData name="Diana Lizbeth Tetzicatl Navarro" userId="107c7f69-3e79-4791-b4e3-6f668d949ed0" providerId="ADAL" clId="{110A36E0-6EE1-4B4C-B27B-C66899872E81}" dt="2026-06-25T23:49:30.846" v="324" actId="20577"/>
        <pc:sldMkLst>
          <pc:docMk/>
          <pc:sldMk cId="0" sldId="302"/>
        </pc:sldMkLst>
        <pc:spChg chg="mod">
          <ac:chgData name="Diana Lizbeth Tetzicatl Navarro" userId="107c7f69-3e79-4791-b4e3-6f668d949ed0" providerId="ADAL" clId="{110A36E0-6EE1-4B4C-B27B-C66899872E81}" dt="2026-06-25T23:49:30.846" v="324" actId="20577"/>
          <ac:spMkLst>
            <pc:docMk/>
            <pc:sldMk cId="0" sldId="302"/>
            <ac:spMk id="5" creationId="{00000000-0000-0000-0000-000000000000}"/>
          </ac:spMkLst>
        </pc:spChg>
      </pc:sldChg>
      <pc:sldChg chg="modSp mod">
        <pc:chgData name="Diana Lizbeth Tetzicatl Navarro" userId="107c7f69-3e79-4791-b4e3-6f668d949ed0" providerId="ADAL" clId="{110A36E0-6EE1-4B4C-B27B-C66899872E81}" dt="2026-06-25T23:49:20.264" v="320" actId="20577"/>
        <pc:sldMkLst>
          <pc:docMk/>
          <pc:sldMk cId="0" sldId="303"/>
        </pc:sldMkLst>
        <pc:spChg chg="mod">
          <ac:chgData name="Diana Lizbeth Tetzicatl Navarro" userId="107c7f69-3e79-4791-b4e3-6f668d949ed0" providerId="ADAL" clId="{110A36E0-6EE1-4B4C-B27B-C66899872E81}" dt="2026-06-25T23:49:20.264" v="320" actId="20577"/>
          <ac:spMkLst>
            <pc:docMk/>
            <pc:sldMk cId="0" sldId="303"/>
            <ac:spMk id="5" creationId="{00000000-0000-0000-0000-000000000000}"/>
          </ac:spMkLst>
        </pc:spChg>
      </pc:sldChg>
      <pc:sldChg chg="modSp mod">
        <pc:chgData name="Diana Lizbeth Tetzicatl Navarro" userId="107c7f69-3e79-4791-b4e3-6f668d949ed0" providerId="ADAL" clId="{110A36E0-6EE1-4B4C-B27B-C66899872E81}" dt="2026-06-25T23:49:01.425" v="310" actId="20577"/>
        <pc:sldMkLst>
          <pc:docMk/>
          <pc:sldMk cId="0" sldId="304"/>
        </pc:sldMkLst>
        <pc:spChg chg="mod">
          <ac:chgData name="Diana Lizbeth Tetzicatl Navarro" userId="107c7f69-3e79-4791-b4e3-6f668d949ed0" providerId="ADAL" clId="{110A36E0-6EE1-4B4C-B27B-C66899872E81}" dt="2026-06-25T23:49:01.425" v="310" actId="20577"/>
          <ac:spMkLst>
            <pc:docMk/>
            <pc:sldMk cId="0" sldId="304"/>
            <ac:spMk id="5" creationId="{00000000-0000-0000-0000-000000000000}"/>
          </ac:spMkLst>
        </pc:spChg>
        <pc:spChg chg="mod">
          <ac:chgData name="Diana Lizbeth Tetzicatl Navarro" userId="107c7f69-3e79-4791-b4e3-6f668d949ed0" providerId="ADAL" clId="{110A36E0-6EE1-4B4C-B27B-C66899872E81}" dt="2026-06-25T23:16:00.859" v="178" actId="1035"/>
          <ac:spMkLst>
            <pc:docMk/>
            <pc:sldMk cId="0" sldId="304"/>
            <ac:spMk id="9" creationId="{00000000-0000-0000-0000-000000000000}"/>
          </ac:spMkLst>
        </pc:spChg>
      </pc:sldChg>
      <pc:sldChg chg="modSp add mod setBg">
        <pc:chgData name="Diana Lizbeth Tetzicatl Navarro" userId="107c7f69-3e79-4791-b4e3-6f668d949ed0" providerId="ADAL" clId="{110A36E0-6EE1-4B4C-B27B-C66899872E81}" dt="2026-06-26T18:42:33.912" v="787" actId="113"/>
        <pc:sldMkLst>
          <pc:docMk/>
          <pc:sldMk cId="0" sldId="306"/>
        </pc:sldMkLst>
        <pc:graphicFrameChg chg="mod modGraphic">
          <ac:chgData name="Diana Lizbeth Tetzicatl Navarro" userId="107c7f69-3e79-4791-b4e3-6f668d949ed0" providerId="ADAL" clId="{110A36E0-6EE1-4B4C-B27B-C66899872E81}" dt="2026-06-26T18:42:33.912" v="787" actId="113"/>
          <ac:graphicFrameMkLst>
            <pc:docMk/>
            <pc:sldMk cId="0" sldId="306"/>
            <ac:graphicFrameMk id="70" creationId="{00000000-0000-0000-0000-000000000000}"/>
          </ac:graphicFrameMkLst>
        </pc:graphicFrameChg>
        <pc:picChg chg="mod">
          <ac:chgData name="Diana Lizbeth Tetzicatl Navarro" userId="107c7f69-3e79-4791-b4e3-6f668d949ed0" providerId="ADAL" clId="{110A36E0-6EE1-4B4C-B27B-C66899872E81}" dt="2026-06-25T23:57:22.452" v="689" actId="1038"/>
          <ac:picMkLst>
            <pc:docMk/>
            <pc:sldMk cId="0" sldId="306"/>
            <ac:picMk id="69" creationId="{00000000-0000-0000-0000-000000000000}"/>
          </ac:picMkLst>
        </pc:picChg>
        <pc:picChg chg="mod">
          <ac:chgData name="Diana Lizbeth Tetzicatl Navarro" userId="107c7f69-3e79-4791-b4e3-6f668d949ed0" providerId="ADAL" clId="{110A36E0-6EE1-4B4C-B27B-C66899872E81}" dt="2026-06-25T23:57:40.172" v="696" actId="1036"/>
          <ac:picMkLst>
            <pc:docMk/>
            <pc:sldMk cId="0" sldId="306"/>
            <ac:picMk id="72" creationId="{00000000-0000-0000-0000-000000000000}"/>
          </ac:picMkLst>
        </pc:picChg>
        <pc:picChg chg="mod">
          <ac:chgData name="Diana Lizbeth Tetzicatl Navarro" userId="107c7f69-3e79-4791-b4e3-6f668d949ed0" providerId="ADAL" clId="{110A36E0-6EE1-4B4C-B27B-C66899872E81}" dt="2026-06-25T23:57:40.172" v="696" actId="1036"/>
          <ac:picMkLst>
            <pc:docMk/>
            <pc:sldMk cId="0" sldId="306"/>
            <ac:picMk id="73" creationId="{00000000-0000-0000-0000-000000000000}"/>
          </ac:picMkLst>
        </pc:picChg>
        <pc:picChg chg="mod">
          <ac:chgData name="Diana Lizbeth Tetzicatl Navarro" userId="107c7f69-3e79-4791-b4e3-6f668d949ed0" providerId="ADAL" clId="{110A36E0-6EE1-4B4C-B27B-C66899872E81}" dt="2026-06-25T23:57:40.172" v="696" actId="1036"/>
          <ac:picMkLst>
            <pc:docMk/>
            <pc:sldMk cId="0" sldId="306"/>
            <ac:picMk id="74" creationId="{00000000-0000-0000-0000-000000000000}"/>
          </ac:picMkLst>
        </pc:picChg>
        <pc:picChg chg="mod">
          <ac:chgData name="Diana Lizbeth Tetzicatl Navarro" userId="107c7f69-3e79-4791-b4e3-6f668d949ed0" providerId="ADAL" clId="{110A36E0-6EE1-4B4C-B27B-C66899872E81}" dt="2026-06-25T23:57:56.626" v="733" actId="1036"/>
          <ac:picMkLst>
            <pc:docMk/>
            <pc:sldMk cId="0" sldId="306"/>
            <ac:picMk id="75" creationId="{00000000-0000-0000-0000-000000000000}"/>
          </ac:picMkLst>
        </pc:picChg>
        <pc:picChg chg="mod">
          <ac:chgData name="Diana Lizbeth Tetzicatl Navarro" userId="107c7f69-3e79-4791-b4e3-6f668d949ed0" providerId="ADAL" clId="{110A36E0-6EE1-4B4C-B27B-C66899872E81}" dt="2026-06-25T23:58:02.884" v="734" actId="14100"/>
          <ac:picMkLst>
            <pc:docMk/>
            <pc:sldMk cId="0" sldId="306"/>
            <ac:picMk id="76" creationId="{00000000-0000-0000-0000-000000000000}"/>
          </ac:picMkLst>
        </pc:picChg>
        <pc:picChg chg="mod">
          <ac:chgData name="Diana Lizbeth Tetzicatl Navarro" userId="107c7f69-3e79-4791-b4e3-6f668d949ed0" providerId="ADAL" clId="{110A36E0-6EE1-4B4C-B27B-C66899872E81}" dt="2026-06-25T23:57:53.404" v="726" actId="1036"/>
          <ac:picMkLst>
            <pc:docMk/>
            <pc:sldMk cId="0" sldId="306"/>
            <ac:picMk id="77" creationId="{00000000-0000-0000-0000-000000000000}"/>
          </ac:picMkLst>
        </pc:picChg>
        <pc:picChg chg="mod">
          <ac:chgData name="Diana Lizbeth Tetzicatl Navarro" userId="107c7f69-3e79-4791-b4e3-6f668d949ed0" providerId="ADAL" clId="{110A36E0-6EE1-4B4C-B27B-C66899872E81}" dt="2026-06-25T23:57:48.115" v="720" actId="1035"/>
          <ac:picMkLst>
            <pc:docMk/>
            <pc:sldMk cId="0" sldId="306"/>
            <ac:picMk id="78"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5596-4EF3-AC77-CDB2FD638F44}"/>
              </c:ext>
            </c:extLst>
          </c:dPt>
          <c:dPt>
            <c:idx val="1"/>
            <c:bubble3D val="0"/>
            <c:spPr>
              <a:solidFill>
                <a:schemeClr val="tx2"/>
              </a:solidFill>
              <a:ln>
                <a:solidFill>
                  <a:schemeClr val="tx2"/>
                </a:solidFill>
              </a:ln>
            </c:spPr>
            <c:extLst>
              <c:ext xmlns:c16="http://schemas.microsoft.com/office/drawing/2014/chart" uri="{C3380CC4-5D6E-409C-BE32-E72D297353CC}">
                <c16:uniqueId val="{00000003-5596-4EF3-AC77-CDB2FD638F44}"/>
              </c:ext>
            </c:extLst>
          </c:dPt>
          <c:dPt>
            <c:idx val="2"/>
            <c:bubble3D val="0"/>
            <c:spPr>
              <a:solidFill>
                <a:srgbClr val="691C32"/>
              </a:solidFill>
            </c:spPr>
            <c:extLst>
              <c:ext xmlns:c16="http://schemas.microsoft.com/office/drawing/2014/chart" uri="{C3380CC4-5D6E-409C-BE32-E72D297353CC}">
                <c16:uniqueId val="{00000005-5596-4EF3-AC77-CDB2FD638F44}"/>
              </c:ext>
            </c:extLst>
          </c:dPt>
          <c:dPt>
            <c:idx val="3"/>
            <c:bubble3D val="0"/>
            <c:spPr>
              <a:solidFill>
                <a:srgbClr val="BC955C"/>
              </a:solidFill>
            </c:spPr>
            <c:extLst>
              <c:ext xmlns:c16="http://schemas.microsoft.com/office/drawing/2014/chart" uri="{C3380CC4-5D6E-409C-BE32-E72D297353CC}">
                <c16:uniqueId val="{00000007-5596-4EF3-AC77-CDB2FD638F44}"/>
              </c:ext>
            </c:extLst>
          </c:dPt>
          <c:dPt>
            <c:idx val="4"/>
            <c:bubble3D val="0"/>
            <c:spPr>
              <a:solidFill>
                <a:srgbClr val="9E9E9E"/>
              </a:solidFill>
            </c:spPr>
            <c:extLst>
              <c:ext xmlns:c16="http://schemas.microsoft.com/office/drawing/2014/chart" uri="{C3380CC4-5D6E-409C-BE32-E72D297353CC}">
                <c16:uniqueId val="{00000009-5596-4EF3-AC77-CDB2FD638F44}"/>
              </c:ext>
            </c:extLst>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2046440</c:v>
                </c:pt>
                <c:pt idx="1">
                  <c:v>244977</c:v>
                </c:pt>
                <c:pt idx="2">
                  <c:v>419881</c:v>
                </c:pt>
                <c:pt idx="3">
                  <c:v>962636</c:v>
                </c:pt>
                <c:pt idx="4">
                  <c:v>103538</c:v>
                </c:pt>
              </c:numCache>
            </c:numRef>
          </c:val>
          <c:extLst>
            <c:ext xmlns:c16="http://schemas.microsoft.com/office/drawing/2014/chart" uri="{C3380CC4-5D6E-409C-BE32-E72D297353CC}">
              <c16:uniqueId val="{0000000A-5596-4EF3-AC77-CDB2FD638F44}"/>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1A6E-4174-80CC-9841BCA53C24}"/>
              </c:ext>
            </c:extLst>
          </c:dPt>
          <c:dPt>
            <c:idx val="1"/>
            <c:bubble3D val="0"/>
            <c:spPr>
              <a:solidFill>
                <a:srgbClr val="EBE0D2"/>
              </a:solidFill>
              <a:ln>
                <a:noFill/>
              </a:ln>
            </c:spPr>
            <c:extLst>
              <c:ext xmlns:c16="http://schemas.microsoft.com/office/drawing/2014/chart" uri="{C3380CC4-5D6E-409C-BE32-E72D297353CC}">
                <c16:uniqueId val="{00000003-1A6E-4174-80CC-9841BCA53C24}"/>
              </c:ext>
            </c:extLst>
          </c:dPt>
          <c:cat>
            <c:strRef>
              <c:f>Sheet1!$A$2:$A$3</c:f>
              <c:strCache>
                <c:ptCount val="2"/>
                <c:pt idx="0">
                  <c:v>Avance</c:v>
                </c:pt>
                <c:pt idx="1">
                  <c:v>Restante</c:v>
                </c:pt>
              </c:strCache>
            </c:strRef>
          </c:cat>
          <c:val>
            <c:numRef>
              <c:f>Sheet1!$B$2:$B$3</c:f>
              <c:numCache>
                <c:formatCode>General</c:formatCode>
                <c:ptCount val="2"/>
                <c:pt idx="0">
                  <c:v>46.981460094358169</c:v>
                </c:pt>
                <c:pt idx="1">
                  <c:v>53.018539905641831</c:v>
                </c:pt>
              </c:numCache>
            </c:numRef>
          </c:val>
          <c:extLst>
            <c:ext xmlns:c16="http://schemas.microsoft.com/office/drawing/2014/chart" uri="{C3380CC4-5D6E-409C-BE32-E72D297353CC}">
              <c16:uniqueId val="{00000004-1A6E-4174-80CC-9841BCA53C24}"/>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9B58-4C06-AE51-428FF6CBDECC}"/>
              </c:ext>
            </c:extLst>
          </c:dPt>
          <c:dPt>
            <c:idx val="1"/>
            <c:bubble3D val="0"/>
            <c:spPr>
              <a:solidFill>
                <a:srgbClr val="EBE0D2"/>
              </a:solidFill>
              <a:ln>
                <a:noFill/>
              </a:ln>
            </c:spPr>
            <c:extLst>
              <c:ext xmlns:c16="http://schemas.microsoft.com/office/drawing/2014/chart" uri="{C3380CC4-5D6E-409C-BE32-E72D297353CC}">
                <c16:uniqueId val="{00000003-9B58-4C06-AE51-428FF6CBDECC}"/>
              </c:ext>
            </c:extLst>
          </c:dPt>
          <c:cat>
            <c:strRef>
              <c:f>Sheet1!$A$2:$A$3</c:f>
              <c:strCache>
                <c:ptCount val="2"/>
                <c:pt idx="0">
                  <c:v>Avance</c:v>
                </c:pt>
                <c:pt idx="1">
                  <c:v>Restante</c:v>
                </c:pt>
              </c:strCache>
            </c:strRef>
          </c:cat>
          <c:val>
            <c:numRef>
              <c:f>Sheet1!$B$2:$B$3</c:f>
              <c:numCache>
                <c:formatCode>General</c:formatCode>
                <c:ptCount val="2"/>
                <c:pt idx="0">
                  <c:v>10.201812022999999</c:v>
                </c:pt>
                <c:pt idx="1">
                  <c:v>89.798187976999998</c:v>
                </c:pt>
              </c:numCache>
            </c:numRef>
          </c:val>
          <c:extLst>
            <c:ext xmlns:c16="http://schemas.microsoft.com/office/drawing/2014/chart" uri="{C3380CC4-5D6E-409C-BE32-E72D297353CC}">
              <c16:uniqueId val="{00000004-9B58-4C06-AE51-428FF6CBDECC}"/>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A566-4876-B031-977D8DECC180}"/>
              </c:ext>
            </c:extLst>
          </c:dPt>
          <c:dPt>
            <c:idx val="1"/>
            <c:bubble3D val="0"/>
            <c:spPr>
              <a:solidFill>
                <a:srgbClr val="EBE0D2"/>
              </a:solidFill>
              <a:ln>
                <a:noFill/>
              </a:ln>
            </c:spPr>
            <c:extLst>
              <c:ext xmlns:c16="http://schemas.microsoft.com/office/drawing/2014/chart" uri="{C3380CC4-5D6E-409C-BE32-E72D297353CC}">
                <c16:uniqueId val="{00000003-A566-4876-B031-977D8DECC180}"/>
              </c:ext>
            </c:extLst>
          </c:dPt>
          <c:cat>
            <c:strRef>
              <c:f>Sheet1!$A$2:$A$3</c:f>
              <c:strCache>
                <c:ptCount val="2"/>
                <c:pt idx="0">
                  <c:v>Avance</c:v>
                </c:pt>
                <c:pt idx="1">
                  <c:v>Restante</c:v>
                </c:pt>
              </c:strCache>
            </c:strRef>
          </c:cat>
          <c:val>
            <c:numRef>
              <c:f>Sheet1!$B$2:$B$3</c:f>
              <c:numCache>
                <c:formatCode>General</c:formatCode>
                <c:ptCount val="2"/>
                <c:pt idx="0">
                  <c:v>45.09812985705554</c:v>
                </c:pt>
                <c:pt idx="1">
                  <c:v>54.90187014294446</c:v>
                </c:pt>
              </c:numCache>
            </c:numRef>
          </c:val>
          <c:extLst>
            <c:ext xmlns:c16="http://schemas.microsoft.com/office/drawing/2014/chart" uri="{C3380CC4-5D6E-409C-BE32-E72D297353CC}">
              <c16:uniqueId val="{00000004-A566-4876-B031-977D8DECC18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F363-4AD9-88DB-29FDD05200D1}"/>
              </c:ext>
            </c:extLst>
          </c:dPt>
          <c:dPt>
            <c:idx val="1"/>
            <c:bubble3D val="0"/>
            <c:spPr>
              <a:solidFill>
                <a:srgbClr val="EBE0D2"/>
              </a:solidFill>
              <a:ln>
                <a:noFill/>
              </a:ln>
            </c:spPr>
            <c:extLst>
              <c:ext xmlns:c16="http://schemas.microsoft.com/office/drawing/2014/chart" uri="{C3380CC4-5D6E-409C-BE32-E72D297353CC}">
                <c16:uniqueId val="{00000003-F363-4AD9-88DB-29FDD05200D1}"/>
              </c:ext>
            </c:extLst>
          </c:dPt>
          <c:cat>
            <c:strRef>
              <c:f>Sheet1!$A$2:$A$3</c:f>
              <c:strCache>
                <c:ptCount val="2"/>
                <c:pt idx="0">
                  <c:v>Avance</c:v>
                </c:pt>
                <c:pt idx="1">
                  <c:v>Restante</c:v>
                </c:pt>
              </c:strCache>
            </c:strRef>
          </c:cat>
          <c:val>
            <c:numRef>
              <c:f>Sheet1!$B$2:$B$3</c:f>
              <c:numCache>
                <c:formatCode>General</c:formatCode>
                <c:ptCount val="2"/>
                <c:pt idx="0">
                  <c:v>42.181789289686954</c:v>
                </c:pt>
                <c:pt idx="1">
                  <c:v>57.818210710313046</c:v>
                </c:pt>
              </c:numCache>
            </c:numRef>
          </c:val>
          <c:extLst>
            <c:ext xmlns:c16="http://schemas.microsoft.com/office/drawing/2014/chart" uri="{C3380CC4-5D6E-409C-BE32-E72D297353CC}">
              <c16:uniqueId val="{00000004-F363-4AD9-88DB-29FDD05200D1}"/>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4B1E-4060-829C-17B0F0F31F39}"/>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89</c:v>
                </c:pt>
                <c:pt idx="1">
                  <c:v>156</c:v>
                </c:pt>
                <c:pt idx="2">
                  <c:v>131</c:v>
                </c:pt>
                <c:pt idx="3">
                  <c:v>128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B1E-4060-829C-17B0F0F31F39}"/>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Servicios para Empresas, Personas y el Hogar</c:v>
                </c:pt>
                <c:pt idx="1">
                  <c:v>Transportes y Comunicaciones</c:v>
                </c:pt>
                <c:pt idx="2">
                  <c:v>Industrias de la Transformación</c:v>
                </c:pt>
                <c:pt idx="3">
                  <c:v>Agricultura, Ganaderia, Silvicultura, Pesca y Caza</c:v>
                </c:pt>
                <c:pt idx="4">
                  <c:v>Ind Eléctrica y Captación y Suministro de Agua Potable</c:v>
                </c:pt>
                <c:pt idx="5">
                  <c:v>Servicios Sociales y Comunales</c:v>
                </c:pt>
                <c:pt idx="6">
                  <c:v>Comercio</c:v>
                </c:pt>
                <c:pt idx="7">
                  <c:v>Industria de la Construcción</c:v>
                </c:pt>
                <c:pt idx="8">
                  <c:v>Industrias Extractivas</c:v>
                </c:pt>
              </c:strCache>
            </c:strRef>
          </c:cat>
          <c:val>
            <c:numRef>
              <c:f>Sheet1!$B$2:$B$10</c:f>
              <c:numCache>
                <c:formatCode>General</c:formatCode>
                <c:ptCount val="9"/>
                <c:pt idx="0">
                  <c:v>81374</c:v>
                </c:pt>
                <c:pt idx="1">
                  <c:v>76667</c:v>
                </c:pt>
                <c:pt idx="2">
                  <c:v>289948</c:v>
                </c:pt>
                <c:pt idx="3">
                  <c:v>8745</c:v>
                </c:pt>
                <c:pt idx="4">
                  <c:v>10000</c:v>
                </c:pt>
                <c:pt idx="5">
                  <c:v>54097</c:v>
                </c:pt>
                <c:pt idx="6">
                  <c:v>130814</c:v>
                </c:pt>
                <c:pt idx="7">
                  <c:v>41163</c:v>
                </c:pt>
                <c:pt idx="8">
                  <c:v>1328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53-4F0D-8B40-F914E70D5F73}"/>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Servicios para Empresas, Personas y el Hogar</c:v>
                </c:pt>
                <c:pt idx="1">
                  <c:v>Transportes y Comunicaciones</c:v>
                </c:pt>
                <c:pt idx="2">
                  <c:v>Industrias de la Transformación</c:v>
                </c:pt>
                <c:pt idx="3">
                  <c:v>Agricultura, Ganaderia, Silvicultura, Pesca y Caza</c:v>
                </c:pt>
                <c:pt idx="4">
                  <c:v>Ind Eléctrica y Captación y Suministro de Agua Potable</c:v>
                </c:pt>
                <c:pt idx="5">
                  <c:v>Servicios Sociales y Comunales</c:v>
                </c:pt>
                <c:pt idx="6">
                  <c:v>Comercio</c:v>
                </c:pt>
                <c:pt idx="7">
                  <c:v>Industria de la Construcción</c:v>
                </c:pt>
                <c:pt idx="8">
                  <c:v>Industrias Extractivas</c:v>
                </c:pt>
              </c:strCache>
            </c:strRef>
          </c:cat>
          <c:val>
            <c:numRef>
              <c:f>Sheet1!$C$2:$C$10</c:f>
              <c:numCache>
                <c:formatCode>General</c:formatCode>
                <c:ptCount val="9"/>
                <c:pt idx="0">
                  <c:v>75585</c:v>
                </c:pt>
                <c:pt idx="1">
                  <c:v>73247</c:v>
                </c:pt>
                <c:pt idx="2">
                  <c:v>278976</c:v>
                </c:pt>
                <c:pt idx="3">
                  <c:v>8672</c:v>
                </c:pt>
                <c:pt idx="4">
                  <c:v>10019</c:v>
                </c:pt>
                <c:pt idx="5">
                  <c:v>54503</c:v>
                </c:pt>
                <c:pt idx="6">
                  <c:v>132204</c:v>
                </c:pt>
                <c:pt idx="7">
                  <c:v>44469</c:v>
                </c:pt>
                <c:pt idx="8">
                  <c:v>1456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E53-4F0D-8B40-F914E70D5F73}"/>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663209</c:v>
                </c:pt>
                <c:pt idx="1">
                  <c:v>684150</c:v>
                </c:pt>
                <c:pt idx="2">
                  <c:v>658034</c:v>
                </c:pt>
                <c:pt idx="3">
                  <c:v>666616</c:v>
                </c:pt>
                <c:pt idx="4">
                  <c:v>695874</c:v>
                </c:pt>
                <c:pt idx="5">
                  <c:v>699836</c:v>
                </c:pt>
                <c:pt idx="6">
                  <c:v>699413</c:v>
                </c:pt>
                <c:pt idx="7">
                  <c:v>694136</c:v>
                </c:pt>
                <c:pt idx="8">
                  <c:v>679131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6DB-4DF4-B4AB-ABAC7AA5D76F}"/>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23</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24</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chart" Target="../charts/chart1.xml"/><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hyperlink" Target="https://oem.com.mx/elsoldetampico/ciencia-y-salud/se-cumplen-73-anos-del-imss-en-tamaulipas-historia-logros-y-futuro-13331569" TargetMode="Externa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2.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chart" Target="../charts/chart6.xml"/><Relationship Id="rId4" Type="http://schemas.openxmlformats.org/officeDocument/2006/relationships/image" Target="../media/image28.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2.png"/><Relationship Id="rId7"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Tamaulipas</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a:t>
            </a:r>
            <a:r>
              <a:rPr lang="es-MX"/>
              <a:t>l</a:t>
            </a:r>
            <a:r>
              <a:t>io 2026</a:t>
            </a:r>
          </a:p>
        </p:txBody>
      </p:sp>
      <p:sp>
        <p:nvSpPr>
          <p:cNvPr id="3" name="CuadroTexto 2">
            <a:extLst>
              <a:ext uri="{FF2B5EF4-FFF2-40B4-BE49-F238E27FC236}">
                <a16:creationId xmlns:a16="http://schemas.microsoft.com/office/drawing/2014/main" id="{8F9FA679-83A6-3575-4574-7AC82E33AF13}"/>
              </a:ext>
            </a:extLst>
          </p:cNvPr>
          <p:cNvSpPr txBox="1"/>
          <p:nvPr/>
        </p:nvSpPr>
        <p:spPr>
          <a:xfrm>
            <a:off x="1945105" y="4875312"/>
            <a:ext cx="3922294" cy="307777"/>
          </a:xfrm>
          <a:prstGeom prst="rect">
            <a:avLst/>
          </a:prstGeom>
          <a:noFill/>
        </p:spPr>
        <p:txBody>
          <a:bodyPr wrap="square">
            <a:spAutoFit/>
          </a:bodyPr>
          <a:lstStyle/>
          <a:p>
            <a:r>
              <a:rPr lang="es-MX" b="0">
                <a:effectLst/>
              </a:rPr>
              <a:t> </a:t>
            </a:r>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p:nvPr/>
        </p:nvSpPr>
        <p:spPr>
          <a:xfrm>
            <a:off x="0" y="571500"/>
            <a:ext cx="7772400" cy="15582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5"/>
          <p:cNvSpPr txBox="1"/>
          <p:nvPr/>
        </p:nvSpPr>
        <p:spPr>
          <a:xfrm>
            <a:off x="2798775" y="698125"/>
            <a:ext cx="4198800" cy="1631700"/>
          </a:xfrm>
          <a:prstGeom prst="rect">
            <a:avLst/>
          </a:prstGeom>
          <a:noFill/>
          <a:ln>
            <a:noFill/>
          </a:ln>
        </p:spPr>
        <p:txBody>
          <a:bodyPr spcFirstLastPara="1" wrap="square" lIns="91425" tIns="91425" rIns="91425" bIns="91425" anchor="t" anchorCtr="0">
            <a:spAutoFit/>
          </a:bodyPr>
          <a:lstStyle/>
          <a:p>
            <a:pPr marL="0" marR="1511300" lvl="0" indent="0" algn="l" rtl="0">
              <a:lnSpc>
                <a:spcPct val="115000"/>
              </a:lnSpc>
              <a:spcBef>
                <a:spcPts val="0"/>
              </a:spcBef>
              <a:spcAft>
                <a:spcPts val="0"/>
              </a:spcAft>
              <a:buClr>
                <a:srgbClr val="000000"/>
              </a:buClr>
              <a:buSzPts val="1200"/>
              <a:buFont typeface="Arial"/>
              <a:buNone/>
            </a:pPr>
            <a:endParaRPr sz="1200" b="1" i="0" u="none" strike="noStrike" cap="none">
              <a:solidFill>
                <a:srgbClr val="215967"/>
              </a:solidFill>
              <a:latin typeface="Arial"/>
              <a:ea typeface="Arial"/>
              <a:cs typeface="Arial"/>
              <a:sym typeface="Arial"/>
            </a:endParaRPr>
          </a:p>
          <a:p>
            <a:pPr marL="0" marR="1511300" lvl="0" indent="0" algn="l" rtl="0">
              <a:lnSpc>
                <a:spcPct val="115000"/>
              </a:lnSpc>
              <a:spcBef>
                <a:spcPts val="0"/>
              </a:spcBef>
              <a:spcAft>
                <a:spcPts val="0"/>
              </a:spcAft>
              <a:buClr>
                <a:srgbClr val="000000"/>
              </a:buClr>
              <a:buSzPts val="1200"/>
              <a:buFont typeface="Arial"/>
              <a:buNone/>
            </a:pPr>
            <a:r>
              <a:rPr lang="es" sz="1200" b="1" i="0" u="none" strike="noStrike" cap="none">
                <a:solidFill>
                  <a:srgbClr val="215967"/>
                </a:solidFill>
                <a:latin typeface="Arial"/>
                <a:ea typeface="Arial"/>
                <a:cs typeface="Arial"/>
                <a:sym typeface="Arial"/>
              </a:rPr>
              <a:t>Dr. José Luis Aranza Aguilar                                      </a:t>
            </a:r>
            <a:r>
              <a:rPr lang="es" sz="1200" b="0" i="0" u="none" strike="noStrike" cap="none">
                <a:solidFill>
                  <a:srgbClr val="000000"/>
                </a:solidFill>
                <a:latin typeface="Arial"/>
                <a:ea typeface="Arial"/>
                <a:cs typeface="Arial"/>
                <a:sym typeface="Arial"/>
              </a:rPr>
              <a:t>Médico Cirujano</a:t>
            </a:r>
            <a:endParaRPr sz="1200" b="0" i="0" u="none" strike="noStrike" cap="none">
              <a:solidFill>
                <a:srgbClr val="000000"/>
              </a:solidFill>
              <a:latin typeface="Arial"/>
              <a:ea typeface="Arial"/>
              <a:cs typeface="Arial"/>
              <a:sym typeface="Arial"/>
            </a:endParaRPr>
          </a:p>
          <a:p>
            <a:pPr marL="0" marR="1511300" lvl="0" indent="0" algn="l" rtl="0">
              <a:lnSpc>
                <a:spcPct val="115000"/>
              </a:lnSpc>
              <a:spcBef>
                <a:spcPts val="0"/>
              </a:spcBef>
              <a:spcAft>
                <a:spcPts val="0"/>
              </a:spcAft>
              <a:buClr>
                <a:srgbClr val="000000"/>
              </a:buClr>
              <a:buSzPts val="1200"/>
              <a:buFont typeface="Arial"/>
              <a:buNone/>
            </a:pPr>
            <a:r>
              <a:rPr lang="es" sz="1200" b="0" i="0" u="none" strike="noStrike" cap="none">
                <a:solidFill>
                  <a:srgbClr val="000000"/>
                </a:solidFill>
                <a:latin typeface="Arial"/>
                <a:ea typeface="Arial"/>
                <a:cs typeface="Arial"/>
                <a:sym typeface="Arial"/>
              </a:rPr>
              <a:t>Especialidad en Medicina Interrna Especialidad  en Cardiología.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s" sz="1200" b="1">
                <a:solidFill>
                  <a:srgbClr val="215967"/>
                </a:solidFill>
              </a:rPr>
              <a:t>Inicio en el cargo</a:t>
            </a:r>
            <a:r>
              <a:rPr lang="es" sz="1200" b="0" i="0" u="none" strike="noStrike" cap="none">
                <a:solidFill>
                  <a:srgbClr val="000000"/>
                </a:solidFill>
                <a:latin typeface="Arial"/>
                <a:ea typeface="Arial"/>
                <a:cs typeface="Arial"/>
                <a:sym typeface="Arial"/>
              </a:rPr>
              <a:t>: </a:t>
            </a:r>
            <a:r>
              <a:rPr lang="es" sz="1200"/>
              <a:t>01 de Diciembre de 2024</a:t>
            </a:r>
            <a:endParaRPr sz="1400" b="0" i="0" u="none" strike="noStrike" cap="none">
              <a:solidFill>
                <a:srgbClr val="000000"/>
              </a:solidFill>
              <a:latin typeface="Arial"/>
              <a:ea typeface="Arial"/>
              <a:cs typeface="Arial"/>
              <a:sym typeface="Arial"/>
            </a:endParaRPr>
          </a:p>
          <a:p>
            <a:pPr marL="0" marR="0" lvl="0" indent="0" algn="l" rtl="0">
              <a:lnSpc>
                <a:spcPct val="107916"/>
              </a:lnSpc>
              <a:spcBef>
                <a:spcPts val="0"/>
              </a:spcBef>
              <a:spcAft>
                <a:spcPts val="0"/>
              </a:spcAft>
              <a:buClr>
                <a:schemeClr val="dk1"/>
              </a:buClr>
              <a:buSzPts val="1100"/>
              <a:buFont typeface="Arial"/>
              <a:buNone/>
            </a:pPr>
            <a:endParaRPr sz="1300" b="1" i="0" u="none" strike="noStrike" cap="none">
              <a:solidFill>
                <a:srgbClr val="006455"/>
              </a:solidFill>
              <a:latin typeface="Montserrat"/>
              <a:ea typeface="Montserrat"/>
              <a:cs typeface="Montserrat"/>
              <a:sym typeface="Montserrat"/>
            </a:endParaRPr>
          </a:p>
        </p:txBody>
      </p:sp>
      <p:sp>
        <p:nvSpPr>
          <p:cNvPr id="68" name="Google Shape;68;p15"/>
          <p:cNvSpPr txBox="1"/>
          <p:nvPr/>
        </p:nvSpPr>
        <p:spPr>
          <a:xfrm>
            <a:off x="0" y="235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TAMAULIPAS</a:t>
            </a:r>
            <a:endParaRPr sz="2000" b="0" i="0" u="none" strike="noStrike" cap="none">
              <a:solidFill>
                <a:srgbClr val="FFFFFF"/>
              </a:solidFill>
              <a:latin typeface="Montserrat"/>
              <a:ea typeface="Montserrat"/>
              <a:cs typeface="Montserrat"/>
              <a:sym typeface="Montserrat"/>
            </a:endParaRPr>
          </a:p>
        </p:txBody>
      </p:sp>
      <p:pic>
        <p:nvPicPr>
          <p:cNvPr id="69" name="Google Shape;69;p15"/>
          <p:cNvPicPr preferRelativeResize="0"/>
          <p:nvPr/>
        </p:nvPicPr>
        <p:blipFill rotWithShape="1">
          <a:blip r:embed="rId3">
            <a:alphaModFix/>
          </a:blip>
          <a:srcRect/>
          <a:stretch/>
        </p:blipFill>
        <p:spPr>
          <a:xfrm>
            <a:off x="1225614" y="639232"/>
            <a:ext cx="1187800" cy="1430500"/>
          </a:xfrm>
          <a:prstGeom prst="rect">
            <a:avLst/>
          </a:prstGeom>
          <a:noFill/>
          <a:ln>
            <a:noFill/>
          </a:ln>
        </p:spPr>
      </p:pic>
      <p:graphicFrame>
        <p:nvGraphicFramePr>
          <p:cNvPr id="70" name="Google Shape;70;p15"/>
          <p:cNvGraphicFramePr/>
          <p:nvPr>
            <p:extLst>
              <p:ext uri="{D42A27DB-BD31-4B8C-83A1-F6EECF244321}">
                <p14:modId xmlns:p14="http://schemas.microsoft.com/office/powerpoint/2010/main" val="1787296500"/>
              </p:ext>
            </p:extLst>
          </p:nvPr>
        </p:nvGraphicFramePr>
        <p:xfrm>
          <a:off x="27115" y="2205482"/>
          <a:ext cx="7718175" cy="6874349"/>
        </p:xfrm>
        <a:graphic>
          <a:graphicData uri="http://schemas.openxmlformats.org/drawingml/2006/table">
            <a:tbl>
              <a:tblPr>
                <a:noFill/>
              </a:tblPr>
              <a:tblGrid>
                <a:gridCol w="579025">
                  <a:extLst>
                    <a:ext uri="{9D8B030D-6E8A-4147-A177-3AD203B41FA5}">
                      <a16:colId xmlns:a16="http://schemas.microsoft.com/office/drawing/2014/main" val="20000"/>
                    </a:ext>
                  </a:extLst>
                </a:gridCol>
                <a:gridCol w="2907081">
                  <a:extLst>
                    <a:ext uri="{9D8B030D-6E8A-4147-A177-3AD203B41FA5}">
                      <a16:colId xmlns:a16="http://schemas.microsoft.com/office/drawing/2014/main" val="20001"/>
                    </a:ext>
                  </a:extLst>
                </a:gridCol>
                <a:gridCol w="2796919">
                  <a:extLst>
                    <a:ext uri="{9D8B030D-6E8A-4147-A177-3AD203B41FA5}">
                      <a16:colId xmlns:a16="http://schemas.microsoft.com/office/drawing/2014/main" val="20002"/>
                    </a:ext>
                  </a:extLst>
                </a:gridCol>
                <a:gridCol w="1435150">
                  <a:extLst>
                    <a:ext uri="{9D8B030D-6E8A-4147-A177-3AD203B41FA5}">
                      <a16:colId xmlns:a16="http://schemas.microsoft.com/office/drawing/2014/main" val="20003"/>
                    </a:ext>
                  </a:extLst>
                </a:gridCol>
              </a:tblGrid>
              <a:tr h="841707">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75050" cap="flat" cmpd="sng">
                      <a:noFill/>
                      <a:prstDash val="solid"/>
                      <a:round/>
                      <a:headEnd type="none" w="sm" len="sm"/>
                      <a:tailEnd type="none" w="sm" len="sm"/>
                    </a:lnT>
                    <a:lnB w="12700" cmpd="sng">
                      <a:noFill/>
                      <a:prstDash val="solid"/>
                    </a:lnB>
                    <a:lnTlToBr w="12700" cmpd="sng">
                      <a:noFill/>
                      <a:prstDash val="solid"/>
                    </a:lnTlToBr>
                    <a:lnBlToTr w="12700" cmpd="sng">
                      <a:noFill/>
                      <a:prstDash val="solid"/>
                    </a:lnBlToTr>
                  </a:tcPr>
                </a:tc>
                <a:tc>
                  <a:txBody>
                    <a:bodyPr/>
                    <a:lstStyle/>
                    <a:p>
                      <a:pPr marL="0" marR="0" lvl="0" indent="0" algn="ctr" rtl="0">
                        <a:lnSpc>
                          <a:spcPct val="115000"/>
                        </a:lnSpc>
                        <a:spcBef>
                          <a:spcPts val="0"/>
                        </a:spcBef>
                        <a:spcAft>
                          <a:spcPts val="0"/>
                        </a:spcAft>
                        <a:buClr>
                          <a:srgbClr val="000000"/>
                        </a:buClr>
                        <a:buSzPts val="1000"/>
                        <a:buFont typeface="Arial"/>
                        <a:buNone/>
                      </a:pPr>
                      <a:endParaRPr sz="1000" b="1" u="none" strike="noStrike" cap="none">
                        <a:solidFill>
                          <a:srgbClr val="FFFFFF"/>
                        </a:solidFill>
                      </a:endParaRPr>
                    </a:p>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Jefatura De Servicios de Prestaciones</a:t>
                      </a:r>
                      <a:endParaRPr sz="1000" b="1" u="none" strike="noStrike" cap="none">
                        <a:solidFill>
                          <a:srgbClr val="FFFFFF"/>
                        </a:solidFill>
                      </a:endParaRPr>
                    </a:p>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Médicas</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80825"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gridSpan="2">
                  <a:txBody>
                    <a:bodyPr/>
                    <a:lstStyle/>
                    <a:p>
                      <a:pPr marL="25400" marR="0" lvl="0" indent="0" algn="l" rtl="0">
                        <a:lnSpc>
                          <a:spcPct val="115000"/>
                        </a:lnSpc>
                        <a:spcBef>
                          <a:spcPts val="0"/>
                        </a:spcBef>
                        <a:spcAft>
                          <a:spcPts val="0"/>
                        </a:spcAft>
                        <a:buClr>
                          <a:srgbClr val="000000"/>
                        </a:buClr>
                        <a:buSzPts val="1000"/>
                        <a:buFont typeface="Arial"/>
                        <a:buNone/>
                      </a:pPr>
                      <a:r>
                        <a:rPr lang="es" sz="1000" b="1" u="none" strike="noStrike" cap="none"/>
                        <a:t>Dr. Antonio Torres Morales                                        	</a:t>
                      </a:r>
                      <a:endParaRPr sz="1000" b="1" u="none" strike="noStrike" cap="none"/>
                    </a:p>
                    <a:p>
                      <a:pPr marL="25400" marR="0" lvl="0" indent="0" algn="l" rtl="0">
                        <a:lnSpc>
                          <a:spcPct val="115000"/>
                        </a:lnSpc>
                        <a:spcBef>
                          <a:spcPts val="0"/>
                        </a:spcBef>
                        <a:spcAft>
                          <a:spcPts val="0"/>
                        </a:spcAft>
                        <a:buClr>
                          <a:srgbClr val="000000"/>
                        </a:buClr>
                        <a:buSzPts val="1000"/>
                        <a:buFont typeface="Arial"/>
                        <a:buNone/>
                      </a:pPr>
                      <a:r>
                        <a:rPr lang="es" sz="1000" u="none" strike="noStrike" cap="none"/>
                        <a:t>Médico Cirujano. Especialidad en Medicina Interna.</a:t>
                      </a:r>
                      <a:endParaRPr sz="1000" u="none" strike="noStrike" cap="none"/>
                    </a:p>
                    <a:p>
                      <a:pPr marL="25400" marR="0" lvl="0" indent="0" algn="l" rtl="0">
                        <a:lnSpc>
                          <a:spcPct val="115000"/>
                        </a:lnSpc>
                        <a:spcBef>
                          <a:spcPts val="0"/>
                        </a:spcBef>
                        <a:spcAft>
                          <a:spcPts val="0"/>
                        </a:spcAft>
                        <a:buClr>
                          <a:srgbClr val="000000"/>
                        </a:buClr>
                        <a:buSzPts val="1000"/>
                        <a:buFont typeface="Arial"/>
                        <a:buNone/>
                      </a:pPr>
                      <a:r>
                        <a:rPr lang="es" sz="1000" u="none" strike="noStrike" cap="none"/>
                        <a:t>Maestro en Alta Dirección </a:t>
                      </a:r>
                      <a:endParaRPr sz="1000" u="none" strike="noStrike" cap="none"/>
                    </a:p>
                    <a:p>
                      <a:pPr marL="25400" marR="0" lvl="0" indent="0" algn="l" rtl="0">
                        <a:lnSpc>
                          <a:spcPct val="115000"/>
                        </a:lnSpc>
                        <a:spcBef>
                          <a:spcPts val="0"/>
                        </a:spcBef>
                        <a:spcAft>
                          <a:spcPts val="0"/>
                        </a:spcAft>
                        <a:buClr>
                          <a:srgbClr val="000000"/>
                        </a:buClr>
                        <a:buSzPts val="1000"/>
                        <a:buFont typeface="Arial"/>
                        <a:buNone/>
                      </a:pPr>
                      <a:r>
                        <a:rPr lang="es" sz="1000" b="0" u="none" strike="noStrike" cap="none"/>
                        <a:t>Inicio en el cargo</a:t>
                      </a:r>
                      <a:r>
                        <a:rPr lang="es" sz="1000" b="1" u="none" strike="noStrike" cap="none"/>
                        <a:t>:</a:t>
                      </a:r>
                      <a:r>
                        <a:rPr lang="es" sz="1000" u="none" strike="noStrike" cap="none"/>
                        <a:t> 16 de Enero de 2024</a:t>
                      </a:r>
                      <a:endParaRPr sz="1000" u="none" strike="noStrike" cap="none"/>
                    </a:p>
                  </a:txBody>
                  <a:tcPr marL="91425" marR="91425" marT="30475" marB="20950">
                    <a:lnL w="12700" cmpd="sng">
                      <a:noFill/>
                      <a:prstDash val="solid"/>
                    </a:lnL>
                    <a:lnR w="12700" cmpd="sng">
                      <a:noFill/>
                      <a:prstDash val="solid"/>
                    </a:lnR>
                    <a:lnT w="75050" cap="flat" cmpd="sng">
                      <a:noFill/>
                      <a:prstDash val="solid"/>
                      <a:round/>
                      <a:headEnd type="none" w="sm" len="sm"/>
                      <a:tailEnd type="none" w="sm" len="sm"/>
                    </a:lnT>
                    <a:lnB w="12700" cmpd="sng">
                      <a:noFill/>
                      <a:prstDash val="soli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0000"/>
                  </a:ext>
                </a:extLst>
              </a:tr>
              <a:tr h="635829">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 Jefatura De Servicios  de Salud en el Trabajo, Prestaciones  Económicas y Sociales</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just" rtl="0">
                        <a:lnSpc>
                          <a:spcPct val="115000"/>
                        </a:lnSpc>
                        <a:spcBef>
                          <a:spcPts val="0"/>
                        </a:spcBef>
                        <a:spcAft>
                          <a:spcPts val="0"/>
                        </a:spcAft>
                        <a:buClr>
                          <a:srgbClr val="000000"/>
                        </a:buClr>
                        <a:buSzPts val="1000"/>
                        <a:buFont typeface="Arial"/>
                        <a:buNone/>
                      </a:pPr>
                      <a:r>
                        <a:rPr lang="es" sz="1000" b="1" u="none" strike="noStrike" cap="none"/>
                        <a:t>Mtra. Daisy Yesenia Urquiza Rodríguez                   </a:t>
                      </a:r>
                      <a:r>
                        <a:rPr lang="es" sz="1000" u="none" strike="noStrike" cap="none"/>
                        <a:t>Maestra en Ciencias de la Educación                       </a:t>
                      </a:r>
                      <a:r>
                        <a:rPr lang="es" sz="1000" b="0"/>
                        <a:t>Inició</a:t>
                      </a:r>
                      <a:r>
                        <a:rPr lang="es" sz="1000" b="0" u="none" strike="noStrike" cap="none"/>
                        <a:t> en el cargo:  </a:t>
                      </a:r>
                      <a:r>
                        <a:rPr lang="es" sz="1000" u="none" strike="noStrike" cap="none"/>
                        <a:t>1 de Mayo 2024</a:t>
                      </a:r>
                      <a:endParaRPr sz="10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D9D9D9"/>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857838">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endParaRPr sz="1000" b="1" u="none" strike="noStrike" cap="none">
                        <a:solidFill>
                          <a:srgbClr val="FFFFFF"/>
                        </a:solidFill>
                      </a:endParaRPr>
                    </a:p>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Jefatura de Servicios de Afiliación y</a:t>
                      </a:r>
                      <a:endParaRPr sz="1000" b="1" u="none" strike="noStrike" cap="none">
                        <a:solidFill>
                          <a:srgbClr val="FFFFFF"/>
                        </a:solidFill>
                      </a:endParaRPr>
                    </a:p>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Cobranza</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l" rtl="0">
                        <a:lnSpc>
                          <a:spcPct val="106000"/>
                        </a:lnSpc>
                        <a:spcBef>
                          <a:spcPts val="0"/>
                        </a:spcBef>
                        <a:spcAft>
                          <a:spcPts val="0"/>
                        </a:spcAft>
                        <a:buClr>
                          <a:srgbClr val="000000"/>
                        </a:buClr>
                        <a:buSzPts val="1000"/>
                        <a:buFont typeface="Arial"/>
                        <a:buNone/>
                      </a:pPr>
                      <a:r>
                        <a:rPr lang="es-MX" sz="1000" b="1" u="none" strike="noStrike" cap="none" dirty="0"/>
                        <a:t>Mtra. Graciela Albania  González Villa                     </a:t>
                      </a:r>
                      <a:r>
                        <a:rPr lang="es-MX" sz="1000" b="0" u="none" strike="noStrike" cap="none" dirty="0"/>
                        <a:t>Licenciada en </a:t>
                      </a:r>
                      <a:r>
                        <a:rPr lang="es-MX" sz="1000" u="none" strike="noStrike" cap="none" dirty="0"/>
                        <a:t>Contaduría Pública</a:t>
                      </a:r>
                    </a:p>
                    <a:p>
                      <a:pPr marL="25400" marR="0" lvl="0" indent="0" algn="l" rtl="0">
                        <a:lnSpc>
                          <a:spcPct val="106000"/>
                        </a:lnSpc>
                        <a:spcBef>
                          <a:spcPts val="0"/>
                        </a:spcBef>
                        <a:spcAft>
                          <a:spcPts val="0"/>
                        </a:spcAft>
                        <a:buClr>
                          <a:srgbClr val="000000"/>
                        </a:buClr>
                        <a:buSzPts val="1000"/>
                        <a:buFont typeface="Arial"/>
                        <a:buNone/>
                      </a:pPr>
                      <a:r>
                        <a:rPr lang="es-MX" sz="1000" u="none" strike="noStrike" cap="none" dirty="0"/>
                        <a:t>Maestra en Derecho </a:t>
                      </a:r>
                      <a:r>
                        <a:rPr lang="es-MX" sz="1000" dirty="0"/>
                        <a:t>Fiscal</a:t>
                      </a:r>
                      <a:r>
                        <a:rPr lang="es-MX" sz="1000" u="none" strike="noStrike" cap="none" dirty="0"/>
                        <a:t>                                   </a:t>
                      </a:r>
                    </a:p>
                    <a:p>
                      <a:pPr marL="25400" marR="0" lvl="0" indent="0" algn="l" rtl="0">
                        <a:lnSpc>
                          <a:spcPct val="115000"/>
                        </a:lnSpc>
                        <a:spcBef>
                          <a:spcPts val="0"/>
                        </a:spcBef>
                        <a:spcAft>
                          <a:spcPts val="0"/>
                        </a:spcAft>
                        <a:buClr>
                          <a:srgbClr val="000000"/>
                        </a:buClr>
                        <a:buSzPts val="1000"/>
                        <a:buFont typeface="Arial"/>
                        <a:buNone/>
                      </a:pPr>
                      <a:r>
                        <a:rPr lang="es-MX" sz="1000" b="0" u="none" strike="noStrike" cap="none" dirty="0"/>
                        <a:t>Inicio en el cargo:16 de Mayo de 2025</a:t>
                      </a:r>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830532">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Jefatura de Servicios de Desarrollo de</a:t>
                      </a:r>
                      <a:endParaRPr sz="1000" b="1" u="none" strike="noStrike" cap="none">
                        <a:solidFill>
                          <a:srgbClr val="FFFFFF"/>
                        </a:solidFill>
                      </a:endParaRPr>
                    </a:p>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Personal</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just" rtl="0">
                        <a:lnSpc>
                          <a:spcPct val="115000"/>
                        </a:lnSpc>
                        <a:spcBef>
                          <a:spcPts val="0"/>
                        </a:spcBef>
                        <a:spcAft>
                          <a:spcPts val="0"/>
                        </a:spcAft>
                        <a:buClr>
                          <a:srgbClr val="000000"/>
                        </a:buClr>
                        <a:buSzPts val="1000"/>
                        <a:buFont typeface="Arial"/>
                        <a:buNone/>
                      </a:pPr>
                      <a:r>
                        <a:rPr lang="es" sz="1000" b="1" u="none" strike="noStrike" cap="none"/>
                        <a:t>Ing. Rodolfo Ramos Perez                                              </a:t>
                      </a:r>
                      <a:endParaRPr sz="1000" b="1" u="none" strike="noStrike" cap="none"/>
                    </a:p>
                    <a:p>
                      <a:pPr marL="25400" marR="0" lvl="0" indent="0" algn="just" rtl="0">
                        <a:lnSpc>
                          <a:spcPct val="115000"/>
                        </a:lnSpc>
                        <a:spcBef>
                          <a:spcPts val="0"/>
                        </a:spcBef>
                        <a:spcAft>
                          <a:spcPts val="0"/>
                        </a:spcAft>
                        <a:buClr>
                          <a:srgbClr val="000000"/>
                        </a:buClr>
                        <a:buSzPts val="1000"/>
                        <a:buFont typeface="Arial"/>
                        <a:buNone/>
                      </a:pPr>
                      <a:r>
                        <a:rPr lang="es" sz="1000" u="none" strike="noStrike" cap="none"/>
                        <a:t>Ingeniero Industrial Administrador                               </a:t>
                      </a:r>
                      <a:endParaRPr sz="1000" u="none" strike="noStrike" cap="none"/>
                    </a:p>
                    <a:p>
                      <a:pPr marL="25400" marR="0" lvl="0" indent="0" algn="l" rtl="0">
                        <a:lnSpc>
                          <a:spcPct val="115000"/>
                        </a:lnSpc>
                        <a:spcBef>
                          <a:spcPts val="0"/>
                        </a:spcBef>
                        <a:spcAft>
                          <a:spcPts val="0"/>
                        </a:spcAft>
                        <a:buClr>
                          <a:srgbClr val="000000"/>
                        </a:buClr>
                        <a:buSzPts val="1000"/>
                        <a:buFont typeface="Arial"/>
                        <a:buNone/>
                      </a:pPr>
                      <a:r>
                        <a:rPr lang="es" sz="1000" b="0" u="none" strike="noStrike" cap="none"/>
                        <a:t>Inicio en el cargo: </a:t>
                      </a:r>
                      <a:r>
                        <a:rPr lang="es" sz="1000" u="none" strike="noStrike" cap="none"/>
                        <a:t>16 de </a:t>
                      </a:r>
                      <a:r>
                        <a:rPr lang="es" sz="1000"/>
                        <a:t>Febrero de 2026</a:t>
                      </a:r>
                      <a:endParaRPr sz="10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D9D9D9"/>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914020">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Jefatura de Servicios de Finanzas</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l" rtl="0">
                        <a:lnSpc>
                          <a:spcPct val="106000"/>
                        </a:lnSpc>
                        <a:spcBef>
                          <a:spcPts val="0"/>
                        </a:spcBef>
                        <a:spcAft>
                          <a:spcPts val="0"/>
                        </a:spcAft>
                        <a:buClr>
                          <a:srgbClr val="000000"/>
                        </a:buClr>
                        <a:buSzPts val="1000"/>
                        <a:buFont typeface="Arial"/>
                        <a:buNone/>
                      </a:pPr>
                      <a:r>
                        <a:rPr lang="es" sz="1000" b="1" u="none" strike="noStrike" cap="none"/>
                        <a:t>Mtra. Mayra Lorena Garay Quintanilla                    </a:t>
                      </a:r>
                      <a:r>
                        <a:rPr lang="es" sz="1000" u="none" strike="noStrike" cap="none"/>
                        <a:t> Maestra en Administración de Hospitales y</a:t>
                      </a:r>
                      <a:endParaRPr sz="1000" u="none" strike="noStrike" cap="none"/>
                    </a:p>
                    <a:p>
                      <a:pPr marL="25400" marR="0" lvl="0" indent="0" algn="just" rtl="0">
                        <a:lnSpc>
                          <a:spcPct val="115000"/>
                        </a:lnSpc>
                        <a:spcBef>
                          <a:spcPts val="0"/>
                        </a:spcBef>
                        <a:spcAft>
                          <a:spcPts val="0"/>
                        </a:spcAft>
                        <a:buClr>
                          <a:srgbClr val="000000"/>
                        </a:buClr>
                        <a:buSzPts val="1000"/>
                        <a:buFont typeface="Arial"/>
                        <a:buNone/>
                      </a:pPr>
                      <a:r>
                        <a:rPr lang="es" sz="1000"/>
                        <a:t>Psicología Laboral</a:t>
                      </a:r>
                      <a:r>
                        <a:rPr lang="es" sz="1000" u="none" strike="noStrike" cap="none"/>
                        <a:t>                     	</a:t>
                      </a:r>
                      <a:endParaRPr sz="1000" b="1" u="none" strike="noStrike" cap="none"/>
                    </a:p>
                    <a:p>
                      <a:pPr marL="25400" marR="0" lvl="0" indent="0" algn="l" rtl="0">
                        <a:lnSpc>
                          <a:spcPct val="115000"/>
                        </a:lnSpc>
                        <a:spcBef>
                          <a:spcPts val="0"/>
                        </a:spcBef>
                        <a:spcAft>
                          <a:spcPts val="0"/>
                        </a:spcAft>
                        <a:buClr>
                          <a:srgbClr val="000000"/>
                        </a:buClr>
                        <a:buSzPts val="1000"/>
                        <a:buFont typeface="Arial"/>
                        <a:buNone/>
                      </a:pPr>
                      <a:r>
                        <a:rPr lang="es" sz="1000" b="0" u="none" strike="noStrike" cap="none"/>
                        <a:t>Inicio en el cargo</a:t>
                      </a:r>
                      <a:r>
                        <a:rPr lang="es" sz="1000" b="1" u="none" strike="noStrike" cap="none"/>
                        <a:t>:</a:t>
                      </a:r>
                      <a:r>
                        <a:rPr lang="es" sz="1000" u="none" strike="noStrike" cap="none"/>
                        <a:t> </a:t>
                      </a:r>
                      <a:r>
                        <a:rPr lang="es" sz="1000"/>
                        <a:t>01 de Abril de 2026</a:t>
                      </a:r>
                      <a:endParaRPr sz="10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052471">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Jefatura de Servicios Administrativos</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l" rtl="0">
                        <a:lnSpc>
                          <a:spcPct val="106000"/>
                        </a:lnSpc>
                        <a:spcBef>
                          <a:spcPts val="0"/>
                        </a:spcBef>
                        <a:spcAft>
                          <a:spcPts val="0"/>
                        </a:spcAft>
                        <a:buClr>
                          <a:srgbClr val="000000"/>
                        </a:buClr>
                        <a:buSzPts val="1000"/>
                        <a:buFont typeface="Arial"/>
                        <a:buNone/>
                      </a:pPr>
                      <a:r>
                        <a:rPr lang="es-MX" sz="1000" b="1" u="none" strike="noStrike" cap="none"/>
                        <a:t>Gral. y Mtro. </a:t>
                      </a:r>
                      <a:r>
                        <a:rPr lang="es-MX" sz="1000" b="1"/>
                        <a:t>Vicente Antonio Hernandez Sanchez.</a:t>
                      </a:r>
                    </a:p>
                    <a:p>
                      <a:pPr marL="25400" marR="0" lvl="0" indent="0" algn="l" rtl="0">
                        <a:lnSpc>
                          <a:spcPct val="106000"/>
                        </a:lnSpc>
                        <a:spcBef>
                          <a:spcPts val="0"/>
                        </a:spcBef>
                        <a:spcAft>
                          <a:spcPts val="0"/>
                        </a:spcAft>
                        <a:buClr>
                          <a:srgbClr val="000000"/>
                        </a:buClr>
                        <a:buSzPts val="1000"/>
                        <a:buFont typeface="Arial"/>
                        <a:buNone/>
                      </a:pPr>
                      <a:r>
                        <a:rPr lang="es-MX" sz="1000" b="0"/>
                        <a:t>Maestro en Administración de Empresas, Especialidad en Finanzas y Maestría en Seguridad Nacional</a:t>
                      </a:r>
                      <a:r>
                        <a:rPr lang="es-MX" sz="1000" b="0" u="none" strike="noStrike" cap="none"/>
                        <a:t>                                                                                  </a:t>
                      </a:r>
                    </a:p>
                    <a:p>
                      <a:pPr marL="25400" marR="0" lvl="0" indent="0" algn="l" rtl="0">
                        <a:lnSpc>
                          <a:spcPct val="115000"/>
                        </a:lnSpc>
                        <a:spcBef>
                          <a:spcPts val="0"/>
                        </a:spcBef>
                        <a:spcAft>
                          <a:spcPts val="0"/>
                        </a:spcAft>
                        <a:buClr>
                          <a:srgbClr val="000000"/>
                        </a:buClr>
                        <a:buSzPts val="1000"/>
                        <a:buFont typeface="Arial"/>
                        <a:buNone/>
                      </a:pPr>
                      <a:r>
                        <a:rPr lang="es-MX" sz="1000" b="0" u="none" strike="noStrike" cap="none"/>
                        <a:t>Inicio en el cargo: 1</a:t>
                      </a:r>
                      <a:r>
                        <a:rPr lang="es-MX" sz="1000" b="0"/>
                        <a:t>0 de marzo de 2026</a:t>
                      </a:r>
                      <a:endParaRPr lang="es-MX" sz="1000" b="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D9D9D9"/>
                    </a:solidFill>
                  </a:tcPr>
                </a:tc>
                <a:tc>
                  <a:txBody>
                    <a:bodyPr/>
                    <a:lstStyle/>
                    <a:p>
                      <a:pPr marL="0" marR="0" lvl="0" indent="0" algn="l" rtl="0">
                        <a:lnSpc>
                          <a:spcPct val="115000"/>
                        </a:lnSpc>
                        <a:spcBef>
                          <a:spcPts val="0"/>
                        </a:spcBef>
                        <a:spcAft>
                          <a:spcPts val="0"/>
                        </a:spcAft>
                        <a:buClr>
                          <a:srgbClr val="000000"/>
                        </a:buClr>
                        <a:buSzPts val="1200"/>
                        <a:buFont typeface="Arial"/>
                        <a:buNone/>
                      </a:pPr>
                      <a:r>
                        <a:rPr lang="es" sz="1200" b="1" u="none" strike="noStrike" cap="none"/>
                        <a:t> </a:t>
                      </a:r>
                      <a:endParaRPr sz="1200" b="1"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799613">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Jefatura de Servicios Juridicos</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just" rtl="0">
                        <a:lnSpc>
                          <a:spcPct val="106000"/>
                        </a:lnSpc>
                        <a:spcBef>
                          <a:spcPts val="0"/>
                        </a:spcBef>
                        <a:spcAft>
                          <a:spcPts val="0"/>
                        </a:spcAft>
                        <a:buClr>
                          <a:srgbClr val="000000"/>
                        </a:buClr>
                        <a:buSzPts val="1000"/>
                        <a:buFont typeface="Arial"/>
                        <a:buNone/>
                      </a:pPr>
                      <a:r>
                        <a:rPr lang="es" sz="1000" b="1" u="none" strike="noStrike" cap="none" dirty="0"/>
                        <a:t>Lic.Sergio Guadalupe Cantú Rivera                          </a:t>
                      </a:r>
                      <a:r>
                        <a:rPr lang="es" sz="1000" u="none" strike="noStrike" cap="none" dirty="0"/>
                        <a:t>Licenciado  en Derecho                                                  </a:t>
                      </a:r>
                      <a:endParaRPr sz="1000" u="none" strike="noStrike" cap="none" dirty="0"/>
                    </a:p>
                    <a:p>
                      <a:pPr marL="25400" marR="0" lvl="0" indent="0" algn="l" rtl="0">
                        <a:lnSpc>
                          <a:spcPct val="115000"/>
                        </a:lnSpc>
                        <a:spcBef>
                          <a:spcPts val="0"/>
                        </a:spcBef>
                        <a:spcAft>
                          <a:spcPts val="0"/>
                        </a:spcAft>
                        <a:buClr>
                          <a:srgbClr val="000000"/>
                        </a:buClr>
                        <a:buSzPts val="1000"/>
                        <a:buFont typeface="Arial"/>
                        <a:buNone/>
                      </a:pPr>
                      <a:r>
                        <a:rPr lang="es" sz="1000" b="0" u="none" strike="noStrike" cap="none" dirty="0"/>
                        <a:t>Inicio en el cargo: 16 de Marzo</a:t>
                      </a:r>
                      <a:endParaRPr sz="1000" b="0" u="none" strike="noStrike" cap="none" dirty="0"/>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942339">
                <a:tc>
                  <a:txBody>
                    <a:bodyPr/>
                    <a:lstStyle/>
                    <a:p>
                      <a:pPr marL="0" marR="0" lvl="0" indent="0" algn="l" rtl="0">
                        <a:lnSpc>
                          <a:spcPct val="115000"/>
                        </a:lnSpc>
                        <a:spcBef>
                          <a:spcPts val="0"/>
                        </a:spcBef>
                        <a:spcAft>
                          <a:spcPts val="0"/>
                        </a:spcAft>
                        <a:buClr>
                          <a:srgbClr val="000000"/>
                        </a:buClr>
                        <a:buSzPts val="1400"/>
                        <a:buFont typeface="Arial"/>
                        <a:buNone/>
                      </a:pPr>
                      <a:r>
                        <a:rPr lang="es" sz="1400" u="none" strike="noStrike" cap="none"/>
                        <a:t> </a:t>
                      </a:r>
                      <a:endParaRPr sz="14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marL="0" marR="0" lvl="0" indent="0" algn="ctr" rtl="0">
                        <a:lnSpc>
                          <a:spcPct val="115000"/>
                        </a:lnSpc>
                        <a:spcBef>
                          <a:spcPts val="0"/>
                        </a:spcBef>
                        <a:spcAft>
                          <a:spcPts val="0"/>
                        </a:spcAft>
                        <a:buClr>
                          <a:srgbClr val="000000"/>
                        </a:buClr>
                        <a:buSzPts val="1000"/>
                        <a:buFont typeface="Arial"/>
                        <a:buNone/>
                      </a:pPr>
                      <a:r>
                        <a:rPr lang="es" sz="1000" b="1">
                          <a:solidFill>
                            <a:srgbClr val="FFFFFF"/>
                          </a:solidFill>
                        </a:rPr>
                        <a:t>Secretaría General de la Sección X</a:t>
                      </a:r>
                      <a:endParaRPr sz="1000" b="1" u="none" strike="noStrike" cap="none">
                        <a:solidFill>
                          <a:srgbClr val="FFFFFF"/>
                        </a:solidFill>
                      </a:endParaRPr>
                    </a:p>
                  </a:txBody>
                  <a:tcPr marL="91425" marR="91425" marT="30475" marB="20950" anchor="ctr">
                    <a:lnL w="12700" cmpd="sng">
                      <a:noFill/>
                      <a:prstDash val="solid"/>
                    </a:lnL>
                    <a:lnR w="12700" cmpd="sng">
                      <a:noFill/>
                      <a:prstDash val="solid"/>
                    </a:lnR>
                    <a:lnT w="23100" cap="flat" cmpd="sng">
                      <a:noFill/>
                      <a:prstDash val="solid"/>
                      <a:round/>
                      <a:headEnd type="none" w="sm" len="sm"/>
                      <a:tailEnd type="none" w="sm" len="sm"/>
                    </a:lnT>
                    <a:lnB w="23100" cap="flat" cmpd="sng">
                      <a:noFill/>
                      <a:prstDash val="solid"/>
                      <a:round/>
                      <a:headEnd type="none" w="sm" len="sm"/>
                      <a:tailEnd type="none" w="sm" len="sm"/>
                    </a:lnB>
                    <a:lnTlToBr w="12700" cmpd="sng">
                      <a:noFill/>
                      <a:prstDash val="solid"/>
                    </a:lnTlToBr>
                    <a:lnBlToTr w="12700" cmpd="sng">
                      <a:noFill/>
                      <a:prstDash val="solid"/>
                    </a:lnBlToTr>
                    <a:solidFill>
                      <a:srgbClr val="046557"/>
                    </a:solidFill>
                  </a:tcPr>
                </a:tc>
                <a:tc>
                  <a:txBody>
                    <a:bodyPr/>
                    <a:lstStyle/>
                    <a:p>
                      <a:pPr marL="25400" marR="0" lvl="0" indent="0" algn="just" rtl="0">
                        <a:lnSpc>
                          <a:spcPct val="115000"/>
                        </a:lnSpc>
                        <a:spcBef>
                          <a:spcPts val="0"/>
                        </a:spcBef>
                        <a:spcAft>
                          <a:spcPts val="0"/>
                        </a:spcAft>
                        <a:buClr>
                          <a:srgbClr val="000000"/>
                        </a:buClr>
                        <a:buSzPts val="1000"/>
                        <a:buFont typeface="Arial"/>
                        <a:buNone/>
                      </a:pPr>
                      <a:r>
                        <a:rPr lang="es" sz="1000" b="1" u="none" strike="noStrike" cap="none"/>
                        <a:t>Dr. Jorge González Ortíz                                               </a:t>
                      </a:r>
                      <a:endParaRPr sz="1000" b="1" u="none" strike="noStrike" cap="none"/>
                    </a:p>
                    <a:p>
                      <a:pPr marL="25400" marR="0" lvl="0" indent="0" algn="just" rtl="0">
                        <a:lnSpc>
                          <a:spcPct val="115000"/>
                        </a:lnSpc>
                        <a:spcBef>
                          <a:spcPts val="0"/>
                        </a:spcBef>
                        <a:spcAft>
                          <a:spcPts val="0"/>
                        </a:spcAft>
                        <a:buClr>
                          <a:srgbClr val="000000"/>
                        </a:buClr>
                        <a:buSzPts val="1000"/>
                        <a:buFont typeface="Arial"/>
                        <a:buNone/>
                      </a:pPr>
                      <a:r>
                        <a:rPr lang="es" sz="1000" u="none" strike="noStrike" cap="none"/>
                        <a:t>Médico Cirujano. </a:t>
                      </a:r>
                      <a:endParaRPr sz="1000" u="none" strike="noStrike" cap="none"/>
                    </a:p>
                    <a:p>
                      <a:pPr marL="25400" marR="0" lvl="0" indent="0" algn="just" rtl="0">
                        <a:lnSpc>
                          <a:spcPct val="115000"/>
                        </a:lnSpc>
                        <a:spcBef>
                          <a:spcPts val="0"/>
                        </a:spcBef>
                        <a:spcAft>
                          <a:spcPts val="0"/>
                        </a:spcAft>
                        <a:buClr>
                          <a:srgbClr val="000000"/>
                        </a:buClr>
                        <a:buSzPts val="1000"/>
                        <a:buFont typeface="Arial"/>
                        <a:buNone/>
                      </a:pPr>
                      <a:r>
                        <a:rPr lang="es" sz="1000" u="none" strike="noStrike" cap="none"/>
                        <a:t>Especialidad en Pediatría            </a:t>
                      </a:r>
                      <a:endParaRPr sz="1000" b="1" u="none" strike="noStrike" cap="none"/>
                    </a:p>
                    <a:p>
                      <a:pPr marL="25400" marR="0" lvl="0" indent="0" algn="l" rtl="0">
                        <a:lnSpc>
                          <a:spcPct val="115000"/>
                        </a:lnSpc>
                        <a:spcBef>
                          <a:spcPts val="0"/>
                        </a:spcBef>
                        <a:spcAft>
                          <a:spcPts val="0"/>
                        </a:spcAft>
                        <a:buClr>
                          <a:srgbClr val="000000"/>
                        </a:buClr>
                        <a:buSzPts val="1000"/>
                        <a:buFont typeface="Arial"/>
                        <a:buNone/>
                      </a:pPr>
                      <a:r>
                        <a:rPr lang="es" sz="1000" b="0" u="none" strike="noStrike" cap="none"/>
                        <a:t>Inicio en el cargo</a:t>
                      </a:r>
                      <a:r>
                        <a:rPr lang="es" sz="1000" b="1" u="none" strike="noStrike" cap="none"/>
                        <a:t>:</a:t>
                      </a:r>
                      <a:r>
                        <a:rPr lang="es" sz="1000" u="none" strike="noStrike" cap="none"/>
                        <a:t> 16 de Septiembre de 2024</a:t>
                      </a:r>
                      <a:endParaRPr sz="1000" u="none" strike="noStrike" cap="none"/>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D9D9D9"/>
                    </a:solidFill>
                  </a:tcPr>
                </a:tc>
                <a:tc>
                  <a:txBody>
                    <a:bodyPr/>
                    <a:lstStyle/>
                    <a:p>
                      <a:pPr marL="0" marR="0" lvl="0" indent="0" algn="l" rtl="0">
                        <a:lnSpc>
                          <a:spcPct val="115000"/>
                        </a:lnSpc>
                        <a:spcBef>
                          <a:spcPts val="0"/>
                        </a:spcBef>
                        <a:spcAft>
                          <a:spcPts val="0"/>
                        </a:spcAft>
                        <a:buClr>
                          <a:srgbClr val="000000"/>
                        </a:buClr>
                        <a:buSzPts val="1200"/>
                        <a:buFont typeface="Arial"/>
                        <a:buNone/>
                      </a:pPr>
                      <a:r>
                        <a:rPr lang="es" sz="1200" u="none" strike="noStrike" cap="none" dirty="0"/>
                        <a:t> </a:t>
                      </a:r>
                      <a:endParaRPr sz="1200" u="none" strike="noStrike" cap="none" dirty="0"/>
                    </a:p>
                  </a:txBody>
                  <a:tcPr marL="91425" marR="91425" marT="30475" marB="2095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bl>
          </a:graphicData>
        </a:graphic>
      </p:graphicFrame>
      <p:pic>
        <p:nvPicPr>
          <p:cNvPr id="71" name="Google Shape;71;p15"/>
          <p:cNvPicPr preferRelativeResize="0"/>
          <p:nvPr/>
        </p:nvPicPr>
        <p:blipFill>
          <a:blip r:embed="rId4">
            <a:alphaModFix/>
          </a:blip>
          <a:stretch>
            <a:fillRect/>
          </a:stretch>
        </p:blipFill>
        <p:spPr>
          <a:xfrm>
            <a:off x="6737787" y="2129699"/>
            <a:ext cx="697881" cy="815075"/>
          </a:xfrm>
          <a:prstGeom prst="rect">
            <a:avLst/>
          </a:prstGeom>
          <a:noFill/>
          <a:ln>
            <a:noFill/>
          </a:ln>
        </p:spPr>
      </p:pic>
      <p:pic>
        <p:nvPicPr>
          <p:cNvPr id="72" name="Google Shape;72;p15"/>
          <p:cNvPicPr preferRelativeResize="0"/>
          <p:nvPr/>
        </p:nvPicPr>
        <p:blipFill>
          <a:blip r:embed="rId5">
            <a:alphaModFix/>
          </a:blip>
          <a:stretch>
            <a:fillRect/>
          </a:stretch>
        </p:blipFill>
        <p:spPr>
          <a:xfrm>
            <a:off x="6695925" y="3063306"/>
            <a:ext cx="697900" cy="771856"/>
          </a:xfrm>
          <a:prstGeom prst="rect">
            <a:avLst/>
          </a:prstGeom>
          <a:noFill/>
          <a:ln>
            <a:noFill/>
          </a:ln>
        </p:spPr>
      </p:pic>
      <p:pic>
        <p:nvPicPr>
          <p:cNvPr id="73" name="Google Shape;73;p15"/>
          <p:cNvPicPr preferRelativeResize="0"/>
          <p:nvPr/>
        </p:nvPicPr>
        <p:blipFill>
          <a:blip r:embed="rId6">
            <a:alphaModFix/>
          </a:blip>
          <a:stretch>
            <a:fillRect/>
          </a:stretch>
        </p:blipFill>
        <p:spPr>
          <a:xfrm>
            <a:off x="6695924" y="3839157"/>
            <a:ext cx="697875" cy="713277"/>
          </a:xfrm>
          <a:prstGeom prst="rect">
            <a:avLst/>
          </a:prstGeom>
          <a:noFill/>
          <a:ln>
            <a:noFill/>
          </a:ln>
        </p:spPr>
      </p:pic>
      <p:pic>
        <p:nvPicPr>
          <p:cNvPr id="74" name="Google Shape;74;p15"/>
          <p:cNvPicPr preferRelativeResize="0"/>
          <p:nvPr/>
        </p:nvPicPr>
        <p:blipFill>
          <a:blip r:embed="rId7">
            <a:alphaModFix/>
          </a:blip>
          <a:stretch>
            <a:fillRect/>
          </a:stretch>
        </p:blipFill>
        <p:spPr>
          <a:xfrm>
            <a:off x="6749188" y="4558042"/>
            <a:ext cx="591350" cy="747875"/>
          </a:xfrm>
          <a:prstGeom prst="rect">
            <a:avLst/>
          </a:prstGeom>
          <a:noFill/>
          <a:ln>
            <a:noFill/>
          </a:ln>
        </p:spPr>
      </p:pic>
      <p:pic>
        <p:nvPicPr>
          <p:cNvPr id="75" name="Google Shape;75;p15"/>
          <p:cNvPicPr preferRelativeResize="0"/>
          <p:nvPr/>
        </p:nvPicPr>
        <p:blipFill>
          <a:blip r:embed="rId8">
            <a:alphaModFix/>
          </a:blip>
          <a:stretch>
            <a:fillRect/>
          </a:stretch>
        </p:blipFill>
        <p:spPr>
          <a:xfrm>
            <a:off x="6654063" y="5386496"/>
            <a:ext cx="781600" cy="795402"/>
          </a:xfrm>
          <a:prstGeom prst="rect">
            <a:avLst/>
          </a:prstGeom>
          <a:noFill/>
          <a:ln>
            <a:noFill/>
          </a:ln>
        </p:spPr>
      </p:pic>
      <p:pic>
        <p:nvPicPr>
          <p:cNvPr id="76" name="Google Shape;76;p15"/>
          <p:cNvPicPr preferRelativeResize="0"/>
          <p:nvPr/>
        </p:nvPicPr>
        <p:blipFill>
          <a:blip r:embed="rId9">
            <a:alphaModFix/>
          </a:blip>
          <a:stretch>
            <a:fillRect/>
          </a:stretch>
        </p:blipFill>
        <p:spPr>
          <a:xfrm>
            <a:off x="6654064" y="6257680"/>
            <a:ext cx="793014" cy="970647"/>
          </a:xfrm>
          <a:prstGeom prst="rect">
            <a:avLst/>
          </a:prstGeom>
          <a:noFill/>
          <a:ln>
            <a:noFill/>
          </a:ln>
        </p:spPr>
      </p:pic>
      <p:pic>
        <p:nvPicPr>
          <p:cNvPr id="77" name="Google Shape;77;p15"/>
          <p:cNvPicPr preferRelativeResize="0"/>
          <p:nvPr/>
        </p:nvPicPr>
        <p:blipFill>
          <a:blip r:embed="rId10">
            <a:alphaModFix/>
          </a:blip>
          <a:stretch>
            <a:fillRect/>
          </a:stretch>
        </p:blipFill>
        <p:spPr>
          <a:xfrm>
            <a:off x="6695913" y="7371204"/>
            <a:ext cx="697875" cy="702856"/>
          </a:xfrm>
          <a:prstGeom prst="rect">
            <a:avLst/>
          </a:prstGeom>
          <a:noFill/>
          <a:ln>
            <a:noFill/>
          </a:ln>
        </p:spPr>
      </p:pic>
      <p:pic>
        <p:nvPicPr>
          <p:cNvPr id="78" name="Google Shape;78;p15"/>
          <p:cNvPicPr preferRelativeResize="0"/>
          <p:nvPr/>
        </p:nvPicPr>
        <p:blipFill>
          <a:blip r:embed="rId11">
            <a:alphaModFix/>
          </a:blip>
          <a:stretch>
            <a:fillRect/>
          </a:stretch>
        </p:blipFill>
        <p:spPr>
          <a:xfrm>
            <a:off x="6654063" y="8243239"/>
            <a:ext cx="781600" cy="80216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a:solidFill>
                  <a:srgbClr val="006455"/>
                </a:solidFill>
                <a:latin typeface="Noto Sans"/>
                <a:ea typeface="Noto Sans"/>
                <a:cs typeface="Noto Sans"/>
                <a:sym typeface="Noto Sans"/>
              </a:rPr>
              <a:t>Personas Trabajadoras Independientes</a:t>
            </a:r>
            <a:endParaRPr sz="700" b="1" i="0" u="none" strike="noStrike" cap="none">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 (incluye COPLAMAR)</a:t>
            </a:r>
          </a:p>
        </p:txBody>
      </p:sp>
      <p:cxnSp>
        <p:nvCxnSpPr>
          <p:cNvPr id="115" name="Connector 114"/>
          <p:cNvCxnSpPr/>
          <p:nvPr/>
        </p:nvCxnSpPr>
        <p:spPr>
          <a:xfrm>
            <a:off x="65534" y="9189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4848055" y="4536998"/>
            <a:ext cx="3240000" cy="215444"/>
          </a:xfrm>
          <a:prstGeom prst="rect">
            <a:avLst/>
          </a:prstGeom>
          <a:noFill/>
        </p:spPr>
        <p:txBody>
          <a:bodyPr wrap="square">
            <a:spAutoFit/>
          </a:bodyPr>
          <a:lstStyle/>
          <a:p>
            <a:pPr algn="l">
              <a:defRPr sz="800">
                <a:solidFill>
                  <a:srgbClr val="000000"/>
                </a:solidFill>
                <a:latin typeface="Montserrat"/>
              </a:defRPr>
            </a:pPr>
            <a:r>
              <a:t>Fuente: CONAPO, </a:t>
            </a:r>
            <a:r>
              <a:rPr err="1"/>
              <a:t>proyección</a:t>
            </a:r>
            <a:r>
              <a:t> a </a:t>
            </a:r>
            <a:r>
              <a:rPr err="1"/>
              <a:t>enero</a:t>
            </a:r>
            <a:r>
              <a:t> de 2026.</a:t>
            </a:r>
          </a:p>
        </p:txBody>
      </p:sp>
      <p:graphicFrame>
        <p:nvGraphicFramePr>
          <p:cNvPr id="117" name="Chart 116"/>
          <p:cNvGraphicFramePr>
            <a:graphicFrameLocks noGrp="1"/>
          </p:cNvGraphicFramePr>
          <p:nvPr>
            <p:extLst>
              <p:ext uri="{D42A27DB-BD31-4B8C-83A1-F6EECF244321}">
                <p14:modId xmlns:p14="http://schemas.microsoft.com/office/powerpoint/2010/main" val="507529903"/>
              </p:ext>
            </p:extLst>
          </p:nvPr>
        </p:nvGraphicFramePr>
        <p:xfrm>
          <a:off x="2437134" y="1461599"/>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629544" y="2812598"/>
            <a:ext cx="1188000" cy="503999"/>
          </a:xfrm>
          <a:prstGeom prst="rect">
            <a:avLst/>
          </a:prstGeom>
          <a:noFill/>
        </p:spPr>
        <p:txBody>
          <a:bodyPr wrap="none"/>
          <a:lstStyle/>
          <a:p>
            <a:pPr algn="l">
              <a:defRPr sz="1400" b="1">
                <a:solidFill>
                  <a:srgbClr val="595959"/>
                </a:solidFill>
                <a:latin typeface="Montserrat"/>
              </a:defRPr>
            </a:pPr>
            <a:r>
              <a:t>2,046,440</a:t>
            </a:r>
            <a:br>
              <a:rPr/>
            </a:br>
            <a:r>
              <a:t>54%</a:t>
            </a:r>
          </a:p>
        </p:txBody>
      </p:sp>
      <p:pic>
        <p:nvPicPr>
          <p:cNvPr id="119" name="Picture 118" descr="imss.png"/>
          <p:cNvPicPr>
            <a:picLocks noChangeAspect="1"/>
          </p:cNvPicPr>
          <p:nvPr/>
        </p:nvPicPr>
        <p:blipFill>
          <a:blip r:embed="rId6"/>
          <a:stretch>
            <a:fillRect/>
          </a:stretch>
        </p:blipFill>
        <p:spPr>
          <a:xfrm>
            <a:off x="6090790" y="2812598"/>
            <a:ext cx="377265" cy="468000"/>
          </a:xfrm>
          <a:prstGeom prst="rect">
            <a:avLst/>
          </a:prstGeom>
        </p:spPr>
      </p:pic>
      <p:sp>
        <p:nvSpPr>
          <p:cNvPr id="120" name="Rectangle 119"/>
          <p:cNvSpPr/>
          <p:nvPr/>
        </p:nvSpPr>
        <p:spPr>
          <a:xfrm>
            <a:off x="5806901" y="3130512"/>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770775" y="4482000"/>
            <a:ext cx="1188000" cy="503999"/>
          </a:xfrm>
          <a:prstGeom prst="rect">
            <a:avLst/>
          </a:prstGeom>
          <a:noFill/>
        </p:spPr>
        <p:txBody>
          <a:bodyPr wrap="none"/>
          <a:lstStyle/>
          <a:p>
            <a:pPr algn="l">
              <a:defRPr sz="1400" b="1">
                <a:solidFill>
                  <a:srgbClr val="595959"/>
                </a:solidFill>
                <a:latin typeface="Montserrat"/>
              </a:defRPr>
            </a:pPr>
            <a:r>
              <a:t>244,977</a:t>
            </a:r>
            <a:br>
              <a:rPr/>
            </a:br>
            <a:r>
              <a:t>6%</a:t>
            </a:r>
          </a:p>
        </p:txBody>
      </p:sp>
      <p:pic>
        <p:nvPicPr>
          <p:cNvPr id="122" name="Picture 121" descr="imss_coplamar.png"/>
          <p:cNvPicPr>
            <a:picLocks noChangeAspect="1"/>
          </p:cNvPicPr>
          <p:nvPr/>
        </p:nvPicPr>
        <p:blipFill>
          <a:blip r:embed="rId7"/>
          <a:stretch>
            <a:fillRect/>
          </a:stretch>
        </p:blipFill>
        <p:spPr>
          <a:xfrm>
            <a:off x="2571141" y="4554000"/>
            <a:ext cx="586036" cy="468000"/>
          </a:xfrm>
          <a:prstGeom prst="rect">
            <a:avLst/>
          </a:prstGeom>
        </p:spPr>
      </p:pic>
      <p:sp>
        <p:nvSpPr>
          <p:cNvPr id="123" name="Rectangle 122"/>
          <p:cNvSpPr/>
          <p:nvPr/>
        </p:nvSpPr>
        <p:spPr>
          <a:xfrm>
            <a:off x="3158793" y="4626066"/>
            <a:ext cx="122400" cy="122400"/>
          </a:xfrm>
          <a:prstGeom prst="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07201" y="3384001"/>
            <a:ext cx="1188000" cy="503999"/>
          </a:xfrm>
          <a:prstGeom prst="rect">
            <a:avLst/>
          </a:prstGeom>
          <a:noFill/>
        </p:spPr>
        <p:txBody>
          <a:bodyPr wrap="none"/>
          <a:lstStyle/>
          <a:p>
            <a:pPr algn="l">
              <a:defRPr sz="1400" b="1">
                <a:solidFill>
                  <a:srgbClr val="595959"/>
                </a:solidFill>
                <a:latin typeface="Montserrat"/>
              </a:defRPr>
            </a:pPr>
            <a:r>
              <a:t>419,881</a:t>
            </a:r>
            <a:br>
              <a:rPr/>
            </a:br>
            <a:r>
              <a:t>11%</a:t>
            </a:r>
          </a:p>
        </p:txBody>
      </p:sp>
      <p:pic>
        <p:nvPicPr>
          <p:cNvPr id="125" name="Picture 124" descr="issste.png"/>
          <p:cNvPicPr>
            <a:picLocks noChangeAspect="1"/>
          </p:cNvPicPr>
          <p:nvPr/>
        </p:nvPicPr>
        <p:blipFill>
          <a:blip r:embed="rId8"/>
          <a:stretch>
            <a:fillRect/>
          </a:stretch>
        </p:blipFill>
        <p:spPr>
          <a:xfrm>
            <a:off x="730864" y="3668400"/>
            <a:ext cx="1437091" cy="468000"/>
          </a:xfrm>
          <a:prstGeom prst="rect">
            <a:avLst/>
          </a:prstGeom>
        </p:spPr>
      </p:pic>
      <p:sp>
        <p:nvSpPr>
          <p:cNvPr id="126" name="Rectangle 125"/>
          <p:cNvSpPr/>
          <p:nvPr/>
        </p:nvSpPr>
        <p:spPr>
          <a:xfrm>
            <a:off x="2437134" y="3762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2598" y="1238532"/>
            <a:ext cx="1188000" cy="503999"/>
          </a:xfrm>
          <a:prstGeom prst="rect">
            <a:avLst/>
          </a:prstGeom>
          <a:noFill/>
        </p:spPr>
        <p:txBody>
          <a:bodyPr wrap="none"/>
          <a:lstStyle/>
          <a:p>
            <a:pPr algn="r">
              <a:defRPr sz="1400" b="1">
                <a:solidFill>
                  <a:srgbClr val="595959"/>
                </a:solidFill>
                <a:latin typeface="Montserrat"/>
              </a:defRPr>
            </a:pPr>
            <a:r>
              <a:t>962,636</a:t>
            </a:r>
            <a:br>
              <a:rPr/>
            </a:br>
            <a:r>
              <a:t>25%</a:t>
            </a:r>
          </a:p>
        </p:txBody>
      </p:sp>
      <p:pic>
        <p:nvPicPr>
          <p:cNvPr id="128" name="Picture 127" descr="28.png"/>
          <p:cNvPicPr>
            <a:picLocks noChangeAspect="1"/>
          </p:cNvPicPr>
          <p:nvPr/>
        </p:nvPicPr>
        <p:blipFill>
          <a:blip r:embed="rId9"/>
          <a:stretch>
            <a:fillRect/>
          </a:stretch>
        </p:blipFill>
        <p:spPr>
          <a:xfrm>
            <a:off x="1061880" y="1327731"/>
            <a:ext cx="1904118" cy="468000"/>
          </a:xfrm>
          <a:prstGeom prst="rect">
            <a:avLst/>
          </a:prstGeom>
        </p:spPr>
      </p:pic>
      <p:sp>
        <p:nvSpPr>
          <p:cNvPr id="129" name="Rectangle 128"/>
          <p:cNvSpPr/>
          <p:nvPr/>
        </p:nvSpPr>
        <p:spPr>
          <a:xfrm>
            <a:off x="3129670" y="1605263"/>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3916585" y="986401"/>
            <a:ext cx="1622082" cy="554200"/>
          </a:xfrm>
          <a:prstGeom prst="rect">
            <a:avLst/>
          </a:prstGeom>
          <a:noFill/>
        </p:spPr>
        <p:txBody>
          <a:bodyPr wrap="none"/>
          <a:lstStyle/>
          <a:p>
            <a:pPr algn="r">
              <a:defRPr sz="1400" b="1">
                <a:solidFill>
                  <a:srgbClr val="595959"/>
                </a:solidFill>
                <a:latin typeface="Montserrat"/>
              </a:defRPr>
            </a:pPr>
            <a:r>
              <a:rPr err="1"/>
              <a:t>Otros</a:t>
            </a:r>
            <a:br>
              <a:rPr/>
            </a:br>
            <a:r>
              <a:t>103,538</a:t>
            </a:r>
            <a:br>
              <a:rPr/>
            </a:br>
            <a:r>
              <a:t>3%</a:t>
            </a:r>
          </a:p>
        </p:txBody>
      </p:sp>
      <p:pic>
        <p:nvPicPr>
          <p:cNvPr id="131" name="Picture 130" descr="otros.png"/>
          <p:cNvPicPr>
            <a:picLocks noChangeAspect="1"/>
          </p:cNvPicPr>
          <p:nvPr/>
        </p:nvPicPr>
        <p:blipFill>
          <a:blip r:embed="rId10"/>
          <a:stretch>
            <a:fillRect/>
          </a:stretch>
        </p:blipFill>
        <p:spPr>
          <a:xfrm>
            <a:off x="4203762" y="966599"/>
            <a:ext cx="468000" cy="468000"/>
          </a:xfrm>
          <a:prstGeom prst="rect">
            <a:avLst/>
          </a:prstGeom>
        </p:spPr>
      </p:pic>
      <p:sp>
        <p:nvSpPr>
          <p:cNvPr id="132" name="Rectangle 131"/>
          <p:cNvSpPr/>
          <p:nvPr/>
        </p:nvSpPr>
        <p:spPr>
          <a:xfrm>
            <a:off x="4038157" y="1271466"/>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3193134" y="2636399"/>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3,777,472</a:t>
            </a:r>
          </a:p>
        </p:txBody>
      </p:sp>
      <p:sp>
        <p:nvSpPr>
          <p:cNvPr id="134" name="TextBox 133"/>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5" name="TextBox 134"/>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6" name="TextBox 135"/>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solidFill>
                      <a:srgbClr val="006455"/>
                    </a:solidFill>
                  </a:tcPr>
                </a:tc>
                <a:tc>
                  <a:txBody>
                    <a:bodyPr/>
                    <a:lstStyle/>
                    <a:p>
                      <a:pPr algn="ctr">
                        <a:defRPr sz="900" b="1">
                          <a:solidFill>
                            <a:srgbClr val="FFFFFF"/>
                          </a:solidFill>
                          <a:latin typeface="Montserrat"/>
                        </a:defRPr>
                      </a:pPr>
                      <a:r>
                        <a:t>2018</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a:txBody>
                    <a:bodyPr/>
                    <a:lstStyle/>
                    <a:p>
                      <a:pPr algn="ctr">
                        <a:defRPr sz="900" b="1">
                          <a:solidFill>
                            <a:srgbClr val="FFFFFF"/>
                          </a:solidFill>
                          <a:latin typeface="Montserrat"/>
                        </a:defRPr>
                      </a:pPr>
                      <a:r>
                        <a:t>Variación</a:t>
                      </a:r>
                    </a:p>
                  </a:txBody>
                  <a:tcP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1,928,671</a:t>
                      </a:r>
                    </a:p>
                  </a:txBody>
                  <a:tcPr>
                    <a:solidFill>
                      <a:srgbClr val="EBD2D9"/>
                    </a:solidFill>
                  </a:tcPr>
                </a:tc>
                <a:tc>
                  <a:txBody>
                    <a:bodyPr/>
                    <a:lstStyle/>
                    <a:p>
                      <a:pPr algn="ctr">
                        <a:defRPr sz="900" b="1">
                          <a:solidFill>
                            <a:srgbClr val="000000"/>
                          </a:solidFill>
                          <a:latin typeface="Montserrat"/>
                        </a:defRPr>
                      </a:pPr>
                      <a:r>
                        <a:t>2,046,440</a:t>
                      </a:r>
                    </a:p>
                  </a:txBody>
                  <a:tcPr>
                    <a:solidFill>
                      <a:srgbClr val="EBD2D9"/>
                    </a:solidFill>
                  </a:tcPr>
                </a:tc>
                <a:tc>
                  <a:txBody>
                    <a:bodyPr/>
                    <a:lstStyle/>
                    <a:p>
                      <a:pPr algn="ctr">
                        <a:defRPr sz="900" b="1">
                          <a:solidFill>
                            <a:srgbClr val="000000"/>
                          </a:solidFill>
                          <a:latin typeface="Montserrat"/>
                        </a:defRPr>
                      </a:pPr>
                      <a:r>
                        <a:t>6%</a:t>
                      </a:r>
                    </a:p>
                  </a:txBody>
                  <a:tcP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1,013,374</a:t>
                      </a:r>
                    </a:p>
                  </a:txBody>
                  <a:tcPr>
                    <a:solidFill>
                      <a:srgbClr val="EBD2D9"/>
                    </a:solidFill>
                  </a:tcPr>
                </a:tc>
                <a:tc>
                  <a:txBody>
                    <a:bodyPr/>
                    <a:lstStyle/>
                    <a:p>
                      <a:pPr algn="ctr">
                        <a:defRPr sz="900" b="1">
                          <a:solidFill>
                            <a:srgbClr val="000000"/>
                          </a:solidFill>
                          <a:latin typeface="Montserrat"/>
                        </a:defRPr>
                      </a:pPr>
                      <a:r>
                        <a:t>1,175,280</a:t>
                      </a:r>
                    </a:p>
                  </a:txBody>
                  <a:tcPr>
                    <a:solidFill>
                      <a:srgbClr val="EBD2D9"/>
                    </a:solidFill>
                  </a:tcPr>
                </a:tc>
                <a:tc>
                  <a:txBody>
                    <a:bodyPr/>
                    <a:lstStyle/>
                    <a:p>
                      <a:pPr algn="ctr">
                        <a:defRPr sz="900" b="1">
                          <a:solidFill>
                            <a:srgbClr val="000000"/>
                          </a:solidFill>
                          <a:latin typeface="Montserrat"/>
                        </a:defRPr>
                      </a:pPr>
                      <a:r>
                        <a:t>16%</a:t>
                      </a:r>
                    </a:p>
                  </a:txBody>
                  <a:tcP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674,263</a:t>
                      </a:r>
                    </a:p>
                  </a:txBody>
                  <a:tcPr>
                    <a:solidFill>
                      <a:srgbClr val="F8F4EC"/>
                    </a:solidFill>
                  </a:tcPr>
                </a:tc>
                <a:tc>
                  <a:txBody>
                    <a:bodyPr/>
                    <a:lstStyle/>
                    <a:p>
                      <a:pPr algn="ctr">
                        <a:defRPr sz="900" b="1">
                          <a:solidFill>
                            <a:srgbClr val="000000"/>
                          </a:solidFill>
                          <a:latin typeface="Montserrat"/>
                        </a:defRPr>
                      </a:pPr>
                      <a:r>
                        <a:t>679,131</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139,092</a:t>
                      </a:r>
                    </a:p>
                  </a:txBody>
                  <a:tcPr>
                    <a:solidFill>
                      <a:srgbClr val="FFFFFF"/>
                    </a:solidFill>
                  </a:tcPr>
                </a:tc>
                <a:tc>
                  <a:txBody>
                    <a:bodyPr/>
                    <a:lstStyle/>
                    <a:p>
                      <a:pPr algn="ctr">
                        <a:defRPr sz="900">
                          <a:solidFill>
                            <a:srgbClr val="000000"/>
                          </a:solidFill>
                          <a:latin typeface="Montserrat"/>
                        </a:defRPr>
                      </a:pPr>
                      <a:r>
                        <a:t>208,942</a:t>
                      </a:r>
                    </a:p>
                  </a:txBody>
                  <a:tcPr>
                    <a:solidFill>
                      <a:srgbClr val="FFFFFF"/>
                    </a:solidFill>
                  </a:tcPr>
                </a:tc>
                <a:tc>
                  <a:txBody>
                    <a:bodyPr/>
                    <a:lstStyle/>
                    <a:p>
                      <a:pPr algn="ctr">
                        <a:defRPr sz="900">
                          <a:solidFill>
                            <a:srgbClr val="000000"/>
                          </a:solidFill>
                          <a:latin typeface="Montserrat"/>
                        </a:defRPr>
                      </a:pPr>
                      <a:r>
                        <a:t>50%</a:t>
                      </a:r>
                    </a:p>
                  </a:txBody>
                  <a:tcP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23,380</a:t>
                      </a:r>
                    </a:p>
                  </a:txBody>
                  <a:tcPr>
                    <a:solidFill>
                      <a:srgbClr val="FFFFFF"/>
                    </a:solidFill>
                  </a:tcPr>
                </a:tc>
                <a:tc>
                  <a:txBody>
                    <a:bodyPr/>
                    <a:lstStyle/>
                    <a:p>
                      <a:pPr algn="ctr">
                        <a:defRPr sz="900">
                          <a:solidFill>
                            <a:srgbClr val="000000"/>
                          </a:solidFill>
                          <a:latin typeface="Montserrat"/>
                        </a:defRPr>
                      </a:pPr>
                      <a:r>
                        <a:t>19,576</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176,639</a:t>
                      </a:r>
                    </a:p>
                  </a:txBody>
                  <a:tcPr>
                    <a:solidFill>
                      <a:srgbClr val="CCE0DD"/>
                    </a:solidFill>
                  </a:tcPr>
                </a:tc>
                <a:tc>
                  <a:txBody>
                    <a:bodyPr/>
                    <a:lstStyle/>
                    <a:p>
                      <a:pPr algn="ctr">
                        <a:defRPr sz="900" b="1">
                          <a:solidFill>
                            <a:srgbClr val="000000"/>
                          </a:solidFill>
                          <a:latin typeface="Montserrat"/>
                        </a:defRPr>
                      </a:pPr>
                      <a:r>
                        <a:t>206,764</a:t>
                      </a:r>
                    </a:p>
                  </a:txBody>
                  <a:tcPr>
                    <a:solidFill>
                      <a:srgbClr val="CCE0DD"/>
                    </a:solidFill>
                  </a:tcPr>
                </a:tc>
                <a:tc>
                  <a:txBody>
                    <a:bodyPr/>
                    <a:lstStyle/>
                    <a:p>
                      <a:pPr algn="ctr">
                        <a:defRPr sz="900" b="1">
                          <a:solidFill>
                            <a:srgbClr val="000000"/>
                          </a:solidFill>
                          <a:latin typeface="Montserrat"/>
                        </a:defRPr>
                      </a:pPr>
                      <a:r>
                        <a:t>17%</a:t>
                      </a:r>
                    </a:p>
                  </a:txBody>
                  <a:tcP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168,148</a:t>
                      </a:r>
                    </a:p>
                  </a:txBody>
                  <a:tcPr>
                    <a:solidFill>
                      <a:srgbClr val="FFFFFF"/>
                    </a:solidFill>
                  </a:tcPr>
                </a:tc>
                <a:tc>
                  <a:txBody>
                    <a:bodyPr/>
                    <a:lstStyle/>
                    <a:p>
                      <a:pPr algn="ctr">
                        <a:defRPr sz="900">
                          <a:solidFill>
                            <a:srgbClr val="000000"/>
                          </a:solidFill>
                          <a:latin typeface="Montserrat"/>
                        </a:defRPr>
                      </a:pPr>
                      <a:r>
                        <a:t>199,105</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5,021</a:t>
                      </a:r>
                    </a:p>
                  </a:txBody>
                  <a:tcPr>
                    <a:solidFill>
                      <a:srgbClr val="FFFFFF"/>
                    </a:solidFill>
                  </a:tcPr>
                </a:tc>
                <a:tc>
                  <a:txBody>
                    <a:bodyPr/>
                    <a:lstStyle/>
                    <a:p>
                      <a:pPr algn="ctr">
                        <a:defRPr sz="900">
                          <a:solidFill>
                            <a:srgbClr val="000000"/>
                          </a:solidFill>
                          <a:latin typeface="Montserrat"/>
                        </a:defRPr>
                      </a:pPr>
                      <a:r>
                        <a:t>1,719</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3,470</a:t>
                      </a:r>
                    </a:p>
                  </a:txBody>
                  <a:tcPr>
                    <a:solidFill>
                      <a:srgbClr val="FFFFFF"/>
                    </a:solidFill>
                  </a:tcPr>
                </a:tc>
                <a:tc>
                  <a:txBody>
                    <a:bodyPr/>
                    <a:lstStyle/>
                    <a:p>
                      <a:pPr algn="ctr">
                        <a:defRPr sz="900">
                          <a:solidFill>
                            <a:srgbClr val="000000"/>
                          </a:solidFill>
                          <a:latin typeface="Montserrat"/>
                        </a:defRPr>
                      </a:pPr>
                      <a:r>
                        <a:t>5,940</a:t>
                      </a:r>
                    </a:p>
                  </a:txBody>
                  <a:tcPr>
                    <a:solidFill>
                      <a:srgbClr val="FFFFFF"/>
                    </a:solidFill>
                  </a:tcPr>
                </a:tc>
                <a:tc>
                  <a:txBody>
                    <a:bodyPr/>
                    <a:lstStyle/>
                    <a:p>
                      <a:pPr algn="ctr">
                        <a:defRPr sz="900">
                          <a:solidFill>
                            <a:srgbClr val="000000"/>
                          </a:solidFill>
                          <a:latin typeface="Montserrat"/>
                        </a:defRPr>
                      </a:pPr>
                      <a:r>
                        <a:t>71%</a:t>
                      </a:r>
                    </a:p>
                  </a:txBody>
                  <a:tcP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915,297</a:t>
                      </a:r>
                    </a:p>
                  </a:txBody>
                  <a:tcPr>
                    <a:solidFill>
                      <a:srgbClr val="EBD2D9"/>
                    </a:solidFill>
                  </a:tcPr>
                </a:tc>
                <a:tc>
                  <a:txBody>
                    <a:bodyPr/>
                    <a:lstStyle/>
                    <a:p>
                      <a:pPr algn="ctr">
                        <a:defRPr sz="900" b="1">
                          <a:solidFill>
                            <a:srgbClr val="000000"/>
                          </a:solidFill>
                          <a:latin typeface="Montserrat"/>
                        </a:defRPr>
                      </a:pPr>
                      <a:r>
                        <a:t>871,160</a:t>
                      </a:r>
                    </a:p>
                  </a:txBody>
                  <a:tcPr>
                    <a:solidFill>
                      <a:srgbClr val="EBD2D9"/>
                    </a:solidFill>
                  </a:tcPr>
                </a:tc>
                <a:tc>
                  <a:txBody>
                    <a:bodyPr/>
                    <a:lstStyle/>
                    <a:p>
                      <a:pPr algn="ctr">
                        <a:defRPr sz="900" b="1">
                          <a:solidFill>
                            <a:srgbClr val="000000"/>
                          </a:solidFill>
                          <a:latin typeface="Montserrat"/>
                        </a:defRPr>
                      </a:pPr>
                      <a:r>
                        <a:t>-5%</a:t>
                      </a:r>
                    </a:p>
                  </a:txBody>
                  <a:tcP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302,364</a:t>
                      </a:r>
                    </a:p>
                  </a:txBody>
                  <a:tcPr>
                    <a:solidFill>
                      <a:srgbClr val="FFFFFF"/>
                    </a:solidFill>
                  </a:tcPr>
                </a:tc>
                <a:tc>
                  <a:txBody>
                    <a:bodyPr/>
                    <a:lstStyle/>
                    <a:p>
                      <a:pPr algn="ctr">
                        <a:defRPr sz="900">
                          <a:solidFill>
                            <a:srgbClr val="000000"/>
                          </a:solidFill>
                          <a:latin typeface="Montserrat"/>
                        </a:defRPr>
                      </a:pPr>
                      <a:r>
                        <a:t>315,692</a:t>
                      </a:r>
                    </a:p>
                  </a:txBody>
                  <a:tcPr>
                    <a:solidFill>
                      <a:srgbClr val="FFFFFF"/>
                    </a:solidFill>
                  </a:tcPr>
                </a:tc>
                <a:tc>
                  <a:txBody>
                    <a:bodyPr/>
                    <a:lstStyle/>
                    <a:p>
                      <a:pPr algn="ctr">
                        <a:defRPr sz="900">
                          <a:solidFill>
                            <a:srgbClr val="000000"/>
                          </a:solidFill>
                          <a:latin typeface="Montserrat"/>
                        </a:defRPr>
                      </a:pPr>
                      <a:r>
                        <a:t>4%</a:t>
                      </a:r>
                    </a:p>
                  </a:txBody>
                  <a:tcP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458,579</a:t>
                      </a:r>
                    </a:p>
                  </a:txBody>
                  <a:tcPr>
                    <a:solidFill>
                      <a:srgbClr val="FFFFFF"/>
                    </a:solidFill>
                  </a:tcPr>
                </a:tc>
                <a:tc>
                  <a:txBody>
                    <a:bodyPr/>
                    <a:lstStyle/>
                    <a:p>
                      <a:pPr algn="ctr">
                        <a:defRPr sz="900">
                          <a:solidFill>
                            <a:srgbClr val="000000"/>
                          </a:solidFill>
                          <a:latin typeface="Montserrat"/>
                        </a:defRPr>
                      </a:pPr>
                      <a:r>
                        <a:t>370,711</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154,354</a:t>
                      </a:r>
                    </a:p>
                  </a:txBody>
                  <a:tcPr>
                    <a:solidFill>
                      <a:srgbClr val="FFFFFF"/>
                    </a:solidFill>
                  </a:tcPr>
                </a:tc>
                <a:tc>
                  <a:txBody>
                    <a:bodyPr/>
                    <a:lstStyle/>
                    <a:p>
                      <a:pPr algn="ctr">
                        <a:defRPr sz="900">
                          <a:solidFill>
                            <a:srgbClr val="000000"/>
                          </a:solidFill>
                          <a:latin typeface="Montserrat"/>
                        </a:defRPr>
                      </a:pPr>
                      <a:r>
                        <a:t>184,757</a:t>
                      </a:r>
                    </a:p>
                  </a:txBody>
                  <a:tcPr>
                    <a:solidFill>
                      <a:srgbClr val="FFFFFF"/>
                    </a:solidFill>
                  </a:tcPr>
                </a:tc>
                <a:tc>
                  <a:txBody>
                    <a:bodyPr/>
                    <a:lstStyle/>
                    <a:p>
                      <a:pPr algn="ctr">
                        <a:defRPr sz="900">
                          <a:solidFill>
                            <a:srgbClr val="000000"/>
                          </a:solidFill>
                          <a:latin typeface="Montserrat"/>
                        </a:defRPr>
                      </a:pPr>
                      <a:r>
                        <a:t>20%</a:t>
                      </a:r>
                    </a:p>
                  </a:txBody>
                  <a:tcPr>
                    <a:solidFill>
                      <a:srgbClr val="FFFFFF"/>
                    </a:solidFill>
                  </a:tcPr>
                </a:tc>
                <a:extLst>
                  <a:ext uri="{0D108BD9-81ED-4DB2-BD59-A6C34878D82A}">
                    <a16:rowId xmlns:a16="http://schemas.microsoft.com/office/drawing/2014/main" val="10013"/>
                  </a:ext>
                </a:extLst>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1,430</a:t>
                      </a:r>
                    </a:p>
                  </a:txBody>
                  <a:tcPr>
                    <a:solidFill>
                      <a:srgbClr val="F8F4EC"/>
                    </a:solidFill>
                  </a:tcPr>
                </a:tc>
                <a:tc>
                  <a:txBody>
                    <a:bodyPr/>
                    <a:lstStyle/>
                    <a:p>
                      <a:pPr algn="ctr">
                        <a:defRPr sz="900" b="1">
                          <a:latin typeface="Montserrat"/>
                        </a:defRPr>
                      </a:pPr>
                      <a:r>
                        <a:t>1,321</a:t>
                      </a:r>
                    </a:p>
                  </a:txBody>
                  <a:tcPr>
                    <a:solidFill>
                      <a:srgbClr val="F8F4EC"/>
                    </a:solidFill>
                  </a:tcPr>
                </a:tc>
                <a:tc>
                  <a:txBody>
                    <a:bodyPr/>
                    <a:lstStyle/>
                    <a:p>
                      <a:pPr algn="ctr">
                        <a:defRPr sz="900" b="1">
                          <a:solidFill>
                            <a:srgbClr val="A61C00"/>
                          </a:solidFill>
                          <a:latin typeface="Montserrat"/>
                        </a:defRPr>
                      </a:pPr>
                      <a:r>
                        <a:t>-7%</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9,291</a:t>
                      </a:r>
                    </a:p>
                  </a:txBody>
                  <a:tcPr>
                    <a:solidFill>
                      <a:srgbClr val="F8F4EC"/>
                    </a:solidFill>
                  </a:tcPr>
                </a:tc>
                <a:tc>
                  <a:txBody>
                    <a:bodyPr/>
                    <a:lstStyle/>
                    <a:p>
                      <a:pPr algn="ctr">
                        <a:defRPr sz="900" b="1">
                          <a:latin typeface="Montserrat"/>
                        </a:defRPr>
                      </a:pPr>
                      <a:r>
                        <a:t>12,325</a:t>
                      </a:r>
                    </a:p>
                  </a:txBody>
                  <a:tcPr>
                    <a:solidFill>
                      <a:srgbClr val="F8F4EC"/>
                    </a:solidFill>
                  </a:tcPr>
                </a:tc>
                <a:tc>
                  <a:txBody>
                    <a:bodyPr/>
                    <a:lstStyle/>
                    <a:p>
                      <a:pPr algn="ctr">
                        <a:defRPr sz="900" b="1">
                          <a:latin typeface="Montserrat"/>
                        </a:defRPr>
                      </a:pPr>
                      <a:r>
                        <a:t>33%</a:t>
                      </a:r>
                    </a:p>
                  </a:txBody>
                  <a:tcPr>
                    <a:solidFill>
                      <a:srgbClr val="F8F4EC"/>
                    </a:solidFill>
                  </a:tcPr>
                </a:tc>
                <a:extLst>
                  <a:ext uri="{0D108BD9-81ED-4DB2-BD59-A6C34878D82A}">
                    <a16:rowId xmlns:a16="http://schemas.microsoft.com/office/drawing/2014/main" val="10002"/>
                  </a:ext>
                </a:extLst>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8_tamps.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2038514365"/>
              </p:ext>
            </p:extLst>
          </p:nvPr>
        </p:nvGraphicFramePr>
        <p:xfrm>
          <a:off x="97200" y="6854400"/>
          <a:ext cx="4359600" cy="1262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a:t>
                      </a:r>
                      <a:r>
                        <a:rPr lang="es-MX" sz="1000">
                          <a:latin typeface="Montserrat"/>
                        </a:rPr>
                        <a:t>8</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a:t>
                      </a:r>
                      <a:r>
                        <a:rPr lang="es-MX" sz="1000">
                          <a:latin typeface="Montserrat"/>
                        </a:rPr>
                        <a:t>81</a:t>
                      </a:r>
                      <a:endParaRPr sz="100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lang="es-MX" sz="1000">
                          <a:latin typeface="Montserrat"/>
                        </a:rPr>
                        <a:t>110</a:t>
                      </a:r>
                      <a:endParaRPr sz="1000">
                        <a:latin typeface="Montserrat"/>
                      </a:endParaRP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lang="es-MX" sz="1000">
                          <a:latin typeface="Montserrat"/>
                        </a:rPr>
                        <a:t>10</a:t>
                      </a:r>
                      <a:endParaRPr sz="1000">
                        <a:latin typeface="Montserrat"/>
                      </a:endParaRPr>
                    </a:p>
                  </a:txBody>
                  <a:tcPr marL="10800" marR="10800" marT="10800" marB="10800" anchor="ctr">
                    <a:solidFill>
                      <a:srgbClr val="EFEFEF"/>
                    </a:solidFill>
                  </a:tcPr>
                </a:tc>
                <a:tc>
                  <a:txBody>
                    <a:bodyPr/>
                    <a:lstStyle/>
                    <a:p>
                      <a:pPr algn="ctr">
                        <a:defRPr sz="1000">
                          <a:solidFill>
                            <a:srgbClr val="000000"/>
                          </a:solidFill>
                          <a:latin typeface="Montserrat"/>
                        </a:defRPr>
                      </a:pPr>
                      <a:r>
                        <a:rPr lang="es-MX" sz="1000">
                          <a:latin typeface="Montserrat"/>
                        </a:rPr>
                        <a:t>21</a:t>
                      </a:r>
                      <a:endParaRPr sz="1000">
                        <a:latin typeface="Montserrat"/>
                      </a:endParaRP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a:t>
                      </a:r>
                      <a:r>
                        <a:rPr lang="es-MX" sz="1000">
                          <a:latin typeface="Montserrat"/>
                        </a:rPr>
                        <a:t>219</a:t>
                      </a:r>
                      <a:endParaRPr sz="1000">
                        <a:latin typeface="Montserrat"/>
                      </a:endParaRPr>
                    </a:p>
                  </a:txBody>
                  <a:tcPr marL="10800" marR="10800" marT="10800" marB="10800" anchor="ctr">
                    <a:solidFill>
                      <a:srgbClr val="EFEFEF"/>
                    </a:solidFill>
                  </a:tcPr>
                </a:tc>
                <a:tc>
                  <a:txBody>
                    <a:bodyPr/>
                    <a:lstStyle/>
                    <a:p>
                      <a:pPr algn="ctr">
                        <a:defRPr sz="1000">
                          <a:solidFill>
                            <a:srgbClr val="000000"/>
                          </a:solidFill>
                          <a:latin typeface="Montserrat"/>
                        </a:defRPr>
                      </a:pPr>
                      <a:r>
                        <a:rPr lang="es-MX" sz="1000">
                          <a:latin typeface="Montserrat"/>
                        </a:rPr>
                        <a:t>563</a:t>
                      </a:r>
                      <a:endParaRPr sz="1000">
                        <a:latin typeface="Montserrat"/>
                      </a:endParaRP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lang="es-MX" sz="1000">
                          <a:latin typeface="Montserrat"/>
                        </a:rPr>
                        <a:t>58</a:t>
                      </a:r>
                      <a:endParaRPr sz="1000">
                        <a:latin typeface="Montserrat"/>
                      </a:endParaRPr>
                    </a:p>
                  </a:txBody>
                  <a:tcPr marL="10800" marR="10800" marT="10800" marB="10800" anchor="ctr">
                    <a:solidFill>
                      <a:srgbClr val="D3E9E7"/>
                    </a:solidFill>
                  </a:tcPr>
                </a:tc>
                <a:tc>
                  <a:txBody>
                    <a:bodyPr/>
                    <a:lstStyle/>
                    <a:p>
                      <a:pPr algn="ctr">
                        <a:defRPr sz="1000" b="1">
                          <a:solidFill>
                            <a:srgbClr val="006556"/>
                          </a:solidFill>
                          <a:latin typeface="Montserrat"/>
                        </a:defRPr>
                      </a:pPr>
                      <a:r>
                        <a:rPr lang="es-MX" sz="1000">
                          <a:latin typeface="Montserrat"/>
                        </a:rPr>
                        <a:t>302</a:t>
                      </a:r>
                      <a:endParaRPr sz="1000">
                        <a:latin typeface="Montserrat"/>
                      </a:endParaRP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a:t>
                      </a:r>
                      <a:r>
                        <a:rPr lang="es-MX" sz="1000">
                          <a:latin typeface="Montserrat"/>
                        </a:rPr>
                        <a:t>219</a:t>
                      </a:r>
                      <a:endParaRPr sz="1000">
                        <a:latin typeface="Montserrat"/>
                      </a:endParaRPr>
                    </a:p>
                  </a:txBody>
                  <a:tcPr marL="10800" marR="10800" marT="10800" marB="10800" anchor="ctr">
                    <a:solidFill>
                      <a:srgbClr val="D3E9E7"/>
                    </a:solidFill>
                  </a:tcPr>
                </a:tc>
                <a:tc>
                  <a:txBody>
                    <a:bodyPr/>
                    <a:lstStyle/>
                    <a:p>
                      <a:pPr algn="ctr">
                        <a:defRPr sz="1000" b="1">
                          <a:solidFill>
                            <a:srgbClr val="006556"/>
                          </a:solidFill>
                          <a:latin typeface="Montserrat"/>
                        </a:defRPr>
                      </a:pPr>
                      <a:r>
                        <a:rPr lang="es-MX" sz="1000">
                          <a:latin typeface="Montserrat"/>
                        </a:rPr>
                        <a:t>673</a:t>
                      </a:r>
                      <a:endParaRPr sz="1000">
                        <a:latin typeface="Montserrat"/>
                      </a:endParaRP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6" name="Table 135"/>
          <p:cNvGraphicFramePr>
            <a:graphicFrameLocks noGrp="1"/>
          </p:cNvGraphicFramePr>
          <p:nvPr/>
        </p:nvGraphicFramePr>
        <p:xfrm>
          <a:off x="4536000" y="6854400"/>
          <a:ext cx="3096000" cy="1320000"/>
        </p:xfrm>
        <a:graphic>
          <a:graphicData uri="http://schemas.openxmlformats.org/drawingml/2006/table">
            <a:tbl>
              <a:tblPr firstRow="1" bandRow="1">
                <a:tableStyleId>{5C22544A-7EE6-4342-B048-85BDC9FD1C3A}</a:tableStyleId>
              </a:tblPr>
              <a:tblGrid>
                <a:gridCol w="846000">
                  <a:extLst>
                    <a:ext uri="{9D8B030D-6E8A-4147-A177-3AD203B41FA5}">
                      <a16:colId xmlns:a16="http://schemas.microsoft.com/office/drawing/2014/main" val="20000"/>
                    </a:ext>
                  </a:extLst>
                </a:gridCol>
                <a:gridCol w="846000">
                  <a:extLst>
                    <a:ext uri="{9D8B030D-6E8A-4147-A177-3AD203B41FA5}">
                      <a16:colId xmlns:a16="http://schemas.microsoft.com/office/drawing/2014/main" val="20001"/>
                    </a:ext>
                  </a:extLst>
                </a:gridCol>
                <a:gridCol w="846000">
                  <a:extLst>
                    <a:ext uri="{9D8B030D-6E8A-4147-A177-3AD203B41FA5}">
                      <a16:colId xmlns:a16="http://schemas.microsoft.com/office/drawing/2014/main" val="20002"/>
                    </a:ext>
                  </a:extLst>
                </a:gridCol>
                <a:gridCol w="558000">
                  <a:extLst>
                    <a:ext uri="{9D8B030D-6E8A-4147-A177-3AD203B41FA5}">
                      <a16:colId xmlns:a16="http://schemas.microsoft.com/office/drawing/2014/main" val="20003"/>
                    </a:ext>
                  </a:extLst>
                </a:gridCol>
              </a:tblGrid>
              <a:tr h="248400">
                <a:tc gridSpan="4">
                  <a:txBody>
                    <a:bodyPr/>
                    <a:lstStyle/>
                    <a:p>
                      <a:pPr algn="ctr">
                        <a:defRPr sz="1000" b="1">
                          <a:solidFill>
                            <a:srgbClr val="FFFFFF"/>
                          </a:solidFill>
                          <a:latin typeface="Montserrat"/>
                        </a:defRPr>
                      </a:pPr>
                      <a:r>
                        <a:t>IMSS-COPLAMAR</a:t>
                      </a:r>
                    </a:p>
                  </a:txBody>
                  <a:tcPr marL="10800" marR="10800" marT="10800" marB="10800" anchor="ctr">
                    <a:solidFill>
                      <a:srgbClr val="BC955C"/>
                    </a:solidFill>
                  </a:tcPr>
                </a:tc>
                <a:tc hMerge="1">
                  <a:txBody>
                    <a:bodyPr/>
                    <a:lstStyle/>
                    <a:p>
                      <a:endParaRPr/>
                    </a:p>
                  </a:txBody>
                  <a:tcPr marL="10800" marR="10800" marT="10800" marB="10800" anchor="ctr"/>
                </a:tc>
                <a:tc hMerge="1">
                  <a:txBody>
                    <a:bodyPr/>
                    <a:lstStyle/>
                    <a:p>
                      <a:endParaRPr/>
                    </a:p>
                  </a:txBody>
                  <a:tcPr marL="10800" marR="10800" marT="10800" marB="10800" anchor="ctr"/>
                </a:tc>
                <a:tc hMerge="1">
                  <a:txBody>
                    <a:bodyPr/>
                    <a:lstStyle/>
                    <a:p>
                      <a:endParaRPr/>
                    </a:p>
                  </a:txBody>
                  <a:tcPr marL="10800" marR="10800" marT="10800" marB="10800" anchor="ctr"/>
                </a:tc>
                <a:extLst>
                  <a:ext uri="{0D108BD9-81ED-4DB2-BD59-A6C34878D82A}">
                    <a16:rowId xmlns:a16="http://schemas.microsoft.com/office/drawing/2014/main" val="10000"/>
                  </a:ext>
                </a:extLst>
              </a:tr>
              <a:tr h="248400">
                <a:tc>
                  <a:txBody>
                    <a:bodyPr/>
                    <a:lstStyle/>
                    <a:p>
                      <a:pPr algn="ctr">
                        <a:defRPr sz="1000" b="1">
                          <a:solidFill>
                            <a:srgbClr val="FFFFFF"/>
                          </a:solidFill>
                          <a:latin typeface="Montserrat"/>
                        </a:defRPr>
                      </a:pPr>
                      <a:r>
                        <a:t>Nivel</a:t>
                      </a:r>
                    </a:p>
                  </a:txBody>
                  <a:tcPr marL="10800" marR="10800" marT="10800" marB="10800" anchor="ctr">
                    <a:solidFill>
                      <a:srgbClr val="BC955C"/>
                    </a:solidFill>
                  </a:tcPr>
                </a:tc>
                <a:tc>
                  <a:txBody>
                    <a:bodyPr/>
                    <a:lstStyle/>
                    <a:p>
                      <a:pPr algn="ctr">
                        <a:defRPr sz="1000" b="1">
                          <a:solidFill>
                            <a:srgbClr val="FFFFFF"/>
                          </a:solidFill>
                          <a:latin typeface="Montserrat"/>
                        </a:defRPr>
                      </a:pPr>
                      <a:r>
                        <a:t>Unidades</a:t>
                      </a:r>
                    </a:p>
                  </a:txBody>
                  <a:tcPr marL="0" marR="0" marT="10800" marB="10800" anchor="ctr">
                    <a:solidFill>
                      <a:srgbClr val="BC955C"/>
                    </a:solidFill>
                  </a:tcPr>
                </a:tc>
                <a:tc>
                  <a:txBody>
                    <a:bodyPr/>
                    <a:lstStyle/>
                    <a:p>
                      <a:pPr algn="ctr">
                        <a:defRPr sz="1000" b="1">
                          <a:solidFill>
                            <a:srgbClr val="FFFFFF"/>
                          </a:solidFill>
                          <a:latin typeface="Montserrat"/>
                        </a:defRPr>
                      </a:pPr>
                      <a:r>
                        <a:t>Consultorios de MF</a:t>
                      </a:r>
                    </a:p>
                  </a:txBody>
                  <a:tcPr marL="0" marR="0" marT="10800" marB="10800" anchor="ctr">
                    <a:solidFill>
                      <a:srgbClr val="BC955C"/>
                    </a:solidFill>
                  </a:tcPr>
                </a:tc>
                <a:tc>
                  <a:txBody>
                    <a:bodyPr/>
                    <a:lstStyle/>
                    <a:p>
                      <a:pPr algn="ctr">
                        <a:defRPr sz="1000" b="1">
                          <a:solidFill>
                            <a:srgbClr val="FFFFFF"/>
                          </a:solidFill>
                          <a:latin typeface="Montserrat"/>
                        </a:defRPr>
                      </a:pPr>
                      <a:r>
                        <a:t>Camas</a:t>
                      </a:r>
                    </a:p>
                  </a:txBody>
                  <a:tcPr marL="0" marR="0" marT="10800" marB="10800" anchor="ctr">
                    <a:solidFill>
                      <a:srgbClr val="BC955C"/>
                    </a:solidFill>
                  </a:tcPr>
                </a:tc>
                <a:extLst>
                  <a:ext uri="{0D108BD9-81ED-4DB2-BD59-A6C34878D82A}">
                    <a16:rowId xmlns:a16="http://schemas.microsoft.com/office/drawing/2014/main" val="10001"/>
                  </a:ext>
                </a:extLst>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102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extLst>
                  <a:ext uri="{0D108BD9-81ED-4DB2-BD59-A6C34878D82A}">
                    <a16:rowId xmlns:a16="http://schemas.microsoft.com/office/drawing/2014/main" val="10002"/>
                  </a:ext>
                </a:extLst>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16</a:t>
                      </a:r>
                    </a:p>
                  </a:txBody>
                  <a:tcPr marL="10800" marR="10800" marT="10800" marB="10800" anchor="ctr">
                    <a:solidFill>
                      <a:srgbClr val="EFEFEF"/>
                    </a:solidFill>
                  </a:tcPr>
                </a:tc>
                <a:tc>
                  <a:txBody>
                    <a:bodyPr/>
                    <a:lstStyle/>
                    <a:p>
                      <a:pPr algn="ctr">
                        <a:defRPr sz="1000">
                          <a:solidFill>
                            <a:srgbClr val="000000"/>
                          </a:solidFill>
                          <a:latin typeface="Montserrat"/>
                        </a:defRPr>
                      </a:pPr>
                      <a:r>
                        <a:t>89</a:t>
                      </a:r>
                    </a:p>
                  </a:txBody>
                  <a:tcPr marL="10800" marR="10800" marT="10800" marB="10800" anchor="ctr">
                    <a:solidFill>
                      <a:srgbClr val="EFEFEF"/>
                    </a:solidFill>
                  </a:tcPr>
                </a:tc>
                <a:extLst>
                  <a:ext uri="{0D108BD9-81ED-4DB2-BD59-A6C34878D82A}">
                    <a16:rowId xmlns:a16="http://schemas.microsoft.com/office/drawing/2014/main" val="10003"/>
                  </a:ext>
                </a:extLst>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106</a:t>
                      </a:r>
                    </a:p>
                  </a:txBody>
                  <a:tcPr marL="10800" marR="10800" marT="10800" marB="10800" anchor="ctr">
                    <a:solidFill>
                      <a:srgbClr val="D3E9E7"/>
                    </a:solidFill>
                  </a:tcPr>
                </a:tc>
                <a:tc>
                  <a:txBody>
                    <a:bodyPr/>
                    <a:lstStyle/>
                    <a:p>
                      <a:pPr algn="ctr">
                        <a:defRPr sz="1000" b="1">
                          <a:solidFill>
                            <a:srgbClr val="006556"/>
                          </a:solidFill>
                          <a:latin typeface="Montserrat"/>
                        </a:defRPr>
                      </a:pPr>
                      <a:r>
                        <a:t>118</a:t>
                      </a:r>
                    </a:p>
                  </a:txBody>
                  <a:tcPr marL="10800" marR="10800" marT="10800" marB="10800" anchor="ctr">
                    <a:solidFill>
                      <a:srgbClr val="D3E9E7"/>
                    </a:solidFill>
                  </a:tcPr>
                </a:tc>
                <a:tc>
                  <a:txBody>
                    <a:bodyPr/>
                    <a:lstStyle/>
                    <a:p>
                      <a:pPr algn="ctr">
                        <a:defRPr sz="1000" b="1">
                          <a:solidFill>
                            <a:srgbClr val="006556"/>
                          </a:solidFill>
                          <a:latin typeface="Montserrat"/>
                        </a:defRPr>
                      </a:pPr>
                      <a:r>
                        <a:t>89</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7" name="Table 136"/>
          <p:cNvGraphicFramePr>
            <a:graphicFrameLocks noGrp="1"/>
          </p:cNvGraphicFramePr>
          <p:nvPr/>
        </p:nvGraphicFramePr>
        <p:xfrm>
          <a:off x="5659200" y="1155600"/>
          <a:ext cx="2026800" cy="146304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19560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4</a:t>
                      </a:r>
                    </a:p>
                  </a:txBody>
                  <a:tcPr>
                    <a:solidFill>
                      <a:srgbClr val="EFEFEF"/>
                    </a:solidFill>
                  </a:tcPr>
                </a:tc>
                <a:extLst>
                  <a:ext uri="{0D108BD9-81ED-4DB2-BD59-A6C34878D82A}">
                    <a16:rowId xmlns:a16="http://schemas.microsoft.com/office/drawing/2014/main" val="10001"/>
                  </a:ext>
                </a:extLst>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2"/>
                  </a:ext>
                </a:extLst>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extLst>
                  <a:ext uri="{0D108BD9-81ED-4DB2-BD59-A6C34878D82A}">
                    <a16:rowId xmlns:a16="http://schemas.microsoft.com/office/drawing/2014/main" val="10003"/>
                  </a:ext>
                </a:extLst>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4"/>
                  </a:ext>
                </a:extLst>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extLst>
                  <a:ext uri="{0D108BD9-81ED-4DB2-BD59-A6C34878D82A}">
                    <a16:rowId xmlns:a16="http://schemas.microsoft.com/office/drawing/2014/main" val="10005"/>
                  </a:ext>
                </a:extLst>
              </a:tr>
            </a:tbl>
          </a:graphicData>
        </a:graphic>
      </p:graphicFrame>
      <p:sp>
        <p:nvSpPr>
          <p:cNvPr id="138" name="TextBox 137"/>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40 UMF, 2 UMF-UMAA y no incluye 6 Unidades Auxiliares de Medicina Familiar.</a:t>
            </a:r>
            <a:br/>
            <a:r>
              <a:t>² No incluye Unidades médicas móviles (UMM) ni Brigadas de salud (BS).</a:t>
            </a:r>
          </a:p>
        </p:txBody>
      </p:sp>
      <p:sp>
        <p:nvSpPr>
          <p:cNvPr id="139" name="TextBox 138"/>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t>Corte de </a:t>
            </a:r>
            <a:r>
              <a:rPr err="1"/>
              <a:t>información</a:t>
            </a:r>
            <a:r>
              <a:t>: ma</a:t>
            </a:r>
            <a:r>
              <a:rPr lang="es-MX"/>
              <a:t>yo</a:t>
            </a:r>
            <a:r>
              <a:t>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54;g3d0b4d3c5c9_0_58">
            <a:extLst>
              <a:ext uri="{FF2B5EF4-FFF2-40B4-BE49-F238E27FC236}">
                <a16:creationId xmlns:a16="http://schemas.microsoft.com/office/drawing/2014/main" id="{04FBA469-16E2-B7DE-1FA8-ECC94DD46987}"/>
              </a:ext>
            </a:extLst>
          </p:cNvPr>
          <p:cNvGraphicFramePr/>
          <p:nvPr>
            <p:extLst>
              <p:ext uri="{D42A27DB-BD31-4B8C-83A1-F6EECF244321}">
                <p14:modId xmlns:p14="http://schemas.microsoft.com/office/powerpoint/2010/main" val="920929057"/>
              </p:ext>
            </p:extLst>
          </p:nvPr>
        </p:nvGraphicFramePr>
        <p:xfrm>
          <a:off x="289300" y="1039654"/>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No. 11 Nuevo Laredo</a:t>
                      </a:r>
                      <a:r>
                        <a:rPr lang="es" sz="1800" b="1" dirty="0">
                          <a:solidFill>
                            <a:srgbClr val="BC955C"/>
                          </a:solidFill>
                          <a:latin typeface="Montserrat"/>
                          <a:ea typeface="Montserrat"/>
                          <a:cs typeface="Montserrat"/>
                        </a:rPr>
                        <a:t>, Tamaulipas</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56;g3d0b4d3c5c9_0_58">
            <a:extLst>
              <a:ext uri="{FF2B5EF4-FFF2-40B4-BE49-F238E27FC236}">
                <a16:creationId xmlns:a16="http://schemas.microsoft.com/office/drawing/2014/main" id="{5D1BEE81-670A-254B-15C8-6E5B3A507319}"/>
              </a:ext>
            </a:extLst>
          </p:cNvPr>
          <p:cNvPicPr preferRelativeResize="0"/>
          <p:nvPr/>
        </p:nvPicPr>
        <p:blipFill>
          <a:blip r:embed="rId4">
            <a:alphaModFix/>
          </a:blip>
          <a:stretch>
            <a:fillRect/>
          </a:stretch>
        </p:blipFill>
        <p:spPr>
          <a:xfrm flipH="1">
            <a:off x="413921" y="1927433"/>
            <a:ext cx="2772191" cy="2079424"/>
          </a:xfrm>
          <a:prstGeom prst="rect">
            <a:avLst/>
          </a:prstGeom>
          <a:noFill/>
          <a:ln>
            <a:noFill/>
          </a:ln>
        </p:spPr>
      </p:pic>
      <p:sp>
        <p:nvSpPr>
          <p:cNvPr id="7" name="CuadroTexto 6">
            <a:extLst>
              <a:ext uri="{FF2B5EF4-FFF2-40B4-BE49-F238E27FC236}">
                <a16:creationId xmlns:a16="http://schemas.microsoft.com/office/drawing/2014/main" id="{47C18AA5-16CE-E9BB-B9A7-2A31CF00968A}"/>
              </a:ext>
            </a:extLst>
          </p:cNvPr>
          <p:cNvSpPr txBox="1"/>
          <p:nvPr/>
        </p:nvSpPr>
        <p:spPr>
          <a:xfrm>
            <a:off x="3286539" y="1630631"/>
            <a:ext cx="4330413"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 de agosto de 1951, en Nuevo Laredo, con el servicio de afiliación y vigencia. El 26 de julio de 1952, los servicios médicos se otorgaron mediante consulta externa en un edificio provisional (antiguas garitas de un puente internacional), mientras que la atención hospitalaria era subrogada al Sanatorio Isabel.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Tamaulipas fue la Clínica Hospital No. 11, en Nuevo Laredo, inaugurado el 1 de octubre de 1964. En 1980 fue remodelada y elevada a la categoría de Hospital General de Zona (HGZ) No. 11.</a:t>
            </a:r>
            <a:r>
              <a:rPr lang="es-ES" sz="1100" b="0" i="0" u="none" strike="noStrike" dirty="0">
                <a:solidFill>
                  <a:srgbClr val="000000"/>
                </a:solidFill>
                <a:effectLst/>
                <a:latin typeface="Montserrat" panose="00000500000000000000" pitchFamily="2" charset="0"/>
                <a:hlinkClick r:id="rId5"/>
              </a:rPr>
              <a:t> </a:t>
            </a:r>
            <a:endParaRPr lang="es-ES" sz="1100" b="0" i="0" u="none" strike="noStrike" dirty="0">
              <a:solidFill>
                <a:srgbClr val="000000"/>
              </a:solidFill>
              <a:effectLst/>
              <a:latin typeface="Montserrat" panose="00000500000000000000" pitchFamily="2" charset="0"/>
            </a:endParaRP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 unidad contaba con capacidad hospitalaria acorde a un hospital general de la época, y brindó consulta externa, hospitalización general, urgencias, cirugía básica, gineco‑obstetricia, medicina interna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8_TAMAULIPAS.png"/>
          <p:cNvPicPr>
            <a:picLocks noChangeAspect="1"/>
          </p:cNvPicPr>
          <p:nvPr/>
        </p:nvPicPr>
        <p:blipFill>
          <a:blip r:embed="rId6"/>
          <a:stretch>
            <a:fillRect/>
          </a:stretch>
        </p:blipFill>
        <p:spPr>
          <a:xfrm>
            <a:off x="128952" y="4302000"/>
            <a:ext cx="7488000" cy="727200"/>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1425276034"/>
              </p:ext>
            </p:extLst>
          </p:nvPr>
        </p:nvGraphicFramePr>
        <p:xfrm>
          <a:off x="63650" y="4981474"/>
          <a:ext cx="7650000" cy="25765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rPr dirty="0"/>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HGZ 3 Mante</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rPr dirty="0"/>
                        <a:t>130</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16</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 11 Nuevo Laredo</a:t>
                      </a:r>
                    </a:p>
                  </a:txBody>
                  <a:tcPr anchor="ctr">
                    <a:solidFill>
                      <a:srgbClr val="EFEFEF"/>
                    </a:solidFill>
                  </a:tcPr>
                </a:tc>
                <a:tc>
                  <a:txBody>
                    <a:bodyPr/>
                    <a:lstStyle/>
                    <a:p>
                      <a:pPr algn="ctr">
                        <a:defRPr sz="900">
                          <a:latin typeface="Montserrat"/>
                        </a:defRPr>
                      </a:pPr>
                      <a:r>
                        <a:t>Octubre de 1964</a:t>
                      </a:r>
                    </a:p>
                  </a:txBody>
                  <a:tcPr anchor="ctr">
                    <a:solidFill>
                      <a:srgbClr val="EFEFEF"/>
                    </a:solidFill>
                  </a:tcPr>
                </a:tc>
                <a:tc>
                  <a:txBody>
                    <a:bodyPr/>
                    <a:lstStyle/>
                    <a:p>
                      <a:pPr algn="ctr">
                        <a:defRPr sz="900">
                          <a:latin typeface="Montserrat"/>
                        </a:defRPr>
                      </a:pPr>
                      <a:r>
                        <a:rPr dirty="0"/>
                        <a:t>102</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HGZ-UMAA 15 Ciudad Reynosa</a:t>
                      </a:r>
                    </a:p>
                  </a:txBody>
                  <a:tcPr anchor="ctr">
                    <a:solidFill>
                      <a:srgbClr val="FFFFFF"/>
                    </a:solidFill>
                  </a:tcPr>
                </a:tc>
                <a:tc>
                  <a:txBody>
                    <a:bodyPr/>
                    <a:lstStyle/>
                    <a:p>
                      <a:pPr algn="ctr">
                        <a:defRPr sz="900">
                          <a:latin typeface="Montserrat"/>
                        </a:defRPr>
                      </a:pPr>
                      <a:r>
                        <a:t>Febrero de 1968</a:t>
                      </a:r>
                    </a:p>
                  </a:txBody>
                  <a:tcPr anchor="ctr">
                    <a:solidFill>
                      <a:srgbClr val="FFFFFF"/>
                    </a:solidFill>
                  </a:tcPr>
                </a:tc>
                <a:tc>
                  <a:txBody>
                    <a:bodyPr/>
                    <a:lstStyle/>
                    <a:p>
                      <a:pPr algn="ctr">
                        <a:defRPr sz="900">
                          <a:latin typeface="Montserrat"/>
                        </a:defRPr>
                      </a:pPr>
                      <a:r>
                        <a:rPr dirty="0"/>
                        <a:t>160</a:t>
                      </a:r>
                    </a:p>
                  </a:txBody>
                  <a:tcPr anchor="ctr">
                    <a:solidFill>
                      <a:srgbClr val="FFFFFF"/>
                    </a:solidFill>
                  </a:tcPr>
                </a:tc>
                <a:tc>
                  <a:txBody>
                    <a:bodyPr/>
                    <a:lstStyle/>
                    <a:p>
                      <a:pPr algn="ctr">
                        <a:defRPr sz="900">
                          <a:latin typeface="Montserrat"/>
                        </a:defRPr>
                      </a:pPr>
                      <a:r>
                        <a:t>87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24</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HGZMF 1 Ciudad Victoria</a:t>
                      </a:r>
                    </a:p>
                  </a:txBody>
                  <a:tcPr anchor="ctr">
                    <a:solidFill>
                      <a:srgbClr val="EFEFEF"/>
                    </a:solidFill>
                  </a:tcPr>
                </a:tc>
                <a:tc>
                  <a:txBody>
                    <a:bodyPr/>
                    <a:lstStyle/>
                    <a:p>
                      <a:pPr algn="ctr">
                        <a:defRPr sz="900">
                          <a:latin typeface="Montserrat"/>
                        </a:defRPr>
                      </a:pPr>
                      <a:r>
                        <a:t>Febrero de 1968</a:t>
                      </a:r>
                    </a:p>
                  </a:txBody>
                  <a:tcPr anchor="ctr">
                    <a:solidFill>
                      <a:srgbClr val="EFEFEF"/>
                    </a:solidFill>
                  </a:tcPr>
                </a:tc>
                <a:tc>
                  <a:txBody>
                    <a:bodyPr/>
                    <a:lstStyle/>
                    <a:p>
                      <a:pPr algn="ctr">
                        <a:defRPr sz="900">
                          <a:latin typeface="Montserrat"/>
                        </a:defRPr>
                      </a:pPr>
                      <a:r>
                        <a:t>97</a:t>
                      </a:r>
                    </a:p>
                  </a:txBody>
                  <a:tcPr anchor="ctr">
                    <a:solidFill>
                      <a:srgbClr val="EFEFEF"/>
                    </a:solidFill>
                  </a:tcPr>
                </a:tc>
                <a:tc>
                  <a:txBody>
                    <a:bodyPr/>
                    <a:lstStyle/>
                    <a:p>
                      <a:pPr algn="ctr">
                        <a:defRPr sz="900">
                          <a:latin typeface="Montserrat"/>
                        </a:defRPr>
                      </a:pPr>
                      <a:r>
                        <a:rPr dirty="0"/>
                        <a:t>50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13</a:t>
                      </a:r>
                    </a:p>
                  </a:txBody>
                  <a:tcPr anchor="ctr">
                    <a:solidFill>
                      <a:srgbClr val="EFEFEF"/>
                    </a:solidFill>
                  </a:tcPr>
                </a:tc>
                <a:extLst>
                  <a:ext uri="{0D108BD9-81ED-4DB2-BD59-A6C34878D82A}">
                    <a16:rowId xmlns:a16="http://schemas.microsoft.com/office/drawing/2014/main" val="10004"/>
                  </a:ext>
                </a:extLst>
              </a:tr>
              <a:tr h="230400">
                <a:tc>
                  <a:txBody>
                    <a:bodyPr/>
                    <a:lstStyle/>
                    <a:p>
                      <a:pPr algn="l">
                        <a:defRPr sz="900">
                          <a:latin typeface="Montserrat"/>
                        </a:defRPr>
                      </a:pPr>
                      <a:r>
                        <a:t>HGR 6 Ciudad Madero.</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286</a:t>
                      </a:r>
                    </a:p>
                  </a:txBody>
                  <a:tcPr anchor="ctr">
                    <a:solidFill>
                      <a:srgbClr val="FFFFFF"/>
                    </a:solidFill>
                  </a:tcPr>
                </a:tc>
                <a:tc>
                  <a:txBody>
                    <a:bodyPr/>
                    <a:lstStyle/>
                    <a:p>
                      <a:pPr algn="ctr">
                        <a:defRPr sz="900">
                          <a:latin typeface="Montserrat"/>
                        </a:defRPr>
                      </a:pPr>
                      <a:r>
                        <a:rPr dirty="0"/>
                        <a:t>118</a:t>
                      </a:r>
                    </a:p>
                  </a:txBody>
                  <a:tcPr anchor="ctr">
                    <a:solidFill>
                      <a:srgbClr val="FFFFFF"/>
                    </a:solidFill>
                  </a:tcPr>
                </a:tc>
                <a:tc>
                  <a:txBody>
                    <a:bodyPr/>
                    <a:lstStyle/>
                    <a:p>
                      <a:pPr algn="ctr">
                        <a:defRPr sz="900">
                          <a:latin typeface="Montserrat"/>
                        </a:defRPr>
                      </a:pPr>
                      <a:r>
                        <a:rPr dirty="0"/>
                        <a:t>10</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44</a:t>
                      </a:r>
                    </a:p>
                  </a:txBody>
                  <a:tcPr anchor="ctr">
                    <a:solidFill>
                      <a:srgbClr val="FFFFFF"/>
                    </a:solidFill>
                  </a:tcPr>
                </a:tc>
                <a:extLst>
                  <a:ext uri="{0D108BD9-81ED-4DB2-BD59-A6C34878D82A}">
                    <a16:rowId xmlns:a16="http://schemas.microsoft.com/office/drawing/2014/main" val="10005"/>
                  </a:ext>
                </a:extLst>
              </a:tr>
              <a:tr h="230400">
                <a:tc>
                  <a:txBody>
                    <a:bodyPr/>
                    <a:lstStyle/>
                    <a:p>
                      <a:pPr algn="l">
                        <a:defRPr sz="900">
                          <a:latin typeface="Montserrat"/>
                        </a:defRPr>
                      </a:pPr>
                      <a:r>
                        <a:t>HGZ 13 Matamoros</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70</a:t>
                      </a:r>
                    </a:p>
                  </a:txBody>
                  <a:tcPr anchor="ctr">
                    <a:solidFill>
                      <a:srgbClr val="EFEFEF"/>
                    </a:solidFill>
                  </a:tcPr>
                </a:tc>
                <a:tc>
                  <a:txBody>
                    <a:bodyPr/>
                    <a:lstStyle/>
                    <a:p>
                      <a:pPr algn="ctr">
                        <a:defRPr sz="900">
                          <a:latin typeface="Montserrat"/>
                        </a:defRPr>
                      </a:pPr>
                      <a:r>
                        <a:rPr dirty="0"/>
                        <a:t>4</a:t>
                      </a:r>
                    </a:p>
                  </a:txBody>
                  <a:tcPr anchor="ctr">
                    <a:solidFill>
                      <a:srgbClr val="EFEFEF"/>
                    </a:solidFill>
                  </a:tcPr>
                </a:tc>
                <a:tc>
                  <a:txBody>
                    <a:bodyPr/>
                    <a:lstStyle/>
                    <a:p>
                      <a:pPr algn="ctr">
                        <a:defRPr sz="900">
                          <a:latin typeface="Montserrat"/>
                        </a:defRPr>
                      </a:pPr>
                      <a:r>
                        <a:rPr dirty="0"/>
                        <a:t>4</a:t>
                      </a:r>
                    </a:p>
                  </a:txBody>
                  <a:tcPr anchor="ctr">
                    <a:solidFill>
                      <a:srgbClr val="EFEFEF"/>
                    </a:solidFill>
                  </a:tcPr>
                </a:tc>
                <a:tc>
                  <a:txBody>
                    <a:bodyPr/>
                    <a:lstStyle/>
                    <a:p>
                      <a:pPr algn="ctr">
                        <a:defRPr sz="900">
                          <a:latin typeface="Montserrat"/>
                        </a:defRPr>
                      </a:pPr>
                      <a:r>
                        <a:t>18</a:t>
                      </a:r>
                    </a:p>
                  </a:txBody>
                  <a:tcPr anchor="ctr">
                    <a:solidFill>
                      <a:srgbClr val="EFEFEF"/>
                    </a:solidFill>
                  </a:tcPr>
                </a:tc>
                <a:extLst>
                  <a:ext uri="{0D108BD9-81ED-4DB2-BD59-A6C34878D82A}">
                    <a16:rowId xmlns:a16="http://schemas.microsoft.com/office/drawing/2014/main" val="10006"/>
                  </a:ext>
                </a:extLst>
              </a:tr>
              <a:tr h="230400">
                <a:tc>
                  <a:txBody>
                    <a:bodyPr/>
                    <a:lstStyle/>
                    <a:p>
                      <a:pPr algn="l">
                        <a:defRPr sz="900">
                          <a:latin typeface="Montserrat"/>
                        </a:defRPr>
                      </a:pPr>
                      <a:r>
                        <a:t>HGS 17 Miguel Alemán</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rPr dirty="0"/>
                        <a:t>8</a:t>
                      </a:r>
                    </a:p>
                  </a:txBody>
                  <a:tcPr anchor="ctr">
                    <a:solidFill>
                      <a:srgbClr val="FFFFFF"/>
                    </a:solidFill>
                  </a:tcPr>
                </a:tc>
                <a:extLst>
                  <a:ext uri="{0D108BD9-81ED-4DB2-BD59-A6C34878D82A}">
                    <a16:rowId xmlns:a16="http://schemas.microsoft.com/office/drawing/2014/main" val="10007"/>
                  </a:ext>
                </a:extLst>
              </a:tr>
              <a:tr h="230400">
                <a:tc>
                  <a:txBody>
                    <a:bodyPr/>
                    <a:lstStyle/>
                    <a:p>
                      <a:pPr algn="l">
                        <a:defRPr sz="900">
                          <a:latin typeface="Montserrat"/>
                        </a:defRPr>
                      </a:pPr>
                      <a:r>
                        <a:t>HGR 270 Reynosa</a:t>
                      </a:r>
                    </a:p>
                  </a:txBody>
                  <a:tcPr anchor="ctr">
                    <a:solidFill>
                      <a:srgbClr val="EFEFEF"/>
                    </a:solidFill>
                  </a:tcPr>
                </a:tc>
                <a:tc>
                  <a:txBody>
                    <a:bodyPr/>
                    <a:lstStyle/>
                    <a:p>
                      <a:pPr algn="ctr">
                        <a:defRPr sz="900">
                          <a:latin typeface="Montserrat"/>
                        </a:defRPr>
                      </a:pPr>
                      <a:r>
                        <a:t>Marzo de 2015</a:t>
                      </a:r>
                    </a:p>
                  </a:txBody>
                  <a:tcPr anchor="ctr">
                    <a:solidFill>
                      <a:srgbClr val="EFEFEF"/>
                    </a:solidFill>
                  </a:tcPr>
                </a:tc>
                <a:tc>
                  <a:txBody>
                    <a:bodyPr/>
                    <a:lstStyle/>
                    <a:p>
                      <a:pPr algn="ctr">
                        <a:defRPr sz="900">
                          <a:latin typeface="Montserrat"/>
                        </a:defRPr>
                      </a:pPr>
                      <a:r>
                        <a:t>240</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rPr dirty="0"/>
                        <a:t>35</a:t>
                      </a:r>
                    </a:p>
                  </a:txBody>
                  <a:tcPr anchor="ctr">
                    <a:solidFill>
                      <a:srgbClr val="EFEFEF"/>
                    </a:solidFill>
                  </a:tcPr>
                </a:tc>
                <a:extLst>
                  <a:ext uri="{0D108BD9-81ED-4DB2-BD59-A6C34878D82A}">
                    <a16:rowId xmlns:a16="http://schemas.microsoft.com/office/drawing/2014/main" val="10008"/>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1,203</a:t>
                      </a:r>
                    </a:p>
                  </a:txBody>
                  <a:tcPr anchor="ctr">
                    <a:solidFill>
                      <a:srgbClr val="D3E9E7"/>
                    </a:solidFill>
                  </a:tcPr>
                </a:tc>
                <a:tc>
                  <a:txBody>
                    <a:bodyPr/>
                    <a:lstStyle/>
                    <a:p>
                      <a:pPr algn="ctr">
                        <a:defRPr sz="900" b="1">
                          <a:solidFill>
                            <a:srgbClr val="006556"/>
                          </a:solidFill>
                          <a:latin typeface="Montserrat"/>
                        </a:defRPr>
                      </a:pPr>
                      <a:r>
                        <a:t>539</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rPr dirty="0"/>
                        <a:t>178</a:t>
                      </a:r>
                    </a:p>
                  </a:txBody>
                  <a:tcPr anchor="ctr">
                    <a:solidFill>
                      <a:srgbClr val="D3E9E7"/>
                    </a:solidFill>
                  </a:tcPr>
                </a:tc>
                <a:extLst>
                  <a:ext uri="{0D108BD9-81ED-4DB2-BD59-A6C34878D82A}">
                    <a16:rowId xmlns:a16="http://schemas.microsoft.com/office/drawing/2014/main" val="10009"/>
                  </a:ext>
                </a:extLst>
              </a:tr>
            </a:tbl>
          </a:graphicData>
        </a:graphic>
      </p:graphicFrame>
      <p:sp>
        <p:nvSpPr>
          <p:cNvPr id="13" name="TextBox 12"/>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t>¹Incluye salas de </a:t>
            </a:r>
            <a:r>
              <a:rPr lang="es-MX" err="1"/>
              <a:t>quirófano</a:t>
            </a:r>
            <a:r>
              <a:t>, salas </a:t>
            </a:r>
            <a:r>
              <a:rPr lang="es-MX" err="1"/>
              <a:t>híbridas</a:t>
            </a:r>
            <a:r>
              <a:t> y salas </a:t>
            </a:r>
            <a:r>
              <a:rPr lang="es-MX" err="1"/>
              <a:t>mixtas</a:t>
            </a:r>
            <a:r>
              <a:t>, no </a:t>
            </a:r>
            <a:r>
              <a:rPr lang="es-MX" err="1"/>
              <a:t>considera</a:t>
            </a:r>
            <a:r>
              <a:t> salas de </a:t>
            </a:r>
            <a:r>
              <a:rPr lang="es-MX" err="1"/>
              <a:t>tococirugía</a:t>
            </a:r>
            <a:r>
              <a:t> y </a:t>
            </a:r>
            <a:r>
              <a:rPr lang="es-MX" err="1"/>
              <a:t>expulsión</a:t>
            </a:r>
            <a:r>
              <a:t>.</a:t>
            </a:r>
            <a:br/>
            <a:r>
              <a:t>Fuente: Cédula de </a:t>
            </a:r>
            <a:r>
              <a:rPr lang="es-MX" err="1"/>
              <a:t>actualización</a:t>
            </a:r>
            <a:r>
              <a:t> de variables </a:t>
            </a:r>
            <a:r>
              <a:rPr lang="es-MX" err="1"/>
              <a:t>seleccionados</a:t>
            </a:r>
            <a:r>
              <a:t> del IFU </a:t>
            </a:r>
            <a:r>
              <a:rPr lang="es-MX" err="1"/>
              <a:t>enviados</a:t>
            </a:r>
            <a:r>
              <a:t> </a:t>
            </a:r>
            <a:r>
              <a:rPr lang="es-MX" err="1"/>
              <a:t>por</a:t>
            </a:r>
            <a:r>
              <a:t> </a:t>
            </a:r>
            <a:r>
              <a:rPr lang="es-MX" err="1"/>
              <a:t>el</a:t>
            </a:r>
            <a:r>
              <a:t> OOAD.</a:t>
            </a:r>
            <a:br/>
            <a:r>
              <a:t>Corte de </a:t>
            </a:r>
            <a:r>
              <a:rPr lang="es-MX" err="1"/>
              <a:t>Información</a:t>
            </a:r>
            <a:r>
              <a:t>: </a:t>
            </a:r>
            <a:r>
              <a:rPr lang="es-MX"/>
              <a:t>mayo</a:t>
            </a:r>
            <a:r>
              <a:t> de 2026</a:t>
            </a:r>
          </a:p>
        </p:txBody>
      </p:sp>
      <p:graphicFrame>
        <p:nvGraphicFramePr>
          <p:cNvPr id="2" name="Table 4">
            <a:extLst>
              <a:ext uri="{FF2B5EF4-FFF2-40B4-BE49-F238E27FC236}">
                <a16:creationId xmlns:a16="http://schemas.microsoft.com/office/drawing/2014/main" id="{8BA27617-42F6-BDD5-DDCB-786C5E26D6E3}"/>
              </a:ext>
            </a:extLst>
          </p:cNvPr>
          <p:cNvGraphicFramePr>
            <a:graphicFrameLocks noGrp="1"/>
          </p:cNvGraphicFramePr>
          <p:nvPr>
            <p:extLst>
              <p:ext uri="{D42A27DB-BD31-4B8C-83A1-F6EECF244321}">
                <p14:modId xmlns:p14="http://schemas.microsoft.com/office/powerpoint/2010/main" val="1997998084"/>
              </p:ext>
            </p:extLst>
          </p:nvPr>
        </p:nvGraphicFramePr>
        <p:xfrm>
          <a:off x="47952" y="7518606"/>
          <a:ext cx="7650000" cy="18853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rPr dirty="0"/>
                        <a:t>IMSS-</a:t>
                      </a:r>
                      <a:r>
                        <a:rPr dirty="0" err="1"/>
                        <a:t>Coplamar</a:t>
                      </a:r>
                      <a:endParaRPr dirty="0"/>
                    </a:p>
                  </a:txBody>
                  <a:tcPr anchor="ctr">
                    <a:solidFill>
                      <a:srgbClr val="006455"/>
                    </a:solidFill>
                  </a:tcPr>
                </a:tc>
                <a:tc>
                  <a:txBody>
                    <a:bodyPr/>
                    <a:lstStyle/>
                    <a:p>
                      <a:pPr algn="ctr">
                        <a:defRPr sz="900" b="1">
                          <a:solidFill>
                            <a:srgbClr val="FFFFFF"/>
                          </a:solidFill>
                          <a:latin typeface="Montserrat"/>
                        </a:defRPr>
                      </a:pPr>
                      <a:r>
                        <a:rPr dirty="0" err="1"/>
                        <a:t>Inicio</a:t>
                      </a:r>
                      <a:r>
                        <a:rPr dirty="0"/>
                        <a:t> de </a:t>
                      </a:r>
                      <a:r>
                        <a:rPr dirty="0" err="1"/>
                        <a:t>operaciones</a:t>
                      </a:r>
                      <a:endParaRPr dirty="0"/>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HR Tula</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HR Soto La Marina</a:t>
                      </a:r>
                    </a:p>
                  </a:txBody>
                  <a:tcPr anchor="ctr">
                    <a:solidFill>
                      <a:srgbClr val="EFEFEF"/>
                    </a:solidFill>
                  </a:tcPr>
                </a:tc>
                <a:tc>
                  <a:txBody>
                    <a:bodyPr/>
                    <a:lstStyle/>
                    <a:p>
                      <a:pPr algn="ctr">
                        <a:defRPr sz="900">
                          <a:latin typeface="Montserrat"/>
                        </a:defRPr>
                      </a:pPr>
                      <a:r>
                        <a:t>Octubre de 1982</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5</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HR Hidalgo</a:t>
                      </a:r>
                    </a:p>
                  </a:txBody>
                  <a:tcPr anchor="ctr">
                    <a:solidFill>
                      <a:srgbClr val="FFFFFF"/>
                    </a:solidFill>
                  </a:tcPr>
                </a:tc>
                <a:tc>
                  <a:txBody>
                    <a:bodyPr/>
                    <a:lstStyle/>
                    <a:p>
                      <a:pPr algn="ctr">
                        <a:defRPr sz="900">
                          <a:latin typeface="Montserrat"/>
                        </a:defRPr>
                      </a:pPr>
                      <a:r>
                        <a:t>Agosto de 2008</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HR San Carlos</a:t>
                      </a:r>
                    </a:p>
                  </a:txBody>
                  <a:tcPr anchor="ctr">
                    <a:solidFill>
                      <a:srgbClr val="EFEFEF"/>
                    </a:solidFill>
                  </a:tcPr>
                </a:tc>
                <a:tc>
                  <a:txBody>
                    <a:bodyPr/>
                    <a:lstStyle/>
                    <a:p>
                      <a:pPr algn="ctr">
                        <a:defRPr sz="900">
                          <a:latin typeface="Montserrat"/>
                        </a:defRPr>
                      </a:pPr>
                      <a:r>
                        <a:t>Agosto de 2011</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extLst>
                  <a:ext uri="{0D108BD9-81ED-4DB2-BD59-A6C34878D82A}">
                    <a16:rowId xmlns:a16="http://schemas.microsoft.com/office/drawing/2014/main" val="10004"/>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89</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19</a:t>
                      </a:r>
                    </a:p>
                  </a:txBody>
                  <a:tcPr anchor="ctr">
                    <a:solidFill>
                      <a:srgbClr val="D3E9E7"/>
                    </a:solidFill>
                  </a:tcPr>
                </a:tc>
                <a:extLst>
                  <a:ext uri="{0D108BD9-81ED-4DB2-BD59-A6C34878D82A}">
                    <a16:rowId xmlns:a16="http://schemas.microsoft.com/office/drawing/2014/main" val="10005"/>
                  </a:ext>
                </a:extLst>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1,292</a:t>
                      </a:r>
                    </a:p>
                  </a:txBody>
                  <a:tcPr anchor="ctr">
                    <a:solidFill>
                      <a:srgbClr val="D3E9E7"/>
                    </a:solidFill>
                  </a:tcPr>
                </a:tc>
                <a:tc>
                  <a:txBody>
                    <a:bodyPr/>
                    <a:lstStyle/>
                    <a:p>
                      <a:pPr algn="ctr">
                        <a:defRPr sz="900" b="1">
                          <a:solidFill>
                            <a:srgbClr val="006556"/>
                          </a:solidFill>
                          <a:latin typeface="Montserrat"/>
                        </a:defRPr>
                      </a:pPr>
                      <a:r>
                        <a:t>582</a:t>
                      </a:r>
                    </a:p>
                  </a:txBody>
                  <a:tcPr anchor="ctr">
                    <a:solidFill>
                      <a:srgbClr val="D3E9E7"/>
                    </a:solidFill>
                  </a:tcPr>
                </a:tc>
                <a:tc>
                  <a:txBody>
                    <a:bodyPr/>
                    <a:lstStyle/>
                    <a:p>
                      <a:pPr algn="ctr">
                        <a:defRPr sz="900" b="1">
                          <a:solidFill>
                            <a:srgbClr val="006556"/>
                          </a:solidFill>
                          <a:latin typeface="Montserrat"/>
                        </a:defRPr>
                      </a:pPr>
                      <a:r>
                        <a:t>51</a:t>
                      </a:r>
                    </a:p>
                  </a:txBody>
                  <a:tcPr anchor="ctr">
                    <a:solidFill>
                      <a:srgbClr val="D3E9E7"/>
                    </a:solidFill>
                  </a:tcPr>
                </a:tc>
                <a:tc>
                  <a:txBody>
                    <a:bodyPr/>
                    <a:lstStyle/>
                    <a:p>
                      <a:pPr algn="ctr">
                        <a:defRPr sz="900" b="1">
                          <a:solidFill>
                            <a:srgbClr val="006556"/>
                          </a:solidFill>
                          <a:latin typeface="Montserrat"/>
                        </a:defRPr>
                      </a:pPr>
                      <a:r>
                        <a:t>40</a:t>
                      </a:r>
                    </a:p>
                  </a:txBody>
                  <a:tcPr anchor="ctr">
                    <a:solidFill>
                      <a:srgbClr val="D3E9E7"/>
                    </a:solidFill>
                  </a:tcPr>
                </a:tc>
                <a:tc>
                  <a:txBody>
                    <a:bodyPr/>
                    <a:lstStyle/>
                    <a:p>
                      <a:pPr algn="ctr">
                        <a:defRPr sz="900" b="1">
                          <a:solidFill>
                            <a:srgbClr val="006556"/>
                          </a:solidFill>
                          <a:latin typeface="Montserrat"/>
                        </a:defRPr>
                      </a:pPr>
                      <a:r>
                        <a:rPr dirty="0"/>
                        <a:t>197</a:t>
                      </a:r>
                    </a:p>
                  </a:txBody>
                  <a:tcPr anchor="ctr">
                    <a:solidFill>
                      <a:srgbClr val="D3E9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C7F762BE-3FC0-C6E7-D587-23061586B637}"/>
              </a:ext>
            </a:extLst>
          </p:cNvPr>
          <p:cNvGrpSpPr/>
          <p:nvPr/>
        </p:nvGrpSpPr>
        <p:grpSpPr>
          <a:xfrm>
            <a:off x="0" y="5028082"/>
            <a:ext cx="7772400" cy="3648888"/>
            <a:chOff x="0" y="5028082"/>
            <a:chExt cx="7772400" cy="3648888"/>
          </a:xfrm>
        </p:grpSpPr>
        <p:sp>
          <p:nvSpPr>
            <p:cNvPr id="11" name="Google Shape;342;g3d635d120e2_2_186">
              <a:extLst>
                <a:ext uri="{FF2B5EF4-FFF2-40B4-BE49-F238E27FC236}">
                  <a16:creationId xmlns:a16="http://schemas.microsoft.com/office/drawing/2014/main" id="{15F1182A-7491-49BB-7139-9C1E73A9F6D1}"/>
                </a:ext>
              </a:extLst>
            </p:cNvPr>
            <p:cNvSpPr txBox="1"/>
            <p:nvPr/>
          </p:nvSpPr>
          <p:spPr>
            <a:xfrm>
              <a:off x="0" y="502808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a:solidFill>
                    <a:srgbClr val="006858"/>
                  </a:solidFill>
                  <a:latin typeface="Montserrat"/>
                  <a:ea typeface="Montserrat"/>
                  <a:cs typeface="Montserrat"/>
                  <a:sym typeface="Montserrat"/>
                </a:rPr>
                <a:t>Fortalecimiento de equipo médico</a:t>
              </a:r>
              <a:endParaRPr sz="1600" b="1">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6858"/>
                  </a:solidFill>
                  <a:latin typeface="Montserrat"/>
                  <a:ea typeface="Montserrat"/>
                  <a:cs typeface="Montserrat"/>
                  <a:sym typeface="Montserrat"/>
                </a:rPr>
                <a:t>Compra 2025-2026 equipo mayor  (</a:t>
              </a:r>
              <a:r>
                <a:rPr lang="es" sz="1600" b="1">
                  <a:solidFill>
                    <a:srgbClr val="006858"/>
                  </a:solidFill>
                  <a:latin typeface="Montserrat"/>
                  <a:ea typeface="Montserrat"/>
                  <a:cs typeface="Montserrat"/>
                  <a:sym typeface="Montserrat"/>
                </a:rPr>
                <a:t>Instalación</a:t>
              </a:r>
              <a:r>
                <a:rPr lang="es" sz="1600" b="1" i="0" u="none" strike="noStrike" cap="none">
                  <a:solidFill>
                    <a:srgbClr val="006858"/>
                  </a:solidFill>
                  <a:latin typeface="Montserrat"/>
                  <a:ea typeface="Montserrat"/>
                  <a:cs typeface="Montserrat"/>
                  <a:sym typeface="Montserrat"/>
                </a:rPr>
                <a:t> abr</a:t>
              </a:r>
              <a:r>
                <a:rPr lang="es" sz="1600" b="1">
                  <a:solidFill>
                    <a:srgbClr val="006858"/>
                  </a:solidFill>
                  <a:latin typeface="Montserrat"/>
                  <a:ea typeface="Montserrat"/>
                  <a:cs typeface="Montserrat"/>
                  <a:sym typeface="Montserrat"/>
                </a:rPr>
                <a:t>il-</a:t>
              </a:r>
              <a:r>
                <a:rPr lang="es" sz="1600" b="1" i="0" u="none" strike="noStrike" cap="none">
                  <a:solidFill>
                    <a:srgbClr val="006858"/>
                  </a:solidFill>
                  <a:latin typeface="Montserrat"/>
                  <a:ea typeface="Montserrat"/>
                  <a:cs typeface="Montserrat"/>
                  <a:sym typeface="Montserrat"/>
                </a:rPr>
                <a:t>mayo)</a:t>
              </a:r>
              <a:endParaRPr sz="2300" b="1" i="0" u="none" strike="noStrike" cap="none">
                <a:solidFill>
                  <a:srgbClr val="006858"/>
                </a:solidFill>
                <a:latin typeface="Montserrat"/>
                <a:ea typeface="Montserrat"/>
                <a:cs typeface="Montserrat"/>
                <a:sym typeface="Montserrat"/>
              </a:endParaRPr>
            </a:p>
          </p:txBody>
        </p:sp>
        <p:sp>
          <p:nvSpPr>
            <p:cNvPr id="12" name="Google Shape;343;g3d635d120e2_2_186">
              <a:extLst>
                <a:ext uri="{FF2B5EF4-FFF2-40B4-BE49-F238E27FC236}">
                  <a16:creationId xmlns:a16="http://schemas.microsoft.com/office/drawing/2014/main" id="{3000DFC8-3938-379A-A0FA-8B95E3630C2A}"/>
                </a:ext>
              </a:extLst>
            </p:cNvPr>
            <p:cNvSpPr/>
            <p:nvPr/>
          </p:nvSpPr>
          <p:spPr>
            <a:xfrm>
              <a:off x="5078164" y="7453049"/>
              <a:ext cx="1909800" cy="3801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r>
                <a:rPr lang="es" sz="1300" b="1">
                  <a:solidFill>
                    <a:srgbClr val="FFFFFF"/>
                  </a:solidFill>
                  <a:latin typeface="Montserrat"/>
                  <a:ea typeface="Montserrat"/>
                  <a:cs typeface="Montserrat"/>
                  <a:sym typeface="Montserrat"/>
                </a:rPr>
                <a:t>s</a:t>
              </a:r>
              <a:endParaRPr sz="1100" b="0" i="0" u="none" strike="noStrike" cap="none">
                <a:solidFill>
                  <a:srgbClr val="FFFFFF"/>
                </a:solidFill>
                <a:latin typeface="Arial"/>
                <a:ea typeface="Arial"/>
                <a:cs typeface="Arial"/>
                <a:sym typeface="Arial"/>
              </a:endParaRPr>
            </a:p>
          </p:txBody>
        </p:sp>
        <p:sp>
          <p:nvSpPr>
            <p:cNvPr id="13" name="Google Shape;344;g3d635d120e2_2_186">
              <a:extLst>
                <a:ext uri="{FF2B5EF4-FFF2-40B4-BE49-F238E27FC236}">
                  <a16:creationId xmlns:a16="http://schemas.microsoft.com/office/drawing/2014/main" id="{7F2F59B8-8A70-F74F-07A3-3BF3795A5D32}"/>
                </a:ext>
              </a:extLst>
            </p:cNvPr>
            <p:cNvSpPr/>
            <p:nvPr/>
          </p:nvSpPr>
          <p:spPr>
            <a:xfrm>
              <a:off x="4576123" y="7453049"/>
              <a:ext cx="507000" cy="3801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sp>
          <p:nvSpPr>
            <p:cNvPr id="14" name="Google Shape;345;g3d635d120e2_2_186">
              <a:extLst>
                <a:ext uri="{FF2B5EF4-FFF2-40B4-BE49-F238E27FC236}">
                  <a16:creationId xmlns:a16="http://schemas.microsoft.com/office/drawing/2014/main" id="{9B822026-9942-8E1F-C557-93F7219EFC46}"/>
                </a:ext>
              </a:extLst>
            </p:cNvPr>
            <p:cNvSpPr txBox="1"/>
            <p:nvPr/>
          </p:nvSpPr>
          <p:spPr>
            <a:xfrm>
              <a:off x="4592884" y="7809070"/>
              <a:ext cx="2577600" cy="86790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a:solidFill>
                    <a:srgbClr val="595959"/>
                  </a:solidFill>
                  <a:latin typeface="Montserrat"/>
                  <a:ea typeface="Montserrat"/>
                  <a:cs typeface="Montserrat"/>
                  <a:sym typeface="Montserrat"/>
                </a:rPr>
                <a:t>HGZ-UMAA 15 Reynosa</a:t>
              </a:r>
              <a:endParaRPr sz="130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a:solidFill>
                    <a:srgbClr val="595959"/>
                  </a:solidFill>
                  <a:latin typeface="Montserrat"/>
                  <a:ea typeface="Montserrat"/>
                  <a:cs typeface="Montserrat"/>
                  <a:sym typeface="Montserrat"/>
                </a:rPr>
                <a:t> HGZ 13 Matamoros</a:t>
              </a:r>
            </a:p>
            <a:p>
              <a:pPr marL="0" marR="50800" lvl="0" indent="0" algn="l" rtl="0">
                <a:lnSpc>
                  <a:spcPct val="111000"/>
                </a:lnSpc>
                <a:spcBef>
                  <a:spcPts val="0"/>
                </a:spcBef>
                <a:spcAft>
                  <a:spcPts val="0"/>
                </a:spcAft>
                <a:buNone/>
              </a:pPr>
              <a:r>
                <a:rPr lang="es" sz="1300" b="1">
                  <a:solidFill>
                    <a:srgbClr val="595959"/>
                  </a:solidFill>
                  <a:latin typeface="Montserrat"/>
                  <a:ea typeface="Noto Sans"/>
                  <a:cs typeface="Noto Sans"/>
                  <a:sym typeface="Montserrat"/>
                </a:rPr>
                <a:t>$59.3 mdp</a:t>
              </a:r>
              <a:r>
                <a:rPr lang="es">
                  <a:solidFill>
                    <a:srgbClr val="434343"/>
                  </a:solidFill>
                  <a:latin typeface="Noto Sans"/>
                  <a:ea typeface="Noto Sans"/>
                  <a:cs typeface="Noto Sans"/>
                  <a:sym typeface="Noto Sans"/>
                </a:rPr>
                <a:t> </a:t>
              </a:r>
              <a:r>
                <a:rPr lang="es" sz="1300">
                  <a:solidFill>
                    <a:srgbClr val="595959"/>
                  </a:solidFill>
                  <a:latin typeface="Montserrat"/>
                  <a:ea typeface="Montserrat"/>
                  <a:cs typeface="Montserrat"/>
                  <a:sym typeface="Montserrat"/>
                </a:rPr>
                <a:t>   </a:t>
              </a:r>
              <a:endParaRPr>
                <a:solidFill>
                  <a:srgbClr val="434343"/>
                </a:solidFill>
                <a:latin typeface="Noto Sans"/>
                <a:ea typeface="Noto Sans"/>
                <a:cs typeface="Noto Sans"/>
                <a:sym typeface="Noto Sans"/>
              </a:endParaRPr>
            </a:p>
          </p:txBody>
        </p:sp>
        <p:pic>
          <p:nvPicPr>
            <p:cNvPr id="15" name="Google Shape;346;g3d635d120e2_2_186">
              <a:extLst>
                <a:ext uri="{FF2B5EF4-FFF2-40B4-BE49-F238E27FC236}">
                  <a16:creationId xmlns:a16="http://schemas.microsoft.com/office/drawing/2014/main" id="{D5A5FF13-ECDA-25E8-3130-DFB306A31007}"/>
                </a:ext>
              </a:extLst>
            </p:cNvPr>
            <p:cNvPicPr preferRelativeResize="0"/>
            <p:nvPr/>
          </p:nvPicPr>
          <p:blipFill>
            <a:blip r:embed="rId4">
              <a:alphaModFix/>
            </a:blip>
            <a:stretch>
              <a:fillRect/>
            </a:stretch>
          </p:blipFill>
          <p:spPr>
            <a:xfrm>
              <a:off x="4613859" y="5880389"/>
              <a:ext cx="2382565" cy="1572660"/>
            </a:xfrm>
            <a:prstGeom prst="rect">
              <a:avLst/>
            </a:prstGeom>
            <a:noFill/>
            <a:ln>
              <a:noFill/>
            </a:ln>
          </p:spPr>
        </p:pic>
        <p:sp>
          <p:nvSpPr>
            <p:cNvPr id="16" name="Google Shape;347;g3d635d120e2_2_186">
              <a:extLst>
                <a:ext uri="{FF2B5EF4-FFF2-40B4-BE49-F238E27FC236}">
                  <a16:creationId xmlns:a16="http://schemas.microsoft.com/office/drawing/2014/main" id="{3BF01D4D-2266-FB4B-A92A-A8982BD85703}"/>
                </a:ext>
              </a:extLst>
            </p:cNvPr>
            <p:cNvSpPr/>
            <p:nvPr/>
          </p:nvSpPr>
          <p:spPr>
            <a:xfrm>
              <a:off x="1227523" y="744271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348;g3d635d120e2_2_186">
              <a:extLst>
                <a:ext uri="{FF2B5EF4-FFF2-40B4-BE49-F238E27FC236}">
                  <a16:creationId xmlns:a16="http://schemas.microsoft.com/office/drawing/2014/main" id="{A08A6AB6-5482-5BF6-3B59-969168CC9558}"/>
                </a:ext>
              </a:extLst>
            </p:cNvPr>
            <p:cNvSpPr/>
            <p:nvPr/>
          </p:nvSpPr>
          <p:spPr>
            <a:xfrm>
              <a:off x="1685730" y="7442715"/>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18" name="Google Shape;349;g3d635d120e2_2_186">
              <a:extLst>
                <a:ext uri="{FF2B5EF4-FFF2-40B4-BE49-F238E27FC236}">
                  <a16:creationId xmlns:a16="http://schemas.microsoft.com/office/drawing/2014/main" id="{7C144941-F9EA-2560-D24F-E72F845666E0}"/>
                </a:ext>
              </a:extLst>
            </p:cNvPr>
            <p:cNvSpPr txBox="1"/>
            <p:nvPr/>
          </p:nvSpPr>
          <p:spPr>
            <a:xfrm>
              <a:off x="1184775" y="7897170"/>
              <a:ext cx="2323200" cy="64476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a:solidFill>
                    <a:schemeClr val="dk2"/>
                  </a:solidFill>
                  <a:latin typeface="Montserrat"/>
                  <a:ea typeface="Montserrat"/>
                  <a:cs typeface="Montserrat"/>
                  <a:sym typeface="Montserrat"/>
                </a:rPr>
                <a:t>HGR 270 Reynosa</a:t>
              </a:r>
            </a:p>
            <a:p>
              <a:pPr marL="0" marR="63500" lvl="0" indent="0" algn="l" rtl="0">
                <a:lnSpc>
                  <a:spcPct val="115000"/>
                </a:lnSpc>
                <a:spcBef>
                  <a:spcPts val="0"/>
                </a:spcBef>
                <a:spcAft>
                  <a:spcPts val="0"/>
                </a:spcAft>
                <a:buNone/>
              </a:pPr>
              <a:r>
                <a:rPr lang="es" sz="1300" b="1">
                  <a:solidFill>
                    <a:schemeClr val="dk2"/>
                  </a:solidFill>
                  <a:latin typeface="Montserrat"/>
                  <a:ea typeface="Montserrat"/>
                  <a:cs typeface="Montserrat"/>
                  <a:sym typeface="Montserrat"/>
                </a:rPr>
                <a:t>$40.6 mdp</a:t>
              </a:r>
              <a:r>
                <a:rPr lang="es" sz="1300">
                  <a:solidFill>
                    <a:schemeClr val="dk2"/>
                  </a:solidFill>
                  <a:latin typeface="Montserrat"/>
                  <a:ea typeface="Montserrat"/>
                  <a:cs typeface="Montserrat"/>
                  <a:sym typeface="Montserrat"/>
                </a:rPr>
                <a:t> </a:t>
              </a:r>
              <a:r>
                <a:rPr lang="es" sz="1300">
                  <a:solidFill>
                    <a:srgbClr val="595959"/>
                  </a:solidFill>
                  <a:latin typeface="Montserrat"/>
                  <a:ea typeface="Montserrat"/>
                  <a:cs typeface="Montserrat"/>
                  <a:sym typeface="Montserrat"/>
                </a:rPr>
                <a:t> </a:t>
              </a:r>
              <a:endParaRPr/>
            </a:p>
          </p:txBody>
        </p:sp>
        <p:pic>
          <p:nvPicPr>
            <p:cNvPr id="19" name="Google Shape;350;g3d635d120e2_2_186">
              <a:extLst>
                <a:ext uri="{FF2B5EF4-FFF2-40B4-BE49-F238E27FC236}">
                  <a16:creationId xmlns:a16="http://schemas.microsoft.com/office/drawing/2014/main" id="{3037E67E-542B-FC8F-CE61-530C00523A91}"/>
                </a:ext>
              </a:extLst>
            </p:cNvPr>
            <p:cNvPicPr preferRelativeResize="0"/>
            <p:nvPr/>
          </p:nvPicPr>
          <p:blipFill>
            <a:blip r:embed="rId5">
              <a:alphaModFix/>
            </a:blip>
            <a:stretch>
              <a:fillRect/>
            </a:stretch>
          </p:blipFill>
          <p:spPr>
            <a:xfrm>
              <a:off x="1205255" y="5880389"/>
              <a:ext cx="2471605" cy="1562331"/>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54" name="Table 153"/>
          <p:cNvGraphicFramePr>
            <a:graphicFrameLocks noGrp="1"/>
          </p:cNvGraphicFramePr>
          <p:nvPr>
            <p:extLst>
              <p:ext uri="{D42A27DB-BD31-4B8C-83A1-F6EECF244321}">
                <p14:modId xmlns:p14="http://schemas.microsoft.com/office/powerpoint/2010/main" val="3632616188"/>
              </p:ext>
            </p:extLst>
          </p:nvPr>
        </p:nvGraphicFramePr>
        <p:xfrm>
          <a:off x="93600" y="1180800"/>
          <a:ext cx="7534799" cy="269748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HGR 270 Reynosa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rPr lang="es-MX" dirty="0"/>
                        <a:t>1</a:t>
                      </a:r>
                    </a:p>
                  </a:txBody>
                  <a:tcPr>
                    <a:solidFill>
                      <a:srgbClr val="EFEFEF"/>
                    </a:solidFill>
                  </a:tcPr>
                </a:tc>
                <a:tc>
                  <a:txBody>
                    <a:bodyPr/>
                    <a:lstStyle/>
                    <a:p>
                      <a:pPr algn="ctr">
                        <a:defRPr sz="1000">
                          <a:latin typeface="Montserrat"/>
                        </a:defRPr>
                      </a:pPr>
                      <a:r>
                        <a:rPr dirty="0"/>
                        <a:t>2</a:t>
                      </a:r>
                    </a:p>
                  </a:txBody>
                  <a:tcPr>
                    <a:solidFill>
                      <a:srgbClr val="EFEFEF"/>
                    </a:solidFill>
                  </a:tcPr>
                </a:tc>
                <a:tc>
                  <a:txBody>
                    <a:bodyPr/>
                    <a:lstStyle/>
                    <a:p>
                      <a:pPr algn="ctr">
                        <a:defRPr sz="1000">
                          <a:latin typeface="Montserrat"/>
                        </a:defRPr>
                      </a:pPr>
                      <a:r>
                        <a:rPr dirty="0"/>
                        <a:t>10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160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5</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HGZ-UMAA 15 Ciudad Reynosa</a:t>
                      </a:r>
                    </a:p>
                  </a:txBody>
                  <a:tcPr>
                    <a:solidFill>
                      <a:srgbClr val="EFEFEF"/>
                    </a:solidFill>
                  </a:tcPr>
                </a:tc>
                <a:tc>
                  <a:txBody>
                    <a:bodyPr/>
                    <a:lstStyle/>
                    <a:p>
                      <a:pPr algn="ctr">
                        <a:defRPr sz="1000">
                          <a:latin typeface="Montserrat"/>
                        </a:defRPr>
                      </a:pPr>
                      <a:r>
                        <a:rPr dirty="0"/>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rPr dirty="0"/>
                        <a:t>1</a:t>
                      </a:r>
                    </a:p>
                  </a:txBody>
                  <a:tcPr>
                    <a:solidFill>
                      <a:srgbClr val="E6D194"/>
                    </a:solidFill>
                  </a:tcPr>
                </a:tc>
                <a:tc>
                  <a:txBody>
                    <a:bodyPr/>
                    <a:lstStyle/>
                    <a:p>
                      <a:pPr algn="ctr">
                        <a:defRPr sz="1000">
                          <a:latin typeface="Montserrat"/>
                        </a:defRPr>
                      </a:pPr>
                      <a:r>
                        <a:rPr dirty="0"/>
                        <a:t>1</a:t>
                      </a:r>
                    </a:p>
                  </a:txBody>
                  <a:tcPr>
                    <a:solidFill>
                      <a:srgbClr val="EFEFEF"/>
                    </a:solidFill>
                  </a:tcPr>
                </a:tc>
                <a:tc>
                  <a:txBody>
                    <a:bodyPr/>
                    <a:lstStyle/>
                    <a:p>
                      <a:pPr algn="ctr">
                        <a:defRPr sz="1000">
                          <a:latin typeface="Montserrat"/>
                        </a:defRPr>
                      </a:pPr>
                      <a:r>
                        <a:rPr dirty="0"/>
                        <a:t>1</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4"/>
                  </a:ext>
                </a:extLst>
              </a:tr>
              <a:tr h="216000">
                <a:tc>
                  <a:txBody>
                    <a:bodyPr/>
                    <a:lstStyle/>
                    <a:p>
                      <a:pPr algn="l">
                        <a:defRPr sz="1000">
                          <a:latin typeface="Montserrat"/>
                        </a:defRPr>
                      </a:pPr>
                      <a:r>
                        <a:t>HGZ 11 Nuevo Laredo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lang="es-MX"/>
                        <a:t>0</a:t>
                      </a:r>
                      <a:endParaRPr/>
                    </a:p>
                  </a:txBody>
                  <a:tcPr>
                    <a:solidFill>
                      <a:srgbClr val="E6D194"/>
                    </a:solidFill>
                  </a:tcPr>
                </a:tc>
                <a:tc>
                  <a:txBody>
                    <a:bodyPr/>
                    <a:lstStyle/>
                    <a:p>
                      <a:pPr algn="ctr">
                        <a:defRPr sz="1000">
                          <a:latin typeface="Montserrat"/>
                        </a:defRPr>
                      </a:pPr>
                      <a:r>
                        <a:rPr lang="es-MX"/>
                        <a:t>0</a:t>
                      </a:r>
                      <a:endParaRP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rPr lang="es-MX" dirty="0"/>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rPr lang="es-MX" dirty="0"/>
                        <a:t>12</a:t>
                      </a:r>
                    </a:p>
                  </a:txBody>
                  <a:tcPr>
                    <a:solidFill>
                      <a:srgbClr val="EFEFE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6"/>
                  </a:ext>
                </a:extLst>
              </a:tr>
              <a:tr h="2160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lang="es-MX" dirty="0"/>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lang="es-MX"/>
                        <a:t>0</a:t>
                      </a:r>
                      <a:endParaRP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HGZ 13 Matamoros</a:t>
                      </a:r>
                    </a:p>
                  </a:txBody>
                  <a:tcPr>
                    <a:solidFill>
                      <a:srgbClr val="EFEFEF"/>
                    </a:solidFill>
                  </a:tcPr>
                </a:tc>
                <a:tc>
                  <a:txBody>
                    <a:bodyPr/>
                    <a:lstStyle/>
                    <a:p>
                      <a:pPr algn="ctr">
                        <a:defRPr sz="1000">
                          <a:latin typeface="Montserrat"/>
                        </a:defRPr>
                      </a:pPr>
                      <a:r>
                        <a:rPr dirty="0"/>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rPr lang="es-MX" dirty="0"/>
                        <a:t>0</a:t>
                      </a:r>
                      <a:endParaRPr dirty="0"/>
                    </a:p>
                  </a:txBody>
                  <a:tcPr>
                    <a:solidFill>
                      <a:srgbClr val="E6D194"/>
                    </a:solidFill>
                  </a:tcPr>
                </a:tc>
                <a:tc>
                  <a:txBody>
                    <a:bodyPr/>
                    <a:lstStyle/>
                    <a:p>
                      <a:pPr algn="ctr">
                        <a:defRPr sz="1000">
                          <a:latin typeface="Montserrat"/>
                        </a:defRPr>
                      </a:pPr>
                      <a:r>
                        <a:rPr dirty="0"/>
                        <a:t>1</a:t>
                      </a:r>
                    </a:p>
                  </a:txBody>
                  <a:tcPr>
                    <a:solidFill>
                      <a:srgbClr val="EFEFEF"/>
                    </a:solidFill>
                  </a:tcPr>
                </a:tc>
                <a:tc>
                  <a:txBody>
                    <a:bodyPr/>
                    <a:lstStyle/>
                    <a:p>
                      <a:pPr algn="ctr">
                        <a:defRPr sz="1000">
                          <a:latin typeface="Montserrat"/>
                        </a:defRPr>
                      </a:pPr>
                      <a:r>
                        <a:rPr dirty="0"/>
                        <a:t>1</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8"/>
                  </a:ext>
                </a:extLst>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rPr lang="es-MX"/>
                        <a:t>6</a:t>
                      </a:r>
                      <a:endParaRPr/>
                    </a:p>
                  </a:txBody>
                  <a:tcPr>
                    <a:solidFill>
                      <a:srgbClr val="D3E9E7"/>
                    </a:solidFill>
                  </a:tcPr>
                </a:tc>
                <a:tc>
                  <a:txBody>
                    <a:bodyPr/>
                    <a:lstStyle/>
                    <a:p>
                      <a:pPr algn="ctr">
                        <a:defRPr sz="1000" b="1">
                          <a:solidFill>
                            <a:srgbClr val="006556"/>
                          </a:solidFill>
                          <a:latin typeface="Montserrat"/>
                        </a:defRPr>
                      </a:pPr>
                      <a:r>
                        <a:rPr lang="es-MX"/>
                        <a:t>4</a:t>
                      </a:r>
                      <a:endParaRPr/>
                    </a:p>
                  </a:txBody>
                  <a:tcPr>
                    <a:solidFill>
                      <a:srgbClr val="D3E9E7"/>
                    </a:solidFill>
                  </a:tcPr>
                </a:tc>
                <a:tc>
                  <a:txBody>
                    <a:bodyPr/>
                    <a:lstStyle/>
                    <a:p>
                      <a:pPr algn="ctr">
                        <a:defRPr sz="1000" b="1">
                          <a:solidFill>
                            <a:srgbClr val="006556"/>
                          </a:solidFill>
                          <a:latin typeface="Montserrat"/>
                        </a:defRPr>
                      </a:pPr>
                      <a:r>
                        <a:rPr lang="es-MX"/>
                        <a:t>29</a:t>
                      </a:r>
                      <a:endParaRPr/>
                    </a:p>
                  </a:txBody>
                  <a:tcPr>
                    <a:solidFill>
                      <a:srgbClr val="D3E9E7"/>
                    </a:solidFill>
                  </a:tcPr>
                </a:tc>
                <a:tc>
                  <a:txBody>
                    <a:bodyPr/>
                    <a:lstStyle/>
                    <a:p>
                      <a:pPr algn="ctr">
                        <a:defRPr sz="1000" b="1">
                          <a:solidFill>
                            <a:srgbClr val="006556"/>
                          </a:solidFill>
                          <a:latin typeface="Montserrat"/>
                        </a:defRPr>
                      </a:pPr>
                      <a:r>
                        <a:rPr dirty="0"/>
                        <a:t>1</a:t>
                      </a:r>
                    </a:p>
                  </a:txBody>
                  <a:tcPr>
                    <a:solidFill>
                      <a:srgbClr val="D3E9E7"/>
                    </a:solidFill>
                  </a:tcPr>
                </a:tc>
                <a:extLst>
                  <a:ext uri="{0D108BD9-81ED-4DB2-BD59-A6C34878D82A}">
                    <a16:rowId xmlns:a16="http://schemas.microsoft.com/office/drawing/2014/main" val="10009"/>
                  </a:ext>
                </a:extLst>
              </a:tr>
            </a:tbl>
          </a:graphicData>
        </a:graphic>
      </p:graphicFrame>
      <p:sp>
        <p:nvSpPr>
          <p:cNvPr id="155" name="Rectangle 154"/>
          <p:cNvSpPr/>
          <p:nvPr/>
        </p:nvSpPr>
        <p:spPr>
          <a:xfrm>
            <a:off x="205199" y="96696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06799" y="9568800"/>
            <a:ext cx="7149600" cy="461665"/>
          </a:xfrm>
          <a:prstGeom prst="rect">
            <a:avLst/>
          </a:prstGeom>
          <a:noFill/>
        </p:spPr>
        <p:txBody>
          <a:bodyPr wrap="square">
            <a:spAutoFit/>
          </a:bodyPr>
          <a:lstStyle/>
          <a:p>
            <a:pPr>
              <a:defRPr sz="800">
                <a:solidFill>
                  <a:srgbClr val="FFFFFF"/>
                </a:solidFill>
                <a:latin typeface="Montserrat"/>
              </a:defRPr>
            </a:pPr>
            <a:r>
              <a:rPr lang="es-MX" err="1"/>
              <a:t>Proyectos</a:t>
            </a:r>
            <a:r>
              <a:t> de </a:t>
            </a:r>
            <a:r>
              <a:rPr lang="es-MX" err="1"/>
              <a:t>implementación</a:t>
            </a:r>
            <a:r>
              <a:t>/</a:t>
            </a:r>
            <a:r>
              <a:rPr lang="es-MX" err="1"/>
              <a:t>sustitución</a:t>
            </a:r>
            <a:r>
              <a:t> 2019-2025. </a:t>
            </a:r>
            <a:r>
              <a:rPr lang="es-MX" err="1"/>
              <a:t>Incluye</a:t>
            </a:r>
            <a:r>
              <a:t> </a:t>
            </a:r>
            <a:r>
              <a:rPr lang="es-MX" err="1"/>
              <a:t>equipo</a:t>
            </a:r>
            <a:r>
              <a:t> de la </a:t>
            </a:r>
            <a:r>
              <a:rPr lang="es-MX" err="1"/>
              <a:t>compra</a:t>
            </a:r>
            <a:r>
              <a:t> 2025-2026.</a:t>
            </a:r>
            <a:br/>
            <a:r>
              <a:t>Fuente: Cédula de </a:t>
            </a:r>
            <a:r>
              <a:rPr lang="es-MX" err="1"/>
              <a:t>actualización</a:t>
            </a:r>
            <a:r>
              <a:t> de variables </a:t>
            </a:r>
            <a:r>
              <a:rPr lang="es-MX" err="1"/>
              <a:t>seleccionadas</a:t>
            </a:r>
            <a:r>
              <a:t> del IFU, </a:t>
            </a:r>
            <a:r>
              <a:rPr lang="es-MX" err="1"/>
              <a:t>enviadas</a:t>
            </a:r>
            <a:r>
              <a:t> </a:t>
            </a:r>
            <a:r>
              <a:rPr lang="es-MX" err="1"/>
              <a:t>por</a:t>
            </a:r>
            <a:r>
              <a:t> </a:t>
            </a:r>
            <a:r>
              <a:rPr lang="es-MX" err="1"/>
              <a:t>el</a:t>
            </a:r>
            <a:r>
              <a:t> OOAD.</a:t>
            </a:r>
            <a:br/>
            <a:r>
              <a:t>Corte de </a:t>
            </a:r>
            <a:r>
              <a:rPr lang="es-MX" err="1"/>
              <a:t>información</a:t>
            </a:r>
            <a:r>
              <a:t>: </a:t>
            </a:r>
            <a:r>
              <a:rPr lang="es-MX"/>
              <a:t>mayo</a:t>
            </a:r>
            <a:r>
              <a:t>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0682882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B7FBCC8-0893-C56E-8BFC-BE23B90C8EF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Resultados 2025</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B099A3F0-BBD0-96C1-5C02-94B86A8DEBD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30B8AFA2-F0CA-673A-3E65-D8F91348E4CA}"/>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75653194-3E3F-A95F-E78E-F0C0987E5559}"/>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FC7F3CF1-AD01-0CEF-E886-2ACC8926219A}"/>
              </a:ext>
            </a:extLst>
          </p:cNvPr>
          <p:cNvSpPr txBox="1"/>
          <p:nvPr/>
        </p:nvSpPr>
        <p:spPr>
          <a:xfrm>
            <a:off x="5064096" y="6510000"/>
            <a:ext cx="1930400" cy="738664"/>
          </a:xfrm>
          <a:prstGeom prst="rect">
            <a:avLst/>
          </a:prstGeom>
          <a:noFill/>
        </p:spPr>
        <p:txBody>
          <a:bodyPr wrap="square" rtlCol="0">
            <a:spAutoFit/>
          </a:bodyPr>
          <a:lstStyle/>
          <a:p>
            <a:pPr algn="ctr"/>
            <a:r>
              <a:rPr lang="es-ES" sz="2100" b="1">
                <a:solidFill>
                  <a:schemeClr val="tx1">
                    <a:lumMod val="75000"/>
                    <a:lumOff val="25000"/>
                  </a:schemeClr>
                </a:solidFill>
              </a:rPr>
              <a:t>Consultas Especialidad</a:t>
            </a:r>
            <a:endParaRPr lang="es-MX" sz="2100" b="1">
              <a:solidFill>
                <a:schemeClr val="tx1">
                  <a:lumMod val="75000"/>
                  <a:lumOff val="25000"/>
                </a:schemeClr>
              </a:solidFill>
            </a:endParaRPr>
          </a:p>
        </p:txBody>
      </p:sp>
      <p:sp>
        <p:nvSpPr>
          <p:cNvPr id="10" name="CuadroTexto 6">
            <a:extLst>
              <a:ext uri="{FF2B5EF4-FFF2-40B4-BE49-F238E27FC236}">
                <a16:creationId xmlns:a16="http://schemas.microsoft.com/office/drawing/2014/main" id="{621FB93F-C475-12F7-D004-6CE845AF59A4}"/>
              </a:ext>
            </a:extLst>
          </p:cNvPr>
          <p:cNvSpPr txBox="1"/>
          <p:nvPr/>
        </p:nvSpPr>
        <p:spPr>
          <a:xfrm>
            <a:off x="5064096" y="8117456"/>
            <a:ext cx="1930400" cy="415498"/>
          </a:xfrm>
          <a:prstGeom prst="rect">
            <a:avLst/>
          </a:prstGeom>
          <a:noFill/>
        </p:spPr>
        <p:txBody>
          <a:bodyPr wrap="square" rtlCol="0">
            <a:spAutoFit/>
          </a:bodyPr>
          <a:lstStyle/>
          <a:p>
            <a:pPr algn="ctr"/>
            <a:r>
              <a:rPr lang="es-ES" sz="2100" b="1">
                <a:solidFill>
                  <a:schemeClr val="tx1">
                    <a:lumMod val="75000"/>
                    <a:lumOff val="25000"/>
                  </a:schemeClr>
                </a:solidFill>
              </a:rPr>
              <a:t>Cirugías</a:t>
            </a:r>
            <a:endParaRPr lang="es-MX" sz="2100" b="1">
              <a:solidFill>
                <a:schemeClr val="tx1">
                  <a:lumMod val="75000"/>
                  <a:lumOff val="25000"/>
                </a:schemeClr>
              </a:solidFill>
            </a:endParaRPr>
          </a:p>
        </p:txBody>
      </p:sp>
      <p:sp>
        <p:nvSpPr>
          <p:cNvPr id="12" name="CuadroTexto 8">
            <a:extLst>
              <a:ext uri="{FF2B5EF4-FFF2-40B4-BE49-F238E27FC236}">
                <a16:creationId xmlns:a16="http://schemas.microsoft.com/office/drawing/2014/main" id="{B9AC3CFC-0AAA-3C5E-9284-61E2B6827C2E}"/>
              </a:ext>
            </a:extLst>
          </p:cNvPr>
          <p:cNvSpPr txBox="1"/>
          <p:nvPr/>
        </p:nvSpPr>
        <p:spPr>
          <a:xfrm>
            <a:off x="4701239" y="4744510"/>
            <a:ext cx="2656114" cy="738664"/>
          </a:xfrm>
          <a:prstGeom prst="rect">
            <a:avLst/>
          </a:prstGeom>
          <a:noFill/>
        </p:spPr>
        <p:txBody>
          <a:bodyPr wrap="square" rtlCol="0">
            <a:spAutoFit/>
          </a:bodyPr>
          <a:lstStyle/>
          <a:p>
            <a:pPr algn="ctr"/>
            <a:r>
              <a:rPr lang="es-ES" sz="2100" b="1">
                <a:solidFill>
                  <a:schemeClr val="tx1">
                    <a:lumMod val="75000"/>
                    <a:lumOff val="25000"/>
                  </a:schemeClr>
                </a:solidFill>
              </a:rPr>
              <a:t>Consultas Medicina Familiar</a:t>
            </a:r>
            <a:endParaRPr lang="es-MX" sz="2100" b="1">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semana 24, 7 junio 2026</a:t>
            </a:r>
            <a:br/>
            <a:r>
              <a:t>¹Las consultas de medicina familiar incluyen los hospitales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+13,362</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+735,852</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+316,359</a:t>
            </a:r>
          </a:p>
        </p:txBody>
      </p:sp>
      <p:graphicFrame>
        <p:nvGraphicFramePr>
          <p:cNvPr id="236" name="Table 235"/>
          <p:cNvGraphicFramePr>
            <a:graphicFrameLocks noGrp="1"/>
          </p:cNvGraphicFramePr>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solidFill>
                      <a:srgbClr val="006455"/>
                    </a:solidFill>
                  </a:tcPr>
                </a:tc>
                <a:tc>
                  <a:txBody>
                    <a:bodyPr/>
                    <a:lstStyle/>
                    <a:p>
                      <a:pPr algn="ctr">
                        <a:defRPr sz="1200" b="1">
                          <a:solidFill>
                            <a:srgbClr val="FFFFFF"/>
                          </a:solidFill>
                          <a:latin typeface="Montserrat"/>
                        </a:defRPr>
                      </a:pPr>
                      <a:r>
                        <a:t>2025</a:t>
                      </a:r>
                    </a:p>
                  </a:txBody>
                  <a:tcPr anchor="ctr">
                    <a:solidFill>
                      <a:srgbClr val="006455"/>
                    </a:solidFill>
                  </a:tcPr>
                </a:tc>
                <a:tc>
                  <a:txBody>
                    <a:bodyPr/>
                    <a:lstStyle/>
                    <a:p>
                      <a:pPr algn="ctr">
                        <a:defRPr sz="1200" b="1">
                          <a:solidFill>
                            <a:srgbClr val="FFFFFF"/>
                          </a:solidFill>
                          <a:latin typeface="Montserrat"/>
                        </a:defRPr>
                      </a:pPr>
                      <a:r>
                        <a:t>Incremento 2024 vs 2025</a:t>
                      </a:r>
                    </a:p>
                  </a:txBody>
                  <a:tcPr anchor="ctr">
                    <a:solidFill>
                      <a:srgbClr val="006455"/>
                    </a:solidFill>
                  </a:tcPr>
                </a:tc>
                <a:tc>
                  <a:txBody>
                    <a:bodyPr/>
                    <a:lstStyle/>
                    <a:p>
                      <a:pPr algn="ctr">
                        <a:defRPr sz="1200" b="1">
                          <a:solidFill>
                            <a:srgbClr val="FFFFFF"/>
                          </a:solidFill>
                          <a:latin typeface="Montserrat"/>
                        </a:defRPr>
                      </a:pPr>
                      <a:r>
                        <a:t>Avance 2026</a:t>
                      </a:r>
                    </a:p>
                  </a:txBody>
                  <a:tcPr anchor="ctr">
                    <a:solidFill>
                      <a:srgbClr val="980000"/>
                    </a:solidFill>
                  </a:tcPr>
                </a:tc>
                <a:tc>
                  <a:txBody>
                    <a:bodyPr/>
                    <a:lstStyle/>
                    <a:p>
                      <a:pPr algn="ctr">
                        <a:defRPr sz="1200" b="1">
                          <a:solidFill>
                            <a:srgbClr val="FFFFFF"/>
                          </a:solidFill>
                          <a:latin typeface="Montserrat"/>
                        </a:defRPr>
                      </a:pPr>
                      <a:r>
                        <a:t>Meta 2026</a:t>
                      </a:r>
                    </a:p>
                  </a:txBody>
                  <a:tcPr anchor="ctr">
                    <a:solidFill>
                      <a:srgbClr val="980000"/>
                    </a:solidFill>
                  </a:tcPr>
                </a:tc>
                <a:tc>
                  <a:txBody>
                    <a:bodyPr/>
                    <a:lstStyle/>
                    <a:p>
                      <a:pPr algn="ctr">
                        <a:defRPr sz="1200" b="1">
                          <a:solidFill>
                            <a:srgbClr val="FFFFFF"/>
                          </a:solidFill>
                          <a:latin typeface="Montserrat"/>
                        </a:defRPr>
                      </a:pPr>
                      <a:r>
                        <a:t>% avance anual</a:t>
                      </a:r>
                    </a:p>
                  </a:txBody>
                  <a:tcPr anchor="ctr">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4,161,357</a:t>
                      </a:r>
                    </a:p>
                  </a:txBody>
                  <a:tcPr marL="0" marR="0" marT="0" marB="0" anchor="ctr">
                    <a:solidFill>
                      <a:srgbClr val="FFFFFF"/>
                    </a:solidFill>
                  </a:tcPr>
                </a:tc>
                <a:tc>
                  <a:txBody>
                    <a:bodyPr/>
                    <a:lstStyle/>
                    <a:p>
                      <a:pPr algn="ctr">
                        <a:defRPr sz="1000">
                          <a:solidFill>
                            <a:srgbClr val="404040"/>
                          </a:solidFill>
                          <a:latin typeface="Montserrat"/>
                        </a:defRPr>
                      </a:pPr>
                      <a:r>
                        <a:t>735,852</a:t>
                      </a:r>
                    </a:p>
                  </a:txBody>
                  <a:tcPr marL="0" marR="0" marT="0" marB="0" anchor="ctr">
                    <a:solidFill>
                      <a:srgbClr val="FFFFFF"/>
                    </a:solidFill>
                  </a:tcPr>
                </a:tc>
                <a:tc>
                  <a:txBody>
                    <a:bodyPr/>
                    <a:lstStyle/>
                    <a:p>
                      <a:pPr algn="ctr">
                        <a:defRPr sz="1000" b="1">
                          <a:solidFill>
                            <a:srgbClr val="980000"/>
                          </a:solidFill>
                          <a:latin typeface="Montserrat"/>
                        </a:defRPr>
                      </a:pPr>
                      <a:r>
                        <a:t>1,960,705</a:t>
                      </a:r>
                    </a:p>
                  </a:txBody>
                  <a:tcPr marL="0" marR="0" marT="0" marB="0" anchor="ctr">
                    <a:solidFill>
                      <a:srgbClr val="ECD3D9"/>
                    </a:solidFill>
                  </a:tcPr>
                </a:tc>
                <a:tc>
                  <a:txBody>
                    <a:bodyPr/>
                    <a:lstStyle/>
                    <a:p>
                      <a:pPr algn="ctr">
                        <a:defRPr sz="1000" b="1">
                          <a:solidFill>
                            <a:srgbClr val="980000"/>
                          </a:solidFill>
                          <a:latin typeface="Montserrat"/>
                        </a:defRPr>
                      </a:pPr>
                      <a:r>
                        <a:t>4,112,256</a:t>
                      </a:r>
                    </a:p>
                  </a:txBody>
                  <a:tcPr marL="0" marR="0" marT="0" marB="0" anchor="ctr">
                    <a:solidFill>
                      <a:srgbClr val="ECD3D9"/>
                    </a:solidFill>
                  </a:tcPr>
                </a:tc>
                <a:tc>
                  <a:txBody>
                    <a:bodyPr/>
                    <a:lstStyle/>
                    <a:p>
                      <a:pPr algn="ctr">
                        <a:defRPr sz="1000" b="1">
                          <a:solidFill>
                            <a:srgbClr val="980000"/>
                          </a:solidFill>
                          <a:latin typeface="Montserrat"/>
                        </a:defRPr>
                      </a:pPr>
                      <a:r>
                        <a:t>47.7%</a:t>
                      </a:r>
                    </a:p>
                  </a:txBody>
                  <a:tcPr marL="0" marR="0" marT="0" marB="0" anchor="ct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820,862</a:t>
                      </a:r>
                    </a:p>
                  </a:txBody>
                  <a:tcPr marL="0" marR="0" marT="0" marB="0" anchor="ctr">
                    <a:solidFill>
                      <a:srgbClr val="EFEFEF"/>
                    </a:solidFill>
                  </a:tcPr>
                </a:tc>
                <a:tc>
                  <a:txBody>
                    <a:bodyPr/>
                    <a:lstStyle/>
                    <a:p>
                      <a:pPr algn="ctr">
                        <a:defRPr sz="1000">
                          <a:solidFill>
                            <a:srgbClr val="404040"/>
                          </a:solidFill>
                          <a:latin typeface="Montserrat"/>
                        </a:defRPr>
                      </a:pPr>
                      <a:r>
                        <a:t>316,359</a:t>
                      </a:r>
                    </a:p>
                  </a:txBody>
                  <a:tcPr marL="0" marR="0" marT="0" marB="0" anchor="ctr">
                    <a:solidFill>
                      <a:srgbClr val="EFEFEF"/>
                    </a:solidFill>
                  </a:tcPr>
                </a:tc>
                <a:tc>
                  <a:txBody>
                    <a:bodyPr/>
                    <a:lstStyle/>
                    <a:p>
                      <a:pPr algn="ctr">
                        <a:defRPr sz="1000" b="1">
                          <a:solidFill>
                            <a:srgbClr val="980000"/>
                          </a:solidFill>
                          <a:latin typeface="Montserrat"/>
                        </a:defRPr>
                      </a:pPr>
                      <a:r>
                        <a:t>439,010</a:t>
                      </a:r>
                    </a:p>
                  </a:txBody>
                  <a:tcPr marL="0" marR="0" marT="0" marB="0" anchor="ctr">
                    <a:solidFill>
                      <a:srgbClr val="F4E3E7"/>
                    </a:solidFill>
                  </a:tcPr>
                </a:tc>
                <a:tc>
                  <a:txBody>
                    <a:bodyPr/>
                    <a:lstStyle/>
                    <a:p>
                      <a:pPr algn="ctr">
                        <a:defRPr sz="1000" b="1">
                          <a:solidFill>
                            <a:srgbClr val="980000"/>
                          </a:solidFill>
                          <a:latin typeface="Montserrat"/>
                        </a:defRPr>
                      </a:pPr>
                      <a:r>
                        <a:t>973,455</a:t>
                      </a:r>
                    </a:p>
                  </a:txBody>
                  <a:tcPr marL="0" marR="0" marT="0" marB="0" anchor="ctr">
                    <a:solidFill>
                      <a:srgbClr val="F4E3E7"/>
                    </a:solidFill>
                  </a:tcPr>
                </a:tc>
                <a:tc>
                  <a:txBody>
                    <a:bodyPr/>
                    <a:lstStyle/>
                    <a:p>
                      <a:pPr algn="ctr">
                        <a:defRPr sz="1000" b="1">
                          <a:solidFill>
                            <a:srgbClr val="980000"/>
                          </a:solidFill>
                          <a:latin typeface="Montserrat"/>
                        </a:defRPr>
                      </a:pPr>
                      <a:r>
                        <a:t>45.1%</a:t>
                      </a:r>
                    </a:p>
                  </a:txBody>
                  <a:tcPr marL="0" marR="0" marT="0" marB="0" anchor="ct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46,737</a:t>
                      </a:r>
                    </a:p>
                  </a:txBody>
                  <a:tcPr marL="0" marR="0" marT="0" marB="0" anchor="ctr">
                    <a:solidFill>
                      <a:srgbClr val="FFFFFF"/>
                    </a:solidFill>
                  </a:tcPr>
                </a:tc>
                <a:tc>
                  <a:txBody>
                    <a:bodyPr/>
                    <a:lstStyle/>
                    <a:p>
                      <a:pPr algn="ctr">
                        <a:defRPr sz="1000">
                          <a:solidFill>
                            <a:srgbClr val="404040"/>
                          </a:solidFill>
                          <a:latin typeface="Montserrat"/>
                        </a:defRPr>
                      </a:pPr>
                      <a:r>
                        <a:t>13,362</a:t>
                      </a:r>
                    </a:p>
                  </a:txBody>
                  <a:tcPr marL="0" marR="0" marT="0" marB="0" anchor="ctr">
                    <a:solidFill>
                      <a:srgbClr val="FFFFFF"/>
                    </a:solidFill>
                  </a:tcPr>
                </a:tc>
                <a:tc>
                  <a:txBody>
                    <a:bodyPr/>
                    <a:lstStyle/>
                    <a:p>
                      <a:pPr algn="ctr">
                        <a:defRPr sz="1000" b="1">
                          <a:solidFill>
                            <a:srgbClr val="980000"/>
                          </a:solidFill>
                          <a:latin typeface="Montserrat"/>
                        </a:defRPr>
                      </a:pPr>
                      <a:r>
                        <a:t>26,545</a:t>
                      </a:r>
                    </a:p>
                  </a:txBody>
                  <a:tcPr marL="0" marR="0" marT="0" marB="0" anchor="ctr">
                    <a:solidFill>
                      <a:srgbClr val="ECD3D9"/>
                    </a:solidFill>
                  </a:tcPr>
                </a:tc>
                <a:tc>
                  <a:txBody>
                    <a:bodyPr/>
                    <a:lstStyle/>
                    <a:p>
                      <a:pPr algn="ctr">
                        <a:defRPr sz="1000" b="1">
                          <a:solidFill>
                            <a:srgbClr val="980000"/>
                          </a:solidFill>
                          <a:latin typeface="Montserrat"/>
                        </a:defRPr>
                      </a:pPr>
                      <a:r>
                        <a:t>62,930</a:t>
                      </a:r>
                    </a:p>
                  </a:txBody>
                  <a:tcPr marL="0" marR="0" marT="0" marB="0" anchor="ctr">
                    <a:solidFill>
                      <a:srgbClr val="ECD3D9"/>
                    </a:solidFill>
                  </a:tcPr>
                </a:tc>
                <a:tc>
                  <a:txBody>
                    <a:bodyPr/>
                    <a:lstStyle/>
                    <a:p>
                      <a:pPr algn="ctr">
                        <a:defRPr sz="1000" b="1">
                          <a:solidFill>
                            <a:srgbClr val="980000"/>
                          </a:solidFill>
                          <a:latin typeface="Montserrat"/>
                        </a:defRPr>
                      </a:pPr>
                      <a:r>
                        <a:t>42.2%</a:t>
                      </a:r>
                    </a:p>
                  </a:txBody>
                  <a:tcPr marL="0" marR="0" marT="0" marB="0" anchor="ctr">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64922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 12 E. Ramírez</a:t>
                      </a:r>
                    </a:p>
                  </a:txBody>
                  <a:tcPr marL="0" marR="0" marT="0" marB="0">
                    <a:solidFill>
                      <a:srgbClr val="FFFFFF"/>
                    </a:solidFill>
                  </a:tcPr>
                </a:tc>
                <a:tc>
                  <a:txBody>
                    <a:bodyPr/>
                    <a:lstStyle/>
                    <a:p>
                      <a:pPr algn="ctr">
                        <a:defRPr sz="1000">
                          <a:latin typeface="Montserrat"/>
                        </a:defRPr>
                      </a:pPr>
                      <a:r>
                        <a:t>5,091</a:t>
                      </a:r>
                    </a:p>
                  </a:txBody>
                  <a:tcPr marL="0" marR="0" marT="0" marB="0">
                    <a:solidFill>
                      <a:srgbClr val="FFFFFF"/>
                    </a:solidFill>
                  </a:tcPr>
                </a:tc>
                <a:tc>
                  <a:txBody>
                    <a:bodyPr/>
                    <a:lstStyle/>
                    <a:p>
                      <a:pPr algn="ctr">
                        <a:defRPr sz="1000">
                          <a:latin typeface="Montserrat"/>
                        </a:defRPr>
                      </a:pPr>
                      <a:r>
                        <a:t>-815</a:t>
                      </a:r>
                    </a:p>
                  </a:txBody>
                  <a:tcPr marL="0" marR="0" marT="0" marB="0">
                    <a:solidFill>
                      <a:srgbClr val="FFFFFF"/>
                    </a:solidFill>
                  </a:tcPr>
                </a:tc>
                <a:tc>
                  <a:txBody>
                    <a:bodyPr/>
                    <a:lstStyle/>
                    <a:p>
                      <a:pPr algn="ctr">
                        <a:defRPr sz="1000">
                          <a:latin typeface="Montserrat"/>
                        </a:defRPr>
                      </a:pPr>
                      <a:r>
                        <a:t>2,140</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35.7%</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22 Ciudad Mier</a:t>
                      </a:r>
                    </a:p>
                  </a:txBody>
                  <a:tcPr marL="0" marR="0" marT="0" marB="0">
                    <a:solidFill>
                      <a:srgbClr val="EFEFEF"/>
                    </a:solidFill>
                  </a:tcPr>
                </a:tc>
                <a:tc>
                  <a:txBody>
                    <a:bodyPr/>
                    <a:lstStyle/>
                    <a:p>
                      <a:pPr algn="ctr">
                        <a:defRPr sz="1000">
                          <a:latin typeface="Montserrat"/>
                        </a:defRPr>
                      </a:pPr>
                      <a:r>
                        <a:t>4,141</a:t>
                      </a:r>
                    </a:p>
                  </a:txBody>
                  <a:tcPr marL="0" marR="0" marT="0" marB="0">
                    <a:solidFill>
                      <a:srgbClr val="EFEFEF"/>
                    </a:solidFill>
                  </a:tcPr>
                </a:tc>
                <a:tc>
                  <a:txBody>
                    <a:bodyPr/>
                    <a:lstStyle/>
                    <a:p>
                      <a:pPr algn="ctr">
                        <a:defRPr sz="1000">
                          <a:latin typeface="Montserrat"/>
                        </a:defRPr>
                      </a:pPr>
                      <a:r>
                        <a:t>1,001</a:t>
                      </a:r>
                    </a:p>
                  </a:txBody>
                  <a:tcPr marL="0" marR="0" marT="0" marB="0">
                    <a:solidFill>
                      <a:srgbClr val="EFEFEF"/>
                    </a:solidFill>
                  </a:tcPr>
                </a:tc>
                <a:tc>
                  <a:txBody>
                    <a:bodyPr/>
                    <a:lstStyle/>
                    <a:p>
                      <a:pPr algn="ctr">
                        <a:defRPr sz="1000">
                          <a:latin typeface="Montserrat"/>
                        </a:defRPr>
                      </a:pPr>
                      <a:r>
                        <a:t>2,747</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30 Villa Aldama</a:t>
                      </a:r>
                    </a:p>
                  </a:txBody>
                  <a:tcPr marL="0" marR="0" marT="0" marB="0">
                    <a:solidFill>
                      <a:srgbClr val="FFFFFF"/>
                    </a:solidFill>
                  </a:tcPr>
                </a:tc>
                <a:tc>
                  <a:txBody>
                    <a:bodyPr/>
                    <a:lstStyle/>
                    <a:p>
                      <a:pPr algn="ctr">
                        <a:defRPr sz="1000">
                          <a:latin typeface="Montserrat"/>
                        </a:defRPr>
                      </a:pPr>
                      <a:r>
                        <a:t>10,713</a:t>
                      </a:r>
                    </a:p>
                  </a:txBody>
                  <a:tcPr marL="0" marR="0" marT="0" marB="0">
                    <a:solidFill>
                      <a:srgbClr val="FFFFFF"/>
                    </a:solidFill>
                  </a:tcPr>
                </a:tc>
                <a:tc>
                  <a:txBody>
                    <a:bodyPr/>
                    <a:lstStyle/>
                    <a:p>
                      <a:pPr algn="ctr">
                        <a:defRPr sz="1000">
                          <a:latin typeface="Montserrat"/>
                        </a:defRPr>
                      </a:pPr>
                      <a:r>
                        <a:t>1,580</a:t>
                      </a:r>
                    </a:p>
                  </a:txBody>
                  <a:tcPr marL="0" marR="0" marT="0" marB="0">
                    <a:solidFill>
                      <a:srgbClr val="FFFFFF"/>
                    </a:solidFill>
                  </a:tcPr>
                </a:tc>
                <a:tc>
                  <a:txBody>
                    <a:bodyPr/>
                    <a:lstStyle/>
                    <a:p>
                      <a:pPr algn="ctr">
                        <a:defRPr sz="1000">
                          <a:latin typeface="Montserrat"/>
                        </a:defRPr>
                      </a:pPr>
                      <a:r>
                        <a:t>5,732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47.8%</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26 Loma Alta</a:t>
                      </a:r>
                    </a:p>
                  </a:txBody>
                  <a:tcPr marL="0" marR="0" marT="0" marB="0">
                    <a:solidFill>
                      <a:srgbClr val="EFEFEF"/>
                    </a:solidFill>
                  </a:tcPr>
                </a:tc>
                <a:tc>
                  <a:txBody>
                    <a:bodyPr/>
                    <a:lstStyle/>
                    <a:p>
                      <a:pPr algn="ctr">
                        <a:defRPr sz="1000">
                          <a:latin typeface="Montserrat"/>
                        </a:defRPr>
                      </a:pPr>
                      <a:r>
                        <a:t>8,619</a:t>
                      </a:r>
                    </a:p>
                  </a:txBody>
                  <a:tcPr marL="0" marR="0" marT="0" marB="0">
                    <a:solidFill>
                      <a:srgbClr val="EFEFEF"/>
                    </a:solidFill>
                  </a:tcPr>
                </a:tc>
                <a:tc>
                  <a:txBody>
                    <a:bodyPr/>
                    <a:lstStyle/>
                    <a:p>
                      <a:pPr algn="ctr">
                        <a:defRPr sz="1000">
                          <a:latin typeface="Montserrat"/>
                        </a:defRPr>
                      </a:pPr>
                      <a:r>
                        <a:t>1,113</a:t>
                      </a:r>
                    </a:p>
                  </a:txBody>
                  <a:tcPr marL="0" marR="0" marT="0" marB="0">
                    <a:solidFill>
                      <a:srgbClr val="EFEFEF"/>
                    </a:solidFill>
                  </a:tcPr>
                </a:tc>
                <a:tc>
                  <a:txBody>
                    <a:bodyPr/>
                    <a:lstStyle/>
                    <a:p>
                      <a:pPr algn="ctr">
                        <a:defRPr sz="1000">
                          <a:latin typeface="Montserrat"/>
                        </a:defRPr>
                      </a:pPr>
                      <a:r>
                        <a:t>4,980</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49.8%</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25 E. González</a:t>
                      </a:r>
                    </a:p>
                  </a:txBody>
                  <a:tcPr marL="0" marR="0" marT="0" marB="0">
                    <a:solidFill>
                      <a:srgbClr val="FFFFFF"/>
                    </a:solidFill>
                  </a:tcPr>
                </a:tc>
                <a:tc>
                  <a:txBody>
                    <a:bodyPr/>
                    <a:lstStyle/>
                    <a:p>
                      <a:pPr algn="ctr">
                        <a:defRPr sz="1000">
                          <a:latin typeface="Montserrat"/>
                        </a:defRPr>
                      </a:pPr>
                      <a:r>
                        <a:t>11,792</a:t>
                      </a:r>
                    </a:p>
                  </a:txBody>
                  <a:tcPr marL="0" marR="0" marT="0" marB="0">
                    <a:solidFill>
                      <a:srgbClr val="FFFFFF"/>
                    </a:solidFill>
                  </a:tcPr>
                </a:tc>
                <a:tc>
                  <a:txBody>
                    <a:bodyPr/>
                    <a:lstStyle/>
                    <a:p>
                      <a:pPr algn="ctr">
                        <a:defRPr sz="1000">
                          <a:latin typeface="Montserrat"/>
                        </a:defRPr>
                      </a:pPr>
                      <a:r>
                        <a:t>2,067</a:t>
                      </a:r>
                    </a:p>
                  </a:txBody>
                  <a:tcPr marL="0" marR="0" marT="0" marB="0">
                    <a:solidFill>
                      <a:srgbClr val="FFFFFF"/>
                    </a:solidFill>
                  </a:tcPr>
                </a:tc>
                <a:tc>
                  <a:txBody>
                    <a:bodyPr/>
                    <a:lstStyle/>
                    <a:p>
                      <a:pPr algn="ctr">
                        <a:defRPr sz="1000">
                          <a:latin typeface="Montserrat"/>
                        </a:defRPr>
                      </a:pPr>
                      <a:r>
                        <a:t>6,192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47.6%</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10 Altamira</a:t>
                      </a:r>
                    </a:p>
                  </a:txBody>
                  <a:tcPr marL="0" marR="0" marT="0" marB="0">
                    <a:solidFill>
                      <a:srgbClr val="EFEFEF"/>
                    </a:solidFill>
                  </a:tcPr>
                </a:tc>
                <a:tc>
                  <a:txBody>
                    <a:bodyPr/>
                    <a:lstStyle/>
                    <a:p>
                      <a:pPr algn="ctr">
                        <a:defRPr sz="1000">
                          <a:latin typeface="Montserrat"/>
                        </a:defRPr>
                      </a:pPr>
                      <a:r>
                        <a:t>65,730</a:t>
                      </a:r>
                    </a:p>
                  </a:txBody>
                  <a:tcPr marL="0" marR="0" marT="0" marB="0">
                    <a:solidFill>
                      <a:srgbClr val="EFEFEF"/>
                    </a:solidFill>
                  </a:tcPr>
                </a:tc>
                <a:tc>
                  <a:txBody>
                    <a:bodyPr/>
                    <a:lstStyle/>
                    <a:p>
                      <a:pPr algn="ctr">
                        <a:defRPr sz="1000">
                          <a:latin typeface="Montserrat"/>
                        </a:defRPr>
                      </a:pPr>
                      <a:r>
                        <a:t>16,782</a:t>
                      </a:r>
                    </a:p>
                  </a:txBody>
                  <a:tcPr marL="0" marR="0" marT="0" marB="0">
                    <a:solidFill>
                      <a:srgbClr val="EFEFEF"/>
                    </a:solidFill>
                  </a:tcPr>
                </a:tc>
                <a:tc>
                  <a:txBody>
                    <a:bodyPr/>
                    <a:lstStyle/>
                    <a:p>
                      <a:pPr algn="ctr">
                        <a:defRPr sz="1000">
                          <a:latin typeface="Montserrat"/>
                        </a:defRPr>
                      </a:pPr>
                      <a:r>
                        <a:t>32,504</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50.8%</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8 E. Cuauhtémoc</a:t>
                      </a:r>
                    </a:p>
                  </a:txBody>
                  <a:tcPr marL="0" marR="0" marT="0" marB="0">
                    <a:solidFill>
                      <a:srgbClr val="FFFFFF"/>
                    </a:solidFill>
                  </a:tcPr>
                </a:tc>
                <a:tc>
                  <a:txBody>
                    <a:bodyPr/>
                    <a:lstStyle/>
                    <a:p>
                      <a:pPr algn="ctr">
                        <a:defRPr sz="1000">
                          <a:latin typeface="Montserrat"/>
                        </a:defRPr>
                      </a:pPr>
                      <a:r>
                        <a:t>8,996</a:t>
                      </a:r>
                    </a:p>
                  </a:txBody>
                  <a:tcPr marL="0" marR="0" marT="0" marB="0">
                    <a:solidFill>
                      <a:srgbClr val="FFFFFF"/>
                    </a:solidFill>
                  </a:tcPr>
                </a:tc>
                <a:tc>
                  <a:txBody>
                    <a:bodyPr/>
                    <a:lstStyle/>
                    <a:p>
                      <a:pPr algn="ctr">
                        <a:defRPr sz="1000">
                          <a:latin typeface="Montserrat"/>
                        </a:defRPr>
                      </a:pPr>
                      <a:r>
                        <a:t>2,702</a:t>
                      </a:r>
                    </a:p>
                  </a:txBody>
                  <a:tcPr marL="0" marR="0" marT="0" marB="0">
                    <a:solidFill>
                      <a:srgbClr val="FFFFFF"/>
                    </a:solidFill>
                  </a:tcPr>
                </a:tc>
                <a:tc>
                  <a:txBody>
                    <a:bodyPr/>
                    <a:lstStyle/>
                    <a:p>
                      <a:pPr algn="ctr">
                        <a:defRPr sz="1000">
                          <a:latin typeface="Montserrat"/>
                        </a:defRPr>
                      </a:pPr>
                      <a:r>
                        <a:t>4,539</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45.4%</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20 Ciudad Camargo</a:t>
                      </a:r>
                    </a:p>
                  </a:txBody>
                  <a:tcPr marL="0" marR="0" marT="0" marB="0">
                    <a:solidFill>
                      <a:srgbClr val="EFEFEF"/>
                    </a:solidFill>
                  </a:tcPr>
                </a:tc>
                <a:tc>
                  <a:txBody>
                    <a:bodyPr/>
                    <a:lstStyle/>
                    <a:p>
                      <a:pPr algn="ctr">
                        <a:defRPr sz="1000">
                          <a:latin typeface="Montserrat"/>
                        </a:defRPr>
                      </a:pPr>
                      <a:r>
                        <a:t>9,194</a:t>
                      </a:r>
                    </a:p>
                  </a:txBody>
                  <a:tcPr marL="0" marR="0" marT="0" marB="0">
                    <a:solidFill>
                      <a:srgbClr val="EFEFEF"/>
                    </a:solidFill>
                  </a:tcPr>
                </a:tc>
                <a:tc>
                  <a:txBody>
                    <a:bodyPr/>
                    <a:lstStyle/>
                    <a:p>
                      <a:pPr algn="ctr">
                        <a:defRPr sz="1000">
                          <a:latin typeface="Montserrat"/>
                        </a:defRPr>
                      </a:pPr>
                      <a:r>
                        <a:t>2,223</a:t>
                      </a:r>
                    </a:p>
                  </a:txBody>
                  <a:tcPr marL="0" marR="0" marT="0" marB="0">
                    <a:solidFill>
                      <a:srgbClr val="EFEFEF"/>
                    </a:solidFill>
                  </a:tcPr>
                </a:tc>
                <a:tc>
                  <a:txBody>
                    <a:bodyPr/>
                    <a:lstStyle/>
                    <a:p>
                      <a:pPr algn="ctr">
                        <a:defRPr sz="1000">
                          <a:latin typeface="Montserrat"/>
                        </a:defRPr>
                      </a:pPr>
                      <a:r>
                        <a:t>4,834</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48.3%</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19 C. Miguel Aleman</a:t>
                      </a:r>
                    </a:p>
                  </a:txBody>
                  <a:tcPr marL="0" marR="0" marT="0" marB="0">
                    <a:solidFill>
                      <a:srgbClr val="FFFFFF"/>
                    </a:solidFill>
                  </a:tcPr>
                </a:tc>
                <a:tc>
                  <a:txBody>
                    <a:bodyPr/>
                    <a:lstStyle/>
                    <a:p>
                      <a:pPr algn="ctr">
                        <a:defRPr sz="1000">
                          <a:latin typeface="Montserrat"/>
                        </a:defRPr>
                      </a:pPr>
                      <a:r>
                        <a:t>12,684</a:t>
                      </a:r>
                    </a:p>
                  </a:txBody>
                  <a:tcPr marL="0" marR="0" marT="0" marB="0">
                    <a:solidFill>
                      <a:srgbClr val="FFFFFF"/>
                    </a:solidFill>
                  </a:tcPr>
                </a:tc>
                <a:tc>
                  <a:txBody>
                    <a:bodyPr/>
                    <a:lstStyle/>
                    <a:p>
                      <a:pPr algn="ctr">
                        <a:defRPr sz="1000">
                          <a:latin typeface="Montserrat"/>
                        </a:defRPr>
                      </a:pPr>
                      <a:r>
                        <a:t>1,680</a:t>
                      </a:r>
                    </a:p>
                  </a:txBody>
                  <a:tcPr marL="0" marR="0" marT="0" marB="0">
                    <a:solidFill>
                      <a:srgbClr val="FFFFFF"/>
                    </a:solidFill>
                  </a:tcPr>
                </a:tc>
                <a:tc>
                  <a:txBody>
                    <a:bodyPr/>
                    <a:lstStyle/>
                    <a:p>
                      <a:pPr algn="ctr">
                        <a:defRPr sz="1000">
                          <a:latin typeface="Montserrat"/>
                        </a:defRPr>
                      </a:pPr>
                      <a:r>
                        <a:t>5,849</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18 Valle Hermoso</a:t>
                      </a:r>
                    </a:p>
                  </a:txBody>
                  <a:tcPr marL="0" marR="0" marT="0" marB="0">
                    <a:solidFill>
                      <a:srgbClr val="EFEFEF"/>
                    </a:solidFill>
                  </a:tcPr>
                </a:tc>
                <a:tc>
                  <a:txBody>
                    <a:bodyPr/>
                    <a:lstStyle/>
                    <a:p>
                      <a:pPr algn="ctr">
                        <a:defRPr sz="1000">
                          <a:latin typeface="Montserrat"/>
                        </a:defRPr>
                      </a:pPr>
                      <a:r>
                        <a:t>42,914</a:t>
                      </a:r>
                    </a:p>
                  </a:txBody>
                  <a:tcPr marL="0" marR="0" marT="0" marB="0">
                    <a:solidFill>
                      <a:srgbClr val="EFEFEF"/>
                    </a:solidFill>
                  </a:tcPr>
                </a:tc>
                <a:tc>
                  <a:txBody>
                    <a:bodyPr/>
                    <a:lstStyle/>
                    <a:p>
                      <a:pPr algn="ctr">
                        <a:defRPr sz="1000">
                          <a:latin typeface="Montserrat"/>
                        </a:defRPr>
                      </a:pPr>
                      <a:r>
                        <a:t>5,588</a:t>
                      </a:r>
                    </a:p>
                  </a:txBody>
                  <a:tcPr marL="0" marR="0" marT="0" marB="0">
                    <a:solidFill>
                      <a:srgbClr val="EFEFEF"/>
                    </a:solidFill>
                  </a:tcPr>
                </a:tc>
                <a:tc>
                  <a:txBody>
                    <a:bodyPr/>
                    <a:lstStyle/>
                    <a:p>
                      <a:pPr algn="ctr">
                        <a:defRPr sz="1000">
                          <a:latin typeface="Montserrat"/>
                        </a:defRPr>
                      </a:pPr>
                      <a:r>
                        <a:t>27,380</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43.7%</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l">
                        <a:defRPr sz="1000">
                          <a:latin typeface="Montserrat"/>
                        </a:defRPr>
                      </a:pPr>
                      <a:r>
                        <a:t>UMF 29 E. Manuel</a:t>
                      </a:r>
                    </a:p>
                  </a:txBody>
                  <a:tcPr marL="0" marR="0" marT="0" marB="0">
                    <a:solidFill>
                      <a:srgbClr val="FFFFFF"/>
                    </a:solidFill>
                  </a:tcPr>
                </a:tc>
                <a:tc>
                  <a:txBody>
                    <a:bodyPr/>
                    <a:lstStyle/>
                    <a:p>
                      <a:pPr algn="ctr">
                        <a:defRPr sz="1000">
                          <a:latin typeface="Montserrat"/>
                        </a:defRPr>
                      </a:pPr>
                      <a:r>
                        <a:t>7,564</a:t>
                      </a:r>
                    </a:p>
                  </a:txBody>
                  <a:tcPr marL="0" marR="0" marT="0" marB="0">
                    <a:solidFill>
                      <a:srgbClr val="FFFFFF"/>
                    </a:solidFill>
                  </a:tcPr>
                </a:tc>
                <a:tc>
                  <a:txBody>
                    <a:bodyPr/>
                    <a:lstStyle/>
                    <a:p>
                      <a:pPr algn="ctr">
                        <a:defRPr sz="1000">
                          <a:latin typeface="Montserrat"/>
                        </a:defRPr>
                      </a:pPr>
                      <a:r>
                        <a:t>1,360</a:t>
                      </a:r>
                    </a:p>
                  </a:txBody>
                  <a:tcPr marL="0" marR="0" marT="0" marB="0">
                    <a:solidFill>
                      <a:srgbClr val="FFFFFF"/>
                    </a:solidFill>
                  </a:tcPr>
                </a:tc>
                <a:tc>
                  <a:txBody>
                    <a:bodyPr/>
                    <a:lstStyle/>
                    <a:p>
                      <a:pPr algn="ctr">
                        <a:defRPr sz="1000">
                          <a:latin typeface="Montserrat"/>
                        </a:defRPr>
                      </a:pPr>
                      <a:r>
                        <a:t>4,461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49.6%</a:t>
                      </a:r>
                    </a:p>
                  </a:txBody>
                  <a:tcPr marL="0" marR="0" marT="0" marB="0">
                    <a:solidFill>
                      <a:srgbClr val="ECD3D9"/>
                    </a:solidFill>
                  </a:tcPr>
                </a:tc>
                <a:extLst>
                  <a:ext uri="{0D108BD9-81ED-4DB2-BD59-A6C34878D82A}">
                    <a16:rowId xmlns:a16="http://schemas.microsoft.com/office/drawing/2014/main" val="10011"/>
                  </a:ext>
                </a:extLst>
              </a:tr>
              <a:tr h="151200">
                <a:tc>
                  <a:txBody>
                    <a:bodyPr/>
                    <a:lstStyle/>
                    <a:p>
                      <a:pPr algn="l">
                        <a:defRPr sz="1000">
                          <a:latin typeface="Montserrat"/>
                        </a:defRPr>
                      </a:pPr>
                      <a:r>
                        <a:t>UMF 27 Ocampo</a:t>
                      </a:r>
                    </a:p>
                  </a:txBody>
                  <a:tcPr marL="0" marR="0" marT="0" marB="0">
                    <a:solidFill>
                      <a:srgbClr val="EFEFEF"/>
                    </a:solidFill>
                  </a:tcPr>
                </a:tc>
                <a:tc>
                  <a:txBody>
                    <a:bodyPr/>
                    <a:lstStyle/>
                    <a:p>
                      <a:pPr algn="ctr">
                        <a:defRPr sz="1000">
                          <a:latin typeface="Montserrat"/>
                        </a:defRPr>
                      </a:pPr>
                      <a:r>
                        <a:t>7,323</a:t>
                      </a:r>
                    </a:p>
                  </a:txBody>
                  <a:tcPr marL="0" marR="0" marT="0" marB="0">
                    <a:solidFill>
                      <a:srgbClr val="EFEFEF"/>
                    </a:solidFill>
                  </a:tcPr>
                </a:tc>
                <a:tc>
                  <a:txBody>
                    <a:bodyPr/>
                    <a:lstStyle/>
                    <a:p>
                      <a:pPr algn="ctr">
                        <a:defRPr sz="1000">
                          <a:latin typeface="Montserrat"/>
                        </a:defRPr>
                      </a:pPr>
                      <a:r>
                        <a:t>44</a:t>
                      </a:r>
                    </a:p>
                  </a:txBody>
                  <a:tcPr marL="0" marR="0" marT="0" marB="0">
                    <a:solidFill>
                      <a:srgbClr val="EFEFEF"/>
                    </a:solidFill>
                  </a:tcPr>
                </a:tc>
                <a:tc>
                  <a:txBody>
                    <a:bodyPr/>
                    <a:lstStyle/>
                    <a:p>
                      <a:pPr algn="ctr">
                        <a:defRPr sz="1000">
                          <a:latin typeface="Montserrat"/>
                        </a:defRPr>
                      </a:pPr>
                      <a:r>
                        <a:t>3,752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46.9%</a:t>
                      </a:r>
                    </a:p>
                  </a:txBody>
                  <a:tcPr marL="0" marR="0" marT="0" marB="0">
                    <a:solidFill>
                      <a:srgbClr val="ECD3D9"/>
                    </a:solidFill>
                  </a:tcPr>
                </a:tc>
                <a:extLst>
                  <a:ext uri="{0D108BD9-81ED-4DB2-BD59-A6C34878D82A}">
                    <a16:rowId xmlns:a16="http://schemas.microsoft.com/office/drawing/2014/main" val="10012"/>
                  </a:ext>
                </a:extLst>
              </a:tr>
              <a:tr h="151200">
                <a:tc>
                  <a:txBody>
                    <a:bodyPr/>
                    <a:lstStyle/>
                    <a:p>
                      <a:pPr algn="l">
                        <a:defRPr sz="1000">
                          <a:latin typeface="Montserrat"/>
                        </a:defRPr>
                      </a:pPr>
                      <a:r>
                        <a:t>UMF 2 Ciudad Limón</a:t>
                      </a:r>
                    </a:p>
                  </a:txBody>
                  <a:tcPr marL="0" marR="0" marT="0" marB="0">
                    <a:solidFill>
                      <a:srgbClr val="FFFFFF"/>
                    </a:solidFill>
                  </a:tcPr>
                </a:tc>
                <a:tc>
                  <a:txBody>
                    <a:bodyPr/>
                    <a:lstStyle/>
                    <a:p>
                      <a:pPr algn="ctr">
                        <a:defRPr sz="1000">
                          <a:latin typeface="Montserrat"/>
                        </a:defRPr>
                      </a:pPr>
                      <a:r>
                        <a:t>7,301</a:t>
                      </a:r>
                    </a:p>
                  </a:txBody>
                  <a:tcPr marL="0" marR="0" marT="0" marB="0">
                    <a:solidFill>
                      <a:srgbClr val="FFFFFF"/>
                    </a:solidFill>
                  </a:tcPr>
                </a:tc>
                <a:tc>
                  <a:txBody>
                    <a:bodyPr/>
                    <a:lstStyle/>
                    <a:p>
                      <a:pPr algn="ctr">
                        <a:defRPr sz="1000">
                          <a:latin typeface="Montserrat"/>
                        </a:defRPr>
                      </a:pPr>
                      <a:r>
                        <a:t>1,142</a:t>
                      </a:r>
                    </a:p>
                  </a:txBody>
                  <a:tcPr marL="0" marR="0" marT="0" marB="0">
                    <a:solidFill>
                      <a:srgbClr val="FFFFFF"/>
                    </a:solidFill>
                  </a:tcPr>
                </a:tc>
                <a:tc>
                  <a:txBody>
                    <a:bodyPr/>
                    <a:lstStyle/>
                    <a:p>
                      <a:pPr algn="ctr">
                        <a:defRPr sz="1000">
                          <a:latin typeface="Montserrat"/>
                        </a:defRPr>
                      </a:pPr>
                      <a:r>
                        <a:t>3,744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extLst>
                  <a:ext uri="{0D108BD9-81ED-4DB2-BD59-A6C34878D82A}">
                    <a16:rowId xmlns:a16="http://schemas.microsoft.com/office/drawing/2014/main" val="10013"/>
                  </a:ext>
                </a:extLst>
              </a:tr>
              <a:tr h="151200">
                <a:tc>
                  <a:txBody>
                    <a:bodyPr/>
                    <a:lstStyle/>
                    <a:p>
                      <a:pPr algn="l">
                        <a:defRPr sz="1000">
                          <a:latin typeface="Montserrat"/>
                        </a:defRPr>
                      </a:pPr>
                      <a:r>
                        <a:t>UMF 4 I. Guayalejo</a:t>
                      </a:r>
                    </a:p>
                  </a:txBody>
                  <a:tcPr marL="0" marR="0" marT="0" marB="0">
                    <a:solidFill>
                      <a:srgbClr val="EFEFEF"/>
                    </a:solidFill>
                  </a:tcPr>
                </a:tc>
                <a:tc>
                  <a:txBody>
                    <a:bodyPr/>
                    <a:lstStyle/>
                    <a:p>
                      <a:pPr algn="ctr">
                        <a:defRPr sz="1000">
                          <a:latin typeface="Montserrat"/>
                        </a:defRPr>
                      </a:pPr>
                      <a:r>
                        <a:t>8,031</a:t>
                      </a:r>
                    </a:p>
                  </a:txBody>
                  <a:tcPr marL="0" marR="0" marT="0" marB="0">
                    <a:solidFill>
                      <a:srgbClr val="EFEFEF"/>
                    </a:solidFill>
                  </a:tcPr>
                </a:tc>
                <a:tc>
                  <a:txBody>
                    <a:bodyPr/>
                    <a:lstStyle/>
                    <a:p>
                      <a:pPr algn="ctr">
                        <a:defRPr sz="1000">
                          <a:latin typeface="Montserrat"/>
                        </a:defRPr>
                      </a:pPr>
                      <a:r>
                        <a:t>2,405</a:t>
                      </a:r>
                    </a:p>
                  </a:txBody>
                  <a:tcPr marL="0" marR="0" marT="0" marB="0">
                    <a:solidFill>
                      <a:srgbClr val="EFEFEF"/>
                    </a:solidFill>
                  </a:tcPr>
                </a:tc>
                <a:tc>
                  <a:txBody>
                    <a:bodyPr/>
                    <a:lstStyle/>
                    <a:p>
                      <a:pPr algn="ctr">
                        <a:defRPr sz="1000">
                          <a:latin typeface="Montserrat"/>
                        </a:defRPr>
                      </a:pPr>
                      <a:r>
                        <a:t>4,709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52.3%</a:t>
                      </a:r>
                    </a:p>
                  </a:txBody>
                  <a:tcPr marL="0" marR="0" marT="0" marB="0">
                    <a:solidFill>
                      <a:srgbClr val="ECD3D9"/>
                    </a:solidFill>
                  </a:tcPr>
                </a:tc>
                <a:extLst>
                  <a:ext uri="{0D108BD9-81ED-4DB2-BD59-A6C34878D82A}">
                    <a16:rowId xmlns:a16="http://schemas.microsoft.com/office/drawing/2014/main" val="10014"/>
                  </a:ext>
                </a:extLst>
              </a:tr>
              <a:tr h="151200">
                <a:tc>
                  <a:txBody>
                    <a:bodyPr/>
                    <a:lstStyle/>
                    <a:p>
                      <a:pPr algn="l">
                        <a:defRPr sz="1000">
                          <a:latin typeface="Montserrat"/>
                        </a:defRPr>
                      </a:pPr>
                      <a:r>
                        <a:t>UMF 31 Guemez</a:t>
                      </a:r>
                    </a:p>
                  </a:txBody>
                  <a:tcPr marL="0" marR="0" marT="0" marB="0">
                    <a:solidFill>
                      <a:srgbClr val="FFFFFF"/>
                    </a:solidFill>
                  </a:tcPr>
                </a:tc>
                <a:tc>
                  <a:txBody>
                    <a:bodyPr/>
                    <a:lstStyle/>
                    <a:p>
                      <a:pPr algn="ctr">
                        <a:defRPr sz="1000">
                          <a:latin typeface="Montserrat"/>
                        </a:defRPr>
                      </a:pPr>
                      <a:r>
                        <a:t>7,382</a:t>
                      </a:r>
                    </a:p>
                  </a:txBody>
                  <a:tcPr marL="0" marR="0" marT="0" marB="0">
                    <a:solidFill>
                      <a:srgbClr val="FFFFFF"/>
                    </a:solidFill>
                  </a:tcPr>
                </a:tc>
                <a:tc>
                  <a:txBody>
                    <a:bodyPr/>
                    <a:lstStyle/>
                    <a:p>
                      <a:pPr algn="ctr">
                        <a:defRPr sz="1000">
                          <a:latin typeface="Montserrat"/>
                        </a:defRPr>
                      </a:pPr>
                      <a:r>
                        <a:t>2,898</a:t>
                      </a:r>
                    </a:p>
                  </a:txBody>
                  <a:tcPr marL="0" marR="0" marT="0" marB="0">
                    <a:solidFill>
                      <a:srgbClr val="FFFFFF"/>
                    </a:solidFill>
                  </a:tcPr>
                </a:tc>
                <a:tc>
                  <a:txBody>
                    <a:bodyPr/>
                    <a:lstStyle/>
                    <a:p>
                      <a:pPr algn="ctr">
                        <a:defRPr sz="1000">
                          <a:latin typeface="Montserrat"/>
                        </a:defRPr>
                      </a:pPr>
                      <a:r>
                        <a:t>4,485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49.8%</a:t>
                      </a:r>
                    </a:p>
                  </a:txBody>
                  <a:tcPr marL="0" marR="0" marT="0" marB="0">
                    <a:solidFill>
                      <a:srgbClr val="ECD3D9"/>
                    </a:solidFill>
                  </a:tcPr>
                </a:tc>
                <a:extLst>
                  <a:ext uri="{0D108BD9-81ED-4DB2-BD59-A6C34878D82A}">
                    <a16:rowId xmlns:a16="http://schemas.microsoft.com/office/drawing/2014/main" val="10015"/>
                  </a:ext>
                </a:extLst>
              </a:tr>
              <a:tr h="151200">
                <a:tc>
                  <a:txBody>
                    <a:bodyPr/>
                    <a:lstStyle/>
                    <a:p>
                      <a:pPr algn="l">
                        <a:defRPr sz="1000">
                          <a:latin typeface="Montserrat"/>
                        </a:defRPr>
                      </a:pPr>
                      <a:r>
                        <a:t>UMF 21 Nueva Cd. Guerrero</a:t>
                      </a:r>
                    </a:p>
                  </a:txBody>
                  <a:tcPr marL="0" marR="0" marT="0" marB="0">
                    <a:solidFill>
                      <a:srgbClr val="EFEFEF"/>
                    </a:solidFill>
                  </a:tcPr>
                </a:tc>
                <a:tc>
                  <a:txBody>
                    <a:bodyPr/>
                    <a:lstStyle/>
                    <a:p>
                      <a:pPr algn="ctr">
                        <a:defRPr sz="1000">
                          <a:latin typeface="Montserrat"/>
                        </a:defRPr>
                      </a:pPr>
                      <a:r>
                        <a:t>3,308</a:t>
                      </a:r>
                    </a:p>
                  </a:txBody>
                  <a:tcPr marL="0" marR="0" marT="0" marB="0">
                    <a:solidFill>
                      <a:srgbClr val="EFEFEF"/>
                    </a:solidFill>
                  </a:tcPr>
                </a:tc>
                <a:tc>
                  <a:txBody>
                    <a:bodyPr/>
                    <a:lstStyle/>
                    <a:p>
                      <a:pPr algn="ctr">
                        <a:defRPr sz="1000">
                          <a:latin typeface="Montserrat"/>
                        </a:defRPr>
                      </a:pPr>
                      <a:r>
                        <a:t>2,992</a:t>
                      </a:r>
                    </a:p>
                  </a:txBody>
                  <a:tcPr marL="0" marR="0" marT="0" marB="0">
                    <a:solidFill>
                      <a:srgbClr val="EFEFEF"/>
                    </a:solidFill>
                  </a:tcPr>
                </a:tc>
                <a:tc>
                  <a:txBody>
                    <a:bodyPr/>
                    <a:lstStyle/>
                    <a:p>
                      <a:pPr algn="ctr">
                        <a:defRPr sz="1000">
                          <a:latin typeface="Montserrat"/>
                        </a:defRPr>
                      </a:pPr>
                      <a:r>
                        <a:t>2,032</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extLst>
                  <a:ext uri="{0D108BD9-81ED-4DB2-BD59-A6C34878D82A}">
                    <a16:rowId xmlns:a16="http://schemas.microsoft.com/office/drawing/2014/main" val="10016"/>
                  </a:ext>
                </a:extLst>
              </a:tr>
              <a:tr h="151200">
                <a:tc>
                  <a:txBody>
                    <a:bodyPr/>
                    <a:lstStyle/>
                    <a:p>
                      <a:pPr algn="l">
                        <a:defRPr sz="1000">
                          <a:latin typeface="Montserrat"/>
                        </a:defRPr>
                      </a:pPr>
                      <a:r>
                        <a:t>UMF 28 Villa Llera</a:t>
                      </a:r>
                    </a:p>
                  </a:txBody>
                  <a:tcPr marL="0" marR="0" marT="0" marB="0">
                    <a:solidFill>
                      <a:srgbClr val="FFFFFF"/>
                    </a:solidFill>
                  </a:tcPr>
                </a:tc>
                <a:tc>
                  <a:txBody>
                    <a:bodyPr/>
                    <a:lstStyle/>
                    <a:p>
                      <a:pPr algn="ctr">
                        <a:defRPr sz="1000">
                          <a:latin typeface="Montserrat"/>
                        </a:defRPr>
                      </a:pPr>
                      <a:r>
                        <a:t>13,627</a:t>
                      </a:r>
                    </a:p>
                  </a:txBody>
                  <a:tcPr marL="0" marR="0" marT="0" marB="0">
                    <a:solidFill>
                      <a:srgbClr val="FFFFFF"/>
                    </a:solidFill>
                  </a:tcPr>
                </a:tc>
                <a:tc>
                  <a:txBody>
                    <a:bodyPr/>
                    <a:lstStyle/>
                    <a:p>
                      <a:pPr algn="ctr">
                        <a:defRPr sz="1000">
                          <a:latin typeface="Montserrat"/>
                        </a:defRPr>
                      </a:pPr>
                      <a:r>
                        <a:t>3,500</a:t>
                      </a:r>
                    </a:p>
                  </a:txBody>
                  <a:tcPr marL="0" marR="0" marT="0" marB="0">
                    <a:solidFill>
                      <a:srgbClr val="FFFFFF"/>
                    </a:solidFill>
                  </a:tcPr>
                </a:tc>
                <a:tc>
                  <a:txBody>
                    <a:bodyPr/>
                    <a:lstStyle/>
                    <a:p>
                      <a:pPr algn="ctr">
                        <a:defRPr sz="1000">
                          <a:latin typeface="Montserrat"/>
                        </a:defRPr>
                      </a:pPr>
                      <a:r>
                        <a:t>7,006</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46.7%</a:t>
                      </a:r>
                    </a:p>
                  </a:txBody>
                  <a:tcPr marL="0" marR="0" marT="0" marB="0">
                    <a:solidFill>
                      <a:srgbClr val="ECD3D9"/>
                    </a:solidFill>
                  </a:tcPr>
                </a:tc>
                <a:extLst>
                  <a:ext uri="{0D108BD9-81ED-4DB2-BD59-A6C34878D82A}">
                    <a16:rowId xmlns:a16="http://schemas.microsoft.com/office/drawing/2014/main" val="10017"/>
                  </a:ext>
                </a:extLst>
              </a:tr>
              <a:tr h="151200">
                <a:tc>
                  <a:txBody>
                    <a:bodyPr/>
                    <a:lstStyle/>
                    <a:p>
                      <a:pPr algn="l">
                        <a:defRPr sz="1000">
                          <a:latin typeface="Montserrat"/>
                        </a:defRPr>
                      </a:pPr>
                      <a:r>
                        <a:t>UMF 66 San Fernando</a:t>
                      </a:r>
                    </a:p>
                  </a:txBody>
                  <a:tcPr marL="0" marR="0" marT="0" marB="0">
                    <a:solidFill>
                      <a:srgbClr val="EFEFEF"/>
                    </a:solidFill>
                  </a:tcPr>
                </a:tc>
                <a:tc>
                  <a:txBody>
                    <a:bodyPr/>
                    <a:lstStyle/>
                    <a:p>
                      <a:pPr algn="ctr">
                        <a:defRPr sz="1000">
                          <a:latin typeface="Montserrat"/>
                        </a:defRPr>
                      </a:pPr>
                      <a:r>
                        <a:t>12,201</a:t>
                      </a:r>
                    </a:p>
                  </a:txBody>
                  <a:tcPr marL="0" marR="0" marT="0" marB="0">
                    <a:solidFill>
                      <a:srgbClr val="EFEFEF"/>
                    </a:solidFill>
                  </a:tcPr>
                </a:tc>
                <a:tc>
                  <a:txBody>
                    <a:bodyPr/>
                    <a:lstStyle/>
                    <a:p>
                      <a:pPr algn="ctr">
                        <a:defRPr sz="1000">
                          <a:latin typeface="Montserrat"/>
                        </a:defRPr>
                      </a:pPr>
                      <a:r>
                        <a:t>-182</a:t>
                      </a:r>
                    </a:p>
                  </a:txBody>
                  <a:tcPr marL="0" marR="0" marT="0" marB="0">
                    <a:solidFill>
                      <a:srgbClr val="EFEFEF"/>
                    </a:solidFill>
                  </a:tcPr>
                </a:tc>
                <a:tc>
                  <a:txBody>
                    <a:bodyPr/>
                    <a:lstStyle/>
                    <a:p>
                      <a:pPr algn="ctr">
                        <a:defRPr sz="1000">
                          <a:latin typeface="Montserrat"/>
                        </a:defRPr>
                      </a:pPr>
                      <a:r>
                        <a:t>5,553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extLst>
                  <a:ext uri="{0D108BD9-81ED-4DB2-BD59-A6C34878D82A}">
                    <a16:rowId xmlns:a16="http://schemas.microsoft.com/office/drawing/2014/main" val="10018"/>
                  </a:ext>
                </a:extLst>
              </a:tr>
              <a:tr h="151200">
                <a:tc>
                  <a:txBody>
                    <a:bodyPr/>
                    <a:lstStyle/>
                    <a:p>
                      <a:pPr algn="l">
                        <a:defRPr sz="1000">
                          <a:latin typeface="Montserrat"/>
                        </a:defRPr>
                      </a:pPr>
                      <a:r>
                        <a:t>UMF 68 Jiménez</a:t>
                      </a:r>
                    </a:p>
                  </a:txBody>
                  <a:tcPr marL="0" marR="0" marT="0" marB="0">
                    <a:solidFill>
                      <a:srgbClr val="FFFFFF"/>
                    </a:solidFill>
                  </a:tcPr>
                </a:tc>
                <a:tc>
                  <a:txBody>
                    <a:bodyPr/>
                    <a:lstStyle/>
                    <a:p>
                      <a:pPr algn="ctr">
                        <a:defRPr sz="1000">
                          <a:latin typeface="Montserrat"/>
                        </a:defRPr>
                      </a:pPr>
                      <a:r>
                        <a:t>7,088</a:t>
                      </a:r>
                    </a:p>
                  </a:txBody>
                  <a:tcPr marL="0" marR="0" marT="0" marB="0">
                    <a:solidFill>
                      <a:srgbClr val="FFFFFF"/>
                    </a:solidFill>
                  </a:tcPr>
                </a:tc>
                <a:tc>
                  <a:txBody>
                    <a:bodyPr/>
                    <a:lstStyle/>
                    <a:p>
                      <a:pPr algn="ctr">
                        <a:defRPr sz="1000">
                          <a:latin typeface="Montserrat"/>
                        </a:defRPr>
                      </a:pPr>
                      <a:r>
                        <a:t>2,570</a:t>
                      </a:r>
                    </a:p>
                  </a:txBody>
                  <a:tcPr marL="0" marR="0" marT="0" marB="0">
                    <a:solidFill>
                      <a:srgbClr val="FFFFFF"/>
                    </a:solidFill>
                  </a:tcPr>
                </a:tc>
                <a:tc>
                  <a:txBody>
                    <a:bodyPr/>
                    <a:lstStyle/>
                    <a:p>
                      <a:pPr algn="ctr">
                        <a:defRPr sz="1000">
                          <a:latin typeface="Montserrat"/>
                        </a:defRPr>
                      </a:pPr>
                      <a:r>
                        <a:t>3,761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47.0%</a:t>
                      </a:r>
                    </a:p>
                  </a:txBody>
                  <a:tcPr marL="0" marR="0" marT="0" marB="0">
                    <a:solidFill>
                      <a:srgbClr val="ECD3D9"/>
                    </a:solidFill>
                  </a:tcPr>
                </a:tc>
                <a:extLst>
                  <a:ext uri="{0D108BD9-81ED-4DB2-BD59-A6C34878D82A}">
                    <a16:rowId xmlns:a16="http://schemas.microsoft.com/office/drawing/2014/main" val="10019"/>
                  </a:ext>
                </a:extLst>
              </a:tr>
              <a:tr h="151200">
                <a:tc>
                  <a:txBody>
                    <a:bodyPr/>
                    <a:lstStyle/>
                    <a:p>
                      <a:pPr algn="l">
                        <a:defRPr sz="1000">
                          <a:latin typeface="Montserrat"/>
                        </a:defRPr>
                      </a:pPr>
                      <a:r>
                        <a:t>UMF 69 Abasolo</a:t>
                      </a:r>
                    </a:p>
                  </a:txBody>
                  <a:tcPr marL="0" marR="0" marT="0" marB="0">
                    <a:solidFill>
                      <a:srgbClr val="EFEFEF"/>
                    </a:solidFill>
                  </a:tcPr>
                </a:tc>
                <a:tc>
                  <a:txBody>
                    <a:bodyPr/>
                    <a:lstStyle/>
                    <a:p>
                      <a:pPr algn="ctr">
                        <a:defRPr sz="1000">
                          <a:latin typeface="Montserrat"/>
                        </a:defRPr>
                      </a:pPr>
                      <a:r>
                        <a:t>4,946</a:t>
                      </a:r>
                    </a:p>
                  </a:txBody>
                  <a:tcPr marL="0" marR="0" marT="0" marB="0">
                    <a:solidFill>
                      <a:srgbClr val="EFEFEF"/>
                    </a:solidFill>
                  </a:tcPr>
                </a:tc>
                <a:tc>
                  <a:txBody>
                    <a:bodyPr/>
                    <a:lstStyle/>
                    <a:p>
                      <a:pPr algn="ctr">
                        <a:defRPr sz="1000">
                          <a:latin typeface="Montserrat"/>
                        </a:defRPr>
                      </a:pPr>
                      <a:r>
                        <a:t>2,173</a:t>
                      </a:r>
                    </a:p>
                  </a:txBody>
                  <a:tcPr marL="0" marR="0" marT="0" marB="0">
                    <a:solidFill>
                      <a:srgbClr val="EFEFEF"/>
                    </a:solidFill>
                  </a:tcPr>
                </a:tc>
                <a:tc>
                  <a:txBody>
                    <a:bodyPr/>
                    <a:lstStyle/>
                    <a:p>
                      <a:pPr algn="ctr">
                        <a:defRPr sz="1000">
                          <a:latin typeface="Montserrat"/>
                        </a:defRPr>
                      </a:pPr>
                      <a:r>
                        <a:t>3,058</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51.0%</a:t>
                      </a:r>
                    </a:p>
                  </a:txBody>
                  <a:tcPr marL="0" marR="0" marT="0" marB="0">
                    <a:solidFill>
                      <a:srgbClr val="ECD3D9"/>
                    </a:solidFill>
                  </a:tcPr>
                </a:tc>
                <a:extLst>
                  <a:ext uri="{0D108BD9-81ED-4DB2-BD59-A6C34878D82A}">
                    <a16:rowId xmlns:a16="http://schemas.microsoft.com/office/drawing/2014/main" val="10020"/>
                  </a:ext>
                </a:extLst>
              </a:tr>
              <a:tr h="151200">
                <a:tc>
                  <a:txBody>
                    <a:bodyPr/>
                    <a:lstStyle/>
                    <a:p>
                      <a:pPr algn="l">
                        <a:defRPr sz="1000">
                          <a:latin typeface="Montserrat"/>
                        </a:defRPr>
                      </a:pPr>
                      <a:r>
                        <a:t>UMF 73 Villagran Hidalgo</a:t>
                      </a:r>
                    </a:p>
                  </a:txBody>
                  <a:tcPr marL="0" marR="0" marT="0" marB="0">
                    <a:solidFill>
                      <a:srgbClr val="FFFFFF"/>
                    </a:solidFill>
                  </a:tcPr>
                </a:tc>
                <a:tc>
                  <a:txBody>
                    <a:bodyPr/>
                    <a:lstStyle/>
                    <a:p>
                      <a:pPr algn="ctr">
                        <a:defRPr sz="1000">
                          <a:latin typeface="Montserrat"/>
                        </a:defRPr>
                      </a:pPr>
                      <a:r>
                        <a:t>3,393</a:t>
                      </a:r>
                    </a:p>
                  </a:txBody>
                  <a:tcPr marL="0" marR="0" marT="0" marB="0">
                    <a:solidFill>
                      <a:srgbClr val="FFFFFF"/>
                    </a:solidFill>
                  </a:tcPr>
                </a:tc>
                <a:tc>
                  <a:txBody>
                    <a:bodyPr/>
                    <a:lstStyle/>
                    <a:p>
                      <a:pPr algn="ctr">
                        <a:defRPr sz="1000">
                          <a:latin typeface="Montserrat"/>
                        </a:defRPr>
                      </a:pPr>
                      <a:r>
                        <a:t>1,760</a:t>
                      </a:r>
                    </a:p>
                  </a:txBody>
                  <a:tcPr marL="0" marR="0" marT="0" marB="0">
                    <a:solidFill>
                      <a:srgbClr val="FFFFFF"/>
                    </a:solidFill>
                  </a:tcPr>
                </a:tc>
                <a:tc>
                  <a:txBody>
                    <a:bodyPr/>
                    <a:lstStyle/>
                    <a:p>
                      <a:pPr algn="ctr">
                        <a:defRPr sz="1000">
                          <a:latin typeface="Montserrat"/>
                        </a:defRPr>
                      </a:pPr>
                      <a:r>
                        <a:t>2,506</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50.1%</a:t>
                      </a:r>
                    </a:p>
                  </a:txBody>
                  <a:tcPr marL="0" marR="0" marT="0" marB="0">
                    <a:solidFill>
                      <a:srgbClr val="ECD3D9"/>
                    </a:solidFill>
                  </a:tcPr>
                </a:tc>
                <a:extLst>
                  <a:ext uri="{0D108BD9-81ED-4DB2-BD59-A6C34878D82A}">
                    <a16:rowId xmlns:a16="http://schemas.microsoft.com/office/drawing/2014/main" val="10021"/>
                  </a:ext>
                </a:extLst>
              </a:tr>
              <a:tr h="151200">
                <a:tc>
                  <a:txBody>
                    <a:bodyPr/>
                    <a:lstStyle/>
                    <a:p>
                      <a:pPr algn="l">
                        <a:defRPr sz="1000">
                          <a:latin typeface="Montserrat"/>
                        </a:defRPr>
                      </a:pPr>
                      <a:r>
                        <a:t>UMF 70 Soto la Marina</a:t>
                      </a:r>
                    </a:p>
                  </a:txBody>
                  <a:tcPr marL="0" marR="0" marT="0" marB="0">
                    <a:solidFill>
                      <a:srgbClr val="EFEFEF"/>
                    </a:solidFill>
                  </a:tcPr>
                </a:tc>
                <a:tc>
                  <a:txBody>
                    <a:bodyPr/>
                    <a:lstStyle/>
                    <a:p>
                      <a:pPr algn="ctr">
                        <a:defRPr sz="1000">
                          <a:latin typeface="Montserrat"/>
                        </a:defRPr>
                      </a:pPr>
                      <a:r>
                        <a:t>7,873</a:t>
                      </a:r>
                    </a:p>
                  </a:txBody>
                  <a:tcPr marL="0" marR="0" marT="0" marB="0">
                    <a:solidFill>
                      <a:srgbClr val="EFEFEF"/>
                    </a:solidFill>
                  </a:tcPr>
                </a:tc>
                <a:tc>
                  <a:txBody>
                    <a:bodyPr/>
                    <a:lstStyle/>
                    <a:p>
                      <a:pPr algn="ctr">
                        <a:defRPr sz="1000">
                          <a:latin typeface="Montserrat"/>
                        </a:defRPr>
                      </a:pPr>
                      <a:r>
                        <a:t>2,891</a:t>
                      </a:r>
                    </a:p>
                  </a:txBody>
                  <a:tcPr marL="0" marR="0" marT="0" marB="0">
                    <a:solidFill>
                      <a:srgbClr val="EFEFEF"/>
                    </a:solidFill>
                  </a:tcPr>
                </a:tc>
                <a:tc>
                  <a:txBody>
                    <a:bodyPr/>
                    <a:lstStyle/>
                    <a:p>
                      <a:pPr algn="ctr">
                        <a:defRPr sz="1000">
                          <a:latin typeface="Montserrat"/>
                        </a:defRPr>
                      </a:pPr>
                      <a:r>
                        <a:t>4,565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50.7%</a:t>
                      </a:r>
                    </a:p>
                  </a:txBody>
                  <a:tcPr marL="0" marR="0" marT="0" marB="0">
                    <a:solidFill>
                      <a:srgbClr val="ECD3D9"/>
                    </a:solidFill>
                  </a:tcPr>
                </a:tc>
                <a:extLst>
                  <a:ext uri="{0D108BD9-81ED-4DB2-BD59-A6C34878D82A}">
                    <a16:rowId xmlns:a16="http://schemas.microsoft.com/office/drawing/2014/main" val="10022"/>
                  </a:ext>
                </a:extLst>
              </a:tr>
              <a:tr h="151200">
                <a:tc>
                  <a:txBody>
                    <a:bodyPr/>
                    <a:lstStyle/>
                    <a:p>
                      <a:pPr algn="l">
                        <a:defRPr sz="1000">
                          <a:latin typeface="Montserrat"/>
                        </a:defRPr>
                      </a:pPr>
                      <a:r>
                        <a:t>UMF 72 Hidalgo</a:t>
                      </a:r>
                    </a:p>
                  </a:txBody>
                  <a:tcPr marL="0" marR="0" marT="0" marB="0">
                    <a:solidFill>
                      <a:srgbClr val="FFFFFF"/>
                    </a:solidFill>
                  </a:tcPr>
                </a:tc>
                <a:tc>
                  <a:txBody>
                    <a:bodyPr/>
                    <a:lstStyle/>
                    <a:p>
                      <a:pPr algn="ctr">
                        <a:defRPr sz="1000">
                          <a:latin typeface="Montserrat"/>
                        </a:defRPr>
                      </a:pPr>
                      <a:r>
                        <a:t>3,774</a:t>
                      </a:r>
                    </a:p>
                  </a:txBody>
                  <a:tcPr marL="0" marR="0" marT="0" marB="0">
                    <a:solidFill>
                      <a:srgbClr val="FFFFFF"/>
                    </a:solidFill>
                  </a:tcPr>
                </a:tc>
                <a:tc>
                  <a:txBody>
                    <a:bodyPr/>
                    <a:lstStyle/>
                    <a:p>
                      <a:pPr algn="ctr">
                        <a:defRPr sz="1000">
                          <a:latin typeface="Montserrat"/>
                        </a:defRPr>
                      </a:pPr>
                      <a:r>
                        <a:t>1,707</a:t>
                      </a:r>
                    </a:p>
                  </a:txBody>
                  <a:tcPr marL="0" marR="0" marT="0" marB="0">
                    <a:solidFill>
                      <a:srgbClr val="FFFFFF"/>
                    </a:solidFill>
                  </a:tcPr>
                </a:tc>
                <a:tc>
                  <a:txBody>
                    <a:bodyPr/>
                    <a:lstStyle/>
                    <a:p>
                      <a:pPr algn="ctr">
                        <a:defRPr sz="1000">
                          <a:latin typeface="Montserrat"/>
                        </a:defRPr>
                      </a:pPr>
                      <a:r>
                        <a:t>2,681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53.6%</a:t>
                      </a:r>
                    </a:p>
                  </a:txBody>
                  <a:tcPr marL="0" marR="0" marT="0" marB="0">
                    <a:solidFill>
                      <a:srgbClr val="ECD3D9"/>
                    </a:solidFill>
                  </a:tcPr>
                </a:tc>
                <a:extLst>
                  <a:ext uri="{0D108BD9-81ED-4DB2-BD59-A6C34878D82A}">
                    <a16:rowId xmlns:a16="http://schemas.microsoft.com/office/drawing/2014/main" val="10023"/>
                  </a:ext>
                </a:extLst>
              </a:tr>
              <a:tr h="151200">
                <a:tc>
                  <a:txBody>
                    <a:bodyPr/>
                    <a:lstStyle/>
                    <a:p>
                      <a:pPr algn="l">
                        <a:defRPr sz="1000">
                          <a:latin typeface="Montserrat"/>
                        </a:defRPr>
                      </a:pPr>
                      <a:r>
                        <a:t>UMF 79 Matamoros</a:t>
                      </a:r>
                    </a:p>
                  </a:txBody>
                  <a:tcPr marL="0" marR="0" marT="0" marB="0">
                    <a:solidFill>
                      <a:srgbClr val="EFEFEF"/>
                    </a:solidFill>
                  </a:tcPr>
                </a:tc>
                <a:tc>
                  <a:txBody>
                    <a:bodyPr/>
                    <a:lstStyle/>
                    <a:p>
                      <a:pPr algn="ctr">
                        <a:defRPr sz="1000">
                          <a:latin typeface="Montserrat"/>
                        </a:defRPr>
                      </a:pPr>
                      <a:r>
                        <a:t>328,175</a:t>
                      </a:r>
                    </a:p>
                  </a:txBody>
                  <a:tcPr marL="0" marR="0" marT="0" marB="0">
                    <a:solidFill>
                      <a:srgbClr val="EFEFEF"/>
                    </a:solidFill>
                  </a:tcPr>
                </a:tc>
                <a:tc>
                  <a:txBody>
                    <a:bodyPr/>
                    <a:lstStyle/>
                    <a:p>
                      <a:pPr algn="ctr">
                        <a:defRPr sz="1000">
                          <a:latin typeface="Montserrat"/>
                        </a:defRPr>
                      </a:pPr>
                      <a:r>
                        <a:t>64,830</a:t>
                      </a:r>
                    </a:p>
                  </a:txBody>
                  <a:tcPr marL="0" marR="0" marT="0" marB="0">
                    <a:solidFill>
                      <a:srgbClr val="EFEFEF"/>
                    </a:solidFill>
                  </a:tcPr>
                </a:tc>
                <a:tc>
                  <a:txBody>
                    <a:bodyPr/>
                    <a:lstStyle/>
                    <a:p>
                      <a:pPr algn="ctr">
                        <a:defRPr sz="1000">
                          <a:latin typeface="Montserrat"/>
                        </a:defRPr>
                      </a:pPr>
                      <a:r>
                        <a:t>165,433</a:t>
                      </a:r>
                    </a:p>
                  </a:txBody>
                  <a:tcPr marL="0" marR="0" marT="0" marB="0">
                    <a:solidFill>
                      <a:srgbClr val="ECD3D9"/>
                    </a:solidFill>
                  </a:tcPr>
                </a:tc>
                <a:tc>
                  <a:txBody>
                    <a:bodyPr/>
                    <a:lstStyle/>
                    <a:p>
                      <a:pPr algn="ctr">
                        <a:defRPr sz="1000">
                          <a:latin typeface="Montserrat"/>
                        </a:defRPr>
                      </a:pPr>
                      <a:r>
                        <a:t>316,000</a:t>
                      </a:r>
                    </a:p>
                  </a:txBody>
                  <a:tcPr marL="0" marR="0" marT="0" marB="0">
                    <a:solidFill>
                      <a:srgbClr val="ECD3D9"/>
                    </a:solidFill>
                  </a:tcPr>
                </a:tc>
                <a:tc>
                  <a:txBody>
                    <a:bodyPr/>
                    <a:lstStyle/>
                    <a:p>
                      <a:pPr algn="ctr">
                        <a:defRPr sz="1000">
                          <a:latin typeface="Montserrat"/>
                        </a:defRPr>
                      </a:pPr>
                      <a:r>
                        <a:t>52.4%</a:t>
                      </a:r>
                    </a:p>
                  </a:txBody>
                  <a:tcPr marL="0" marR="0" marT="0" marB="0">
                    <a:solidFill>
                      <a:srgbClr val="ECD3D9"/>
                    </a:solidFill>
                  </a:tcPr>
                </a:tc>
                <a:extLst>
                  <a:ext uri="{0D108BD9-81ED-4DB2-BD59-A6C34878D82A}">
                    <a16:rowId xmlns:a16="http://schemas.microsoft.com/office/drawing/2014/main" val="10024"/>
                  </a:ext>
                </a:extLst>
              </a:tr>
              <a:tr h="151200">
                <a:tc>
                  <a:txBody>
                    <a:bodyPr/>
                    <a:lstStyle/>
                    <a:p>
                      <a:pPr algn="l">
                        <a:defRPr sz="1000">
                          <a:latin typeface="Montserrat"/>
                        </a:defRPr>
                      </a:pPr>
                      <a:r>
                        <a:t>UMF 35 Nuevo Morelos</a:t>
                      </a:r>
                    </a:p>
                  </a:txBody>
                  <a:tcPr marL="0" marR="0" marT="0" marB="0">
                    <a:solidFill>
                      <a:srgbClr val="FFFFFF"/>
                    </a:solidFill>
                  </a:tcPr>
                </a:tc>
                <a:tc>
                  <a:txBody>
                    <a:bodyPr/>
                    <a:lstStyle/>
                    <a:p>
                      <a:pPr algn="ctr">
                        <a:defRPr sz="1000">
                          <a:latin typeface="Montserrat"/>
                        </a:defRPr>
                      </a:pPr>
                      <a:r>
                        <a:t>4,217</a:t>
                      </a:r>
                    </a:p>
                  </a:txBody>
                  <a:tcPr marL="0" marR="0" marT="0" marB="0">
                    <a:solidFill>
                      <a:srgbClr val="FFFFFF"/>
                    </a:solidFill>
                  </a:tcPr>
                </a:tc>
                <a:tc>
                  <a:txBody>
                    <a:bodyPr/>
                    <a:lstStyle/>
                    <a:p>
                      <a:pPr algn="ctr">
                        <a:defRPr sz="1000">
                          <a:latin typeface="Montserrat"/>
                        </a:defRPr>
                      </a:pPr>
                      <a:r>
                        <a:t>683</a:t>
                      </a:r>
                    </a:p>
                  </a:txBody>
                  <a:tcPr marL="0" marR="0" marT="0" marB="0">
                    <a:solidFill>
                      <a:srgbClr val="FFFFFF"/>
                    </a:solidFill>
                  </a:tcPr>
                </a:tc>
                <a:tc>
                  <a:txBody>
                    <a:bodyPr/>
                    <a:lstStyle/>
                    <a:p>
                      <a:pPr algn="ctr">
                        <a:defRPr sz="1000">
                          <a:latin typeface="Montserrat"/>
                        </a:defRPr>
                      </a:pPr>
                      <a:r>
                        <a:t>2,444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extLst>
                  <a:ext uri="{0D108BD9-81ED-4DB2-BD59-A6C34878D82A}">
                    <a16:rowId xmlns:a16="http://schemas.microsoft.com/office/drawing/2014/main" val="10025"/>
                  </a:ext>
                </a:extLst>
              </a:tr>
              <a:tr h="151200">
                <a:tc>
                  <a:txBody>
                    <a:bodyPr/>
                    <a:lstStyle/>
                    <a:p>
                      <a:pPr algn="l">
                        <a:defRPr sz="1000">
                          <a:latin typeface="Montserrat"/>
                        </a:defRPr>
                      </a:pPr>
                      <a:r>
                        <a:t>UMF 34 Antiguo Morelos</a:t>
                      </a:r>
                    </a:p>
                  </a:txBody>
                  <a:tcPr marL="0" marR="0" marT="0" marB="0">
                    <a:solidFill>
                      <a:srgbClr val="EFEFEF"/>
                    </a:solidFill>
                  </a:tcPr>
                </a:tc>
                <a:tc>
                  <a:txBody>
                    <a:bodyPr/>
                    <a:lstStyle/>
                    <a:p>
                      <a:pPr algn="ctr">
                        <a:defRPr sz="1000">
                          <a:latin typeface="Montserrat"/>
                        </a:defRPr>
                      </a:pPr>
                      <a:r>
                        <a:t>6,237</a:t>
                      </a:r>
                    </a:p>
                  </a:txBody>
                  <a:tcPr marL="0" marR="0" marT="0" marB="0">
                    <a:solidFill>
                      <a:srgbClr val="EFEFEF"/>
                    </a:solidFill>
                  </a:tcPr>
                </a:tc>
                <a:tc>
                  <a:txBody>
                    <a:bodyPr/>
                    <a:lstStyle/>
                    <a:p>
                      <a:pPr algn="ctr">
                        <a:defRPr sz="1000">
                          <a:latin typeface="Montserrat"/>
                        </a:defRPr>
                      </a:pPr>
                      <a:r>
                        <a:t>784</a:t>
                      </a:r>
                    </a:p>
                  </a:txBody>
                  <a:tcPr marL="0" marR="0" marT="0" marB="0">
                    <a:solidFill>
                      <a:srgbClr val="EFEFEF"/>
                    </a:solidFill>
                  </a:tcPr>
                </a:tc>
                <a:tc>
                  <a:txBody>
                    <a:bodyPr/>
                    <a:lstStyle/>
                    <a:p>
                      <a:pPr algn="ctr">
                        <a:defRPr sz="1000">
                          <a:latin typeface="Montserrat"/>
                        </a:defRPr>
                      </a:pPr>
                      <a:r>
                        <a:t>2,980</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37.3%</a:t>
                      </a:r>
                    </a:p>
                  </a:txBody>
                  <a:tcPr marL="0" marR="0" marT="0" marB="0">
                    <a:solidFill>
                      <a:srgbClr val="ECD3D9"/>
                    </a:solidFill>
                  </a:tcPr>
                </a:tc>
                <a:extLst>
                  <a:ext uri="{0D108BD9-81ED-4DB2-BD59-A6C34878D82A}">
                    <a16:rowId xmlns:a16="http://schemas.microsoft.com/office/drawing/2014/main" val="10026"/>
                  </a:ext>
                </a:extLst>
              </a:tr>
              <a:tr h="151200">
                <a:tc>
                  <a:txBody>
                    <a:bodyPr/>
                    <a:lstStyle/>
                    <a:p>
                      <a:pPr algn="l">
                        <a:defRPr sz="1000">
                          <a:latin typeface="Montserrat"/>
                        </a:defRPr>
                      </a:pPr>
                      <a:r>
                        <a:t>UMF 23 Ciudad Gustavo Díaz Ordaz</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1,511</a:t>
                      </a:r>
                    </a:p>
                  </a:txBody>
                  <a:tcPr marL="0" marR="0" marT="0" marB="0">
                    <a:solidFill>
                      <a:srgbClr val="FFFFFF"/>
                    </a:solidFill>
                  </a:tcPr>
                </a:tc>
                <a:tc>
                  <a:txBody>
                    <a:bodyPr/>
                    <a:lstStyle/>
                    <a:p>
                      <a:pPr algn="ctr">
                        <a:defRPr sz="1000">
                          <a:latin typeface="Montserrat"/>
                        </a:defRPr>
                      </a:pPr>
                      <a:r>
                        <a:t>3,438</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extLst>
                  <a:ext uri="{0D108BD9-81ED-4DB2-BD59-A6C34878D82A}">
                    <a16:rowId xmlns:a16="http://schemas.microsoft.com/office/drawing/2014/main" val="10027"/>
                  </a:ext>
                </a:extLst>
              </a:tr>
              <a:tr h="151200">
                <a:tc>
                  <a:txBody>
                    <a:bodyPr/>
                    <a:lstStyle/>
                    <a:p>
                      <a:pPr algn="l">
                        <a:defRPr sz="1000">
                          <a:latin typeface="Montserrat"/>
                        </a:defRPr>
                      </a:pPr>
                      <a:r>
                        <a:t>UMF 14 Nva. Apoloria</a:t>
                      </a:r>
                    </a:p>
                  </a:txBody>
                  <a:tcPr marL="0" marR="0" marT="0" marB="0">
                    <a:solidFill>
                      <a:srgbClr val="EFEFEF"/>
                    </a:solidFill>
                  </a:tcPr>
                </a:tc>
                <a:tc>
                  <a:txBody>
                    <a:bodyPr/>
                    <a:lstStyle/>
                    <a:p>
                      <a:pPr algn="ctr">
                        <a:defRPr sz="1000">
                          <a:latin typeface="Montserrat"/>
                        </a:defRPr>
                      </a:pPr>
                      <a:r>
                        <a:t>4,762</a:t>
                      </a:r>
                    </a:p>
                  </a:txBody>
                  <a:tcPr marL="0" marR="0" marT="0" marB="0">
                    <a:solidFill>
                      <a:srgbClr val="EFEFEF"/>
                    </a:solidFill>
                  </a:tcPr>
                </a:tc>
                <a:tc>
                  <a:txBody>
                    <a:bodyPr/>
                    <a:lstStyle/>
                    <a:p>
                      <a:pPr algn="ctr">
                        <a:defRPr sz="1000">
                          <a:latin typeface="Montserrat"/>
                        </a:defRPr>
                      </a:pPr>
                      <a:r>
                        <a:t>685</a:t>
                      </a:r>
                    </a:p>
                  </a:txBody>
                  <a:tcPr marL="0" marR="0" marT="0" marB="0">
                    <a:solidFill>
                      <a:srgbClr val="EFEFEF"/>
                    </a:solidFill>
                  </a:tcPr>
                </a:tc>
                <a:tc>
                  <a:txBody>
                    <a:bodyPr/>
                    <a:lstStyle/>
                    <a:p>
                      <a:pPr algn="ctr">
                        <a:defRPr sz="1000">
                          <a:latin typeface="Montserrat"/>
                        </a:defRPr>
                      </a:pPr>
                      <a:r>
                        <a:t>2,164</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extLst>
                  <a:ext uri="{0D108BD9-81ED-4DB2-BD59-A6C34878D82A}">
                    <a16:rowId xmlns:a16="http://schemas.microsoft.com/office/drawing/2014/main" val="10028"/>
                  </a:ext>
                </a:extLst>
              </a:tr>
              <a:tr h="151200">
                <a:tc>
                  <a:txBody>
                    <a:bodyPr/>
                    <a:lstStyle/>
                    <a:p>
                      <a:pPr algn="l">
                        <a:defRPr sz="1000">
                          <a:latin typeface="Montserrat"/>
                        </a:defRPr>
                      </a:pPr>
                      <a:r>
                        <a:t>UMF 36 Matamoros</a:t>
                      </a:r>
                    </a:p>
                  </a:txBody>
                  <a:tcPr marL="0" marR="0" marT="0" marB="0">
                    <a:solidFill>
                      <a:srgbClr val="FFFFFF"/>
                    </a:solidFill>
                  </a:tcPr>
                </a:tc>
                <a:tc>
                  <a:txBody>
                    <a:bodyPr/>
                    <a:lstStyle/>
                    <a:p>
                      <a:pPr algn="ctr">
                        <a:defRPr sz="1000">
                          <a:latin typeface="Montserrat"/>
                        </a:defRPr>
                      </a:pPr>
                      <a:r>
                        <a:t>310,734</a:t>
                      </a:r>
                    </a:p>
                  </a:txBody>
                  <a:tcPr marL="0" marR="0" marT="0" marB="0">
                    <a:solidFill>
                      <a:srgbClr val="FFFFFF"/>
                    </a:solidFill>
                  </a:tcPr>
                </a:tc>
                <a:tc>
                  <a:txBody>
                    <a:bodyPr/>
                    <a:lstStyle/>
                    <a:p>
                      <a:pPr algn="ctr">
                        <a:defRPr sz="1000">
                          <a:latin typeface="Montserrat"/>
                        </a:defRPr>
                      </a:pPr>
                      <a:r>
                        <a:t>45,147</a:t>
                      </a:r>
                    </a:p>
                  </a:txBody>
                  <a:tcPr marL="0" marR="0" marT="0" marB="0">
                    <a:solidFill>
                      <a:srgbClr val="FFFFFF"/>
                    </a:solidFill>
                  </a:tcPr>
                </a:tc>
                <a:tc>
                  <a:txBody>
                    <a:bodyPr/>
                    <a:lstStyle/>
                    <a:p>
                      <a:pPr algn="ctr">
                        <a:defRPr sz="1000">
                          <a:latin typeface="Montserrat"/>
                        </a:defRPr>
                      </a:pPr>
                      <a:r>
                        <a:t>135,718</a:t>
                      </a:r>
                    </a:p>
                  </a:txBody>
                  <a:tcPr marL="0" marR="0" marT="0" marB="0">
                    <a:solidFill>
                      <a:srgbClr val="ECD3D9"/>
                    </a:solidFill>
                  </a:tcPr>
                </a:tc>
                <a:tc>
                  <a:txBody>
                    <a:bodyPr/>
                    <a:lstStyle/>
                    <a:p>
                      <a:pPr algn="ctr">
                        <a:defRPr sz="1000">
                          <a:latin typeface="Montserrat"/>
                        </a:defRPr>
                      </a:pPr>
                      <a:r>
                        <a:t>302,000</a:t>
                      </a:r>
                    </a:p>
                  </a:txBody>
                  <a:tcPr marL="0" marR="0" marT="0" marB="0">
                    <a:solidFill>
                      <a:srgbClr val="ECD3D9"/>
                    </a:solidFill>
                  </a:tcPr>
                </a:tc>
                <a:tc>
                  <a:txBody>
                    <a:bodyPr/>
                    <a:lstStyle/>
                    <a:p>
                      <a:pPr algn="ctr">
                        <a:defRPr sz="1000">
                          <a:latin typeface="Montserrat"/>
                        </a:defRPr>
                      </a:pPr>
                      <a:r>
                        <a:t>44.9%</a:t>
                      </a:r>
                    </a:p>
                  </a:txBody>
                  <a:tcPr marL="0" marR="0" marT="0" marB="0">
                    <a:solidFill>
                      <a:srgbClr val="ECD3D9"/>
                    </a:solidFill>
                  </a:tcPr>
                </a:tc>
                <a:extLst>
                  <a:ext uri="{0D108BD9-81ED-4DB2-BD59-A6C34878D82A}">
                    <a16:rowId xmlns:a16="http://schemas.microsoft.com/office/drawing/2014/main" val="10029"/>
                  </a:ext>
                </a:extLst>
              </a:tr>
              <a:tr h="151200">
                <a:tc>
                  <a:txBody>
                    <a:bodyPr/>
                    <a:lstStyle/>
                    <a:p>
                      <a:pPr algn="l">
                        <a:defRPr sz="1000">
                          <a:latin typeface="Montserrat"/>
                        </a:defRPr>
                      </a:pPr>
                      <a:r>
                        <a:t>UMF 5 Xicotencatl</a:t>
                      </a:r>
                    </a:p>
                  </a:txBody>
                  <a:tcPr marL="0" marR="0" marT="0" marB="0">
                    <a:solidFill>
                      <a:srgbClr val="EFEFEF"/>
                    </a:solidFill>
                  </a:tcPr>
                </a:tc>
                <a:tc>
                  <a:txBody>
                    <a:bodyPr/>
                    <a:lstStyle/>
                    <a:p>
                      <a:pPr algn="ctr">
                        <a:defRPr sz="1000">
                          <a:latin typeface="Montserrat"/>
                        </a:defRPr>
                      </a:pPr>
                      <a:r>
                        <a:t>22,702</a:t>
                      </a:r>
                    </a:p>
                  </a:txBody>
                  <a:tcPr marL="0" marR="0" marT="0" marB="0">
                    <a:solidFill>
                      <a:srgbClr val="EFEFEF"/>
                    </a:solidFill>
                  </a:tcPr>
                </a:tc>
                <a:tc>
                  <a:txBody>
                    <a:bodyPr/>
                    <a:lstStyle/>
                    <a:p>
                      <a:pPr algn="ctr">
                        <a:defRPr sz="1000">
                          <a:latin typeface="Montserrat"/>
                        </a:defRPr>
                      </a:pPr>
                      <a:r>
                        <a:t>1,617</a:t>
                      </a:r>
                    </a:p>
                  </a:txBody>
                  <a:tcPr marL="0" marR="0" marT="0" marB="0">
                    <a:solidFill>
                      <a:srgbClr val="EFEFEF"/>
                    </a:solidFill>
                  </a:tcPr>
                </a:tc>
                <a:tc>
                  <a:txBody>
                    <a:bodyPr/>
                    <a:lstStyle/>
                    <a:p>
                      <a:pPr algn="ctr">
                        <a:defRPr sz="1000">
                          <a:latin typeface="Montserrat"/>
                        </a:defRPr>
                      </a:pPr>
                      <a:r>
                        <a:t>10,197</a:t>
                      </a:r>
                    </a:p>
                  </a:txBody>
                  <a:tcPr marL="0" marR="0" marT="0" marB="0">
                    <a:solidFill>
                      <a:srgbClr val="ECD3D9"/>
                    </a:solidFill>
                  </a:tcPr>
                </a:tc>
                <a:tc>
                  <a:txBody>
                    <a:bodyPr/>
                    <a:lstStyle/>
                    <a:p>
                      <a:pPr algn="ctr">
                        <a:defRPr sz="1000">
                          <a:latin typeface="Montserrat"/>
                        </a:defRPr>
                      </a:pPr>
                      <a:r>
                        <a:t>24,000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extLst>
                  <a:ext uri="{0D108BD9-81ED-4DB2-BD59-A6C34878D82A}">
                    <a16:rowId xmlns:a16="http://schemas.microsoft.com/office/drawing/2014/main" val="10030"/>
                  </a:ext>
                </a:extLst>
              </a:tr>
              <a:tr h="151200">
                <a:tc>
                  <a:txBody>
                    <a:bodyPr/>
                    <a:lstStyle/>
                    <a:p>
                      <a:pPr algn="l">
                        <a:defRPr sz="1000">
                          <a:latin typeface="Montserrat"/>
                        </a:defRPr>
                      </a:pPr>
                      <a:r>
                        <a:t>UMF 24 Mante</a:t>
                      </a:r>
                    </a:p>
                  </a:txBody>
                  <a:tcPr marL="0" marR="0" marT="0" marB="0">
                    <a:solidFill>
                      <a:srgbClr val="FFFFFF"/>
                    </a:solidFill>
                  </a:tcPr>
                </a:tc>
                <a:tc>
                  <a:txBody>
                    <a:bodyPr/>
                    <a:lstStyle/>
                    <a:p>
                      <a:pPr algn="ctr">
                        <a:defRPr sz="1000">
                          <a:latin typeface="Montserrat"/>
                        </a:defRPr>
                      </a:pPr>
                      <a:r>
                        <a:t>206,492</a:t>
                      </a:r>
                    </a:p>
                  </a:txBody>
                  <a:tcPr marL="0" marR="0" marT="0" marB="0">
                    <a:solidFill>
                      <a:srgbClr val="FFFFFF"/>
                    </a:solidFill>
                  </a:tcPr>
                </a:tc>
                <a:tc>
                  <a:txBody>
                    <a:bodyPr/>
                    <a:lstStyle/>
                    <a:p>
                      <a:pPr algn="ctr">
                        <a:defRPr sz="1000">
                          <a:latin typeface="Montserrat"/>
                        </a:defRPr>
                      </a:pPr>
                      <a:r>
                        <a:t>33,916</a:t>
                      </a:r>
                    </a:p>
                  </a:txBody>
                  <a:tcPr marL="0" marR="0" marT="0" marB="0">
                    <a:solidFill>
                      <a:srgbClr val="FFFFFF"/>
                    </a:solidFill>
                  </a:tcPr>
                </a:tc>
                <a:tc>
                  <a:txBody>
                    <a:bodyPr/>
                    <a:lstStyle/>
                    <a:p>
                      <a:pPr algn="ctr">
                        <a:defRPr sz="1000">
                          <a:latin typeface="Montserrat"/>
                        </a:defRPr>
                      </a:pPr>
                      <a:r>
                        <a:t>91,675</a:t>
                      </a:r>
                    </a:p>
                  </a:txBody>
                  <a:tcPr marL="0" marR="0" marT="0" marB="0">
                    <a:solidFill>
                      <a:srgbClr val="ECD3D9"/>
                    </a:solidFill>
                  </a:tcPr>
                </a:tc>
                <a:tc>
                  <a:txBody>
                    <a:bodyPr/>
                    <a:lstStyle/>
                    <a:p>
                      <a:pPr algn="ctr">
                        <a:defRPr sz="1000">
                          <a:latin typeface="Montserrat"/>
                        </a:defRPr>
                      </a:pPr>
                      <a:r>
                        <a:t>200,000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extLst>
                  <a:ext uri="{0D108BD9-81ED-4DB2-BD59-A6C34878D82A}">
                    <a16:rowId xmlns:a16="http://schemas.microsoft.com/office/drawing/2014/main" val="10031"/>
                  </a:ext>
                </a:extLst>
              </a:tr>
              <a:tr h="151200">
                <a:tc>
                  <a:txBody>
                    <a:bodyPr/>
                    <a:lstStyle/>
                    <a:p>
                      <a:pPr algn="l">
                        <a:defRPr sz="1000">
                          <a:latin typeface="Montserrat"/>
                        </a:defRPr>
                      </a:pPr>
                      <a:r>
                        <a:t>UMF 67 Ciudad Victoria c/Rehab</a:t>
                      </a:r>
                    </a:p>
                  </a:txBody>
                  <a:tcPr marL="0" marR="0" marT="0" marB="0">
                    <a:solidFill>
                      <a:srgbClr val="EFEFEF"/>
                    </a:solidFill>
                  </a:tcPr>
                </a:tc>
                <a:tc>
                  <a:txBody>
                    <a:bodyPr/>
                    <a:lstStyle/>
                    <a:p>
                      <a:pPr algn="ctr">
                        <a:defRPr sz="1000">
                          <a:latin typeface="Montserrat"/>
                        </a:defRPr>
                      </a:pPr>
                      <a:r>
                        <a:t>183,789</a:t>
                      </a:r>
                    </a:p>
                  </a:txBody>
                  <a:tcPr marL="0" marR="0" marT="0" marB="0">
                    <a:solidFill>
                      <a:srgbClr val="EFEFEF"/>
                    </a:solidFill>
                  </a:tcPr>
                </a:tc>
                <a:tc>
                  <a:txBody>
                    <a:bodyPr/>
                    <a:lstStyle/>
                    <a:p>
                      <a:pPr algn="ctr">
                        <a:defRPr sz="1000">
                          <a:latin typeface="Montserrat"/>
                        </a:defRPr>
                      </a:pPr>
                      <a:r>
                        <a:t>31,873</a:t>
                      </a:r>
                    </a:p>
                  </a:txBody>
                  <a:tcPr marL="0" marR="0" marT="0" marB="0">
                    <a:solidFill>
                      <a:srgbClr val="EFEFEF"/>
                    </a:solidFill>
                  </a:tcPr>
                </a:tc>
                <a:tc>
                  <a:txBody>
                    <a:bodyPr/>
                    <a:lstStyle/>
                    <a:p>
                      <a:pPr algn="ctr">
                        <a:defRPr sz="1000">
                          <a:latin typeface="Montserrat"/>
                        </a:defRPr>
                      </a:pPr>
                      <a:r>
                        <a:t>86,273</a:t>
                      </a:r>
                    </a:p>
                  </a:txBody>
                  <a:tcPr marL="0" marR="0" marT="0" marB="0">
                    <a:solidFill>
                      <a:srgbClr val="ECD3D9"/>
                    </a:solidFill>
                  </a:tcPr>
                </a:tc>
                <a:tc>
                  <a:txBody>
                    <a:bodyPr/>
                    <a:lstStyle/>
                    <a:p>
                      <a:pPr algn="ctr">
                        <a:defRPr sz="1000">
                          <a:latin typeface="Montserrat"/>
                        </a:defRPr>
                      </a:pPr>
                      <a:r>
                        <a:t>187,920</a:t>
                      </a:r>
                    </a:p>
                  </a:txBody>
                  <a:tcPr marL="0" marR="0" marT="0" marB="0">
                    <a:solidFill>
                      <a:srgbClr val="ECD3D9"/>
                    </a:solidFill>
                  </a:tcPr>
                </a:tc>
                <a:tc>
                  <a:txBody>
                    <a:bodyPr/>
                    <a:lstStyle/>
                    <a:p>
                      <a:pPr algn="ctr">
                        <a:defRPr sz="1000">
                          <a:latin typeface="Montserrat"/>
                        </a:defRPr>
                      </a:pPr>
                      <a:r>
                        <a:t>45.9%</a:t>
                      </a:r>
                    </a:p>
                  </a:txBody>
                  <a:tcPr marL="0" marR="0" marT="0" marB="0">
                    <a:solidFill>
                      <a:srgbClr val="ECD3D9"/>
                    </a:solidFill>
                  </a:tcPr>
                </a:tc>
                <a:extLst>
                  <a:ext uri="{0D108BD9-81ED-4DB2-BD59-A6C34878D82A}">
                    <a16:rowId xmlns:a16="http://schemas.microsoft.com/office/drawing/2014/main" val="10032"/>
                  </a:ext>
                </a:extLst>
              </a:tr>
              <a:tr h="151200">
                <a:tc>
                  <a:txBody>
                    <a:bodyPr/>
                    <a:lstStyle/>
                    <a:p>
                      <a:pPr algn="l">
                        <a:defRPr sz="1000">
                          <a:latin typeface="Montserrat"/>
                        </a:defRPr>
                      </a:pPr>
                      <a:r>
                        <a:t>UMF-UMAA 76 Nuevo Laredo</a:t>
                      </a:r>
                    </a:p>
                  </a:txBody>
                  <a:tcPr marL="0" marR="0" marT="0" marB="0">
                    <a:solidFill>
                      <a:srgbClr val="FFFFFF"/>
                    </a:solidFill>
                  </a:tcPr>
                </a:tc>
                <a:tc>
                  <a:txBody>
                    <a:bodyPr/>
                    <a:lstStyle/>
                    <a:p>
                      <a:pPr algn="ctr">
                        <a:defRPr sz="1000">
                          <a:latin typeface="Montserrat"/>
                        </a:defRPr>
                      </a:pPr>
                      <a:r>
                        <a:t>121,649</a:t>
                      </a:r>
                    </a:p>
                  </a:txBody>
                  <a:tcPr marL="0" marR="0" marT="0" marB="0">
                    <a:solidFill>
                      <a:srgbClr val="FFFFFF"/>
                    </a:solidFill>
                  </a:tcPr>
                </a:tc>
                <a:tc>
                  <a:txBody>
                    <a:bodyPr/>
                    <a:lstStyle/>
                    <a:p>
                      <a:pPr algn="ctr">
                        <a:defRPr sz="1000">
                          <a:latin typeface="Montserrat"/>
                        </a:defRPr>
                      </a:pPr>
                      <a:r>
                        <a:t>10,756</a:t>
                      </a:r>
                    </a:p>
                  </a:txBody>
                  <a:tcPr marL="0" marR="0" marT="0" marB="0">
                    <a:solidFill>
                      <a:srgbClr val="FFFFFF"/>
                    </a:solidFill>
                  </a:tcPr>
                </a:tc>
                <a:tc>
                  <a:txBody>
                    <a:bodyPr/>
                    <a:lstStyle/>
                    <a:p>
                      <a:pPr algn="ctr">
                        <a:defRPr sz="1000">
                          <a:latin typeface="Montserrat"/>
                        </a:defRPr>
                      </a:pPr>
                      <a:r>
                        <a:t>57,751</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46.1%</a:t>
                      </a:r>
                    </a:p>
                  </a:txBody>
                  <a:tcPr marL="0" marR="0" marT="0" marB="0">
                    <a:solidFill>
                      <a:srgbClr val="ECD3D9"/>
                    </a:solidFill>
                  </a:tcPr>
                </a:tc>
                <a:extLst>
                  <a:ext uri="{0D108BD9-81ED-4DB2-BD59-A6C34878D82A}">
                    <a16:rowId xmlns:a16="http://schemas.microsoft.com/office/drawing/2014/main" val="10033"/>
                  </a:ext>
                </a:extLst>
              </a:tr>
              <a:tr h="151200">
                <a:tc>
                  <a:txBody>
                    <a:bodyPr/>
                    <a:lstStyle/>
                    <a:p>
                      <a:pPr algn="l">
                        <a:defRPr sz="1000">
                          <a:latin typeface="Montserrat"/>
                        </a:defRPr>
                      </a:pPr>
                      <a:r>
                        <a:t>UMF 41 Balcones de Alcalá</a:t>
                      </a:r>
                    </a:p>
                  </a:txBody>
                  <a:tcPr marL="0" marR="0" marT="0" marB="0">
                    <a:solidFill>
                      <a:srgbClr val="EFEFEF"/>
                    </a:solidFill>
                  </a:tcPr>
                </a:tc>
                <a:tc>
                  <a:txBody>
                    <a:bodyPr/>
                    <a:lstStyle/>
                    <a:p>
                      <a:pPr algn="ctr">
                        <a:defRPr sz="1000">
                          <a:latin typeface="Montserrat"/>
                        </a:defRPr>
                      </a:pPr>
                      <a:r>
                        <a:t>129,870</a:t>
                      </a:r>
                    </a:p>
                  </a:txBody>
                  <a:tcPr marL="0" marR="0" marT="0" marB="0">
                    <a:solidFill>
                      <a:srgbClr val="EFEFEF"/>
                    </a:solidFill>
                  </a:tcPr>
                </a:tc>
                <a:tc>
                  <a:txBody>
                    <a:bodyPr/>
                    <a:lstStyle/>
                    <a:p>
                      <a:pPr algn="ctr">
                        <a:defRPr sz="1000">
                          <a:latin typeface="Montserrat"/>
                        </a:defRPr>
                      </a:pPr>
                      <a:r>
                        <a:t>18,156</a:t>
                      </a:r>
                    </a:p>
                  </a:txBody>
                  <a:tcPr marL="0" marR="0" marT="0" marB="0">
                    <a:solidFill>
                      <a:srgbClr val="EFEFEF"/>
                    </a:solidFill>
                  </a:tcPr>
                </a:tc>
                <a:tc>
                  <a:txBody>
                    <a:bodyPr/>
                    <a:lstStyle/>
                    <a:p>
                      <a:pPr algn="ctr">
                        <a:defRPr sz="1000">
                          <a:latin typeface="Montserrat"/>
                        </a:defRPr>
                      </a:pPr>
                      <a:r>
                        <a:t>57,500</a:t>
                      </a:r>
                    </a:p>
                  </a:txBody>
                  <a:tcPr marL="0" marR="0" marT="0" marB="0">
                    <a:solidFill>
                      <a:srgbClr val="ECD3D9"/>
                    </a:solidFill>
                  </a:tcPr>
                </a:tc>
                <a:tc>
                  <a:txBody>
                    <a:bodyPr/>
                    <a:lstStyle/>
                    <a:p>
                      <a:pPr algn="ctr">
                        <a:defRPr sz="1000">
                          <a:latin typeface="Montserrat"/>
                        </a:defRPr>
                      </a:pPr>
                      <a:r>
                        <a:t>127,000</a:t>
                      </a:r>
                    </a:p>
                  </a:txBody>
                  <a:tcPr marL="0" marR="0" marT="0" marB="0">
                    <a:solidFill>
                      <a:srgbClr val="ECD3D9"/>
                    </a:solidFill>
                  </a:tcPr>
                </a:tc>
                <a:tc>
                  <a:txBody>
                    <a:bodyPr/>
                    <a:lstStyle/>
                    <a:p>
                      <a:pPr algn="ctr">
                        <a:defRPr sz="1000">
                          <a:latin typeface="Montserrat"/>
                        </a:defRPr>
                      </a:pPr>
                      <a:r>
                        <a:t>45.3%</a:t>
                      </a:r>
                    </a:p>
                  </a:txBody>
                  <a:tcPr marL="0" marR="0" marT="0" marB="0">
                    <a:solidFill>
                      <a:srgbClr val="ECD3D9"/>
                    </a:solidFill>
                  </a:tcPr>
                </a:tc>
                <a:extLst>
                  <a:ext uri="{0D108BD9-81ED-4DB2-BD59-A6C34878D82A}">
                    <a16:rowId xmlns:a16="http://schemas.microsoft.com/office/drawing/2014/main" val="10034"/>
                  </a:ext>
                </a:extLst>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1,599,459</a:t>
                      </a:r>
                    </a:p>
                  </a:txBody>
                  <a:tcPr marL="0" marR="0" marT="0" marB="0">
                    <a:solidFill>
                      <a:srgbClr val="D3E9E7"/>
                    </a:solidFill>
                  </a:tcPr>
                </a:tc>
                <a:tc>
                  <a:txBody>
                    <a:bodyPr/>
                    <a:lstStyle/>
                    <a:p>
                      <a:pPr algn="ctr">
                        <a:defRPr sz="1000" b="1">
                          <a:solidFill>
                            <a:srgbClr val="006556"/>
                          </a:solidFill>
                          <a:latin typeface="Montserrat"/>
                        </a:defRPr>
                      </a:pPr>
                      <a:r>
                        <a:t>269,139</a:t>
                      </a:r>
                    </a:p>
                  </a:txBody>
                  <a:tcPr marL="0" marR="0" marT="0" marB="0">
                    <a:solidFill>
                      <a:srgbClr val="D3E9E7"/>
                    </a:solidFill>
                  </a:tcPr>
                </a:tc>
                <a:tc>
                  <a:txBody>
                    <a:bodyPr/>
                    <a:lstStyle/>
                    <a:p>
                      <a:pPr algn="ctr">
                        <a:defRPr sz="1000" b="1">
                          <a:solidFill>
                            <a:srgbClr val="FFFFFF"/>
                          </a:solidFill>
                          <a:latin typeface="Montserrat"/>
                        </a:defRPr>
                      </a:pPr>
                      <a:r>
                        <a:t>764,783</a:t>
                      </a:r>
                    </a:p>
                  </a:txBody>
                  <a:tcPr marL="0" marR="0" marT="0" marB="0">
                    <a:solidFill>
                      <a:srgbClr val="9F2241"/>
                    </a:solidFill>
                  </a:tcPr>
                </a:tc>
                <a:tc>
                  <a:txBody>
                    <a:bodyPr/>
                    <a:lstStyle/>
                    <a:p>
                      <a:pPr algn="ctr">
                        <a:defRPr sz="1000" b="1">
                          <a:solidFill>
                            <a:srgbClr val="FFFFFF"/>
                          </a:solidFill>
                          <a:latin typeface="Montserrat"/>
                        </a:defRPr>
                      </a:pPr>
                      <a:r>
                        <a:t>1,627,840</a:t>
                      </a:r>
                    </a:p>
                  </a:txBody>
                  <a:tcPr marL="0" marR="0" marT="0" marB="0">
                    <a:solidFill>
                      <a:srgbClr val="9F2241"/>
                    </a:solidFill>
                  </a:tcPr>
                </a:tc>
                <a:tc>
                  <a:txBody>
                    <a:bodyPr/>
                    <a:lstStyle/>
                    <a:p>
                      <a:pPr algn="ctr">
                        <a:defRPr sz="1000" b="1">
                          <a:solidFill>
                            <a:srgbClr val="FFFFFF"/>
                          </a:solidFill>
                          <a:latin typeface="Montserrat"/>
                        </a:defRPr>
                      </a:pPr>
                      <a:r>
                        <a:t>47.0%</a:t>
                      </a:r>
                    </a:p>
                  </a:txBody>
                  <a:tcPr marL="0" marR="0" marT="0" marB="0">
                    <a:solidFill>
                      <a:srgbClr val="9F2241"/>
                    </a:solidFill>
                  </a:tcPr>
                </a:tc>
                <a:extLst>
                  <a:ext uri="{0D108BD9-81ED-4DB2-BD59-A6C34878D82A}">
                    <a16:rowId xmlns:a16="http://schemas.microsoft.com/office/drawing/2014/main" val="10035"/>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3169588073"/>
              </p:ext>
            </p:extLst>
          </p:nvPr>
        </p:nvGraphicFramePr>
        <p:xfrm>
          <a:off x="4780800" y="7976936"/>
          <a:ext cx="1523747" cy="167826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5058116" y="8575200"/>
            <a:ext cx="986167" cy="400110"/>
          </a:xfrm>
          <a:prstGeom prst="rect">
            <a:avLst/>
          </a:prstGeom>
          <a:noFill/>
        </p:spPr>
        <p:txBody>
          <a:bodyPr wrap="none">
            <a:spAutoFit/>
          </a:bodyPr>
          <a:lstStyle/>
          <a:p>
            <a:pPr algn="ctr"/>
            <a:r>
              <a:rPr sz="2000" b="1">
                <a:solidFill>
                  <a:srgbClr val="9F2241"/>
                </a:solidFill>
                <a:latin typeface="Montserrat"/>
              </a:rPr>
              <a:t>47.0%</a:t>
            </a:r>
          </a:p>
        </p:txBody>
      </p:sp>
      <p:sp>
        <p:nvSpPr>
          <p:cNvPr id="11" name="TextBox 10"/>
          <p:cNvSpPr txBox="1"/>
          <p:nvPr/>
        </p:nvSpPr>
        <p:spPr>
          <a:xfrm>
            <a:off x="5755407" y="864195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675140" y="8191896"/>
            <a:ext cx="2854800" cy="1077218"/>
          </a:xfrm>
          <a:prstGeom prst="rect">
            <a:avLst/>
          </a:prstGeom>
          <a:noFill/>
        </p:spPr>
        <p:txBody>
          <a:bodyPr wrap="square">
            <a:spAutoFit/>
          </a:bodyPr>
          <a:lstStyle/>
          <a:p>
            <a:pPr algn="ctr">
              <a:defRPr sz="3600" b="1">
                <a:solidFill>
                  <a:srgbClr val="9F2241"/>
                </a:solidFill>
                <a:latin typeface="Montserrat"/>
              </a:defRPr>
            </a:pPr>
            <a:r>
              <a:rPr sz="3200"/>
              <a:t>1,627,840 </a:t>
            </a:r>
            <a:br>
              <a:rPr sz="3200"/>
            </a:br>
            <a:r>
              <a:rPr sz="3200"/>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316" name="CuadroTexto 315">
            <a:extLst>
              <a:ext uri="{FF2B5EF4-FFF2-40B4-BE49-F238E27FC236}">
                <a16:creationId xmlns:a16="http://schemas.microsoft.com/office/drawing/2014/main" id="{D9F31008-9FFC-2E06-821E-01FD7ED7822D}"/>
              </a:ext>
            </a:extLst>
          </p:cNvPr>
          <p:cNvSpPr txBox="1"/>
          <p:nvPr/>
        </p:nvSpPr>
        <p:spPr>
          <a:xfrm>
            <a:off x="4362328" y="5355106"/>
            <a:ext cx="3006672" cy="1015663"/>
          </a:xfrm>
          <a:prstGeom prst="rect">
            <a:avLst/>
          </a:prstGeom>
          <a:noFill/>
        </p:spPr>
        <p:txBody>
          <a:bodyPr wrap="square">
            <a:spAutoFit/>
          </a:bodyPr>
          <a:lstStyle/>
          <a:p>
            <a:pPr algn="ctr">
              <a:defRPr sz="2000" b="1">
                <a:solidFill>
                  <a:srgbClr val="5B0F00"/>
                </a:solidFill>
                <a:latin typeface="Montserrat"/>
              </a:defRPr>
            </a:pPr>
            <a:r>
              <a:rPr lang="es-MX"/>
              <a:t>Proyectos 2026</a:t>
            </a:r>
          </a:p>
          <a:p>
            <a:pPr algn="ctr">
              <a:defRPr sz="2000" b="1">
                <a:solidFill>
                  <a:srgbClr val="5B0F00"/>
                </a:solidFill>
                <a:latin typeface="Montserrat"/>
              </a:defRPr>
            </a:pPr>
            <a:r>
              <a:rPr lang="es-MX"/>
              <a:t>4 Nuevas UMTC con   7 consultorios</a:t>
            </a:r>
          </a:p>
        </p:txBody>
      </p:sp>
      <p:sp>
        <p:nvSpPr>
          <p:cNvPr id="317" name="CuadroTexto 316">
            <a:extLst>
              <a:ext uri="{FF2B5EF4-FFF2-40B4-BE49-F238E27FC236}">
                <a16:creationId xmlns:a16="http://schemas.microsoft.com/office/drawing/2014/main" id="{F95BCF7C-8897-CBB8-0345-4FA6908826F5}"/>
              </a:ext>
            </a:extLst>
          </p:cNvPr>
          <p:cNvSpPr txBox="1"/>
          <p:nvPr/>
        </p:nvSpPr>
        <p:spPr>
          <a:xfrm>
            <a:off x="4362327" y="6495146"/>
            <a:ext cx="3454851" cy="954107"/>
          </a:xfrm>
          <a:prstGeom prst="rect">
            <a:avLst/>
          </a:prstGeom>
          <a:noFill/>
        </p:spPr>
        <p:txBody>
          <a:bodyPr wrap="square">
            <a:spAutoFit/>
          </a:bodyPr>
          <a:lstStyle/>
          <a:p>
            <a:pPr marL="342900" indent="-342900">
              <a:buFont typeface="+mj-lt"/>
              <a:buAutoNum type="arabicParenR"/>
            </a:pPr>
            <a:r>
              <a:rPr lang="es-MX">
                <a:latin typeface="Montserrat" panose="00000500000000000000" pitchFamily="2" charset="0"/>
              </a:rPr>
              <a:t>UMF 41 Balcones de Alcalá</a:t>
            </a:r>
          </a:p>
          <a:p>
            <a:pPr marL="342900" indent="-342900">
              <a:buFont typeface="+mj-lt"/>
              <a:buAutoNum type="arabicParenR"/>
            </a:pPr>
            <a:r>
              <a:rPr lang="es-MX">
                <a:latin typeface="Montserrat" panose="00000500000000000000" pitchFamily="2" charset="0"/>
              </a:rPr>
              <a:t>UMF-UMAA 76 Nuevo Laredo</a:t>
            </a:r>
          </a:p>
          <a:p>
            <a:pPr marL="342900" indent="-342900">
              <a:buFont typeface="+mj-lt"/>
              <a:buAutoNum type="arabicParenR"/>
            </a:pPr>
            <a:r>
              <a:rPr lang="es-MX">
                <a:latin typeface="Montserrat" panose="00000500000000000000" pitchFamily="2" charset="0"/>
              </a:rPr>
              <a:t>UMF 67 Ciudad Victoria c/</a:t>
            </a:r>
            <a:r>
              <a:rPr lang="es-MX" err="1">
                <a:latin typeface="Montserrat" panose="00000500000000000000" pitchFamily="2" charset="0"/>
              </a:rPr>
              <a:t>Rehab</a:t>
            </a:r>
            <a:endParaRPr lang="es-MX">
              <a:latin typeface="Montserrat" panose="00000500000000000000" pitchFamily="2" charset="0"/>
            </a:endParaRPr>
          </a:p>
          <a:p>
            <a:pPr marL="342900" indent="-342900">
              <a:buFont typeface="+mj-lt"/>
              <a:buAutoNum type="arabicParenR"/>
            </a:pPr>
            <a:r>
              <a:rPr lang="es-MX">
                <a:latin typeface="Montserrat" panose="00000500000000000000" pitchFamily="2" charset="0"/>
              </a:rPr>
              <a:t>UMF 10 Altamira</a:t>
            </a:r>
          </a:p>
        </p:txBody>
      </p:sp>
      <p:sp>
        <p:nvSpPr>
          <p:cNvPr id="318" name="TextBox 3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19" name="TextBox 3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42 Unidades de Medicina Familiar</a:t>
            </a:r>
          </a:p>
        </p:txBody>
      </p:sp>
      <p:sp>
        <p:nvSpPr>
          <p:cNvPr id="320" name="TextBox 31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21" name="TextBox 320"/>
          <p:cNvSpPr txBox="1"/>
          <p:nvPr/>
        </p:nvSpPr>
        <p:spPr>
          <a:xfrm>
            <a:off x="125999" y="1516078"/>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22" name="Connector 3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23" name="TextBox 322"/>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324" name="TextBox 32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(289,971 consultas)</a:t>
            </a:r>
          </a:p>
        </p:txBody>
      </p:sp>
      <p:graphicFrame>
        <p:nvGraphicFramePr>
          <p:cNvPr id="325" name="Table 324"/>
          <p:cNvGraphicFramePr>
            <a:graphicFrameLocks noGrp="1"/>
          </p:cNvGraphicFramePr>
          <p:nvPr>
            <p:extLst>
              <p:ext uri="{D42A27DB-BD31-4B8C-83A1-F6EECF244321}">
                <p14:modId xmlns:p14="http://schemas.microsoft.com/office/powerpoint/2010/main" val="2367288570"/>
              </p:ext>
            </p:extLst>
          </p:nvPr>
        </p:nvGraphicFramePr>
        <p:xfrm>
          <a:off x="151200" y="1876078"/>
          <a:ext cx="7473599" cy="2267046"/>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508131">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95435">
                <a:tc>
                  <a:txBody>
                    <a:bodyPr/>
                    <a:lstStyle/>
                    <a:p>
                      <a:pPr algn="l">
                        <a:defRPr sz="1000">
                          <a:solidFill>
                            <a:srgbClr val="000000"/>
                          </a:solidFill>
                          <a:latin typeface="Montserrat"/>
                        </a:defRPr>
                      </a:pPr>
                      <a:r>
                        <a:t>UMF 17 Río Bravo</a:t>
                      </a:r>
                    </a:p>
                  </a:txBody>
                  <a:tcPr marL="0" marR="0" marT="0" marB="0">
                    <a:solidFill>
                      <a:srgbClr val="FFFFFF"/>
                    </a:solidFill>
                  </a:tcPr>
                </a:tc>
                <a:tc>
                  <a:txBody>
                    <a:bodyPr/>
                    <a:lstStyle/>
                    <a:p>
                      <a:pPr algn="ctr">
                        <a:defRPr sz="1000">
                          <a:solidFill>
                            <a:srgbClr val="000000"/>
                          </a:solidFill>
                          <a:latin typeface="Montserrat"/>
                        </a:defRPr>
                      </a:pPr>
                      <a:r>
                        <a:t>128,229</a:t>
                      </a:r>
                    </a:p>
                  </a:txBody>
                  <a:tcPr marL="0" marR="0" marT="0" marB="0">
                    <a:solidFill>
                      <a:srgbClr val="FFFFFF"/>
                    </a:solidFill>
                  </a:tcPr>
                </a:tc>
                <a:tc>
                  <a:txBody>
                    <a:bodyPr/>
                    <a:lstStyle/>
                    <a:p>
                      <a:pPr algn="ctr">
                        <a:defRPr sz="1000">
                          <a:solidFill>
                            <a:srgbClr val="000000"/>
                          </a:solidFill>
                          <a:latin typeface="Montserrat"/>
                        </a:defRPr>
                      </a:pPr>
                      <a:r>
                        <a:t>21,505</a:t>
                      </a:r>
                    </a:p>
                  </a:txBody>
                  <a:tcPr marL="0" marR="0" marT="0" marB="0">
                    <a:solidFill>
                      <a:srgbClr val="FFFFFF"/>
                    </a:solidFill>
                  </a:tcPr>
                </a:tc>
                <a:tc>
                  <a:txBody>
                    <a:bodyPr/>
                    <a:lstStyle/>
                    <a:p>
                      <a:pPr algn="ctr">
                        <a:defRPr sz="1000">
                          <a:solidFill>
                            <a:srgbClr val="000000"/>
                          </a:solidFill>
                          <a:latin typeface="Montserrat"/>
                        </a:defRPr>
                      </a:pPr>
                      <a:r>
                        <a:t>61,263</a:t>
                      </a:r>
                    </a:p>
                  </a:txBody>
                  <a:tcPr marL="0" marR="0" marT="0" marB="0">
                    <a:solidFill>
                      <a:srgbClr val="ECD3D9"/>
                    </a:solidFill>
                  </a:tcPr>
                </a:tc>
                <a:tc>
                  <a:txBody>
                    <a:bodyPr/>
                    <a:lstStyle/>
                    <a:p>
                      <a:pPr algn="ctr">
                        <a:defRPr sz="1000">
                          <a:solidFill>
                            <a:srgbClr val="000000"/>
                          </a:solidFill>
                          <a:latin typeface="Montserrat"/>
                        </a:defRPr>
                      </a:pPr>
                      <a:r>
                        <a:t>125,000</a:t>
                      </a:r>
                    </a:p>
                  </a:txBody>
                  <a:tcPr marL="0" marR="0" marT="0" marB="0">
                    <a:solidFill>
                      <a:srgbClr val="ECD3D9"/>
                    </a:solidFill>
                  </a:tcPr>
                </a:tc>
                <a:tc>
                  <a:txBody>
                    <a:bodyPr/>
                    <a:lstStyle/>
                    <a:p>
                      <a:pPr algn="ctr">
                        <a:defRPr sz="1000">
                          <a:solidFill>
                            <a:srgbClr val="000000"/>
                          </a:solidFill>
                          <a:latin typeface="Montserrat"/>
                        </a:defRPr>
                      </a:pPr>
                      <a:r>
                        <a:t>49.0%</a:t>
                      </a:r>
                    </a:p>
                  </a:txBody>
                  <a:tcPr marL="0" marR="0" marT="0" marB="0">
                    <a:solidFill>
                      <a:srgbClr val="ECD3D9"/>
                    </a:solidFill>
                  </a:tcPr>
                </a:tc>
                <a:extLst>
                  <a:ext uri="{0D108BD9-81ED-4DB2-BD59-A6C34878D82A}">
                    <a16:rowId xmlns:a16="http://schemas.microsoft.com/office/drawing/2014/main" val="10001"/>
                  </a:ext>
                </a:extLst>
              </a:tr>
              <a:tr h="195435">
                <a:tc>
                  <a:txBody>
                    <a:bodyPr/>
                    <a:lstStyle/>
                    <a:p>
                      <a:pPr algn="l">
                        <a:defRPr sz="1000">
                          <a:solidFill>
                            <a:srgbClr val="000000"/>
                          </a:solidFill>
                          <a:latin typeface="Montserrat"/>
                        </a:defRPr>
                      </a:pPr>
                      <a:r>
                        <a:t>UMF 77 Ciudad Madero</a:t>
                      </a:r>
                    </a:p>
                  </a:txBody>
                  <a:tcPr marL="0" marR="0" marT="0" marB="0">
                    <a:solidFill>
                      <a:srgbClr val="EFEFEF"/>
                    </a:solidFill>
                  </a:tcPr>
                </a:tc>
                <a:tc>
                  <a:txBody>
                    <a:bodyPr/>
                    <a:lstStyle/>
                    <a:p>
                      <a:pPr algn="ctr">
                        <a:defRPr sz="1000">
                          <a:solidFill>
                            <a:srgbClr val="000000"/>
                          </a:solidFill>
                          <a:latin typeface="Montserrat"/>
                        </a:defRPr>
                      </a:pPr>
                      <a:r>
                        <a:t>594,464</a:t>
                      </a:r>
                    </a:p>
                  </a:txBody>
                  <a:tcPr marL="0" marR="0" marT="0" marB="0">
                    <a:solidFill>
                      <a:srgbClr val="EFEFEF"/>
                    </a:solidFill>
                  </a:tcPr>
                </a:tc>
                <a:tc>
                  <a:txBody>
                    <a:bodyPr/>
                    <a:lstStyle/>
                    <a:p>
                      <a:pPr algn="ctr">
                        <a:defRPr sz="1000">
                          <a:solidFill>
                            <a:srgbClr val="000000"/>
                          </a:solidFill>
                          <a:latin typeface="Montserrat"/>
                        </a:defRPr>
                      </a:pPr>
                      <a:r>
                        <a:t>118,090</a:t>
                      </a:r>
                    </a:p>
                  </a:txBody>
                  <a:tcPr marL="0" marR="0" marT="0" marB="0">
                    <a:solidFill>
                      <a:srgbClr val="EFEFEF"/>
                    </a:solidFill>
                  </a:tcPr>
                </a:tc>
                <a:tc>
                  <a:txBody>
                    <a:bodyPr/>
                    <a:lstStyle/>
                    <a:p>
                      <a:pPr algn="ctr">
                        <a:defRPr sz="1000">
                          <a:solidFill>
                            <a:srgbClr val="000000"/>
                          </a:solidFill>
                          <a:latin typeface="Montserrat"/>
                        </a:defRPr>
                      </a:pPr>
                      <a:r>
                        <a:t>270,046</a:t>
                      </a:r>
                    </a:p>
                  </a:txBody>
                  <a:tcPr marL="0" marR="0" marT="0" marB="0">
                    <a:solidFill>
                      <a:srgbClr val="ECD3D9"/>
                    </a:solidFill>
                  </a:tcPr>
                </a:tc>
                <a:tc>
                  <a:txBody>
                    <a:bodyPr/>
                    <a:lstStyle/>
                    <a:p>
                      <a:pPr algn="ctr">
                        <a:defRPr sz="1000">
                          <a:solidFill>
                            <a:srgbClr val="000000"/>
                          </a:solidFill>
                          <a:latin typeface="Montserrat"/>
                        </a:defRPr>
                      </a:pPr>
                      <a:r>
                        <a:t>570,000</a:t>
                      </a:r>
                    </a:p>
                  </a:txBody>
                  <a:tcPr marL="0" marR="0" marT="0" marB="0">
                    <a:solidFill>
                      <a:srgbClr val="ECD3D9"/>
                    </a:solidFill>
                  </a:tcPr>
                </a:tc>
                <a:tc>
                  <a:txBody>
                    <a:bodyPr/>
                    <a:lstStyle/>
                    <a:p>
                      <a:pPr algn="ctr">
                        <a:defRPr sz="1000">
                          <a:solidFill>
                            <a:srgbClr val="000000"/>
                          </a:solidFill>
                          <a:latin typeface="Montserrat"/>
                        </a:defRPr>
                      </a:pPr>
                      <a:r>
                        <a:t>47.4%</a:t>
                      </a:r>
                    </a:p>
                  </a:txBody>
                  <a:tcPr marL="0" marR="0" marT="0" marB="0">
                    <a:solidFill>
                      <a:srgbClr val="ECD3D9"/>
                    </a:solidFill>
                  </a:tcPr>
                </a:tc>
                <a:extLst>
                  <a:ext uri="{0D108BD9-81ED-4DB2-BD59-A6C34878D82A}">
                    <a16:rowId xmlns:a16="http://schemas.microsoft.com/office/drawing/2014/main" val="10002"/>
                  </a:ext>
                </a:extLst>
              </a:tr>
              <a:tr h="195435">
                <a:tc>
                  <a:txBody>
                    <a:bodyPr/>
                    <a:lstStyle/>
                    <a:p>
                      <a:pPr algn="l">
                        <a:defRPr sz="1000">
                          <a:solidFill>
                            <a:srgbClr val="000000"/>
                          </a:solidFill>
                          <a:latin typeface="Montserrat"/>
                        </a:defRPr>
                      </a:pPr>
                      <a:r>
                        <a:t>UMF 78 Nuevo Laredo</a:t>
                      </a:r>
                    </a:p>
                  </a:txBody>
                  <a:tcPr marL="0" marR="0" marT="0" marB="0">
                    <a:solidFill>
                      <a:srgbClr val="FFFFFF"/>
                    </a:solidFill>
                  </a:tcPr>
                </a:tc>
                <a:tc>
                  <a:txBody>
                    <a:bodyPr/>
                    <a:lstStyle/>
                    <a:p>
                      <a:pPr algn="ctr">
                        <a:defRPr sz="1000">
                          <a:solidFill>
                            <a:srgbClr val="000000"/>
                          </a:solidFill>
                          <a:latin typeface="Montserrat"/>
                        </a:defRPr>
                      </a:pPr>
                      <a:r>
                        <a:t>422,019</a:t>
                      </a:r>
                    </a:p>
                  </a:txBody>
                  <a:tcPr marL="0" marR="0" marT="0" marB="0">
                    <a:solidFill>
                      <a:srgbClr val="FFFFFF"/>
                    </a:solidFill>
                  </a:tcPr>
                </a:tc>
                <a:tc>
                  <a:txBody>
                    <a:bodyPr/>
                    <a:lstStyle/>
                    <a:p>
                      <a:pPr algn="ctr">
                        <a:defRPr sz="1000">
                          <a:solidFill>
                            <a:srgbClr val="000000"/>
                          </a:solidFill>
                          <a:latin typeface="Montserrat"/>
                        </a:defRPr>
                      </a:pPr>
                      <a:r>
                        <a:t>74,549</a:t>
                      </a:r>
                    </a:p>
                  </a:txBody>
                  <a:tcPr marL="0" marR="0" marT="0" marB="0">
                    <a:solidFill>
                      <a:srgbClr val="FFFFFF"/>
                    </a:solidFill>
                  </a:tcPr>
                </a:tc>
                <a:tc>
                  <a:txBody>
                    <a:bodyPr/>
                    <a:lstStyle/>
                    <a:p>
                      <a:pPr algn="ctr">
                        <a:defRPr sz="1000">
                          <a:solidFill>
                            <a:srgbClr val="000000"/>
                          </a:solidFill>
                          <a:latin typeface="Montserrat"/>
                        </a:defRPr>
                      </a:pPr>
                      <a:r>
                        <a:t>176,808</a:t>
                      </a:r>
                    </a:p>
                  </a:txBody>
                  <a:tcPr marL="0" marR="0" marT="0" marB="0">
                    <a:solidFill>
                      <a:srgbClr val="ECD3D9"/>
                    </a:solidFill>
                  </a:tcPr>
                </a:tc>
                <a:tc>
                  <a:txBody>
                    <a:bodyPr/>
                    <a:lstStyle/>
                    <a:p>
                      <a:pPr algn="ctr">
                        <a:defRPr sz="1000">
                          <a:solidFill>
                            <a:srgbClr val="000000"/>
                          </a:solidFill>
                          <a:latin typeface="Montserrat"/>
                        </a:defRPr>
                      </a:pPr>
                      <a:r>
                        <a:t>409,000</a:t>
                      </a:r>
                    </a:p>
                  </a:txBody>
                  <a:tcPr marL="0" marR="0" marT="0" marB="0">
                    <a:solidFill>
                      <a:srgbClr val="ECD3D9"/>
                    </a:solidFill>
                  </a:tcPr>
                </a:tc>
                <a:tc>
                  <a:txBody>
                    <a:bodyPr/>
                    <a:lstStyle/>
                    <a:p>
                      <a:pPr algn="ctr">
                        <a:defRPr sz="1000">
                          <a:solidFill>
                            <a:srgbClr val="000000"/>
                          </a:solidFill>
                          <a:latin typeface="Montserrat"/>
                        </a:defRPr>
                      </a:pPr>
                      <a:r>
                        <a:t>43.2%</a:t>
                      </a:r>
                    </a:p>
                  </a:txBody>
                  <a:tcPr marL="0" marR="0" marT="0" marB="0">
                    <a:solidFill>
                      <a:srgbClr val="ECD3D9"/>
                    </a:solidFill>
                  </a:tcPr>
                </a:tc>
                <a:extLst>
                  <a:ext uri="{0D108BD9-81ED-4DB2-BD59-A6C34878D82A}">
                    <a16:rowId xmlns:a16="http://schemas.microsoft.com/office/drawing/2014/main" val="10003"/>
                  </a:ext>
                </a:extLst>
              </a:tr>
              <a:tr h="195435">
                <a:tc>
                  <a:txBody>
                    <a:bodyPr/>
                    <a:lstStyle/>
                    <a:p>
                      <a:pPr algn="l">
                        <a:defRPr sz="1000">
                          <a:solidFill>
                            <a:srgbClr val="000000"/>
                          </a:solidFill>
                          <a:latin typeface="Montserrat"/>
                        </a:defRPr>
                      </a:pPr>
                      <a:r>
                        <a:t>UMF 33 Ciudad Reynosa</a:t>
                      </a:r>
                    </a:p>
                  </a:txBody>
                  <a:tcPr marL="0" marR="0" marT="0" marB="0">
                    <a:solidFill>
                      <a:srgbClr val="EFEFEF"/>
                    </a:solidFill>
                  </a:tcPr>
                </a:tc>
                <a:tc>
                  <a:txBody>
                    <a:bodyPr/>
                    <a:lstStyle/>
                    <a:p>
                      <a:pPr algn="ctr">
                        <a:defRPr sz="1000">
                          <a:solidFill>
                            <a:srgbClr val="000000"/>
                          </a:solidFill>
                          <a:latin typeface="Montserrat"/>
                        </a:defRPr>
                      </a:pPr>
                      <a:r>
                        <a:t>447,334</a:t>
                      </a:r>
                    </a:p>
                  </a:txBody>
                  <a:tcPr marL="0" marR="0" marT="0" marB="0">
                    <a:solidFill>
                      <a:srgbClr val="EFEFEF"/>
                    </a:solidFill>
                  </a:tcPr>
                </a:tc>
                <a:tc>
                  <a:txBody>
                    <a:bodyPr/>
                    <a:lstStyle/>
                    <a:p>
                      <a:pPr algn="ctr">
                        <a:defRPr sz="1000">
                          <a:solidFill>
                            <a:srgbClr val="000000"/>
                          </a:solidFill>
                          <a:latin typeface="Montserrat"/>
                        </a:defRPr>
                      </a:pPr>
                      <a:r>
                        <a:t>87,311</a:t>
                      </a:r>
                    </a:p>
                  </a:txBody>
                  <a:tcPr marL="0" marR="0" marT="0" marB="0">
                    <a:solidFill>
                      <a:srgbClr val="EFEFEF"/>
                    </a:solidFill>
                  </a:tcPr>
                </a:tc>
                <a:tc>
                  <a:txBody>
                    <a:bodyPr/>
                    <a:lstStyle/>
                    <a:p>
                      <a:pPr algn="ctr">
                        <a:defRPr sz="1000">
                          <a:solidFill>
                            <a:srgbClr val="000000"/>
                          </a:solidFill>
                          <a:latin typeface="Montserrat"/>
                        </a:defRPr>
                      </a:pPr>
                      <a:r>
                        <a:t>230,314</a:t>
                      </a:r>
                    </a:p>
                  </a:txBody>
                  <a:tcPr marL="0" marR="0" marT="0" marB="0">
                    <a:solidFill>
                      <a:srgbClr val="ECD3D9"/>
                    </a:solidFill>
                  </a:tcPr>
                </a:tc>
                <a:tc>
                  <a:txBody>
                    <a:bodyPr/>
                    <a:lstStyle/>
                    <a:p>
                      <a:pPr algn="ctr">
                        <a:defRPr sz="1000">
                          <a:solidFill>
                            <a:srgbClr val="000000"/>
                          </a:solidFill>
                          <a:latin typeface="Montserrat"/>
                        </a:defRPr>
                      </a:pPr>
                      <a:r>
                        <a:t>432,000</a:t>
                      </a:r>
                    </a:p>
                  </a:txBody>
                  <a:tcPr marL="0" marR="0" marT="0" marB="0">
                    <a:solidFill>
                      <a:srgbClr val="ECD3D9"/>
                    </a:solidFill>
                  </a:tcPr>
                </a:tc>
                <a:tc>
                  <a:txBody>
                    <a:bodyPr/>
                    <a:lstStyle/>
                    <a:p>
                      <a:pPr algn="ctr">
                        <a:defRPr sz="1000">
                          <a:solidFill>
                            <a:srgbClr val="000000"/>
                          </a:solidFill>
                          <a:latin typeface="Montserrat"/>
                        </a:defRPr>
                      </a:pPr>
                      <a:r>
                        <a:t>53.3%</a:t>
                      </a:r>
                    </a:p>
                  </a:txBody>
                  <a:tcPr marL="0" marR="0" marT="0" marB="0">
                    <a:solidFill>
                      <a:srgbClr val="ECD3D9"/>
                    </a:solidFill>
                  </a:tcPr>
                </a:tc>
                <a:extLst>
                  <a:ext uri="{0D108BD9-81ED-4DB2-BD59-A6C34878D82A}">
                    <a16:rowId xmlns:a16="http://schemas.microsoft.com/office/drawing/2014/main" val="10004"/>
                  </a:ext>
                </a:extLst>
              </a:tr>
              <a:tr h="195435">
                <a:tc>
                  <a:txBody>
                    <a:bodyPr/>
                    <a:lstStyle/>
                    <a:p>
                      <a:pPr algn="l">
                        <a:defRPr sz="1000">
                          <a:solidFill>
                            <a:srgbClr val="000000"/>
                          </a:solidFill>
                          <a:latin typeface="Montserrat"/>
                        </a:defRPr>
                      </a:pPr>
                      <a:r>
                        <a:t>UMF 38 Tampico</a:t>
                      </a:r>
                    </a:p>
                  </a:txBody>
                  <a:tcPr marL="0" marR="0" marT="0" marB="0">
                    <a:solidFill>
                      <a:srgbClr val="FFFFFF"/>
                    </a:solidFill>
                  </a:tcPr>
                </a:tc>
                <a:tc>
                  <a:txBody>
                    <a:bodyPr/>
                    <a:lstStyle/>
                    <a:p>
                      <a:pPr algn="ctr">
                        <a:defRPr sz="1000">
                          <a:solidFill>
                            <a:srgbClr val="000000"/>
                          </a:solidFill>
                          <a:latin typeface="Montserrat"/>
                        </a:defRPr>
                      </a:pPr>
                      <a:r>
                        <a:t>187,810</a:t>
                      </a:r>
                    </a:p>
                  </a:txBody>
                  <a:tcPr marL="0" marR="0" marT="0" marB="0">
                    <a:solidFill>
                      <a:srgbClr val="FFFFFF"/>
                    </a:solidFill>
                  </a:tcPr>
                </a:tc>
                <a:tc>
                  <a:txBody>
                    <a:bodyPr/>
                    <a:lstStyle/>
                    <a:p>
                      <a:pPr algn="ctr">
                        <a:defRPr sz="1000">
                          <a:solidFill>
                            <a:srgbClr val="000000"/>
                          </a:solidFill>
                          <a:latin typeface="Montserrat"/>
                        </a:defRPr>
                      </a:pPr>
                      <a:r>
                        <a:t>35,985</a:t>
                      </a:r>
                    </a:p>
                  </a:txBody>
                  <a:tcPr marL="0" marR="0" marT="0" marB="0">
                    <a:solidFill>
                      <a:srgbClr val="FFFFFF"/>
                    </a:solidFill>
                  </a:tcPr>
                </a:tc>
                <a:tc>
                  <a:txBody>
                    <a:bodyPr/>
                    <a:lstStyle/>
                    <a:p>
                      <a:pPr algn="ctr">
                        <a:defRPr sz="1000">
                          <a:solidFill>
                            <a:srgbClr val="000000"/>
                          </a:solidFill>
                          <a:latin typeface="Montserrat"/>
                        </a:defRPr>
                      </a:pPr>
                      <a:r>
                        <a:t>83,555</a:t>
                      </a:r>
                    </a:p>
                  </a:txBody>
                  <a:tcPr marL="0" marR="0" marT="0" marB="0">
                    <a:solidFill>
                      <a:srgbClr val="ECD3D9"/>
                    </a:solidFill>
                  </a:tcPr>
                </a:tc>
                <a:tc>
                  <a:txBody>
                    <a:bodyPr/>
                    <a:lstStyle/>
                    <a:p>
                      <a:pPr algn="ctr">
                        <a:defRPr sz="1000">
                          <a:solidFill>
                            <a:srgbClr val="000000"/>
                          </a:solidFill>
                          <a:latin typeface="Montserrat"/>
                        </a:defRPr>
                      </a:pPr>
                      <a:r>
                        <a:t>183,000</a:t>
                      </a:r>
                    </a:p>
                  </a:txBody>
                  <a:tcPr marL="0" marR="0" marT="0" marB="0">
                    <a:solidFill>
                      <a:srgbClr val="ECD3D9"/>
                    </a:solidFill>
                  </a:tcPr>
                </a:tc>
                <a:tc>
                  <a:txBody>
                    <a:bodyPr/>
                    <a:lstStyle/>
                    <a:p>
                      <a:pPr algn="ctr">
                        <a:defRPr sz="1000">
                          <a:solidFill>
                            <a:srgbClr val="000000"/>
                          </a:solidFill>
                          <a:latin typeface="Montserrat"/>
                        </a:defRPr>
                      </a:pPr>
                      <a:r>
                        <a:t>45.7%</a:t>
                      </a:r>
                    </a:p>
                  </a:txBody>
                  <a:tcPr marL="0" marR="0" marT="0" marB="0">
                    <a:solidFill>
                      <a:srgbClr val="ECD3D9"/>
                    </a:solidFill>
                  </a:tcPr>
                </a:tc>
                <a:extLst>
                  <a:ext uri="{0D108BD9-81ED-4DB2-BD59-A6C34878D82A}">
                    <a16:rowId xmlns:a16="http://schemas.microsoft.com/office/drawing/2014/main" val="10005"/>
                  </a:ext>
                </a:extLst>
              </a:tr>
              <a:tr h="195435">
                <a:tc>
                  <a:txBody>
                    <a:bodyPr/>
                    <a:lstStyle/>
                    <a:p>
                      <a:pPr algn="l">
                        <a:defRPr sz="1000">
                          <a:solidFill>
                            <a:srgbClr val="000000"/>
                          </a:solidFill>
                          <a:latin typeface="Montserrat"/>
                        </a:defRPr>
                      </a:pPr>
                      <a:r>
                        <a:t>UMF 40 Jarachina</a:t>
                      </a:r>
                    </a:p>
                  </a:txBody>
                  <a:tcPr marL="0" marR="0" marT="0" marB="0">
                    <a:solidFill>
                      <a:srgbClr val="EFEFEF"/>
                    </a:solidFill>
                  </a:tcPr>
                </a:tc>
                <a:tc>
                  <a:txBody>
                    <a:bodyPr/>
                    <a:lstStyle/>
                    <a:p>
                      <a:pPr algn="ctr">
                        <a:defRPr sz="1000">
                          <a:solidFill>
                            <a:srgbClr val="000000"/>
                          </a:solidFill>
                          <a:latin typeface="Montserrat"/>
                        </a:defRPr>
                      </a:pPr>
                      <a:r>
                        <a:t>171,461</a:t>
                      </a:r>
                    </a:p>
                  </a:txBody>
                  <a:tcPr marL="0" marR="0" marT="0" marB="0">
                    <a:solidFill>
                      <a:srgbClr val="EFEFEF"/>
                    </a:solidFill>
                  </a:tcPr>
                </a:tc>
                <a:tc>
                  <a:txBody>
                    <a:bodyPr/>
                    <a:lstStyle/>
                    <a:p>
                      <a:pPr algn="ctr">
                        <a:defRPr sz="1000">
                          <a:solidFill>
                            <a:srgbClr val="000000"/>
                          </a:solidFill>
                          <a:latin typeface="Montserrat"/>
                        </a:defRPr>
                      </a:pPr>
                      <a:r>
                        <a:t>28,082</a:t>
                      </a:r>
                    </a:p>
                  </a:txBody>
                  <a:tcPr marL="0" marR="0" marT="0" marB="0">
                    <a:solidFill>
                      <a:srgbClr val="EFEFEF"/>
                    </a:solidFill>
                  </a:tcPr>
                </a:tc>
                <a:tc>
                  <a:txBody>
                    <a:bodyPr/>
                    <a:lstStyle/>
                    <a:p>
                      <a:pPr algn="ctr">
                        <a:defRPr sz="1000">
                          <a:solidFill>
                            <a:srgbClr val="000000"/>
                          </a:solidFill>
                          <a:latin typeface="Montserrat"/>
                        </a:defRPr>
                      </a:pPr>
                      <a:r>
                        <a:t>81,756</a:t>
                      </a:r>
                    </a:p>
                  </a:txBody>
                  <a:tcPr marL="0" marR="0" marT="0" marB="0">
                    <a:solidFill>
                      <a:srgbClr val="ECD3D9"/>
                    </a:solidFill>
                  </a:tcPr>
                </a:tc>
                <a:tc>
                  <a:txBody>
                    <a:bodyPr/>
                    <a:lstStyle/>
                    <a:p>
                      <a:pPr algn="ctr">
                        <a:defRPr sz="1000">
                          <a:solidFill>
                            <a:srgbClr val="000000"/>
                          </a:solidFill>
                          <a:latin typeface="Montserrat"/>
                        </a:defRPr>
                      </a:pPr>
                      <a:r>
                        <a:t>165,000</a:t>
                      </a:r>
                    </a:p>
                  </a:txBody>
                  <a:tcPr marL="0" marR="0" marT="0" marB="0">
                    <a:solidFill>
                      <a:srgbClr val="ECD3D9"/>
                    </a:solidFill>
                  </a:tcPr>
                </a:tc>
                <a:tc>
                  <a:txBody>
                    <a:bodyPr/>
                    <a:lstStyle/>
                    <a:p>
                      <a:pPr algn="ctr">
                        <a:defRPr sz="1000">
                          <a:solidFill>
                            <a:srgbClr val="000000"/>
                          </a:solidFill>
                          <a:latin typeface="Montserrat"/>
                        </a:defRPr>
                      </a:pPr>
                      <a:r>
                        <a:t>49.5%</a:t>
                      </a:r>
                    </a:p>
                  </a:txBody>
                  <a:tcPr marL="0" marR="0" marT="0" marB="0">
                    <a:solidFill>
                      <a:srgbClr val="ECD3D9"/>
                    </a:solidFill>
                  </a:tcPr>
                </a:tc>
                <a:extLst>
                  <a:ext uri="{0D108BD9-81ED-4DB2-BD59-A6C34878D82A}">
                    <a16:rowId xmlns:a16="http://schemas.microsoft.com/office/drawing/2014/main" val="10006"/>
                  </a:ext>
                </a:extLst>
              </a:tr>
              <a:tr h="195435">
                <a:tc>
                  <a:txBody>
                    <a:bodyPr/>
                    <a:lstStyle/>
                    <a:p>
                      <a:pPr algn="l">
                        <a:defRPr sz="1000">
                          <a:solidFill>
                            <a:srgbClr val="000000"/>
                          </a:solidFill>
                          <a:latin typeface="Montserrat"/>
                        </a:defRPr>
                      </a:pPr>
                      <a:r>
                        <a:t>UMF 16 Altamira</a:t>
                      </a:r>
                    </a:p>
                  </a:txBody>
                  <a:tcPr marL="0" marR="0" marT="0" marB="0">
                    <a:solidFill>
                      <a:srgbClr val="FFFFFF"/>
                    </a:solidFill>
                  </a:tcPr>
                </a:tc>
                <a:tc>
                  <a:txBody>
                    <a:bodyPr/>
                    <a:lstStyle/>
                    <a:p>
                      <a:pPr algn="ctr">
                        <a:defRPr sz="1000">
                          <a:solidFill>
                            <a:srgbClr val="000000"/>
                          </a:solidFill>
                          <a:latin typeface="Montserrat"/>
                        </a:defRPr>
                      </a:pPr>
                      <a:r>
                        <a:t>196,006</a:t>
                      </a:r>
                    </a:p>
                  </a:txBody>
                  <a:tcPr marL="0" marR="0" marT="0" marB="0">
                    <a:solidFill>
                      <a:srgbClr val="FFFFFF"/>
                    </a:solidFill>
                  </a:tcPr>
                </a:tc>
                <a:tc>
                  <a:txBody>
                    <a:bodyPr/>
                    <a:lstStyle/>
                    <a:p>
                      <a:pPr algn="ctr">
                        <a:defRPr sz="1000">
                          <a:solidFill>
                            <a:srgbClr val="000000"/>
                          </a:solidFill>
                          <a:latin typeface="Montserrat"/>
                        </a:defRPr>
                      </a:pPr>
                      <a:r>
                        <a:t>22,424</a:t>
                      </a:r>
                    </a:p>
                  </a:txBody>
                  <a:tcPr marL="0" marR="0" marT="0" marB="0">
                    <a:solidFill>
                      <a:srgbClr val="FFFFFF"/>
                    </a:solidFill>
                  </a:tcPr>
                </a:tc>
                <a:tc>
                  <a:txBody>
                    <a:bodyPr/>
                    <a:lstStyle/>
                    <a:p>
                      <a:pPr algn="ctr">
                        <a:defRPr sz="1000">
                          <a:solidFill>
                            <a:srgbClr val="000000"/>
                          </a:solidFill>
                          <a:latin typeface="Montserrat"/>
                        </a:defRPr>
                      </a:pPr>
                      <a:r>
                        <a:t>90,478</a:t>
                      </a:r>
                    </a:p>
                  </a:txBody>
                  <a:tcPr marL="0" marR="0" marT="0" marB="0">
                    <a:solidFill>
                      <a:srgbClr val="ECD3D9"/>
                    </a:solidFill>
                  </a:tcPr>
                </a:tc>
                <a:tc>
                  <a:txBody>
                    <a:bodyPr/>
                    <a:lstStyle/>
                    <a:p>
                      <a:pPr algn="ctr">
                        <a:defRPr sz="1000">
                          <a:solidFill>
                            <a:srgbClr val="000000"/>
                          </a:solidFill>
                          <a:latin typeface="Montserrat"/>
                        </a:defRPr>
                      </a:pPr>
                      <a:r>
                        <a:t>191,000</a:t>
                      </a:r>
                    </a:p>
                  </a:txBody>
                  <a:tcPr marL="0" marR="0" marT="0" marB="0">
                    <a:solidFill>
                      <a:srgbClr val="ECD3D9"/>
                    </a:solidFill>
                  </a:tcPr>
                </a:tc>
                <a:tc>
                  <a:txBody>
                    <a:bodyPr/>
                    <a:lstStyle/>
                    <a:p>
                      <a:pPr algn="ctr">
                        <a:defRPr sz="1000">
                          <a:solidFill>
                            <a:srgbClr val="000000"/>
                          </a:solidFill>
                          <a:latin typeface="Montserrat"/>
                        </a:defRPr>
                      </a:pPr>
                      <a:r>
                        <a:t>47.4%</a:t>
                      </a:r>
                    </a:p>
                  </a:txBody>
                  <a:tcPr marL="0" marR="0" marT="0" marB="0">
                    <a:solidFill>
                      <a:srgbClr val="ECD3D9"/>
                    </a:solidFill>
                  </a:tcPr>
                </a:tc>
                <a:extLst>
                  <a:ext uri="{0D108BD9-81ED-4DB2-BD59-A6C34878D82A}">
                    <a16:rowId xmlns:a16="http://schemas.microsoft.com/office/drawing/2014/main" val="10007"/>
                  </a:ext>
                </a:extLst>
              </a:tr>
              <a:tr h="195435">
                <a:tc>
                  <a:txBody>
                    <a:bodyPr/>
                    <a:lstStyle/>
                    <a:p>
                      <a:pPr algn="l">
                        <a:defRPr sz="1000">
                          <a:solidFill>
                            <a:srgbClr val="000000"/>
                          </a:solidFill>
                          <a:latin typeface="Montserrat"/>
                        </a:defRPr>
                      </a:pPr>
                      <a:r>
                        <a:t>UMF-UMAA 39 y Rehab</a:t>
                      </a:r>
                    </a:p>
                  </a:txBody>
                  <a:tcPr marL="0" marR="0" marT="0" marB="0">
                    <a:solidFill>
                      <a:srgbClr val="EFEFEF"/>
                    </a:solidFill>
                  </a:tcPr>
                </a:tc>
                <a:tc>
                  <a:txBody>
                    <a:bodyPr/>
                    <a:lstStyle/>
                    <a:p>
                      <a:pPr algn="ctr">
                        <a:defRPr sz="1000">
                          <a:solidFill>
                            <a:srgbClr val="000000"/>
                          </a:solidFill>
                          <a:latin typeface="Montserrat"/>
                        </a:defRPr>
                      </a:pPr>
                      <a:r>
                        <a:t>193,987</a:t>
                      </a:r>
                    </a:p>
                  </a:txBody>
                  <a:tcPr marL="0" marR="0" marT="0" marB="0">
                    <a:solidFill>
                      <a:srgbClr val="EFEFEF"/>
                    </a:solidFill>
                  </a:tcPr>
                </a:tc>
                <a:tc>
                  <a:txBody>
                    <a:bodyPr/>
                    <a:lstStyle/>
                    <a:p>
                      <a:pPr algn="ctr">
                        <a:defRPr sz="1000">
                          <a:solidFill>
                            <a:srgbClr val="000000"/>
                          </a:solidFill>
                          <a:latin typeface="Montserrat"/>
                        </a:defRPr>
                      </a:pPr>
                      <a:r>
                        <a:t>37,224</a:t>
                      </a:r>
                    </a:p>
                  </a:txBody>
                  <a:tcPr marL="0" marR="0" marT="0" marB="0">
                    <a:solidFill>
                      <a:srgbClr val="EFEFEF"/>
                    </a:solidFill>
                  </a:tcPr>
                </a:tc>
                <a:tc>
                  <a:txBody>
                    <a:bodyPr/>
                    <a:lstStyle/>
                    <a:p>
                      <a:pPr algn="ctr">
                        <a:defRPr sz="1000">
                          <a:solidFill>
                            <a:srgbClr val="000000"/>
                          </a:solidFill>
                          <a:latin typeface="Montserrat"/>
                        </a:defRPr>
                      </a:pPr>
                      <a:r>
                        <a:t>93,018</a:t>
                      </a:r>
                    </a:p>
                  </a:txBody>
                  <a:tcPr marL="0" marR="0" marT="0" marB="0">
                    <a:solidFill>
                      <a:srgbClr val="ECD3D9"/>
                    </a:solidFill>
                  </a:tcPr>
                </a:tc>
                <a:tc>
                  <a:txBody>
                    <a:bodyPr/>
                    <a:lstStyle/>
                    <a:p>
                      <a:pPr algn="ctr">
                        <a:defRPr sz="1000">
                          <a:solidFill>
                            <a:srgbClr val="000000"/>
                          </a:solidFill>
                          <a:latin typeface="Montserrat"/>
                        </a:defRPr>
                      </a:pPr>
                      <a:r>
                        <a:t>189,000</a:t>
                      </a:r>
                    </a:p>
                  </a:txBody>
                  <a:tcPr marL="0" marR="0" marT="0" marB="0">
                    <a:solidFill>
                      <a:srgbClr val="ECD3D9"/>
                    </a:solidFill>
                  </a:tcPr>
                </a:tc>
                <a:tc>
                  <a:txBody>
                    <a:bodyPr/>
                    <a:lstStyle/>
                    <a:p>
                      <a:pPr algn="ctr">
                        <a:defRPr sz="1000">
                          <a:solidFill>
                            <a:srgbClr val="000000"/>
                          </a:solidFill>
                          <a:latin typeface="Montserrat"/>
                        </a:defRPr>
                      </a:pPr>
                      <a:r>
                        <a:t>49.2%</a:t>
                      </a:r>
                    </a:p>
                  </a:txBody>
                  <a:tcPr marL="0" marR="0" marT="0" marB="0">
                    <a:solidFill>
                      <a:srgbClr val="ECD3D9"/>
                    </a:solidFill>
                  </a:tcPr>
                </a:tc>
                <a:extLst>
                  <a:ext uri="{0D108BD9-81ED-4DB2-BD59-A6C34878D82A}">
                    <a16:rowId xmlns:a16="http://schemas.microsoft.com/office/drawing/2014/main" val="10008"/>
                  </a:ext>
                </a:extLst>
              </a:tr>
              <a:tr h="195435">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2,341,310</a:t>
                      </a:r>
                    </a:p>
                  </a:txBody>
                  <a:tcPr marL="0" marR="0" marT="0" marB="0">
                    <a:solidFill>
                      <a:srgbClr val="D3E9E7"/>
                    </a:solidFill>
                  </a:tcPr>
                </a:tc>
                <a:tc>
                  <a:txBody>
                    <a:bodyPr/>
                    <a:lstStyle/>
                    <a:p>
                      <a:pPr algn="ctr">
                        <a:defRPr sz="1000" b="1">
                          <a:solidFill>
                            <a:srgbClr val="006556"/>
                          </a:solidFill>
                          <a:latin typeface="Montserrat"/>
                        </a:defRPr>
                      </a:pPr>
                      <a:r>
                        <a:t>425,170</a:t>
                      </a:r>
                    </a:p>
                  </a:txBody>
                  <a:tcPr marL="0" marR="0" marT="0" marB="0">
                    <a:solidFill>
                      <a:srgbClr val="D3E9E7"/>
                    </a:solidFill>
                  </a:tcPr>
                </a:tc>
                <a:tc>
                  <a:txBody>
                    <a:bodyPr/>
                    <a:lstStyle/>
                    <a:p>
                      <a:pPr algn="ctr">
                        <a:defRPr sz="1000" b="1">
                          <a:solidFill>
                            <a:srgbClr val="FFFFFF"/>
                          </a:solidFill>
                          <a:latin typeface="Montserrat"/>
                        </a:defRPr>
                      </a:pPr>
                      <a:r>
                        <a:t>1,087,238</a:t>
                      </a:r>
                    </a:p>
                  </a:txBody>
                  <a:tcPr marL="0" marR="0" marT="0" marB="0">
                    <a:solidFill>
                      <a:srgbClr val="9F2241"/>
                    </a:solidFill>
                  </a:tcPr>
                </a:tc>
                <a:tc>
                  <a:txBody>
                    <a:bodyPr/>
                    <a:lstStyle/>
                    <a:p>
                      <a:pPr algn="ctr">
                        <a:defRPr sz="1000" b="1">
                          <a:solidFill>
                            <a:srgbClr val="FFFFFF"/>
                          </a:solidFill>
                          <a:latin typeface="Montserrat"/>
                        </a:defRPr>
                      </a:pPr>
                      <a:r>
                        <a:t>2,264,000</a:t>
                      </a:r>
                    </a:p>
                  </a:txBody>
                  <a:tcPr marL="0" marR="0" marT="0" marB="0">
                    <a:solidFill>
                      <a:srgbClr val="9F2241"/>
                    </a:solidFill>
                  </a:tcPr>
                </a:tc>
                <a:tc>
                  <a:txBody>
                    <a:bodyPr/>
                    <a:lstStyle/>
                    <a:p>
                      <a:pPr algn="ctr">
                        <a:defRPr sz="1000" b="1">
                          <a:solidFill>
                            <a:srgbClr val="FFFFFF"/>
                          </a:solidFill>
                          <a:latin typeface="Montserrat"/>
                        </a:defRPr>
                      </a:pPr>
                      <a:r>
                        <a:t>48.0%</a:t>
                      </a:r>
                    </a:p>
                  </a:txBody>
                  <a:tcPr marL="0" marR="0" marT="0" marB="0">
                    <a:solidFill>
                      <a:srgbClr val="9F2241"/>
                    </a:solidFill>
                  </a:tcPr>
                </a:tc>
                <a:extLst>
                  <a:ext uri="{0D108BD9-81ED-4DB2-BD59-A6C34878D82A}">
                    <a16:rowId xmlns:a16="http://schemas.microsoft.com/office/drawing/2014/main" val="10009"/>
                  </a:ext>
                </a:extLst>
              </a:tr>
            </a:tbl>
          </a:graphicData>
        </a:graphic>
      </p:graphicFrame>
      <p:graphicFrame>
        <p:nvGraphicFramePr>
          <p:cNvPr id="326" name="Chart 32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xmlns:r="http://schemas.openxmlformats.org/officeDocument/2006/relationships" r:id="rId4"/>
          </a:graphicData>
        </a:graphic>
      </p:graphicFrame>
      <p:sp>
        <p:nvSpPr>
          <p:cNvPr id="327" name="TextBox 326"/>
          <p:cNvSpPr txBox="1"/>
          <p:nvPr/>
        </p:nvSpPr>
        <p:spPr>
          <a:xfrm>
            <a:off x="403400" y="6059276"/>
            <a:ext cx="1555200" cy="360000"/>
          </a:xfrm>
          <a:prstGeom prst="rect">
            <a:avLst/>
          </a:prstGeom>
          <a:noFill/>
        </p:spPr>
        <p:txBody>
          <a:bodyPr wrap="none">
            <a:spAutoFit/>
          </a:bodyPr>
          <a:lstStyle/>
          <a:p>
            <a:pPr algn="ctr"/>
            <a:r>
              <a:rPr sz="2200" b="1">
                <a:solidFill>
                  <a:srgbClr val="9F2241"/>
                </a:solidFill>
                <a:latin typeface="Montserrat"/>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5340654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Consultas de especialidad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95724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 productividad de especialidad generada en UMF ni en HR. En el año 2025 no incluye información de HR y UMR.</a:t>
            </a:r>
            <a:br/>
            <a:r>
              <a:t>El año de proceso inicia del 26 de diciembre del año anterior al 25 de diciembre del año en curso:2025 (del 26 de dic de 2024 al 25 de dic de 2025). Corte de información: Semana: 24, 7 junio 2026</a:t>
            </a:r>
          </a:p>
        </p:txBody>
      </p:sp>
      <p:graphicFrame>
        <p:nvGraphicFramePr>
          <p:cNvPr id="236" name="Table 235"/>
          <p:cNvGraphicFramePr>
            <a:graphicFrameLocks noGrp="1"/>
          </p:cNvGraphicFramePr>
          <p:nvPr/>
        </p:nvGraphicFramePr>
        <p:xfrm>
          <a:off x="144000" y="1494000"/>
          <a:ext cx="7340399" cy="389040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69,767</a:t>
                      </a:r>
                    </a:p>
                  </a:txBody>
                  <a:tcPr>
                    <a:solidFill>
                      <a:srgbClr val="FFFFFF"/>
                    </a:solidFill>
                  </a:tcPr>
                </a:tc>
                <a:tc>
                  <a:txBody>
                    <a:bodyPr/>
                    <a:lstStyle/>
                    <a:p>
                      <a:pPr algn="ctr">
                        <a:defRPr sz="1000">
                          <a:latin typeface="Montserrat"/>
                        </a:defRPr>
                      </a:pPr>
                      <a:r>
                        <a:t>34,458</a:t>
                      </a:r>
                    </a:p>
                  </a:txBody>
                  <a:tcPr>
                    <a:solidFill>
                      <a:srgbClr val="FFFFFF"/>
                    </a:solidFill>
                  </a:tcPr>
                </a:tc>
                <a:tc>
                  <a:txBody>
                    <a:bodyPr/>
                    <a:lstStyle/>
                    <a:p>
                      <a:pPr algn="ctr">
                        <a:defRPr sz="1000">
                          <a:latin typeface="Montserrat"/>
                        </a:defRPr>
                      </a:pPr>
                      <a:r>
                        <a:t>40,607</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56.2%</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248,890</a:t>
                      </a:r>
                    </a:p>
                  </a:txBody>
                  <a:tcPr>
                    <a:solidFill>
                      <a:srgbClr val="EFEFEF"/>
                    </a:solidFill>
                  </a:tcPr>
                </a:tc>
                <a:tc>
                  <a:txBody>
                    <a:bodyPr/>
                    <a:lstStyle/>
                    <a:p>
                      <a:pPr algn="ctr">
                        <a:defRPr sz="1000">
                          <a:latin typeface="Montserrat"/>
                        </a:defRPr>
                      </a:pPr>
                      <a:r>
                        <a:t>78,168</a:t>
                      </a:r>
                    </a:p>
                  </a:txBody>
                  <a:tcPr>
                    <a:solidFill>
                      <a:srgbClr val="EFEFEF"/>
                    </a:solidFill>
                  </a:tcPr>
                </a:tc>
                <a:tc>
                  <a:txBody>
                    <a:bodyPr/>
                    <a:lstStyle/>
                    <a:p>
                      <a:pPr algn="ctr">
                        <a:defRPr sz="1000">
                          <a:latin typeface="Montserrat"/>
                        </a:defRPr>
                      </a:pPr>
                      <a:r>
                        <a:t>126,719</a:t>
                      </a:r>
                    </a:p>
                  </a:txBody>
                  <a:tcPr>
                    <a:solidFill>
                      <a:srgbClr val="ECD3D9"/>
                    </a:solidFill>
                  </a:tcPr>
                </a:tc>
                <a:tc>
                  <a:txBody>
                    <a:bodyPr/>
                    <a:lstStyle/>
                    <a:p>
                      <a:pPr algn="ctr">
                        <a:defRPr sz="1000">
                          <a:latin typeface="Montserrat"/>
                        </a:defRPr>
                      </a:pPr>
                      <a:r>
                        <a:t>249,660</a:t>
                      </a:r>
                    </a:p>
                  </a:txBody>
                  <a:tcPr>
                    <a:solidFill>
                      <a:srgbClr val="ECD3D9"/>
                    </a:solidFill>
                  </a:tcPr>
                </a:tc>
                <a:tc>
                  <a:txBody>
                    <a:bodyPr/>
                    <a:lstStyle/>
                    <a:p>
                      <a:pPr algn="ctr">
                        <a:defRPr sz="1000">
                          <a:latin typeface="Montserrat"/>
                        </a:defRPr>
                      </a:pPr>
                      <a:r>
                        <a:t>50.8%</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HGZ 13 Matamoros</a:t>
                      </a:r>
                    </a:p>
                  </a:txBody>
                  <a:tcPr>
                    <a:solidFill>
                      <a:srgbClr val="FFFFFF"/>
                    </a:solidFill>
                  </a:tcPr>
                </a:tc>
                <a:tc>
                  <a:txBody>
                    <a:bodyPr/>
                    <a:lstStyle/>
                    <a:p>
                      <a:pPr algn="ctr">
                        <a:defRPr sz="1000">
                          <a:latin typeface="Montserrat"/>
                        </a:defRPr>
                      </a:pPr>
                      <a:r>
                        <a:t>109,384</a:t>
                      </a:r>
                    </a:p>
                  </a:txBody>
                  <a:tcPr>
                    <a:solidFill>
                      <a:srgbClr val="FFFFFF"/>
                    </a:solidFill>
                  </a:tcPr>
                </a:tc>
                <a:tc>
                  <a:txBody>
                    <a:bodyPr/>
                    <a:lstStyle/>
                    <a:p>
                      <a:pPr algn="ctr">
                        <a:defRPr sz="1000">
                          <a:latin typeface="Montserrat"/>
                        </a:defRPr>
                      </a:pPr>
                      <a:r>
                        <a:t>50,761</a:t>
                      </a:r>
                    </a:p>
                  </a:txBody>
                  <a:tcPr>
                    <a:solidFill>
                      <a:srgbClr val="FFFFFF"/>
                    </a:solidFill>
                  </a:tcPr>
                </a:tc>
                <a:tc>
                  <a:txBody>
                    <a:bodyPr/>
                    <a:lstStyle/>
                    <a:p>
                      <a:pPr algn="ctr">
                        <a:defRPr sz="1000">
                          <a:latin typeface="Montserrat"/>
                        </a:defRPr>
                      </a:pPr>
                      <a:r>
                        <a:t>52,663</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47.1%</a:t>
                      </a:r>
                    </a:p>
                  </a:txBody>
                  <a:tcPr>
                    <a:solidFill>
                      <a:srgbClr val="ECD3D9"/>
                    </a:solidFill>
                  </a:tcPr>
                </a:tc>
                <a:extLst>
                  <a:ext uri="{0D108BD9-81ED-4DB2-BD59-A6C34878D82A}">
                    <a16:rowId xmlns:a16="http://schemas.microsoft.com/office/drawing/2014/main" val="10003"/>
                  </a:ext>
                </a:extLst>
              </a:tr>
              <a:tr h="284400">
                <a:tc>
                  <a:txBody>
                    <a:bodyPr/>
                    <a:lstStyle/>
                    <a:p>
                      <a:pPr algn="l">
                        <a:defRPr sz="1000">
                          <a:latin typeface="Montserrat"/>
                        </a:defRPr>
                      </a:pPr>
                      <a:r>
                        <a:t>HGZ 11 Nuevo Laredo</a:t>
                      </a:r>
                    </a:p>
                  </a:txBody>
                  <a:tcPr>
                    <a:solidFill>
                      <a:srgbClr val="EFEFEF"/>
                    </a:solidFill>
                  </a:tcPr>
                </a:tc>
                <a:tc>
                  <a:txBody>
                    <a:bodyPr/>
                    <a:lstStyle/>
                    <a:p>
                      <a:pPr algn="ctr">
                        <a:defRPr sz="1000">
                          <a:latin typeface="Montserrat"/>
                        </a:defRPr>
                      </a:pPr>
                      <a:r>
                        <a:t>64,327</a:t>
                      </a:r>
                    </a:p>
                  </a:txBody>
                  <a:tcPr>
                    <a:solidFill>
                      <a:srgbClr val="EFEFEF"/>
                    </a:solidFill>
                  </a:tcPr>
                </a:tc>
                <a:tc>
                  <a:txBody>
                    <a:bodyPr/>
                    <a:lstStyle/>
                    <a:p>
                      <a:pPr algn="ctr">
                        <a:defRPr sz="1000">
                          <a:latin typeface="Montserrat"/>
                        </a:defRPr>
                      </a:pPr>
                      <a:r>
                        <a:t>22,875</a:t>
                      </a:r>
                    </a:p>
                  </a:txBody>
                  <a:tcPr>
                    <a:solidFill>
                      <a:srgbClr val="EFEFEF"/>
                    </a:solidFill>
                  </a:tcPr>
                </a:tc>
                <a:tc>
                  <a:txBody>
                    <a:bodyPr/>
                    <a:lstStyle/>
                    <a:p>
                      <a:pPr algn="ctr">
                        <a:defRPr sz="1000">
                          <a:latin typeface="Montserrat"/>
                        </a:defRPr>
                      </a:pPr>
                      <a:r>
                        <a:t>37,953</a:t>
                      </a:r>
                    </a:p>
                  </a:txBody>
                  <a:tcPr>
                    <a:solidFill>
                      <a:srgbClr val="ECD3D9"/>
                    </a:solidFill>
                  </a:tcPr>
                </a:tc>
                <a:tc>
                  <a:txBody>
                    <a:bodyPr/>
                    <a:lstStyle/>
                    <a:p>
                      <a:pPr algn="ctr">
                        <a:defRPr sz="1000">
                          <a:latin typeface="Montserrat"/>
                        </a:defRPr>
                      </a:pPr>
                      <a:r>
                        <a:t>80,665</a:t>
                      </a:r>
                    </a:p>
                  </a:txBody>
                  <a:tcPr>
                    <a:solidFill>
                      <a:srgbClr val="ECD3D9"/>
                    </a:solidFill>
                  </a:tcPr>
                </a:tc>
                <a:tc>
                  <a:txBody>
                    <a:bodyPr/>
                    <a:lstStyle/>
                    <a:p>
                      <a:pPr algn="ctr">
                        <a:defRPr sz="1000">
                          <a:latin typeface="Montserrat"/>
                        </a:defRPr>
                      </a:pPr>
                      <a:r>
                        <a:t>47.0%</a:t>
                      </a:r>
                    </a:p>
                  </a:txBody>
                  <a:tcPr>
                    <a:solidFill>
                      <a:srgbClr val="ECD3D9"/>
                    </a:solidFill>
                  </a:tcPr>
                </a:tc>
                <a:extLst>
                  <a:ext uri="{0D108BD9-81ED-4DB2-BD59-A6C34878D82A}">
                    <a16:rowId xmlns:a16="http://schemas.microsoft.com/office/drawing/2014/main" val="10004"/>
                  </a:ext>
                </a:extLst>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79,253</a:t>
                      </a:r>
                    </a:p>
                  </a:txBody>
                  <a:tcPr>
                    <a:solidFill>
                      <a:srgbClr val="FFFFFF"/>
                    </a:solidFill>
                  </a:tcPr>
                </a:tc>
                <a:tc>
                  <a:txBody>
                    <a:bodyPr/>
                    <a:lstStyle/>
                    <a:p>
                      <a:pPr algn="ctr">
                        <a:defRPr sz="1000">
                          <a:latin typeface="Montserrat"/>
                        </a:defRPr>
                      </a:pPr>
                      <a:r>
                        <a:t>24,533</a:t>
                      </a:r>
                    </a:p>
                  </a:txBody>
                  <a:tcPr>
                    <a:solidFill>
                      <a:srgbClr val="FFFFFF"/>
                    </a:solidFill>
                  </a:tcPr>
                </a:tc>
                <a:tc>
                  <a:txBody>
                    <a:bodyPr/>
                    <a:lstStyle/>
                    <a:p>
                      <a:pPr algn="ctr">
                        <a:defRPr sz="1000">
                          <a:latin typeface="Montserrat"/>
                        </a:defRPr>
                      </a:pPr>
                      <a:r>
                        <a:t>39,915</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46.7%</a:t>
                      </a:r>
                    </a:p>
                  </a:txBody>
                  <a:tcPr>
                    <a:solidFill>
                      <a:srgbClr val="ECD3D9"/>
                    </a:solidFill>
                  </a:tcPr>
                </a:tc>
                <a:extLst>
                  <a:ext uri="{0D108BD9-81ED-4DB2-BD59-A6C34878D82A}">
                    <a16:rowId xmlns:a16="http://schemas.microsoft.com/office/drawing/2014/main" val="10005"/>
                  </a:ext>
                </a:extLst>
              </a:tr>
              <a:tr h="284400">
                <a:tc>
                  <a:txBody>
                    <a:bodyPr/>
                    <a:lstStyle/>
                    <a:p>
                      <a:pPr algn="l">
                        <a:defRPr sz="1000">
                          <a:latin typeface="Montserrat"/>
                        </a:defRPr>
                      </a:pPr>
                      <a:r>
                        <a:t>UMAA 39 y Rehab</a:t>
                      </a:r>
                    </a:p>
                  </a:txBody>
                  <a:tcPr>
                    <a:solidFill>
                      <a:srgbClr val="EFEFEF"/>
                    </a:solidFill>
                  </a:tcPr>
                </a:tc>
                <a:tc>
                  <a:txBody>
                    <a:bodyPr/>
                    <a:lstStyle/>
                    <a:p>
                      <a:pPr algn="ctr">
                        <a:defRPr sz="1000">
                          <a:latin typeface="Montserrat"/>
                        </a:defRPr>
                      </a:pPr>
                      <a:r>
                        <a:t>27,323</a:t>
                      </a:r>
                    </a:p>
                  </a:txBody>
                  <a:tcPr>
                    <a:solidFill>
                      <a:srgbClr val="EFEFEF"/>
                    </a:solidFill>
                  </a:tcPr>
                </a:tc>
                <a:tc>
                  <a:txBody>
                    <a:bodyPr/>
                    <a:lstStyle/>
                    <a:p>
                      <a:pPr algn="ctr">
                        <a:defRPr sz="1000">
                          <a:latin typeface="Montserrat"/>
                        </a:defRPr>
                      </a:pPr>
                      <a:r>
                        <a:t>10,218</a:t>
                      </a:r>
                    </a:p>
                  </a:txBody>
                  <a:tcPr>
                    <a:solidFill>
                      <a:srgbClr val="EFEFEF"/>
                    </a:solidFill>
                  </a:tcPr>
                </a:tc>
                <a:tc>
                  <a:txBody>
                    <a:bodyPr/>
                    <a:lstStyle/>
                    <a:p>
                      <a:pPr algn="ctr">
                        <a:defRPr sz="1000">
                          <a:latin typeface="Montserrat"/>
                        </a:defRPr>
                      </a:pPr>
                      <a:r>
                        <a:t>15,273</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43.6%</a:t>
                      </a:r>
                    </a:p>
                  </a:txBody>
                  <a:tcPr>
                    <a:solidFill>
                      <a:srgbClr val="ECD3D9"/>
                    </a:solidFill>
                  </a:tcPr>
                </a:tc>
                <a:extLst>
                  <a:ext uri="{0D108BD9-81ED-4DB2-BD59-A6C34878D82A}">
                    <a16:rowId xmlns:a16="http://schemas.microsoft.com/office/drawing/2014/main" val="10006"/>
                  </a:ext>
                </a:extLst>
              </a:tr>
              <a:tr h="284400">
                <a:tc>
                  <a:txBody>
                    <a:bodyPr/>
                    <a:lstStyle/>
                    <a:p>
                      <a:pPr algn="l">
                        <a:defRPr sz="1000">
                          <a:latin typeface="Montserrat"/>
                        </a:defRPr>
                      </a:pPr>
                      <a:r>
                        <a:t>HGR 270 Reynosa</a:t>
                      </a:r>
                    </a:p>
                  </a:txBody>
                  <a:tcPr>
                    <a:solidFill>
                      <a:srgbClr val="FFFFFF"/>
                    </a:solidFill>
                  </a:tcPr>
                </a:tc>
                <a:tc>
                  <a:txBody>
                    <a:bodyPr/>
                    <a:lstStyle/>
                    <a:p>
                      <a:pPr algn="ctr">
                        <a:defRPr sz="1000">
                          <a:latin typeface="Montserrat"/>
                        </a:defRPr>
                      </a:pPr>
                      <a:r>
                        <a:t>117,467</a:t>
                      </a:r>
                    </a:p>
                  </a:txBody>
                  <a:tcPr>
                    <a:solidFill>
                      <a:srgbClr val="FFFFFF"/>
                    </a:solidFill>
                  </a:tcPr>
                </a:tc>
                <a:tc>
                  <a:txBody>
                    <a:bodyPr/>
                    <a:lstStyle/>
                    <a:p>
                      <a:pPr algn="ctr">
                        <a:defRPr sz="1000">
                          <a:latin typeface="Montserrat"/>
                        </a:defRPr>
                      </a:pPr>
                      <a:r>
                        <a:t>54,681</a:t>
                      </a:r>
                    </a:p>
                  </a:txBody>
                  <a:tcPr>
                    <a:solidFill>
                      <a:srgbClr val="FFFFFF"/>
                    </a:solidFill>
                  </a:tcPr>
                </a:tc>
                <a:tc>
                  <a:txBody>
                    <a:bodyPr/>
                    <a:lstStyle/>
                    <a:p>
                      <a:pPr algn="ctr">
                        <a:defRPr sz="1000">
                          <a:latin typeface="Montserrat"/>
                        </a:defRPr>
                      </a:pPr>
                      <a:r>
                        <a:t>66,728</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42.3%</a:t>
                      </a:r>
                    </a:p>
                  </a:txBody>
                  <a:tcPr>
                    <a:solidFill>
                      <a:srgbClr val="ECD3D9"/>
                    </a:solidFill>
                  </a:tcPr>
                </a:tc>
                <a:extLst>
                  <a:ext uri="{0D108BD9-81ED-4DB2-BD59-A6C34878D82A}">
                    <a16:rowId xmlns:a16="http://schemas.microsoft.com/office/drawing/2014/main" val="10007"/>
                  </a:ext>
                </a:extLst>
              </a:tr>
              <a:tr h="284400">
                <a:tc>
                  <a:txBody>
                    <a:bodyPr/>
                    <a:lstStyle/>
                    <a:p>
                      <a:pPr algn="l">
                        <a:defRPr sz="1000">
                          <a:latin typeface="Montserrat"/>
                        </a:defRPr>
                      </a:pPr>
                      <a:r>
                        <a:t>HGZ-UMAA 15 Ciudad Reynosa</a:t>
                      </a:r>
                    </a:p>
                  </a:txBody>
                  <a:tcPr>
                    <a:solidFill>
                      <a:srgbClr val="EFEFEF"/>
                    </a:solidFill>
                  </a:tcPr>
                </a:tc>
                <a:tc>
                  <a:txBody>
                    <a:bodyPr/>
                    <a:lstStyle/>
                    <a:p>
                      <a:pPr algn="ctr">
                        <a:defRPr sz="1000">
                          <a:latin typeface="Montserrat"/>
                        </a:defRPr>
                      </a:pPr>
                      <a:r>
                        <a:t>76,433</a:t>
                      </a:r>
                    </a:p>
                  </a:txBody>
                  <a:tcPr>
                    <a:solidFill>
                      <a:srgbClr val="EFEFEF"/>
                    </a:solidFill>
                  </a:tcPr>
                </a:tc>
                <a:tc>
                  <a:txBody>
                    <a:bodyPr/>
                    <a:lstStyle/>
                    <a:p>
                      <a:pPr algn="ctr">
                        <a:defRPr sz="1000">
                          <a:latin typeface="Montserrat"/>
                        </a:defRPr>
                      </a:pPr>
                      <a:r>
                        <a:t>29,872</a:t>
                      </a:r>
                    </a:p>
                  </a:txBody>
                  <a:tcPr>
                    <a:solidFill>
                      <a:srgbClr val="EFEFEF"/>
                    </a:solidFill>
                  </a:tcPr>
                </a:tc>
                <a:tc>
                  <a:txBody>
                    <a:bodyPr/>
                    <a:lstStyle/>
                    <a:p>
                      <a:pPr algn="ctr">
                        <a:defRPr sz="1000">
                          <a:latin typeface="Montserrat"/>
                        </a:defRPr>
                      </a:pPr>
                      <a:r>
                        <a:t>39,827</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40.1%</a:t>
                      </a:r>
                    </a:p>
                  </a:txBody>
                  <a:tcPr>
                    <a:solidFill>
                      <a:srgbClr val="ECD3D9"/>
                    </a:solidFill>
                  </a:tcPr>
                </a:tc>
                <a:extLst>
                  <a:ext uri="{0D108BD9-81ED-4DB2-BD59-A6C34878D82A}">
                    <a16:rowId xmlns:a16="http://schemas.microsoft.com/office/drawing/2014/main" val="10008"/>
                  </a:ext>
                </a:extLst>
              </a:tr>
              <a:tr h="284400">
                <a:tc>
                  <a:txBody>
                    <a:bodyPr/>
                    <a:lstStyle/>
                    <a:p>
                      <a:pPr algn="l">
                        <a:defRPr sz="1000">
                          <a:latin typeface="Montserrat"/>
                        </a:defRPr>
                      </a:pPr>
                      <a:r>
                        <a:t>UMAA 76 Nuevo Laredo</a:t>
                      </a:r>
                    </a:p>
                  </a:txBody>
                  <a:tcPr>
                    <a:solidFill>
                      <a:srgbClr val="FFFFFF"/>
                    </a:solidFill>
                  </a:tcPr>
                </a:tc>
                <a:tc>
                  <a:txBody>
                    <a:bodyPr/>
                    <a:lstStyle/>
                    <a:p>
                      <a:pPr algn="ctr">
                        <a:defRPr sz="1000">
                          <a:latin typeface="Montserrat"/>
                        </a:defRPr>
                      </a:pPr>
                      <a:r>
                        <a:t>15,129</a:t>
                      </a:r>
                    </a:p>
                  </a:txBody>
                  <a:tcPr>
                    <a:solidFill>
                      <a:srgbClr val="FFFFFF"/>
                    </a:solidFill>
                  </a:tcPr>
                </a:tc>
                <a:tc>
                  <a:txBody>
                    <a:bodyPr/>
                    <a:lstStyle/>
                    <a:p>
                      <a:pPr algn="ctr">
                        <a:defRPr sz="1000">
                          <a:latin typeface="Montserrat"/>
                        </a:defRPr>
                      </a:pPr>
                      <a:r>
                        <a:t>4,654</a:t>
                      </a:r>
                    </a:p>
                  </a:txBody>
                  <a:tcPr>
                    <a:solidFill>
                      <a:srgbClr val="FFFFFF"/>
                    </a:solidFill>
                  </a:tcPr>
                </a:tc>
                <a:tc>
                  <a:txBody>
                    <a:bodyPr/>
                    <a:lstStyle/>
                    <a:p>
                      <a:pPr algn="ctr">
                        <a:defRPr sz="1000">
                          <a:latin typeface="Montserrat"/>
                        </a:defRPr>
                      </a:pPr>
                      <a:r>
                        <a:t>13,366</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38.1%</a:t>
                      </a:r>
                    </a:p>
                  </a:txBody>
                  <a:tcPr>
                    <a:solidFill>
                      <a:srgbClr val="ECD3D9"/>
                    </a:solidFill>
                  </a:tcPr>
                </a:tc>
                <a:extLst>
                  <a:ext uri="{0D108BD9-81ED-4DB2-BD59-A6C34878D82A}">
                    <a16:rowId xmlns:a16="http://schemas.microsoft.com/office/drawing/2014/main" val="10009"/>
                  </a:ext>
                </a:extLst>
              </a:tr>
              <a:tr h="284400">
                <a:tc>
                  <a:txBody>
                    <a:bodyPr/>
                    <a:lstStyle/>
                    <a:p>
                      <a:pPr algn="l">
                        <a:defRPr sz="1000">
                          <a:latin typeface="Montserrat"/>
                        </a:defRPr>
                      </a:pPr>
                      <a:r>
                        <a:t>UMAA 15 Ciudad Reynosa</a:t>
                      </a:r>
                    </a:p>
                  </a:txBody>
                  <a:tcPr>
                    <a:solidFill>
                      <a:srgbClr val="EFEFEF"/>
                    </a:solidFill>
                  </a:tcPr>
                </a:tc>
                <a:tc>
                  <a:txBody>
                    <a:bodyPr/>
                    <a:lstStyle/>
                    <a:p>
                      <a:pPr algn="ctr">
                        <a:defRPr sz="1000">
                          <a:latin typeface="Montserrat"/>
                        </a:defRPr>
                      </a:pPr>
                      <a:r>
                        <a:t>10,422</a:t>
                      </a:r>
                    </a:p>
                  </a:txBody>
                  <a:tcPr>
                    <a:solidFill>
                      <a:srgbClr val="EFEFEF"/>
                    </a:solidFill>
                  </a:tcPr>
                </a:tc>
                <a:tc>
                  <a:txBody>
                    <a:bodyPr/>
                    <a:lstStyle/>
                    <a:p>
                      <a:pPr algn="ctr">
                        <a:defRPr sz="1000">
                          <a:latin typeface="Montserrat"/>
                        </a:defRPr>
                      </a:pPr>
                      <a:r>
                        <a:t>4,708</a:t>
                      </a:r>
                    </a:p>
                  </a:txBody>
                  <a:tcPr>
                    <a:solidFill>
                      <a:srgbClr val="EFEFEF"/>
                    </a:solidFill>
                  </a:tcPr>
                </a:tc>
                <a:tc>
                  <a:txBody>
                    <a:bodyPr/>
                    <a:lstStyle/>
                    <a:p>
                      <a:pPr algn="ctr">
                        <a:defRPr sz="1000">
                          <a:latin typeface="Montserrat"/>
                        </a:defRPr>
                      </a:pPr>
                      <a:r>
                        <a:t>4,385</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37.5%</a:t>
                      </a:r>
                    </a:p>
                  </a:txBody>
                  <a:tcPr>
                    <a:solidFill>
                      <a:srgbClr val="ECD3D9"/>
                    </a:solidFill>
                  </a:tcPr>
                </a:tc>
                <a:extLst>
                  <a:ext uri="{0D108BD9-81ED-4DB2-BD59-A6C34878D82A}">
                    <a16:rowId xmlns:a16="http://schemas.microsoft.com/office/drawing/2014/main" val="10010"/>
                  </a:ext>
                </a:extLst>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2,467</a:t>
                      </a:r>
                    </a:p>
                  </a:txBody>
                  <a:tcPr>
                    <a:solidFill>
                      <a:srgbClr val="FFFFFF"/>
                    </a:solidFill>
                  </a:tcPr>
                </a:tc>
                <a:tc>
                  <a:txBody>
                    <a:bodyPr/>
                    <a:lstStyle/>
                    <a:p>
                      <a:pPr algn="ctr">
                        <a:defRPr sz="1000">
                          <a:latin typeface="Montserrat"/>
                        </a:defRPr>
                      </a:pPr>
                      <a:r>
                        <a:t>1,431</a:t>
                      </a:r>
                    </a:p>
                  </a:txBody>
                  <a:tcPr>
                    <a:solidFill>
                      <a:srgbClr val="FFFFFF"/>
                    </a:solidFill>
                  </a:tcPr>
                </a:tc>
                <a:tc>
                  <a:txBody>
                    <a:bodyPr/>
                    <a:lstStyle/>
                    <a:p>
                      <a:pPr algn="ctr">
                        <a:defRPr sz="1000">
                          <a:latin typeface="Montserrat"/>
                        </a:defRPr>
                      </a:pPr>
                      <a:r>
                        <a:t>1,574</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4.5%</a:t>
                      </a:r>
                    </a:p>
                  </a:txBody>
                  <a:tcPr>
                    <a:solidFill>
                      <a:srgbClr val="ECD3D9"/>
                    </a:solidFill>
                  </a:tcPr>
                </a:tc>
                <a:extLst>
                  <a:ext uri="{0D108BD9-81ED-4DB2-BD59-A6C34878D82A}">
                    <a16:rowId xmlns:a16="http://schemas.microsoft.com/office/drawing/2014/main" val="10011"/>
                  </a:ext>
                </a:extLst>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820,862</a:t>
                      </a:r>
                    </a:p>
                  </a:txBody>
                  <a:tcPr>
                    <a:solidFill>
                      <a:srgbClr val="D3E9E7"/>
                    </a:solidFill>
                  </a:tcPr>
                </a:tc>
                <a:tc>
                  <a:txBody>
                    <a:bodyPr/>
                    <a:lstStyle/>
                    <a:p>
                      <a:pPr algn="ctr">
                        <a:defRPr sz="1000" b="1">
                          <a:solidFill>
                            <a:srgbClr val="006556"/>
                          </a:solidFill>
                          <a:latin typeface="Montserrat"/>
                        </a:defRPr>
                      </a:pPr>
                      <a:r>
                        <a:t>316,359</a:t>
                      </a:r>
                    </a:p>
                  </a:txBody>
                  <a:tcPr>
                    <a:solidFill>
                      <a:srgbClr val="D3E9E7"/>
                    </a:solidFill>
                  </a:tcPr>
                </a:tc>
                <a:tc>
                  <a:txBody>
                    <a:bodyPr/>
                    <a:lstStyle/>
                    <a:p>
                      <a:pPr algn="ctr">
                        <a:defRPr sz="1000" b="1">
                          <a:solidFill>
                            <a:srgbClr val="FFFFFF"/>
                          </a:solidFill>
                          <a:latin typeface="Montserrat"/>
                        </a:defRPr>
                      </a:pPr>
                      <a:r>
                        <a:t>439,010</a:t>
                      </a:r>
                    </a:p>
                  </a:txBody>
                  <a:tcPr>
                    <a:solidFill>
                      <a:srgbClr val="9F2241"/>
                    </a:solidFill>
                  </a:tcPr>
                </a:tc>
                <a:tc>
                  <a:txBody>
                    <a:bodyPr/>
                    <a:lstStyle/>
                    <a:p>
                      <a:pPr algn="ctr">
                        <a:defRPr sz="1000" b="1">
                          <a:solidFill>
                            <a:srgbClr val="FFFFFF"/>
                          </a:solidFill>
                          <a:latin typeface="Montserrat"/>
                        </a:defRPr>
                      </a:pPr>
                      <a:r>
                        <a:t>973,455</a:t>
                      </a:r>
                    </a:p>
                  </a:txBody>
                  <a:tcPr>
                    <a:solidFill>
                      <a:srgbClr val="9F2241"/>
                    </a:solidFill>
                  </a:tcPr>
                </a:tc>
                <a:tc>
                  <a:txBody>
                    <a:bodyPr/>
                    <a:lstStyle/>
                    <a:p>
                      <a:pPr algn="ctr">
                        <a:defRPr sz="1000" b="1">
                          <a:solidFill>
                            <a:srgbClr val="FFFFFF"/>
                          </a:solidFill>
                          <a:latin typeface="Montserrat"/>
                        </a:defRPr>
                      </a:pPr>
                      <a:r>
                        <a:t>45.1%</a:t>
                      </a:r>
                    </a:p>
                  </a:txBody>
                  <a:tcPr>
                    <a:solidFill>
                      <a:srgbClr val="9F2241"/>
                    </a:solidFill>
                  </a:tcPr>
                </a:tc>
                <a:extLst>
                  <a:ext uri="{0D108BD9-81ED-4DB2-BD59-A6C34878D82A}">
                    <a16:rowId xmlns:a16="http://schemas.microsoft.com/office/drawing/2014/main" val="10012"/>
                  </a:ext>
                </a:extLst>
              </a:tr>
            </a:tbl>
          </a:graphicData>
        </a:graphic>
      </p:graphicFrame>
      <p:graphicFrame>
        <p:nvGraphicFramePr>
          <p:cNvPr id="237" name="Chart 236"/>
          <p:cNvGraphicFramePr>
            <a:graphicFrameLocks noGrp="1"/>
          </p:cNvGraphicFramePr>
          <p:nvPr/>
        </p:nvGraphicFramePr>
        <p:xfrm>
          <a:off x="4780800" y="59580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8" name="TextBox 237"/>
          <p:cNvSpPr txBox="1"/>
          <p:nvPr/>
        </p:nvSpPr>
        <p:spPr>
          <a:xfrm>
            <a:off x="4780800" y="6678000"/>
            <a:ext cx="1800000" cy="360000"/>
          </a:xfrm>
          <a:prstGeom prst="rect">
            <a:avLst/>
          </a:prstGeom>
          <a:noFill/>
        </p:spPr>
        <p:txBody>
          <a:bodyPr wrap="none">
            <a:spAutoFit/>
          </a:bodyPr>
          <a:lstStyle/>
          <a:p>
            <a:pPr algn="ctr"/>
            <a:r>
              <a:rPr sz="2400" b="1">
                <a:solidFill>
                  <a:srgbClr val="9F2241"/>
                </a:solidFill>
                <a:latin typeface="Montserrat"/>
              </a:rPr>
              <a:t>45.1%</a:t>
            </a:r>
          </a:p>
        </p:txBody>
      </p:sp>
      <p:sp>
        <p:nvSpPr>
          <p:cNvPr id="239" name="TextBox 238"/>
          <p:cNvSpPr txBox="1"/>
          <p:nvPr/>
        </p:nvSpPr>
        <p:spPr>
          <a:xfrm>
            <a:off x="4780800" y="757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5958000"/>
            <a:ext cx="2854800" cy="1198800"/>
          </a:xfrm>
          <a:prstGeom prst="rect">
            <a:avLst/>
          </a:prstGeom>
          <a:noFill/>
        </p:spPr>
        <p:txBody>
          <a:bodyPr wrap="square">
            <a:spAutoFit/>
          </a:bodyPr>
          <a:lstStyle/>
          <a:p>
            <a:pPr algn="ctr">
              <a:defRPr sz="3600" b="1">
                <a:solidFill>
                  <a:srgbClr val="9F2241"/>
                </a:solidFill>
                <a:latin typeface="Montserrat"/>
              </a:defRPr>
            </a:pPr>
            <a:r>
              <a:t>973,455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04985121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Cirugías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las cirugías realizadas en HR.</a:t>
            </a:r>
            <a:br/>
            <a:r>
              <a:t>Sólo se consideran cirugías principales.</a:t>
            </a:r>
            <a:br/>
            <a:r>
              <a:t>Corte de información: Semana: 24, 7 junio 2026</a:t>
            </a:r>
          </a:p>
        </p:txBody>
      </p:sp>
      <p:graphicFrame>
        <p:nvGraphicFramePr>
          <p:cNvPr id="233" name="Table 232"/>
          <p:cNvGraphicFramePr>
            <a:graphicFrameLocks noGrp="1"/>
          </p:cNvGraphicFramePr>
          <p:nvPr/>
        </p:nvGraphicFramePr>
        <p:xfrm>
          <a:off x="144000" y="1137600"/>
          <a:ext cx="7340399" cy="389040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HGZ 3 Mante</a:t>
                      </a:r>
                    </a:p>
                  </a:txBody>
                  <a:tcPr>
                    <a:solidFill>
                      <a:srgbClr val="FFFFFF"/>
                    </a:solidFill>
                  </a:tcPr>
                </a:tc>
                <a:tc>
                  <a:txBody>
                    <a:bodyPr/>
                    <a:lstStyle/>
                    <a:p>
                      <a:pPr algn="ctr">
                        <a:defRPr sz="1000">
                          <a:latin typeface="Montserrat"/>
                        </a:defRPr>
                      </a:pPr>
                      <a:r>
                        <a:t>4,641</a:t>
                      </a:r>
                    </a:p>
                  </a:txBody>
                  <a:tcPr>
                    <a:solidFill>
                      <a:srgbClr val="FFFFFF"/>
                    </a:solidFill>
                  </a:tcPr>
                </a:tc>
                <a:tc>
                  <a:txBody>
                    <a:bodyPr/>
                    <a:lstStyle/>
                    <a:p>
                      <a:pPr algn="ctr">
                        <a:defRPr sz="1000">
                          <a:latin typeface="Montserrat"/>
                        </a:defRPr>
                      </a:pPr>
                      <a:r>
                        <a:t>1,843</a:t>
                      </a:r>
                    </a:p>
                  </a:txBody>
                  <a:tcPr>
                    <a:solidFill>
                      <a:srgbClr val="FFFFFF"/>
                    </a:solidFill>
                  </a:tcPr>
                </a:tc>
                <a:tc>
                  <a:txBody>
                    <a:bodyPr/>
                    <a:lstStyle/>
                    <a:p>
                      <a:pPr algn="ctr">
                        <a:defRPr sz="1000">
                          <a:latin typeface="Montserrat"/>
                        </a:defRPr>
                      </a:pPr>
                      <a:r>
                        <a:t>3,218</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55.0%</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UMAA 15 Ciudad Reynosa</a:t>
                      </a:r>
                    </a:p>
                  </a:txBody>
                  <a:tcPr>
                    <a:solidFill>
                      <a:srgbClr val="EFEFEF"/>
                    </a:solidFill>
                  </a:tcPr>
                </a:tc>
                <a:tc>
                  <a:txBody>
                    <a:bodyPr/>
                    <a:lstStyle/>
                    <a:p>
                      <a:pPr algn="ctr">
                        <a:defRPr sz="1000">
                          <a:latin typeface="Montserrat"/>
                        </a:defRPr>
                      </a:pPr>
                      <a:r>
                        <a:t>696</a:t>
                      </a:r>
                    </a:p>
                  </a:txBody>
                  <a:tcPr>
                    <a:solidFill>
                      <a:srgbClr val="EFEFEF"/>
                    </a:solidFill>
                  </a:tcPr>
                </a:tc>
                <a:tc>
                  <a:txBody>
                    <a:bodyPr/>
                    <a:lstStyle/>
                    <a:p>
                      <a:pPr algn="ctr">
                        <a:defRPr sz="1000">
                          <a:latin typeface="Montserrat"/>
                        </a:defRPr>
                      </a:pPr>
                      <a:r>
                        <a:t>155</a:t>
                      </a:r>
                    </a:p>
                  </a:txBody>
                  <a:tcPr>
                    <a:solidFill>
                      <a:srgbClr val="EFEFEF"/>
                    </a:solidFill>
                  </a:tcPr>
                </a:tc>
                <a:tc>
                  <a:txBody>
                    <a:bodyPr/>
                    <a:lstStyle/>
                    <a:p>
                      <a:pPr algn="ctr">
                        <a:defRPr sz="1000">
                          <a:latin typeface="Montserrat"/>
                        </a:defRPr>
                      </a:pPr>
                      <a:r>
                        <a:t>765</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48.9%</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HGR 270 Reynosa</a:t>
                      </a:r>
                    </a:p>
                  </a:txBody>
                  <a:tcPr>
                    <a:solidFill>
                      <a:srgbClr val="FFFFFF"/>
                    </a:solidFill>
                  </a:tcPr>
                </a:tc>
                <a:tc>
                  <a:txBody>
                    <a:bodyPr/>
                    <a:lstStyle/>
                    <a:p>
                      <a:pPr algn="ctr">
                        <a:defRPr sz="1000">
                          <a:latin typeface="Montserrat"/>
                        </a:defRPr>
                      </a:pPr>
                      <a:r>
                        <a:t>7,558</a:t>
                      </a:r>
                    </a:p>
                  </a:txBody>
                  <a:tcPr>
                    <a:solidFill>
                      <a:srgbClr val="FFFFFF"/>
                    </a:solidFill>
                  </a:tcPr>
                </a:tc>
                <a:tc>
                  <a:txBody>
                    <a:bodyPr/>
                    <a:lstStyle/>
                    <a:p>
                      <a:pPr algn="ctr">
                        <a:defRPr sz="1000">
                          <a:latin typeface="Montserrat"/>
                        </a:defRPr>
                      </a:pPr>
                      <a:r>
                        <a:t>3,337</a:t>
                      </a:r>
                    </a:p>
                  </a:txBody>
                  <a:tcPr>
                    <a:solidFill>
                      <a:srgbClr val="FFFFFF"/>
                    </a:solidFill>
                  </a:tcPr>
                </a:tc>
                <a:tc>
                  <a:txBody>
                    <a:bodyPr/>
                    <a:lstStyle/>
                    <a:p>
                      <a:pPr algn="ctr">
                        <a:defRPr sz="1000">
                          <a:latin typeface="Montserrat"/>
                        </a:defRPr>
                      </a:pPr>
                      <a:r>
                        <a:t>4,593</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44.8%</a:t>
                      </a:r>
                    </a:p>
                  </a:txBody>
                  <a:tcPr>
                    <a:solidFill>
                      <a:srgbClr val="ECD3D9"/>
                    </a:solidFill>
                  </a:tcPr>
                </a:tc>
                <a:extLst>
                  <a:ext uri="{0D108BD9-81ED-4DB2-BD59-A6C34878D82A}">
                    <a16:rowId xmlns:a16="http://schemas.microsoft.com/office/drawing/2014/main" val="10003"/>
                  </a:ext>
                </a:extLst>
              </a:tr>
              <a:tr h="284400">
                <a:tc>
                  <a:txBody>
                    <a:bodyPr/>
                    <a:lstStyle/>
                    <a:p>
                      <a:pPr algn="l">
                        <a:defRPr sz="1000">
                          <a:latin typeface="Montserrat"/>
                        </a:defRPr>
                      </a:pPr>
                      <a:r>
                        <a:t>HGZ 13 Matamoros</a:t>
                      </a:r>
                    </a:p>
                  </a:txBody>
                  <a:tcPr>
                    <a:solidFill>
                      <a:srgbClr val="EFEFEF"/>
                    </a:solidFill>
                  </a:tcPr>
                </a:tc>
                <a:tc>
                  <a:txBody>
                    <a:bodyPr/>
                    <a:lstStyle/>
                    <a:p>
                      <a:pPr algn="ctr">
                        <a:defRPr sz="1000">
                          <a:latin typeface="Montserrat"/>
                        </a:defRPr>
                      </a:pPr>
                      <a:r>
                        <a:t>5,327</a:t>
                      </a:r>
                    </a:p>
                  </a:txBody>
                  <a:tcPr>
                    <a:solidFill>
                      <a:srgbClr val="EFEFEF"/>
                    </a:solidFill>
                  </a:tcPr>
                </a:tc>
                <a:tc>
                  <a:txBody>
                    <a:bodyPr/>
                    <a:lstStyle/>
                    <a:p>
                      <a:pPr algn="ctr">
                        <a:defRPr sz="1000">
                          <a:latin typeface="Montserrat"/>
                        </a:defRPr>
                      </a:pPr>
                      <a:r>
                        <a:t>1,055</a:t>
                      </a:r>
                    </a:p>
                  </a:txBody>
                  <a:tcPr>
                    <a:solidFill>
                      <a:srgbClr val="EFEFEF"/>
                    </a:solidFill>
                  </a:tcPr>
                </a:tc>
                <a:tc>
                  <a:txBody>
                    <a:bodyPr/>
                    <a:lstStyle/>
                    <a:p>
                      <a:pPr algn="ctr">
                        <a:defRPr sz="1000">
                          <a:latin typeface="Montserrat"/>
                        </a:defRPr>
                      </a:pPr>
                      <a:r>
                        <a:t>2,976</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43.8%</a:t>
                      </a:r>
                    </a:p>
                  </a:txBody>
                  <a:tcPr>
                    <a:solidFill>
                      <a:srgbClr val="ECD3D9"/>
                    </a:solidFill>
                  </a:tcPr>
                </a:tc>
                <a:extLst>
                  <a:ext uri="{0D108BD9-81ED-4DB2-BD59-A6C34878D82A}">
                    <a16:rowId xmlns:a16="http://schemas.microsoft.com/office/drawing/2014/main" val="10004"/>
                  </a:ext>
                </a:extLst>
              </a:tr>
              <a:tr h="284400">
                <a:tc>
                  <a:txBody>
                    <a:bodyPr/>
                    <a:lstStyle/>
                    <a:p>
                      <a:pPr algn="l">
                        <a:defRPr sz="1000">
                          <a:latin typeface="Montserrat"/>
                        </a:defRPr>
                      </a:pPr>
                      <a:r>
                        <a:t>HGZ-UMAA 15 Ciudad Reynosa</a:t>
                      </a:r>
                    </a:p>
                  </a:txBody>
                  <a:tcPr>
                    <a:solidFill>
                      <a:srgbClr val="FFFFFF"/>
                    </a:solidFill>
                  </a:tcPr>
                </a:tc>
                <a:tc>
                  <a:txBody>
                    <a:bodyPr/>
                    <a:lstStyle/>
                    <a:p>
                      <a:pPr algn="ctr">
                        <a:defRPr sz="1000">
                          <a:latin typeface="Montserrat"/>
                        </a:defRPr>
                      </a:pPr>
                      <a:r>
                        <a:t>6,200</a:t>
                      </a:r>
                    </a:p>
                  </a:txBody>
                  <a:tcPr>
                    <a:solidFill>
                      <a:srgbClr val="FFFFFF"/>
                    </a:solidFill>
                  </a:tcPr>
                </a:tc>
                <a:tc>
                  <a:txBody>
                    <a:bodyPr/>
                    <a:lstStyle/>
                    <a:p>
                      <a:pPr algn="ctr">
                        <a:defRPr sz="1000">
                          <a:latin typeface="Montserrat"/>
                        </a:defRPr>
                      </a:pPr>
                      <a:r>
                        <a:t>2,267</a:t>
                      </a:r>
                    </a:p>
                  </a:txBody>
                  <a:tcPr>
                    <a:solidFill>
                      <a:srgbClr val="FFFFFF"/>
                    </a:solidFill>
                  </a:tcPr>
                </a:tc>
                <a:tc>
                  <a:txBody>
                    <a:bodyPr/>
                    <a:lstStyle/>
                    <a:p>
                      <a:pPr algn="ctr">
                        <a:defRPr sz="1000">
                          <a:latin typeface="Montserrat"/>
                        </a:defRPr>
                      </a:pPr>
                      <a:r>
                        <a:t>3,472</a:t>
                      </a:r>
                    </a:p>
                  </a:txBody>
                  <a:tcPr>
                    <a:solidFill>
                      <a:srgbClr val="ECD3D9"/>
                    </a:solidFill>
                  </a:tcPr>
                </a:tc>
                <a:tc>
                  <a:txBody>
                    <a:bodyPr/>
                    <a:lstStyle/>
                    <a:p>
                      <a:pPr algn="ctr">
                        <a:defRPr sz="1000">
                          <a:latin typeface="Montserrat"/>
                        </a:defRPr>
                      </a:pPr>
                      <a:r>
                        <a:t>8,154</a:t>
                      </a:r>
                    </a:p>
                  </a:txBody>
                  <a:tcPr>
                    <a:solidFill>
                      <a:srgbClr val="ECD3D9"/>
                    </a:solidFill>
                  </a:tcPr>
                </a:tc>
                <a:tc>
                  <a:txBody>
                    <a:bodyPr/>
                    <a:lstStyle/>
                    <a:p>
                      <a:pPr algn="ctr">
                        <a:defRPr sz="1000">
                          <a:latin typeface="Montserrat"/>
                        </a:defRPr>
                      </a:pPr>
                      <a:r>
                        <a:t>42.6%</a:t>
                      </a:r>
                    </a:p>
                  </a:txBody>
                  <a:tcPr>
                    <a:solidFill>
                      <a:srgbClr val="ECD3D9"/>
                    </a:solidFill>
                  </a:tcPr>
                </a:tc>
                <a:extLst>
                  <a:ext uri="{0D108BD9-81ED-4DB2-BD59-A6C34878D82A}">
                    <a16:rowId xmlns:a16="http://schemas.microsoft.com/office/drawing/2014/main" val="10005"/>
                  </a:ext>
                </a:extLst>
              </a:tr>
              <a:tr h="284400">
                <a:tc>
                  <a:txBody>
                    <a:bodyPr/>
                    <a:lstStyle/>
                    <a:p>
                      <a:pPr algn="l">
                        <a:defRPr sz="1000">
                          <a:latin typeface="Montserrat"/>
                        </a:defRPr>
                      </a:pPr>
                      <a:r>
                        <a:t>HGR 6 Ciudad Madero.</a:t>
                      </a:r>
                    </a:p>
                  </a:txBody>
                  <a:tcPr>
                    <a:solidFill>
                      <a:srgbClr val="EFEFEF"/>
                    </a:solidFill>
                  </a:tcPr>
                </a:tc>
                <a:tc>
                  <a:txBody>
                    <a:bodyPr/>
                    <a:lstStyle/>
                    <a:p>
                      <a:pPr algn="ctr">
                        <a:defRPr sz="1000">
                          <a:latin typeface="Montserrat"/>
                        </a:defRPr>
                      </a:pPr>
                      <a:r>
                        <a:t>11,691</a:t>
                      </a:r>
                    </a:p>
                  </a:txBody>
                  <a:tcPr>
                    <a:solidFill>
                      <a:srgbClr val="EFEFEF"/>
                    </a:solidFill>
                  </a:tcPr>
                </a:tc>
                <a:tc>
                  <a:txBody>
                    <a:bodyPr/>
                    <a:lstStyle/>
                    <a:p>
                      <a:pPr algn="ctr">
                        <a:defRPr sz="1000">
                          <a:latin typeface="Montserrat"/>
                        </a:defRPr>
                      </a:pPr>
                      <a:r>
                        <a:t>2,071</a:t>
                      </a:r>
                    </a:p>
                  </a:txBody>
                  <a:tcPr>
                    <a:solidFill>
                      <a:srgbClr val="EFEFEF"/>
                    </a:solidFill>
                  </a:tcPr>
                </a:tc>
                <a:tc>
                  <a:txBody>
                    <a:bodyPr/>
                    <a:lstStyle/>
                    <a:p>
                      <a:pPr algn="ctr">
                        <a:defRPr sz="1000">
                          <a:latin typeface="Montserrat"/>
                        </a:defRPr>
                      </a:pPr>
                      <a:r>
                        <a:t>5,873</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41.5%</a:t>
                      </a:r>
                    </a:p>
                  </a:txBody>
                  <a:tcPr>
                    <a:solidFill>
                      <a:srgbClr val="ECD3D9"/>
                    </a:solidFill>
                  </a:tcPr>
                </a:tc>
                <a:extLst>
                  <a:ext uri="{0D108BD9-81ED-4DB2-BD59-A6C34878D82A}">
                    <a16:rowId xmlns:a16="http://schemas.microsoft.com/office/drawing/2014/main" val="10006"/>
                  </a:ext>
                </a:extLst>
              </a:tr>
              <a:tr h="284400">
                <a:tc>
                  <a:txBody>
                    <a:bodyPr/>
                    <a:lstStyle/>
                    <a:p>
                      <a:pPr algn="l">
                        <a:defRPr sz="1000">
                          <a:latin typeface="Montserrat"/>
                        </a:defRPr>
                      </a:pPr>
                      <a:r>
                        <a:t>HGZMF 1 Ciudad Victoria</a:t>
                      </a:r>
                    </a:p>
                  </a:txBody>
                  <a:tcPr>
                    <a:solidFill>
                      <a:srgbClr val="FFFFFF"/>
                    </a:solidFill>
                  </a:tcPr>
                </a:tc>
                <a:tc>
                  <a:txBody>
                    <a:bodyPr/>
                    <a:lstStyle/>
                    <a:p>
                      <a:pPr algn="ctr">
                        <a:defRPr sz="1000">
                          <a:latin typeface="Montserrat"/>
                        </a:defRPr>
                      </a:pPr>
                      <a:r>
                        <a:t>3,942</a:t>
                      </a:r>
                    </a:p>
                  </a:txBody>
                  <a:tcPr>
                    <a:solidFill>
                      <a:srgbClr val="FFFFFF"/>
                    </a:solidFill>
                  </a:tcPr>
                </a:tc>
                <a:tc>
                  <a:txBody>
                    <a:bodyPr/>
                    <a:lstStyle/>
                    <a:p>
                      <a:pPr algn="ctr">
                        <a:defRPr sz="1000">
                          <a:latin typeface="Montserrat"/>
                        </a:defRPr>
                      </a:pPr>
                      <a:r>
                        <a:t>858</a:t>
                      </a:r>
                    </a:p>
                  </a:txBody>
                  <a:tcPr>
                    <a:solidFill>
                      <a:srgbClr val="FFFFFF"/>
                    </a:solidFill>
                  </a:tcPr>
                </a:tc>
                <a:tc>
                  <a:txBody>
                    <a:bodyPr/>
                    <a:lstStyle/>
                    <a:p>
                      <a:pPr algn="ctr">
                        <a:defRPr sz="1000">
                          <a:latin typeface="Montserrat"/>
                        </a:defRPr>
                      </a:pPr>
                      <a:r>
                        <a:t>2,083</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38.3%</a:t>
                      </a:r>
                    </a:p>
                  </a:txBody>
                  <a:tcPr>
                    <a:solidFill>
                      <a:srgbClr val="ECD3D9"/>
                    </a:solidFill>
                  </a:tcPr>
                </a:tc>
                <a:extLst>
                  <a:ext uri="{0D108BD9-81ED-4DB2-BD59-A6C34878D82A}">
                    <a16:rowId xmlns:a16="http://schemas.microsoft.com/office/drawing/2014/main" val="10007"/>
                  </a:ext>
                </a:extLst>
              </a:tr>
              <a:tr h="284400">
                <a:tc>
                  <a:txBody>
                    <a:bodyPr/>
                    <a:lstStyle/>
                    <a:p>
                      <a:pPr algn="l">
                        <a:defRPr sz="1000">
                          <a:latin typeface="Montserrat"/>
                        </a:defRPr>
                      </a:pPr>
                      <a:r>
                        <a:t>UMAA 39 y Rehab</a:t>
                      </a:r>
                    </a:p>
                  </a:txBody>
                  <a:tcPr>
                    <a:solidFill>
                      <a:srgbClr val="EFEFEF"/>
                    </a:solidFill>
                  </a:tcPr>
                </a:tc>
                <a:tc>
                  <a:txBody>
                    <a:bodyPr/>
                    <a:lstStyle/>
                    <a:p>
                      <a:pPr algn="ctr">
                        <a:defRPr sz="1000">
                          <a:latin typeface="Montserrat"/>
                        </a:defRPr>
                      </a:pPr>
                      <a:r>
                        <a:t>1,128</a:t>
                      </a:r>
                    </a:p>
                  </a:txBody>
                  <a:tcPr>
                    <a:solidFill>
                      <a:srgbClr val="EFEFEF"/>
                    </a:solidFill>
                  </a:tcPr>
                </a:tc>
                <a:tc>
                  <a:txBody>
                    <a:bodyPr/>
                    <a:lstStyle/>
                    <a:p>
                      <a:pPr algn="ctr">
                        <a:defRPr sz="1000">
                          <a:latin typeface="Montserrat"/>
                        </a:defRPr>
                      </a:pPr>
                      <a:r>
                        <a:t>-36</a:t>
                      </a:r>
                    </a:p>
                  </a:txBody>
                  <a:tcPr>
                    <a:solidFill>
                      <a:srgbClr val="EFEFEF"/>
                    </a:solidFill>
                  </a:tcPr>
                </a:tc>
                <a:tc>
                  <a:txBody>
                    <a:bodyPr/>
                    <a:lstStyle/>
                    <a:p>
                      <a:pPr algn="ctr">
                        <a:defRPr sz="1000">
                          <a:latin typeface="Montserrat"/>
                        </a:defRPr>
                      </a:pPr>
                      <a:r>
                        <a:t>595</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38.0%</a:t>
                      </a:r>
                    </a:p>
                  </a:txBody>
                  <a:tcPr>
                    <a:solidFill>
                      <a:srgbClr val="ECD3D9"/>
                    </a:solidFill>
                  </a:tcPr>
                </a:tc>
                <a:extLst>
                  <a:ext uri="{0D108BD9-81ED-4DB2-BD59-A6C34878D82A}">
                    <a16:rowId xmlns:a16="http://schemas.microsoft.com/office/drawing/2014/main" val="10008"/>
                  </a:ext>
                </a:extLst>
              </a:tr>
              <a:tr h="284400">
                <a:tc>
                  <a:txBody>
                    <a:bodyPr/>
                    <a:lstStyle/>
                    <a:p>
                      <a:pPr algn="l">
                        <a:defRPr sz="1000">
                          <a:latin typeface="Montserrat"/>
                        </a:defRPr>
                      </a:pPr>
                      <a:r>
                        <a:t>HGZ 11 Nuevo Laredo</a:t>
                      </a:r>
                    </a:p>
                  </a:txBody>
                  <a:tcPr>
                    <a:solidFill>
                      <a:srgbClr val="FFFFFF"/>
                    </a:solidFill>
                  </a:tcPr>
                </a:tc>
                <a:tc>
                  <a:txBody>
                    <a:bodyPr/>
                    <a:lstStyle/>
                    <a:p>
                      <a:pPr algn="ctr">
                        <a:defRPr sz="1000">
                          <a:latin typeface="Montserrat"/>
                        </a:defRPr>
                      </a:pPr>
                      <a:r>
                        <a:t>4,695</a:t>
                      </a:r>
                    </a:p>
                  </a:txBody>
                  <a:tcPr>
                    <a:solidFill>
                      <a:srgbClr val="FFFFFF"/>
                    </a:solidFill>
                  </a:tcPr>
                </a:tc>
                <a:tc>
                  <a:txBody>
                    <a:bodyPr/>
                    <a:lstStyle/>
                    <a:p>
                      <a:pPr algn="ctr">
                        <a:defRPr sz="1000">
                          <a:latin typeface="Montserrat"/>
                        </a:defRPr>
                      </a:pPr>
                      <a:r>
                        <a:t>1,011</a:t>
                      </a:r>
                    </a:p>
                  </a:txBody>
                  <a:tcPr>
                    <a:solidFill>
                      <a:srgbClr val="FFFFFF"/>
                    </a:solidFill>
                  </a:tcPr>
                </a:tc>
                <a:tc>
                  <a:txBody>
                    <a:bodyPr/>
                    <a:lstStyle/>
                    <a:p>
                      <a:pPr algn="ctr">
                        <a:defRPr sz="1000">
                          <a:latin typeface="Montserrat"/>
                        </a:defRPr>
                      </a:pPr>
                      <a:r>
                        <a:t>2,408</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35.4%</a:t>
                      </a:r>
                    </a:p>
                  </a:txBody>
                  <a:tcPr>
                    <a:solidFill>
                      <a:srgbClr val="ECD3D9"/>
                    </a:solidFill>
                  </a:tcPr>
                </a:tc>
                <a:extLst>
                  <a:ext uri="{0D108BD9-81ED-4DB2-BD59-A6C34878D82A}">
                    <a16:rowId xmlns:a16="http://schemas.microsoft.com/office/drawing/2014/main" val="10009"/>
                  </a:ext>
                </a:extLst>
              </a:tr>
              <a:tr h="284400">
                <a:tc>
                  <a:txBody>
                    <a:bodyPr/>
                    <a:lstStyle/>
                    <a:p>
                      <a:pPr algn="l">
                        <a:defRPr sz="1000">
                          <a:latin typeface="Montserrat"/>
                        </a:defRPr>
                      </a:pPr>
                      <a:r>
                        <a:t>UMAA 76 Nuevo Laredo</a:t>
                      </a:r>
                    </a:p>
                  </a:txBody>
                  <a:tcPr>
                    <a:solidFill>
                      <a:srgbClr val="EFEFEF"/>
                    </a:solidFill>
                  </a:tcPr>
                </a:tc>
                <a:tc>
                  <a:txBody>
                    <a:bodyPr/>
                    <a:lstStyle/>
                    <a:p>
                      <a:pPr algn="ctr">
                        <a:defRPr sz="1000">
                          <a:latin typeface="Montserrat"/>
                        </a:defRPr>
                      </a:pPr>
                      <a:r>
                        <a:t>692</a:t>
                      </a:r>
                    </a:p>
                  </a:txBody>
                  <a:tcPr>
                    <a:solidFill>
                      <a:srgbClr val="EFEFEF"/>
                    </a:solidFill>
                  </a:tcPr>
                </a:tc>
                <a:tc>
                  <a:txBody>
                    <a:bodyPr/>
                    <a:lstStyle/>
                    <a:p>
                      <a:pPr algn="ctr">
                        <a:defRPr sz="1000">
                          <a:latin typeface="Montserrat"/>
                        </a:defRPr>
                      </a:pPr>
                      <a:r>
                        <a:t>692</a:t>
                      </a:r>
                    </a:p>
                  </a:txBody>
                  <a:tcPr>
                    <a:solidFill>
                      <a:srgbClr val="EFEFEF"/>
                    </a:solidFill>
                  </a:tcPr>
                </a:tc>
                <a:tc>
                  <a:txBody>
                    <a:bodyPr/>
                    <a:lstStyle/>
                    <a:p>
                      <a:pPr algn="ctr">
                        <a:defRPr sz="1000">
                          <a:latin typeface="Montserrat"/>
                        </a:defRPr>
                      </a:pPr>
                      <a:r>
                        <a:t>433</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27.6%</a:t>
                      </a:r>
                    </a:p>
                  </a:txBody>
                  <a:tcPr>
                    <a:solidFill>
                      <a:srgbClr val="ECD3D9"/>
                    </a:solidFill>
                  </a:tcPr>
                </a:tc>
                <a:extLst>
                  <a:ext uri="{0D108BD9-81ED-4DB2-BD59-A6C34878D82A}">
                    <a16:rowId xmlns:a16="http://schemas.microsoft.com/office/drawing/2014/main" val="10010"/>
                  </a:ext>
                </a:extLst>
              </a:tr>
              <a:tr h="284400">
                <a:tc>
                  <a:txBody>
                    <a:bodyPr/>
                    <a:lstStyle/>
                    <a:p>
                      <a:pPr algn="l">
                        <a:defRPr sz="1000">
                          <a:latin typeface="Montserrat"/>
                        </a:defRPr>
                      </a:pPr>
                      <a:r>
                        <a:t>HGS 17 Miguel Alemán</a:t>
                      </a:r>
                    </a:p>
                  </a:txBody>
                  <a:tcPr>
                    <a:solidFill>
                      <a:srgbClr val="FFFFFF"/>
                    </a:solidFill>
                  </a:tcPr>
                </a:tc>
                <a:tc>
                  <a:txBody>
                    <a:bodyPr/>
                    <a:lstStyle/>
                    <a:p>
                      <a:pPr algn="ctr">
                        <a:defRPr sz="1000">
                          <a:latin typeface="Montserrat"/>
                        </a:defRPr>
                      </a:pPr>
                      <a:r>
                        <a:t>167</a:t>
                      </a:r>
                    </a:p>
                  </a:txBody>
                  <a:tcPr>
                    <a:solidFill>
                      <a:srgbClr val="FFFFFF"/>
                    </a:solidFill>
                  </a:tcPr>
                </a:tc>
                <a:tc>
                  <a:txBody>
                    <a:bodyPr/>
                    <a:lstStyle/>
                    <a:p>
                      <a:pPr algn="ctr">
                        <a:defRPr sz="1000">
                          <a:latin typeface="Montserrat"/>
                        </a:defRPr>
                      </a:pPr>
                      <a:r>
                        <a:t>109</a:t>
                      </a:r>
                    </a:p>
                  </a:txBody>
                  <a:tcPr>
                    <a:solidFill>
                      <a:srgbClr val="FFFFFF"/>
                    </a:solidFill>
                  </a:tcPr>
                </a:tc>
                <a:tc>
                  <a:txBody>
                    <a:bodyPr/>
                    <a:lstStyle/>
                    <a:p>
                      <a:pPr algn="ctr">
                        <a:defRPr sz="1000">
                          <a:latin typeface="Montserrat"/>
                        </a:defRPr>
                      </a:pPr>
                      <a:r>
                        <a:t>129</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16.5%</a:t>
                      </a:r>
                    </a:p>
                  </a:txBody>
                  <a:tcPr>
                    <a:solidFill>
                      <a:srgbClr val="ECD3D9"/>
                    </a:solidFill>
                  </a:tcPr>
                </a:tc>
                <a:extLst>
                  <a:ext uri="{0D108BD9-81ED-4DB2-BD59-A6C34878D82A}">
                    <a16:rowId xmlns:a16="http://schemas.microsoft.com/office/drawing/2014/main" val="10011"/>
                  </a:ext>
                </a:extLst>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46,737</a:t>
                      </a:r>
                    </a:p>
                  </a:txBody>
                  <a:tcPr>
                    <a:solidFill>
                      <a:srgbClr val="D3E9E7"/>
                    </a:solidFill>
                  </a:tcPr>
                </a:tc>
                <a:tc>
                  <a:txBody>
                    <a:bodyPr/>
                    <a:lstStyle/>
                    <a:p>
                      <a:pPr algn="ctr">
                        <a:defRPr sz="1000" b="1">
                          <a:solidFill>
                            <a:srgbClr val="006556"/>
                          </a:solidFill>
                          <a:latin typeface="Montserrat"/>
                        </a:defRPr>
                      </a:pPr>
                      <a:r>
                        <a:t>13,362</a:t>
                      </a:r>
                    </a:p>
                  </a:txBody>
                  <a:tcPr>
                    <a:solidFill>
                      <a:srgbClr val="D3E9E7"/>
                    </a:solidFill>
                  </a:tcPr>
                </a:tc>
                <a:tc>
                  <a:txBody>
                    <a:bodyPr/>
                    <a:lstStyle/>
                    <a:p>
                      <a:pPr algn="ctr">
                        <a:defRPr sz="1000" b="1">
                          <a:solidFill>
                            <a:srgbClr val="FFFFFF"/>
                          </a:solidFill>
                          <a:latin typeface="Montserrat"/>
                        </a:defRPr>
                      </a:pPr>
                      <a:r>
                        <a:t>26,545</a:t>
                      </a:r>
                    </a:p>
                  </a:txBody>
                  <a:tcPr>
                    <a:solidFill>
                      <a:srgbClr val="9F2241"/>
                    </a:solidFill>
                  </a:tcPr>
                </a:tc>
                <a:tc>
                  <a:txBody>
                    <a:bodyPr/>
                    <a:lstStyle/>
                    <a:p>
                      <a:pPr algn="ctr">
                        <a:defRPr sz="1000" b="1">
                          <a:solidFill>
                            <a:srgbClr val="FFFFFF"/>
                          </a:solidFill>
                          <a:latin typeface="Montserrat"/>
                        </a:defRPr>
                      </a:pPr>
                      <a:r>
                        <a:t>62,930</a:t>
                      </a:r>
                    </a:p>
                  </a:txBody>
                  <a:tcPr>
                    <a:solidFill>
                      <a:srgbClr val="9F2241"/>
                    </a:solidFill>
                  </a:tcPr>
                </a:tc>
                <a:tc>
                  <a:txBody>
                    <a:bodyPr/>
                    <a:lstStyle/>
                    <a:p>
                      <a:pPr algn="ctr">
                        <a:defRPr sz="1000" b="1">
                          <a:solidFill>
                            <a:srgbClr val="FFFFFF"/>
                          </a:solidFill>
                          <a:latin typeface="Montserrat"/>
                        </a:defRPr>
                      </a:pPr>
                      <a:r>
                        <a:t>42.2%</a:t>
                      </a:r>
                    </a:p>
                  </a:txBody>
                  <a:tcPr>
                    <a:solidFill>
                      <a:srgbClr val="9F2241"/>
                    </a:solidFill>
                  </a:tcPr>
                </a:tc>
                <a:extLst>
                  <a:ext uri="{0D108BD9-81ED-4DB2-BD59-A6C34878D82A}">
                    <a16:rowId xmlns:a16="http://schemas.microsoft.com/office/drawing/2014/main" val="10012"/>
                  </a:ext>
                </a:extLst>
              </a:tr>
            </a:tbl>
          </a:graphicData>
        </a:graphic>
      </p:graphicFrame>
      <p:graphicFrame>
        <p:nvGraphicFramePr>
          <p:cNvPr id="234" name="Chart 233"/>
          <p:cNvGraphicFramePr>
            <a:graphicFrameLocks noGrp="1"/>
          </p:cNvGraphicFramePr>
          <p:nvPr/>
        </p:nvGraphicFramePr>
        <p:xfrm>
          <a:off x="4780800" y="560160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5" name="TextBox 234"/>
          <p:cNvSpPr txBox="1"/>
          <p:nvPr/>
        </p:nvSpPr>
        <p:spPr>
          <a:xfrm>
            <a:off x="4780800" y="6321600"/>
            <a:ext cx="1800000" cy="360000"/>
          </a:xfrm>
          <a:prstGeom prst="rect">
            <a:avLst/>
          </a:prstGeom>
          <a:noFill/>
        </p:spPr>
        <p:txBody>
          <a:bodyPr wrap="none">
            <a:spAutoFit/>
          </a:bodyPr>
          <a:lstStyle/>
          <a:p>
            <a:pPr algn="ctr"/>
            <a:r>
              <a:rPr sz="2400" b="1">
                <a:solidFill>
                  <a:srgbClr val="9F2241"/>
                </a:solidFill>
                <a:latin typeface="Montserrat"/>
              </a:rPr>
              <a:t>42.2%</a:t>
            </a:r>
          </a:p>
        </p:txBody>
      </p:sp>
      <p:sp>
        <p:nvSpPr>
          <p:cNvPr id="236" name="TextBox 235"/>
          <p:cNvSpPr txBox="1"/>
          <p:nvPr/>
        </p:nvSpPr>
        <p:spPr>
          <a:xfrm>
            <a:off x="4780800" y="722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5601600"/>
            <a:ext cx="2854800" cy="1198800"/>
          </a:xfrm>
          <a:prstGeom prst="rect">
            <a:avLst/>
          </a:prstGeom>
          <a:noFill/>
        </p:spPr>
        <p:txBody>
          <a:bodyPr wrap="square">
            <a:spAutoFit/>
          </a:bodyPr>
          <a:lstStyle/>
          <a:p>
            <a:pPr algn="ctr">
              <a:defRPr sz="3600" b="1">
                <a:solidFill>
                  <a:srgbClr val="9F2241"/>
                </a:solidFill>
                <a:latin typeface="Montserrat"/>
              </a:defRPr>
            </a:pPr>
            <a:r>
              <a:t>62,930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111 en Hospitales, 3 en sede, 26 en UMF y 159 sustitutos</a:t>
            </a:r>
          </a:p>
        </p:txBody>
      </p:sp>
      <p:sp>
        <p:nvSpPr>
          <p:cNvPr id="5" name="TextBox 4"/>
          <p:cNvSpPr txBox="1"/>
          <p:nvPr/>
        </p:nvSpPr>
        <p:spPr>
          <a:xfrm>
            <a:off x="360000" y="1419945"/>
            <a:ext cx="3398687" cy="400110"/>
          </a:xfrm>
          <a:prstGeom prst="rect">
            <a:avLst/>
          </a:prstGeom>
          <a:noFill/>
        </p:spPr>
        <p:txBody>
          <a:bodyPr wrap="none" anchor="ctr">
            <a:spAutoFit/>
          </a:bodyPr>
          <a:lstStyle/>
          <a:p>
            <a:pPr>
              <a:defRPr sz="2000" b="1">
                <a:solidFill>
                  <a:srgbClr val="BC955C"/>
                </a:solidFill>
                <a:latin typeface="Montserrat"/>
              </a:defRPr>
            </a:pPr>
            <a:r>
              <a:t>111 en Hospitales</a:t>
            </a:r>
            <a:r>
              <a:rPr lang="es-MX"/>
              <a:t> (1 de 4)</a:t>
            </a:r>
            <a:endParaRP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4029842"/>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16">
                  <a:txBody>
                    <a:bodyPr/>
                    <a:lstStyle/>
                    <a:p>
                      <a:pPr algn="ctr">
                        <a:defRPr sz="800" b="1">
                          <a:solidFill>
                            <a:srgbClr val="000000"/>
                          </a:solidFill>
                          <a:latin typeface="Montserrat"/>
                        </a:defRPr>
                      </a:pPr>
                      <a:r>
                        <a:t>Hospital General Regional 270</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7"/>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8"/>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9"/>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10"/>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1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Urología Ginecológica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5"/>
                  </a:ext>
                </a:extLst>
              </a:tr>
              <a:tr h="216015">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35</a:t>
                      </a:r>
                    </a:p>
                  </a:txBody>
                  <a:tcPr>
                    <a:solidFill>
                      <a:srgbClr val="D3E9E7"/>
                    </a:solidFill>
                  </a:tcPr>
                </a:tc>
                <a:extLst>
                  <a:ext uri="{0D108BD9-81ED-4DB2-BD59-A6C34878D82A}">
                    <a16:rowId xmlns:a16="http://schemas.microsoft.com/office/drawing/2014/main" val="10016"/>
                  </a:ext>
                </a:extLst>
              </a:tr>
            </a:tbl>
          </a:graphicData>
        </a:graphic>
      </p:graphicFrame>
      <p:graphicFrame>
        <p:nvGraphicFramePr>
          <p:cNvPr id="8" name="Table 7"/>
          <p:cNvGraphicFramePr>
            <a:graphicFrameLocks noGrp="1"/>
          </p:cNvGraphicFramePr>
          <p:nvPr/>
        </p:nvGraphicFramePr>
        <p:xfrm>
          <a:off x="3960000" y="1908000"/>
          <a:ext cx="3456000" cy="249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0">
                  <a:txBody>
                    <a:bodyPr/>
                    <a:lstStyle/>
                    <a:p>
                      <a:pPr algn="ctr">
                        <a:defRPr sz="800" b="1">
                          <a:solidFill>
                            <a:srgbClr val="000000"/>
                          </a:solidFill>
                          <a:latin typeface="Montserrat"/>
                        </a:defRPr>
                      </a:pPr>
                      <a:r>
                        <a:t>Hospital General Regional 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nvGraphicFramePr>
        <p:xfrm>
          <a:off x="360000" y="6335999"/>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General de Subzona 17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nvGraphicFramePr>
        <p:xfrm>
          <a:off x="3960000" y="6335999"/>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09473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081545"/>
            <a:ext cx="3448380" cy="400110"/>
          </a:xfrm>
          <a:prstGeom prst="rect">
            <a:avLst/>
          </a:prstGeom>
          <a:noFill/>
        </p:spPr>
        <p:txBody>
          <a:bodyPr wrap="none" anchor="ctr">
            <a:spAutoFit/>
          </a:bodyPr>
          <a:lstStyle/>
          <a:p>
            <a:pPr algn="l">
              <a:defRPr sz="2000" b="1">
                <a:solidFill>
                  <a:srgbClr val="BC955C"/>
                </a:solidFill>
                <a:latin typeface="Montserrat"/>
              </a:defRPr>
            </a:pPr>
            <a:r>
              <a:t>111 en Hospitales (</a:t>
            </a:r>
            <a:r>
              <a:rPr lang="es-MX"/>
              <a:t>2 de 4</a:t>
            </a:r>
            <a: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27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extLst>
                  <a:ext uri="{0D108BD9-81ED-4DB2-BD59-A6C34878D82A}">
                    <a16:rowId xmlns:a16="http://schemas.microsoft.com/office/drawing/2014/main" val="10009"/>
                  </a:ext>
                </a:extLst>
              </a:tr>
            </a:tbl>
          </a:graphicData>
        </a:graphic>
      </p:graphicFrame>
      <p:graphicFrame>
        <p:nvGraphicFramePr>
          <p:cNvPr id="8" name="Table 7"/>
          <p:cNvGraphicFramePr>
            <a:graphicFrameLocks noGrp="1"/>
          </p:cNvGraphicFramePr>
          <p:nvPr/>
        </p:nvGraphicFramePr>
        <p:xfrm>
          <a:off x="3960000" y="1569600"/>
          <a:ext cx="3456000" cy="2614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0">
                  <a:txBody>
                    <a:bodyPr/>
                    <a:lstStyle/>
                    <a:p>
                      <a:pPr algn="ctr">
                        <a:defRPr sz="800" b="1">
                          <a:solidFill>
                            <a:srgbClr val="000000"/>
                          </a:solidFill>
                          <a:latin typeface="Montserrat"/>
                        </a:defRPr>
                      </a:pPr>
                      <a:r>
                        <a:t>Hospital General de Zona 13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nvGraphicFramePr>
        <p:xfrm>
          <a:off x="360000" y="4485599"/>
          <a:ext cx="3456000" cy="1631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3960000" y="4485599"/>
          <a:ext cx="3456000" cy="1512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6">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6"/>
                  </a:ext>
                </a:extLst>
              </a:tr>
            </a:tbl>
          </a:graphicData>
        </a:graphic>
      </p:graphicFrame>
      <p:graphicFrame>
        <p:nvGraphicFramePr>
          <p:cNvPr id="11" name="Table 10"/>
          <p:cNvGraphicFramePr>
            <a:graphicFrameLocks noGrp="1"/>
          </p:cNvGraphicFramePr>
          <p:nvPr/>
        </p:nvGraphicFramePr>
        <p:xfrm>
          <a:off x="360000" y="6393598"/>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Zona C/MF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3960000" y="6393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Rural Cd Hidalgo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3" name="Table 12"/>
          <p:cNvGraphicFramePr>
            <a:graphicFrameLocks noGrp="1"/>
          </p:cNvGraphicFramePr>
          <p:nvPr/>
        </p:nvGraphicFramePr>
        <p:xfrm>
          <a:off x="360000" y="7797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Rural San Carlos</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4" name="Table 13"/>
          <p:cNvGraphicFramePr>
            <a:graphicFrameLocks noGrp="1"/>
          </p:cNvGraphicFramePr>
          <p:nvPr/>
        </p:nvGraphicFramePr>
        <p:xfrm>
          <a:off x="3960000" y="7797598"/>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Rural Soto la Marina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081545"/>
            <a:ext cx="3449983" cy="400110"/>
          </a:xfrm>
          <a:prstGeom prst="rect">
            <a:avLst/>
          </a:prstGeom>
          <a:noFill/>
        </p:spPr>
        <p:txBody>
          <a:bodyPr wrap="none" anchor="ctr">
            <a:spAutoFit/>
          </a:bodyPr>
          <a:lstStyle/>
          <a:p>
            <a:pPr algn="l">
              <a:defRPr sz="2000" b="1">
                <a:solidFill>
                  <a:srgbClr val="BC955C"/>
                </a:solidFill>
                <a:latin typeface="Montserrat"/>
              </a:defRPr>
            </a:pPr>
            <a:r>
              <a:t>111 en Hospitales (</a:t>
            </a:r>
            <a:r>
              <a:rPr lang="es-MX"/>
              <a:t>3 de 4</a:t>
            </a:r>
            <a: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Rural Tula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360000" y="2901599"/>
            <a:ext cx="6840000" cy="360000"/>
          </a:xfrm>
          <a:prstGeom prst="rect">
            <a:avLst/>
          </a:prstGeom>
          <a:noFill/>
        </p:spPr>
        <p:txBody>
          <a:bodyPr wrap="none" anchor="ctr">
            <a:spAutoFit/>
          </a:bodyPr>
          <a:lstStyle/>
          <a:p>
            <a:pPr algn="l">
              <a:defRPr sz="2000" b="1">
                <a:solidFill>
                  <a:srgbClr val="BC955C"/>
                </a:solidFill>
                <a:latin typeface="Montserrat"/>
              </a:defRPr>
            </a:pPr>
            <a:r>
              <a:t>3 Sede delegacional</a:t>
            </a:r>
          </a:p>
        </p:txBody>
      </p:sp>
      <p:cxnSp>
        <p:nvCxnSpPr>
          <p:cNvPr id="9" name="Connector 8"/>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0000" y="3369599"/>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360000" y="4701598"/>
            <a:ext cx="6840000" cy="360000"/>
          </a:xfrm>
          <a:prstGeom prst="rect">
            <a:avLst/>
          </a:prstGeom>
          <a:noFill/>
        </p:spPr>
        <p:txBody>
          <a:bodyPr wrap="none" anchor="ctr">
            <a:spAutoFit/>
          </a:bodyPr>
          <a:lstStyle/>
          <a:p>
            <a:pPr algn="l">
              <a:defRPr sz="2000" b="1">
                <a:solidFill>
                  <a:srgbClr val="BC955C"/>
                </a:solidFill>
                <a:latin typeface="Montserrat"/>
              </a:defRPr>
            </a:pPr>
            <a:r>
              <a:t>26 en Unidades de Medicina Familiar</a:t>
            </a:r>
          </a:p>
        </p:txBody>
      </p:sp>
      <p:cxnSp>
        <p:nvCxnSpPr>
          <p:cNvPr id="12" name="Connector 11"/>
          <p:cNvCxnSpPr/>
          <p:nvPr/>
        </p:nvCxnSpPr>
        <p:spPr>
          <a:xfrm>
            <a:off x="360000" y="50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1695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4" name="Table 13"/>
          <p:cNvGraphicFramePr>
            <a:graphicFrameLocks noGrp="1"/>
          </p:cNvGraphicFramePr>
          <p:nvPr/>
        </p:nvGraphicFramePr>
        <p:xfrm>
          <a:off x="3960000" y="51695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nvGraphicFramePr>
        <p:xfrm>
          <a:off x="360000" y="6321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nvGraphicFramePr>
        <p:xfrm>
          <a:off x="3960000" y="6321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nvGraphicFramePr>
        <p:xfrm>
          <a:off x="360000" y="7221596"/>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8" name="Table 17"/>
          <p:cNvGraphicFramePr>
            <a:graphicFrameLocks noGrp="1"/>
          </p:cNvGraphicFramePr>
          <p:nvPr/>
        </p:nvGraphicFramePr>
        <p:xfrm>
          <a:off x="3960000" y="7221596"/>
          <a:ext cx="3456000" cy="76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67</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9" name="Table 18"/>
          <p:cNvGraphicFramePr>
            <a:graphicFrameLocks noGrp="1"/>
          </p:cNvGraphicFramePr>
          <p:nvPr/>
        </p:nvGraphicFramePr>
        <p:xfrm>
          <a:off x="360000" y="8121595"/>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0" name="Table 19"/>
          <p:cNvGraphicFramePr>
            <a:graphicFrameLocks noGrp="1"/>
          </p:cNvGraphicFramePr>
          <p:nvPr/>
        </p:nvGraphicFramePr>
        <p:xfrm>
          <a:off x="3960000" y="8121595"/>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299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 name="TextBox 4"/>
          <p:cNvSpPr txBox="1"/>
          <p:nvPr/>
        </p:nvSpPr>
        <p:spPr>
          <a:xfrm>
            <a:off x="360000" y="1081545"/>
            <a:ext cx="6195927" cy="400110"/>
          </a:xfrm>
          <a:prstGeom prst="rect">
            <a:avLst/>
          </a:prstGeom>
          <a:noFill/>
        </p:spPr>
        <p:txBody>
          <a:bodyPr wrap="none" anchor="ctr">
            <a:spAutoFit/>
          </a:bodyPr>
          <a:lstStyle/>
          <a:p>
            <a:pPr algn="l">
              <a:defRPr sz="2000" b="1">
                <a:solidFill>
                  <a:srgbClr val="BC955C"/>
                </a:solidFill>
                <a:latin typeface="Montserrat"/>
              </a:defRPr>
            </a:pPr>
            <a:r>
              <a:t>26 en </a:t>
            </a:r>
            <a:r>
              <a:rPr err="1"/>
              <a:t>Unidades</a:t>
            </a:r>
            <a:r>
              <a:t> de Medicina Familiar (</a:t>
            </a:r>
            <a:r>
              <a:rPr lang="es-MX"/>
              <a:t>4 de 4</a:t>
            </a:r>
            <a:r>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79511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C/UMAA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C/UMAA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360000" y="2889567"/>
            <a:ext cx="6840000" cy="360000"/>
          </a:xfrm>
          <a:prstGeom prst="rect">
            <a:avLst/>
          </a:prstGeom>
          <a:noFill/>
        </p:spPr>
        <p:txBody>
          <a:bodyPr wrap="none" anchor="ctr">
            <a:spAutoFit/>
          </a:bodyPr>
          <a:lstStyle/>
          <a:p>
            <a:pPr algn="l">
              <a:defRPr sz="2000" b="1">
                <a:solidFill>
                  <a:srgbClr val="BC955C"/>
                </a:solidFill>
                <a:latin typeface="Montserrat"/>
              </a:defRPr>
            </a:pPr>
            <a:r>
              <a:t>159 especialistas (sustitutos)</a:t>
            </a:r>
          </a:p>
        </p:txBody>
      </p:sp>
      <p:cxnSp>
        <p:nvCxnSpPr>
          <p:cNvPr id="10" name="Connector 9"/>
          <p:cNvCxnSpPr/>
          <p:nvPr/>
        </p:nvCxnSpPr>
        <p:spPr>
          <a:xfrm>
            <a:off x="360000" y="329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3369599"/>
          <a:ext cx="3456000" cy="381384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17</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16</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30</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23</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12" name="Table 11"/>
          <p:cNvGraphicFramePr>
            <a:graphicFrameLocks noGrp="1"/>
          </p:cNvGraphicFramePr>
          <p:nvPr/>
        </p:nvGraphicFramePr>
        <p:xfrm>
          <a:off x="3960000" y="3369599"/>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159</a:t>
                      </a:r>
                    </a:p>
                  </a:txBody>
                  <a:tcPr>
                    <a:solidFill>
                      <a:srgbClr val="D3E9E7"/>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270000" y="8445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5795176" cy="415498"/>
          </a:xfrm>
          <a:prstGeom prst="rect">
            <a:avLst/>
          </a:prstGeom>
          <a:noFill/>
        </p:spPr>
        <p:txBody>
          <a:bodyPr wrap="none">
            <a:spAutoFit/>
          </a:bodyPr>
          <a:lstStyle/>
          <a:p>
            <a:pPr algn="l">
              <a:defRPr sz="2100" b="1">
                <a:solidFill>
                  <a:srgbClr val="BC955C"/>
                </a:solidFill>
                <a:latin typeface="Montserrat"/>
              </a:defRPr>
            </a:pPr>
            <a:r>
              <a:rPr lang="es-MX" err="1"/>
              <a:t>Contrataciones</a:t>
            </a:r>
            <a:r>
              <a:t> </a:t>
            </a:r>
            <a:r>
              <a:rPr lang="es-MX" err="1"/>
              <a:t>por</a:t>
            </a:r>
            <a:r>
              <a:t> </a:t>
            </a:r>
            <a:r>
              <a:rPr lang="es-MX" err="1"/>
              <a:t>especialidad</a:t>
            </a:r>
            <a:r>
              <a:rPr lang="es-MX"/>
              <a:t> (1 de 2)</a:t>
            </a:r>
            <a:endParaRP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734400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61584">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61584">
                <a:tc>
                  <a:txBody>
                    <a:bodyPr/>
                    <a:lstStyle/>
                    <a:p>
                      <a:pPr algn="l">
                        <a:defRPr sz="1100" b="0">
                          <a:solidFill>
                            <a:srgbClr val="000000"/>
                          </a:solidFill>
                          <a:latin typeface="Montserrat"/>
                        </a:defRPr>
                      </a:pPr>
                      <a:r>
                        <a:t>Medicina Familiar</a:t>
                      </a:r>
                    </a:p>
                  </a:txBody>
                  <a:tcPr marL="45720" marR="45720" anchor="ctr">
                    <a:solidFill>
                      <a:srgbClr val="FFFFFF"/>
                    </a:solidFill>
                  </a:tcPr>
                </a:tc>
                <a:tc>
                  <a:txBody>
                    <a:bodyPr/>
                    <a:lstStyle/>
                    <a:p>
                      <a:pPr algn="ctr">
                        <a:defRPr sz="1100" b="0">
                          <a:solidFill>
                            <a:srgbClr val="000000"/>
                          </a:solidFill>
                          <a:latin typeface="Montserrat"/>
                        </a:defRPr>
                      </a:pPr>
                      <a:r>
                        <a:t>48</a:t>
                      </a:r>
                    </a:p>
                  </a:txBody>
                  <a:tcPr marL="45720" marR="45720" anchor="ctr">
                    <a:solidFill>
                      <a:srgbClr val="FFFFFF"/>
                    </a:solidFill>
                  </a:tcPr>
                </a:tc>
                <a:tc>
                  <a:txBody>
                    <a:bodyPr/>
                    <a:lstStyle/>
                    <a:p>
                      <a:pPr algn="ctr">
                        <a:defRPr sz="1100" b="1">
                          <a:solidFill>
                            <a:srgbClr val="000000"/>
                          </a:solidFill>
                          <a:latin typeface="Montserrat"/>
                        </a:defRPr>
                      </a:pPr>
                      <a:r>
                        <a:t>16.0%</a:t>
                      </a:r>
                    </a:p>
                  </a:txBody>
                  <a:tcPr marL="45720" marR="45720" anchor="ctr">
                    <a:solidFill>
                      <a:srgbClr val="FFFFFF"/>
                    </a:solidFill>
                  </a:tcPr>
                </a:tc>
                <a:extLst>
                  <a:ext uri="{0D108BD9-81ED-4DB2-BD59-A6C34878D82A}">
                    <a16:rowId xmlns:a16="http://schemas.microsoft.com/office/drawing/2014/main" val="10001"/>
                  </a:ext>
                </a:extLst>
              </a:tr>
              <a:tr h="161584">
                <a:tc>
                  <a:txBody>
                    <a:bodyPr/>
                    <a:lstStyle/>
                    <a:p>
                      <a:pPr algn="l">
                        <a:defRPr sz="1100" b="0">
                          <a:solidFill>
                            <a:srgbClr val="000000"/>
                          </a:solidFill>
                          <a:latin typeface="Montserrat"/>
                        </a:defRPr>
                      </a:pPr>
                      <a:r>
                        <a:t>Medicina de Urgencias</a:t>
                      </a:r>
                    </a:p>
                  </a:txBody>
                  <a:tcPr marL="45720" marR="45720" anchor="ctr">
                    <a:solidFill>
                      <a:srgbClr val="D9D9D9"/>
                    </a:solidFill>
                  </a:tcPr>
                </a:tc>
                <a:tc>
                  <a:txBody>
                    <a:bodyPr/>
                    <a:lstStyle/>
                    <a:p>
                      <a:pPr algn="ctr">
                        <a:defRPr sz="1100" b="0">
                          <a:solidFill>
                            <a:srgbClr val="000000"/>
                          </a:solidFill>
                          <a:latin typeface="Montserrat"/>
                        </a:defRPr>
                      </a:pPr>
                      <a:r>
                        <a:t>46</a:t>
                      </a:r>
                    </a:p>
                  </a:txBody>
                  <a:tcPr marL="45720" marR="45720" anchor="ctr">
                    <a:solidFill>
                      <a:srgbClr val="D9D9D9"/>
                    </a:solidFill>
                  </a:tcPr>
                </a:tc>
                <a:tc>
                  <a:txBody>
                    <a:bodyPr/>
                    <a:lstStyle/>
                    <a:p>
                      <a:pPr algn="ctr">
                        <a:defRPr sz="1100" b="1">
                          <a:solidFill>
                            <a:srgbClr val="000000"/>
                          </a:solidFill>
                          <a:latin typeface="Montserrat"/>
                        </a:defRPr>
                      </a:pPr>
                      <a:r>
                        <a:t>31.4%</a:t>
                      </a:r>
                    </a:p>
                  </a:txBody>
                  <a:tcPr marL="45720" marR="45720" anchor="ctr">
                    <a:solidFill>
                      <a:srgbClr val="D9D9D9"/>
                    </a:solidFill>
                  </a:tcPr>
                </a:tc>
                <a:extLst>
                  <a:ext uri="{0D108BD9-81ED-4DB2-BD59-A6C34878D82A}">
                    <a16:rowId xmlns:a16="http://schemas.microsoft.com/office/drawing/2014/main" val="10002"/>
                  </a:ext>
                </a:extLst>
              </a:tr>
              <a:tr h="161584">
                <a:tc>
                  <a:txBody>
                    <a:bodyPr/>
                    <a:lstStyle/>
                    <a:p>
                      <a:pPr algn="l">
                        <a:defRPr sz="1100" b="0">
                          <a:solidFill>
                            <a:srgbClr val="000000"/>
                          </a:solidFill>
                          <a:latin typeface="Montserrat"/>
                        </a:defRPr>
                      </a:pPr>
                      <a:r>
                        <a:t>Cirugía General</a:t>
                      </a:r>
                    </a:p>
                  </a:txBody>
                  <a:tcPr marL="45720" marR="45720" anchor="ctr">
                    <a:solidFill>
                      <a:srgbClr val="FFFFFF"/>
                    </a:solidFill>
                  </a:tcPr>
                </a:tc>
                <a:tc>
                  <a:txBody>
                    <a:bodyPr/>
                    <a:lstStyle/>
                    <a:p>
                      <a:pPr algn="ctr">
                        <a:defRPr sz="1100" b="0">
                          <a:solidFill>
                            <a:srgbClr val="000000"/>
                          </a:solidFill>
                          <a:latin typeface="Montserrat"/>
                        </a:defRPr>
                      </a:pPr>
                      <a:r>
                        <a:t>27</a:t>
                      </a:r>
                    </a:p>
                  </a:txBody>
                  <a:tcPr marL="45720" marR="45720" anchor="ctr">
                    <a:solidFill>
                      <a:srgbClr val="FFFFFF"/>
                    </a:solidFill>
                  </a:tcPr>
                </a:tc>
                <a:tc>
                  <a:txBody>
                    <a:bodyPr/>
                    <a:lstStyle/>
                    <a:p>
                      <a:pPr algn="ctr">
                        <a:defRPr sz="1100" b="1">
                          <a:solidFill>
                            <a:srgbClr val="000000"/>
                          </a:solidFill>
                          <a:latin typeface="Montserrat"/>
                        </a:defRPr>
                      </a:pPr>
                      <a:r>
                        <a:t>40.4%</a:t>
                      </a:r>
                    </a:p>
                  </a:txBody>
                  <a:tcPr marL="45720" marR="45720" anchor="ctr">
                    <a:solidFill>
                      <a:srgbClr val="FFFFFF"/>
                    </a:solidFill>
                  </a:tcPr>
                </a:tc>
                <a:extLst>
                  <a:ext uri="{0D108BD9-81ED-4DB2-BD59-A6C34878D82A}">
                    <a16:rowId xmlns:a16="http://schemas.microsoft.com/office/drawing/2014/main" val="10003"/>
                  </a:ext>
                </a:extLst>
              </a:tr>
              <a:tr h="161584">
                <a:tc>
                  <a:txBody>
                    <a:bodyPr/>
                    <a:lstStyle/>
                    <a:p>
                      <a:pPr algn="l">
                        <a:defRPr sz="1100" b="0">
                          <a:solidFill>
                            <a:srgbClr val="000000"/>
                          </a:solidFill>
                          <a:latin typeface="Montserrat"/>
                        </a:defRPr>
                      </a:pPr>
                      <a:r>
                        <a:t>Ginecología y Obstetricia</a:t>
                      </a:r>
                    </a:p>
                  </a:txBody>
                  <a:tcPr marL="45720" marR="45720" anchor="ctr">
                    <a:solidFill>
                      <a:srgbClr val="D9D9D9"/>
                    </a:solidFill>
                  </a:tcPr>
                </a:tc>
                <a:tc>
                  <a:txBody>
                    <a:bodyPr/>
                    <a:lstStyle/>
                    <a:p>
                      <a:pPr algn="ctr">
                        <a:defRPr sz="1100" b="0">
                          <a:solidFill>
                            <a:srgbClr val="000000"/>
                          </a:solidFill>
                          <a:latin typeface="Montserrat"/>
                        </a:defRPr>
                      </a:pPr>
                      <a:r>
                        <a:t>24</a:t>
                      </a:r>
                    </a:p>
                  </a:txBody>
                  <a:tcPr marL="45720" marR="45720" anchor="ctr">
                    <a:solidFill>
                      <a:srgbClr val="D9D9D9"/>
                    </a:solidFill>
                  </a:tcPr>
                </a:tc>
                <a:tc>
                  <a:txBody>
                    <a:bodyPr/>
                    <a:lstStyle/>
                    <a:p>
                      <a:pPr algn="ctr">
                        <a:defRPr sz="1100" b="1">
                          <a:solidFill>
                            <a:srgbClr val="000000"/>
                          </a:solidFill>
                          <a:latin typeface="Montserrat"/>
                        </a:defRPr>
                      </a:pPr>
                      <a:r>
                        <a:t>48.4%</a:t>
                      </a:r>
                    </a:p>
                  </a:txBody>
                  <a:tcPr marL="45720" marR="45720" anchor="ctr">
                    <a:solidFill>
                      <a:srgbClr val="D9D9D9"/>
                    </a:solidFill>
                  </a:tcPr>
                </a:tc>
                <a:extLst>
                  <a:ext uri="{0D108BD9-81ED-4DB2-BD59-A6C34878D82A}">
                    <a16:rowId xmlns:a16="http://schemas.microsoft.com/office/drawing/2014/main" val="10004"/>
                  </a:ext>
                </a:extLst>
              </a:tr>
              <a:tr h="161584">
                <a:tc>
                  <a:txBody>
                    <a:bodyPr/>
                    <a:lstStyle/>
                    <a:p>
                      <a:pPr algn="l">
                        <a:defRPr sz="1100" b="0">
                          <a:solidFill>
                            <a:srgbClr val="000000"/>
                          </a:solidFill>
                          <a:latin typeface="Montserrat"/>
                        </a:defRPr>
                      </a:pPr>
                      <a:r>
                        <a:t>Anestesiología</a:t>
                      </a:r>
                    </a:p>
                  </a:txBody>
                  <a:tcPr marL="45720" marR="45720" anchor="ctr">
                    <a:solidFill>
                      <a:srgbClr val="FFFFFF"/>
                    </a:solidFill>
                  </a:tcPr>
                </a:tc>
                <a:tc>
                  <a:txBody>
                    <a:bodyPr/>
                    <a:lstStyle/>
                    <a:p>
                      <a:pPr algn="ctr">
                        <a:defRPr sz="1100" b="0">
                          <a:solidFill>
                            <a:srgbClr val="000000"/>
                          </a:solidFill>
                          <a:latin typeface="Montserrat"/>
                        </a:defRPr>
                      </a:pPr>
                      <a:r>
                        <a:t>21</a:t>
                      </a:r>
                    </a:p>
                  </a:txBody>
                  <a:tcPr marL="45720" marR="45720" anchor="ctr">
                    <a:solidFill>
                      <a:srgbClr val="FFFFFF"/>
                    </a:solidFill>
                  </a:tcPr>
                </a:tc>
                <a:tc>
                  <a:txBody>
                    <a:bodyPr/>
                    <a:lstStyle/>
                    <a:p>
                      <a:pPr algn="ctr">
                        <a:defRPr sz="1100" b="1">
                          <a:solidFill>
                            <a:srgbClr val="000000"/>
                          </a:solidFill>
                          <a:latin typeface="Montserrat"/>
                        </a:defRPr>
                      </a:pPr>
                      <a:r>
                        <a:t>55.5%</a:t>
                      </a:r>
                    </a:p>
                  </a:txBody>
                  <a:tcPr marL="45720" marR="45720" anchor="ctr">
                    <a:solidFill>
                      <a:srgbClr val="FFFFFF"/>
                    </a:solidFill>
                  </a:tcPr>
                </a:tc>
                <a:extLst>
                  <a:ext uri="{0D108BD9-81ED-4DB2-BD59-A6C34878D82A}">
                    <a16:rowId xmlns:a16="http://schemas.microsoft.com/office/drawing/2014/main" val="10005"/>
                  </a:ext>
                </a:extLst>
              </a:tr>
              <a:tr h="161584">
                <a:tc>
                  <a:txBody>
                    <a:bodyPr/>
                    <a:lstStyle/>
                    <a:p>
                      <a:pPr algn="l">
                        <a:defRPr sz="1100" b="0">
                          <a:solidFill>
                            <a:srgbClr val="000000"/>
                          </a:solidFill>
                          <a:latin typeface="Montserrat"/>
                        </a:defRPr>
                      </a:pPr>
                      <a:r>
                        <a:t>Traumatología y Ortopedia</a:t>
                      </a:r>
                    </a:p>
                  </a:txBody>
                  <a:tcPr marL="45720" marR="45720" anchor="ctr">
                    <a:solidFill>
                      <a:srgbClr val="D9D9D9"/>
                    </a:solidFill>
                  </a:tcPr>
                </a:tc>
                <a:tc>
                  <a:txBody>
                    <a:bodyPr/>
                    <a:lstStyle/>
                    <a:p>
                      <a:pPr algn="ctr">
                        <a:defRPr sz="1100" b="0">
                          <a:solidFill>
                            <a:srgbClr val="000000"/>
                          </a:solidFill>
                          <a:latin typeface="Montserrat"/>
                        </a:defRPr>
                      </a:pPr>
                      <a:r>
                        <a:t>19</a:t>
                      </a:r>
                    </a:p>
                  </a:txBody>
                  <a:tcPr marL="45720" marR="45720" anchor="ctr">
                    <a:solidFill>
                      <a:srgbClr val="D9D9D9"/>
                    </a:solidFill>
                  </a:tcPr>
                </a:tc>
                <a:tc>
                  <a:txBody>
                    <a:bodyPr/>
                    <a:lstStyle/>
                    <a:p>
                      <a:pPr algn="ctr">
                        <a:defRPr sz="1100" b="1">
                          <a:solidFill>
                            <a:srgbClr val="000000"/>
                          </a:solidFill>
                          <a:latin typeface="Montserrat"/>
                        </a:defRPr>
                      </a:pPr>
                      <a:r>
                        <a:t>61.8%</a:t>
                      </a:r>
                    </a:p>
                  </a:txBody>
                  <a:tcPr marL="45720" marR="45720" anchor="ctr">
                    <a:solidFill>
                      <a:srgbClr val="D9D9D9"/>
                    </a:solidFill>
                  </a:tcPr>
                </a:tc>
                <a:extLst>
                  <a:ext uri="{0D108BD9-81ED-4DB2-BD59-A6C34878D82A}">
                    <a16:rowId xmlns:a16="http://schemas.microsoft.com/office/drawing/2014/main" val="10006"/>
                  </a:ext>
                </a:extLst>
              </a:tr>
              <a:tr h="161584">
                <a:tc>
                  <a:txBody>
                    <a:bodyPr/>
                    <a:lstStyle/>
                    <a:p>
                      <a:pPr algn="l">
                        <a:defRPr sz="1100" b="0">
                          <a:solidFill>
                            <a:srgbClr val="000000"/>
                          </a:solidFill>
                          <a:latin typeface="Montserrat"/>
                        </a:defRPr>
                      </a:pPr>
                      <a:r>
                        <a:t>Pediatría</a:t>
                      </a:r>
                    </a:p>
                  </a:txBody>
                  <a:tcPr marL="45720" marR="45720" anchor="ctr">
                    <a:solidFill>
                      <a:srgbClr val="FFFFFF"/>
                    </a:solidFill>
                  </a:tcPr>
                </a:tc>
                <a:tc>
                  <a:txBody>
                    <a:bodyPr/>
                    <a:lstStyle/>
                    <a:p>
                      <a:pPr algn="ctr">
                        <a:defRPr sz="1100" b="0">
                          <a:solidFill>
                            <a:srgbClr val="000000"/>
                          </a:solidFill>
                          <a:latin typeface="Montserrat"/>
                        </a:defRPr>
                      </a:pPr>
                      <a:r>
                        <a:t>17</a:t>
                      </a:r>
                    </a:p>
                  </a:txBody>
                  <a:tcPr marL="45720" marR="45720" anchor="ctr">
                    <a:solidFill>
                      <a:srgbClr val="FFFFFF"/>
                    </a:solidFill>
                  </a:tcPr>
                </a:tc>
                <a:tc>
                  <a:txBody>
                    <a:bodyPr/>
                    <a:lstStyle/>
                    <a:p>
                      <a:pPr algn="ctr">
                        <a:defRPr sz="1100" b="1">
                          <a:solidFill>
                            <a:srgbClr val="000000"/>
                          </a:solidFill>
                          <a:latin typeface="Montserrat"/>
                        </a:defRPr>
                      </a:pPr>
                      <a:r>
                        <a:t>67.5%</a:t>
                      </a:r>
                    </a:p>
                  </a:txBody>
                  <a:tcPr marL="45720" marR="45720" anchor="ctr">
                    <a:solidFill>
                      <a:srgbClr val="FFFFFF"/>
                    </a:solidFill>
                  </a:tcPr>
                </a:tc>
                <a:extLst>
                  <a:ext uri="{0D108BD9-81ED-4DB2-BD59-A6C34878D82A}">
                    <a16:rowId xmlns:a16="http://schemas.microsoft.com/office/drawing/2014/main" val="10007"/>
                  </a:ext>
                </a:extLst>
              </a:tr>
              <a:tr h="161584">
                <a:tc>
                  <a:txBody>
                    <a:bodyPr/>
                    <a:lstStyle/>
                    <a:p>
                      <a:pPr algn="l">
                        <a:defRPr sz="1100" b="0">
                          <a:solidFill>
                            <a:srgbClr val="000000"/>
                          </a:solidFill>
                          <a:latin typeface="Montserrat"/>
                        </a:defRPr>
                      </a:pPr>
                      <a:r>
                        <a:t>Medicina Interna</a:t>
                      </a:r>
                    </a:p>
                  </a:txBody>
                  <a:tcPr marL="45720" marR="45720" anchor="ctr">
                    <a:solidFill>
                      <a:srgbClr val="D9D9D9"/>
                    </a:solidFill>
                  </a:tcPr>
                </a:tc>
                <a:tc>
                  <a:txBody>
                    <a:bodyPr/>
                    <a:lstStyle/>
                    <a:p>
                      <a:pPr algn="ctr">
                        <a:defRPr sz="1100" b="0">
                          <a:solidFill>
                            <a:srgbClr val="000000"/>
                          </a:solidFill>
                          <a:latin typeface="Montserrat"/>
                        </a:defRPr>
                      </a:pPr>
                      <a:r>
                        <a:t>17</a:t>
                      </a:r>
                    </a:p>
                  </a:txBody>
                  <a:tcPr marL="45720" marR="45720" anchor="ctr">
                    <a:solidFill>
                      <a:srgbClr val="D9D9D9"/>
                    </a:solidFill>
                  </a:tcPr>
                </a:tc>
                <a:tc>
                  <a:txBody>
                    <a:bodyPr/>
                    <a:lstStyle/>
                    <a:p>
                      <a:pPr algn="ctr">
                        <a:defRPr sz="1100" b="1">
                          <a:solidFill>
                            <a:srgbClr val="000000"/>
                          </a:solidFill>
                          <a:latin typeface="Montserrat"/>
                        </a:defRPr>
                      </a:pPr>
                      <a:r>
                        <a:t>73.2%</a:t>
                      </a:r>
                    </a:p>
                  </a:txBody>
                  <a:tcPr marL="45720" marR="45720" anchor="ctr">
                    <a:solidFill>
                      <a:srgbClr val="D9D9D9"/>
                    </a:solidFill>
                  </a:tcPr>
                </a:tc>
                <a:extLst>
                  <a:ext uri="{0D108BD9-81ED-4DB2-BD59-A6C34878D82A}">
                    <a16:rowId xmlns:a16="http://schemas.microsoft.com/office/drawing/2014/main" val="10008"/>
                  </a:ext>
                </a:extLst>
              </a:tr>
              <a:tr h="161584">
                <a:tc>
                  <a:txBody>
                    <a:bodyPr/>
                    <a:lstStyle/>
                    <a:p>
                      <a:pPr algn="l">
                        <a:defRPr sz="1100" b="0">
                          <a:solidFill>
                            <a:srgbClr val="000000"/>
                          </a:solidFill>
                          <a:latin typeface="Montserrat"/>
                        </a:defRPr>
                      </a:pPr>
                      <a:r>
                        <a:t>Imagenología Diagnóstico y Terapéutica</a:t>
                      </a:r>
                    </a:p>
                  </a:txBody>
                  <a:tcPr marL="45720" marR="45720" anchor="ctr">
                    <a:solidFill>
                      <a:srgbClr val="FFFFFF"/>
                    </a:solidFill>
                  </a:tcPr>
                </a:tc>
                <a:tc>
                  <a:txBody>
                    <a:bodyPr/>
                    <a:lstStyle/>
                    <a:p>
                      <a:pPr algn="ctr">
                        <a:defRPr sz="1100" b="0">
                          <a:solidFill>
                            <a:srgbClr val="000000"/>
                          </a:solidFill>
                          <a:latin typeface="Montserrat"/>
                        </a:defRPr>
                      </a:pPr>
                      <a:r>
                        <a:t>16</a:t>
                      </a:r>
                    </a:p>
                  </a:txBody>
                  <a:tcPr marL="45720" marR="45720" anchor="ctr">
                    <a:solidFill>
                      <a:srgbClr val="FFFFFF"/>
                    </a:solidFill>
                  </a:tcPr>
                </a:tc>
                <a:tc>
                  <a:txBody>
                    <a:bodyPr/>
                    <a:lstStyle/>
                    <a:p>
                      <a:pPr algn="ctr">
                        <a:defRPr sz="1100" b="1">
                          <a:solidFill>
                            <a:srgbClr val="000000"/>
                          </a:solidFill>
                          <a:latin typeface="Montserrat"/>
                        </a:defRPr>
                      </a:pPr>
                      <a:r>
                        <a:t>78.5%</a:t>
                      </a:r>
                    </a:p>
                  </a:txBody>
                  <a:tcPr marL="45720" marR="45720" anchor="ctr">
                    <a:solidFill>
                      <a:srgbClr val="FFFFFF"/>
                    </a:solidFill>
                  </a:tcPr>
                </a:tc>
                <a:extLst>
                  <a:ext uri="{0D108BD9-81ED-4DB2-BD59-A6C34878D82A}">
                    <a16:rowId xmlns:a16="http://schemas.microsoft.com/office/drawing/2014/main" val="10009"/>
                  </a:ext>
                </a:extLst>
              </a:tr>
              <a:tr h="161584">
                <a:tc>
                  <a:txBody>
                    <a:bodyPr/>
                    <a:lstStyle/>
                    <a:p>
                      <a:pPr algn="l">
                        <a:defRPr sz="1100" b="0">
                          <a:solidFill>
                            <a:srgbClr val="000000"/>
                          </a:solidFill>
                          <a:latin typeface="Montserrat"/>
                        </a:defRPr>
                      </a:pPr>
                      <a:r>
                        <a:t>Medicina del Enfermo en Estado Crítico</a:t>
                      </a:r>
                    </a:p>
                  </a:txBody>
                  <a:tcPr marL="45720" marR="45720" anchor="ctr">
                    <a:solidFill>
                      <a:srgbClr val="D9D9D9"/>
                    </a:solidFill>
                  </a:tcPr>
                </a:tc>
                <a:tc>
                  <a:txBody>
                    <a:bodyPr/>
                    <a:lstStyle/>
                    <a:p>
                      <a:pPr algn="ctr">
                        <a:defRPr sz="1100" b="0">
                          <a:solidFill>
                            <a:srgbClr val="000000"/>
                          </a:solidFill>
                          <a:latin typeface="Montserrat"/>
                        </a:defRPr>
                      </a:pPr>
                      <a:r>
                        <a:t>12</a:t>
                      </a:r>
                    </a:p>
                  </a:txBody>
                  <a:tcPr marL="45720" marR="45720" anchor="ctr">
                    <a:solidFill>
                      <a:srgbClr val="D9D9D9"/>
                    </a:solidFill>
                  </a:tcPr>
                </a:tc>
                <a:tc>
                  <a:txBody>
                    <a:bodyPr/>
                    <a:lstStyle/>
                    <a:p>
                      <a:pPr algn="ctr">
                        <a:defRPr sz="1100" b="1">
                          <a:solidFill>
                            <a:srgbClr val="000000"/>
                          </a:solidFill>
                          <a:latin typeface="Montserrat"/>
                        </a:defRPr>
                      </a:pPr>
                      <a:r>
                        <a:t>82.6%</a:t>
                      </a:r>
                    </a:p>
                  </a:txBody>
                  <a:tcPr marL="45720" marR="45720" anchor="ctr">
                    <a:solidFill>
                      <a:srgbClr val="D9D9D9"/>
                    </a:solidFill>
                  </a:tcPr>
                </a:tc>
                <a:extLst>
                  <a:ext uri="{0D108BD9-81ED-4DB2-BD59-A6C34878D82A}">
                    <a16:rowId xmlns:a16="http://schemas.microsoft.com/office/drawing/2014/main" val="10010"/>
                  </a:ext>
                </a:extLst>
              </a:tr>
              <a:tr h="161584">
                <a:tc>
                  <a:txBody>
                    <a:bodyPr/>
                    <a:lstStyle/>
                    <a:p>
                      <a:pPr algn="l">
                        <a:defRPr sz="1100" b="0">
                          <a:solidFill>
                            <a:srgbClr val="000000"/>
                          </a:solidFill>
                          <a:latin typeface="Montserrat"/>
                        </a:defRPr>
                      </a:pPr>
                      <a:r>
                        <a:t>Medicina de Rehabilitación</a:t>
                      </a:r>
                    </a:p>
                  </a:txBody>
                  <a:tcPr marL="45720" marR="45720" anchor="ctr">
                    <a:solidFill>
                      <a:srgbClr val="FFFFFF"/>
                    </a:solidFill>
                  </a:tcPr>
                </a:tc>
                <a:tc>
                  <a:txBody>
                    <a:bodyPr/>
                    <a:lstStyle/>
                    <a:p>
                      <a:pPr algn="ctr">
                        <a:defRPr sz="1100" b="0">
                          <a:solidFill>
                            <a:srgbClr val="000000"/>
                          </a:solidFill>
                          <a:latin typeface="Montserrat"/>
                        </a:defRPr>
                      </a:pPr>
                      <a:r>
                        <a:t>10</a:t>
                      </a:r>
                    </a:p>
                  </a:txBody>
                  <a:tcPr marL="45720" marR="45720" anchor="ctr">
                    <a:solidFill>
                      <a:srgbClr val="FFFFFF"/>
                    </a:solidFill>
                  </a:tcPr>
                </a:tc>
                <a:tc>
                  <a:txBody>
                    <a:bodyPr/>
                    <a:lstStyle/>
                    <a:p>
                      <a:pPr algn="ctr">
                        <a:defRPr sz="1100" b="1">
                          <a:solidFill>
                            <a:srgbClr val="000000"/>
                          </a:solidFill>
                          <a:latin typeface="Montserrat"/>
                        </a:defRPr>
                      </a:pPr>
                      <a:r>
                        <a:t>85.9%</a:t>
                      </a:r>
                    </a:p>
                  </a:txBody>
                  <a:tcPr marL="45720" marR="45720" anchor="ctr">
                    <a:solidFill>
                      <a:srgbClr val="FFFFFF"/>
                    </a:solidFill>
                  </a:tcPr>
                </a:tc>
                <a:extLst>
                  <a:ext uri="{0D108BD9-81ED-4DB2-BD59-A6C34878D82A}">
                    <a16:rowId xmlns:a16="http://schemas.microsoft.com/office/drawing/2014/main" val="10011"/>
                  </a:ext>
                </a:extLst>
              </a:tr>
              <a:tr h="161584">
                <a:tc>
                  <a:txBody>
                    <a:bodyPr/>
                    <a:lstStyle/>
                    <a:p>
                      <a:pPr algn="l">
                        <a:defRPr sz="1100" b="0">
                          <a:solidFill>
                            <a:srgbClr val="000000"/>
                          </a:solidFill>
                          <a:latin typeface="Montserrat"/>
                        </a:defRPr>
                      </a:pPr>
                      <a:r>
                        <a:t>Epidemiología</a:t>
                      </a:r>
                    </a:p>
                  </a:txBody>
                  <a:tcPr marL="45720" marR="45720" anchor="ctr">
                    <a:solidFill>
                      <a:srgbClr val="D9D9D9"/>
                    </a:solidFill>
                  </a:tcPr>
                </a:tc>
                <a:tc>
                  <a:txBody>
                    <a:bodyPr/>
                    <a:lstStyle/>
                    <a:p>
                      <a:pPr algn="ctr">
                        <a:defRPr sz="1100" b="0">
                          <a:solidFill>
                            <a:srgbClr val="000000"/>
                          </a:solidFill>
                          <a:latin typeface="Montserrat"/>
                        </a:defRPr>
                      </a:pPr>
                      <a:r>
                        <a:t>6</a:t>
                      </a:r>
                    </a:p>
                  </a:txBody>
                  <a:tcPr marL="45720" marR="45720" anchor="ctr">
                    <a:solidFill>
                      <a:srgbClr val="D9D9D9"/>
                    </a:solidFill>
                  </a:tcPr>
                </a:tc>
                <a:tc>
                  <a:txBody>
                    <a:bodyPr/>
                    <a:lstStyle/>
                    <a:p>
                      <a:pPr algn="ctr">
                        <a:defRPr sz="1100" b="1">
                          <a:solidFill>
                            <a:srgbClr val="000000"/>
                          </a:solidFill>
                          <a:latin typeface="Montserrat"/>
                        </a:defRPr>
                      </a:pPr>
                      <a:r>
                        <a:t>87.9%</a:t>
                      </a:r>
                    </a:p>
                  </a:txBody>
                  <a:tcPr marL="45720" marR="45720" anchor="ctr">
                    <a:solidFill>
                      <a:srgbClr val="D9D9D9"/>
                    </a:solidFill>
                  </a:tcPr>
                </a:tc>
                <a:extLst>
                  <a:ext uri="{0D108BD9-81ED-4DB2-BD59-A6C34878D82A}">
                    <a16:rowId xmlns:a16="http://schemas.microsoft.com/office/drawing/2014/main" val="10012"/>
                  </a:ext>
                </a:extLst>
              </a:tr>
              <a:tr h="161584">
                <a:tc>
                  <a:txBody>
                    <a:bodyPr/>
                    <a:lstStyle/>
                    <a:p>
                      <a:pPr algn="l">
                        <a:defRPr sz="1100" b="0">
                          <a:solidFill>
                            <a:srgbClr val="000000"/>
                          </a:solidFill>
                          <a:latin typeface="Montserrat"/>
                        </a:defRPr>
                      </a:pPr>
                      <a:r>
                        <a:t>Medicina del Trabajo y Ambiental</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89.2%</a:t>
                      </a:r>
                    </a:p>
                  </a:txBody>
                  <a:tcPr marL="45720" marR="45720" anchor="ctr">
                    <a:solidFill>
                      <a:srgbClr val="FFFFFF"/>
                    </a:solidFill>
                  </a:tcPr>
                </a:tc>
                <a:extLst>
                  <a:ext uri="{0D108BD9-81ED-4DB2-BD59-A6C34878D82A}">
                    <a16:rowId xmlns:a16="http://schemas.microsoft.com/office/drawing/2014/main" val="10013"/>
                  </a:ext>
                </a:extLst>
              </a:tr>
              <a:tr h="161584">
                <a:tc>
                  <a:txBody>
                    <a:bodyPr/>
                    <a:lstStyle/>
                    <a:p>
                      <a:pPr algn="l">
                        <a:defRPr sz="1100" b="0">
                          <a:solidFill>
                            <a:srgbClr val="000000"/>
                          </a:solidFill>
                          <a:latin typeface="Montserrat"/>
                        </a:defRPr>
                      </a:pPr>
                      <a:r>
                        <a:t>Cardiología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90.6%</a:t>
                      </a:r>
                    </a:p>
                  </a:txBody>
                  <a:tcPr marL="45720" marR="45720" anchor="ctr">
                    <a:solidFill>
                      <a:srgbClr val="D9D9D9"/>
                    </a:solidFill>
                  </a:tcPr>
                </a:tc>
                <a:extLst>
                  <a:ext uri="{0D108BD9-81ED-4DB2-BD59-A6C34878D82A}">
                    <a16:rowId xmlns:a16="http://schemas.microsoft.com/office/drawing/2014/main" val="10014"/>
                  </a:ext>
                </a:extLst>
              </a:tr>
              <a:tr h="161584">
                <a:tc>
                  <a:txBody>
                    <a:bodyPr/>
                    <a:lstStyle/>
                    <a:p>
                      <a:pPr algn="l">
                        <a:defRPr sz="1100" b="0">
                          <a:solidFill>
                            <a:srgbClr val="000000"/>
                          </a:solidFill>
                          <a:latin typeface="Montserrat"/>
                        </a:defRPr>
                      </a:pPr>
                      <a:r>
                        <a:t>Oftalmología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91.6%</a:t>
                      </a:r>
                    </a:p>
                  </a:txBody>
                  <a:tcPr marL="45720" marR="45720" anchor="ctr">
                    <a:solidFill>
                      <a:srgbClr val="FFFFFF"/>
                    </a:solidFill>
                  </a:tcPr>
                </a:tc>
                <a:extLst>
                  <a:ext uri="{0D108BD9-81ED-4DB2-BD59-A6C34878D82A}">
                    <a16:rowId xmlns:a16="http://schemas.microsoft.com/office/drawing/2014/main" val="10015"/>
                  </a:ext>
                </a:extLst>
              </a:tr>
              <a:tr h="161584">
                <a:tc>
                  <a:txBody>
                    <a:bodyPr/>
                    <a:lstStyle/>
                    <a:p>
                      <a:pPr algn="l">
                        <a:defRPr sz="1100" b="0">
                          <a:solidFill>
                            <a:srgbClr val="000000"/>
                          </a:solidFill>
                          <a:latin typeface="Montserrat"/>
                        </a:defRPr>
                      </a:pPr>
                      <a:r>
                        <a:t>Geriatría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92.6%</a:t>
                      </a:r>
                    </a:p>
                  </a:txBody>
                  <a:tcPr marL="45720" marR="45720" anchor="ctr">
                    <a:solidFill>
                      <a:srgbClr val="D9D9D9"/>
                    </a:solidFill>
                  </a:tcPr>
                </a:tc>
                <a:extLst>
                  <a:ext uri="{0D108BD9-81ED-4DB2-BD59-A6C34878D82A}">
                    <a16:rowId xmlns:a16="http://schemas.microsoft.com/office/drawing/2014/main" val="10016"/>
                  </a:ext>
                </a:extLst>
              </a:tr>
              <a:tr h="161584">
                <a:tc>
                  <a:txBody>
                    <a:bodyPr/>
                    <a:lstStyle/>
                    <a:p>
                      <a:pPr algn="l">
                        <a:defRPr sz="1100" b="0">
                          <a:solidFill>
                            <a:srgbClr val="000000"/>
                          </a:solidFill>
                          <a:latin typeface="Montserrat"/>
                        </a:defRPr>
                      </a:pPr>
                      <a:r>
                        <a:t>Otorrinolaringología y Cirugía de Cabeza y Cuello</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93.3%</a:t>
                      </a:r>
                    </a:p>
                  </a:txBody>
                  <a:tcPr marL="45720" marR="45720" anchor="ctr">
                    <a:solidFill>
                      <a:srgbClr val="FFFFFF"/>
                    </a:solidFill>
                  </a:tcPr>
                </a:tc>
                <a:extLst>
                  <a:ext uri="{0D108BD9-81ED-4DB2-BD59-A6C34878D82A}">
                    <a16:rowId xmlns:a16="http://schemas.microsoft.com/office/drawing/2014/main" val="10017"/>
                  </a:ext>
                </a:extLst>
              </a:tr>
              <a:tr h="161584">
                <a:tc>
                  <a:txBody>
                    <a:bodyPr/>
                    <a:lstStyle/>
                    <a:p>
                      <a:pPr algn="l">
                        <a:defRPr sz="1100" b="0">
                          <a:solidFill>
                            <a:srgbClr val="000000"/>
                          </a:solidFill>
                          <a:latin typeface="Montserrat"/>
                        </a:defRPr>
                      </a:pPr>
                      <a:r>
                        <a:t>Psiquiatría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93.9%</a:t>
                      </a:r>
                    </a:p>
                  </a:txBody>
                  <a:tcPr marL="45720" marR="45720" anchor="ctr">
                    <a:solidFill>
                      <a:srgbClr val="D9D9D9"/>
                    </a:solidFill>
                  </a:tcPr>
                </a:tc>
                <a:extLst>
                  <a:ext uri="{0D108BD9-81ED-4DB2-BD59-A6C34878D82A}">
                    <a16:rowId xmlns:a16="http://schemas.microsoft.com/office/drawing/2014/main" val="10018"/>
                  </a:ext>
                </a:extLst>
              </a:tr>
              <a:tr h="161584">
                <a:tc>
                  <a:txBody>
                    <a:bodyPr/>
                    <a:lstStyle/>
                    <a:p>
                      <a:pPr algn="l">
                        <a:defRPr sz="1100" b="0">
                          <a:solidFill>
                            <a:srgbClr val="000000"/>
                          </a:solidFill>
                          <a:latin typeface="Montserrat"/>
                        </a:defRPr>
                      </a:pPr>
                      <a:r>
                        <a:t>Hematología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94.6%</a:t>
                      </a:r>
                    </a:p>
                  </a:txBody>
                  <a:tcPr marL="45720" marR="45720" anchor="ctr">
                    <a:solidFill>
                      <a:srgbClr val="FFFFFF"/>
                    </a:solidFill>
                  </a:tcPr>
                </a:tc>
                <a:extLst>
                  <a:ext uri="{0D108BD9-81ED-4DB2-BD59-A6C34878D82A}">
                    <a16:rowId xmlns:a16="http://schemas.microsoft.com/office/drawing/2014/main" val="10019"/>
                  </a:ext>
                </a:extLst>
              </a:tr>
              <a:tr h="161584">
                <a:tc>
                  <a:txBody>
                    <a:bodyPr/>
                    <a:lstStyle/>
                    <a:p>
                      <a:pPr algn="l">
                        <a:defRPr sz="1100" b="0">
                          <a:solidFill>
                            <a:srgbClr val="000000"/>
                          </a:solidFill>
                          <a:latin typeface="Montserrat"/>
                        </a:defRPr>
                      </a:pPr>
                      <a:r>
                        <a:t>Audiología Otoneurología y Foniatría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94.9%</a:t>
                      </a:r>
                    </a:p>
                  </a:txBody>
                  <a:tcPr marL="45720" marR="45720" anchor="ctr">
                    <a:solidFill>
                      <a:srgbClr val="D9D9D9"/>
                    </a:solidFill>
                  </a:tcPr>
                </a:tc>
                <a:extLst>
                  <a:ext uri="{0D108BD9-81ED-4DB2-BD59-A6C34878D82A}">
                    <a16:rowId xmlns:a16="http://schemas.microsoft.com/office/drawing/2014/main" val="10020"/>
                  </a:ext>
                </a:extLst>
              </a:tr>
              <a:tr h="161584">
                <a:tc>
                  <a:txBody>
                    <a:bodyPr/>
                    <a:lstStyle/>
                    <a:p>
                      <a:pPr algn="l">
                        <a:defRPr sz="1100" b="0">
                          <a:solidFill>
                            <a:srgbClr val="000000"/>
                          </a:solidFill>
                          <a:latin typeface="Montserrat"/>
                        </a:defRPr>
                      </a:pPr>
                      <a:r>
                        <a:t>Anatomía Patológica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95.3%</a:t>
                      </a:r>
                    </a:p>
                  </a:txBody>
                  <a:tcPr marL="45720" marR="45720" anchor="ctr">
                    <a:solidFill>
                      <a:srgbClr val="FFFFFF"/>
                    </a:solidFill>
                  </a:tcPr>
                </a:tc>
                <a:extLst>
                  <a:ext uri="{0D108BD9-81ED-4DB2-BD59-A6C34878D82A}">
                    <a16:rowId xmlns:a16="http://schemas.microsoft.com/office/drawing/2014/main" val="10021"/>
                  </a:ext>
                </a:extLst>
              </a:tr>
              <a:tr h="161584">
                <a:tc>
                  <a:txBody>
                    <a:bodyPr/>
                    <a:lstStyle/>
                    <a:p>
                      <a:pPr algn="l">
                        <a:defRPr sz="1100" b="0">
                          <a:solidFill>
                            <a:srgbClr val="000000"/>
                          </a:solidFill>
                          <a:latin typeface="Montserrat"/>
                        </a:defRPr>
                      </a:pPr>
                      <a:r>
                        <a:t>Ginecología Oncológica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95.6%</a:t>
                      </a:r>
                    </a:p>
                  </a:txBody>
                  <a:tcPr marL="45720" marR="45720" anchor="ctr">
                    <a:solidFill>
                      <a:srgbClr val="D9D9D9"/>
                    </a:solidFill>
                  </a:tcPr>
                </a:tc>
                <a:extLst>
                  <a:ext uri="{0D108BD9-81ED-4DB2-BD59-A6C34878D82A}">
                    <a16:rowId xmlns:a16="http://schemas.microsoft.com/office/drawing/2014/main" val="10022"/>
                  </a:ext>
                </a:extLst>
              </a:tr>
              <a:tr h="161584">
                <a:tc>
                  <a:txBody>
                    <a:bodyPr/>
                    <a:lstStyle/>
                    <a:p>
                      <a:pPr algn="l">
                        <a:defRPr sz="1100" b="0">
                          <a:solidFill>
                            <a:srgbClr val="000000"/>
                          </a:solidFill>
                          <a:latin typeface="Montserrat"/>
                        </a:defRPr>
                      </a:pPr>
                      <a:r>
                        <a:t>Hematología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95.9%</a:t>
                      </a:r>
                    </a:p>
                  </a:txBody>
                  <a:tcPr marL="45720" marR="45720" anchor="ctr">
                    <a:solidFill>
                      <a:srgbClr val="FFFFFF"/>
                    </a:solidFill>
                  </a:tcPr>
                </a:tc>
                <a:extLst>
                  <a:ext uri="{0D108BD9-81ED-4DB2-BD59-A6C34878D82A}">
                    <a16:rowId xmlns:a16="http://schemas.microsoft.com/office/drawing/2014/main" val="10023"/>
                  </a:ext>
                </a:extLst>
              </a:tr>
              <a:tr h="161584">
                <a:tc>
                  <a:txBody>
                    <a:bodyPr/>
                    <a:lstStyle/>
                    <a:p>
                      <a:pPr algn="l">
                        <a:defRPr sz="1100" b="0">
                          <a:solidFill>
                            <a:srgbClr val="000000"/>
                          </a:solidFill>
                          <a:latin typeface="Montserrat"/>
                        </a:defRPr>
                      </a:pPr>
                      <a:r>
                        <a:t>Cirugía Plástica y Reconstructiva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96.3%</a:t>
                      </a:r>
                    </a:p>
                  </a:txBody>
                  <a:tcPr marL="45720" marR="45720" anchor="ctr">
                    <a:solidFill>
                      <a:srgbClr val="D9D9D9"/>
                    </a:solidFill>
                  </a:tcPr>
                </a:tc>
                <a:extLst>
                  <a:ext uri="{0D108BD9-81ED-4DB2-BD59-A6C34878D82A}">
                    <a16:rowId xmlns:a16="http://schemas.microsoft.com/office/drawing/2014/main" val="10024"/>
                  </a:ext>
                </a:extLst>
              </a:tr>
              <a:tr h="161600">
                <a:tc>
                  <a:txBody>
                    <a:bodyPr/>
                    <a:lstStyle/>
                    <a:p>
                      <a:pPr algn="l">
                        <a:defRPr sz="1100" b="0">
                          <a:solidFill>
                            <a:srgbClr val="000000"/>
                          </a:solidFill>
                          <a:latin typeface="Montserrat"/>
                        </a:defRPr>
                      </a:pPr>
                      <a:r>
                        <a:t>Cardiología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96.6%</a:t>
                      </a:r>
                    </a:p>
                  </a:txBody>
                  <a:tcPr marL="45720" marR="45720" anchor="ctr">
                    <a:solidFill>
                      <a:srgbClr val="FFFFFF"/>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 name="TextBox 2"/>
          <p:cNvSpPr txBox="1"/>
          <p:nvPr/>
        </p:nvSpPr>
        <p:spPr>
          <a:xfrm>
            <a:off x="223200" y="723599"/>
            <a:ext cx="5848076" cy="415498"/>
          </a:xfrm>
          <a:prstGeom prst="rect">
            <a:avLst/>
          </a:prstGeom>
          <a:noFill/>
        </p:spPr>
        <p:txBody>
          <a:bodyPr wrap="none">
            <a:spAutoFit/>
          </a:bodyPr>
          <a:lstStyle/>
          <a:p>
            <a:pPr algn="l">
              <a:defRPr sz="2100" b="1">
                <a:solidFill>
                  <a:srgbClr val="BC955C"/>
                </a:solidFill>
                <a:latin typeface="Montserrat"/>
              </a:defRPr>
            </a:pPr>
            <a:r>
              <a:rPr lang="es-MX" err="1"/>
              <a:t>Contrataciones</a:t>
            </a:r>
            <a:r>
              <a:t> </a:t>
            </a:r>
            <a:r>
              <a:rPr lang="es-MX" err="1"/>
              <a:t>por</a:t>
            </a:r>
            <a:r>
              <a:t> </a:t>
            </a:r>
            <a:r>
              <a:rPr lang="es-MX" err="1"/>
              <a:t>especialidad</a:t>
            </a:r>
            <a:r>
              <a:rPr lang="es-MX"/>
              <a:t> (2 de 2)</a:t>
            </a:r>
            <a:endParaRP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350100">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350100">
                <a:tc>
                  <a:txBody>
                    <a:bodyPr/>
                    <a:lstStyle/>
                    <a:p>
                      <a:pPr algn="l">
                        <a:defRPr sz="1100" b="0">
                          <a:solidFill>
                            <a:srgbClr val="000000"/>
                          </a:solidFill>
                          <a:latin typeface="Montserrat"/>
                        </a:defRPr>
                      </a:pPr>
                      <a:r>
                        <a:t>Endocrinología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96.9%</a:t>
                      </a:r>
                    </a:p>
                  </a:txBody>
                  <a:tcPr marL="45720" marR="45720" anchor="ctr">
                    <a:solidFill>
                      <a:srgbClr val="D9D9D9"/>
                    </a:solidFill>
                  </a:tcPr>
                </a:tc>
                <a:extLst>
                  <a:ext uri="{0D108BD9-81ED-4DB2-BD59-A6C34878D82A}">
                    <a16:rowId xmlns:a16="http://schemas.microsoft.com/office/drawing/2014/main" val="10001"/>
                  </a:ext>
                </a:extLst>
              </a:tr>
              <a:tr h="350100">
                <a:tc>
                  <a:txBody>
                    <a:bodyPr/>
                    <a:lstStyle/>
                    <a:p>
                      <a:pPr algn="l">
                        <a:defRPr sz="1100" b="0">
                          <a:solidFill>
                            <a:srgbClr val="000000"/>
                          </a:solidFill>
                          <a:latin typeface="Montserrat"/>
                        </a:defRPr>
                      </a:pPr>
                      <a:r>
                        <a:t>Gastroenterología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97.3%</a:t>
                      </a:r>
                    </a:p>
                  </a:txBody>
                  <a:tcPr marL="45720" marR="45720" anchor="ctr">
                    <a:solidFill>
                      <a:srgbClr val="FFFFFF"/>
                    </a:solidFill>
                  </a:tcPr>
                </a:tc>
                <a:extLst>
                  <a:ext uri="{0D108BD9-81ED-4DB2-BD59-A6C34878D82A}">
                    <a16:rowId xmlns:a16="http://schemas.microsoft.com/office/drawing/2014/main" val="10002"/>
                  </a:ext>
                </a:extLst>
              </a:tr>
              <a:tr h="350100">
                <a:tc>
                  <a:txBody>
                    <a:bodyPr/>
                    <a:lstStyle/>
                    <a:p>
                      <a:pPr algn="l">
                        <a:defRPr sz="1100" b="0">
                          <a:solidFill>
                            <a:srgbClr val="000000"/>
                          </a:solidFill>
                          <a:latin typeface="Montserrat"/>
                        </a:defRPr>
                      </a:pPr>
                      <a:r>
                        <a:t>Hemodinamia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97.6%</a:t>
                      </a:r>
                    </a:p>
                  </a:txBody>
                  <a:tcPr marL="45720" marR="45720" anchor="ctr">
                    <a:solidFill>
                      <a:srgbClr val="D9D9D9"/>
                    </a:solidFill>
                  </a:tcPr>
                </a:tc>
                <a:extLst>
                  <a:ext uri="{0D108BD9-81ED-4DB2-BD59-A6C34878D82A}">
                    <a16:rowId xmlns:a16="http://schemas.microsoft.com/office/drawing/2014/main" val="10003"/>
                  </a:ext>
                </a:extLst>
              </a:tr>
              <a:tr h="350100">
                <a:tc>
                  <a:txBody>
                    <a:bodyPr/>
                    <a:lstStyle/>
                    <a:p>
                      <a:pPr algn="l">
                        <a:defRPr sz="1100" b="0">
                          <a:solidFill>
                            <a:srgbClr val="000000"/>
                          </a:solidFill>
                          <a:latin typeface="Montserrat"/>
                        </a:defRPr>
                      </a:pPr>
                      <a:r>
                        <a:t>Neumología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97.9%</a:t>
                      </a:r>
                    </a:p>
                  </a:txBody>
                  <a:tcPr marL="45720" marR="45720" anchor="ctr">
                    <a:solidFill>
                      <a:srgbClr val="FFFFFF"/>
                    </a:solidFill>
                  </a:tcPr>
                </a:tc>
                <a:extLst>
                  <a:ext uri="{0D108BD9-81ED-4DB2-BD59-A6C34878D82A}">
                    <a16:rowId xmlns:a16="http://schemas.microsoft.com/office/drawing/2014/main" val="10004"/>
                  </a:ext>
                </a:extLst>
              </a:tr>
              <a:tr h="350100">
                <a:tc>
                  <a:txBody>
                    <a:bodyPr/>
                    <a:lstStyle/>
                    <a:p>
                      <a:pPr algn="l">
                        <a:defRPr sz="1100" b="0">
                          <a:solidFill>
                            <a:srgbClr val="000000"/>
                          </a:solidFill>
                          <a:latin typeface="Montserrat"/>
                        </a:defRPr>
                      </a:pPr>
                      <a:r>
                        <a:t>Neonatología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98.3%</a:t>
                      </a:r>
                    </a:p>
                  </a:txBody>
                  <a:tcPr marL="45720" marR="45720" anchor="ctr">
                    <a:solidFill>
                      <a:srgbClr val="D9D9D9"/>
                    </a:solidFill>
                  </a:tcPr>
                </a:tc>
                <a:extLst>
                  <a:ext uri="{0D108BD9-81ED-4DB2-BD59-A6C34878D82A}">
                    <a16:rowId xmlns:a16="http://schemas.microsoft.com/office/drawing/2014/main" val="10005"/>
                  </a:ext>
                </a:extLst>
              </a:tr>
              <a:tr h="350100">
                <a:tc>
                  <a:txBody>
                    <a:bodyPr/>
                    <a:lstStyle/>
                    <a:p>
                      <a:pPr algn="l">
                        <a:defRPr sz="1100" b="0">
                          <a:solidFill>
                            <a:srgbClr val="000000"/>
                          </a:solidFill>
                          <a:latin typeface="Montserrat"/>
                        </a:defRPr>
                      </a:pPr>
                      <a:r>
                        <a:t>Nefrología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98.6%</a:t>
                      </a:r>
                    </a:p>
                  </a:txBody>
                  <a:tcPr marL="45720" marR="45720" anchor="ctr">
                    <a:solidFill>
                      <a:srgbClr val="FFFFFF"/>
                    </a:solidFill>
                  </a:tcPr>
                </a:tc>
                <a:extLst>
                  <a:ext uri="{0D108BD9-81ED-4DB2-BD59-A6C34878D82A}">
                    <a16:rowId xmlns:a16="http://schemas.microsoft.com/office/drawing/2014/main" val="10006"/>
                  </a:ext>
                </a:extLst>
              </a:tr>
              <a:tr h="350100">
                <a:tc>
                  <a:txBody>
                    <a:bodyPr/>
                    <a:lstStyle/>
                    <a:p>
                      <a:pPr algn="l">
                        <a:defRPr sz="1100" b="0">
                          <a:solidFill>
                            <a:srgbClr val="000000"/>
                          </a:solidFill>
                          <a:latin typeface="Montserrat"/>
                        </a:defRPr>
                      </a:pPr>
                      <a:r>
                        <a:t>Neurología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98.9%</a:t>
                      </a:r>
                    </a:p>
                  </a:txBody>
                  <a:tcPr marL="45720" marR="45720" anchor="ctr">
                    <a:solidFill>
                      <a:srgbClr val="D9D9D9"/>
                    </a:solidFill>
                  </a:tcPr>
                </a:tc>
                <a:extLst>
                  <a:ext uri="{0D108BD9-81ED-4DB2-BD59-A6C34878D82A}">
                    <a16:rowId xmlns:a16="http://schemas.microsoft.com/office/drawing/2014/main" val="10007"/>
                  </a:ext>
                </a:extLst>
              </a:tr>
              <a:tr h="350100">
                <a:tc>
                  <a:txBody>
                    <a:bodyPr/>
                    <a:lstStyle/>
                    <a:p>
                      <a:pPr algn="l">
                        <a:defRPr sz="1100" b="0">
                          <a:solidFill>
                            <a:srgbClr val="000000"/>
                          </a:solidFill>
                          <a:latin typeface="Montserrat"/>
                        </a:defRPr>
                      </a:pPr>
                      <a:r>
                        <a:t>Neurología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99.3%</a:t>
                      </a:r>
                    </a:p>
                  </a:txBody>
                  <a:tcPr marL="45720" marR="45720" anchor="ctr">
                    <a:solidFill>
                      <a:srgbClr val="FFFFFF"/>
                    </a:solidFill>
                  </a:tcPr>
                </a:tc>
                <a:extLst>
                  <a:ext uri="{0D108BD9-81ED-4DB2-BD59-A6C34878D82A}">
                    <a16:rowId xmlns:a16="http://schemas.microsoft.com/office/drawing/2014/main" val="10008"/>
                  </a:ext>
                </a:extLst>
              </a:tr>
              <a:tr h="350100">
                <a:tc>
                  <a:txBody>
                    <a:bodyPr/>
                    <a:lstStyle/>
                    <a:p>
                      <a:pPr algn="l">
                        <a:defRPr sz="1100" b="0">
                          <a:solidFill>
                            <a:srgbClr val="000000"/>
                          </a:solidFill>
                          <a:latin typeface="Montserrat"/>
                        </a:defRPr>
                      </a:pPr>
                      <a:r>
                        <a:t>Servicios de Sangre</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99.6%</a:t>
                      </a:r>
                    </a:p>
                  </a:txBody>
                  <a:tcPr marL="45720" marR="45720" anchor="ctr">
                    <a:solidFill>
                      <a:srgbClr val="D9D9D9"/>
                    </a:solidFill>
                  </a:tcPr>
                </a:tc>
                <a:extLst>
                  <a:ext uri="{0D108BD9-81ED-4DB2-BD59-A6C34878D82A}">
                    <a16:rowId xmlns:a16="http://schemas.microsoft.com/office/drawing/2014/main" val="10009"/>
                  </a:ext>
                </a:extLst>
              </a:tr>
              <a:tr h="350100">
                <a:tc>
                  <a:txBody>
                    <a:bodyPr/>
                    <a:lstStyle/>
                    <a:p>
                      <a:pPr algn="l">
                        <a:defRPr sz="1100" b="0">
                          <a:solidFill>
                            <a:srgbClr val="000000"/>
                          </a:solidFill>
                          <a:latin typeface="Montserrat"/>
                        </a:defRPr>
                      </a:pPr>
                      <a:r>
                        <a:t>Urología Ginecológica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99.9%</a:t>
                      </a:r>
                    </a:p>
                  </a:txBody>
                  <a:tcPr marL="45720" marR="45720" anchor="ctr">
                    <a:solidFill>
                      <a:srgbClr val="FFFFFF"/>
                    </a:solidFill>
                  </a:tcPr>
                </a:tc>
                <a:extLst>
                  <a:ext uri="{0D108BD9-81ED-4DB2-BD59-A6C34878D82A}">
                    <a16:rowId xmlns:a16="http://schemas.microsoft.com/office/drawing/2014/main" val="10010"/>
                  </a:ext>
                </a:extLst>
              </a:tr>
              <a:tr h="350100">
                <a:tc>
                  <a:txBody>
                    <a:bodyPr/>
                    <a:lstStyle/>
                    <a:p>
                      <a:pPr algn="l">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299</a:t>
                      </a:r>
                    </a:p>
                  </a:txBody>
                  <a:tcPr marL="45720" marR="45720" anchor="ctr">
                    <a:solidFill>
                      <a:srgbClr val="CBE6E1"/>
                    </a:solidFill>
                  </a:tcPr>
                </a:tc>
                <a:tc>
                  <a:txBody>
                    <a:bodyPr/>
                    <a:lstStyle/>
                    <a:p>
                      <a:pPr algn="ctr">
                        <a:defRPr sz="1100" b="1">
                          <a:solidFill>
                            <a:srgbClr val="006455"/>
                          </a:solidFill>
                          <a:latin typeface="Montserrat"/>
                        </a:defRPr>
                      </a:pPr>
                      <a:r>
                        <a:t>100.0%</a:t>
                      </a:r>
                    </a:p>
                  </a:txBody>
                  <a:tcPr marL="45720" marR="45720" anchor="ctr">
                    <a:solidFill>
                      <a:srgbClr val="CBE6E1"/>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DF52B11-9C7D-4CFF-8584-9083070AB48D}"/>
              </a:ext>
            </a:extLst>
          </p:cNvPr>
          <p:cNvGraphicFramePr/>
          <p:nvPr>
            <p:extLst>
              <p:ext uri="{D42A27DB-BD31-4B8C-83A1-F6EECF244321}">
                <p14:modId xmlns:p14="http://schemas.microsoft.com/office/powerpoint/2010/main" val="895463715"/>
              </p:ext>
            </p:extLst>
          </p:nvPr>
        </p:nvGraphicFramePr>
        <p:xfrm>
          <a:off x="287050" y="862946"/>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Lista de espera por especialidad y por cirugía prioritaria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4" name="TextBox 3"/>
          <p:cNvSpPr txBox="1"/>
          <p:nvPr/>
        </p:nvSpPr>
        <p:spPr>
          <a:xfrm>
            <a:off x="3992400" y="4528429"/>
            <a:ext cx="5324400" cy="123111"/>
          </a:xfrm>
          <a:prstGeom prst="rect">
            <a:avLst/>
          </a:prstGeom>
          <a:noFill/>
        </p:spPr>
        <p:txBody>
          <a:bodyPr wrap="square" lIns="0" tIns="0" rIns="0" bIns="0">
            <a:spAutoFit/>
          </a:bodyPr>
          <a:lstStyle/>
          <a:p>
            <a:pPr algn="l">
              <a:defRPr sz="800">
                <a:solidFill>
                  <a:srgbClr val="FFFFFF"/>
                </a:solidFill>
                <a:latin typeface="Montserrat"/>
              </a:defRPr>
            </a:pPr>
            <a:r>
              <a:rPr lang="es-MX">
                <a:solidFill>
                  <a:schemeClr val="tx1"/>
                </a:solidFill>
              </a:rPr>
              <a:t>Corte de </a:t>
            </a:r>
            <a:r>
              <a:rPr lang="es-MX" err="1">
                <a:solidFill>
                  <a:schemeClr val="tx1"/>
                </a:solidFill>
              </a:rPr>
              <a:t>información</a:t>
            </a:r>
            <a:r>
              <a:rPr lang="es-MX">
                <a:solidFill>
                  <a:schemeClr val="tx1"/>
                </a:solidFill>
              </a:rPr>
              <a:t>: </a:t>
            </a:r>
            <a:r>
              <a:rPr lang="es-MX" err="1">
                <a:solidFill>
                  <a:schemeClr val="tx1"/>
                </a:solidFill>
              </a:rPr>
              <a:t>semana</a:t>
            </a:r>
            <a:r>
              <a:rPr lang="es-MX">
                <a:solidFill>
                  <a:schemeClr val="tx1"/>
                </a:solidFill>
              </a:rPr>
              <a:t> 24, 7 </a:t>
            </a:r>
            <a:r>
              <a:rPr lang="es-MX" err="1">
                <a:solidFill>
                  <a:schemeClr val="tx1"/>
                </a:solidFill>
              </a:rPr>
              <a:t>junio</a:t>
            </a:r>
            <a:r>
              <a:rPr lang="es-MX">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2878098483"/>
              </p:ext>
            </p:extLst>
          </p:nvPr>
        </p:nvGraphicFramePr>
        <p:xfrm>
          <a:off x="128656" y="1577471"/>
          <a:ext cx="3639599" cy="34290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1,874</a:t>
                      </a:r>
                    </a:p>
                  </a:txBody>
                  <a:tcPr anchor="ctr">
                    <a:solidFill>
                      <a:srgbClr val="FFFFFF"/>
                    </a:solidFill>
                  </a:tcPr>
                </a:tc>
                <a:tc>
                  <a:txBody>
                    <a:bodyPr/>
                    <a:lstStyle/>
                    <a:p>
                      <a:pPr algn="ctr">
                        <a:defRPr sz="1000">
                          <a:latin typeface="Montserrat"/>
                        </a:defRPr>
                      </a:pPr>
                      <a:r>
                        <a:t>34.3%</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1,442</a:t>
                      </a:r>
                    </a:p>
                  </a:txBody>
                  <a:tcPr anchor="ctr">
                    <a:solidFill>
                      <a:srgbClr val="D9D9D9"/>
                    </a:solidFill>
                  </a:tcPr>
                </a:tc>
                <a:tc>
                  <a:txBody>
                    <a:bodyPr/>
                    <a:lstStyle/>
                    <a:p>
                      <a:pPr algn="ctr">
                        <a:defRPr sz="1000">
                          <a:latin typeface="Montserrat"/>
                        </a:defRPr>
                      </a:pPr>
                      <a:r>
                        <a:t>60.7%</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512</a:t>
                      </a:r>
                    </a:p>
                  </a:txBody>
                  <a:tcPr anchor="ctr">
                    <a:solidFill>
                      <a:srgbClr val="FFFFFF"/>
                    </a:solidFill>
                  </a:tcPr>
                </a:tc>
                <a:tc>
                  <a:txBody>
                    <a:bodyPr/>
                    <a:lstStyle/>
                    <a:p>
                      <a:pPr algn="ctr">
                        <a:defRPr sz="1000">
                          <a:latin typeface="Montserrat"/>
                        </a:defRPr>
                      </a:pPr>
                      <a:r>
                        <a:t>70.1%</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377</a:t>
                      </a:r>
                    </a:p>
                  </a:txBody>
                  <a:tcPr anchor="ctr">
                    <a:solidFill>
                      <a:srgbClr val="D9D9D9"/>
                    </a:solidFill>
                  </a:tcPr>
                </a:tc>
                <a:tc>
                  <a:txBody>
                    <a:bodyPr/>
                    <a:lstStyle/>
                    <a:p>
                      <a:pPr algn="ctr">
                        <a:defRPr sz="1000">
                          <a:latin typeface="Montserrat"/>
                        </a:defRPr>
                      </a:pPr>
                      <a:r>
                        <a:t>77.0%</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356</a:t>
                      </a:r>
                    </a:p>
                  </a:txBody>
                  <a:tcPr anchor="ctr">
                    <a:solidFill>
                      <a:srgbClr val="FFFFFF"/>
                    </a:solidFill>
                  </a:tcPr>
                </a:tc>
                <a:tc>
                  <a:txBody>
                    <a:bodyPr/>
                    <a:lstStyle/>
                    <a:p>
                      <a:pPr algn="ctr">
                        <a:defRPr sz="1000">
                          <a:latin typeface="Montserrat"/>
                        </a:defRPr>
                      </a:pPr>
                      <a:r>
                        <a:t>83.5%</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318</a:t>
                      </a:r>
                    </a:p>
                  </a:txBody>
                  <a:tcPr anchor="ctr">
                    <a:solidFill>
                      <a:srgbClr val="D9D9D9"/>
                    </a:solidFill>
                  </a:tcPr>
                </a:tc>
                <a:tc>
                  <a:txBody>
                    <a:bodyPr/>
                    <a:lstStyle/>
                    <a:p>
                      <a:pPr algn="ctr">
                        <a:defRPr sz="1000">
                          <a:latin typeface="Montserrat"/>
                        </a:defRPr>
                      </a:pPr>
                      <a:r>
                        <a:t>89.3%</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Gastroenterología</a:t>
                      </a:r>
                    </a:p>
                  </a:txBody>
                  <a:tcPr anchor="ctr">
                    <a:solidFill>
                      <a:srgbClr val="FFFFFF"/>
                    </a:solidFill>
                  </a:tcPr>
                </a:tc>
                <a:tc>
                  <a:txBody>
                    <a:bodyPr/>
                    <a:lstStyle/>
                    <a:p>
                      <a:pPr algn="ctr">
                        <a:defRPr sz="1000">
                          <a:latin typeface="Montserrat"/>
                        </a:defRPr>
                      </a:pPr>
                      <a:r>
                        <a:t>216</a:t>
                      </a:r>
                    </a:p>
                  </a:txBody>
                  <a:tcPr anchor="ctr">
                    <a:solidFill>
                      <a:srgbClr val="FFFFFF"/>
                    </a:solidFill>
                  </a:tcPr>
                </a:tc>
                <a:tc>
                  <a:txBody>
                    <a:bodyPr/>
                    <a:lstStyle/>
                    <a:p>
                      <a:pPr algn="ctr">
                        <a:defRPr sz="1000">
                          <a:latin typeface="Montserrat"/>
                        </a:defRPr>
                      </a:pPr>
                      <a:r>
                        <a:t>93.3%</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153</a:t>
                      </a:r>
                    </a:p>
                  </a:txBody>
                  <a:tcPr anchor="ctr">
                    <a:solidFill>
                      <a:srgbClr val="D9D9D9"/>
                    </a:solidFill>
                  </a:tcPr>
                </a:tc>
                <a:tc>
                  <a:txBody>
                    <a:bodyPr/>
                    <a:lstStyle/>
                    <a:p>
                      <a:pPr algn="ctr">
                        <a:defRPr sz="1000">
                          <a:latin typeface="Montserrat"/>
                        </a:defRPr>
                      </a:pPr>
                      <a:r>
                        <a:t>96.1%</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131</a:t>
                      </a:r>
                    </a:p>
                  </a:txBody>
                  <a:tcPr anchor="ctr">
                    <a:solidFill>
                      <a:srgbClr val="FFFFFF"/>
                    </a:solidFill>
                  </a:tcPr>
                </a:tc>
                <a:tc>
                  <a:txBody>
                    <a:bodyPr/>
                    <a:lstStyle/>
                    <a:p>
                      <a:pPr algn="ctr">
                        <a:defRPr sz="1000">
                          <a:latin typeface="Montserrat"/>
                        </a:defRPr>
                      </a:pPr>
                      <a:r>
                        <a:t>98.5%</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100.0%</a:t>
                      </a:r>
                    </a:p>
                  </a:txBody>
                  <a:tcPr anchor="ctr">
                    <a:solidFill>
                      <a:srgbClr val="D9D9D9"/>
                    </a:solidFill>
                  </a:tcPr>
                </a:tc>
                <a:extLst>
                  <a:ext uri="{0D108BD9-81ED-4DB2-BD59-A6C34878D82A}">
                    <a16:rowId xmlns:a16="http://schemas.microsoft.com/office/drawing/2014/main" val="10010"/>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5,462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6905773"/>
              </p:ext>
            </p:extLst>
          </p:nvPr>
        </p:nvGraphicFramePr>
        <p:xfrm>
          <a:off x="3992400" y="1951871"/>
          <a:ext cx="3639599" cy="236220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364</a:t>
                      </a:r>
                    </a:p>
                  </a:txBody>
                  <a:tcPr anchor="ctr">
                    <a:solidFill>
                      <a:srgbClr val="FFFFFF"/>
                    </a:solidFill>
                  </a:tcPr>
                </a:tc>
                <a:tc>
                  <a:txBody>
                    <a:bodyPr/>
                    <a:lstStyle/>
                    <a:p>
                      <a:pPr algn="ctr">
                        <a:defRPr sz="1000">
                          <a:latin typeface="Montserrat"/>
                        </a:defRPr>
                      </a:pPr>
                      <a:r>
                        <a:t>29.2%</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51.2%</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197</a:t>
                      </a:r>
                    </a:p>
                  </a:txBody>
                  <a:tcPr anchor="ctr">
                    <a:solidFill>
                      <a:srgbClr val="FFFFFF"/>
                    </a:solidFill>
                  </a:tcPr>
                </a:tc>
                <a:tc>
                  <a:txBody>
                    <a:bodyPr/>
                    <a:lstStyle/>
                    <a:p>
                      <a:pPr algn="ctr">
                        <a:defRPr sz="1000">
                          <a:latin typeface="Montserrat"/>
                        </a:defRPr>
                      </a:pPr>
                      <a:r>
                        <a:t>67.1%</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165</a:t>
                      </a:r>
                    </a:p>
                  </a:txBody>
                  <a:tcPr anchor="ctr">
                    <a:solidFill>
                      <a:srgbClr val="D9D9D9"/>
                    </a:solidFill>
                  </a:tcPr>
                </a:tc>
                <a:tc>
                  <a:txBody>
                    <a:bodyPr/>
                    <a:lstStyle/>
                    <a:p>
                      <a:pPr algn="ctr">
                        <a:defRPr sz="1000">
                          <a:latin typeface="Montserrat"/>
                        </a:defRPr>
                      </a:pPr>
                      <a:r>
                        <a:t>80.3%</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158</a:t>
                      </a:r>
                    </a:p>
                  </a:txBody>
                  <a:tcPr anchor="ctr">
                    <a:solidFill>
                      <a:srgbClr val="FFFFFF"/>
                    </a:solidFill>
                  </a:tcPr>
                </a:tc>
                <a:tc>
                  <a:txBody>
                    <a:bodyPr/>
                    <a:lstStyle/>
                    <a:p>
                      <a:pPr algn="ctr">
                        <a:defRPr sz="1000">
                          <a:latin typeface="Montserrat"/>
                        </a:defRPr>
                      </a:pPr>
                      <a:r>
                        <a:t>93.0%</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44</a:t>
                      </a:r>
                    </a:p>
                  </a:txBody>
                  <a:tcPr anchor="ctr">
                    <a:solidFill>
                      <a:srgbClr val="D9D9D9"/>
                    </a:solidFill>
                  </a:tcPr>
                </a:tc>
                <a:tc>
                  <a:txBody>
                    <a:bodyPr/>
                    <a:lstStyle/>
                    <a:p>
                      <a:pPr algn="ctr">
                        <a:defRPr sz="1000">
                          <a:latin typeface="Montserrat"/>
                        </a:defRPr>
                      </a:pPr>
                      <a:r>
                        <a:t>96.5%</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43</a:t>
                      </a:r>
                    </a:p>
                  </a:txBody>
                  <a:tcPr anchor="ctr">
                    <a:solidFill>
                      <a:srgbClr val="FFFFFF"/>
                    </a:solidFill>
                  </a:tcPr>
                </a:tc>
                <a:tc>
                  <a:txBody>
                    <a:bodyPr/>
                    <a:lstStyle/>
                    <a:p>
                      <a:pPr algn="ctr">
                        <a:defRPr sz="1000">
                          <a:latin typeface="Montserrat"/>
                        </a:defRPr>
                      </a:pPr>
                      <a:r>
                        <a:t>100.0%</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1,245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7" name="TextBox 231">
            <a:extLst>
              <a:ext uri="{FF2B5EF4-FFF2-40B4-BE49-F238E27FC236}">
                <a16:creationId xmlns:a16="http://schemas.microsoft.com/office/drawing/2014/main" id="{B61C72BA-6E3C-A6EB-7540-849B119368DD}"/>
              </a:ext>
            </a:extLst>
          </p:cNvPr>
          <p:cNvSpPr txBox="1"/>
          <p:nvPr/>
        </p:nvSpPr>
        <p:spPr>
          <a:xfrm>
            <a:off x="642541" y="6499917"/>
            <a:ext cx="5324400" cy="123111"/>
          </a:xfrm>
          <a:prstGeom prst="rect">
            <a:avLst/>
          </a:prstGeom>
          <a:noFill/>
        </p:spPr>
        <p:txBody>
          <a:bodyPr wrap="square" lIns="0" tIns="0" rIns="0" bIns="0">
            <a:spAutoFit/>
          </a:bodyPr>
          <a:lstStyle/>
          <a:p>
            <a:pPr algn="l">
              <a:defRPr sz="800">
                <a:solidFill>
                  <a:srgbClr val="000000"/>
                </a:solidFill>
                <a:latin typeface="Montserrat" panose="00000500000000000000"/>
              </a:defRPr>
            </a:pPr>
            <a:r>
              <a:t>Corte de </a:t>
            </a:r>
            <a:r>
              <a:rPr err="1"/>
              <a:t>información</a:t>
            </a:r>
            <a:r>
              <a:t>: </a:t>
            </a:r>
            <a:r>
              <a:rPr lang="es-MX"/>
              <a:t>18</a:t>
            </a:r>
            <a:r>
              <a:t> </a:t>
            </a:r>
            <a:r>
              <a:rPr lang="es-MX"/>
              <a:t>junio</a:t>
            </a:r>
            <a:r>
              <a:t> 2026</a:t>
            </a:r>
          </a:p>
        </p:txBody>
      </p:sp>
      <p:graphicFrame>
        <p:nvGraphicFramePr>
          <p:cNvPr id="8" name="Google Shape;230;g370e87ffe7a_2_137">
            <a:extLst>
              <a:ext uri="{FF2B5EF4-FFF2-40B4-BE49-F238E27FC236}">
                <a16:creationId xmlns:a16="http://schemas.microsoft.com/office/drawing/2014/main" id="{B6B652DB-DC60-514A-8868-7F0BA1774D05}"/>
              </a:ext>
            </a:extLst>
          </p:cNvPr>
          <p:cNvGraphicFramePr/>
          <p:nvPr>
            <p:extLst>
              <p:ext uri="{D42A27DB-BD31-4B8C-83A1-F6EECF244321}">
                <p14:modId xmlns:p14="http://schemas.microsoft.com/office/powerpoint/2010/main" val="1832236956"/>
              </p:ext>
            </p:extLst>
          </p:nvPr>
        </p:nvGraphicFramePr>
        <p:xfrm>
          <a:off x="200058" y="5311107"/>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b="1" u="none" strike="noStrike" cap="none">
                          <a:solidFill>
                            <a:srgbClr val="BC955C"/>
                          </a:solidFill>
                          <a:latin typeface="Montserrat" panose="00000500000000000000"/>
                          <a:ea typeface="Montserrat" panose="00000500000000000000"/>
                          <a:cs typeface="Montserrat" panose="00000500000000000000"/>
                          <a:sym typeface="Montserrat" panose="00000500000000000000"/>
                        </a:rPr>
                        <a:t>Vive saludable, Vive feliz</a:t>
                      </a:r>
                      <a:endParaRPr sz="2100" b="1" u="none" strike="noStrike" cap="none">
                        <a:solidFill>
                          <a:srgbClr val="980000"/>
                        </a:solidFill>
                        <a:latin typeface="Montserrat" panose="00000500000000000000"/>
                        <a:ea typeface="Montserrat" panose="00000500000000000000"/>
                        <a:cs typeface="Montserrat" panose="00000500000000000000"/>
                        <a:sym typeface="Montserrat" panose="00000500000000000000"/>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 name="Table 232">
            <a:extLst>
              <a:ext uri="{FF2B5EF4-FFF2-40B4-BE49-F238E27FC236}">
                <a16:creationId xmlns:a16="http://schemas.microsoft.com/office/drawing/2014/main" id="{C0C86281-86FF-4877-C565-7B0E2C76DC58}"/>
              </a:ext>
            </a:extLst>
          </p:cNvPr>
          <p:cNvGraphicFramePr>
            <a:graphicFrameLocks noGrp="1"/>
          </p:cNvGraphicFramePr>
          <p:nvPr>
            <p:extLst>
              <p:ext uri="{D42A27DB-BD31-4B8C-83A1-F6EECF244321}">
                <p14:modId xmlns:p14="http://schemas.microsoft.com/office/powerpoint/2010/main" val="127331419"/>
              </p:ext>
            </p:extLst>
          </p:nvPr>
        </p:nvGraphicFramePr>
        <p:xfrm>
          <a:off x="659906" y="5809239"/>
          <a:ext cx="6352206"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gridCol w="1323169">
                  <a:extLst>
                    <a:ext uri="{9D8B030D-6E8A-4147-A177-3AD203B41FA5}">
                      <a16:colId xmlns:a16="http://schemas.microsoft.com/office/drawing/2014/main" val="20002"/>
                    </a:ext>
                  </a:extLst>
                </a:gridCol>
                <a:gridCol w="1323169">
                  <a:extLst>
                    <a:ext uri="{9D8B030D-6E8A-4147-A177-3AD203B41FA5}">
                      <a16:colId xmlns:a16="http://schemas.microsoft.com/office/drawing/2014/main" val="20003"/>
                    </a:ext>
                  </a:extLst>
                </a:gridCol>
              </a:tblGrid>
              <a:tr h="216000">
                <a:tc>
                  <a:txBody>
                    <a:bodyPr/>
                    <a:lstStyle/>
                    <a:p>
                      <a:pPr algn="ctr">
                        <a:defRPr sz="1100" b="1">
                          <a:solidFill>
                            <a:srgbClr val="FFFFFF"/>
                          </a:solidFill>
                          <a:latin typeface="Montserrat" panose="00000500000000000000"/>
                        </a:defRPr>
                      </a:pPr>
                      <a:r>
                        <a:rPr lang="es-MX"/>
                        <a:t>Total de Escuelas</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Escuelas visitadas</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Población </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Menores tamizados</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panose="00000500000000000000"/>
                        </a:defRPr>
                      </a:pPr>
                      <a:r>
                        <a:rPr lang="es-MX"/>
                        <a:t>2,094</a:t>
                      </a:r>
                    </a:p>
                  </a:txBody>
                  <a:tcPr anchor="ctr">
                    <a:solidFill>
                      <a:srgbClr val="D3E9E7"/>
                    </a:solidFill>
                  </a:tcPr>
                </a:tc>
                <a:tc>
                  <a:txBody>
                    <a:bodyPr/>
                    <a:lstStyle/>
                    <a:p>
                      <a:pPr algn="ctr">
                        <a:defRPr sz="1000" b="1">
                          <a:solidFill>
                            <a:srgbClr val="006455"/>
                          </a:solidFill>
                          <a:latin typeface="Montserrat" panose="00000500000000000000"/>
                        </a:defRPr>
                      </a:pPr>
                      <a:r>
                        <a:rPr lang="es-MX"/>
                        <a:t>1,961</a:t>
                      </a:r>
                    </a:p>
                  </a:txBody>
                  <a:tcPr anchor="ctr">
                    <a:solidFill>
                      <a:srgbClr val="D3E9E7"/>
                    </a:solidFill>
                  </a:tcPr>
                </a:tc>
                <a:tc>
                  <a:txBody>
                    <a:bodyPr/>
                    <a:lstStyle/>
                    <a:p>
                      <a:pPr algn="ctr">
                        <a:defRPr sz="1000" b="1">
                          <a:solidFill>
                            <a:srgbClr val="006455"/>
                          </a:solidFill>
                          <a:latin typeface="Montserrat" panose="00000500000000000000"/>
                        </a:defRPr>
                      </a:pPr>
                      <a:r>
                        <a:rPr lang="es-MX"/>
                        <a:t>366,054</a:t>
                      </a:r>
                    </a:p>
                  </a:txBody>
                  <a:tcPr anchor="ctr">
                    <a:solidFill>
                      <a:srgbClr val="D3E9E7"/>
                    </a:solidFill>
                  </a:tcPr>
                </a:tc>
                <a:tc>
                  <a:txBody>
                    <a:bodyPr/>
                    <a:lstStyle/>
                    <a:p>
                      <a:pPr algn="ctr">
                        <a:defRPr sz="1000" b="1">
                          <a:solidFill>
                            <a:srgbClr val="006455"/>
                          </a:solidFill>
                          <a:latin typeface="Montserrat" panose="00000500000000000000"/>
                        </a:defRPr>
                      </a:pPr>
                      <a:r>
                        <a:rPr lang="es-MX"/>
                        <a:t>236,295</a:t>
                      </a:r>
                    </a:p>
                  </a:txBody>
                  <a:tcPr anchor="ctr">
                    <a:solidFill>
                      <a:srgbClr val="D3E9E7"/>
                    </a:solidFill>
                  </a:tcPr>
                </a:tc>
                <a:extLst>
                  <a:ext uri="{0D108BD9-81ED-4DB2-BD59-A6C34878D82A}">
                    <a16:rowId xmlns:a16="http://schemas.microsoft.com/office/drawing/2014/main" val="10001"/>
                  </a:ext>
                </a:extLst>
              </a:tr>
            </a:tbl>
          </a:graphicData>
        </a:graphic>
      </p:graphicFrame>
      <p:graphicFrame>
        <p:nvGraphicFramePr>
          <p:cNvPr id="10" name="Table 232">
            <a:extLst>
              <a:ext uri="{FF2B5EF4-FFF2-40B4-BE49-F238E27FC236}">
                <a16:creationId xmlns:a16="http://schemas.microsoft.com/office/drawing/2014/main" id="{7BAA41BA-C386-5BA5-3DD2-E66C82D4D30A}"/>
              </a:ext>
            </a:extLst>
          </p:cNvPr>
          <p:cNvGraphicFramePr>
            <a:graphicFrameLocks noGrp="1"/>
          </p:cNvGraphicFramePr>
          <p:nvPr>
            <p:extLst>
              <p:ext uri="{D42A27DB-BD31-4B8C-83A1-F6EECF244321}">
                <p14:modId xmlns:p14="http://schemas.microsoft.com/office/powerpoint/2010/main" val="1581554325"/>
              </p:ext>
            </p:extLst>
          </p:nvPr>
        </p:nvGraphicFramePr>
        <p:xfrm>
          <a:off x="1870502" y="6808963"/>
          <a:ext cx="3705868"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tblGrid>
              <a:tr h="216000">
                <a:tc>
                  <a:txBody>
                    <a:bodyPr/>
                    <a:lstStyle/>
                    <a:p>
                      <a:pPr algn="ctr">
                        <a:defRPr sz="1100" b="1">
                          <a:solidFill>
                            <a:srgbClr val="FFFFFF"/>
                          </a:solidFill>
                          <a:latin typeface="Montserrat" panose="00000500000000000000"/>
                        </a:defRPr>
                      </a:pPr>
                      <a:r>
                        <a:rPr lang="es-MX"/>
                        <a:t>Brigadas</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Personal de enfermería IMSS</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panose="00000500000000000000"/>
                        </a:defRPr>
                      </a:pPr>
                      <a:r>
                        <a:rPr lang="es-MX"/>
                        <a:t>20</a:t>
                      </a:r>
                    </a:p>
                  </a:txBody>
                  <a:tcPr anchor="ctr">
                    <a:solidFill>
                      <a:srgbClr val="D3E9E7"/>
                    </a:solidFill>
                  </a:tcPr>
                </a:tc>
                <a:tc>
                  <a:txBody>
                    <a:bodyPr/>
                    <a:lstStyle/>
                    <a:p>
                      <a:pPr algn="ctr">
                        <a:defRPr sz="1000" b="1">
                          <a:solidFill>
                            <a:srgbClr val="006455"/>
                          </a:solidFill>
                          <a:latin typeface="Montserrat" panose="00000500000000000000"/>
                        </a:defRPr>
                      </a:pPr>
                      <a:r>
                        <a:rPr lang="es-MX"/>
                        <a:t>100</a:t>
                      </a:r>
                    </a:p>
                  </a:txBody>
                  <a:tcPr anchor="ctr">
                    <a:solidFill>
                      <a:srgbClr val="D3E9E7"/>
                    </a:solidFill>
                  </a:tcPr>
                </a:tc>
                <a:extLst>
                  <a:ext uri="{0D108BD9-81ED-4DB2-BD59-A6C34878D82A}">
                    <a16:rowId xmlns:a16="http://schemas.microsoft.com/office/drawing/2014/main" val="10001"/>
                  </a:ext>
                </a:extLst>
              </a:tr>
            </a:tbl>
          </a:graphicData>
        </a:graphic>
      </p:graphicFrame>
      <p:sp>
        <p:nvSpPr>
          <p:cNvPr id="11" name="TextBox 231">
            <a:extLst>
              <a:ext uri="{FF2B5EF4-FFF2-40B4-BE49-F238E27FC236}">
                <a16:creationId xmlns:a16="http://schemas.microsoft.com/office/drawing/2014/main" id="{17895669-21E6-51AB-4F91-CCEEAC66D9B6}"/>
              </a:ext>
            </a:extLst>
          </p:cNvPr>
          <p:cNvSpPr txBox="1"/>
          <p:nvPr/>
        </p:nvSpPr>
        <p:spPr>
          <a:xfrm>
            <a:off x="1012087" y="7550708"/>
            <a:ext cx="5324400" cy="123111"/>
          </a:xfrm>
          <a:prstGeom prst="rect">
            <a:avLst/>
          </a:prstGeom>
          <a:noFill/>
        </p:spPr>
        <p:txBody>
          <a:bodyPr wrap="square" lIns="0" tIns="0" rIns="0" bIns="0">
            <a:spAutoFit/>
          </a:bodyPr>
          <a:lstStyle/>
          <a:p>
            <a:pPr algn="l">
              <a:defRPr sz="800">
                <a:solidFill>
                  <a:srgbClr val="000000"/>
                </a:solidFill>
                <a:latin typeface="Montserrat" panose="00000500000000000000"/>
              </a:defRPr>
            </a:pPr>
            <a:r>
              <a:rPr lang="es-MX"/>
              <a:t>En cada brigada participan 5 personas del IMSS.</a:t>
            </a:r>
          </a:p>
        </p:txBody>
      </p:sp>
      <p:sp>
        <p:nvSpPr>
          <p:cNvPr id="12" name="CuadroTexto 11">
            <a:extLst>
              <a:ext uri="{FF2B5EF4-FFF2-40B4-BE49-F238E27FC236}">
                <a16:creationId xmlns:a16="http://schemas.microsoft.com/office/drawing/2014/main" id="{CCB0DD8C-5BAC-378B-8E81-E06A46D1AE7D}"/>
              </a:ext>
            </a:extLst>
          </p:cNvPr>
          <p:cNvSpPr txBox="1"/>
          <p:nvPr/>
        </p:nvSpPr>
        <p:spPr>
          <a:xfrm>
            <a:off x="197428" y="8289509"/>
            <a:ext cx="184126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800" b="1">
                <a:solidFill>
                  <a:srgbClr val="006556"/>
                </a:solidFill>
                <a:latin typeface="Montserrat" panose="00000500000000000000"/>
                <a:ea typeface="Montserrat" panose="00000500000000000000"/>
                <a:cs typeface="Montserrat" panose="00000500000000000000"/>
              </a:rPr>
              <a:t>11,216</a:t>
            </a:r>
            <a:endParaRPr lang="en-US" sz="2800" b="1" i="0" u="none" strike="noStrike">
              <a:solidFill>
                <a:srgbClr val="006556"/>
              </a:solidFill>
              <a:latin typeface="Montserrat" panose="00000500000000000000"/>
              <a:ea typeface="Montserrat" panose="00000500000000000000"/>
              <a:cs typeface="Montserrat" panose="00000500000000000000"/>
            </a:endParaRPr>
          </a:p>
          <a:p>
            <a:pPr algn="ctr"/>
            <a:r>
              <a:rPr lang="en-US" sz="1200" b="1" i="0" u="none" strike="noStrike" err="1">
                <a:solidFill>
                  <a:srgbClr val="434343"/>
                </a:solidFill>
                <a:latin typeface="Montserrat" panose="00000500000000000000"/>
                <a:ea typeface="Montserrat" panose="00000500000000000000"/>
                <a:cs typeface="Montserrat" panose="00000500000000000000"/>
              </a:rPr>
              <a:t>Valoraciones</a:t>
            </a:r>
            <a:r>
              <a:rPr lang="en-US" sz="1200" b="1" i="0" u="none" strike="noStrike">
                <a:solidFill>
                  <a:srgbClr val="434343"/>
                </a:solidFill>
                <a:latin typeface="Montserrat" panose="00000500000000000000"/>
                <a:ea typeface="Montserrat" panose="00000500000000000000"/>
                <a:cs typeface="Montserrat" panose="00000500000000000000"/>
              </a:rPr>
              <a:t> </a:t>
            </a:r>
            <a:br>
              <a:rPr lang="en-US" sz="1200" b="1">
                <a:latin typeface="Montserrat" panose="00000500000000000000"/>
                <a:ea typeface="Montserrat" panose="00000500000000000000"/>
                <a:cs typeface="Montserrat" panose="00000500000000000000"/>
              </a:rPr>
            </a:br>
            <a:r>
              <a:rPr lang="en-US" sz="1200" b="1" i="0" u="none" strike="noStrike" err="1">
                <a:solidFill>
                  <a:srgbClr val="434343"/>
                </a:solidFill>
                <a:latin typeface="Montserrat" panose="00000500000000000000"/>
                <a:ea typeface="Montserrat" panose="00000500000000000000"/>
                <a:cs typeface="Montserrat" panose="00000500000000000000"/>
              </a:rPr>
              <a:t>nutricionales</a:t>
            </a:r>
            <a:endParaRPr lang="en-US" sz="1200" b="1" i="0" u="none" strike="noStrike">
              <a:solidFill>
                <a:srgbClr val="434343"/>
              </a:solidFill>
              <a:latin typeface="Montserrat" panose="00000500000000000000"/>
              <a:ea typeface="Montserrat" panose="00000500000000000000"/>
              <a:cs typeface="Montserrat" panose="00000500000000000000"/>
            </a:endParaRPr>
          </a:p>
        </p:txBody>
      </p:sp>
      <p:sp>
        <p:nvSpPr>
          <p:cNvPr id="13" name="CuadroTexto 12">
            <a:extLst>
              <a:ext uri="{FF2B5EF4-FFF2-40B4-BE49-F238E27FC236}">
                <a16:creationId xmlns:a16="http://schemas.microsoft.com/office/drawing/2014/main" id="{21BEC12E-BD6A-7A69-901E-901DB3A4CED4}"/>
              </a:ext>
            </a:extLst>
          </p:cNvPr>
          <p:cNvSpPr txBox="1"/>
          <p:nvPr/>
        </p:nvSpPr>
        <p:spPr>
          <a:xfrm>
            <a:off x="2924003" y="8246934"/>
            <a:ext cx="183295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800" b="1">
                <a:solidFill>
                  <a:srgbClr val="006556"/>
                </a:solidFill>
                <a:latin typeface="Montserrat" panose="00000500000000000000"/>
                <a:ea typeface="Montserrat" panose="00000500000000000000"/>
                <a:cs typeface="Montserrat" panose="00000500000000000000"/>
              </a:rPr>
              <a:t>7,864</a:t>
            </a:r>
            <a:endParaRPr lang="en-US" sz="2800" b="1" i="0" u="none" strike="noStrike">
              <a:solidFill>
                <a:srgbClr val="006556"/>
              </a:solidFill>
              <a:latin typeface="Montserrat" panose="00000500000000000000"/>
              <a:ea typeface="Montserrat" panose="00000500000000000000"/>
              <a:cs typeface="Montserrat" panose="00000500000000000000"/>
            </a:endParaRPr>
          </a:p>
          <a:p>
            <a:pPr algn="ctr"/>
            <a:r>
              <a:rPr lang="en-US" sz="1200" b="1" i="0" u="none" strike="noStrike" err="1">
                <a:solidFill>
                  <a:srgbClr val="434343"/>
                </a:solidFill>
                <a:latin typeface="Montserrat" panose="00000500000000000000"/>
                <a:ea typeface="Montserrat" panose="00000500000000000000"/>
                <a:cs typeface="Montserrat" panose="00000500000000000000"/>
              </a:rPr>
              <a:t>Valoraciones</a:t>
            </a:r>
            <a:r>
              <a:rPr lang="en-US" sz="1200" b="1" i="0" u="none" strike="noStrike">
                <a:solidFill>
                  <a:srgbClr val="434343"/>
                </a:solidFill>
                <a:latin typeface="Montserrat" panose="00000500000000000000"/>
                <a:ea typeface="Montserrat" panose="00000500000000000000"/>
                <a:cs typeface="Montserrat" panose="00000500000000000000"/>
              </a:rPr>
              <a:t> </a:t>
            </a:r>
            <a:br>
              <a:rPr lang="en-US" sz="1200" b="1">
                <a:latin typeface="Montserrat" panose="00000500000000000000"/>
                <a:ea typeface="Montserrat" panose="00000500000000000000"/>
                <a:cs typeface="Montserrat" panose="00000500000000000000"/>
              </a:rPr>
            </a:br>
            <a:r>
              <a:rPr lang="en-US" sz="1200" b="1" err="1">
                <a:solidFill>
                  <a:srgbClr val="434343"/>
                </a:solidFill>
                <a:latin typeface="Montserrat" panose="00000500000000000000"/>
                <a:ea typeface="Montserrat" panose="00000500000000000000"/>
                <a:cs typeface="Montserrat" panose="00000500000000000000"/>
              </a:rPr>
              <a:t>bucales</a:t>
            </a:r>
            <a:endParaRPr lang="en-US" sz="1200" b="1" i="0" u="none" strike="noStrike">
              <a:solidFill>
                <a:srgbClr val="434343"/>
              </a:solidFill>
              <a:latin typeface="Montserrat" panose="00000500000000000000"/>
              <a:ea typeface="Montserrat" panose="00000500000000000000"/>
              <a:cs typeface="Montserrat" panose="00000500000000000000"/>
            </a:endParaRPr>
          </a:p>
        </p:txBody>
      </p:sp>
      <p:sp>
        <p:nvSpPr>
          <p:cNvPr id="14" name="CuadroTexto 13">
            <a:extLst>
              <a:ext uri="{FF2B5EF4-FFF2-40B4-BE49-F238E27FC236}">
                <a16:creationId xmlns:a16="http://schemas.microsoft.com/office/drawing/2014/main" id="{D7700F18-25CB-D386-AA50-3D8D404E23C2}"/>
              </a:ext>
            </a:extLst>
          </p:cNvPr>
          <p:cNvSpPr txBox="1"/>
          <p:nvPr/>
        </p:nvSpPr>
        <p:spPr>
          <a:xfrm>
            <a:off x="5218315" y="8225646"/>
            <a:ext cx="184126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800" b="1">
                <a:solidFill>
                  <a:srgbClr val="006556"/>
                </a:solidFill>
                <a:latin typeface="Montserrat" panose="00000500000000000000"/>
                <a:ea typeface="Montserrat" panose="00000500000000000000"/>
                <a:cs typeface="Montserrat" panose="00000500000000000000"/>
              </a:rPr>
              <a:t>5,793</a:t>
            </a:r>
            <a:endParaRPr lang="en-US" sz="2800" b="1" i="0" u="none" strike="noStrike">
              <a:solidFill>
                <a:srgbClr val="006556"/>
              </a:solidFill>
              <a:latin typeface="Montserrat" panose="00000500000000000000"/>
              <a:ea typeface="Montserrat" panose="00000500000000000000"/>
              <a:cs typeface="Montserrat" panose="00000500000000000000"/>
            </a:endParaRPr>
          </a:p>
          <a:p>
            <a:pPr algn="ctr"/>
            <a:r>
              <a:rPr lang="en-US" sz="1200" b="1">
                <a:solidFill>
                  <a:srgbClr val="434343"/>
                </a:solidFill>
                <a:latin typeface="Montserrat" panose="00000500000000000000"/>
                <a:ea typeface="Montserrat" panose="00000500000000000000"/>
                <a:cs typeface="Montserrat" panose="00000500000000000000"/>
              </a:rPr>
              <a:t>Salud visual</a:t>
            </a:r>
            <a:endParaRPr lang="en-US" sz="1200" b="1" i="0" u="none" strike="noStrike">
              <a:solidFill>
                <a:srgbClr val="434343"/>
              </a:solidFill>
              <a:latin typeface="Montserrat" panose="00000500000000000000"/>
              <a:ea typeface="Montserrat" panose="00000500000000000000"/>
              <a:cs typeface="Montserrat" panose="00000500000000000000"/>
            </a:endParaRPr>
          </a:p>
        </p:txBody>
      </p:sp>
      <p:pic>
        <p:nvPicPr>
          <p:cNvPr id="15" name="Imagen 14" descr="Icono&#10;&#10;El contenido generado por IA puede ser incorrecto.">
            <a:extLst>
              <a:ext uri="{FF2B5EF4-FFF2-40B4-BE49-F238E27FC236}">
                <a16:creationId xmlns:a16="http://schemas.microsoft.com/office/drawing/2014/main" id="{3F2838FD-6957-CF4A-7601-CC3678309991}"/>
              </a:ext>
            </a:extLst>
          </p:cNvPr>
          <p:cNvPicPr>
            <a:picLocks noChangeAspect="1"/>
          </p:cNvPicPr>
          <p:nvPr/>
        </p:nvPicPr>
        <p:blipFill>
          <a:blip r:embed="rId4"/>
          <a:stretch>
            <a:fillRect/>
          </a:stretch>
        </p:blipFill>
        <p:spPr>
          <a:xfrm>
            <a:off x="3462944" y="7612583"/>
            <a:ext cx="730135" cy="669175"/>
          </a:xfrm>
          <a:prstGeom prst="rect">
            <a:avLst/>
          </a:prstGeom>
        </p:spPr>
      </p:pic>
      <p:pic>
        <p:nvPicPr>
          <p:cNvPr id="16" name="Imagen 15" descr="Icono&#10;&#10;El contenido generado por IA puede ser incorrecto.">
            <a:extLst>
              <a:ext uri="{FF2B5EF4-FFF2-40B4-BE49-F238E27FC236}">
                <a16:creationId xmlns:a16="http://schemas.microsoft.com/office/drawing/2014/main" id="{67FFB3A5-2981-2C19-BD1A-D22670B01E41}"/>
              </a:ext>
            </a:extLst>
          </p:cNvPr>
          <p:cNvPicPr>
            <a:picLocks noChangeAspect="1"/>
          </p:cNvPicPr>
          <p:nvPr/>
        </p:nvPicPr>
        <p:blipFill>
          <a:blip r:embed="rId5"/>
          <a:stretch>
            <a:fillRect/>
          </a:stretch>
        </p:blipFill>
        <p:spPr>
          <a:xfrm>
            <a:off x="5655945" y="7738327"/>
            <a:ext cx="924445" cy="491944"/>
          </a:xfrm>
          <a:prstGeom prst="rect">
            <a:avLst/>
          </a:prstGeom>
        </p:spPr>
      </p:pic>
      <p:pic>
        <p:nvPicPr>
          <p:cNvPr id="17" name="Imagen 16" descr="Icono&#10;&#10;El contenido generado por IA puede ser incorrecto.">
            <a:extLst>
              <a:ext uri="{FF2B5EF4-FFF2-40B4-BE49-F238E27FC236}">
                <a16:creationId xmlns:a16="http://schemas.microsoft.com/office/drawing/2014/main" id="{E45BF1C6-440B-B72A-8EAC-61B49BB98FBC}"/>
              </a:ext>
            </a:extLst>
          </p:cNvPr>
          <p:cNvPicPr>
            <a:picLocks noChangeAspect="1"/>
          </p:cNvPicPr>
          <p:nvPr/>
        </p:nvPicPr>
        <p:blipFill>
          <a:blip r:embed="rId6"/>
          <a:stretch>
            <a:fillRect/>
          </a:stretch>
        </p:blipFill>
        <p:spPr>
          <a:xfrm>
            <a:off x="816379" y="7594572"/>
            <a:ext cx="603366" cy="713510"/>
          </a:xfrm>
          <a:prstGeom prst="rect">
            <a:avLst/>
          </a:prstGeom>
        </p:spPr>
      </p:pic>
    </p:spTree>
    <p:extLst>
      <p:ext uri="{BB962C8B-B14F-4D97-AF65-F5344CB8AC3E}">
        <p14:creationId xmlns:p14="http://schemas.microsoft.com/office/powerpoint/2010/main" val="3805655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16,358	 Personal de Salud: 10,468</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+69.9%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133</a:t>
                      </a:r>
                    </a:p>
                  </a:txBody>
                  <a:tcPr marL="0" marR="0" marT="0" marB="0">
                    <a:noFill/>
                  </a:tcPr>
                </a:tc>
                <a:tc>
                  <a:txBody>
                    <a:bodyPr/>
                    <a:lstStyle/>
                    <a:p>
                      <a:pPr algn="ctr">
                        <a:defRPr sz="1500" b="1">
                          <a:solidFill>
                            <a:srgbClr val="B4975A"/>
                          </a:solidFill>
                          <a:latin typeface="Montserrat"/>
                        </a:defRPr>
                      </a:pPr>
                      <a:r>
                        <a:t>226</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+35.5%</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1,677</a:t>
                      </a:r>
                    </a:p>
                  </a:txBody>
                  <a:tcPr marL="0" marR="0" marT="0" marB="0">
                    <a:noFill/>
                  </a:tcPr>
                </a:tc>
                <a:tc>
                  <a:txBody>
                    <a:bodyPr/>
                    <a:lstStyle/>
                    <a:p>
                      <a:pPr algn="ctr">
                        <a:defRPr sz="1500" b="1">
                          <a:solidFill>
                            <a:srgbClr val="B4975A"/>
                          </a:solidFill>
                          <a:latin typeface="Montserrat"/>
                        </a:defRPr>
                      </a:pPr>
                      <a:r>
                        <a:t>2,272</a:t>
                      </a:r>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+25.6%</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3,277</a:t>
                      </a:r>
                    </a:p>
                  </a:txBody>
                  <a:tcPr marL="0" marR="0" marT="0" marB="0">
                    <a:noFill/>
                  </a:tcPr>
                </a:tc>
                <a:tc>
                  <a:txBody>
                    <a:bodyPr/>
                    <a:lstStyle/>
                    <a:p>
                      <a:pPr algn="ctr">
                        <a:defRPr sz="1500" b="1">
                          <a:solidFill>
                            <a:srgbClr val="B4975A"/>
                          </a:solidFill>
                          <a:latin typeface="Montserrat"/>
                        </a:defRPr>
                      </a:pPr>
                      <a:r>
                        <a:t>4,117</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+25.7%</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2,296</a:t>
                      </a:r>
                    </a:p>
                  </a:txBody>
                  <a:tcPr marL="0" marR="0" marT="0" marB="0">
                    <a:noFill/>
                  </a:tcPr>
                </a:tc>
                <a:tc>
                  <a:txBody>
                    <a:bodyPr/>
                    <a:lstStyle/>
                    <a:p>
                      <a:pPr algn="ctr">
                        <a:defRPr sz="1500" b="1">
                          <a:solidFill>
                            <a:srgbClr val="B4975A"/>
                          </a:solidFill>
                          <a:latin typeface="Montserrat"/>
                        </a:defRPr>
                      </a:pPr>
                      <a:r>
                        <a:t>2,886</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278</a:t>
                      </a:r>
                    </a:p>
                  </a:txBody>
                  <a:tcPr marL="0" marR="0" marT="0" marB="0">
                    <a:noFill/>
                  </a:tcPr>
                </a:tc>
                <a:tc>
                  <a:txBody>
                    <a:bodyPr/>
                    <a:lstStyle/>
                    <a:p>
                      <a:pPr algn="ctr">
                        <a:defRPr sz="1500" b="1">
                          <a:solidFill>
                            <a:srgbClr val="B4975A"/>
                          </a:solidFill>
                          <a:latin typeface="Montserrat"/>
                        </a:defRPr>
                      </a:pPr>
                      <a:r>
                        <a:t>266</a:t>
                      </a:r>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+6.9%</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656</a:t>
                      </a:r>
                    </a:p>
                  </a:txBody>
                  <a:tcPr marL="0" marR="0" marT="0" marB="0">
                    <a:noFill/>
                  </a:tcPr>
                </a:tc>
                <a:tc>
                  <a:txBody>
                    <a:bodyPr/>
                    <a:lstStyle/>
                    <a:p>
                      <a:pPr algn="ctr">
                        <a:defRPr sz="1500" b="1">
                          <a:solidFill>
                            <a:srgbClr val="B4975A"/>
                          </a:solidFill>
                          <a:latin typeface="Montserrat"/>
                        </a:defRPr>
                      </a:pPr>
                      <a:r>
                        <a:t>701</a:t>
                      </a:r>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nvGraphicFramePr>
        <p:xfrm>
          <a:off x="4507200" y="55152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40</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34</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Anestesiología</a:t>
                      </a:r>
                    </a:p>
                  </a:txBody>
                  <a:tcPr marL="45720" marR="45720">
                    <a:solidFill>
                      <a:srgbClr val="FFFFFF"/>
                    </a:solidFill>
                  </a:tcPr>
                </a:tc>
                <a:tc>
                  <a:txBody>
                    <a:bodyPr/>
                    <a:lstStyle/>
                    <a:p>
                      <a:pPr algn="ctr">
                        <a:defRPr sz="800">
                          <a:latin typeface="Montserrat"/>
                        </a:defRPr>
                      </a:pPr>
                      <a:r>
                        <a:t>17</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Cirugía General</a:t>
                      </a:r>
                    </a:p>
                  </a:txBody>
                  <a:tcPr marL="45720" marR="45720">
                    <a:solidFill>
                      <a:srgbClr val="EFEFEF"/>
                    </a:solidFill>
                  </a:tcPr>
                </a:tc>
                <a:tc>
                  <a:txBody>
                    <a:bodyPr/>
                    <a:lstStyle/>
                    <a:p>
                      <a:pPr algn="ctr">
                        <a:defRPr sz="800">
                          <a:latin typeface="Montserrat"/>
                        </a:defRPr>
                      </a:pPr>
                      <a:r>
                        <a:t>11</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Medicina Interna</a:t>
                      </a:r>
                    </a:p>
                  </a:txBody>
                  <a:tcPr marL="45720" marR="45720">
                    <a:solidFill>
                      <a:srgbClr val="FFFFFF"/>
                    </a:solidFill>
                  </a:tcPr>
                </a:tc>
                <a:tc>
                  <a:txBody>
                    <a:bodyPr/>
                    <a:lstStyle/>
                    <a:p>
                      <a:pPr algn="ctr">
                        <a:defRPr sz="800">
                          <a:latin typeface="Montserrat"/>
                        </a:defRPr>
                      </a:pPr>
                      <a:r>
                        <a:t>9</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nvGraphicFramePr>
        <p:xfrm>
          <a:off x="4507200" y="68508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de Urgencias</a:t>
                      </a:r>
                    </a:p>
                  </a:txBody>
                  <a:tcPr marL="45720" marR="45720">
                    <a:solidFill>
                      <a:srgbClr val="FFFFFF"/>
                    </a:solidFill>
                  </a:tcPr>
                </a:tc>
                <a:tc>
                  <a:txBody>
                    <a:bodyPr/>
                    <a:lstStyle/>
                    <a:p>
                      <a:pPr algn="ctr">
                        <a:defRPr sz="800">
                          <a:latin typeface="Montserrat"/>
                        </a:defRPr>
                      </a:pPr>
                      <a:r>
                        <a:t>30</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Familiar</a:t>
                      </a:r>
                    </a:p>
                  </a:txBody>
                  <a:tcPr marL="45720" marR="45720">
                    <a:solidFill>
                      <a:srgbClr val="EFEFEF"/>
                    </a:solidFill>
                  </a:tcPr>
                </a:tc>
                <a:tc>
                  <a:txBody>
                    <a:bodyPr/>
                    <a:lstStyle/>
                    <a:p>
                      <a:pPr algn="ctr">
                        <a:defRPr sz="800">
                          <a:latin typeface="Montserrat"/>
                        </a:defRPr>
                      </a:pPr>
                      <a:r>
                        <a:t>29</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Cirugía General</a:t>
                      </a:r>
                    </a:p>
                  </a:txBody>
                  <a:tcPr marL="45720" marR="45720">
                    <a:solidFill>
                      <a:srgbClr val="FFFFFF"/>
                    </a:solidFill>
                  </a:tcPr>
                </a:tc>
                <a:tc>
                  <a:txBody>
                    <a:bodyPr/>
                    <a:lstStyle/>
                    <a:p>
                      <a:pPr algn="ctr">
                        <a:defRPr sz="800">
                          <a:latin typeface="Montserrat"/>
                        </a:defRPr>
                      </a:pPr>
                      <a:r>
                        <a:t>16</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Anestesiología</a:t>
                      </a:r>
                    </a:p>
                  </a:txBody>
                  <a:tcPr marL="45720" marR="45720">
                    <a:solidFill>
                      <a:srgbClr val="EFEFEF"/>
                    </a:solidFill>
                  </a:tcPr>
                </a:tc>
                <a:tc>
                  <a:txBody>
                    <a:bodyPr/>
                    <a:lstStyle/>
                    <a:p>
                      <a:pPr algn="ctr">
                        <a:defRPr sz="800">
                          <a:latin typeface="Montserrat"/>
                        </a:defRPr>
                      </a:pPr>
                      <a:r>
                        <a:t>13</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Medicina Interna</a:t>
                      </a:r>
                    </a:p>
                  </a:txBody>
                  <a:tcPr marL="45720" marR="45720">
                    <a:solidFill>
                      <a:srgbClr val="FFFFFF"/>
                    </a:solidFill>
                  </a:tcPr>
                </a:tc>
                <a:tc>
                  <a:txBody>
                    <a:bodyPr/>
                    <a:lstStyle/>
                    <a:p>
                      <a:pPr algn="ctr">
                        <a:defRPr sz="800">
                          <a:latin typeface="Montserrat"/>
                        </a:defRPr>
                      </a:pPr>
                      <a:r>
                        <a:t>10</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nvGraphicFramePr>
        <p:xfrm>
          <a:off x="384048" y="8313724"/>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t>201</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solidFill>
                      <a:srgbClr val="006455"/>
                    </a:solidFill>
                  </a:tcPr>
                </a:tc>
                <a:tc>
                  <a:txBody>
                    <a:bodyPr/>
                    <a:lstStyle/>
                    <a:p>
                      <a:pPr algn="ctr">
                        <a:defRPr sz="1000" b="0">
                          <a:solidFill>
                            <a:srgbClr val="000000"/>
                          </a:solidFill>
                          <a:latin typeface="Montserrat"/>
                        </a:defRPr>
                      </a:pPr>
                      <a:r>
                        <a:t>89</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t>127</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t>122</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t>539</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3463099" y="9659568"/>
            <a:ext cx="3879000" cy="246221"/>
          </a:xfrm>
          <a:prstGeom prst="rect">
            <a:avLst/>
          </a:prstGeom>
          <a:noFill/>
        </p:spPr>
        <p:txBody>
          <a:bodyPr wrap="square" lIns="0" tIns="0" rIns="0" bIns="0">
            <a:spAutoFit/>
          </a:bodyPr>
          <a:lstStyle/>
          <a:p>
            <a:pPr algn="l">
              <a:defRPr sz="800">
                <a:solidFill>
                  <a:srgbClr val="000000"/>
                </a:solidFill>
                <a:latin typeface="Montserrat"/>
              </a:defRPr>
            </a:pPr>
            <a:r>
              <a:rPr>
                <a:solidFill>
                  <a:schemeClr val="bg1"/>
                </a:solidFill>
              </a:rPr>
              <a:t>Fuente: Sistema de </a:t>
            </a:r>
            <a:r>
              <a:rPr err="1">
                <a:solidFill>
                  <a:schemeClr val="bg1"/>
                </a:solidFill>
              </a:rPr>
              <a:t>Información</a:t>
            </a:r>
            <a:r>
              <a:rPr>
                <a:solidFill>
                  <a:schemeClr val="bg1"/>
                </a:solidFill>
              </a:rPr>
              <a:t> </a:t>
            </a:r>
            <a:r>
              <a:rPr err="1">
                <a:solidFill>
                  <a:schemeClr val="bg1"/>
                </a:solidFill>
              </a:rPr>
              <a:t>Operativa</a:t>
            </a:r>
            <a:r>
              <a:rPr>
                <a:solidFill>
                  <a:schemeClr val="bg1"/>
                </a:solidFill>
              </a:rPr>
              <a:t>. Personal de base. Corte de </a:t>
            </a:r>
            <a:r>
              <a:rPr err="1">
                <a:solidFill>
                  <a:schemeClr val="bg1"/>
                </a:solidFill>
              </a:rPr>
              <a:t>información</a:t>
            </a:r>
            <a:r>
              <a:rPr>
                <a:solidFill>
                  <a:schemeClr val="bg1"/>
                </a:solidFill>
              </a:rPr>
              <a:t>: mayo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a:solidFill>
                  <a:srgbClr val="980000"/>
                </a:solidFill>
                <a:latin typeface="Montserrat"/>
                <a:ea typeface="Montserrat"/>
                <a:cs typeface="Montserrat"/>
                <a:sym typeface="Montserrat"/>
              </a:rPr>
              <a:t>consultas diarias</a:t>
            </a:r>
            <a:endParaRPr sz="2000" b="0" i="0" u="none" strike="noStrike" cap="none">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Día típico</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17,726</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768</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157</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3,558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1,144</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23,196</a:t>
            </a:r>
          </a:p>
        </p:txBody>
      </p:sp>
      <p:graphicFrame>
        <p:nvGraphicFramePr>
          <p:cNvPr id="344" name="Table 343"/>
          <p:cNvGraphicFramePr>
            <a:graphicFrameLocks noGrp="1"/>
          </p:cNvGraphicFramePr>
          <p:nvPr/>
        </p:nvGraphicFramePr>
        <p:xfrm>
          <a:off x="219600" y="1548000"/>
          <a:ext cx="7567200" cy="341568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solidFill>
                      <a:srgbClr val="006455"/>
                    </a:solidFill>
                  </a:tcPr>
                </a:tc>
                <a:tc>
                  <a:txBody>
                    <a:bodyPr/>
                    <a:lstStyle/>
                    <a:p>
                      <a:pPr algn="ctr">
                        <a:defRPr sz="1000" b="1">
                          <a:solidFill>
                            <a:srgbClr val="FFFFFF"/>
                          </a:solidFill>
                          <a:latin typeface="Montserrat"/>
                        </a:defRPr>
                      </a:pPr>
                      <a:r>
                        <a:t>Especialidades</a:t>
                      </a:r>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Enfermedades del corazón
(214,767)</a:t>
                      </a:r>
                    </a:p>
                  </a:txBody>
                  <a:tcPr>
                    <a:solidFill>
                      <a:srgbClr val="FFFFFF"/>
                    </a:solidFill>
                  </a:tcPr>
                </a:tc>
                <a:tc>
                  <a:txBody>
                    <a:bodyPr/>
                    <a:lstStyle/>
                    <a:p>
                      <a:pPr algn="ctr"/>
                      <a:r>
                        <a:rPr sz="900" b="0">
                          <a:latin typeface="Montserrat"/>
                        </a:rPr>
                        <a:t>Traumatismos e intoxicaciones
(18,385)</a:t>
                      </a:r>
                    </a:p>
                  </a:txBody>
                  <a:tcPr>
                    <a:solidFill>
                      <a:srgbClr val="FFFFFF"/>
                    </a:solidFill>
                  </a:tcPr>
                </a:tc>
                <a:tc>
                  <a:txBody>
                    <a:bodyPr/>
                    <a:lstStyle/>
                    <a:p>
                      <a:pPr algn="ctr"/>
                      <a:r>
                        <a:rPr sz="900" b="0">
                          <a:latin typeface="Montserrat"/>
                        </a:rPr>
                        <a:t>Traumatismos y envenenamientos
(2,704)</a:t>
                      </a:r>
                    </a:p>
                  </a:txBody>
                  <a:tcPr>
                    <a:solidFill>
                      <a:srgbClr val="FFFFFF"/>
                    </a:solidFill>
                  </a:tcPr>
                </a:tc>
                <a:tc>
                  <a:txBody>
                    <a:bodyPr/>
                    <a:lstStyle/>
                    <a:p>
                      <a:pPr algn="ctr"/>
                      <a:r>
                        <a:rPr sz="900" b="0">
                          <a:latin typeface="Montserrat"/>
                        </a:rPr>
                        <a:t>Embarazo, parto y puerperio
(4,004)</a:t>
                      </a:r>
                    </a:p>
                  </a:txBody>
                  <a:tcPr>
                    <a:solidFill>
                      <a:srgbClr val="FFFFFF"/>
                    </a:solidFill>
                  </a:tcPr>
                </a:tc>
                <a:tc>
                  <a:txBody>
                    <a:bodyPr/>
                    <a:lstStyle/>
                    <a:p>
                      <a:pPr algn="ctr"/>
                      <a:r>
                        <a:rPr sz="900" b="0">
                          <a:latin typeface="Montserrat"/>
                        </a:rPr>
                        <a:t>Enfermedades del corazón
(359)</a:t>
                      </a:r>
                    </a:p>
                  </a:txBody>
                  <a:tcP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Diabetes mellitus
(201,130)</a:t>
                      </a:r>
                    </a:p>
                  </a:txBody>
                  <a:tcPr>
                    <a:solidFill>
                      <a:srgbClr val="EFEFEF"/>
                    </a:solidFill>
                  </a:tcPr>
                </a:tc>
                <a:tc>
                  <a:txBody>
                    <a:bodyPr/>
                    <a:lstStyle/>
                    <a:p>
                      <a:pPr algn="ctr"/>
                      <a:r>
                        <a:rPr sz="900" b="0">
                          <a:latin typeface="Montserrat"/>
                        </a:rPr>
                        <a:t>Insuficiencia renal
(17,639)</a:t>
                      </a:r>
                    </a:p>
                  </a:txBody>
                  <a:tcPr>
                    <a:solidFill>
                      <a:srgbClr val="EFEFEF"/>
                    </a:solidFill>
                  </a:tcPr>
                </a:tc>
                <a:tc>
                  <a:txBody>
                    <a:bodyPr/>
                    <a:lstStyle/>
                    <a:p>
                      <a:pPr algn="ctr"/>
                      <a:r>
                        <a:rPr sz="900" b="0">
                          <a:latin typeface="Montserrat"/>
                        </a:rPr>
                        <a:t>Cesárea
(2,013)</a:t>
                      </a:r>
                    </a:p>
                  </a:txBody>
                  <a:tcPr>
                    <a:solidFill>
                      <a:srgbClr val="EFEFEF"/>
                    </a:solidFill>
                  </a:tcPr>
                </a:tc>
                <a:tc>
                  <a:txBody>
                    <a:bodyPr/>
                    <a:lstStyle/>
                    <a:p>
                      <a:pPr algn="ctr"/>
                      <a:r>
                        <a:rPr sz="900" b="0">
                          <a:latin typeface="Montserrat"/>
                        </a:rPr>
                        <a:t>Traumatismos e intoxicaciones
(2,794)</a:t>
                      </a:r>
                    </a:p>
                  </a:txBody>
                  <a:tcPr>
                    <a:solidFill>
                      <a:srgbClr val="EFEFEF"/>
                    </a:solidFill>
                  </a:tcPr>
                </a:tc>
                <a:tc>
                  <a:txBody>
                    <a:bodyPr/>
                    <a:lstStyle/>
                    <a:p>
                      <a:pPr algn="ctr"/>
                      <a:r>
                        <a:rPr sz="900" b="0">
                          <a:latin typeface="Montserrat"/>
                        </a:rPr>
                        <a:t>Diabetes mellitus
(304)</a:t>
                      </a:r>
                    </a:p>
                  </a:txBody>
                  <a:tcP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Infecciones respiratorias agudas
(54,113)</a:t>
                      </a:r>
                    </a:p>
                  </a:txBody>
                  <a:tcPr>
                    <a:solidFill>
                      <a:srgbClr val="FFFFFF"/>
                    </a:solidFill>
                  </a:tcPr>
                </a:tc>
                <a:tc>
                  <a:txBody>
                    <a:bodyPr/>
                    <a:lstStyle/>
                    <a:p>
                      <a:pPr algn="ctr"/>
                      <a:r>
                        <a:rPr sz="900" b="0">
                          <a:latin typeface="Montserrat"/>
                        </a:rPr>
                        <a:t>Tumores malignos
(17,345)</a:t>
                      </a:r>
                    </a:p>
                  </a:txBody>
                  <a:tcPr>
                    <a:solidFill>
                      <a:srgbClr val="FFFFFF"/>
                    </a:solidFill>
                  </a:tcPr>
                </a:tc>
                <a:tc>
                  <a:txBody>
                    <a:bodyPr/>
                    <a:lstStyle/>
                    <a:p>
                      <a:pPr algn="ctr"/>
                      <a:r>
                        <a:rPr sz="900" b="0">
                          <a:latin typeface="Montserrat"/>
                        </a:rPr>
                        <a:t>Artropatias
(1,808)</a:t>
                      </a:r>
                    </a:p>
                  </a:txBody>
                  <a:tcPr>
                    <a:solidFill>
                      <a:srgbClr val="FFFFFF"/>
                    </a:solidFill>
                  </a:tcPr>
                </a:tc>
                <a:tc>
                  <a:txBody>
                    <a:bodyPr/>
                    <a:lstStyle/>
                    <a:p>
                      <a:pPr algn="ctr"/>
                      <a:r>
                        <a:rPr sz="900" b="0">
                          <a:latin typeface="Montserrat"/>
                        </a:rPr>
                        <a:t>Enfermedades y trastornos de las articulaciones
(2,001)</a:t>
                      </a:r>
                    </a:p>
                  </a:txBody>
                  <a:tcPr>
                    <a:solidFill>
                      <a:srgbClr val="FFFFFF"/>
                    </a:solidFill>
                  </a:tcPr>
                </a:tc>
                <a:tc>
                  <a:txBody>
                    <a:bodyPr/>
                    <a:lstStyle/>
                    <a:p>
                      <a:pPr algn="ctr"/>
                      <a:r>
                        <a:rPr sz="900" b="0">
                          <a:latin typeface="Montserrat"/>
                        </a:rPr>
                        <a:t>Tumores malignos
(281)</a:t>
                      </a:r>
                    </a:p>
                  </a:txBody>
                  <a:tcP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Trastornos de la piel y tejidos superficiales
(42,571)</a:t>
                      </a:r>
                    </a:p>
                  </a:txBody>
                  <a:tcPr>
                    <a:solidFill>
                      <a:srgbClr val="EFEFEF"/>
                    </a:solidFill>
                  </a:tcPr>
                </a:tc>
                <a:tc>
                  <a:txBody>
                    <a:bodyPr/>
                    <a:lstStyle/>
                    <a:p>
                      <a:pPr algn="ctr"/>
                      <a:r>
                        <a:rPr sz="900" b="0">
                          <a:latin typeface="Montserrat"/>
                        </a:rPr>
                        <a:t>Problemas y enfermedades de la columna vertebral
(9,209)</a:t>
                      </a:r>
                    </a:p>
                  </a:txBody>
                  <a:tcPr>
                    <a:solidFill>
                      <a:srgbClr val="EFEFEF"/>
                    </a:solidFill>
                  </a:tcPr>
                </a:tc>
                <a:tc>
                  <a:txBody>
                    <a:bodyPr/>
                    <a:lstStyle/>
                    <a:p>
                      <a:pPr algn="ctr"/>
                      <a:r>
                        <a:rPr sz="900" b="0">
                          <a:latin typeface="Montserrat"/>
                        </a:rPr>
                        <a:t>Diabetes mellitus
(925)</a:t>
                      </a:r>
                    </a:p>
                  </a:txBody>
                  <a:tcPr>
                    <a:solidFill>
                      <a:srgbClr val="EFEFEF"/>
                    </a:solidFill>
                  </a:tcPr>
                </a:tc>
                <a:tc>
                  <a:txBody>
                    <a:bodyPr/>
                    <a:lstStyle/>
                    <a:p>
                      <a:pPr algn="ctr"/>
                      <a:r>
                        <a:rPr sz="900" b="0">
                          <a:latin typeface="Montserrat"/>
                        </a:rPr>
                        <a:t>Tumores malignos
(1,035)</a:t>
                      </a:r>
                    </a:p>
                  </a:txBody>
                  <a:tcPr>
                    <a:solidFill>
                      <a:srgbClr val="EFEFEF"/>
                    </a:solidFill>
                  </a:tcPr>
                </a:tc>
                <a:tc>
                  <a:txBody>
                    <a:bodyPr/>
                    <a:lstStyle/>
                    <a:p>
                      <a:pPr algn="ctr"/>
                      <a:r>
                        <a:rPr sz="900" b="0">
                          <a:latin typeface="Montserrat"/>
                        </a:rPr>
                        <a:t>Enfermedades cerebrovasculares
(161)</a:t>
                      </a:r>
                    </a:p>
                  </a:txBody>
                  <a:tcP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traumatismos e intoxicaciones
(40,559)</a:t>
                      </a:r>
                    </a:p>
                  </a:txBody>
                  <a:tcPr>
                    <a:solidFill>
                      <a:srgbClr val="FFFFFF"/>
                    </a:solidFill>
                  </a:tcPr>
                </a:tc>
                <a:tc>
                  <a:txBody>
                    <a:bodyPr/>
                    <a:lstStyle/>
                    <a:p>
                      <a:pPr algn="ctr"/>
                      <a:r>
                        <a:rPr sz="900" b="0">
                          <a:latin typeface="Montserrat"/>
                        </a:rPr>
                        <a:t>Enfermedades y trastornos de las articulaciones
(8,916)</a:t>
                      </a:r>
                    </a:p>
                  </a:txBody>
                  <a:tcPr>
                    <a:solidFill>
                      <a:srgbClr val="FFFFFF"/>
                    </a:solidFill>
                  </a:tcPr>
                </a:tc>
                <a:tc>
                  <a:txBody>
                    <a:bodyPr/>
                    <a:lstStyle/>
                    <a:p>
                      <a:pPr algn="ctr"/>
                      <a:r>
                        <a:rPr sz="900" b="0">
                          <a:latin typeface="Montserrat"/>
                        </a:rPr>
                        <a:t>Cirugía de vesicula biliar (Colecistectomía)
(861)</a:t>
                      </a:r>
                    </a:p>
                  </a:txBody>
                  <a:tcPr>
                    <a:solidFill>
                      <a:srgbClr val="FFFFFF"/>
                    </a:solidFill>
                  </a:tcPr>
                </a:tc>
                <a:tc>
                  <a:txBody>
                    <a:bodyPr/>
                    <a:lstStyle/>
                    <a:p>
                      <a:pPr algn="ctr"/>
                      <a:r>
                        <a:rPr sz="900" b="0">
                          <a:latin typeface="Montserrat"/>
                        </a:rPr>
                        <a:t>Enfermedades de la vesicula biliar
(1,031)</a:t>
                      </a:r>
                    </a:p>
                  </a:txBody>
                  <a:tcPr>
                    <a:solidFill>
                      <a:srgbClr val="FFFFFF"/>
                    </a:solidFill>
                  </a:tcPr>
                </a:tc>
                <a:tc>
                  <a:txBody>
                    <a:bodyPr/>
                    <a:lstStyle/>
                    <a:p>
                      <a:pPr algn="ctr"/>
                      <a:r>
                        <a:rPr sz="900" b="0">
                          <a:latin typeface="Montserrat"/>
                        </a:rPr>
                        <a:t>Neumonía e influenza
(154)</a:t>
                      </a:r>
                    </a:p>
                  </a:txBody>
                  <a:tcP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19600" y="5223786"/>
            <a:ext cx="5331600" cy="432000"/>
          </a:xfrm>
          <a:prstGeom prst="rect">
            <a:avLst/>
          </a:prstGeom>
          <a:noFill/>
        </p:spPr>
        <p:txBody>
          <a:bodyPr wrap="square" lIns="0" tIns="0" rIns="0" bIns="0">
            <a:spAutoFit/>
          </a:bodyPr>
          <a:lstStyle/>
          <a:p>
            <a:pPr algn="l">
              <a:defRPr sz="700">
                <a:solidFill>
                  <a:srgbClr val="000000"/>
                </a:solidFill>
                <a:latin typeface="Montserrat"/>
              </a:defRPr>
            </a:pPr>
            <a:r>
              <a:t>El </a:t>
            </a:r>
            <a:r>
              <a:rPr err="1"/>
              <a:t>número</a:t>
            </a:r>
            <a:r>
              <a:t> de </a:t>
            </a:r>
            <a:r>
              <a:rPr err="1"/>
              <a:t>casos</a:t>
            </a:r>
            <a:r>
              <a:t> se </a:t>
            </a:r>
            <a:r>
              <a:rPr err="1"/>
              <a:t>presentan</a:t>
            </a:r>
            <a:r>
              <a:t> entre </a:t>
            </a:r>
            <a:r>
              <a:rPr err="1"/>
              <a:t>paréntesis</a:t>
            </a:r>
            <a:r>
              <a:t>.</a:t>
            </a:r>
            <a:br>
              <a:rPr/>
            </a:br>
            <a:r>
              <a:t>Fuente: IMSS/DPM/División de </a:t>
            </a:r>
            <a:r>
              <a:rPr err="1"/>
              <a:t>Información</a:t>
            </a:r>
            <a:r>
              <a:t> en Salud/</a:t>
            </a:r>
            <a:r>
              <a:rPr err="1"/>
              <a:t>Motivos</a:t>
            </a:r>
            <a:r>
              <a:t> de Consulta Externa (SUI27).</a:t>
            </a:r>
            <a:br>
              <a:rPr/>
            </a:br>
            <a:r>
              <a:t>Sistema de </a:t>
            </a:r>
            <a:r>
              <a:rPr err="1"/>
              <a:t>información</a:t>
            </a:r>
            <a:r>
              <a:t> Médico </a:t>
            </a:r>
            <a:r>
              <a:rPr err="1"/>
              <a:t>Operativo</a:t>
            </a:r>
            <a:r>
              <a:t> Central (SIMOC).</a:t>
            </a:r>
            <a:br>
              <a:rPr/>
            </a:br>
            <a:r>
              <a:rPr err="1"/>
              <a:t>Periodo</a:t>
            </a:r>
            <a:r>
              <a:t>: </a:t>
            </a:r>
            <a:r>
              <a:rPr err="1"/>
              <a:t>enero-diciembre</a:t>
            </a:r>
            <a:r>
              <a:t> 2025</a:t>
            </a:r>
          </a:p>
        </p:txBody>
      </p:sp>
      <p:sp>
        <p:nvSpPr>
          <p:cNvPr id="346" name="TextBox 345"/>
          <p:cNvSpPr txBox="1"/>
          <p:nvPr/>
        </p:nvSpPr>
        <p:spPr>
          <a:xfrm>
            <a:off x="230400" y="9093600"/>
            <a:ext cx="4244400" cy="255600"/>
          </a:xfrm>
          <a:prstGeom prst="rect">
            <a:avLst/>
          </a:prstGeom>
          <a:noFill/>
        </p:spPr>
        <p:txBody>
          <a:bodyPr wrap="square" lIns="0" tIns="0" rIns="0" b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
        <p:nvSpPr>
          <p:cNvPr id="8" name="TextBox 7"/>
          <p:cNvSpPr txBox="1"/>
          <p:nvPr/>
        </p:nvSpPr>
        <p:spPr>
          <a:xfrm>
            <a:off x="274320" y="6318061"/>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683821"/>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1794218603"/>
              </p:ext>
            </p:extLst>
          </p:nvPr>
        </p:nvGraphicFramePr>
        <p:xfrm>
          <a:off x="457200" y="6958141"/>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483,888</a:t>
                      </a:r>
                    </a:p>
                  </a:txBody>
                  <a:tcPr>
                    <a:solidFill>
                      <a:srgbClr val="FFFFFF"/>
                    </a:solidFill>
                  </a:tcPr>
                </a:tc>
                <a:tc>
                  <a:txBody>
                    <a:bodyPr/>
                    <a:lstStyle/>
                    <a:p>
                      <a:pPr algn="ctr"/>
                      <a:r>
                        <a:rPr sz="1100" b="0">
                          <a:solidFill>
                            <a:srgbClr val="434343"/>
                          </a:solidFill>
                          <a:latin typeface="Montserrat"/>
                        </a:rPr>
                        <a:t>2,549,104</a:t>
                      </a:r>
                    </a:p>
                  </a:txBody>
                  <a:tcPr>
                    <a:solidFill>
                      <a:srgbClr val="FFFFFF"/>
                    </a:solidFill>
                  </a:tcPr>
                </a:tc>
                <a:tc>
                  <a:txBody>
                    <a:bodyPr/>
                    <a:lstStyle/>
                    <a:p>
                      <a:pPr algn="ctr"/>
                      <a:r>
                        <a:rPr sz="1100" b="0">
                          <a:solidFill>
                            <a:srgbClr val="434343"/>
                          </a:solidFill>
                          <a:latin typeface="Montserrat"/>
                        </a:rPr>
                        <a:t>84.0%</a:t>
                      </a:r>
                    </a:p>
                  </a:txBody>
                  <a:tcPr>
                    <a:solidFill>
                      <a:srgbClr val="FFFFFF"/>
                    </a:solidFill>
                  </a:tcPr>
                </a:tc>
                <a:extLst>
                  <a:ext uri="{0D108BD9-81ED-4DB2-BD59-A6C34878D82A}">
                    <a16:rowId xmlns:a16="http://schemas.microsoft.com/office/drawing/2014/main" val="10001"/>
                  </a:ext>
                </a:extLst>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260,658</a:t>
                      </a:r>
                    </a:p>
                  </a:txBody>
                  <a:tcPr>
                    <a:solidFill>
                      <a:srgbClr val="D9D9D9"/>
                    </a:solidFill>
                  </a:tcPr>
                </a:tc>
                <a:tc>
                  <a:txBody>
                    <a:bodyPr/>
                    <a:lstStyle/>
                    <a:p>
                      <a:pPr algn="ctr"/>
                      <a:r>
                        <a:rPr sz="1100" b="1">
                          <a:solidFill>
                            <a:srgbClr val="006455"/>
                          </a:solidFill>
                          <a:latin typeface="Montserrat"/>
                        </a:rPr>
                        <a:t>2,649,913</a:t>
                      </a:r>
                    </a:p>
                  </a:txBody>
                  <a:tcPr>
                    <a:solidFill>
                      <a:srgbClr val="D9D9D9"/>
                    </a:solidFill>
                  </a:tcPr>
                </a:tc>
                <a:tc>
                  <a:txBody>
                    <a:bodyPr/>
                    <a:lstStyle/>
                    <a:p>
                      <a:pPr algn="ctr"/>
                      <a:r>
                        <a:rPr sz="1100" b="1">
                          <a:solidFill>
                            <a:srgbClr val="006455"/>
                          </a:solidFill>
                          <a:latin typeface="Montserrat"/>
                        </a:rPr>
                        <a:t>91.0%</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5696-382B-76E6-3253-44E8DB985714}"/>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TAMAULIPAS</a:t>
            </a:r>
          </a:p>
        </p:txBody>
      </p:sp>
      <p:sp>
        <p:nvSpPr>
          <p:cNvPr id="3" name="TextBox 2"/>
          <p:cNvSpPr txBox="1"/>
          <p:nvPr/>
        </p:nvSpPr>
        <p:spPr>
          <a:xfrm>
            <a:off x="180000" y="612000"/>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tIns="0" r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8.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4885200"/>
            <a:ext cx="6840000" cy="288000"/>
          </a:xfrm>
          <a:prstGeom prst="rect">
            <a:avLst/>
          </a:prstGeom>
          <a:noFill/>
        </p:spPr>
        <p:txBody>
          <a:bodyPr wrap="none" lIns="0" tIns="0" r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51552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1082727492"/>
              </p:ext>
            </p:extLst>
          </p:nvPr>
        </p:nvGraphicFramePr>
        <p:xfrm>
          <a:off x="180000" y="5335200"/>
          <a:ext cx="7200000" cy="2145600"/>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198000">
                <a:tc gridSpan="2">
                  <a:txBody>
                    <a:bodyPr/>
                    <a:lstStyle/>
                    <a:p>
                      <a:pPr algn="ctr">
                        <a:defRPr sz="1000" b="1">
                          <a:solidFill>
                            <a:srgbClr val="FFFFFF"/>
                          </a:solidFill>
                          <a:latin typeface="Montserrat"/>
                        </a:defRPr>
                      </a:pPr>
                      <a:r>
                        <a:t>Con mayor </a:t>
                      </a:r>
                      <a:r>
                        <a:rPr err="1"/>
                        <a:t>demanda</a:t>
                      </a:r>
                      <a:r>
                        <a:t> de </a:t>
                      </a:r>
                      <a:r>
                        <a:rPr err="1"/>
                        <a:t>enero</a:t>
                      </a:r>
                      <a:r>
                        <a:t> a </a:t>
                      </a:r>
                      <a:r>
                        <a:rPr lang="es-MX"/>
                        <a:t>mayo</a:t>
                      </a:r>
                      <a:r>
                        <a:t>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extLst>
                  <a:ext uri="{0D108BD9-81ED-4DB2-BD59-A6C34878D82A}">
                    <a16:rowId xmlns:a16="http://schemas.microsoft.com/office/drawing/2014/main" val="10001"/>
                  </a:ext>
                </a:extLst>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655,890</a:t>
                      </a:r>
                    </a:p>
                  </a:txBody>
                  <a:tcPr marL="18000" marR="18000" marT="18000" marB="18000" anchor="ctr">
                    <a:solidFill>
                      <a:srgbClr val="F2F2F2"/>
                    </a:solidFill>
                  </a:tcPr>
                </a:tc>
                <a:extLst>
                  <a:ext uri="{0D108BD9-81ED-4DB2-BD59-A6C34878D82A}">
                    <a16:rowId xmlns:a16="http://schemas.microsoft.com/office/drawing/2014/main" val="10002"/>
                  </a:ext>
                </a:extLst>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402,138</a:t>
                      </a:r>
                    </a:p>
                  </a:txBody>
                  <a:tcPr marL="18000" marR="18000" marT="18000" marB="18000" anchor="ctr">
                    <a:solidFill>
                      <a:srgbClr val="FFFFFF"/>
                    </a:solidFill>
                  </a:tcPr>
                </a:tc>
                <a:extLst>
                  <a:ext uri="{0D108BD9-81ED-4DB2-BD59-A6C34878D82A}">
                    <a16:rowId xmlns:a16="http://schemas.microsoft.com/office/drawing/2014/main" val="10003"/>
                  </a:ext>
                </a:extLst>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265,500</a:t>
                      </a:r>
                    </a:p>
                  </a:txBody>
                  <a:tcPr marL="18000" marR="18000" marT="18000" marB="18000" anchor="ctr">
                    <a:solidFill>
                      <a:srgbClr val="F2F2F2"/>
                    </a:solidFill>
                  </a:tcPr>
                </a:tc>
                <a:extLst>
                  <a:ext uri="{0D108BD9-81ED-4DB2-BD59-A6C34878D82A}">
                    <a16:rowId xmlns:a16="http://schemas.microsoft.com/office/drawing/2014/main" val="10004"/>
                  </a:ext>
                </a:extLst>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250,022</a:t>
                      </a:r>
                    </a:p>
                  </a:txBody>
                  <a:tcPr marL="18000" marR="18000" marT="18000" marB="18000" anchor="ctr">
                    <a:solidFill>
                      <a:srgbClr val="FFFFFF"/>
                    </a:solidFill>
                  </a:tcPr>
                </a:tc>
                <a:extLst>
                  <a:ext uri="{0D108BD9-81ED-4DB2-BD59-A6C34878D82A}">
                    <a16:rowId xmlns:a16="http://schemas.microsoft.com/office/drawing/2014/main" val="10005"/>
                  </a:ext>
                </a:extLst>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231,138</a:t>
                      </a:r>
                    </a:p>
                  </a:txBody>
                  <a:tcPr marL="18000" marR="18000" marT="18000" marB="18000" anchor="ctr">
                    <a:solidFill>
                      <a:srgbClr val="F2F2F2"/>
                    </a:solidFill>
                  </a:tcPr>
                </a:tc>
                <a:extLst>
                  <a:ext uri="{0D108BD9-81ED-4DB2-BD59-A6C34878D82A}">
                    <a16:rowId xmlns:a16="http://schemas.microsoft.com/office/drawing/2014/main" val="10006"/>
                  </a:ext>
                </a:extLst>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220,872</a:t>
                      </a:r>
                    </a:p>
                  </a:txBody>
                  <a:tcPr marL="18000" marR="18000" marT="18000" marB="18000" anchor="ctr">
                    <a:solidFill>
                      <a:srgbClr val="FFFFFF"/>
                    </a:solidFill>
                  </a:tcPr>
                </a:tc>
                <a:extLst>
                  <a:ext uri="{0D108BD9-81ED-4DB2-BD59-A6C34878D82A}">
                    <a16:rowId xmlns:a16="http://schemas.microsoft.com/office/drawing/2014/main" val="10007"/>
                  </a:ext>
                </a:extLst>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220,737</a:t>
                      </a:r>
                    </a:p>
                  </a:txBody>
                  <a:tcPr marL="18000" marR="18000" marT="18000" marB="18000" anchor="ctr">
                    <a:solidFill>
                      <a:srgbClr val="F2F2F2"/>
                    </a:solidFill>
                  </a:tcPr>
                </a:tc>
                <a:extLst>
                  <a:ext uri="{0D108BD9-81ED-4DB2-BD59-A6C34878D82A}">
                    <a16:rowId xmlns:a16="http://schemas.microsoft.com/office/drawing/2014/main" val="10008"/>
                  </a:ext>
                </a:extLst>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212,447</a:t>
                      </a:r>
                    </a:p>
                  </a:txBody>
                  <a:tcPr marL="18000" marR="18000" marT="18000" marB="18000" anchor="ctr">
                    <a:solidFill>
                      <a:srgbClr val="FFFFFF"/>
                    </a:solidFill>
                  </a:tcPr>
                </a:tc>
                <a:extLst>
                  <a:ext uri="{0D108BD9-81ED-4DB2-BD59-A6C34878D82A}">
                    <a16:rowId xmlns:a16="http://schemas.microsoft.com/office/drawing/2014/main" val="10009"/>
                  </a:ext>
                </a:extLst>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202,095</a:t>
                      </a:r>
                    </a:p>
                  </a:txBody>
                  <a:tcPr marL="18000" marR="18000" marT="18000" marB="18000" anchor="ctr">
                    <a:solidFill>
                      <a:srgbClr val="F2F2F2"/>
                    </a:solidFill>
                  </a:tcPr>
                </a:tc>
                <a:extLst>
                  <a:ext uri="{0D108BD9-81ED-4DB2-BD59-A6C34878D82A}">
                    <a16:rowId xmlns:a16="http://schemas.microsoft.com/office/drawing/2014/main" val="10010"/>
                  </a:ext>
                </a:extLst>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181,312</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457200" y="9651600"/>
            <a:ext cx="6858000" cy="123111"/>
          </a:xfrm>
          <a:prstGeom prst="rect">
            <a:avLst/>
          </a:prstGeom>
          <a:noFill/>
        </p:spPr>
        <p:txBody>
          <a:bodyPr wrap="square" lIns="0" tIns="0" rIns="0" bIns="0">
            <a:spAutoFit/>
          </a:bodyPr>
          <a:lstStyle/>
          <a:p>
            <a:pPr algn="l">
              <a:defRPr sz="800">
                <a:solidFill>
                  <a:srgbClr val="FFFFFF"/>
                </a:solidFill>
                <a:latin typeface="Montserrat"/>
              </a:defRPr>
            </a:pPr>
            <a:r>
              <a:t>Fuente: Portal de Control de Abasto. En 2026, se </a:t>
            </a:r>
            <a:r>
              <a:rPr err="1"/>
              <a:t>muestra</a:t>
            </a:r>
            <a:r>
              <a:t> lo </a:t>
            </a:r>
            <a:r>
              <a:rPr err="1"/>
              <a:t>correspondiente</a:t>
            </a:r>
            <a:r>
              <a:t> al </a:t>
            </a:r>
            <a:r>
              <a:rPr err="1"/>
              <a:t>periodo</a:t>
            </a:r>
            <a:r>
              <a:t> del 1 de </a:t>
            </a:r>
            <a:r>
              <a:rPr err="1"/>
              <a:t>enero</a:t>
            </a:r>
            <a:r>
              <a:t> al 30 de </a:t>
            </a:r>
            <a:r>
              <a:rPr lang="es-MX"/>
              <a:t>mayo</a:t>
            </a:r>
            <a:r>
              <a:t> </a:t>
            </a:r>
            <a:r>
              <a:rPr err="1"/>
              <a:t>de</a:t>
            </a:r>
            <a:r>
              <a:t> 2026.</a:t>
            </a:r>
          </a:p>
        </p:txBody>
      </p:sp>
    </p:spTree>
    <p:extLst>
      <p:ext uri="{BB962C8B-B14F-4D97-AF65-F5344CB8AC3E}">
        <p14:creationId xmlns:p14="http://schemas.microsoft.com/office/powerpoint/2010/main" val="110968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45078"/>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028714" y="47206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Adquisición</a:t>
            </a:r>
            <a:r>
              <a:rPr lang="en-US" sz="1200" b="1" i="0" u="none" strike="noStrike">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305442" y="5011066"/>
            <a:ext cx="1120391" cy="1174221"/>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142714" y="5350274"/>
            <a:ext cx="4024612"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a:solidFill>
                <a:srgbClr val="BC955C"/>
              </a:solidFill>
              <a:latin typeface="Montserrat"/>
              <a:ea typeface="Montserrat"/>
              <a:cs typeface="Montserrat"/>
            </a:endParaRPr>
          </a:p>
          <a:p>
            <a:pPr algn="ctr"/>
            <a:r>
              <a:rPr lang="en-US" sz="700" b="1" err="1">
                <a:solidFill>
                  <a:srgbClr val="BC955C"/>
                </a:solidFill>
                <a:latin typeface="Montserrat"/>
              </a:rPr>
              <a:t>Tomógrafos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BC955C"/>
                </a:solidFill>
                <a:latin typeface="Montserrat"/>
                <a:ea typeface="Montserrat"/>
                <a:cs typeface="Montserrat"/>
              </a:rPr>
              <a:t>Remodelación</a:t>
            </a:r>
            <a:r>
              <a:rPr lang="en-US" sz="1200" b="1" i="0" u="none" strike="noStrike">
                <a:solidFill>
                  <a:srgbClr val="BC955C"/>
                </a:solidFill>
                <a:latin typeface="Montserrat"/>
                <a:ea typeface="Montserrat"/>
                <a:cs typeface="Montserrat"/>
              </a:rPr>
              <a:t>: </a:t>
            </a:r>
          </a:p>
        </p:txBody>
      </p:sp>
      <p:pic>
        <p:nvPicPr>
          <p:cNvPr id="3" name="Imagen 2" descr="Icono&#10;&#10;El contenido generado por IA puede ser incorrecto.">
            <a:extLst>
              <a:ext uri="{FF2B5EF4-FFF2-40B4-BE49-F238E27FC236}">
                <a16:creationId xmlns:a16="http://schemas.microsoft.com/office/drawing/2014/main" id="{08D43A5F-4C5A-1955-797E-ACCE000D6ACF}"/>
              </a:ext>
            </a:extLst>
          </p:cNvPr>
          <p:cNvPicPr>
            <a:picLocks noChangeAspect="1"/>
          </p:cNvPicPr>
          <p:nvPr/>
        </p:nvPicPr>
        <p:blipFill>
          <a:blip r:embed="rId6"/>
          <a:stretch>
            <a:fillRect/>
          </a:stretch>
        </p:blipFill>
        <p:spPr>
          <a:xfrm>
            <a:off x="220202" y="2079504"/>
            <a:ext cx="1127144" cy="2355004"/>
          </a:xfrm>
          <a:prstGeom prst="rect">
            <a:avLst/>
          </a:prstGeom>
        </p:spPr>
      </p:pic>
      <p:pic>
        <p:nvPicPr>
          <p:cNvPr id="4" name="Imagen 3" descr="Interfaz de usuario gráfica, Texto, Aplicación, Chat o mensaje de texto&#10;&#10;El contenido generado por IA puede ser incorrecto.">
            <a:extLst>
              <a:ext uri="{FF2B5EF4-FFF2-40B4-BE49-F238E27FC236}">
                <a16:creationId xmlns:a16="http://schemas.microsoft.com/office/drawing/2014/main" id="{59558EE9-07D6-6C76-6996-37C0E0B1B9E6}"/>
              </a:ext>
            </a:extLst>
          </p:cNvPr>
          <p:cNvPicPr>
            <a:picLocks noChangeAspect="1"/>
          </p:cNvPicPr>
          <p:nvPr/>
        </p:nvPicPr>
        <p:blipFill>
          <a:blip r:embed="rId7"/>
          <a:stretch>
            <a:fillRect/>
          </a:stretch>
        </p:blipFill>
        <p:spPr>
          <a:xfrm>
            <a:off x="-1717967" y="2076843"/>
            <a:ext cx="4992836" cy="987274"/>
          </a:xfrm>
          <a:prstGeom prst="rect">
            <a:avLst/>
          </a:prstGeom>
        </p:spPr>
      </p:pic>
      <p:pic>
        <p:nvPicPr>
          <p:cNvPr id="7" name="Imagen 6" descr="Interfaz de usuario gráfica, Texto, Aplicación, Chat o mensaje de texto&#10;&#10;El contenido generado por IA puede ser incorrecto.">
            <a:extLst>
              <a:ext uri="{FF2B5EF4-FFF2-40B4-BE49-F238E27FC236}">
                <a16:creationId xmlns:a16="http://schemas.microsoft.com/office/drawing/2014/main" id="{D6BA3C13-C25E-EBC0-9429-9634AD0B43FB}"/>
              </a:ext>
            </a:extLst>
          </p:cNvPr>
          <p:cNvPicPr>
            <a:picLocks noChangeAspect="1"/>
          </p:cNvPicPr>
          <p:nvPr/>
        </p:nvPicPr>
        <p:blipFill>
          <a:blip r:embed="rId8"/>
          <a:stretch>
            <a:fillRect/>
          </a:stretch>
        </p:blipFill>
        <p:spPr>
          <a:xfrm>
            <a:off x="-1702556" y="3365318"/>
            <a:ext cx="4983308" cy="847756"/>
          </a:xfrm>
          <a:prstGeom prst="rect">
            <a:avLst/>
          </a:prstGeom>
        </p:spPr>
      </p:pic>
      <p:sp>
        <p:nvSpPr>
          <p:cNvPr id="14" name="TextBox 1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15" name="Table 14"/>
          <p:cNvGraphicFramePr>
            <a:graphicFrameLocks noGrp="1"/>
          </p:cNvGraphicFramePr>
          <p:nvPr>
            <p:extLst>
              <p:ext uri="{D42A27DB-BD31-4B8C-83A1-F6EECF244321}">
                <p14:modId xmlns:p14="http://schemas.microsoft.com/office/powerpoint/2010/main" val="81149425"/>
              </p:ext>
            </p:extLst>
          </p:nvPr>
        </p:nvGraphicFramePr>
        <p:xfrm>
          <a:off x="1785600" y="1584001"/>
          <a:ext cx="5593768" cy="1599342"/>
        </p:xfrm>
        <a:graphic>
          <a:graphicData uri="http://schemas.openxmlformats.org/drawingml/2006/table">
            <a:tbl>
              <a:tblPr firstRow="1" bandRow="1">
                <a:tableStyleId>{5C22544A-7EE6-4342-B048-85BDC9FD1C3A}</a:tableStyleId>
              </a:tblPr>
              <a:tblGrid>
                <a:gridCol w="4411129">
                  <a:extLst>
                    <a:ext uri="{9D8B030D-6E8A-4147-A177-3AD203B41FA5}">
                      <a16:colId xmlns:a16="http://schemas.microsoft.com/office/drawing/2014/main" val="20000"/>
                    </a:ext>
                  </a:extLst>
                </a:gridCol>
                <a:gridCol w="1182639">
                  <a:extLst>
                    <a:ext uri="{9D8B030D-6E8A-4147-A177-3AD203B41FA5}">
                      <a16:colId xmlns:a16="http://schemas.microsoft.com/office/drawing/2014/main" val="20001"/>
                    </a:ext>
                  </a:extLst>
                </a:gridCol>
              </a:tblGrid>
              <a:tr h="207091">
                <a:tc>
                  <a:txBody>
                    <a:bodyPr/>
                    <a:lstStyle/>
                    <a:p>
                      <a:pPr algn="ctr">
                        <a:defRPr sz="1000" b="1">
                          <a:solidFill>
                            <a:srgbClr val="FFFFFF"/>
                          </a:solidFill>
                          <a:latin typeface="Montserrat"/>
                        </a:defRPr>
                      </a:pPr>
                      <a:r>
                        <a:t>Obras de </a:t>
                      </a:r>
                      <a:r>
                        <a:rPr err="1"/>
                        <a:t>Infraestructura</a:t>
                      </a:r>
                      <a:r>
                        <a:t>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57849">
                <a:tc>
                  <a:txBody>
                    <a:bodyPr/>
                    <a:lstStyle/>
                    <a:p>
                      <a:pPr algn="l">
                        <a:lnSpc>
                          <a:spcPct val="100000"/>
                        </a:lnSpc>
                      </a:pPr>
                      <a:r>
                        <a:rPr sz="1000">
                          <a:latin typeface="Montserrat"/>
                        </a:rPr>
                        <a:t>Ampliación y Remodelación de la UMF 17, Río Bravo</a:t>
                      </a:r>
                    </a:p>
                  </a:txBody>
                  <a:tcPr marL="3600" marR="3600" marT="3600" marB="3600" anchor="ctr">
                    <a:solidFill>
                      <a:srgbClr val="FFFFFF"/>
                    </a:solidFill>
                  </a:tcPr>
                </a:tc>
                <a:tc>
                  <a:txBody>
                    <a:bodyPr/>
                    <a:lstStyle/>
                    <a:p>
                      <a:pPr algn="ctr">
                        <a:lnSpc>
                          <a:spcPct val="100000"/>
                        </a:lnSpc>
                      </a:pPr>
                      <a:r>
                        <a:rPr sz="1000" dirty="0">
                          <a:latin typeface="Montserrat"/>
                        </a:rPr>
                        <a:t>$163.7</a:t>
                      </a:r>
                    </a:p>
                  </a:txBody>
                  <a:tcPr marL="3600" marR="3600" marT="3600" marB="3600" anchor="ctr">
                    <a:solidFill>
                      <a:srgbClr val="FFFFFF"/>
                    </a:solidFill>
                  </a:tcPr>
                </a:tc>
                <a:extLst>
                  <a:ext uri="{0D108BD9-81ED-4DB2-BD59-A6C34878D82A}">
                    <a16:rowId xmlns:a16="http://schemas.microsoft.com/office/drawing/2014/main" val="10001"/>
                  </a:ext>
                </a:extLst>
              </a:tr>
              <a:tr h="335001">
                <a:tc>
                  <a:txBody>
                    <a:bodyPr/>
                    <a:lstStyle/>
                    <a:p>
                      <a:pPr algn="l">
                        <a:lnSpc>
                          <a:spcPct val="100000"/>
                        </a:lnSpc>
                      </a:pPr>
                      <a:r>
                        <a:rPr sz="1000">
                          <a:latin typeface="Montserrat"/>
                        </a:rPr>
                        <a:t>Remodelación integral de zona de alberca y techado de 2 canchas en el Centro de Seguridad Social, Cd. Mante.</a:t>
                      </a:r>
                    </a:p>
                  </a:txBody>
                  <a:tcPr marL="3600" marR="3600" marT="3600" marB="3600" anchor="ctr">
                    <a:solidFill>
                      <a:srgbClr val="D9D9D9"/>
                    </a:solidFill>
                  </a:tcPr>
                </a:tc>
                <a:tc>
                  <a:txBody>
                    <a:bodyPr/>
                    <a:lstStyle/>
                    <a:p>
                      <a:pPr algn="ctr">
                        <a:lnSpc>
                          <a:spcPct val="100000"/>
                        </a:lnSpc>
                      </a:pPr>
                      <a:r>
                        <a:rPr sz="1000" dirty="0">
                          <a:latin typeface="Montserrat"/>
                        </a:rPr>
                        <a:t>$65.6</a:t>
                      </a:r>
                    </a:p>
                  </a:txBody>
                  <a:tcPr marL="3600" marR="3600" marT="3600" marB="3600" anchor="ctr">
                    <a:solidFill>
                      <a:srgbClr val="D9D9D9"/>
                    </a:solidFill>
                  </a:tcPr>
                </a:tc>
                <a:extLst>
                  <a:ext uri="{0D108BD9-81ED-4DB2-BD59-A6C34878D82A}">
                    <a16:rowId xmlns:a16="http://schemas.microsoft.com/office/drawing/2014/main" val="10002"/>
                  </a:ext>
                </a:extLst>
              </a:tr>
              <a:tr h="424943">
                <a:tc>
                  <a:txBody>
                    <a:bodyPr/>
                    <a:lstStyle/>
                    <a:p>
                      <a:pPr algn="l">
                        <a:lnSpc>
                          <a:spcPct val="100000"/>
                        </a:lnSpc>
                      </a:pPr>
                      <a:r>
                        <a:rPr sz="1000">
                          <a:latin typeface="Montserrat"/>
                        </a:rPr>
                        <a:t>Ampliación y remodelación de áreas deportivas y construcción de escaleras de emergencia del Centro de Seguridad Social, Nuevo Laredo.</a:t>
                      </a:r>
                    </a:p>
                  </a:txBody>
                  <a:tcPr marL="3600" marR="3600" marT="3600" marB="3600" anchor="ctr">
                    <a:solidFill>
                      <a:srgbClr val="FFFFFF"/>
                    </a:solidFill>
                  </a:tcPr>
                </a:tc>
                <a:tc>
                  <a:txBody>
                    <a:bodyPr/>
                    <a:lstStyle/>
                    <a:p>
                      <a:pPr algn="ctr">
                        <a:lnSpc>
                          <a:spcPct val="100000"/>
                        </a:lnSpc>
                      </a:pPr>
                      <a:r>
                        <a:rPr sz="1000" dirty="0">
                          <a:latin typeface="Montserrat"/>
                        </a:rPr>
                        <a:t>$13.0</a:t>
                      </a:r>
                    </a:p>
                  </a:txBody>
                  <a:tcPr marL="3600" marR="3600" marT="3600" marB="3600" anchor="ctr">
                    <a:solidFill>
                      <a:srgbClr val="FFFFFF"/>
                    </a:solidFill>
                  </a:tcPr>
                </a:tc>
                <a:extLst>
                  <a:ext uri="{0D108BD9-81ED-4DB2-BD59-A6C34878D82A}">
                    <a16:rowId xmlns:a16="http://schemas.microsoft.com/office/drawing/2014/main" val="10003"/>
                  </a:ext>
                </a:extLst>
              </a:tr>
              <a:tr h="335001">
                <a:tc>
                  <a:txBody>
                    <a:bodyPr/>
                    <a:lstStyle/>
                    <a:p>
                      <a:pPr algn="l">
                        <a:lnSpc>
                          <a:spcPct val="100000"/>
                        </a:lnSpc>
                        <a:defRPr sz="900" b="1">
                          <a:solidFill>
                            <a:srgbClr val="BC955C"/>
                          </a:solidFill>
                          <a:latin typeface="Montserrat"/>
                        </a:defRPr>
                      </a:pPr>
                      <a:r>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dirty="0"/>
                        <a:t>$242.3</a:t>
                      </a:r>
                    </a:p>
                  </a:txBody>
                  <a:tcPr marL="3600" marR="3600" marT="3600" marB="3600" anchor="ctr">
                    <a:solidFill>
                      <a:srgbClr val="ECE1D2"/>
                    </a:solidFill>
                  </a:tcPr>
                </a:tc>
                <a:extLst>
                  <a:ext uri="{0D108BD9-81ED-4DB2-BD59-A6C34878D82A}">
                    <a16:rowId xmlns:a16="http://schemas.microsoft.com/office/drawing/2014/main" val="10004"/>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842139362"/>
              </p:ext>
            </p:extLst>
          </p:nvPr>
        </p:nvGraphicFramePr>
        <p:xfrm>
          <a:off x="1720674" y="3775121"/>
          <a:ext cx="5658694" cy="2289340"/>
        </p:xfrm>
        <a:graphic>
          <a:graphicData uri="http://schemas.openxmlformats.org/drawingml/2006/table">
            <a:tbl>
              <a:tblPr firstRow="1" bandRow="1">
                <a:tableStyleId>{5C22544A-7EE6-4342-B048-85BDC9FD1C3A}</a:tableStyleId>
              </a:tblPr>
              <a:tblGrid>
                <a:gridCol w="4462328">
                  <a:extLst>
                    <a:ext uri="{9D8B030D-6E8A-4147-A177-3AD203B41FA5}">
                      <a16:colId xmlns:a16="http://schemas.microsoft.com/office/drawing/2014/main" val="20000"/>
                    </a:ext>
                  </a:extLst>
                </a:gridCol>
                <a:gridCol w="1196366">
                  <a:extLst>
                    <a:ext uri="{9D8B030D-6E8A-4147-A177-3AD203B41FA5}">
                      <a16:colId xmlns:a16="http://schemas.microsoft.com/office/drawing/2014/main" val="20001"/>
                    </a:ext>
                  </a:extLst>
                </a:gridCol>
              </a:tblGrid>
              <a:tr h="267512">
                <a:tc>
                  <a:txBody>
                    <a:bodyPr/>
                    <a:lstStyle/>
                    <a:p>
                      <a:pPr algn="ctr">
                        <a:defRPr sz="1000" b="1">
                          <a:solidFill>
                            <a:srgbClr val="FFFFFF"/>
                          </a:solidFill>
                          <a:latin typeface="Montserrat"/>
                        </a:defRPr>
                      </a:pPr>
                      <a:r>
                        <a:t>Obras de Conservación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35157">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2025)</a:t>
                      </a:r>
                    </a:p>
                  </a:txBody>
                  <a:tcPr marL="3600" marR="3600" marT="3600" marB="3600" anchor="ctr">
                    <a:solidFill>
                      <a:srgbClr val="FFFFFF"/>
                    </a:solidFill>
                  </a:tcPr>
                </a:tc>
                <a:tc>
                  <a:txBody>
                    <a:bodyPr/>
                    <a:lstStyle/>
                    <a:p>
                      <a:pPr algn="ctr">
                        <a:lnSpc>
                          <a:spcPct val="100000"/>
                        </a:lnSpc>
                      </a:pPr>
                      <a:r>
                        <a:rPr sz="1000" dirty="0">
                          <a:latin typeface="Montserrat"/>
                        </a:rPr>
                        <a:t>$490.2</a:t>
                      </a:r>
                    </a:p>
                  </a:txBody>
                  <a:tcPr marL="3600" marR="3600" marT="3600" marB="3600" anchor="ctr">
                    <a:solidFill>
                      <a:srgbClr val="FFFFFF"/>
                    </a:solidFill>
                  </a:tcPr>
                </a:tc>
                <a:extLst>
                  <a:ext uri="{0D108BD9-81ED-4DB2-BD59-A6C34878D82A}">
                    <a16:rowId xmlns:a16="http://schemas.microsoft.com/office/drawing/2014/main" val="10001"/>
                  </a:ext>
                </a:extLst>
              </a:tr>
              <a:tr h="525442">
                <a:tc>
                  <a:txBody>
                    <a:bodyPr/>
                    <a:lstStyle/>
                    <a:p>
                      <a:pPr algn="l">
                        <a:lnSpc>
                          <a:spcPct val="100000"/>
                        </a:lnSpc>
                      </a:pPr>
                      <a:r>
                        <a:rPr sz="1000" err="1">
                          <a:latin typeface="Montserrat"/>
                        </a:rPr>
                        <a:t>Intervención</a:t>
                      </a:r>
                      <a:r>
                        <a:rPr sz="1000">
                          <a:latin typeface="Montserrat"/>
                        </a:rPr>
                        <a:t> en </a:t>
                      </a:r>
                      <a:r>
                        <a:rPr sz="1000" err="1">
                          <a:latin typeface="Montserrat"/>
                        </a:rPr>
                        <a:t>áreas</a:t>
                      </a:r>
                      <a:r>
                        <a:rPr sz="1000">
                          <a:latin typeface="Montserrat"/>
                        </a:rPr>
                        <a:t> de residencias </a:t>
                      </a:r>
                      <a:r>
                        <a:rPr sz="1000" err="1">
                          <a:latin typeface="Montserrat"/>
                        </a:rPr>
                        <a:t>médicas</a:t>
                      </a:r>
                      <a:r>
                        <a:rPr sz="1000">
                          <a:latin typeface="Montserrat"/>
                        </a:rPr>
                        <a:t> en 8 </a:t>
                      </a:r>
                      <a:r>
                        <a:rPr sz="1000" err="1">
                          <a:latin typeface="Montserrat"/>
                        </a:rPr>
                        <a:t>unidades</a:t>
                      </a:r>
                      <a:r>
                        <a:rPr sz="1000">
                          <a:latin typeface="Montserrat"/>
                        </a:rPr>
                        <a:t> (HGR No. 270 Reynosa, HGR No. 6 Cd. Madero, HGZ No.11 Nuevo Laredo, HGZ No. 13 Matamoros, HGZ No.15 Reynosa, HGZMF No.1 Cd. Victoria, HGZMF No.2 Reynosa, HGZMF No.3 Cd. Mante)</a:t>
                      </a:r>
                    </a:p>
                  </a:txBody>
                  <a:tcPr marL="3600" marR="3600" marT="3600" marB="3600" anchor="ctr">
                    <a:solidFill>
                      <a:srgbClr val="D9D9D9"/>
                    </a:solidFill>
                  </a:tcPr>
                </a:tc>
                <a:tc>
                  <a:txBody>
                    <a:bodyPr/>
                    <a:lstStyle/>
                    <a:p>
                      <a:pPr algn="ctr">
                        <a:lnSpc>
                          <a:spcPct val="100000"/>
                        </a:lnSpc>
                      </a:pPr>
                      <a:r>
                        <a:rPr sz="1000" dirty="0">
                          <a:latin typeface="Montserrat"/>
                        </a:rPr>
                        <a:t>$25.8</a:t>
                      </a:r>
                    </a:p>
                  </a:txBody>
                  <a:tcPr marL="3600" marR="3600" marT="3600" marB="3600" anchor="ctr">
                    <a:solidFill>
                      <a:srgbClr val="D9D9D9"/>
                    </a:solidFill>
                  </a:tcPr>
                </a:tc>
                <a:extLst>
                  <a:ext uri="{0D108BD9-81ED-4DB2-BD59-A6C34878D82A}">
                    <a16:rowId xmlns:a16="http://schemas.microsoft.com/office/drawing/2014/main" val="10002"/>
                  </a:ext>
                </a:extLst>
              </a:tr>
              <a:tr h="395615">
                <a:tc>
                  <a:txBody>
                    <a:bodyPr/>
                    <a:lstStyle/>
                    <a:p>
                      <a:pPr algn="l">
                        <a:lnSpc>
                          <a:spcPct val="100000"/>
                        </a:lnSpc>
                      </a:pPr>
                      <a:r>
                        <a:rPr sz="1000">
                          <a:latin typeface="Montserrat"/>
                        </a:rPr>
                        <a:t>Intervención en áreas de urgencias en 6 unidades (UMF No.18 Valle Hermoso, UMF No.36 Matamoros, UMF No.77 Cd. Madero, UMF No 78 Nuevo Laredo, UMF No.16 Cd. Altamira, UMF No. 17 Río Bravo)</a:t>
                      </a:r>
                    </a:p>
                  </a:txBody>
                  <a:tcPr marL="3600" marR="3600" marT="3600" marB="3600" anchor="ctr">
                    <a:solidFill>
                      <a:srgbClr val="FFFFFF"/>
                    </a:solidFill>
                  </a:tcPr>
                </a:tc>
                <a:tc>
                  <a:txBody>
                    <a:bodyPr/>
                    <a:lstStyle/>
                    <a:p>
                      <a:pPr algn="ctr">
                        <a:lnSpc>
                          <a:spcPct val="100000"/>
                        </a:lnSpc>
                      </a:pPr>
                      <a:r>
                        <a:rPr sz="1000" dirty="0">
                          <a:latin typeface="Montserrat"/>
                        </a:rPr>
                        <a:t>$11.8</a:t>
                      </a:r>
                    </a:p>
                  </a:txBody>
                  <a:tcPr marL="3600" marR="3600" marT="3600" marB="3600" anchor="ctr">
                    <a:solidFill>
                      <a:srgbClr val="FFFFFF"/>
                    </a:solidFill>
                  </a:tcPr>
                </a:tc>
                <a:extLst>
                  <a:ext uri="{0D108BD9-81ED-4DB2-BD59-A6C34878D82A}">
                    <a16:rowId xmlns:a16="http://schemas.microsoft.com/office/drawing/2014/main" val="10003"/>
                  </a:ext>
                </a:extLst>
              </a:tr>
              <a:tr h="265788">
                <a:tc>
                  <a:txBody>
                    <a:bodyPr/>
                    <a:lstStyle/>
                    <a:p>
                      <a:pPr algn="l">
                        <a:lnSpc>
                          <a:spcPct val="100000"/>
                        </a:lnSpc>
                      </a:pPr>
                      <a:r>
                        <a:rPr sz="1000">
                          <a:latin typeface="Montserrat"/>
                        </a:rPr>
                        <a:t>Intervención en áreas de accesibilidad (rampas) en 49 unidades, Tamaulipas</a:t>
                      </a:r>
                    </a:p>
                  </a:txBody>
                  <a:tcPr marL="3600" marR="3600" marT="3600" marB="3600" anchor="ctr">
                    <a:solidFill>
                      <a:srgbClr val="D9D9D9"/>
                    </a:solidFill>
                  </a:tcPr>
                </a:tc>
                <a:tc>
                  <a:txBody>
                    <a:bodyPr/>
                    <a:lstStyle/>
                    <a:p>
                      <a:pPr algn="ctr">
                        <a:lnSpc>
                          <a:spcPct val="100000"/>
                        </a:lnSpc>
                      </a:pPr>
                      <a:r>
                        <a:rPr sz="1000" dirty="0">
                          <a:latin typeface="Montserrat"/>
                        </a:rPr>
                        <a:t>$11.6</a:t>
                      </a:r>
                    </a:p>
                  </a:txBody>
                  <a:tcPr marL="3600" marR="3600" marT="3600" marB="3600" anchor="ctr">
                    <a:solidFill>
                      <a:srgbClr val="D9D9D9"/>
                    </a:solidFill>
                  </a:tcPr>
                </a:tc>
                <a:extLst>
                  <a:ext uri="{0D108BD9-81ED-4DB2-BD59-A6C34878D82A}">
                    <a16:rowId xmlns:a16="http://schemas.microsoft.com/office/drawing/2014/main" val="10004"/>
                  </a:ext>
                </a:extLst>
              </a:tr>
              <a:tr h="393471">
                <a:tc>
                  <a:txBody>
                    <a:bodyPr/>
                    <a:lstStyle/>
                    <a:p>
                      <a:pPr algn="l">
                        <a:lnSpc>
                          <a:spcPct val="100000"/>
                        </a:lnSpc>
                        <a:defRPr sz="900" b="1">
                          <a:solidFill>
                            <a:srgbClr val="BC955C"/>
                          </a:solidFill>
                          <a:latin typeface="Montserrat"/>
                        </a:defRPr>
                      </a:pPr>
                      <a:r>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dirty="0"/>
                        <a:t>$539.4</a:t>
                      </a:r>
                    </a:p>
                  </a:txBody>
                  <a:tcPr marL="3600" marR="3600" marT="3600" marB="3600" anchor="ctr">
                    <a:solidFill>
                      <a:srgbClr val="ECE1D2"/>
                    </a:solidFill>
                  </a:tcPr>
                </a:tc>
                <a:extLst>
                  <a:ext uri="{0D108BD9-81ED-4DB2-BD59-A6C34878D82A}">
                    <a16:rowId xmlns:a16="http://schemas.microsoft.com/office/drawing/2014/main" val="10005"/>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68392961"/>
              </p:ext>
            </p:extLst>
          </p:nvPr>
        </p:nvGraphicFramePr>
        <p:xfrm>
          <a:off x="1785600" y="6518782"/>
          <a:ext cx="5593768" cy="1084358"/>
        </p:xfrm>
        <a:graphic>
          <a:graphicData uri="http://schemas.openxmlformats.org/drawingml/2006/table">
            <a:tbl>
              <a:tblPr firstRow="1" bandRow="1">
                <a:tableStyleId>{5C22544A-7EE6-4342-B048-85BDC9FD1C3A}</a:tableStyleId>
              </a:tblPr>
              <a:tblGrid>
                <a:gridCol w="4411129">
                  <a:extLst>
                    <a:ext uri="{9D8B030D-6E8A-4147-A177-3AD203B41FA5}">
                      <a16:colId xmlns:a16="http://schemas.microsoft.com/office/drawing/2014/main" val="20000"/>
                    </a:ext>
                  </a:extLst>
                </a:gridCol>
                <a:gridCol w="1182639">
                  <a:extLst>
                    <a:ext uri="{9D8B030D-6E8A-4147-A177-3AD203B41FA5}">
                      <a16:colId xmlns:a16="http://schemas.microsoft.com/office/drawing/2014/main" val="20001"/>
                    </a:ext>
                  </a:extLst>
                </a:gridCol>
              </a:tblGrid>
              <a:tr h="315158">
                <a:tc>
                  <a:txBody>
                    <a:bodyPr/>
                    <a:lstStyle/>
                    <a:p>
                      <a:pPr algn="ctr">
                        <a:defRPr sz="1000" b="1">
                          <a:solidFill>
                            <a:srgbClr val="FFFFFF"/>
                          </a:solidFill>
                          <a:latin typeface="Montserrat"/>
                        </a:defRPr>
                      </a:pPr>
                      <a:r>
                        <a:t>Equipo Médico 2025, </a:t>
                      </a:r>
                      <a:r>
                        <a:rPr err="1"/>
                        <a:t>Instalación</a:t>
                      </a:r>
                      <a:r>
                        <a:t> 2026</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630000">
                <a:tc>
                  <a:txBody>
                    <a:bodyPr/>
                    <a:lstStyle/>
                    <a:p>
                      <a:pPr algn="l">
                        <a:lnSpc>
                          <a:spcPct val="100000"/>
                        </a:lnSpc>
                      </a:pPr>
                      <a:r>
                        <a:rPr sz="1000">
                          <a:latin typeface="Montserrat"/>
                        </a:rPr>
                        <a:t>Adquisición de 14 piezas de equipo médico:  3 congeladores horizontales de refrigerantes para vacunas, 4 refrigeradores para vacunas, 4 refrigeradores con </a:t>
                      </a:r>
                      <a:r>
                        <a:rPr sz="1000" err="1">
                          <a:latin typeface="Montserrat"/>
                        </a:rPr>
                        <a:t>congelador</a:t>
                      </a:r>
                      <a:r>
                        <a:rPr sz="1000">
                          <a:latin typeface="Montserrat"/>
                        </a:rPr>
                        <a:t> de 5.4 pies cúbicos, 1 </a:t>
                      </a:r>
                      <a:r>
                        <a:rPr sz="1000" err="1">
                          <a:latin typeface="Montserrat"/>
                        </a:rPr>
                        <a:t>resonador</a:t>
                      </a:r>
                      <a:r>
                        <a:rPr sz="1000">
                          <a:latin typeface="Montserrat"/>
                        </a:rPr>
                        <a:t> </a:t>
                      </a:r>
                      <a:r>
                        <a:rPr sz="1000" err="1">
                          <a:latin typeface="Montserrat"/>
                        </a:rPr>
                        <a:t>magnético</a:t>
                      </a:r>
                      <a:r>
                        <a:rPr sz="1000">
                          <a:latin typeface="Montserrat"/>
                        </a:rPr>
                        <a:t> de 3.0 </a:t>
                      </a:r>
                      <a:r>
                        <a:rPr sz="1000" err="1">
                          <a:latin typeface="Montserrat"/>
                        </a:rPr>
                        <a:t>teslas</a:t>
                      </a:r>
                      <a:r>
                        <a:rPr sz="1000">
                          <a:latin typeface="Montserrat"/>
                        </a:rPr>
                        <a:t>, 2 </a:t>
                      </a:r>
                      <a:r>
                        <a:rPr sz="1000" err="1">
                          <a:latin typeface="Montserrat"/>
                        </a:rPr>
                        <a:t>tomógrafos</a:t>
                      </a:r>
                      <a:r>
                        <a:rPr sz="1000">
                          <a:latin typeface="Montserrat"/>
                        </a:rPr>
                        <a:t> </a:t>
                      </a:r>
                      <a:r>
                        <a:rPr sz="1000" err="1">
                          <a:latin typeface="Montserrat"/>
                        </a:rPr>
                        <a:t>axiales</a:t>
                      </a:r>
                      <a:r>
                        <a:rPr sz="1000">
                          <a:latin typeface="Montserrat"/>
                        </a:rPr>
                        <a:t> </a:t>
                      </a:r>
                      <a:r>
                        <a:rPr sz="1000" err="1">
                          <a:latin typeface="Montserrat"/>
                        </a:rPr>
                        <a:t>computarizados</a:t>
                      </a:r>
                      <a:r>
                        <a:rPr sz="1000">
                          <a:latin typeface="Montserrat"/>
                        </a:rPr>
                        <a:t> de </a:t>
                      </a:r>
                      <a:r>
                        <a:rPr sz="1000" err="1">
                          <a:latin typeface="Montserrat"/>
                        </a:rPr>
                        <a:t>alta</a:t>
                      </a:r>
                      <a:r>
                        <a:rPr sz="1000">
                          <a:latin typeface="Montserrat"/>
                        </a:rPr>
                        <a:t> </a:t>
                      </a:r>
                      <a:r>
                        <a:rPr sz="1000" err="1">
                          <a:latin typeface="Montserrat"/>
                        </a:rPr>
                        <a:t>resolución</a:t>
                      </a:r>
                      <a:endParaRPr sz="100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$100.5</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434425405"/>
              </p:ext>
            </p:extLst>
          </p:nvPr>
        </p:nvGraphicFramePr>
        <p:xfrm>
          <a:off x="1785600" y="8424000"/>
          <a:ext cx="5593768" cy="540000"/>
        </p:xfrm>
        <a:graphic>
          <a:graphicData uri="http://schemas.openxmlformats.org/drawingml/2006/table">
            <a:tbl>
              <a:tblPr firstRow="1" bandRow="1">
                <a:tableStyleId>{5C22544A-7EE6-4342-B048-85BDC9FD1C3A}</a:tableStyleId>
              </a:tblPr>
              <a:tblGrid>
                <a:gridCol w="4411129">
                  <a:extLst>
                    <a:ext uri="{9D8B030D-6E8A-4147-A177-3AD203B41FA5}">
                      <a16:colId xmlns:a16="http://schemas.microsoft.com/office/drawing/2014/main" val="20000"/>
                    </a:ext>
                  </a:extLst>
                </a:gridCol>
                <a:gridCol w="1182639">
                  <a:extLst>
                    <a:ext uri="{9D8B030D-6E8A-4147-A177-3AD203B41FA5}">
                      <a16:colId xmlns:a16="http://schemas.microsoft.com/office/drawing/2014/main" val="20001"/>
                    </a:ext>
                  </a:extLst>
                </a:gridCol>
              </a:tblGrid>
              <a:tr h="270000">
                <a:tc>
                  <a:txBody>
                    <a:bodyPr/>
                    <a:lstStyle/>
                    <a:p>
                      <a:pPr algn="ctr">
                        <a:defRPr sz="1000" b="1">
                          <a:solidFill>
                            <a:srgbClr val="FFFFFF"/>
                          </a:solidFill>
                          <a:latin typeface="Montserrat"/>
                        </a:defRPr>
                      </a:pPr>
                      <a:r>
                        <a:t>Equipamiento Electromecánico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70000">
                <a:tc>
                  <a:txBody>
                    <a:bodyPr/>
                    <a:lstStyle/>
                    <a:p>
                      <a:pPr algn="l">
                        <a:lnSpc>
                          <a:spcPct val="100000"/>
                        </a:lnSpc>
                      </a:pPr>
                      <a:r>
                        <a:rPr sz="1000">
                          <a:latin typeface="Montserrat"/>
                        </a:rPr>
                        <a:t>Adquisición de elevadores</a:t>
                      </a:r>
                    </a:p>
                  </a:txBody>
                  <a:tcPr marL="3600" marR="3600" marT="3600" marB="3600" anchor="ctr">
                    <a:solidFill>
                      <a:srgbClr val="FFFFFF"/>
                    </a:solidFill>
                  </a:tcPr>
                </a:tc>
                <a:tc>
                  <a:txBody>
                    <a:bodyPr/>
                    <a:lstStyle/>
                    <a:p>
                      <a:pPr algn="ctr">
                        <a:lnSpc>
                          <a:spcPct val="100000"/>
                        </a:lnSpc>
                      </a:pPr>
                      <a:r>
                        <a:rPr sz="1000">
                          <a:latin typeface="Montserrat"/>
                        </a:rPr>
                        <a:t>$9.7</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19" name="TextBox 18"/>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891.9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2026</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42122"/>
            <a:ext cx="1599000" cy="746684"/>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A42145"/>
                </a:solidFill>
                <a:latin typeface="Montserrat"/>
                <a:ea typeface="Montserrat"/>
                <a:cs typeface="Montserrat"/>
              </a:rPr>
              <a:t>Adquisición</a:t>
            </a:r>
            <a:r>
              <a:rPr lang="en-US" sz="1200" b="1" i="0" u="none" strike="noStrike">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30560"/>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a:solidFill>
                <a:srgbClr val="A42145"/>
              </a:solidFill>
              <a:latin typeface="Montserrat"/>
              <a:ea typeface="Montserrat"/>
              <a:cs typeface="Montserrat"/>
            </a:endParaRPr>
          </a:p>
          <a:p>
            <a:pPr algn="ctr"/>
            <a:r>
              <a:rPr lang="en-US" sz="800" b="1" err="1">
                <a:solidFill>
                  <a:srgbClr val="A42145"/>
                </a:solidFill>
                <a:latin typeface="Montserrat"/>
                <a:ea typeface="Montserrat"/>
                <a:cs typeface="Montserrat"/>
              </a:rPr>
              <a:t>Equipos</a:t>
            </a:r>
            <a:r>
              <a:rPr lang="en-US" sz="800" b="1">
                <a:solidFill>
                  <a:srgbClr val="A42145"/>
                </a:solidFill>
                <a:latin typeface="Montserrat"/>
                <a:ea typeface="Montserrat"/>
                <a:cs typeface="Montserrat"/>
              </a:rPr>
              <a:t> </a:t>
            </a:r>
          </a:p>
          <a:p>
            <a:pPr algn="ctr"/>
            <a:r>
              <a:rPr lang="en-US" sz="800" b="1" err="1">
                <a:solidFill>
                  <a:srgbClr val="A42145"/>
                </a:solidFill>
                <a:latin typeface="Montserrat"/>
                <a:ea typeface="Montserrat"/>
                <a:cs typeface="Montserrat"/>
              </a:rPr>
              <a:t>Electrome</a:t>
            </a:r>
            <a:r>
              <a:rPr lang="en-US" sz="800" b="1">
                <a:solidFill>
                  <a:srgbClr val="A42145"/>
                </a:solidFill>
                <a:latin typeface="Montserrat"/>
                <a:ea typeface="Montserrat"/>
                <a:cs typeface="Montserrat"/>
              </a:rPr>
              <a:t>-</a:t>
            </a:r>
            <a:endParaRPr lang="en-US"/>
          </a:p>
          <a:p>
            <a:pPr algn="ctr"/>
            <a:r>
              <a:rPr lang="en-US" sz="800" b="1" err="1">
                <a:solidFill>
                  <a:srgbClr val="A42145"/>
                </a:solidFill>
                <a:latin typeface="Montserrat"/>
                <a:ea typeface="Montserrat"/>
                <a:cs typeface="Montserrat"/>
              </a:rPr>
              <a:t>cánicos</a:t>
            </a:r>
            <a:endParaRPr lang="en-US" err="1"/>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9" name="Table 8"/>
          <p:cNvGraphicFramePr>
            <a:graphicFrameLocks noGrp="1"/>
          </p:cNvGraphicFramePr>
          <p:nvPr>
            <p:extLst>
              <p:ext uri="{D42A27DB-BD31-4B8C-83A1-F6EECF244321}">
                <p14:modId xmlns:p14="http://schemas.microsoft.com/office/powerpoint/2010/main" val="9650209"/>
              </p:ext>
            </p:extLst>
          </p:nvPr>
        </p:nvGraphicFramePr>
        <p:xfrm>
          <a:off x="1785600" y="2161513"/>
          <a:ext cx="5396400" cy="503998"/>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Conservación 2026</a:t>
                      </a:r>
                    </a:p>
                  </a:txBody>
                  <a:tcPr marL="3600" marR="3600" marT="3600" marB="3600">
                    <a:solidFill>
                      <a:srgbClr val="9F2241"/>
                    </a:solidFill>
                  </a:tcPr>
                </a:tc>
                <a:tc>
                  <a:txBody>
                    <a:bodyPr/>
                    <a:lstStyle/>
                    <a:p>
                      <a:pPr algn="ctr">
                        <a:defRPr sz="1000" b="1">
                          <a:solidFill>
                            <a:srgbClr val="FFFFFF"/>
                          </a:solidFill>
                          <a:latin typeface="Montserrat"/>
                        </a:defRPr>
                      </a:pPr>
                      <a:r>
                        <a:t>Monto (mdp)</a:t>
                      </a:r>
                    </a:p>
                  </a:txBody>
                  <a:tcPr marL="3600" marR="3600" marT="3600" marB="3600">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$265.3</a:t>
                      </a:r>
                    </a:p>
                  </a:txBody>
                  <a:tcPr marL="3600" marR="3600" marT="3600" marB="3600">
                    <a:solidFill>
                      <a:srgbClr val="FFFFFF"/>
                    </a:solidFill>
                  </a:tcP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04304566"/>
              </p:ext>
            </p:extLst>
          </p:nvPr>
        </p:nvGraphicFramePr>
        <p:xfrm>
          <a:off x="1785600" y="2845512"/>
          <a:ext cx="5396400" cy="609364"/>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10847">
                <a:tc>
                  <a:txBody>
                    <a:bodyPr/>
                    <a:lstStyle/>
                    <a:p>
                      <a:pPr algn="ctr">
                        <a:defRPr sz="1000" b="1">
                          <a:solidFill>
                            <a:srgbClr val="FFFFFF"/>
                          </a:solidFill>
                          <a:latin typeface="Montserrat"/>
                        </a:defRPr>
                      </a:pPr>
                      <a:r>
                        <a:rPr err="1"/>
                        <a:t>Equipamiento</a:t>
                      </a:r>
                      <a:r>
                        <a:t> </a:t>
                      </a:r>
                      <a:r>
                        <a:rPr err="1"/>
                        <a:t>Electromecánico</a:t>
                      </a:r>
                      <a:r>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398517">
                <a:tc>
                  <a:txBody>
                    <a:bodyPr/>
                    <a:lstStyle/>
                    <a:p>
                      <a:pPr algn="l">
                        <a:lnSpc>
                          <a:spcPct val="100000"/>
                        </a:lnSpc>
                      </a:pPr>
                      <a:r>
                        <a:rPr sz="1000">
                          <a:latin typeface="Montserrat"/>
                        </a:rPr>
                        <a:t>13 Equipos electromecánicos para 6 unidades; 4 elevadores, 9 equipos para casa de máquinas. Tamauliapas</a:t>
                      </a:r>
                    </a:p>
                  </a:txBody>
                  <a:tcPr marL="3600" marR="3600" marT="3600" marB="3600" anchor="ctr">
                    <a:solidFill>
                      <a:srgbClr val="FFFFFF"/>
                    </a:solidFill>
                  </a:tcPr>
                </a:tc>
                <a:tc>
                  <a:txBody>
                    <a:bodyPr/>
                    <a:lstStyle/>
                    <a:p>
                      <a:pPr algn="ctr">
                        <a:lnSpc>
                          <a:spcPct val="100000"/>
                        </a:lnSpc>
                      </a:pPr>
                      <a:r>
                        <a:rPr sz="1000">
                          <a:latin typeface="Montserrat"/>
                        </a:rPr>
                        <a:t>$30.0</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295.3</a:t>
            </a:r>
          </a:p>
          <a:p>
            <a:pPr algn="ctr">
              <a:defRPr sz="1400" b="1">
                <a:solidFill>
                  <a:srgbClr val="FFFFFF"/>
                </a:solidFill>
                <a:latin typeface="Montserrat"/>
              </a:defRPr>
            </a:pPr>
            <a:r>
              <a:t>mdp</a:t>
            </a:r>
          </a:p>
        </p:txBody>
      </p:sp>
      <p:pic>
        <p:nvPicPr>
          <p:cNvPr id="12" name="Google Shape;551;g3d0ffe769cd_0_0">
            <a:extLst>
              <a:ext uri="{FF2B5EF4-FFF2-40B4-BE49-F238E27FC236}">
                <a16:creationId xmlns:a16="http://schemas.microsoft.com/office/drawing/2014/main" id="{5D195D3B-DAFE-EE73-59CC-3648981BB3A9}"/>
              </a:ext>
            </a:extLst>
          </p:cNvPr>
          <p:cNvPicPr preferRelativeResize="0"/>
          <p:nvPr/>
        </p:nvPicPr>
        <p:blipFill rotWithShape="1">
          <a:blip r:embed="rId6">
            <a:alphaModFix/>
          </a:blip>
          <a:srcRect l="382" t="14684" r="1598" b="17771"/>
          <a:stretch/>
        </p:blipFill>
        <p:spPr>
          <a:xfrm>
            <a:off x="230902" y="4951554"/>
            <a:ext cx="7368300" cy="2862900"/>
          </a:xfrm>
          <a:prstGeom prst="rect">
            <a:avLst/>
          </a:prstGeom>
          <a:noFill/>
          <a:ln>
            <a:noFill/>
          </a:ln>
        </p:spPr>
      </p:pic>
      <p:graphicFrame>
        <p:nvGraphicFramePr>
          <p:cNvPr id="13" name="Google Shape;559;g3d0ffe769cd_0_0">
            <a:extLst>
              <a:ext uri="{FF2B5EF4-FFF2-40B4-BE49-F238E27FC236}">
                <a16:creationId xmlns:a16="http://schemas.microsoft.com/office/drawing/2014/main" id="{3A8F2BC0-8A24-A177-1B1B-80B6F355A986}"/>
              </a:ext>
            </a:extLst>
          </p:cNvPr>
          <p:cNvGraphicFramePr/>
          <p:nvPr>
            <p:extLst>
              <p:ext uri="{D42A27DB-BD31-4B8C-83A1-F6EECF244321}">
                <p14:modId xmlns:p14="http://schemas.microsoft.com/office/powerpoint/2010/main" val="1975870353"/>
              </p:ext>
            </p:extLst>
          </p:nvPr>
        </p:nvGraphicFramePr>
        <p:xfrm>
          <a:off x="147600" y="4002834"/>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A42145"/>
                          </a:solidFill>
                          <a:latin typeface="Montserrat"/>
                          <a:ea typeface="Montserrat"/>
                          <a:cs typeface="Montserrat"/>
                          <a:sym typeface="Montserrat"/>
                        </a:rPr>
                        <a:t>Propuestas </a:t>
                      </a:r>
                      <a:r>
                        <a:rPr lang="es" sz="2100" b="1">
                          <a:solidFill>
                            <a:srgbClr val="A42145"/>
                          </a:solidFill>
                          <a:latin typeface="Montserrat"/>
                          <a:ea typeface="Montserrat"/>
                          <a:cs typeface="Montserrat"/>
                          <a:sym typeface="Montserrat"/>
                        </a:rPr>
                        <a:t>en</a:t>
                      </a:r>
                      <a:r>
                        <a:rPr lang="es" sz="2100" b="1" u="none" strike="noStrike" cap="none">
                          <a:solidFill>
                            <a:srgbClr val="A42145"/>
                          </a:solidFill>
                          <a:latin typeface="Montserrat"/>
                          <a:ea typeface="Montserrat"/>
                          <a:cs typeface="Montserrat"/>
                          <a:sym typeface="Montserrat"/>
                        </a:rPr>
                        <a:t> valoración</a:t>
                      </a:r>
                      <a:endParaRPr sz="2100" b="1" u="none" strike="noStrike" cap="none">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4" name="Google Shape;552;g3d0ffe769cd_0_0">
            <a:extLst>
              <a:ext uri="{FF2B5EF4-FFF2-40B4-BE49-F238E27FC236}">
                <a16:creationId xmlns:a16="http://schemas.microsoft.com/office/drawing/2014/main" id="{99FD54A4-EC6D-9895-D74D-216D1EF1D5BB}"/>
              </a:ext>
            </a:extLst>
          </p:cNvPr>
          <p:cNvSpPr/>
          <p:nvPr/>
        </p:nvSpPr>
        <p:spPr>
          <a:xfrm>
            <a:off x="234692" y="4973668"/>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 name="Google Shape;556;g3d0ffe769cd_0_0">
            <a:extLst>
              <a:ext uri="{FF2B5EF4-FFF2-40B4-BE49-F238E27FC236}">
                <a16:creationId xmlns:a16="http://schemas.microsoft.com/office/drawing/2014/main" id="{B8C3E738-3589-2B5B-8A57-0756D025BDAE}"/>
              </a:ext>
            </a:extLst>
          </p:cNvPr>
          <p:cNvSpPr/>
          <p:nvPr/>
        </p:nvSpPr>
        <p:spPr>
          <a:xfrm>
            <a:off x="852084" y="5319236"/>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 name="Google Shape;553;g3d0ffe769cd_0_0">
            <a:extLst>
              <a:ext uri="{FF2B5EF4-FFF2-40B4-BE49-F238E27FC236}">
                <a16:creationId xmlns:a16="http://schemas.microsoft.com/office/drawing/2014/main" id="{E7DBB6EE-4D53-7C0B-5D02-13F45EC01FCF}"/>
              </a:ext>
            </a:extLst>
          </p:cNvPr>
          <p:cNvSpPr/>
          <p:nvPr/>
        </p:nvSpPr>
        <p:spPr>
          <a:xfrm>
            <a:off x="290798" y="6085883"/>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7" name="Google Shape;554;g3d0ffe769cd_0_0">
            <a:extLst>
              <a:ext uri="{FF2B5EF4-FFF2-40B4-BE49-F238E27FC236}">
                <a16:creationId xmlns:a16="http://schemas.microsoft.com/office/drawing/2014/main" id="{C6CB86DE-8C57-74D9-AEBA-C92C358A92CE}"/>
              </a:ext>
            </a:extLst>
          </p:cNvPr>
          <p:cNvSpPr txBox="1"/>
          <p:nvPr/>
        </p:nvSpPr>
        <p:spPr>
          <a:xfrm>
            <a:off x="276701" y="6676870"/>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0884666F-68BB-A655-6716-60C5B0E2221A}"/>
              </a:ext>
            </a:extLst>
          </p:cNvPr>
          <p:cNvSpPr txBox="1"/>
          <p:nvPr/>
        </p:nvSpPr>
        <p:spPr>
          <a:xfrm rot="16200000">
            <a:off x="1958850" y="6465305"/>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graphicFrame>
        <p:nvGraphicFramePr>
          <p:cNvPr id="19" name="Table 19">
            <a:extLst>
              <a:ext uri="{FF2B5EF4-FFF2-40B4-BE49-F238E27FC236}">
                <a16:creationId xmlns:a16="http://schemas.microsoft.com/office/drawing/2014/main" id="{683DB9DC-9D0A-3C1B-5383-3408BF77CFB0}"/>
              </a:ext>
            </a:extLst>
          </p:cNvPr>
          <p:cNvGraphicFramePr>
            <a:graphicFrameLocks noGrp="1"/>
          </p:cNvGraphicFramePr>
          <p:nvPr>
            <p:extLst>
              <p:ext uri="{D42A27DB-BD31-4B8C-83A1-F6EECF244321}">
                <p14:modId xmlns:p14="http://schemas.microsoft.com/office/powerpoint/2010/main" val="167260318"/>
              </p:ext>
            </p:extLst>
          </p:nvPr>
        </p:nvGraphicFramePr>
        <p:xfrm>
          <a:off x="2552400" y="5320505"/>
          <a:ext cx="4928400" cy="203598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t>5 Predios en ruta y 0 CECI en Construción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5 Donación</a:t>
                      </a:r>
                    </a:p>
                  </a:txBody>
                  <a:tcPr marL="72000" marR="72000" anchor="ctr">
                    <a:noFill/>
                  </a:tcPr>
                </a:tc>
                <a:tc>
                  <a:txBody>
                    <a:bodyPr/>
                    <a:lstStyle/>
                    <a:p>
                      <a:pPr algn="ctr">
                        <a:defRPr sz="1200" b="0">
                          <a:solidFill>
                            <a:srgbClr val="FFFFFF"/>
                          </a:solidFill>
                          <a:latin typeface="Montserrat"/>
                        </a:defRPr>
                      </a:pPr>
                      <a:r>
                        <a:t>Altamira, El Mante, González, Llera, Matamoros, Nuevo Laredo (2), Ocampo, Tampico, Victoria</a:t>
                      </a:r>
                    </a:p>
                  </a:txBody>
                  <a:tcPr marL="72000" marR="72000" anchor="ctr">
                    <a:noFill/>
                  </a:tcPr>
                </a:tc>
                <a:extLst>
                  <a:ext uri="{0D108BD9-81ED-4DB2-BD59-A6C34878D82A}">
                    <a16:rowId xmlns:a16="http://schemas.microsoft.com/office/drawing/2014/main" val="10003"/>
                  </a:ext>
                </a:extLst>
              </a:tr>
            </a:tbl>
          </a:graphicData>
        </a:graphic>
      </p:graphicFrame>
      <p:sp>
        <p:nvSpPr>
          <p:cNvPr id="20" name="Oval 20">
            <a:extLst>
              <a:ext uri="{FF2B5EF4-FFF2-40B4-BE49-F238E27FC236}">
                <a16:creationId xmlns:a16="http://schemas.microsoft.com/office/drawing/2014/main" id="{F3F29302-C7C6-5BDE-FA2A-3DABAFC72EA4}"/>
              </a:ext>
            </a:extLst>
          </p:cNvPr>
          <p:cNvSpPr/>
          <p:nvPr/>
        </p:nvSpPr>
        <p:spPr>
          <a:xfrm>
            <a:off x="885600" y="5342105"/>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40</a:t>
            </a:r>
          </a:p>
        </p:txBody>
      </p:sp>
      <p:sp>
        <p:nvSpPr>
          <p:cNvPr id="21" name="Rectangle 21">
            <a:extLst>
              <a:ext uri="{FF2B5EF4-FFF2-40B4-BE49-F238E27FC236}">
                <a16:creationId xmlns:a16="http://schemas.microsoft.com/office/drawing/2014/main" id="{5F579629-660C-0EBD-D256-E156FC138AE9}"/>
              </a:ext>
            </a:extLst>
          </p:cNvPr>
          <p:cNvSpPr/>
          <p:nvPr/>
        </p:nvSpPr>
        <p:spPr>
          <a:xfrm>
            <a:off x="363600" y="6126905"/>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31 CECI IMSS</a:t>
            </a:r>
          </a:p>
          <a:p>
            <a:pPr algn="ctr">
              <a:defRPr sz="1500" b="1">
                <a:solidFill>
                  <a:srgbClr val="FFFFFF"/>
                </a:solidFill>
                <a:latin typeface="Montserrat"/>
              </a:defRPr>
            </a:pPr>
            <a:r>
              <a:t>9 CECI CAMPO</a:t>
            </a:r>
          </a:p>
        </p:txBody>
      </p:sp>
      <p:sp>
        <p:nvSpPr>
          <p:cNvPr id="22" name="TextBox 22">
            <a:extLst>
              <a:ext uri="{FF2B5EF4-FFF2-40B4-BE49-F238E27FC236}">
                <a16:creationId xmlns:a16="http://schemas.microsoft.com/office/drawing/2014/main" id="{124DAB09-44CA-9DAB-D076-39EC9EE9F50E}"/>
              </a:ext>
            </a:extLst>
          </p:cNvPr>
          <p:cNvSpPr txBox="1"/>
          <p:nvPr/>
        </p:nvSpPr>
        <p:spPr>
          <a:xfrm>
            <a:off x="0" y="9590400"/>
            <a:ext cx="7574400" cy="230400"/>
          </a:xfrm>
          <a:prstGeom prst="rect">
            <a:avLst/>
          </a:prstGeom>
          <a:noFill/>
        </p:spPr>
        <p:txBody>
          <a:bodyPr wrap="square" lIns="0" tIns="0" rIns="0" bIns="0">
            <a:spAutoFit/>
          </a:bodyPr>
          <a:lstStyle/>
          <a:p>
            <a:pPr algn="l">
              <a:defRPr sz="900">
                <a:solidFill>
                  <a:srgbClr val="FFFFFF"/>
                </a:solidFill>
                <a:latin typeface="Montserrat"/>
              </a:defRPr>
            </a:pPr>
            <a:r>
              <a:t>¹ </a:t>
            </a:r>
            <a:r>
              <a:rPr err="1"/>
              <a:t>Terrenos</a:t>
            </a:r>
            <a:r>
              <a:t> </a:t>
            </a:r>
            <a:r>
              <a:rPr err="1"/>
              <a:t>validados</a:t>
            </a:r>
            <a:r>
              <a:t>. 15 CECI en </a:t>
            </a:r>
            <a:r>
              <a:rPr err="1"/>
              <a:t>integración</a:t>
            </a:r>
            <a:r>
              <a:t> de </a:t>
            </a:r>
            <a:r>
              <a:rPr err="1"/>
              <a:t>expediente</a:t>
            </a:r>
            <a:r>
              <a:t> para </a:t>
            </a:r>
            <a:r>
              <a:rPr err="1"/>
              <a:t>donación</a:t>
            </a:r>
            <a:r>
              <a:t> en Matamoros, Nuevo Laredo, Victoria, Altamira, Nuevo Laredo, Matamoros, Reynosa y Tampico.</a:t>
            </a:r>
          </a:p>
        </p:txBody>
      </p:sp>
    </p:spTree>
    <p:extLst>
      <p:ext uri="{BB962C8B-B14F-4D97-AF65-F5344CB8AC3E}">
        <p14:creationId xmlns:p14="http://schemas.microsoft.com/office/powerpoint/2010/main" val="364733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extLst>
              <p:ext uri="{D42A27DB-BD31-4B8C-83A1-F6EECF244321}">
                <p14:modId xmlns:p14="http://schemas.microsoft.com/office/powerpoint/2010/main" val="241809147"/>
              </p:ext>
            </p:extLst>
          </p:nvPr>
        </p:nvGraphicFramePr>
        <p:xfrm>
          <a:off x="287700" y="697212"/>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2526377"/>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428595"/>
            <a:ext cx="926657" cy="813175"/>
          </a:xfrm>
          <a:prstGeom prst="rect">
            <a:avLst/>
          </a:prstGeom>
          <a:noFill/>
          <a:ln>
            <a:noFill/>
          </a:ln>
        </p:spPr>
      </p:pic>
      <p:sp>
        <p:nvSpPr>
          <p:cNvPr id="460" name="Google Shape;460;p16"/>
          <p:cNvSpPr/>
          <p:nvPr/>
        </p:nvSpPr>
        <p:spPr>
          <a:xfrm>
            <a:off x="866642" y="1196648"/>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TAMAULIPAS</a:t>
            </a:r>
          </a:p>
        </p:txBody>
      </p:sp>
      <p:graphicFrame>
        <p:nvGraphicFramePr>
          <p:cNvPr id="467" name="Table 466"/>
          <p:cNvGraphicFramePr>
            <a:graphicFrameLocks noGrp="1"/>
          </p:cNvGraphicFramePr>
          <p:nvPr>
            <p:extLst>
              <p:ext uri="{D42A27DB-BD31-4B8C-83A1-F6EECF244321}">
                <p14:modId xmlns:p14="http://schemas.microsoft.com/office/powerpoint/2010/main" val="2034013591"/>
              </p:ext>
            </p:extLst>
          </p:nvPr>
        </p:nvGraphicFramePr>
        <p:xfrm>
          <a:off x="2311200" y="1185212"/>
          <a:ext cx="5032800" cy="881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sz="1000" b="1">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68 unidades</a:t>
                      </a:r>
                    </a:p>
                    <a:p>
                      <a:pPr algn="ctr">
                        <a:defRPr sz="1000">
                          <a:solidFill>
                            <a:srgbClr val="505050"/>
                          </a:solidFill>
                          <a:latin typeface="Montserrat"/>
                        </a:defRPr>
                      </a:pPr>
                      <a:r>
                        <a:t>5 directas</a:t>
                      </a:r>
                    </a:p>
                    <a:p>
                      <a:pPr algn="ctr">
                        <a:defRPr sz="1000">
                          <a:solidFill>
                            <a:srgbClr val="505050"/>
                          </a:solidFill>
                          <a:latin typeface="Montserrat"/>
                        </a:defRPr>
                      </a:pPr>
                      <a:r>
                        <a:t>63 indirectas</a:t>
                      </a:r>
                    </a:p>
                  </a:txBody>
                  <a:tcPr anchor="ctr">
                    <a:solidFill>
                      <a:srgbClr val="FFFFFF"/>
                    </a:solidFill>
                  </a:tcPr>
                </a:tc>
                <a:tc>
                  <a:txBody>
                    <a:bodyPr/>
                    <a:lstStyle/>
                    <a:p>
                      <a:pPr algn="ctr"/>
                      <a:r>
                        <a:rPr sz="1000" b="1">
                          <a:latin typeface="Montserrat"/>
                        </a:rPr>
                        <a:t>9,383 inscritos</a:t>
                      </a:r>
                    </a:p>
                    <a:p>
                      <a:pPr algn="ctr">
                        <a:defRPr sz="1000">
                          <a:solidFill>
                            <a:srgbClr val="505050"/>
                          </a:solidFill>
                          <a:latin typeface="Montserrat"/>
                        </a:defRPr>
                      </a:pPr>
                      <a:r>
                        <a:t>730 en espera</a:t>
                      </a:r>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3272476078"/>
              </p:ext>
            </p:extLst>
          </p:nvPr>
        </p:nvGraphicFramePr>
        <p:xfrm>
          <a:off x="2311200" y="2085212"/>
          <a:ext cx="5032800" cy="1127522"/>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284395">
                <a:tc gridSpan="2">
                  <a:txBody>
                    <a:bodyPr/>
                    <a:lstStyle/>
                    <a:p>
                      <a:pPr algn="ctr">
                        <a:defRPr sz="1000" b="1">
                          <a:solidFill>
                            <a:srgbClr val="FFFFFF"/>
                          </a:solidFill>
                          <a:latin typeface="Montserrat"/>
                        </a:defRPr>
                      </a:pPr>
                      <a:r>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256212">
                <a:tc>
                  <a:txBody>
                    <a:bodyPr/>
                    <a:lstStyle/>
                    <a:p>
                      <a:pPr algn="ctr">
                        <a:defRPr sz="800" b="1">
                          <a:latin typeface="Montserrat"/>
                        </a:defRPr>
                      </a:pPr>
                      <a:r>
                        <a:t>1 CEBIS</a:t>
                      </a:r>
                    </a:p>
                  </a:txBody>
                  <a:tcPr marL="28800" marR="28800" marT="0" marB="0" anchor="ctr">
                    <a:solidFill>
                      <a:srgbClr val="FFFFFF"/>
                    </a:solidFill>
                  </a:tcPr>
                </a:tc>
                <a:tc>
                  <a:txBody>
                    <a:bodyPr/>
                    <a:lstStyle/>
                    <a:p>
                      <a:pPr algn="ctr">
                        <a:defRPr sz="800">
                          <a:latin typeface="Montserrat"/>
                        </a:defRPr>
                      </a:pPr>
                      <a:r>
                        <a:t>Pánuco</a:t>
                      </a:r>
                    </a:p>
                  </a:txBody>
                  <a:tcPr marL="28800" marR="28800" marT="0" marB="0" anchor="ctr">
                    <a:solidFill>
                      <a:srgbClr val="FFFFFF"/>
                    </a:solidFill>
                  </a:tcPr>
                </a:tc>
                <a:extLst>
                  <a:ext uri="{0D108BD9-81ED-4DB2-BD59-A6C34878D82A}">
                    <a16:rowId xmlns:a16="http://schemas.microsoft.com/office/drawing/2014/main" val="10001"/>
                  </a:ext>
                </a:extLst>
              </a:tr>
              <a:tr h="203514">
                <a:tc>
                  <a:txBody>
                    <a:bodyPr/>
                    <a:lstStyle/>
                    <a:p>
                      <a:pPr algn="ctr">
                        <a:defRPr sz="800" b="1">
                          <a:latin typeface="Montserrat"/>
                        </a:defRPr>
                      </a:pPr>
                      <a:r>
                        <a:t>4 Centros de Seguridad Social</a:t>
                      </a:r>
                    </a:p>
                  </a:txBody>
                  <a:tcPr marL="28800" marR="28800" marT="0" marB="0" anchor="ctr">
                    <a:solidFill>
                      <a:srgbClr val="EFEFEF"/>
                    </a:solidFill>
                  </a:tcPr>
                </a:tc>
                <a:tc>
                  <a:txBody>
                    <a:bodyPr/>
                    <a:lstStyle/>
                    <a:p>
                      <a:pPr algn="ctr">
                        <a:defRPr sz="800">
                          <a:latin typeface="Montserrat"/>
                        </a:defRPr>
                      </a:pPr>
                      <a:r>
                        <a:t>Ciudad Mante y Nuevo Laredo</a:t>
                      </a:r>
                    </a:p>
                  </a:txBody>
                  <a:tcPr marL="28800" marR="28800" marT="0" marB="0" anchor="ctr">
                    <a:solidFill>
                      <a:srgbClr val="EFEFEF"/>
                    </a:solidFill>
                  </a:tcPr>
                </a:tc>
                <a:extLst>
                  <a:ext uri="{0D108BD9-81ED-4DB2-BD59-A6C34878D82A}">
                    <a16:rowId xmlns:a16="http://schemas.microsoft.com/office/drawing/2014/main" val="10002"/>
                  </a:ext>
                </a:extLst>
              </a:tr>
              <a:tr h="343075">
                <a:tc>
                  <a:txBody>
                    <a:bodyPr/>
                    <a:lstStyle/>
                    <a:p>
                      <a:pPr algn="ctr">
                        <a:defRPr sz="800" b="1">
                          <a:latin typeface="Montserrat"/>
                        </a:defRPr>
                      </a:pPr>
                      <a:r>
                        <a:t>2 Teatro</a:t>
                      </a:r>
                    </a:p>
                  </a:txBody>
                  <a:tcPr marL="28800" marR="28800" marT="0" marB="0" anchor="ctr">
                    <a:solidFill>
                      <a:srgbClr val="FFFFFF"/>
                    </a:solidFill>
                  </a:tcPr>
                </a:tc>
                <a:tc>
                  <a:txBody>
                    <a:bodyPr/>
                    <a:lstStyle/>
                    <a:p>
                      <a:pPr algn="ctr">
                        <a:defRPr sz="800">
                          <a:latin typeface="Montserrat"/>
                        </a:defRPr>
                      </a:pPr>
                      <a:r>
                        <a:t>Cd. Mante, Nuevo Laredo</a:t>
                      </a:r>
                    </a:p>
                  </a:txBody>
                  <a:tcPr marL="28800" marR="28800" marT="0" marB="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251143906"/>
              </p:ext>
            </p:extLst>
          </p:nvPr>
        </p:nvGraphicFramePr>
        <p:xfrm>
          <a:off x="2311200" y="3342863"/>
          <a:ext cx="5032800" cy="81720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272400">
                <a:tc gridSpan="2">
                  <a:txBody>
                    <a:bodyPr/>
                    <a:lstStyle/>
                    <a:p>
                      <a:pPr algn="ctr">
                        <a:defRPr sz="1000" b="1">
                          <a:solidFill>
                            <a:srgbClr val="FFFFFF"/>
                          </a:solidFill>
                          <a:latin typeface="Montserrat"/>
                        </a:defRPr>
                      </a:pPr>
                      <a:r>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272400">
                <a:tc>
                  <a:txBody>
                    <a:bodyPr/>
                    <a:lstStyle/>
                    <a:p>
                      <a:pPr algn="ctr">
                        <a:defRPr sz="800" b="1">
                          <a:latin typeface="Montserrat"/>
                        </a:defRPr>
                      </a:pPr>
                      <a:r>
                        <a:t>1 Tienda IMSS-SNTSS</a:t>
                      </a:r>
                    </a:p>
                  </a:txBody>
                  <a:tcPr marL="28800" marR="28800" marT="0" marB="0" anchor="ctr">
                    <a:solidFill>
                      <a:srgbClr val="FFFFFF"/>
                    </a:solidFill>
                  </a:tcPr>
                </a:tc>
                <a:tc>
                  <a:txBody>
                    <a:bodyPr/>
                    <a:lstStyle/>
                    <a:p>
                      <a:pPr algn="ctr">
                        <a:defRPr sz="800">
                          <a:latin typeface="Montserrat"/>
                        </a:defRPr>
                      </a:pPr>
                      <a:r>
                        <a:t>No. 47 Tampico</a:t>
                      </a:r>
                    </a:p>
                  </a:txBody>
                  <a:tcPr marL="28800" marR="28800" marT="0" marB="0" anchor="ctr">
                    <a:solidFill>
                      <a:srgbClr val="FFFFFF"/>
                    </a:solidFill>
                  </a:tcPr>
                </a:tc>
                <a:extLst>
                  <a:ext uri="{0D108BD9-81ED-4DB2-BD59-A6C34878D82A}">
                    <a16:rowId xmlns:a16="http://schemas.microsoft.com/office/drawing/2014/main" val="10001"/>
                  </a:ext>
                </a:extLst>
              </a:tr>
              <a:tr h="272400">
                <a:tc>
                  <a:txBody>
                    <a:bodyPr/>
                    <a:lstStyle/>
                    <a:p>
                      <a:pPr algn="ctr">
                        <a:defRPr sz="800" b="1">
                          <a:latin typeface="Montserrat"/>
                        </a:defRPr>
                      </a:pPr>
                      <a:r>
                        <a:t>1 Velatorio</a:t>
                      </a:r>
                    </a:p>
                  </a:txBody>
                  <a:tcPr marL="28800" marR="28800" marT="0" marB="0" anchor="ctr">
                    <a:solidFill>
                      <a:srgbClr val="EFEFEF"/>
                    </a:solidFill>
                  </a:tcPr>
                </a:tc>
                <a:tc>
                  <a:txBody>
                    <a:bodyPr/>
                    <a:lstStyle/>
                    <a:p>
                      <a:pPr algn="ctr">
                        <a:defRPr sz="800">
                          <a:latin typeface="Montserrat"/>
                        </a:defRPr>
                      </a:pPr>
                      <a:r>
                        <a:t>Tampico</a:t>
                      </a:r>
                    </a:p>
                  </a:txBody>
                  <a:tcPr marL="28800" marR="28800" marT="0" marB="0" anchor="ctr">
                    <a:solidFill>
                      <a:srgbClr val="EFEFEF"/>
                    </a:solidFill>
                  </a:tcPr>
                </a:tc>
                <a:extLst>
                  <a:ext uri="{0D108BD9-81ED-4DB2-BD59-A6C34878D82A}">
                    <a16:rowId xmlns:a16="http://schemas.microsoft.com/office/drawing/2014/main" val="10002"/>
                  </a:ext>
                </a:extLst>
              </a:tr>
            </a:tbl>
          </a:graphicData>
        </a:graphic>
      </p:graphicFrame>
      <p:pic>
        <p:nvPicPr>
          <p:cNvPr id="470" name="Picture 469" descr="map_tipo2_28_tamps.png"/>
          <p:cNvPicPr>
            <a:picLocks noChangeAspect="1"/>
          </p:cNvPicPr>
          <p:nvPr/>
        </p:nvPicPr>
        <p:blipFill>
          <a:blip r:embed="rId6"/>
          <a:stretch>
            <a:fillRect/>
          </a:stretch>
        </p:blipFill>
        <p:spPr>
          <a:xfrm>
            <a:off x="2915705" y="4506056"/>
            <a:ext cx="2328098" cy="4591346"/>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68</a:t>
            </a:r>
          </a:p>
        </p:txBody>
      </p:sp>
      <p:sp>
        <p:nvSpPr>
          <p:cNvPr id="472" name="TextBox 471"/>
          <p:cNvSpPr txBox="1"/>
          <p:nvPr/>
        </p:nvSpPr>
        <p:spPr>
          <a:xfrm>
            <a:off x="0" y="9640800"/>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a:solidFill>
                            <a:srgbClr val="BC955C"/>
                          </a:solidFill>
                          <a:latin typeface="Montserrat"/>
                          <a:ea typeface="Montserrat"/>
                          <a:cs typeface="Montserrat"/>
                          <a:sym typeface="Montserrat"/>
                        </a:rPr>
                        <a:t>Actividad económica</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1500" b="1" u="none" strike="noStrike" cap="none">
                          <a:solidFill>
                            <a:srgbClr val="BC955C"/>
                          </a:solidFill>
                          <a:latin typeface="Montserrat"/>
                          <a:ea typeface="Montserrat"/>
                          <a:cs typeface="Montserrat"/>
                          <a:sym typeface="Montserrat"/>
                        </a:rPr>
                        <a:t>Puestos de trabajo, </a:t>
                      </a:r>
                      <a:r>
                        <a:rPr lang="es-MX" sz="15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MX" sz="15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lang="es-MX"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graphicFrame>
        <p:nvGraphicFramePr>
          <p:cNvPr id="479" name="Table 478"/>
          <p:cNvGraphicFramePr>
            <a:graphicFrameLocks noGrp="1"/>
          </p:cNvGraphicFramePr>
          <p:nvPr/>
        </p:nvGraphicFramePr>
        <p:xfrm>
          <a:off x="284400" y="1087200"/>
          <a:ext cx="6984000" cy="219197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t>PRINCIPALES EMPLEADORES</a:t>
                      </a: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16,290</a:t>
                      </a:r>
                    </a:p>
                  </a:txBody>
                  <a:tcPr anchor="ctr">
                    <a:solidFill>
                      <a:srgbClr val="FFFFFF"/>
                    </a:solidFill>
                  </a:tcPr>
                </a:tc>
                <a:tc>
                  <a:txBody>
                    <a:bodyPr/>
                    <a:lstStyle/>
                    <a:p>
                      <a:pPr algn="ctr">
                        <a:defRPr sz="850">
                          <a:latin typeface="Montserrat"/>
                        </a:defRPr>
                      </a:pPr>
                      <a:r>
                        <a:t>16,358</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Corning Optical Communications S. de R.L. de C.V.</a:t>
                      </a:r>
                    </a:p>
                  </a:txBody>
                  <a:tcPr anchor="ctr">
                    <a:solidFill>
                      <a:srgbClr val="FFFFFF"/>
                    </a:solidFill>
                  </a:tcPr>
                </a:tc>
                <a:tc>
                  <a:txBody>
                    <a:bodyPr/>
                    <a:lstStyle/>
                    <a:p>
                      <a:pPr algn="ctr">
                        <a:defRPr sz="850">
                          <a:latin typeface="Montserrat"/>
                        </a:defRPr>
                      </a:pPr>
                      <a:r>
                        <a:t>27,478</a:t>
                      </a:r>
                    </a:p>
                  </a:txBody>
                  <a:tcPr anchor="ctr">
                    <a:solidFill>
                      <a:srgbClr val="FFFFFF"/>
                    </a:solidFill>
                  </a:tcPr>
                </a:tc>
                <a:tc>
                  <a:txBody>
                    <a:bodyPr/>
                    <a:lstStyle/>
                    <a:p>
                      <a:pPr algn="ctr">
                        <a:defRPr sz="850">
                          <a:latin typeface="Montserrat"/>
                        </a:defRPr>
                      </a:pPr>
                      <a:r>
                        <a:t>27,085</a:t>
                      </a:r>
                    </a:p>
                  </a:txBody>
                  <a:tcPr anchor="ctr">
                    <a:solidFill>
                      <a:srgbClr val="FFFFFF"/>
                    </a:solidFill>
                  </a:tcPr>
                </a:tc>
                <a:tc>
                  <a:txBody>
                    <a:bodyPr/>
                    <a:lstStyle/>
                    <a:p>
                      <a:pPr algn="ctr">
                        <a:defRPr sz="850" b="1">
                          <a:solidFill>
                            <a:srgbClr val="691C32"/>
                          </a:solidFill>
                          <a:latin typeface="Montserrat"/>
                        </a:defRPr>
                      </a:pPr>
                      <a:r>
                        <a:t>-1.4%</a:t>
                      </a:r>
                    </a:p>
                  </a:txBody>
                  <a:tcPr anchor="ctr">
                    <a:solidFill>
                      <a:srgbClr val="FFFFFF"/>
                    </a:solidFill>
                  </a:tcPr>
                </a:tc>
                <a:extLst>
                  <a:ext uri="{0D108BD9-81ED-4DB2-BD59-A6C34878D82A}">
                    <a16:rowId xmlns:a16="http://schemas.microsoft.com/office/drawing/2014/main" val="10002"/>
                  </a:ext>
                </a:extLst>
              </a:tr>
              <a:tr h="490320">
                <a:tc>
                  <a:txBody>
                    <a:bodyPr/>
                    <a:lstStyle/>
                    <a:p>
                      <a:pPr algn="ctr">
                        <a:defRPr sz="850">
                          <a:latin typeface="Montserrat"/>
                        </a:defRPr>
                      </a:pPr>
                      <a:r>
                        <a:t>Universidad Autónoma de Tamaulipas</a:t>
                      </a:r>
                    </a:p>
                  </a:txBody>
                  <a:tcPr anchor="ctr">
                    <a:solidFill>
                      <a:srgbClr val="D9D9D9"/>
                    </a:solidFill>
                  </a:tcPr>
                </a:tc>
                <a:tc>
                  <a:txBody>
                    <a:bodyPr/>
                    <a:lstStyle/>
                    <a:p>
                      <a:pPr algn="ctr">
                        <a:defRPr sz="850">
                          <a:latin typeface="Montserrat"/>
                        </a:defRPr>
                      </a:pPr>
                      <a:r>
                        <a:t>8,137</a:t>
                      </a:r>
                    </a:p>
                  </a:txBody>
                  <a:tcPr anchor="ctr">
                    <a:solidFill>
                      <a:srgbClr val="D9D9D9"/>
                    </a:solidFill>
                  </a:tcPr>
                </a:tc>
                <a:tc>
                  <a:txBody>
                    <a:bodyPr/>
                    <a:lstStyle/>
                    <a:p>
                      <a:pPr algn="ctr">
                        <a:defRPr sz="850">
                          <a:latin typeface="Montserrat"/>
                        </a:defRPr>
                      </a:pPr>
                      <a:r>
                        <a:t>8,115</a:t>
                      </a:r>
                    </a:p>
                  </a:txBody>
                  <a:tcPr anchor="ctr">
                    <a:solidFill>
                      <a:srgbClr val="D9D9D9"/>
                    </a:solidFill>
                  </a:tcPr>
                </a:tc>
                <a:tc>
                  <a:txBody>
                    <a:bodyPr/>
                    <a:lstStyle/>
                    <a:p>
                      <a:pPr algn="ctr">
                        <a:defRPr sz="850" b="1">
                          <a:solidFill>
                            <a:srgbClr val="691C32"/>
                          </a:solidFill>
                          <a:latin typeface="Montserrat"/>
                        </a:defRPr>
                      </a:pPr>
                      <a:r>
                        <a:t>-0.3%</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8,189</a:t>
                      </a:r>
                    </a:p>
                  </a:txBody>
                  <a:tcPr anchor="ctr">
                    <a:solidFill>
                      <a:srgbClr val="D9D9D9"/>
                    </a:solidFill>
                  </a:tcPr>
                </a:tc>
                <a:tc>
                  <a:txBody>
                    <a:bodyPr/>
                    <a:lstStyle/>
                    <a:p>
                      <a:pPr algn="ctr">
                        <a:defRPr sz="850">
                          <a:latin typeface="Montserrat"/>
                        </a:defRPr>
                      </a:pPr>
                      <a:r>
                        <a:t>8,296</a:t>
                      </a:r>
                    </a:p>
                  </a:txBody>
                  <a:tcPr anchor="ctr">
                    <a:solidFill>
                      <a:srgbClr val="D9D9D9"/>
                    </a:solidFill>
                  </a:tcPr>
                </a:tc>
                <a:tc>
                  <a:txBody>
                    <a:bodyPr/>
                    <a:lstStyle/>
                    <a:p>
                      <a:pPr algn="ctr">
                        <a:defRPr sz="850" b="1">
                          <a:solidFill>
                            <a:srgbClr val="006455"/>
                          </a:solidFill>
                          <a:latin typeface="Montserrat"/>
                        </a:defRPr>
                      </a:pPr>
                      <a:r>
                        <a:t>1.3%</a:t>
                      </a:r>
                    </a:p>
                  </a:txBody>
                  <a:tcPr anchor="ctr">
                    <a:solidFill>
                      <a:srgbClr val="D9D9D9"/>
                    </a:solidFill>
                  </a:tcPr>
                </a:tc>
                <a:extLst>
                  <a:ext uri="{0D108BD9-81ED-4DB2-BD59-A6C34878D82A}">
                    <a16:rowId xmlns:a16="http://schemas.microsoft.com/office/drawing/2014/main" val="10003"/>
                  </a:ext>
                </a:extLst>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3,355</a:t>
                      </a:r>
                    </a:p>
                  </a:txBody>
                  <a:tcPr anchor="ctr">
                    <a:solidFill>
                      <a:srgbClr val="FFFFFF"/>
                    </a:solidFill>
                  </a:tcPr>
                </a:tc>
                <a:tc>
                  <a:txBody>
                    <a:bodyPr/>
                    <a:lstStyle/>
                    <a:p>
                      <a:pPr algn="ctr">
                        <a:defRPr sz="850">
                          <a:latin typeface="Montserrat"/>
                        </a:defRPr>
                      </a:pPr>
                      <a:r>
                        <a:t>3,350</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Aptiv Contract Services Nuevo Laredo S. de R.L. de C.V.</a:t>
                      </a:r>
                    </a:p>
                  </a:txBody>
                  <a:tcPr anchor="ctr">
                    <a:solidFill>
                      <a:srgbClr val="FFFFFF"/>
                    </a:solidFill>
                  </a:tcPr>
                </a:tc>
                <a:tc>
                  <a:txBody>
                    <a:bodyPr/>
                    <a:lstStyle/>
                    <a:p>
                      <a:pPr algn="ctr">
                        <a:defRPr sz="850">
                          <a:latin typeface="Montserrat"/>
                        </a:defRPr>
                      </a:pPr>
                      <a:r>
                        <a:t>7,518</a:t>
                      </a:r>
                    </a:p>
                  </a:txBody>
                  <a:tcPr anchor="ctr">
                    <a:solidFill>
                      <a:srgbClr val="FFFFFF"/>
                    </a:solidFill>
                  </a:tcPr>
                </a:tc>
                <a:tc>
                  <a:txBody>
                    <a:bodyPr/>
                    <a:lstStyle/>
                    <a:p>
                      <a:pPr algn="ctr">
                        <a:defRPr sz="850">
                          <a:latin typeface="Montserrat"/>
                        </a:defRPr>
                      </a:pPr>
                      <a:r>
                        <a:t>7,623</a:t>
                      </a:r>
                    </a:p>
                  </a:txBody>
                  <a:tcPr anchor="ctr">
                    <a:solidFill>
                      <a:srgbClr val="FFFFFF"/>
                    </a:solidFill>
                  </a:tcPr>
                </a:tc>
                <a:tc>
                  <a:txBody>
                    <a:bodyPr/>
                    <a:lstStyle/>
                    <a:p>
                      <a:pPr algn="ctr">
                        <a:defRPr sz="850" b="1">
                          <a:solidFill>
                            <a:srgbClr val="006455"/>
                          </a:solidFill>
                          <a:latin typeface="Montserrat"/>
                        </a:defRPr>
                      </a:pPr>
                      <a:r>
                        <a:t>1.4%</a:t>
                      </a:r>
                    </a:p>
                  </a:txBody>
                  <a:tcPr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-7.11%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-4.46%</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-3.78%</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-0.83%</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+0.19%</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+1.06%</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+8.03%</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+9.64%</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solidFill>
                      <a:srgbClr val="BC955C"/>
                    </a:solidFill>
                  </a:tcPr>
                </a:tc>
                <a:tc gridSpan="2">
                  <a:txBody>
                    <a:bodyPr/>
                    <a:lstStyle/>
                    <a:p>
                      <a:pPr algn="ctr">
                        <a:defRPr sz="1000" b="1">
                          <a:solidFill>
                            <a:srgbClr val="FFFFFF"/>
                          </a:solidFill>
                          <a:latin typeface="Montserrat"/>
                        </a:defRPr>
                      </a:pPr>
                      <a:r>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solidFill>
                      <a:srgbClr val="FFFFFF"/>
                    </a:solidFill>
                  </a:tcPr>
                </a:tc>
                <a:tc>
                  <a:txBody>
                    <a:bodyPr/>
                    <a:lstStyle/>
                    <a:p>
                      <a:pPr algn="ctr">
                        <a:defRPr sz="900">
                          <a:latin typeface="Montserrat"/>
                        </a:defRPr>
                      </a:pPr>
                      <a:r>
                        <a:t>624,271</a:t>
                      </a:r>
                    </a:p>
                  </a:txBody>
                  <a:tcPr>
                    <a:solidFill>
                      <a:srgbClr val="FFFFFF"/>
                    </a:solidFill>
                  </a:tcPr>
                </a:tc>
                <a:tc>
                  <a:txBody>
                    <a:bodyPr/>
                    <a:lstStyle/>
                    <a:p>
                      <a:pPr algn="ctr">
                        <a:defRPr sz="900">
                          <a:latin typeface="Montserrat"/>
                        </a:defRPr>
                      </a:pPr>
                      <a:r>
                        <a:t>5,506</a:t>
                      </a:r>
                    </a:p>
                  </a:txBody>
                  <a:tcPr>
                    <a:solidFill>
                      <a:srgbClr val="FFFFFF"/>
                    </a:solidFill>
                  </a:tcPr>
                </a:tc>
                <a:tc>
                  <a:txBody>
                    <a:bodyPr/>
                    <a:lstStyle/>
                    <a:p>
                      <a:pPr algn="ctr">
                        <a:defRPr sz="900">
                          <a:latin typeface="Montserrat"/>
                        </a:defRPr>
                      </a:pPr>
                      <a:r>
                        <a:t>63,246</a:t>
                      </a:r>
                    </a:p>
                  </a:txBody>
                  <a:tcPr>
                    <a:solidFill>
                      <a:srgbClr val="FFFFFF"/>
                    </a:solidFill>
                  </a:tcPr>
                </a:tc>
                <a:tc>
                  <a:txBody>
                    <a:bodyPr/>
                    <a:lstStyle/>
                    <a:p>
                      <a:pPr algn="ctr">
                        <a:defRPr sz="900">
                          <a:latin typeface="Montserrat"/>
                        </a:defRPr>
                      </a:pPr>
                      <a:r>
                        <a:t>1,113</a:t>
                      </a:r>
                    </a:p>
                  </a:txBody>
                  <a:tcPr>
                    <a:solidFill>
                      <a:srgbClr val="FFFFFF"/>
                    </a:solidFill>
                  </a:tcPr>
                </a:tc>
                <a:tc>
                  <a:txBody>
                    <a:bodyPr/>
                    <a:lstStyle/>
                    <a:p>
                      <a:pPr algn="ctr">
                        <a:defRPr sz="900">
                          <a:latin typeface="Montserrat"/>
                        </a:defRPr>
                      </a:pPr>
                      <a:r>
                        <a:t>694,136</a:t>
                      </a:r>
                    </a:p>
                  </a:txBody>
                  <a:tcP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solidFill>
                      <a:srgbClr val="D9D9D9"/>
                    </a:solidFill>
                  </a:tcPr>
                </a:tc>
                <a:tc>
                  <a:txBody>
                    <a:bodyPr/>
                    <a:lstStyle/>
                    <a:p>
                      <a:pPr algn="ctr">
                        <a:defRPr sz="900">
                          <a:latin typeface="Montserrat"/>
                        </a:defRPr>
                      </a:pPr>
                      <a:r>
                        <a:t>613,905</a:t>
                      </a:r>
                    </a:p>
                  </a:txBody>
                  <a:tcPr>
                    <a:solidFill>
                      <a:srgbClr val="D9D9D9"/>
                    </a:solidFill>
                  </a:tcPr>
                </a:tc>
                <a:tc>
                  <a:txBody>
                    <a:bodyPr/>
                    <a:lstStyle/>
                    <a:p>
                      <a:pPr algn="ctr">
                        <a:defRPr sz="900">
                          <a:latin typeface="Montserrat"/>
                        </a:defRPr>
                      </a:pPr>
                      <a:r>
                        <a:t>4,916</a:t>
                      </a:r>
                    </a:p>
                  </a:txBody>
                  <a:tcPr>
                    <a:solidFill>
                      <a:srgbClr val="D9D9D9"/>
                    </a:solidFill>
                  </a:tcPr>
                </a:tc>
                <a:tc>
                  <a:txBody>
                    <a:bodyPr/>
                    <a:lstStyle/>
                    <a:p>
                      <a:pPr algn="ctr">
                        <a:defRPr sz="900">
                          <a:latin typeface="Montserrat"/>
                        </a:defRPr>
                      </a:pPr>
                      <a:r>
                        <a:t>58,679</a:t>
                      </a:r>
                    </a:p>
                  </a:txBody>
                  <a:tcPr>
                    <a:solidFill>
                      <a:srgbClr val="D9D9D9"/>
                    </a:solidFill>
                  </a:tcPr>
                </a:tc>
                <a:tc>
                  <a:txBody>
                    <a:bodyPr/>
                    <a:lstStyle/>
                    <a:p>
                      <a:pPr algn="ctr">
                        <a:defRPr sz="900">
                          <a:latin typeface="Montserrat"/>
                        </a:defRPr>
                      </a:pPr>
                      <a:r>
                        <a:t>1,631</a:t>
                      </a:r>
                    </a:p>
                  </a:txBody>
                  <a:tcPr>
                    <a:solidFill>
                      <a:srgbClr val="D9D9D9"/>
                    </a:solidFill>
                  </a:tcPr>
                </a:tc>
                <a:tc>
                  <a:txBody>
                    <a:bodyPr/>
                    <a:lstStyle/>
                    <a:p>
                      <a:pPr algn="ctr">
                        <a:defRPr sz="900">
                          <a:latin typeface="Montserrat"/>
                        </a:defRPr>
                      </a:pPr>
                      <a:r>
                        <a:t>679,131</a:t>
                      </a:r>
                    </a:p>
                  </a:txBody>
                  <a:tcP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-1.7%</a:t>
                      </a:r>
                    </a:p>
                  </a:txBody>
                  <a:tcPr>
                    <a:solidFill>
                      <a:srgbClr val="FFFFFF"/>
                    </a:solidFill>
                  </a:tcPr>
                </a:tc>
                <a:tc>
                  <a:txBody>
                    <a:bodyPr/>
                    <a:lstStyle/>
                    <a:p>
                      <a:pPr algn="ctr">
                        <a:defRPr sz="900" b="0">
                          <a:solidFill>
                            <a:srgbClr val="691C32"/>
                          </a:solidFill>
                          <a:latin typeface="Montserrat"/>
                        </a:defRPr>
                      </a:pPr>
                      <a:r>
                        <a:t>-10.7%</a:t>
                      </a:r>
                    </a:p>
                  </a:txBody>
                  <a:tcPr>
                    <a:solidFill>
                      <a:srgbClr val="FFFFFF"/>
                    </a:solidFill>
                  </a:tcPr>
                </a:tc>
                <a:tc>
                  <a:txBody>
                    <a:bodyPr/>
                    <a:lstStyle/>
                    <a:p>
                      <a:pPr algn="ctr">
                        <a:defRPr sz="900" b="0">
                          <a:solidFill>
                            <a:srgbClr val="691C32"/>
                          </a:solidFill>
                          <a:latin typeface="Montserrat"/>
                        </a:defRPr>
                      </a:pPr>
                      <a:r>
                        <a:t>-7.2%</a:t>
                      </a:r>
                    </a:p>
                  </a:txBody>
                  <a:tcPr>
                    <a:solidFill>
                      <a:srgbClr val="FFFFFF"/>
                    </a:solidFill>
                  </a:tcPr>
                </a:tc>
                <a:tc>
                  <a:txBody>
                    <a:bodyPr/>
                    <a:lstStyle/>
                    <a:p>
                      <a:pPr algn="ctr">
                        <a:defRPr sz="900" b="1">
                          <a:solidFill>
                            <a:srgbClr val="006455"/>
                          </a:solidFill>
                          <a:latin typeface="Montserrat"/>
                        </a:defRPr>
                      </a:pPr>
                      <a:r>
                        <a:t>+46.5%</a:t>
                      </a:r>
                    </a:p>
                  </a:txBody>
                  <a:tcPr>
                    <a:solidFill>
                      <a:srgbClr val="FFFFFF"/>
                    </a:solidFill>
                  </a:tcPr>
                </a:tc>
                <a:tc>
                  <a:txBody>
                    <a:bodyPr/>
                    <a:lstStyle/>
                    <a:p>
                      <a:pPr algn="ctr">
                        <a:defRPr sz="900" b="0">
                          <a:solidFill>
                            <a:srgbClr val="691C32"/>
                          </a:solidFill>
                          <a:latin typeface="Montserrat"/>
                        </a:defRPr>
                      </a:pPr>
                      <a:r>
                        <a:t>-2.2%</a:t>
                      </a:r>
                    </a:p>
                  </a:txBody>
                  <a:tcPr>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2000" b="1" u="none" strike="noStrike" cap="none">
                          <a:solidFill>
                            <a:srgbClr val="BC955C"/>
                          </a:solidFill>
                          <a:latin typeface="Montserrat"/>
                          <a:ea typeface="Montserrat"/>
                          <a:cs typeface="Montserrat"/>
                          <a:sym typeface="Montserrat"/>
                        </a:rPr>
                        <a:t>Puestos de trabajo y salario base de </a:t>
                      </a:r>
                      <a:r>
                        <a:rPr lang="es-MX"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lang="es-MX"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a:solidFill>
                  <a:srgbClr val="5B0F00"/>
                </a:solidFill>
                <a:latin typeface="Montserrat"/>
                <a:ea typeface="Montserrat"/>
                <a:cs typeface="Montserrat"/>
                <a:sym typeface="Montserrat"/>
              </a:rPr>
              <a:t> </a:t>
            </a:r>
            <a:r>
              <a:rPr lang="es" sz="1400" b="1" i="0" u="none" strike="noStrike" cap="none">
                <a:solidFill>
                  <a:srgbClr val="5B0F00"/>
                </a:solidFill>
                <a:latin typeface="Montserrat"/>
                <a:ea typeface="Montserrat"/>
                <a:cs typeface="Montserrat"/>
                <a:sym typeface="Montserrat"/>
              </a:rPr>
              <a:t>Puestos de trabajo comparación interanual de cada año</a:t>
            </a:r>
            <a:endParaRPr sz="2000" b="1" i="0" u="none" strike="noStrike" cap="none">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2CDE77CF-0CB7-B059-0698-44B3FD6C449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TAMAULIPAS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$702.39</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noFill/>
                  </a:tcPr>
                </a:tc>
                <a:tc>
                  <a:txBody>
                    <a:bodyPr/>
                    <a:lstStyle/>
                    <a:p>
                      <a:pPr algn="ctr">
                        <a:defRPr sz="1100" b="1">
                          <a:solidFill>
                            <a:srgbClr val="FFFFFF"/>
                          </a:solidFill>
                          <a:latin typeface="Montserrat"/>
                        </a:defRPr>
                      </a:pPr>
                      <a:r>
                        <a:t>2018 diciembre</a:t>
                      </a:r>
                    </a:p>
                  </a:txBody>
                  <a:tcPr anchor="ctr">
                    <a:solidFill>
                      <a:srgbClr val="A42145"/>
                    </a:solidFill>
                  </a:tcPr>
                </a:tc>
                <a:tc>
                  <a:txBody>
                    <a:bodyPr/>
                    <a:lstStyle/>
                    <a:p>
                      <a:pPr algn="ctr">
                        <a:defRPr sz="1100" b="1">
                          <a:solidFill>
                            <a:srgbClr val="FFFFFF"/>
                          </a:solidFill>
                          <a:latin typeface="Montserrat"/>
                        </a:defRPr>
                      </a:pPr>
                      <a:r>
                        <a:t>2026 Mayo</a:t>
                      </a:r>
                    </a:p>
                  </a:txBody>
                  <a:tcPr anchor="ctr">
                    <a:solidFill>
                      <a:srgbClr val="A42145"/>
                    </a:solidFill>
                  </a:tcPr>
                </a:tc>
                <a:tc>
                  <a:txBody>
                    <a:bodyPr/>
                    <a:lstStyle/>
                    <a:p>
                      <a:pPr algn="ctr">
                        <a:defRPr sz="1100" b="1">
                          <a:solidFill>
                            <a:srgbClr val="FFFFFF"/>
                          </a:solidFill>
                          <a:latin typeface="Montserrat"/>
                        </a:defRPr>
                      </a:pPr>
                      <a:r>
                        <a:t>Variación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Mensual</a:t>
                      </a:r>
                    </a:p>
                  </a:txBody>
                  <a:tcPr anchor="ctr">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$337.52</a:t>
                      </a:r>
                    </a:p>
                  </a:txBody>
                  <a:tcPr anchor="ctr">
                    <a:solidFill>
                      <a:srgbClr val="EEEEEE"/>
                    </a:solidFill>
                  </a:tcPr>
                </a:tc>
                <a:tc>
                  <a:txBody>
                    <a:bodyPr/>
                    <a:lstStyle/>
                    <a:p>
                      <a:pPr algn="ctr">
                        <a:defRPr sz="1100" b="1">
                          <a:latin typeface="Montserrat"/>
                        </a:defRPr>
                      </a:pPr>
                      <a:r>
                        <a:t>$702.39</a:t>
                      </a:r>
                    </a:p>
                  </a:txBody>
                  <a:tcPr anchor="ctr">
                    <a:solidFill>
                      <a:srgbClr val="EEEEEE"/>
                    </a:solidFill>
                  </a:tcPr>
                </a:tc>
                <a:tc>
                  <a:txBody>
                    <a:bodyPr/>
                    <a:lstStyle/>
                    <a:p>
                      <a:pPr algn="ctr">
                        <a:defRPr sz="1100">
                          <a:latin typeface="Montserrat"/>
                        </a:defRPr>
                      </a:pPr>
                      <a:r>
                        <a:t>47.1%</a:t>
                      </a:r>
                    </a:p>
                  </a:txBody>
                  <a:tcPr anchor="ctr">
                    <a:solidFill>
                      <a:srgbClr val="EEEEEE"/>
                    </a:solidFill>
                  </a:tcPr>
                </a:tc>
                <a:tc>
                  <a:txBody>
                    <a:bodyPr/>
                    <a:lstStyle/>
                    <a:p>
                      <a:pPr algn="ctr">
                        <a:defRPr sz="1100" b="1">
                          <a:latin typeface="Montserrat"/>
                        </a:defRPr>
                      </a:pPr>
                      <a:r>
                        <a:t>$671.25</a:t>
                      </a:r>
                    </a:p>
                  </a:txBody>
                  <a:tcPr anchor="ctr">
                    <a:solidFill>
                      <a:srgbClr val="EEEEEE"/>
                    </a:solidFill>
                  </a:tcPr>
                </a:tc>
                <a:tc>
                  <a:txBody>
                    <a:bodyPr/>
                    <a:lstStyle/>
                    <a:p>
                      <a:pPr algn="ctr">
                        <a:defRPr sz="1100" b="1">
                          <a:solidFill>
                            <a:srgbClr val="9F2241"/>
                          </a:solidFill>
                          <a:latin typeface="Montserrat"/>
                        </a:defRPr>
                      </a:pPr>
                      <a:r>
                        <a:t>$21,071.7</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4251773261"/>
              </p:ext>
            </p:extLst>
          </p:nvPr>
        </p:nvGraphicFramePr>
        <p:xfrm>
          <a:off x="320400" y="6649200"/>
          <a:ext cx="7038000" cy="264708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t>PRINCIPALES DEUDORES</a:t>
                      </a:r>
                    </a:p>
                  </a:txBody>
                  <a:tcP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solidFill>
                      <a:srgbClr val="006455"/>
                    </a:solidFill>
                  </a:tcPr>
                </a:tc>
                <a:tc>
                  <a:txBody>
                    <a:bodyPr/>
                    <a:lstStyle/>
                    <a:p>
                      <a:pPr algn="ctr">
                        <a:defRPr sz="1100" b="1">
                          <a:solidFill>
                            <a:srgbClr val="FFFFFF"/>
                          </a:solidFill>
                          <a:latin typeface="Montserrat"/>
                        </a:defRPr>
                      </a:pPr>
                      <a:r>
                        <a:t>Deudores</a:t>
                      </a:r>
                    </a:p>
                  </a:txBody>
                  <a:tcPr>
                    <a:solidFill>
                      <a:srgbClr val="006455"/>
                    </a:solidFill>
                  </a:tcPr>
                </a:tc>
                <a:tc>
                  <a:txBody>
                    <a:bodyPr/>
                    <a:lstStyle/>
                    <a:p>
                      <a:pPr algn="ctr">
                        <a:defRPr sz="1100" b="1">
                          <a:solidFill>
                            <a:srgbClr val="FFFFFF"/>
                          </a:solidFill>
                          <a:latin typeface="Montserrat"/>
                        </a:defRPr>
                      </a:pPr>
                      <a:r>
                        <a:t>Monto de deuda (mdp)</a:t>
                      </a:r>
                    </a:p>
                  </a:txBody>
                  <a:tcP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a:t>
                      </a:r>
                      <a:r>
                        <a:rPr err="1"/>
                        <a:t>público</a:t>
                      </a:r>
                      <a:r>
                        <a:rPr lang="es-MX"/>
                        <a:t>s</a:t>
                      </a:r>
                      <a:endParaRPr/>
                    </a:p>
                  </a:txBody>
                  <a:tcPr anchor="ctr">
                    <a:solidFill>
                      <a:srgbClr val="006455"/>
                    </a:solidFill>
                  </a:tcPr>
                </a:tc>
                <a:tc>
                  <a:txBody>
                    <a:bodyPr/>
                    <a:lstStyle/>
                    <a:p>
                      <a:pPr algn="ctr">
                        <a:defRPr sz="900">
                          <a:latin typeface="Montserrat"/>
                        </a:defRPr>
                      </a:pPr>
                      <a:r>
                        <a:t>Comisión Municipal de Agua Potable y Alcantarillado de Tampico</a:t>
                      </a:r>
                    </a:p>
                  </a:txBody>
                  <a:tcPr>
                    <a:solidFill>
                      <a:srgbClr val="FFFFFF"/>
                    </a:solidFill>
                  </a:tcPr>
                </a:tc>
                <a:tc>
                  <a:txBody>
                    <a:bodyPr/>
                    <a:lstStyle/>
                    <a:p>
                      <a:pPr algn="ctr">
                        <a:defRPr sz="900">
                          <a:latin typeface="Montserrat"/>
                        </a:defRPr>
                      </a:pPr>
                      <a:r>
                        <a:t>$153.16</a:t>
                      </a:r>
                    </a:p>
                  </a:txBody>
                  <a:tcP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Comisión Municipal de Agua Potable y Alcantarillado de Victoria</a:t>
                      </a:r>
                    </a:p>
                  </a:txBody>
                  <a:tcPr>
                    <a:solidFill>
                      <a:srgbClr val="EEEEEE"/>
                    </a:solidFill>
                  </a:tcPr>
                </a:tc>
                <a:tc>
                  <a:txBody>
                    <a:bodyPr/>
                    <a:lstStyle/>
                    <a:p>
                      <a:pPr algn="ctr">
                        <a:defRPr sz="900">
                          <a:latin typeface="Montserrat"/>
                        </a:defRPr>
                      </a:pPr>
                      <a:r>
                        <a:t>$67.61</a:t>
                      </a:r>
                    </a:p>
                  </a:txBody>
                  <a:tcP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t>Comisión Municipal de Agua Potable y Alcantarillado de Rio Bravo</a:t>
                      </a:r>
                    </a:p>
                  </a:txBody>
                  <a:tcPr>
                    <a:solidFill>
                      <a:srgbClr val="FFFFFF"/>
                    </a:solidFill>
                  </a:tcPr>
                </a:tc>
                <a:tc>
                  <a:txBody>
                    <a:bodyPr/>
                    <a:lstStyle/>
                    <a:p>
                      <a:pPr algn="ctr">
                        <a:defRPr sz="900">
                          <a:latin typeface="Montserrat"/>
                        </a:defRPr>
                      </a:pPr>
                      <a:r>
                        <a:t>$65.17</a:t>
                      </a:r>
                    </a:p>
                  </a:txBody>
                  <a:tcP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t>Principal</a:t>
                      </a:r>
                      <a:r>
                        <a:rPr lang="es-MX"/>
                        <a:t>es</a:t>
                      </a:r>
                      <a:r>
                        <a:t> </a:t>
                      </a:r>
                      <a:r>
                        <a:rPr err="1"/>
                        <a:t>deudor</a:t>
                      </a:r>
                      <a:r>
                        <a:rPr lang="es-MX"/>
                        <a:t>es</a:t>
                      </a:r>
                      <a:r>
                        <a:t> privado</a:t>
                      </a:r>
                      <a:r>
                        <a:rPr lang="es-MX"/>
                        <a:t>s</a:t>
                      </a:r>
                      <a:endParaRPr/>
                    </a:p>
                  </a:txBody>
                  <a:tcPr anchor="ctr">
                    <a:solidFill>
                      <a:srgbClr val="006455"/>
                    </a:solidFill>
                  </a:tcPr>
                </a:tc>
                <a:tc>
                  <a:txBody>
                    <a:bodyPr/>
                    <a:lstStyle/>
                    <a:p>
                      <a:pPr algn="ctr">
                        <a:defRPr sz="900">
                          <a:latin typeface="Montserrat"/>
                        </a:defRPr>
                      </a:pPr>
                      <a:r>
                        <a:t>Gateway Express SA de CV</a:t>
                      </a:r>
                    </a:p>
                  </a:txBody>
                  <a:tcPr>
                    <a:solidFill>
                      <a:srgbClr val="EEEEEE"/>
                    </a:solidFill>
                  </a:tcPr>
                </a:tc>
                <a:tc>
                  <a:txBody>
                    <a:bodyPr/>
                    <a:lstStyle/>
                    <a:p>
                      <a:pPr algn="ctr">
                        <a:defRPr sz="900">
                          <a:latin typeface="Montserrat"/>
                        </a:defRPr>
                      </a:pPr>
                      <a:r>
                        <a:t>$60.10</a:t>
                      </a:r>
                    </a:p>
                  </a:txBody>
                  <a:tcP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t>Tnl Express SA de CV</a:t>
                      </a:r>
                    </a:p>
                  </a:txBody>
                  <a:tcPr>
                    <a:solidFill>
                      <a:srgbClr val="FFFFFF"/>
                    </a:solidFill>
                  </a:tcPr>
                </a:tc>
                <a:tc>
                  <a:txBody>
                    <a:bodyPr/>
                    <a:lstStyle/>
                    <a:p>
                      <a:pPr algn="ctr">
                        <a:defRPr sz="900">
                          <a:latin typeface="Montserrat"/>
                        </a:defRPr>
                      </a:pPr>
                      <a:r>
                        <a:t>$41.32</a:t>
                      </a:r>
                    </a:p>
                  </a:txBody>
                  <a:tcP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t>Comercializadora Dayofaaa SAS</a:t>
                      </a:r>
                    </a:p>
                  </a:txBody>
                  <a:tcPr>
                    <a:solidFill>
                      <a:srgbClr val="EEEEEE"/>
                    </a:solidFill>
                  </a:tcPr>
                </a:tc>
                <a:tc>
                  <a:txBody>
                    <a:bodyPr/>
                    <a:lstStyle/>
                    <a:p>
                      <a:pPr algn="ctr">
                        <a:defRPr sz="900">
                          <a:latin typeface="Montserrat"/>
                        </a:defRPr>
                      </a:pPr>
                      <a:r>
                        <a:t>$32.61</a:t>
                      </a:r>
                    </a:p>
                  </a:txBody>
                  <a:tcPr>
                    <a:solidFill>
                      <a:srgbClr val="EEEEEE"/>
                    </a:solidFill>
                  </a:tcPr>
                </a:tc>
                <a:extLst>
                  <a:ext uri="{0D108BD9-81ED-4DB2-BD59-A6C34878D82A}">
                    <a16:rowId xmlns:a16="http://schemas.microsoft.com/office/drawing/2014/main" val="10007"/>
                  </a:ext>
                </a:extLst>
              </a:tr>
            </a:tbl>
          </a:graphicData>
        </a:graphic>
      </p:graphicFrame>
      <p:sp>
        <p:nvSpPr>
          <p:cNvPr id="515" name="TextBox 514"/>
          <p:cNvSpPr txBox="1"/>
          <p:nvPr/>
        </p:nvSpPr>
        <p:spPr>
          <a:xfrm>
            <a:off x="251999" y="2350800"/>
            <a:ext cx="4316400" cy="244800"/>
          </a:xfrm>
          <a:prstGeom prst="rect">
            <a:avLst/>
          </a:prstGeom>
          <a:noFill/>
        </p:spPr>
        <p:txBody>
          <a:bodyPr wrap="square" lIns="0" tIns="0" rIns="0" bIns="0">
            <a:spAutoFit/>
          </a:bodyPr>
          <a:lstStyle/>
          <a:p>
            <a:pPr algn="l">
              <a:defRPr sz="800">
                <a:solidFill>
                  <a:srgbClr val="FFFFFF"/>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extLst>
              <p:ext uri="{D42A27DB-BD31-4B8C-83A1-F6EECF244321}">
                <p14:modId xmlns:p14="http://schemas.microsoft.com/office/powerpoint/2010/main" val="1186629079"/>
              </p:ext>
            </p:extLst>
          </p:nvPr>
        </p:nvGraphicFramePr>
        <p:xfrm>
          <a:off x="-56109" y="318036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extLst>
              <p:ext uri="{D42A27DB-BD31-4B8C-83A1-F6EECF244321}">
                <p14:modId xmlns:p14="http://schemas.microsoft.com/office/powerpoint/2010/main" val="1044216437"/>
              </p:ext>
            </p:extLst>
          </p:nvPr>
        </p:nvGraphicFramePr>
        <p:xfrm>
          <a:off x="0" y="5634383"/>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4. Personal</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extLst>
              <p:ext uri="{D42A27DB-BD31-4B8C-83A1-F6EECF244321}">
                <p14:modId xmlns:p14="http://schemas.microsoft.com/office/powerpoint/2010/main" val="2517246990"/>
              </p:ext>
            </p:extLst>
          </p:nvPr>
        </p:nvGraphicFramePr>
        <p:xfrm>
          <a:off x="-126" y="7873815"/>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extLst>
              <p:ext uri="{D42A27DB-BD31-4B8C-83A1-F6EECF244321}">
                <p14:modId xmlns:p14="http://schemas.microsoft.com/office/powerpoint/2010/main" val="1570241946"/>
              </p:ext>
            </p:extLst>
          </p:nvPr>
        </p:nvGraphicFramePr>
        <p:xfrm>
          <a:off x="3772251"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102267"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102267"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TAMAULIPAS PROGRAMA IMSS-COPLAMAR</a:t>
            </a:r>
          </a:p>
        </p:txBody>
      </p:sp>
      <p:sp>
        <p:nvSpPr>
          <p:cNvPr id="531" name="TextBox 530"/>
          <p:cNvSpPr txBox="1"/>
          <p:nvPr/>
        </p:nvSpPr>
        <p:spPr>
          <a:xfrm>
            <a:off x="309600" y="5361794"/>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sp>
        <p:nvSpPr>
          <p:cNvPr id="532" name="TextBox 531"/>
          <p:cNvSpPr txBox="1"/>
          <p:nvPr/>
        </p:nvSpPr>
        <p:spPr>
          <a:xfrm>
            <a:off x="309600" y="96228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464348"/>
        </p:xfrm>
        <a:graphic>
          <a:graphicData uri="http://schemas.openxmlformats.org/drawingml/2006/table">
            <a:tbl>
              <a:tblPr firstRow="1" bandRow="1">
                <a:tableStyleId>{5C22544A-7EE6-4342-B048-85BDC9FD1C3A}</a:tableStyleId>
              </a:tblPr>
              <a:tblGrid>
                <a:gridCol w="255117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tblGrid>
              <a:tr h="177654">
                <a:tc>
                  <a:txBody>
                    <a:bodyPr/>
                    <a:lstStyle/>
                    <a:p>
                      <a:pPr algn="ctr">
                        <a:defRPr sz="1100" b="1">
                          <a:solidFill>
                            <a:srgbClr val="FFFFFF"/>
                          </a:solidFill>
                          <a:latin typeface="Montserrat"/>
                        </a:defRPr>
                      </a:pPr>
                      <a:r>
                        <a:t>Unidades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177654">
                <a:tc>
                  <a:txBody>
                    <a:bodyPr/>
                    <a:lstStyle/>
                    <a:p>
                      <a:pPr algn="l">
                        <a:defRPr sz="1100" b="0">
                          <a:solidFill>
                            <a:srgbClr val="000000"/>
                          </a:solidFill>
                          <a:latin typeface="Montserrat"/>
                        </a:defRPr>
                      </a:pPr>
                      <a:r>
                        <a:t>Hospital Rural</a:t>
                      </a:r>
                    </a:p>
                  </a:txBody>
                  <a:tcPr marL="73152" marR="73152" marT="0" marB="0" anchor="ctr">
                    <a:solidFill>
                      <a:srgbClr val="FFFFFF"/>
                    </a:solidFill>
                  </a:tcPr>
                </a:tc>
                <a:tc>
                  <a:txBody>
                    <a:bodyPr/>
                    <a:lstStyle/>
                    <a:p>
                      <a:pPr algn="ctr">
                        <a:defRPr sz="1000" b="1">
                          <a:solidFill>
                            <a:srgbClr val="006455"/>
                          </a:solidFill>
                          <a:latin typeface="Montserrat"/>
                        </a:defRPr>
                      </a:pPr>
                      <a:r>
                        <a:t>4</a:t>
                      </a:r>
                    </a:p>
                  </a:txBody>
                  <a:tcPr marL="73152" marR="73152" marT="0" marB="0" anchor="ctr">
                    <a:solidFill>
                      <a:srgbClr val="D3E9E7"/>
                    </a:solidFill>
                  </a:tcPr>
                </a:tc>
                <a:extLst>
                  <a:ext uri="{0D108BD9-81ED-4DB2-BD59-A6C34878D82A}">
                    <a16:rowId xmlns:a16="http://schemas.microsoft.com/office/drawing/2014/main" val="10001"/>
                  </a:ext>
                </a:extLst>
              </a:tr>
              <a:tr h="177654">
                <a:tc>
                  <a:txBody>
                    <a:bodyPr/>
                    <a:lstStyle/>
                    <a:p>
                      <a:pPr algn="l">
                        <a:defRPr sz="1100" b="0">
                          <a:solidFill>
                            <a:srgbClr val="000000"/>
                          </a:solidFill>
                          <a:latin typeface="Montserrat"/>
                        </a:defRPr>
                      </a:pPr>
                      <a:r>
                        <a:t>Unidad Médica Rural</a:t>
                      </a:r>
                    </a:p>
                  </a:txBody>
                  <a:tcPr marL="73152" marR="73152" marT="0" marB="0" anchor="ctr">
                    <a:solidFill>
                      <a:srgbClr val="EFEFEF"/>
                    </a:solidFill>
                  </a:tcPr>
                </a:tc>
                <a:tc>
                  <a:txBody>
                    <a:bodyPr/>
                    <a:lstStyle/>
                    <a:p>
                      <a:pPr algn="ctr">
                        <a:defRPr sz="1000" b="1">
                          <a:solidFill>
                            <a:srgbClr val="006455"/>
                          </a:solidFill>
                          <a:latin typeface="Montserrat"/>
                        </a:defRPr>
                      </a:pPr>
                      <a:r>
                        <a:t>102</a:t>
                      </a:r>
                    </a:p>
                  </a:txBody>
                  <a:tcPr marL="73152" marR="73152" marT="0" marB="0" anchor="ctr">
                    <a:solidFill>
                      <a:srgbClr val="D3E9E7"/>
                    </a:solidFill>
                  </a:tcPr>
                </a:tc>
                <a:extLst>
                  <a:ext uri="{0D108BD9-81ED-4DB2-BD59-A6C34878D82A}">
                    <a16:rowId xmlns:a16="http://schemas.microsoft.com/office/drawing/2014/main" val="10002"/>
                  </a:ext>
                </a:extLst>
              </a:tr>
              <a:tr h="177654">
                <a:tc>
                  <a:txBody>
                    <a:bodyPr/>
                    <a:lstStyle/>
                    <a:p>
                      <a:pPr algn="l">
                        <a:defRPr sz="1100" b="0">
                          <a:solidFill>
                            <a:srgbClr val="000000"/>
                          </a:solidFill>
                          <a:latin typeface="Montserrat"/>
                        </a:defRPr>
                      </a:pPr>
                      <a:r>
                        <a:t>Brigada Salud</a:t>
                      </a:r>
                    </a:p>
                  </a:txBody>
                  <a:tcPr marL="73152" marR="73152" marT="0" marB="0" anchor="ctr">
                    <a:solidFill>
                      <a:srgbClr val="FFFFFF"/>
                    </a:solidFill>
                  </a:tcPr>
                </a:tc>
                <a:tc>
                  <a:txBody>
                    <a:bodyPr/>
                    <a:lstStyle/>
                    <a:p>
                      <a:pPr algn="ctr">
                        <a:defRPr sz="1000" b="1">
                          <a:solidFill>
                            <a:srgbClr val="006455"/>
                          </a:solidFill>
                          <a:latin typeface="Montserrat"/>
                        </a:defRPr>
                      </a:pPr>
                      <a:r>
                        <a:t>10</a:t>
                      </a:r>
                    </a:p>
                  </a:txBody>
                  <a:tcPr marL="73152" marR="73152" marT="0" marB="0" anchor="ctr">
                    <a:solidFill>
                      <a:srgbClr val="D3E9E7"/>
                    </a:solidFill>
                  </a:tcPr>
                </a:tc>
                <a:extLst>
                  <a:ext uri="{0D108BD9-81ED-4DB2-BD59-A6C34878D82A}">
                    <a16:rowId xmlns:a16="http://schemas.microsoft.com/office/drawing/2014/main" val="10003"/>
                  </a:ext>
                </a:extLst>
              </a:tr>
              <a:tr h="177654">
                <a:tc>
                  <a:txBody>
                    <a:bodyPr/>
                    <a:lstStyle/>
                    <a:p>
                      <a:pPr algn="l">
                        <a:defRPr sz="1100" b="0">
                          <a:solidFill>
                            <a:srgbClr val="000000"/>
                          </a:solidFill>
                          <a:latin typeface="Montserrat"/>
                        </a:defRPr>
                      </a:pPr>
                      <a:r>
                        <a:t>Unidad Médica Móvil</a:t>
                      </a:r>
                    </a:p>
                  </a:txBody>
                  <a:tcPr marL="73152" marR="73152" marT="0" marB="0" anchor="ctr">
                    <a:solidFill>
                      <a:srgbClr val="EFEFE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4"/>
                  </a:ext>
                </a:extLst>
              </a:tr>
              <a:tr h="177654">
                <a:tc>
                  <a:txBody>
                    <a:bodyPr/>
                    <a:lstStyle/>
                    <a:p>
                      <a:pPr algn="l">
                        <a:defRPr sz="1100" b="0">
                          <a:solidFill>
                            <a:srgbClr val="000000"/>
                          </a:solidFill>
                          <a:latin typeface="Montserrat"/>
                        </a:defRPr>
                      </a:pPr>
                      <a:r>
                        <a:t>Centros de Atención Rural Obstétrica</a:t>
                      </a:r>
                    </a:p>
                  </a:txBody>
                  <a:tcPr marL="73152" marR="73152" marT="0" marB="0" anchor="ctr">
                    <a:solidFill>
                      <a:srgbClr val="FFFFF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5"/>
                  </a:ext>
                </a:extLst>
              </a:tr>
              <a:tr h="177660">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116</a:t>
                      </a:r>
                    </a:p>
                  </a:txBody>
                  <a:tcPr marL="73152" marR="73152" marT="0" marB="0" anchor="ctr">
                    <a:solidFill>
                      <a:srgbClr val="D3E9E7"/>
                    </a:solidFill>
                  </a:tcPr>
                </a:tc>
                <a:extLst>
                  <a:ext uri="{0D108BD9-81ED-4DB2-BD59-A6C34878D82A}">
                    <a16:rowId xmlns:a16="http://schemas.microsoft.com/office/drawing/2014/main" val="10006"/>
                  </a:ext>
                </a:extLst>
              </a:tr>
            </a:tbl>
          </a:graphicData>
        </a:graphic>
      </p:graphicFrame>
      <p:graphicFrame>
        <p:nvGraphicFramePr>
          <p:cNvPr id="534" name="Table 533"/>
          <p:cNvGraphicFramePr>
            <a:graphicFrameLocks noGrp="1"/>
          </p:cNvGraphicFramePr>
          <p:nvPr>
            <p:extLst>
              <p:ext uri="{D42A27DB-BD31-4B8C-83A1-F6EECF244321}">
                <p14:modId xmlns:p14="http://schemas.microsoft.com/office/powerpoint/2010/main" val="2508112452"/>
              </p:ext>
            </p:extLst>
          </p:nvPr>
        </p:nvGraphicFramePr>
        <p:xfrm>
          <a:off x="254913" y="3601426"/>
          <a:ext cx="4965192" cy="1744472"/>
        </p:xfrm>
        <a:graphic>
          <a:graphicData uri="http://schemas.openxmlformats.org/drawingml/2006/table">
            <a:tbl>
              <a:tblPr firstRow="1" bandRow="1">
                <a:tableStyleId>{5C22544A-7EE6-4342-B048-85BDC9FD1C3A}</a:tableStyleId>
              </a:tblPr>
              <a:tblGrid>
                <a:gridCol w="1655064">
                  <a:extLst>
                    <a:ext uri="{9D8B030D-6E8A-4147-A177-3AD203B41FA5}">
                      <a16:colId xmlns:a16="http://schemas.microsoft.com/office/drawing/2014/main" val="20000"/>
                    </a:ext>
                  </a:extLst>
                </a:gridCol>
                <a:gridCol w="1655064">
                  <a:extLst>
                    <a:ext uri="{9D8B030D-6E8A-4147-A177-3AD203B41FA5}">
                      <a16:colId xmlns:a16="http://schemas.microsoft.com/office/drawing/2014/main" val="20001"/>
                    </a:ext>
                  </a:extLst>
                </a:gridCol>
                <a:gridCol w="1655064">
                  <a:extLst>
                    <a:ext uri="{9D8B030D-6E8A-4147-A177-3AD203B41FA5}">
                      <a16:colId xmlns:a16="http://schemas.microsoft.com/office/drawing/2014/main" val="20002"/>
                    </a:ext>
                  </a:extLst>
                </a:gridCol>
              </a:tblGrid>
              <a:tr h="187960">
                <a:tc>
                  <a:txBody>
                    <a:bodyPr/>
                    <a:lstStyle/>
                    <a:p>
                      <a:pPr algn="ctr">
                        <a:defRPr sz="1100" b="1">
                          <a:solidFill>
                            <a:srgbClr val="FFFFFF"/>
                          </a:solidFill>
                          <a:latin typeface="Montserrat"/>
                        </a:defRPr>
                      </a:pPr>
                      <a:r>
                        <a:t>Concepto</a:t>
                      </a:r>
                    </a:p>
                  </a:txBody>
                  <a:tcPr marL="36576" marR="36576" marT="36576" marB="36576">
                    <a:solidFill>
                      <a:srgbClr val="006455"/>
                    </a:solidFill>
                  </a:tcPr>
                </a:tc>
                <a:tc>
                  <a:txBody>
                    <a:bodyPr/>
                    <a:lstStyle/>
                    <a:p>
                      <a:pPr algn="ctr">
                        <a:defRPr sz="1100" b="1">
                          <a:solidFill>
                            <a:srgbClr val="FFFFFF"/>
                          </a:solidFill>
                          <a:latin typeface="Montserrat"/>
                        </a:defRPr>
                      </a:pPr>
                      <a:r>
                        <a:t>Productividad</a:t>
                      </a:r>
                    </a:p>
                  </a:txBody>
                  <a:tcPr marL="36576" marR="36576" marT="36576" marB="36576">
                    <a:solidFill>
                      <a:srgbClr val="006455"/>
                    </a:solidFill>
                  </a:tcPr>
                </a:tc>
                <a:tc>
                  <a:txBody>
                    <a:bodyPr/>
                    <a:lstStyle/>
                    <a:p>
                      <a:pPr algn="ctr">
                        <a:defRPr sz="1100" b="1">
                          <a:solidFill>
                            <a:srgbClr val="FFFFFF"/>
                          </a:solidFill>
                          <a:latin typeface="Montserrat"/>
                        </a:defRPr>
                      </a:pPr>
                      <a:r>
                        <a:t>Día Típico</a:t>
                      </a:r>
                    </a:p>
                  </a:txBody>
                  <a:tcPr marL="36576" marR="36576" marT="36576" marB="36576">
                    <a:solidFill>
                      <a:srgbClr val="006455"/>
                    </a:solidFill>
                  </a:tcPr>
                </a:tc>
                <a:extLst>
                  <a:ext uri="{0D108BD9-81ED-4DB2-BD59-A6C34878D82A}">
                    <a16:rowId xmlns:a16="http://schemas.microsoft.com/office/drawing/2014/main" val="10000"/>
                  </a:ext>
                </a:extLst>
              </a:tr>
              <a:tr h="187960">
                <a:tc>
                  <a:txBody>
                    <a:bodyPr/>
                    <a:lstStyle/>
                    <a:p>
                      <a:pPr algn="l">
                        <a:defRPr sz="1100" b="1">
                          <a:solidFill>
                            <a:srgbClr val="006455"/>
                          </a:solidFill>
                          <a:latin typeface="Montserrat"/>
                        </a:defRPr>
                      </a:pPr>
                      <a:r>
                        <a:t>Total consultas</a:t>
                      </a:r>
                    </a:p>
                  </a:txBody>
                  <a:tcPr marL="73152" marR="73152" marT="0" marB="0" anchor="ctr">
                    <a:solidFill>
                      <a:srgbClr val="D3E9E7"/>
                    </a:solidFill>
                  </a:tcPr>
                </a:tc>
                <a:tc>
                  <a:txBody>
                    <a:bodyPr/>
                    <a:lstStyle/>
                    <a:p>
                      <a:pPr algn="ctr">
                        <a:defRPr sz="1000" b="1">
                          <a:solidFill>
                            <a:srgbClr val="006455"/>
                          </a:solidFill>
                          <a:latin typeface="Montserrat"/>
                        </a:defRPr>
                      </a:pPr>
                      <a:r>
                        <a:t>255,125</a:t>
                      </a:r>
                    </a:p>
                  </a:txBody>
                  <a:tcPr marL="73152" marR="73152" marT="0" marB="0" anchor="ctr">
                    <a:solidFill>
                      <a:srgbClr val="D3E9E7"/>
                    </a:solidFill>
                  </a:tcPr>
                </a:tc>
                <a:tc>
                  <a:txBody>
                    <a:bodyPr/>
                    <a:lstStyle/>
                    <a:p>
                      <a:pPr algn="ctr">
                        <a:defRPr sz="1000" b="1">
                          <a:solidFill>
                            <a:srgbClr val="006455"/>
                          </a:solidFill>
                          <a:latin typeface="Montserrat"/>
                        </a:defRPr>
                      </a:pPr>
                      <a:r>
                        <a:t>960</a:t>
                      </a:r>
                    </a:p>
                  </a:txBody>
                  <a:tcPr marL="73152" marR="73152" marT="0" marB="0" anchor="ctr">
                    <a:solidFill>
                      <a:srgbClr val="D3E9E7"/>
                    </a:solidFill>
                  </a:tcPr>
                </a:tc>
                <a:extLst>
                  <a:ext uri="{0D108BD9-81ED-4DB2-BD59-A6C34878D82A}">
                    <a16:rowId xmlns:a16="http://schemas.microsoft.com/office/drawing/2014/main" val="10001"/>
                  </a:ext>
                </a:extLst>
              </a:tr>
              <a:tr h="187960">
                <a:tc>
                  <a:txBody>
                    <a:bodyPr/>
                    <a:lstStyle/>
                    <a:p>
                      <a:pPr algn="ctr">
                        <a:defRPr sz="1100" b="0">
                          <a:solidFill>
                            <a:srgbClr val="000000"/>
                          </a:solidFill>
                          <a:latin typeface="Montserrat"/>
                        </a:defRPr>
                      </a:pPr>
                      <a:r>
                        <a:t>Familiar</a:t>
                      </a:r>
                    </a:p>
                  </a:txBody>
                  <a:tcPr marL="73152" marR="73152" marT="0" marB="0" anchor="ctr">
                    <a:solidFill>
                      <a:srgbClr val="FFFFFF"/>
                    </a:solidFill>
                  </a:tcPr>
                </a:tc>
                <a:tc>
                  <a:txBody>
                    <a:bodyPr/>
                    <a:lstStyle/>
                    <a:p>
                      <a:pPr algn="ctr">
                        <a:defRPr sz="1000" b="0">
                          <a:solidFill>
                            <a:srgbClr val="000000"/>
                          </a:solidFill>
                          <a:latin typeface="Montserrat"/>
                        </a:defRPr>
                      </a:pPr>
                      <a:r>
                        <a:t>220,477</a:t>
                      </a:r>
                    </a:p>
                  </a:txBody>
                  <a:tcPr marL="73152" marR="73152" marT="0" marB="0" anchor="ctr">
                    <a:solidFill>
                      <a:srgbClr val="FFFFFF"/>
                    </a:solidFill>
                  </a:tcPr>
                </a:tc>
                <a:tc>
                  <a:txBody>
                    <a:bodyPr/>
                    <a:lstStyle/>
                    <a:p>
                      <a:pPr algn="ctr">
                        <a:defRPr sz="1000" b="0">
                          <a:solidFill>
                            <a:srgbClr val="000000"/>
                          </a:solidFill>
                          <a:latin typeface="Montserrat"/>
                        </a:defRPr>
                      </a:pPr>
                      <a:r>
                        <a:t>845</a:t>
                      </a:r>
                    </a:p>
                  </a:txBody>
                  <a:tcPr marL="73152" marR="73152" marT="0" marB="0" anchor="ctr">
                    <a:solidFill>
                      <a:srgbClr val="FFFFFF"/>
                    </a:solidFill>
                  </a:tcPr>
                </a:tc>
                <a:extLst>
                  <a:ext uri="{0D108BD9-81ED-4DB2-BD59-A6C34878D82A}">
                    <a16:rowId xmlns:a16="http://schemas.microsoft.com/office/drawing/2014/main" val="10002"/>
                  </a:ext>
                </a:extLst>
              </a:tr>
              <a:tr h="187960">
                <a:tc>
                  <a:txBody>
                    <a:bodyPr/>
                    <a:lstStyle/>
                    <a:p>
                      <a:pPr algn="ctr">
                        <a:defRPr sz="1100" b="0">
                          <a:solidFill>
                            <a:srgbClr val="000000"/>
                          </a:solidFill>
                          <a:latin typeface="Montserrat"/>
                        </a:defRPr>
                      </a:pPr>
                      <a:r>
                        <a:t>Estomatología</a:t>
                      </a:r>
                    </a:p>
                  </a:txBody>
                  <a:tcPr marL="73152" marR="73152" marT="0" marB="0" anchor="ctr">
                    <a:solidFill>
                      <a:srgbClr val="EFEFEF"/>
                    </a:solidFill>
                  </a:tcPr>
                </a:tc>
                <a:tc>
                  <a:txBody>
                    <a:bodyPr/>
                    <a:lstStyle/>
                    <a:p>
                      <a:pPr algn="ctr">
                        <a:defRPr sz="1000" b="0">
                          <a:solidFill>
                            <a:srgbClr val="000000"/>
                          </a:solidFill>
                          <a:latin typeface="Montserrat"/>
                        </a:defRPr>
                      </a:pPr>
                      <a:r>
                        <a:t>6,885</a:t>
                      </a:r>
                    </a:p>
                  </a:txBody>
                  <a:tcPr marL="73152" marR="73152" marT="0" marB="0" anchor="ctr">
                    <a:solidFill>
                      <a:srgbClr val="EFEFEF"/>
                    </a:solidFill>
                  </a:tcPr>
                </a:tc>
                <a:tc>
                  <a:txBody>
                    <a:bodyPr/>
                    <a:lstStyle/>
                    <a:p>
                      <a:pPr algn="ctr">
                        <a:defRPr sz="1000" b="0">
                          <a:solidFill>
                            <a:srgbClr val="000000"/>
                          </a:solidFill>
                          <a:latin typeface="Montserrat"/>
                        </a:defRPr>
                      </a:pPr>
                      <a:r>
                        <a:t>26</a:t>
                      </a:r>
                    </a:p>
                  </a:txBody>
                  <a:tcPr marL="73152" marR="73152" marT="0" marB="0" anchor="ctr">
                    <a:solidFill>
                      <a:srgbClr val="EFEFEF"/>
                    </a:solidFill>
                  </a:tcPr>
                </a:tc>
                <a:extLst>
                  <a:ext uri="{0D108BD9-81ED-4DB2-BD59-A6C34878D82A}">
                    <a16:rowId xmlns:a16="http://schemas.microsoft.com/office/drawing/2014/main" val="10003"/>
                  </a:ext>
                </a:extLst>
              </a:tr>
              <a:tr h="187960">
                <a:tc>
                  <a:txBody>
                    <a:bodyPr/>
                    <a:lstStyle/>
                    <a:p>
                      <a:pPr algn="ctr">
                        <a:defRPr sz="1100" b="0">
                          <a:solidFill>
                            <a:srgbClr val="000000"/>
                          </a:solidFill>
                          <a:latin typeface="Montserrat"/>
                        </a:defRPr>
                      </a:pPr>
                      <a:r>
                        <a:t>Urgencias</a:t>
                      </a:r>
                    </a:p>
                  </a:txBody>
                  <a:tcPr marL="73152" marR="73152" marT="0" marB="0" anchor="ctr">
                    <a:solidFill>
                      <a:srgbClr val="FFFFFF"/>
                    </a:solidFill>
                  </a:tcPr>
                </a:tc>
                <a:tc>
                  <a:txBody>
                    <a:bodyPr/>
                    <a:lstStyle/>
                    <a:p>
                      <a:pPr algn="ctr">
                        <a:defRPr sz="1000" b="0">
                          <a:solidFill>
                            <a:srgbClr val="000000"/>
                          </a:solidFill>
                          <a:latin typeface="Montserrat"/>
                        </a:defRPr>
                      </a:pPr>
                      <a:r>
                        <a:t>15,674</a:t>
                      </a:r>
                    </a:p>
                  </a:txBody>
                  <a:tcPr marL="73152" marR="73152" marT="0" marB="0" anchor="ctr">
                    <a:solidFill>
                      <a:srgbClr val="FFFFFF"/>
                    </a:solidFill>
                  </a:tcPr>
                </a:tc>
                <a:tc>
                  <a:txBody>
                    <a:bodyPr/>
                    <a:lstStyle/>
                    <a:p>
                      <a:pPr algn="ctr">
                        <a:defRPr sz="1000" b="0">
                          <a:solidFill>
                            <a:srgbClr val="000000"/>
                          </a:solidFill>
                          <a:latin typeface="Montserrat"/>
                        </a:defRPr>
                      </a:pPr>
                      <a:r>
                        <a:t>43</a:t>
                      </a:r>
                    </a:p>
                  </a:txBody>
                  <a:tcPr marL="73152" marR="73152" marT="0" marB="0" anchor="ctr">
                    <a:solidFill>
                      <a:srgbClr val="FFFFFF"/>
                    </a:solidFill>
                  </a:tcPr>
                </a:tc>
                <a:extLst>
                  <a:ext uri="{0D108BD9-81ED-4DB2-BD59-A6C34878D82A}">
                    <a16:rowId xmlns:a16="http://schemas.microsoft.com/office/drawing/2014/main" val="10004"/>
                  </a:ext>
                </a:extLst>
              </a:tr>
              <a:tr h="187960">
                <a:tc>
                  <a:txBody>
                    <a:bodyPr/>
                    <a:lstStyle/>
                    <a:p>
                      <a:pPr algn="ctr">
                        <a:defRPr sz="1100" b="0">
                          <a:solidFill>
                            <a:srgbClr val="000000"/>
                          </a:solidFill>
                          <a:latin typeface="Montserrat"/>
                        </a:defRPr>
                      </a:pPr>
                      <a:r>
                        <a:t>Especialidades</a:t>
                      </a:r>
                    </a:p>
                  </a:txBody>
                  <a:tcPr marL="73152" marR="73152" marT="0" marB="0" anchor="ctr">
                    <a:solidFill>
                      <a:srgbClr val="EFEFEF"/>
                    </a:solidFill>
                  </a:tcPr>
                </a:tc>
                <a:tc>
                  <a:txBody>
                    <a:bodyPr/>
                    <a:lstStyle/>
                    <a:p>
                      <a:pPr algn="ctr">
                        <a:defRPr sz="1000" b="0">
                          <a:solidFill>
                            <a:srgbClr val="000000"/>
                          </a:solidFill>
                          <a:latin typeface="Montserrat"/>
                        </a:defRPr>
                      </a:pPr>
                      <a:r>
                        <a:t>12,089</a:t>
                      </a:r>
                    </a:p>
                  </a:txBody>
                  <a:tcPr marL="73152" marR="73152" marT="0" marB="0" anchor="ctr">
                    <a:solidFill>
                      <a:srgbClr val="EFEFEF"/>
                    </a:solidFill>
                  </a:tcPr>
                </a:tc>
                <a:tc>
                  <a:txBody>
                    <a:bodyPr/>
                    <a:lstStyle/>
                    <a:p>
                      <a:pPr algn="ctr">
                        <a:defRPr sz="1000" b="0">
                          <a:solidFill>
                            <a:srgbClr val="000000"/>
                          </a:solidFill>
                          <a:latin typeface="Montserrat"/>
                        </a:defRPr>
                      </a:pPr>
                      <a:r>
                        <a:t>46</a:t>
                      </a:r>
                    </a:p>
                  </a:txBody>
                  <a:tcPr marL="73152" marR="73152" marT="0" marB="0" anchor="ctr">
                    <a:solidFill>
                      <a:srgbClr val="EFEFEF"/>
                    </a:solidFill>
                  </a:tcPr>
                </a:tc>
                <a:extLst>
                  <a:ext uri="{0D108BD9-81ED-4DB2-BD59-A6C34878D82A}">
                    <a16:rowId xmlns:a16="http://schemas.microsoft.com/office/drawing/2014/main" val="10005"/>
                  </a:ext>
                </a:extLst>
              </a:tr>
              <a:tr h="187960">
                <a:tc>
                  <a:txBody>
                    <a:bodyPr/>
                    <a:lstStyle/>
                    <a:p>
                      <a:pPr algn="l">
                        <a:defRPr sz="1100" b="1">
                          <a:solidFill>
                            <a:srgbClr val="000000"/>
                          </a:solidFill>
                          <a:latin typeface="Montserrat"/>
                        </a:defRPr>
                      </a:pPr>
                      <a:r>
                        <a:t>Cirugías</a:t>
                      </a:r>
                    </a:p>
                  </a:txBody>
                  <a:tcPr marL="73152" marR="73152" marT="0" marB="0" anchor="ctr">
                    <a:solidFill>
                      <a:srgbClr val="FFFFFF"/>
                    </a:solidFill>
                  </a:tcPr>
                </a:tc>
                <a:tc>
                  <a:txBody>
                    <a:bodyPr/>
                    <a:lstStyle/>
                    <a:p>
                      <a:pPr algn="ctr">
                        <a:defRPr sz="1000" b="0">
                          <a:solidFill>
                            <a:srgbClr val="000000"/>
                          </a:solidFill>
                          <a:latin typeface="Montserrat"/>
                        </a:defRPr>
                      </a:pPr>
                      <a:r>
                        <a:t>1,601</a:t>
                      </a:r>
                    </a:p>
                  </a:txBody>
                  <a:tcPr marL="73152" marR="73152" marT="0" marB="0" anchor="ctr">
                    <a:solidFill>
                      <a:srgbClr val="FFFFFF"/>
                    </a:solidFill>
                  </a:tcPr>
                </a:tc>
                <a:tc>
                  <a:txBody>
                    <a:bodyPr/>
                    <a:lstStyle/>
                    <a:p>
                      <a:pPr algn="ctr">
                        <a:defRPr sz="1000" b="0">
                          <a:solidFill>
                            <a:srgbClr val="000000"/>
                          </a:solidFill>
                          <a:latin typeface="Montserrat"/>
                        </a:defRPr>
                      </a:pPr>
                      <a:r>
                        <a:t>4</a:t>
                      </a:r>
                    </a:p>
                  </a:txBody>
                  <a:tcPr marL="73152" marR="73152" marT="0" marB="0" anchor="ctr">
                    <a:solidFill>
                      <a:srgbClr val="FFFFFF"/>
                    </a:solidFill>
                  </a:tcPr>
                </a:tc>
                <a:extLst>
                  <a:ext uri="{0D108BD9-81ED-4DB2-BD59-A6C34878D82A}">
                    <a16:rowId xmlns:a16="http://schemas.microsoft.com/office/drawing/2014/main" val="10006"/>
                  </a:ext>
                </a:extLst>
              </a:tr>
              <a:tr h="187960">
                <a:tc>
                  <a:txBody>
                    <a:bodyPr/>
                    <a:lstStyle/>
                    <a:p>
                      <a:pPr algn="l">
                        <a:defRPr sz="1100" b="1">
                          <a:solidFill>
                            <a:srgbClr val="000000"/>
                          </a:solidFill>
                          <a:latin typeface="Montserrat"/>
                        </a:defRPr>
                      </a:pPr>
                      <a:r>
                        <a:t>Partos</a:t>
                      </a:r>
                    </a:p>
                  </a:txBody>
                  <a:tcPr marL="73152" marR="73152" marT="0" marB="0" anchor="ctr">
                    <a:solidFill>
                      <a:srgbClr val="EFEFEF"/>
                    </a:solidFill>
                  </a:tcPr>
                </a:tc>
                <a:tc>
                  <a:txBody>
                    <a:bodyPr/>
                    <a:lstStyle/>
                    <a:p>
                      <a:pPr algn="ctr">
                        <a:defRPr sz="1000" b="0">
                          <a:solidFill>
                            <a:srgbClr val="000000"/>
                          </a:solidFill>
                          <a:latin typeface="Montserrat"/>
                        </a:defRPr>
                      </a:pPr>
                      <a:r>
                        <a:t>848</a:t>
                      </a:r>
                    </a:p>
                  </a:txBody>
                  <a:tcPr marL="73152" marR="73152" marT="0" marB="0" anchor="ctr">
                    <a:solidFill>
                      <a:srgbClr val="EFEFEF"/>
                    </a:solidFill>
                  </a:tcPr>
                </a:tc>
                <a:tc>
                  <a:txBody>
                    <a:bodyPr/>
                    <a:lstStyle/>
                    <a:p>
                      <a:pPr algn="ctr">
                        <a:defRPr sz="1000" b="0">
                          <a:solidFill>
                            <a:srgbClr val="000000"/>
                          </a:solidFill>
                          <a:latin typeface="Montserrat"/>
                        </a:defRPr>
                      </a:pPr>
                      <a:r>
                        <a:t>2</a:t>
                      </a:r>
                    </a:p>
                  </a:txBody>
                  <a:tcPr marL="73152" marR="73152" marT="0" marB="0" anchor="ctr">
                    <a:solidFill>
                      <a:srgbClr val="EFEFEF"/>
                    </a:solidFill>
                  </a:tcPr>
                </a:tc>
                <a:extLst>
                  <a:ext uri="{0D108BD9-81ED-4DB2-BD59-A6C34878D82A}">
                    <a16:rowId xmlns:a16="http://schemas.microsoft.com/office/drawing/2014/main" val="10007"/>
                  </a:ext>
                </a:extLst>
              </a:tr>
              <a:tr h="187960">
                <a:tc>
                  <a:txBody>
                    <a:bodyPr/>
                    <a:lstStyle/>
                    <a:p>
                      <a:pPr algn="l">
                        <a:defRPr sz="1100" b="1">
                          <a:solidFill>
                            <a:srgbClr val="000000"/>
                          </a:solidFill>
                          <a:latin typeface="Montserrat"/>
                        </a:defRPr>
                      </a:pPr>
                      <a:r>
                        <a:t>Egresos Hosp.</a:t>
                      </a:r>
                    </a:p>
                  </a:txBody>
                  <a:tcPr marL="73152" marR="73152" marT="0" marB="0" anchor="ctr">
                    <a:solidFill>
                      <a:srgbClr val="FFFFFF"/>
                    </a:solidFill>
                  </a:tcPr>
                </a:tc>
                <a:tc>
                  <a:txBody>
                    <a:bodyPr/>
                    <a:lstStyle/>
                    <a:p>
                      <a:pPr algn="ctr">
                        <a:defRPr sz="1000" b="0">
                          <a:solidFill>
                            <a:srgbClr val="000000"/>
                          </a:solidFill>
                          <a:latin typeface="Montserrat"/>
                        </a:defRPr>
                      </a:pPr>
                      <a:r>
                        <a:t>2,578</a:t>
                      </a:r>
                    </a:p>
                  </a:txBody>
                  <a:tcPr marL="73152" marR="73152" marT="0" marB="0" anchor="ctr">
                    <a:solidFill>
                      <a:srgbClr val="FFFFFF"/>
                    </a:solidFill>
                  </a:tcPr>
                </a:tc>
                <a:tc>
                  <a:txBody>
                    <a:bodyPr/>
                    <a:lstStyle/>
                    <a:p>
                      <a:pPr algn="ctr">
                        <a:defRPr sz="1000" b="0">
                          <a:solidFill>
                            <a:srgbClr val="000000"/>
                          </a:solidFill>
                          <a:latin typeface="Montserrat"/>
                        </a:defRPr>
                      </a:pPr>
                      <a:r>
                        <a:t>7</a:t>
                      </a:r>
                    </a:p>
                  </a:txBody>
                  <a:tcPr marL="73152" marR="73152" marT="0" marB="0"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535" name="Table 534"/>
          <p:cNvGraphicFramePr>
            <a:graphicFrameLocks noGrp="1"/>
          </p:cNvGraphicFramePr>
          <p:nvPr>
            <p:extLst>
              <p:ext uri="{D42A27DB-BD31-4B8C-83A1-F6EECF244321}">
                <p14:modId xmlns:p14="http://schemas.microsoft.com/office/powerpoint/2010/main" val="3447038820"/>
              </p:ext>
            </p:extLst>
          </p:nvPr>
        </p:nvGraphicFramePr>
        <p:xfrm>
          <a:off x="310896" y="6058178"/>
          <a:ext cx="7022592" cy="1648968"/>
        </p:xfrm>
        <a:graphic>
          <a:graphicData uri="http://schemas.openxmlformats.org/drawingml/2006/table">
            <a:tbl>
              <a:tblPr firstRow="1" bandRow="1">
                <a:tableStyleId>{5C22544A-7EE6-4342-B048-85BDC9FD1C3A}</a:tableStyleId>
              </a:tblPr>
              <a:tblGrid>
                <a:gridCol w="1664208">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1179576">
                  <a:extLst>
                    <a:ext uri="{9D8B030D-6E8A-4147-A177-3AD203B41FA5}">
                      <a16:colId xmlns:a16="http://schemas.microsoft.com/office/drawing/2014/main" val="20002"/>
                    </a:ext>
                  </a:extLst>
                </a:gridCol>
                <a:gridCol w="1179576">
                  <a:extLst>
                    <a:ext uri="{9D8B030D-6E8A-4147-A177-3AD203B41FA5}">
                      <a16:colId xmlns:a16="http://schemas.microsoft.com/office/drawing/2014/main" val="20003"/>
                    </a:ext>
                  </a:extLst>
                </a:gridCol>
                <a:gridCol w="1179576">
                  <a:extLst>
                    <a:ext uri="{9D8B030D-6E8A-4147-A177-3AD203B41FA5}">
                      <a16:colId xmlns:a16="http://schemas.microsoft.com/office/drawing/2014/main" val="20004"/>
                    </a:ext>
                  </a:extLst>
                </a:gridCol>
                <a:gridCol w="896112">
                  <a:extLst>
                    <a:ext uri="{9D8B030D-6E8A-4147-A177-3AD203B41FA5}">
                      <a16:colId xmlns:a16="http://schemas.microsoft.com/office/drawing/2014/main" val="20005"/>
                    </a:ext>
                  </a:extLst>
                </a:gridCol>
              </a:tblGrid>
              <a:tr h="201168">
                <a:tc>
                  <a:txBody>
                    <a:bodyPr/>
                    <a:lstStyle/>
                    <a:p>
                      <a:pPr algn="ctr">
                        <a:defRPr sz="1100" b="1">
                          <a:solidFill>
                            <a:srgbClr val="FFFFFF"/>
                          </a:solidFill>
                          <a:latin typeface="Montserrat"/>
                        </a:defRPr>
                      </a:pPr>
                      <a:r>
                        <a:t>Disciplina</a:t>
                      </a:r>
                    </a:p>
                  </a:txBody>
                  <a:tcPr marL="36576" marR="36576" marT="36576" marB="36576">
                    <a:solidFill>
                      <a:srgbClr val="006455"/>
                    </a:solidFill>
                  </a:tcPr>
                </a:tc>
                <a:tc>
                  <a:txBody>
                    <a:bodyPr/>
                    <a:lstStyle/>
                    <a:p>
                      <a:pPr algn="ctr">
                        <a:defRPr sz="1100" b="1">
                          <a:solidFill>
                            <a:srgbClr val="FFFFFF"/>
                          </a:solidFill>
                          <a:latin typeface="Montserrat"/>
                        </a:defRPr>
                      </a:pPr>
                      <a:r>
                        <a:t>Base</a:t>
                      </a:r>
                    </a:p>
                  </a:txBody>
                  <a:tcPr marL="36576" marR="36576" marT="36576" marB="36576">
                    <a:solidFill>
                      <a:srgbClr val="006455"/>
                    </a:solidFill>
                  </a:tcPr>
                </a:tc>
                <a:tc>
                  <a:txBody>
                    <a:bodyPr/>
                    <a:lstStyle/>
                    <a:p>
                      <a:pPr algn="ctr">
                        <a:defRPr sz="1100" b="1">
                          <a:solidFill>
                            <a:srgbClr val="FFFFFF"/>
                          </a:solidFill>
                          <a:latin typeface="Montserrat"/>
                        </a:defRPr>
                      </a:pPr>
                      <a:r>
                        <a:t>Confianza</a:t>
                      </a:r>
                    </a:p>
                  </a:txBody>
                  <a:tcPr marL="36576" marR="36576" marT="36576" marB="36576">
                    <a:solidFill>
                      <a:srgbClr val="006455"/>
                    </a:solidFill>
                  </a:tcPr>
                </a:tc>
                <a:tc>
                  <a:txBody>
                    <a:bodyPr/>
                    <a:lstStyle/>
                    <a:p>
                      <a:pPr algn="ctr">
                        <a:defRPr sz="1100" b="1">
                          <a:solidFill>
                            <a:srgbClr val="FFFFFF"/>
                          </a:solidFill>
                          <a:latin typeface="Montserrat"/>
                        </a:defRPr>
                      </a:pPr>
                      <a:r>
                        <a:t>Estatuto A</a:t>
                      </a:r>
                    </a:p>
                  </a:txBody>
                  <a:tcPr marL="36576" marR="36576" marT="36576" marB="36576">
                    <a:solidFill>
                      <a:srgbClr val="006455"/>
                    </a:solidFill>
                  </a:tcPr>
                </a:tc>
                <a:tc>
                  <a:txBody>
                    <a:bodyPr/>
                    <a:lstStyle/>
                    <a:p>
                      <a:pPr algn="ctr">
                        <a:defRPr sz="1100" b="1">
                          <a:solidFill>
                            <a:srgbClr val="FFFFFF"/>
                          </a:solidFill>
                          <a:latin typeface="Montserrat"/>
                        </a:defRPr>
                      </a:pPr>
                      <a:r>
                        <a:t>Sustitutos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201168">
                <a:tc>
                  <a:txBody>
                    <a:bodyPr/>
                    <a:lstStyle/>
                    <a:p>
                      <a:pPr algn="l">
                        <a:defRPr sz="1100" b="0">
                          <a:solidFill>
                            <a:srgbClr val="000000"/>
                          </a:solidFill>
                          <a:latin typeface="Montserrat"/>
                        </a:defRPr>
                      </a:pPr>
                      <a:r>
                        <a:t>Médicos</a:t>
                      </a:r>
                    </a:p>
                  </a:txBody>
                  <a:tcPr marL="73152" marR="73152" marT="0" marB="0" anchor="ctr">
                    <a:solidFill>
                      <a:srgbClr val="FFFFFF"/>
                    </a:solidFill>
                  </a:tcPr>
                </a:tc>
                <a:tc>
                  <a:txBody>
                    <a:bodyPr/>
                    <a:lstStyle/>
                    <a:p>
                      <a:pPr algn="ctr">
                        <a:defRPr sz="1000" b="0">
                          <a:solidFill>
                            <a:srgbClr val="000000"/>
                          </a:solidFill>
                          <a:latin typeface="Montserrat"/>
                        </a:defRPr>
                      </a:pPr>
                      <a:r>
                        <a:t>65</a:t>
                      </a:r>
                    </a:p>
                  </a:txBody>
                  <a:tcPr marL="73152" marR="73152" marT="0" marB="0" anchor="ctr">
                    <a:solidFill>
                      <a:srgbClr val="FFFFFF"/>
                    </a:solidFill>
                  </a:tcPr>
                </a:tc>
                <a:tc>
                  <a:txBody>
                    <a:bodyPr/>
                    <a:lstStyle/>
                    <a:p>
                      <a:pPr algn="ctr">
                        <a:defRPr sz="1000" b="0">
                          <a:solidFill>
                            <a:srgbClr val="000000"/>
                          </a:solidFill>
                          <a:latin typeface="Montserrat"/>
                        </a:defRPr>
                      </a:pPr>
                      <a:r>
                        <a:t>16</a:t>
                      </a:r>
                    </a:p>
                  </a:txBody>
                  <a:tcPr marL="73152" marR="73152" marT="0" marB="0" anchor="ctr">
                    <a:solidFill>
                      <a:srgbClr val="FFFFFF"/>
                    </a:solidFill>
                  </a:tcPr>
                </a:tc>
                <a:tc>
                  <a:txBody>
                    <a:bodyPr/>
                    <a:lstStyle/>
                    <a:p>
                      <a:pPr algn="ctr">
                        <a:defRPr sz="1000" b="0">
                          <a:solidFill>
                            <a:srgbClr val="000000"/>
                          </a:solidFill>
                          <a:latin typeface="Montserrat"/>
                        </a:defRPr>
                      </a:pPr>
                      <a:r>
                        <a:t>4</a:t>
                      </a:r>
                    </a:p>
                  </a:txBody>
                  <a:tcPr marL="73152" marR="73152" marT="0" marB="0" anchor="ctr">
                    <a:solidFill>
                      <a:srgbClr val="FFFFFF"/>
                    </a:solidFill>
                  </a:tcPr>
                </a:tc>
                <a:tc>
                  <a:txBody>
                    <a:bodyPr/>
                    <a:lstStyle/>
                    <a:p>
                      <a:pPr algn="ctr">
                        <a:defRPr sz="1000" b="0">
                          <a:solidFill>
                            <a:srgbClr val="000000"/>
                          </a:solidFill>
                          <a:latin typeface="Montserrat"/>
                        </a:defRPr>
                      </a:pPr>
                      <a:r>
                        <a:t>73</a:t>
                      </a:r>
                    </a:p>
                  </a:txBody>
                  <a:tcPr marL="73152" marR="73152" marT="0" marB="0" anchor="ctr">
                    <a:solidFill>
                      <a:srgbClr val="FFFFFF"/>
                    </a:solidFill>
                  </a:tcPr>
                </a:tc>
                <a:tc>
                  <a:txBody>
                    <a:bodyPr/>
                    <a:lstStyle/>
                    <a:p>
                      <a:pPr algn="ctr">
                        <a:defRPr sz="1000" b="1">
                          <a:solidFill>
                            <a:srgbClr val="006455"/>
                          </a:solidFill>
                          <a:latin typeface="Montserrat"/>
                        </a:defRPr>
                      </a:pPr>
                      <a:r>
                        <a:t>158</a:t>
                      </a:r>
                    </a:p>
                  </a:txBody>
                  <a:tcPr marL="73152" marR="73152" marT="0" marB="0" anchor="ctr">
                    <a:solidFill>
                      <a:srgbClr val="D3E9E7"/>
                    </a:solidFill>
                  </a:tcPr>
                </a:tc>
                <a:extLst>
                  <a:ext uri="{0D108BD9-81ED-4DB2-BD59-A6C34878D82A}">
                    <a16:rowId xmlns:a16="http://schemas.microsoft.com/office/drawing/2014/main" val="10001"/>
                  </a:ext>
                </a:extLst>
              </a:tr>
              <a:tr h="201168">
                <a:tc>
                  <a:txBody>
                    <a:bodyPr/>
                    <a:lstStyle/>
                    <a:p>
                      <a:pPr algn="l">
                        <a:defRPr sz="1100" b="0">
                          <a:solidFill>
                            <a:srgbClr val="000000"/>
                          </a:solidFill>
                          <a:latin typeface="Montserrat"/>
                        </a:defRPr>
                      </a:pPr>
                      <a:r>
                        <a:t>Enfermeras</a:t>
                      </a:r>
                    </a:p>
                  </a:txBody>
                  <a:tcPr marL="73152" marR="73152" marT="0" marB="0" anchor="ctr">
                    <a:solidFill>
                      <a:srgbClr val="EFEFEF"/>
                    </a:solidFill>
                  </a:tcPr>
                </a:tc>
                <a:tc>
                  <a:txBody>
                    <a:bodyPr/>
                    <a:lstStyle/>
                    <a:p>
                      <a:pPr algn="ctr">
                        <a:defRPr sz="1000" b="0">
                          <a:solidFill>
                            <a:srgbClr val="000000"/>
                          </a:solidFill>
                          <a:latin typeface="Montserrat"/>
                        </a:defRPr>
                      </a:pPr>
                      <a:r>
                        <a:t>233</a:t>
                      </a:r>
                    </a:p>
                  </a:txBody>
                  <a:tcPr marL="73152" marR="73152" marT="0" marB="0" anchor="ctr">
                    <a:solidFill>
                      <a:srgbClr val="EFEFEF"/>
                    </a:solidFill>
                  </a:tcPr>
                </a:tc>
                <a:tc>
                  <a:txBody>
                    <a:bodyPr/>
                    <a:lstStyle/>
                    <a:p>
                      <a:pPr algn="ctr">
                        <a:defRPr sz="1000" b="0">
                          <a:solidFill>
                            <a:srgbClr val="000000"/>
                          </a:solidFill>
                          <a:latin typeface="Montserrat"/>
                        </a:defRPr>
                      </a:pPr>
                      <a:r>
                        <a:t>4</a:t>
                      </a:r>
                    </a:p>
                  </a:txBody>
                  <a:tcPr marL="73152" marR="73152" marT="0" marB="0" anchor="ctr">
                    <a:solidFill>
                      <a:srgbClr val="EFEFEF"/>
                    </a:solidFill>
                  </a:tcPr>
                </a:tc>
                <a:tc>
                  <a:txBody>
                    <a:bodyPr/>
                    <a:lstStyle/>
                    <a:p>
                      <a:pPr algn="ctr">
                        <a:defRPr sz="1000" b="0">
                          <a:solidFill>
                            <a:srgbClr val="000000"/>
                          </a:solidFill>
                          <a:latin typeface="Montserrat"/>
                        </a:defRPr>
                      </a:pPr>
                      <a:r>
                        <a:t>2</a:t>
                      </a:r>
                    </a:p>
                  </a:txBody>
                  <a:tcPr marL="73152" marR="73152" marT="0" marB="0" anchor="ctr">
                    <a:solidFill>
                      <a:srgbClr val="EFEFEF"/>
                    </a:solidFill>
                  </a:tcPr>
                </a:tc>
                <a:tc>
                  <a:txBody>
                    <a:bodyPr/>
                    <a:lstStyle/>
                    <a:p>
                      <a:pPr algn="ctr">
                        <a:defRPr sz="1000" b="0">
                          <a:solidFill>
                            <a:srgbClr val="000000"/>
                          </a:solidFill>
                          <a:latin typeface="Montserrat"/>
                        </a:defRPr>
                      </a:pPr>
                      <a:r>
                        <a:t>134</a:t>
                      </a:r>
                    </a:p>
                  </a:txBody>
                  <a:tcPr marL="73152" marR="73152" marT="0" marB="0" anchor="ctr">
                    <a:solidFill>
                      <a:srgbClr val="EFEFEF"/>
                    </a:solidFill>
                  </a:tcPr>
                </a:tc>
                <a:tc>
                  <a:txBody>
                    <a:bodyPr/>
                    <a:lstStyle/>
                    <a:p>
                      <a:pPr algn="ctr">
                        <a:defRPr sz="1000" b="1">
                          <a:solidFill>
                            <a:srgbClr val="006455"/>
                          </a:solidFill>
                          <a:latin typeface="Montserrat"/>
                        </a:defRPr>
                      </a:pPr>
                      <a:r>
                        <a:t>373</a:t>
                      </a:r>
                    </a:p>
                  </a:txBody>
                  <a:tcPr marL="73152" marR="73152" marT="0" marB="0" anchor="ctr">
                    <a:solidFill>
                      <a:srgbClr val="D3E9E7"/>
                    </a:solidFill>
                  </a:tcPr>
                </a:tc>
                <a:extLst>
                  <a:ext uri="{0D108BD9-81ED-4DB2-BD59-A6C34878D82A}">
                    <a16:rowId xmlns:a16="http://schemas.microsoft.com/office/drawing/2014/main" val="10002"/>
                  </a:ext>
                </a:extLst>
              </a:tr>
              <a:tr h="201168">
                <a:tc>
                  <a:txBody>
                    <a:bodyPr/>
                    <a:lstStyle/>
                    <a:p>
                      <a:pPr algn="l">
                        <a:defRPr sz="1100" b="0">
                          <a:solidFill>
                            <a:srgbClr val="000000"/>
                          </a:solidFill>
                          <a:latin typeface="Montserrat"/>
                        </a:defRPr>
                      </a:pPr>
                      <a:r>
                        <a:t>Paramédicos</a:t>
                      </a:r>
                    </a:p>
                  </a:txBody>
                  <a:tcPr marL="73152" marR="73152" marT="0" marB="0" anchor="ctr">
                    <a:solidFill>
                      <a:srgbClr val="FFFFFF"/>
                    </a:solidFill>
                  </a:tcPr>
                </a:tc>
                <a:tc>
                  <a:txBody>
                    <a:bodyPr/>
                    <a:lstStyle/>
                    <a:p>
                      <a:pPr algn="ctr">
                        <a:defRPr sz="1000" b="0">
                          <a:solidFill>
                            <a:srgbClr val="000000"/>
                          </a:solidFill>
                          <a:latin typeface="Montserrat"/>
                        </a:defRPr>
                      </a:pPr>
                      <a:r>
                        <a:t>40</a:t>
                      </a:r>
                    </a:p>
                  </a:txBody>
                  <a:tcPr marL="73152" marR="73152" marT="0" marB="0" anchor="ctr">
                    <a:solidFill>
                      <a:srgbClr val="FFFFFF"/>
                    </a:solidFill>
                  </a:tcPr>
                </a:tc>
                <a:tc>
                  <a:txBody>
                    <a:bodyPr/>
                    <a:lstStyle/>
                    <a:p>
                      <a:pPr algn="ctr">
                        <a:defRPr sz="1000" b="0">
                          <a:solidFill>
                            <a:srgbClr val="000000"/>
                          </a:solidFill>
                          <a:latin typeface="Montserrat"/>
                        </a:defRPr>
                      </a:pPr>
                      <a:r>
                        <a:t>1</a:t>
                      </a:r>
                    </a:p>
                  </a:txBody>
                  <a:tcPr marL="73152" marR="73152" marT="0" marB="0" anchor="ctr">
                    <a:solidFill>
                      <a:srgbClr val="FFFFFF"/>
                    </a:solidFill>
                  </a:tcPr>
                </a:tc>
                <a:tc>
                  <a:txBody>
                    <a:bodyPr/>
                    <a:lstStyle/>
                    <a:p>
                      <a:pPr algn="ctr">
                        <a:defRPr sz="1000" b="0">
                          <a:solidFill>
                            <a:srgbClr val="000000"/>
                          </a:solidFill>
                          <a:latin typeface="Montserrat"/>
                        </a:defRPr>
                      </a:pPr>
                      <a:r>
                        <a:t>3</a:t>
                      </a:r>
                    </a:p>
                  </a:txBody>
                  <a:tcPr marL="73152" marR="73152" marT="0" marB="0" anchor="ctr">
                    <a:solidFill>
                      <a:srgbClr val="FFFFFF"/>
                    </a:solidFill>
                  </a:tcPr>
                </a:tc>
                <a:tc>
                  <a:txBody>
                    <a:bodyPr/>
                    <a:lstStyle/>
                    <a:p>
                      <a:pPr algn="ctr">
                        <a:defRPr sz="1000" b="0">
                          <a:solidFill>
                            <a:srgbClr val="000000"/>
                          </a:solidFill>
                          <a:latin typeface="Montserrat"/>
                        </a:defRPr>
                      </a:pPr>
                      <a:r>
                        <a:t>18</a:t>
                      </a:r>
                    </a:p>
                  </a:txBody>
                  <a:tcPr marL="73152" marR="73152" marT="0" marB="0" anchor="ctr">
                    <a:solidFill>
                      <a:srgbClr val="FFFFFF"/>
                    </a:solidFill>
                  </a:tcPr>
                </a:tc>
                <a:tc>
                  <a:txBody>
                    <a:bodyPr/>
                    <a:lstStyle/>
                    <a:p>
                      <a:pPr algn="ctr">
                        <a:defRPr sz="1000" b="1">
                          <a:solidFill>
                            <a:srgbClr val="006455"/>
                          </a:solidFill>
                          <a:latin typeface="Montserrat"/>
                        </a:defRPr>
                      </a:pPr>
                      <a:r>
                        <a:t>62</a:t>
                      </a:r>
                    </a:p>
                  </a:txBody>
                  <a:tcPr marL="73152" marR="73152" marT="0" marB="0" anchor="ctr">
                    <a:solidFill>
                      <a:srgbClr val="D3E9E7"/>
                    </a:solidFill>
                  </a:tcPr>
                </a:tc>
                <a:extLst>
                  <a:ext uri="{0D108BD9-81ED-4DB2-BD59-A6C34878D82A}">
                    <a16:rowId xmlns:a16="http://schemas.microsoft.com/office/drawing/2014/main" val="10003"/>
                  </a:ext>
                </a:extLst>
              </a:tr>
              <a:tr h="201168">
                <a:tc>
                  <a:txBody>
                    <a:bodyPr/>
                    <a:lstStyle/>
                    <a:p>
                      <a:pPr algn="l">
                        <a:defRPr sz="1100" b="0">
                          <a:solidFill>
                            <a:srgbClr val="000000"/>
                          </a:solidFill>
                          <a:latin typeface="Montserrat"/>
                        </a:defRPr>
                      </a:pPr>
                      <a:r>
                        <a:t>Administrativas</a:t>
                      </a:r>
                    </a:p>
                  </a:txBody>
                  <a:tcPr marL="73152" marR="73152" marT="0" marB="0" anchor="ctr">
                    <a:solidFill>
                      <a:srgbClr val="EFEFEF"/>
                    </a:solidFill>
                  </a:tcPr>
                </a:tc>
                <a:tc>
                  <a:txBody>
                    <a:bodyPr/>
                    <a:lstStyle/>
                    <a:p>
                      <a:pPr algn="ctr">
                        <a:defRPr sz="1000" b="0">
                          <a:solidFill>
                            <a:srgbClr val="000000"/>
                          </a:solidFill>
                          <a:latin typeface="Montserrat"/>
                        </a:defRPr>
                      </a:pPr>
                      <a:r>
                        <a:t>25</a:t>
                      </a:r>
                    </a:p>
                  </a:txBody>
                  <a:tcPr marL="73152" marR="73152" marT="0" marB="0" anchor="ctr">
                    <a:solidFill>
                      <a:srgbClr val="EFEFEF"/>
                    </a:solidFill>
                  </a:tcPr>
                </a:tc>
                <a:tc>
                  <a:txBody>
                    <a:bodyPr/>
                    <a:lstStyle/>
                    <a:p>
                      <a:pPr algn="ctr">
                        <a:defRPr sz="1000" b="0">
                          <a:solidFill>
                            <a:srgbClr val="000000"/>
                          </a:solidFill>
                          <a:latin typeface="Montserrat"/>
                        </a:defRPr>
                      </a:pPr>
                      <a:r>
                        <a:t>15</a:t>
                      </a:r>
                    </a:p>
                  </a:txBody>
                  <a:tcPr marL="73152" marR="73152" marT="0" marB="0" anchor="ctr">
                    <a:solidFill>
                      <a:srgbClr val="EFEFEF"/>
                    </a:solidFill>
                  </a:tcPr>
                </a:tc>
                <a:tc>
                  <a:txBody>
                    <a:bodyPr/>
                    <a:lstStyle/>
                    <a:p>
                      <a:pPr algn="ctr">
                        <a:defRPr sz="1000" b="0">
                          <a:solidFill>
                            <a:srgbClr val="000000"/>
                          </a:solidFill>
                          <a:latin typeface="Montserrat"/>
                        </a:defRPr>
                      </a:pPr>
                      <a:r>
                        <a:t>16</a:t>
                      </a:r>
                    </a:p>
                  </a:txBody>
                  <a:tcPr marL="73152" marR="73152" marT="0" marB="0" anchor="ctr">
                    <a:solidFill>
                      <a:srgbClr val="EFEFEF"/>
                    </a:solidFill>
                  </a:tcPr>
                </a:tc>
                <a:tc>
                  <a:txBody>
                    <a:bodyPr/>
                    <a:lstStyle/>
                    <a:p>
                      <a:pPr algn="ctr">
                        <a:defRPr sz="1000" b="0">
                          <a:solidFill>
                            <a:srgbClr val="000000"/>
                          </a:solidFill>
                          <a:latin typeface="Montserrat"/>
                        </a:defRPr>
                      </a:pPr>
                      <a:r>
                        <a:t>6</a:t>
                      </a:r>
                    </a:p>
                  </a:txBody>
                  <a:tcPr marL="73152" marR="73152" marT="0" marB="0" anchor="ctr">
                    <a:solidFill>
                      <a:srgbClr val="EFEFEF"/>
                    </a:solidFill>
                  </a:tcPr>
                </a:tc>
                <a:tc>
                  <a:txBody>
                    <a:bodyPr/>
                    <a:lstStyle/>
                    <a:p>
                      <a:pPr algn="ctr">
                        <a:defRPr sz="1000" b="1">
                          <a:solidFill>
                            <a:srgbClr val="006455"/>
                          </a:solidFill>
                          <a:latin typeface="Montserrat"/>
                        </a:defRPr>
                      </a:pPr>
                      <a:r>
                        <a:t>62</a:t>
                      </a:r>
                    </a:p>
                  </a:txBody>
                  <a:tcPr marL="73152" marR="73152" marT="0" marB="0" anchor="ctr">
                    <a:solidFill>
                      <a:srgbClr val="D3E9E7"/>
                    </a:solidFill>
                  </a:tcPr>
                </a:tc>
                <a:extLst>
                  <a:ext uri="{0D108BD9-81ED-4DB2-BD59-A6C34878D82A}">
                    <a16:rowId xmlns:a16="http://schemas.microsoft.com/office/drawing/2014/main" val="10004"/>
                  </a:ext>
                </a:extLst>
              </a:tr>
              <a:tr h="201168">
                <a:tc>
                  <a:txBody>
                    <a:bodyPr/>
                    <a:lstStyle/>
                    <a:p>
                      <a:pPr algn="l">
                        <a:defRPr sz="1100" b="0">
                          <a:solidFill>
                            <a:srgbClr val="000000"/>
                          </a:solidFill>
                          <a:latin typeface="Montserrat"/>
                        </a:defRPr>
                      </a:pPr>
                      <a:r>
                        <a:t>Servicios Generales</a:t>
                      </a:r>
                    </a:p>
                  </a:txBody>
                  <a:tcPr marL="73152" marR="73152" marT="0" marB="0" anchor="ctr">
                    <a:solidFill>
                      <a:srgbClr val="FFFFFF"/>
                    </a:solidFill>
                  </a:tcPr>
                </a:tc>
                <a:tc>
                  <a:txBody>
                    <a:bodyPr/>
                    <a:lstStyle/>
                    <a:p>
                      <a:pPr algn="ctr">
                        <a:defRPr sz="1000" b="0">
                          <a:solidFill>
                            <a:srgbClr val="000000"/>
                          </a:solidFill>
                          <a:latin typeface="Montserrat"/>
                        </a:defRPr>
                      </a:pPr>
                      <a:r>
                        <a:t>89</a:t>
                      </a:r>
                    </a:p>
                  </a:txBody>
                  <a:tcPr marL="73152" marR="73152" marT="0" marB="0" anchor="ctr">
                    <a:solidFill>
                      <a:srgbClr val="FFFFFF"/>
                    </a:solidFill>
                  </a:tcPr>
                </a:tc>
                <a:tc>
                  <a:txBody>
                    <a:bodyPr/>
                    <a:lstStyle/>
                    <a:p>
                      <a:pPr algn="ctr">
                        <a:defRPr sz="1000" b="0">
                          <a:solidFill>
                            <a:srgbClr val="000000"/>
                          </a:solidFill>
                          <a:latin typeface="Montserrat"/>
                        </a:defRPr>
                      </a:pPr>
                      <a:r>
                        <a:t>7</a:t>
                      </a:r>
                    </a:p>
                  </a:txBody>
                  <a:tcPr marL="73152" marR="73152" marT="0" marB="0" anchor="ctr">
                    <a:solidFill>
                      <a:srgbClr val="FFFFFF"/>
                    </a:solidFill>
                  </a:tcPr>
                </a:tc>
                <a:tc>
                  <a:txBody>
                    <a:bodyPr/>
                    <a:lstStyle/>
                    <a:p>
                      <a:pPr algn="ctr">
                        <a:defRPr sz="1000" b="0">
                          <a:solidFill>
                            <a:srgbClr val="000000"/>
                          </a:solidFill>
                          <a:latin typeface="Montserrat"/>
                        </a:defRPr>
                      </a:pPr>
                      <a:r>
                        <a:t>5</a:t>
                      </a:r>
                    </a:p>
                  </a:txBody>
                  <a:tcPr marL="73152" marR="73152" marT="0" marB="0" anchor="ctr">
                    <a:solidFill>
                      <a:srgbClr val="FFFFFF"/>
                    </a:solidFill>
                  </a:tcPr>
                </a:tc>
                <a:tc>
                  <a:txBody>
                    <a:bodyPr/>
                    <a:lstStyle/>
                    <a:p>
                      <a:pPr algn="ctr">
                        <a:defRPr sz="1000" b="0">
                          <a:solidFill>
                            <a:srgbClr val="000000"/>
                          </a:solidFill>
                          <a:latin typeface="Montserrat"/>
                        </a:defRPr>
                      </a:pPr>
                      <a:r>
                        <a:t>58</a:t>
                      </a:r>
                    </a:p>
                  </a:txBody>
                  <a:tcPr marL="73152" marR="73152" marT="0" marB="0" anchor="ctr">
                    <a:solidFill>
                      <a:srgbClr val="FFFFFF"/>
                    </a:solidFill>
                  </a:tcPr>
                </a:tc>
                <a:tc>
                  <a:txBody>
                    <a:bodyPr/>
                    <a:lstStyle/>
                    <a:p>
                      <a:pPr algn="ctr">
                        <a:defRPr sz="1000" b="1">
                          <a:solidFill>
                            <a:srgbClr val="006455"/>
                          </a:solidFill>
                          <a:latin typeface="Montserrat"/>
                        </a:defRPr>
                      </a:pPr>
                      <a:r>
                        <a:t>159</a:t>
                      </a:r>
                    </a:p>
                  </a:txBody>
                  <a:tcPr marL="73152" marR="73152" marT="0" marB="0" anchor="ctr">
                    <a:solidFill>
                      <a:srgbClr val="D3E9E7"/>
                    </a:solidFill>
                  </a:tcPr>
                </a:tc>
                <a:extLst>
                  <a:ext uri="{0D108BD9-81ED-4DB2-BD59-A6C34878D82A}">
                    <a16:rowId xmlns:a16="http://schemas.microsoft.com/office/drawing/2014/main" val="10005"/>
                  </a:ext>
                </a:extLst>
              </a:tr>
              <a:tr h="201168">
                <a:tc>
                  <a:txBody>
                    <a:bodyPr/>
                    <a:lstStyle/>
                    <a:p>
                      <a:pPr algn="l">
                        <a:defRPr sz="1100" b="0">
                          <a:solidFill>
                            <a:srgbClr val="000000"/>
                          </a:solidFill>
                          <a:latin typeface="Montserrat"/>
                        </a:defRPr>
                      </a:pPr>
                      <a:r>
                        <a:t>Acción Comunitaria</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0">
                          <a:solidFill>
                            <a:srgbClr val="000000"/>
                          </a:solidFill>
                          <a:latin typeface="Montserrat"/>
                        </a:defRPr>
                      </a:pPr>
                      <a:r>
                        <a:t>3</a:t>
                      </a:r>
                    </a:p>
                  </a:txBody>
                  <a:tcPr marL="73152" marR="73152" marT="0" marB="0" anchor="ctr">
                    <a:solidFill>
                      <a:srgbClr val="EFEFEF"/>
                    </a:solidFill>
                  </a:tcPr>
                </a:tc>
                <a:tc>
                  <a:txBody>
                    <a:bodyPr/>
                    <a:lstStyle/>
                    <a:p>
                      <a:pPr algn="ctr">
                        <a:defRPr sz="1000" b="0">
                          <a:solidFill>
                            <a:srgbClr val="000000"/>
                          </a:solidFill>
                          <a:latin typeface="Montserrat"/>
                        </a:defRPr>
                      </a:pPr>
                      <a:r>
                        <a:t>9</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1">
                          <a:solidFill>
                            <a:srgbClr val="006455"/>
                          </a:solidFill>
                          <a:latin typeface="Montserrat"/>
                        </a:defRPr>
                      </a:pPr>
                      <a:r>
                        <a:t>12</a:t>
                      </a:r>
                    </a:p>
                  </a:txBody>
                  <a:tcPr marL="73152" marR="73152" marT="0" marB="0" anchor="ctr">
                    <a:solidFill>
                      <a:srgbClr val="D3E9E7"/>
                    </a:solidFill>
                  </a:tcPr>
                </a:tc>
                <a:extLst>
                  <a:ext uri="{0D108BD9-81ED-4DB2-BD59-A6C34878D82A}">
                    <a16:rowId xmlns:a16="http://schemas.microsoft.com/office/drawing/2014/main" val="10006"/>
                  </a:ext>
                </a:extLst>
              </a:tr>
              <a:tr h="201168">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452</a:t>
                      </a:r>
                    </a:p>
                  </a:txBody>
                  <a:tcPr marL="73152" marR="73152" marT="0" marB="0" anchor="ctr">
                    <a:solidFill>
                      <a:srgbClr val="D3E9E7"/>
                    </a:solidFill>
                  </a:tcPr>
                </a:tc>
                <a:tc>
                  <a:txBody>
                    <a:bodyPr/>
                    <a:lstStyle/>
                    <a:p>
                      <a:pPr algn="ctr">
                        <a:defRPr sz="1000" b="1">
                          <a:solidFill>
                            <a:srgbClr val="006455"/>
                          </a:solidFill>
                          <a:latin typeface="Montserrat"/>
                        </a:defRPr>
                      </a:pPr>
                      <a:r>
                        <a:t>46</a:t>
                      </a:r>
                    </a:p>
                  </a:txBody>
                  <a:tcPr marL="73152" marR="73152" marT="0" marB="0" anchor="ctr">
                    <a:solidFill>
                      <a:srgbClr val="D3E9E7"/>
                    </a:solidFill>
                  </a:tcPr>
                </a:tc>
                <a:tc>
                  <a:txBody>
                    <a:bodyPr/>
                    <a:lstStyle/>
                    <a:p>
                      <a:pPr algn="ctr">
                        <a:defRPr sz="1000" b="1">
                          <a:solidFill>
                            <a:srgbClr val="006455"/>
                          </a:solidFill>
                          <a:latin typeface="Montserrat"/>
                        </a:defRPr>
                      </a:pPr>
                      <a:r>
                        <a:t>39</a:t>
                      </a:r>
                    </a:p>
                  </a:txBody>
                  <a:tcPr marL="73152" marR="73152" marT="0" marB="0" anchor="ctr">
                    <a:solidFill>
                      <a:srgbClr val="D3E9E7"/>
                    </a:solidFill>
                  </a:tcPr>
                </a:tc>
                <a:tc>
                  <a:txBody>
                    <a:bodyPr/>
                    <a:lstStyle/>
                    <a:p>
                      <a:pPr algn="ctr">
                        <a:defRPr sz="1000" b="1">
                          <a:solidFill>
                            <a:srgbClr val="006455"/>
                          </a:solidFill>
                          <a:latin typeface="Montserrat"/>
                        </a:defRPr>
                      </a:pPr>
                      <a:r>
                        <a:t>289</a:t>
                      </a:r>
                    </a:p>
                  </a:txBody>
                  <a:tcPr marL="73152" marR="73152" marT="0" marB="0" anchor="ctr">
                    <a:solidFill>
                      <a:srgbClr val="D3E9E7"/>
                    </a:solidFill>
                  </a:tcPr>
                </a:tc>
                <a:tc>
                  <a:txBody>
                    <a:bodyPr/>
                    <a:lstStyle/>
                    <a:p>
                      <a:pPr algn="ctr">
                        <a:defRPr sz="1000" b="1">
                          <a:solidFill>
                            <a:srgbClr val="006455"/>
                          </a:solidFill>
                          <a:latin typeface="Montserrat"/>
                        </a:defRPr>
                      </a:pPr>
                      <a:r>
                        <a:t>826</a:t>
                      </a:r>
                    </a:p>
                  </a:txBody>
                  <a:tcPr marL="73152" marR="73152" marT="0" marB="0"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536" name="Table 535"/>
          <p:cNvGraphicFramePr>
            <a:graphicFrameLocks noGrp="1"/>
          </p:cNvGraphicFramePr>
          <p:nvPr>
            <p:extLst>
              <p:ext uri="{D42A27DB-BD31-4B8C-83A1-F6EECF244321}">
                <p14:modId xmlns:p14="http://schemas.microsoft.com/office/powerpoint/2010/main" val="4040407173"/>
              </p:ext>
            </p:extLst>
          </p:nvPr>
        </p:nvGraphicFramePr>
        <p:xfrm>
          <a:off x="310896" y="8346418"/>
          <a:ext cx="7004303" cy="714756"/>
        </p:xfrm>
        <a:graphic>
          <a:graphicData uri="http://schemas.openxmlformats.org/drawingml/2006/table">
            <a:tbl>
              <a:tblPr firstRow="1" bandRow="1">
                <a:tableStyleId>{5C22544A-7EE6-4342-B048-85BDC9FD1C3A}</a:tableStyleId>
              </a:tblPr>
              <a:tblGrid>
                <a:gridCol w="996696">
                  <a:extLst>
                    <a:ext uri="{9D8B030D-6E8A-4147-A177-3AD203B41FA5}">
                      <a16:colId xmlns:a16="http://schemas.microsoft.com/office/drawing/2014/main" val="20000"/>
                    </a:ext>
                  </a:extLst>
                </a:gridCol>
                <a:gridCol w="996696">
                  <a:extLst>
                    <a:ext uri="{9D8B030D-6E8A-4147-A177-3AD203B41FA5}">
                      <a16:colId xmlns:a16="http://schemas.microsoft.com/office/drawing/2014/main" val="20001"/>
                    </a:ext>
                  </a:extLst>
                </a:gridCol>
                <a:gridCol w="8321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gridCol w="1042415">
                  <a:extLst>
                    <a:ext uri="{9D8B030D-6E8A-4147-A177-3AD203B41FA5}">
                      <a16:colId xmlns:a16="http://schemas.microsoft.com/office/drawing/2014/main" val="20005"/>
                    </a:ext>
                  </a:extLst>
                </a:gridCol>
                <a:gridCol w="1106424">
                  <a:extLst>
                    <a:ext uri="{9D8B030D-6E8A-4147-A177-3AD203B41FA5}">
                      <a16:colId xmlns:a16="http://schemas.microsoft.com/office/drawing/2014/main" val="20006"/>
                    </a:ext>
                  </a:extLst>
                </a:gridCol>
              </a:tblGrid>
              <a:tr h="306324">
                <a:tc>
                  <a:txBody>
                    <a:bodyPr/>
                    <a:lstStyle/>
                    <a:p>
                      <a:pPr algn="ctr">
                        <a:defRPr sz="1100" b="1">
                          <a:solidFill>
                            <a:srgbClr val="FFFFFF"/>
                          </a:solidFill>
                          <a:latin typeface="Montserrat"/>
                        </a:defRPr>
                      </a:pPr>
                      <a:r>
                        <a:t>OOAD</a:t>
                      </a:r>
                    </a:p>
                  </a:txBody>
                  <a:tcPr marL="36576" marR="36576" marT="36576" marB="36576">
                    <a:solidFill>
                      <a:srgbClr val="006455"/>
                    </a:solidFill>
                  </a:tcPr>
                </a:tc>
                <a:tc>
                  <a:txBody>
                    <a:bodyPr/>
                    <a:lstStyle/>
                    <a:p>
                      <a:pPr algn="ctr">
                        <a:defRPr sz="1100" b="1">
                          <a:solidFill>
                            <a:srgbClr val="FFFFFF"/>
                          </a:solidFill>
                          <a:latin typeface="Montserrat"/>
                        </a:defRPr>
                      </a:pPr>
                      <a:r>
                        <a:t>Voluntarios Rurales</a:t>
                      </a:r>
                    </a:p>
                  </a:txBody>
                  <a:tcPr marL="36576" marR="36576" marT="36576" marB="36576">
                    <a:solidFill>
                      <a:srgbClr val="006455"/>
                    </a:solidFill>
                  </a:tcPr>
                </a:tc>
                <a:tc>
                  <a:txBody>
                    <a:bodyPr/>
                    <a:lstStyle/>
                    <a:p>
                      <a:pPr algn="ctr">
                        <a:defRPr sz="1100" b="1">
                          <a:solidFill>
                            <a:srgbClr val="FFFFFF"/>
                          </a:solidFill>
                          <a:latin typeface="Montserrat"/>
                        </a:defRPr>
                      </a:pPr>
                      <a:r>
                        <a:t>Comités de Salud</a:t>
                      </a:r>
                    </a:p>
                  </a:txBody>
                  <a:tcPr marL="36576" marR="36576" marT="36576" marB="36576">
                    <a:solidFill>
                      <a:srgbClr val="006455"/>
                    </a:solidFill>
                  </a:tcPr>
                </a:tc>
                <a:tc>
                  <a:txBody>
                    <a:bodyPr/>
                    <a:lstStyle/>
                    <a:p>
                      <a:pPr algn="ctr">
                        <a:defRPr sz="1100" b="1">
                          <a:solidFill>
                            <a:srgbClr val="FFFFFF"/>
                          </a:solidFill>
                          <a:latin typeface="Montserrat"/>
                        </a:defRPr>
                      </a:pPr>
                      <a:r>
                        <a:t>Integrantes de Comités</a:t>
                      </a:r>
                    </a:p>
                  </a:txBody>
                  <a:tcPr marL="36576" marR="36576" marT="36576" marB="36576">
                    <a:solidFill>
                      <a:srgbClr val="006455"/>
                    </a:solidFill>
                  </a:tcPr>
                </a:tc>
                <a:tc>
                  <a:txBody>
                    <a:bodyPr/>
                    <a:lstStyle/>
                    <a:p>
                      <a:pPr algn="ctr">
                        <a:defRPr sz="1100" b="1">
                          <a:solidFill>
                            <a:srgbClr val="FFFFFF"/>
                          </a:solidFill>
                          <a:latin typeface="Montserrat"/>
                        </a:defRPr>
                      </a:pPr>
                      <a:r>
                        <a:t>Voluntarios</a:t>
                      </a:r>
                    </a:p>
                  </a:txBody>
                  <a:tcPr marL="36576" marR="36576" marT="36576" marB="36576">
                    <a:solidFill>
                      <a:srgbClr val="006455"/>
                    </a:solidFill>
                  </a:tcPr>
                </a:tc>
                <a:tc>
                  <a:txBody>
                    <a:bodyPr/>
                    <a:lstStyle/>
                    <a:p>
                      <a:pPr algn="ctr">
                        <a:defRPr sz="1100" b="1">
                          <a:solidFill>
                            <a:srgbClr val="FFFFFF"/>
                          </a:solidFill>
                          <a:latin typeface="Montserrat"/>
                        </a:defRPr>
                      </a:pPr>
                      <a:r>
                        <a:t>Parteras Voluntarias</a:t>
                      </a:r>
                    </a:p>
                  </a:txBody>
                  <a:tcPr marL="36576" marR="36576" marT="36576" marB="36576">
                    <a:solidFill>
                      <a:srgbClr val="006455"/>
                    </a:solidFill>
                  </a:tcPr>
                </a:tc>
                <a:tc>
                  <a:txBody>
                    <a:bodyPr/>
                    <a:lstStyle/>
                    <a:p>
                      <a:pPr algn="ctr">
                        <a:defRPr sz="1100" b="1">
                          <a:solidFill>
                            <a:srgbClr val="FFFFFF"/>
                          </a:solidFill>
                          <a:latin typeface="Montserrat"/>
                        </a:defRPr>
                      </a:pPr>
                      <a:r>
                        <a:t>Médicos Tradicionales</a:t>
                      </a:r>
                    </a:p>
                  </a:txBody>
                  <a:tcPr marL="36576" marR="36576" marT="36576" marB="36576">
                    <a:solidFill>
                      <a:srgbClr val="006455"/>
                    </a:solidFill>
                  </a:tcPr>
                </a:tc>
                <a:extLst>
                  <a:ext uri="{0D108BD9-81ED-4DB2-BD59-A6C34878D82A}">
                    <a16:rowId xmlns:a16="http://schemas.microsoft.com/office/drawing/2014/main" val="10000"/>
                  </a:ext>
                </a:extLst>
              </a:tr>
              <a:tr h="306324">
                <a:tc>
                  <a:txBody>
                    <a:bodyPr/>
                    <a:lstStyle/>
                    <a:p>
                      <a:pPr algn="l">
                        <a:defRPr sz="1000" b="1">
                          <a:solidFill>
                            <a:srgbClr val="006455"/>
                          </a:solidFill>
                          <a:latin typeface="Montserrat"/>
                        </a:defRPr>
                      </a:pPr>
                      <a:r>
                        <a:t>Total Programa</a:t>
                      </a:r>
                    </a:p>
                  </a:txBody>
                  <a:tcPr marL="73152" marR="73152" marT="0" marB="0" anchor="ctr">
                    <a:solidFill>
                      <a:srgbClr val="D3E9E7"/>
                    </a:solidFill>
                  </a:tcPr>
                </a:tc>
                <a:tc>
                  <a:txBody>
                    <a:bodyPr/>
                    <a:lstStyle/>
                    <a:p>
                      <a:pPr algn="ctr">
                        <a:defRPr sz="1000" b="1">
                          <a:solidFill>
                            <a:srgbClr val="006455"/>
                          </a:solidFill>
                          <a:latin typeface="Montserrat"/>
                        </a:defRPr>
                      </a:pPr>
                      <a:r>
                        <a:t>423</a:t>
                      </a:r>
                    </a:p>
                  </a:txBody>
                  <a:tcPr marL="73152" marR="73152" marT="0" marB="0" anchor="ctr">
                    <a:solidFill>
                      <a:srgbClr val="D3E9E7"/>
                    </a:solidFill>
                  </a:tcPr>
                </a:tc>
                <a:tc>
                  <a:txBody>
                    <a:bodyPr/>
                    <a:lstStyle/>
                    <a:p>
                      <a:pPr algn="ctr">
                        <a:defRPr sz="1000" b="1">
                          <a:solidFill>
                            <a:srgbClr val="006455"/>
                          </a:solidFill>
                          <a:latin typeface="Montserrat"/>
                        </a:defRPr>
                      </a:pPr>
                      <a:r>
                        <a:t>541</a:t>
                      </a:r>
                    </a:p>
                  </a:txBody>
                  <a:tcPr marL="73152" marR="73152" marT="0" marB="0" anchor="ctr">
                    <a:solidFill>
                      <a:srgbClr val="D3E9E7"/>
                    </a:solidFill>
                  </a:tcPr>
                </a:tc>
                <a:tc>
                  <a:txBody>
                    <a:bodyPr/>
                    <a:lstStyle/>
                    <a:p>
                      <a:pPr algn="ctr">
                        <a:defRPr sz="1000" b="1">
                          <a:solidFill>
                            <a:srgbClr val="006455"/>
                          </a:solidFill>
                          <a:latin typeface="Montserrat"/>
                        </a:defRPr>
                      </a:pPr>
                      <a:r>
                        <a:t>3,327</a:t>
                      </a:r>
                    </a:p>
                  </a:txBody>
                  <a:tcPr marL="73152" marR="73152" marT="0" marB="0" anchor="ctr">
                    <a:solidFill>
                      <a:srgbClr val="D3E9E7"/>
                    </a:solidFill>
                  </a:tcPr>
                </a:tc>
                <a:tc>
                  <a:txBody>
                    <a:bodyPr/>
                    <a:lstStyle/>
                    <a:p>
                      <a:pPr algn="ctr">
                        <a:defRPr sz="1000" b="1">
                          <a:solidFill>
                            <a:srgbClr val="006455"/>
                          </a:solidFill>
                          <a:latin typeface="Montserrat"/>
                        </a:defRPr>
                      </a:pPr>
                      <a:r>
                        <a:t>1,917</a:t>
                      </a:r>
                    </a:p>
                  </a:txBody>
                  <a:tcPr marL="73152" marR="73152" marT="0" marB="0" anchor="ctr">
                    <a:solidFill>
                      <a:srgbClr val="D3E9E7"/>
                    </a:solidFill>
                  </a:tcPr>
                </a:tc>
                <a:tc>
                  <a:txBody>
                    <a:bodyPr/>
                    <a:lstStyle/>
                    <a:p>
                      <a:pPr algn="ctr">
                        <a:defRPr sz="1000" b="1">
                          <a:solidFill>
                            <a:srgbClr val="006455"/>
                          </a:solidFill>
                          <a:latin typeface="Montserrat"/>
                        </a:defRPr>
                      </a:pPr>
                      <a:r>
                        <a:t>22</a:t>
                      </a:r>
                    </a:p>
                  </a:txBody>
                  <a:tcPr marL="73152" marR="73152" marT="0" marB="0" anchor="ctr">
                    <a:solidFill>
                      <a:srgbClr val="D3E9E7"/>
                    </a:solidFill>
                  </a:tcPr>
                </a:tc>
                <a:tc>
                  <a:txBody>
                    <a:bodyPr/>
                    <a:lstStyle/>
                    <a:p>
                      <a:pPr algn="ctr">
                        <a:defRPr sz="1000" b="1">
                          <a:solidFill>
                            <a:srgbClr val="006455"/>
                          </a:solidFill>
                          <a:latin typeface="Montserrat"/>
                        </a:defRPr>
                      </a:pPr>
                      <a:r>
                        <a:t>22</a:t>
                      </a:r>
                    </a:p>
                  </a:txBody>
                  <a:tcPr marL="73152" marR="73152" marT="0" marB="0" anchor="ctr">
                    <a:solidFill>
                      <a:srgbClr val="D3E9E7"/>
                    </a:solidFill>
                  </a:tcPr>
                </a:tc>
                <a:extLst>
                  <a:ext uri="{0D108BD9-81ED-4DB2-BD59-A6C34878D82A}">
                    <a16:rowId xmlns:a16="http://schemas.microsoft.com/office/drawing/2014/main" val="10001"/>
                  </a:ext>
                </a:extLst>
              </a:tr>
            </a:tbl>
          </a:graphicData>
        </a:graphic>
      </p:graphicFrame>
      <p:sp>
        <p:nvSpPr>
          <p:cNvPr id="537" name="Rounded Rectangle 536"/>
          <p:cNvSpPr/>
          <p:nvPr/>
        </p:nvSpPr>
        <p:spPr>
          <a:xfrm rot="16200000">
            <a:off x="5536434"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8" name="Connector 537"/>
          <p:cNvCxnSpPr/>
          <p:nvPr/>
        </p:nvCxnSpPr>
        <p:spPr>
          <a:xfrm>
            <a:off x="6101634"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366434" y="1429200"/>
            <a:ext cx="1645200" cy="500399"/>
          </a:xfrm>
          <a:prstGeom prst="rect">
            <a:avLst/>
          </a:prstGeom>
          <a:noFill/>
        </p:spPr>
        <p:txBody>
          <a:bodyPr wrap="none">
            <a:spAutoFit/>
          </a:bodyPr>
          <a:lstStyle/>
          <a:p>
            <a:pPr algn="ctr">
              <a:defRPr sz="2000" b="1">
                <a:solidFill>
                  <a:srgbClr val="A08250"/>
                </a:solidFill>
                <a:latin typeface="Montserrat"/>
              </a:defRPr>
            </a:pPr>
            <a:r>
              <a:t>244,977</a:t>
            </a:r>
          </a:p>
          <a:p>
            <a:pPr algn="ctr">
              <a:defRPr sz="1000">
                <a:solidFill>
                  <a:srgbClr val="A08250"/>
                </a:solidFill>
                <a:latin typeface="Montserrat"/>
              </a:defRPr>
            </a:pPr>
            <a:r>
              <a:t>Población beneficiaria</a:t>
            </a:r>
          </a:p>
        </p:txBody>
      </p:sp>
      <p:sp>
        <p:nvSpPr>
          <p:cNvPr id="540" name="TextBox 539"/>
          <p:cNvSpPr txBox="1"/>
          <p:nvPr/>
        </p:nvSpPr>
        <p:spPr>
          <a:xfrm>
            <a:off x="6281634" y="1195200"/>
            <a:ext cx="1137600" cy="500399"/>
          </a:xfrm>
          <a:prstGeom prst="rect">
            <a:avLst/>
          </a:prstGeom>
          <a:noFill/>
        </p:spPr>
        <p:txBody>
          <a:bodyPr wrap="none">
            <a:spAutoFit/>
          </a:bodyPr>
          <a:lstStyle/>
          <a:p>
            <a:pPr algn="ctr">
              <a:defRPr sz="1500" b="1">
                <a:solidFill>
                  <a:srgbClr val="A08250"/>
                </a:solidFill>
                <a:latin typeface="Montserrat"/>
              </a:defRPr>
            </a:pPr>
            <a:r>
              <a:t>102,055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sz="1500" b="1">
                <a:solidFill>
                  <a:srgbClr val="A08250"/>
                </a:solidFill>
                <a:latin typeface="Montserrat"/>
              </a:defRPr>
            </a:pPr>
            <a:r>
              <a:t>142,922</a:t>
            </a:r>
          </a:p>
          <a:p>
            <a:pPr algn="ctr">
              <a:defRPr sz="1000">
                <a:solidFill>
                  <a:srgbClr val="A08250"/>
                </a:solidFill>
                <a:latin typeface="Montserrat"/>
              </a:defRPr>
            </a:pPr>
            <a:r>
              <a:t>Población abierta</a:t>
            </a:r>
          </a:p>
        </p:txBody>
      </p:sp>
      <p:sp>
        <p:nvSpPr>
          <p:cNvPr id="542" name="Rounded Rectangle 541"/>
          <p:cNvSpPr/>
          <p:nvPr/>
        </p:nvSpPr>
        <p:spPr>
          <a:xfrm rot="16200000">
            <a:off x="5540034"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3" name="Connector 542"/>
          <p:cNvCxnSpPr/>
          <p:nvPr/>
        </p:nvCxnSpPr>
        <p:spPr>
          <a:xfrm>
            <a:off x="6101634"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560834" y="2289600"/>
            <a:ext cx="1198800" cy="432000"/>
          </a:xfrm>
          <a:prstGeom prst="rect">
            <a:avLst/>
          </a:prstGeom>
          <a:noFill/>
        </p:spPr>
        <p:txBody>
          <a:bodyPr wrap="none">
            <a:spAutoFit/>
          </a:bodyPr>
          <a:lstStyle/>
          <a:p>
            <a:pPr algn="ctr">
              <a:defRPr sz="2000" b="1">
                <a:solidFill>
                  <a:srgbClr val="A08250"/>
                </a:solidFill>
                <a:latin typeface="Montserrat"/>
              </a:defRPr>
            </a:pPr>
            <a:r>
              <a:t>28</a:t>
            </a:r>
          </a:p>
        </p:txBody>
      </p:sp>
      <p:sp>
        <p:nvSpPr>
          <p:cNvPr id="545" name="TextBox 544"/>
          <p:cNvSpPr txBox="1"/>
          <p:nvPr/>
        </p:nvSpPr>
        <p:spPr>
          <a:xfrm>
            <a:off x="6389634"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552817" y="3682282"/>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TextBox 546"/>
          <p:cNvSpPr txBox="1"/>
          <p:nvPr/>
        </p:nvSpPr>
        <p:spPr>
          <a:xfrm>
            <a:off x="5552817" y="3682282"/>
            <a:ext cx="2163600" cy="684000"/>
          </a:xfrm>
          <a:prstGeom prst="rect">
            <a:avLst/>
          </a:prstGeom>
          <a:noFill/>
        </p:spPr>
        <p:txBody>
          <a:bodyPr wrap="none">
            <a:spAutoFit/>
          </a:bodyPr>
          <a:lstStyle/>
          <a:p>
            <a:pPr algn="ctr">
              <a:defRPr sz="2600" b="1">
                <a:solidFill>
                  <a:srgbClr val="FFFFFF"/>
                </a:solidFill>
                <a:latin typeface="Montserrat"/>
              </a:defRPr>
            </a:pPr>
            <a:r>
              <a:t>255,125</a:t>
            </a:r>
          </a:p>
          <a:p>
            <a:pPr algn="ctr">
              <a:defRPr sz="1600">
                <a:solidFill>
                  <a:srgbClr val="CFC48C"/>
                </a:solidFill>
                <a:latin typeface="Montserrat"/>
              </a:defRPr>
            </a:pPr>
            <a:r>
              <a:t>consultas anuales</a:t>
            </a:r>
          </a:p>
        </p:txBody>
      </p:sp>
      <p:sp>
        <p:nvSpPr>
          <p:cNvPr id="548" name="Rounded Rectangle 547"/>
          <p:cNvSpPr/>
          <p:nvPr/>
        </p:nvSpPr>
        <p:spPr>
          <a:xfrm>
            <a:off x="5552817" y="4603882"/>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TextBox 548"/>
          <p:cNvSpPr txBox="1"/>
          <p:nvPr/>
        </p:nvSpPr>
        <p:spPr>
          <a:xfrm>
            <a:off x="5552817" y="4603882"/>
            <a:ext cx="2163600" cy="684000"/>
          </a:xfrm>
          <a:prstGeom prst="rect">
            <a:avLst/>
          </a:prstGeom>
          <a:noFill/>
        </p:spPr>
        <p:txBody>
          <a:bodyPr wrap="none">
            <a:spAutoFit/>
          </a:bodyPr>
          <a:lstStyle/>
          <a:p>
            <a:pPr algn="ctr">
              <a:defRPr sz="2600" b="1">
                <a:solidFill>
                  <a:srgbClr val="FFFFFF"/>
                </a:solidFill>
                <a:latin typeface="Montserrat"/>
              </a:defRPr>
            </a:pPr>
            <a:r>
              <a:t>1,601</a:t>
            </a:r>
          </a:p>
          <a:p>
            <a:pPr algn="ctr">
              <a:defRPr sz="1600">
                <a:solidFill>
                  <a:srgbClr val="CFC48C"/>
                </a:solidFill>
                <a:latin typeface="Montserrat"/>
              </a:defRPr>
            </a:pPr>
            <a:r>
              <a:t>cirugías anuales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0</TotalTime>
  <Words>5332</Words>
  <Application>Microsoft Office PowerPoint</Application>
  <PresentationFormat>Personalizado</PresentationFormat>
  <Paragraphs>2030</Paragraphs>
  <Slides>28</Slides>
  <Notes>22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28</vt:i4>
      </vt:variant>
    </vt:vector>
  </HeadingPairs>
  <TitlesOfParts>
    <vt:vector size="34" baseType="lpstr">
      <vt:lpstr>Arial</vt:lpstr>
      <vt:lpstr>Noto Sans</vt:lpstr>
      <vt:lpstr>Calibri</vt:lpstr>
      <vt:lpstr>Montserrat</vt:lpstr>
      <vt:lpstr>Noto Sans Black</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Laura Patricia Galvan Chavez</cp:lastModifiedBy>
  <cp:revision>1</cp:revision>
  <dcterms:modified xsi:type="dcterms:W3CDTF">2026-07-03T19:39:26Z</dcterms:modified>
</cp:coreProperties>
</file>