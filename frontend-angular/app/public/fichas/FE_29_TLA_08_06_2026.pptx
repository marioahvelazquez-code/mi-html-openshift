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261" r:id="rId7"/>
    <p:sldId id="287" r:id="rId8"/>
    <p:sldId id="262" r:id="rId9"/>
    <p:sldId id="263" r:id="rId10"/>
    <p:sldId id="280" r:id="rId11"/>
    <p:sldId id="267" r:id="rId12"/>
    <p:sldId id="298" r:id="rId13"/>
    <p:sldId id="300" r:id="rId45"/>
    <p:sldId id="281" r:id="rId14"/>
    <p:sldId id="288" r:id="rId15"/>
    <p:sldId id="270" r:id="rId16"/>
    <p:sldId id="271" r:id="rId17"/>
    <p:sldId id="272" r:id="rId18"/>
    <p:sldId id="299" r:id="rId19"/>
    <p:sldId id="297" r:id="rId20"/>
    <p:sldId id="284" r:id="rId21"/>
    <p:sldId id="290" r:id="rId22"/>
    <p:sldId id="277" r:id="rId23"/>
    <p:sldId id="278" r:id="rId24"/>
    <p:sldId id="279" r:id="rId25"/>
  </p:sldIdLst>
  <p:sldSz cx="7772400" cy="10058400"/>
  <p:notesSz cx="6858000" cy="9144000"/>
  <p:embeddedFontLst>
    <p:embeddedFont>
      <p:font typeface="Montserrat" pitchFamily="2" charset="77"/>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502040504020204" pitchFamily="3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22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7AEB56-DA55-434E-B6B8-EEB00114EFD3}" v="4" dt="2026-05-20T18:04:00.884"/>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7"/>
    <p:restoredTop sz="94704"/>
  </p:normalViewPr>
  <p:slideViewPr>
    <p:cSldViewPr snapToGrid="0">
      <p:cViewPr varScale="1">
        <p:scale>
          <a:sx n="78" d="100"/>
          <a:sy n="78" d="100"/>
        </p:scale>
        <p:origin x="3024" y="192"/>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45" Type="http://schemas.openxmlformats.org/officeDocument/2006/relationships/slide" Target="slides/slide25.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undo custSel addSld modSld">
      <pc:chgData name="Carlos Esponda Rosales" userId="08a2b2cc-6d12-4dea-90fe-c484bece8186" providerId="ADAL" clId="{6846A1DD-3EC1-5A12-B3C5-9C410579EE4F}" dt="2026-05-20T18:04:27.807" v="80" actId="12789"/>
      <pc:docMkLst>
        <pc:docMk/>
      </pc:docMkLst>
      <pc:sldChg chg="addSp delSp modSp mod">
        <pc:chgData name="Carlos Esponda Rosales" userId="08a2b2cc-6d12-4dea-90fe-c484bece8186" providerId="ADAL" clId="{6846A1DD-3EC1-5A12-B3C5-9C410579EE4F}" dt="2026-05-20T18:04:27.807" v="80" actId="12789"/>
        <pc:sldMkLst>
          <pc:docMk/>
          <pc:sldMk cId="364733940" sldId="284"/>
        </pc:sldMkLst>
        <pc:spChg chg="add del mod">
          <ac:chgData name="Carlos Esponda Rosales" userId="08a2b2cc-6d12-4dea-90fe-c484bece8186" providerId="ADAL" clId="{6846A1DD-3EC1-5A12-B3C5-9C410579EE4F}" dt="2026-05-20T18:00:13.269" v="6" actId="478"/>
          <ac:spMkLst>
            <pc:docMk/>
            <pc:sldMk cId="364733940" sldId="284"/>
            <ac:spMk id="3" creationId="{94B40406-F6FC-320C-E3E1-46E76D6667E7}"/>
          </ac:spMkLst>
        </pc:spChg>
        <pc:spChg chg="add mod">
          <ac:chgData name="Carlos Esponda Rosales" userId="08a2b2cc-6d12-4dea-90fe-c484bece8186" providerId="ADAL" clId="{6846A1DD-3EC1-5A12-B3C5-9C410579EE4F}" dt="2026-05-20T18:04:27.807" v="80" actId="12789"/>
          <ac:spMkLst>
            <pc:docMk/>
            <pc:sldMk cId="364733940" sldId="284"/>
            <ac:spMk id="4" creationId="{DCFFC811-637E-D768-4117-BFFFD79FFB2F}"/>
          </ac:spMkLst>
        </pc:spChg>
        <pc:spChg chg="add mod">
          <ac:chgData name="Carlos Esponda Rosales" userId="08a2b2cc-6d12-4dea-90fe-c484bece8186" providerId="ADAL" clId="{6846A1DD-3EC1-5A12-B3C5-9C410579EE4F}" dt="2026-05-20T18:04:27.807" v="80" actId="12789"/>
          <ac:spMkLst>
            <pc:docMk/>
            <pc:sldMk cId="364733940" sldId="284"/>
            <ac:spMk id="6" creationId="{78793306-831D-7776-DB4E-229E8976EE8D}"/>
          </ac:spMkLst>
        </pc:spChg>
        <pc:spChg chg="add del mod">
          <ac:chgData name="Carlos Esponda Rosales" userId="08a2b2cc-6d12-4dea-90fe-c484bece8186" providerId="ADAL" clId="{6846A1DD-3EC1-5A12-B3C5-9C410579EE4F}" dt="2026-05-20T18:03:45.586" v="73" actId="478"/>
          <ac:spMkLst>
            <pc:docMk/>
            <pc:sldMk cId="364733940" sldId="284"/>
            <ac:spMk id="8" creationId="{BB1D2491-3A49-2D8B-55C1-5A37E0CFD412}"/>
          </ac:spMkLst>
        </pc:spChg>
        <pc:grpChg chg="add mod">
          <ac:chgData name="Carlos Esponda Rosales" userId="08a2b2cc-6d12-4dea-90fe-c484bece8186" providerId="ADAL" clId="{6846A1DD-3EC1-5A12-B3C5-9C410579EE4F}" dt="2026-05-20T18:04:00.884" v="76" actId="171"/>
          <ac:grpSpMkLst>
            <pc:docMk/>
            <pc:sldMk cId="364733940" sldId="284"/>
            <ac:grpSpMk id="11" creationId="{9119A1C4-1E4E-4E9A-6BEB-8D66D32D43BD}"/>
          </ac:grpSpMkLst>
        </pc:grpChg>
        <pc:picChg chg="add del mod">
          <ac:chgData name="Carlos Esponda Rosales" userId="08a2b2cc-6d12-4dea-90fe-c484bece8186" providerId="ADAL" clId="{6846A1DD-3EC1-5A12-B3C5-9C410579EE4F}" dt="2026-05-20T18:04:02.421" v="77" actId="478"/>
          <ac:picMkLst>
            <pc:docMk/>
            <pc:sldMk cId="364733940" sldId="284"/>
            <ac:picMk id="2" creationId="{1B5687F4-45A0-92B4-9653-1598AF1BC42E}"/>
          </ac:picMkLst>
        </pc:picChg>
        <pc:picChg chg="add del mod">
          <ac:chgData name="Carlos Esponda Rosales" userId="08a2b2cc-6d12-4dea-90fe-c484bece8186" providerId="ADAL" clId="{6846A1DD-3EC1-5A12-B3C5-9C410579EE4F}" dt="2026-05-20T18:02:49.118" v="59" actId="478"/>
          <ac:picMkLst>
            <pc:docMk/>
            <pc:sldMk cId="364733940" sldId="284"/>
            <ac:picMk id="10" creationId="{EF672390-F924-3E30-1234-F149F9CCE694}"/>
          </ac:picMkLst>
        </pc:picChg>
      </pc:sldChg>
      <pc:sldChg chg="add">
        <pc:chgData name="Carlos Esponda Rosales" userId="08a2b2cc-6d12-4dea-90fe-c484bece8186" providerId="ADAL" clId="{6846A1DD-3EC1-5A12-B3C5-9C410579EE4F}" dt="2026-05-08T17:38:42.044" v="0"/>
        <pc:sldMkLst>
          <pc:docMk/>
          <pc:sldMk cId="4129938528" sldId="299"/>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7:56.508" v="102" actId="14100"/>
      <pc:docMkLst>
        <pc:docMk/>
      </pc:docMkLst>
      <pc:sldChg chg="addSp delSp modSp mod">
        <pc:chgData name="Edgar Rosales Ortega" userId="d1d54fc2-1570-4978-babc-e22e1526833f" providerId="ADAL" clId="{66BE7C30-C669-4152-AC74-10076FC0590C}" dt="2026-04-30T23:19:24.483" v="90" actId="1035"/>
        <pc:sldMkLst>
          <pc:docMk/>
          <pc:sldMk cId="0" sldId="260"/>
        </pc:sldMkLst>
        <pc:spChg chg="add mod">
          <ac:chgData name="Edgar Rosales Ortega" userId="d1d54fc2-1570-4978-babc-e22e1526833f" providerId="ADAL" clId="{66BE7C30-C669-4152-AC74-10076FC0590C}" dt="2026-04-30T23:19:24.483" v="90" actId="1035"/>
          <ac:spMkLst>
            <pc:docMk/>
            <pc:sldMk cId="0" sldId="260"/>
            <ac:spMk id="7" creationId="{53588435-3CBD-4713-64D1-1901EAA096DC}"/>
          </ac:spMkLst>
        </pc:spChg>
        <pc:graphicFrameChg chg="add mod">
          <ac:chgData name="Edgar Rosales Ortega" userId="d1d54fc2-1570-4978-babc-e22e1526833f" providerId="ADAL" clId="{66BE7C30-C669-4152-AC74-10076FC0590C}" dt="2026-04-30T23:19:15.994" v="30" actId="1076"/>
          <ac:graphicFrameMkLst>
            <pc:docMk/>
            <pc:sldMk cId="0" sldId="260"/>
            <ac:graphicFrameMk id="5" creationId="{5A9C2567-E31B-127E-A2E1-E511DDF8025D}"/>
          </ac:graphicFrameMkLst>
        </pc:graphicFrameChg>
        <pc:picChg chg="add mod">
          <ac:chgData name="Edgar Rosales Ortega" userId="d1d54fc2-1570-4978-babc-e22e1526833f" providerId="ADAL" clId="{66BE7C30-C669-4152-AC74-10076FC0590C}" dt="2026-04-30T23:19:24.483" v="90" actId="1035"/>
          <ac:picMkLst>
            <pc:docMk/>
            <pc:sldMk cId="0" sldId="260"/>
            <ac:picMk id="6" creationId="{71DA7FAB-3416-843B-FDE3-484E97F332DC}"/>
          </ac:picMkLst>
        </pc:picChg>
      </pc:sldChg>
      <pc:sldChg chg="addSp delSp modSp mod">
        <pc:chgData name="Edgar Rosales Ortega" userId="d1d54fc2-1570-4978-babc-e22e1526833f" providerId="ADAL" clId="{66BE7C30-C669-4152-AC74-10076FC0590C}" dt="2026-05-05T18:07:15.257" v="91" actId="164"/>
        <pc:sldMkLst>
          <pc:docMk/>
          <pc:sldMk cId="0" sldId="261"/>
        </pc:sldMkLst>
        <pc:spChg chg="add mod">
          <ac:chgData name="Edgar Rosales Ortega" userId="d1d54fc2-1570-4978-babc-e22e1526833f" providerId="ADAL" clId="{66BE7C30-C669-4152-AC74-10076FC0590C}" dt="2026-05-05T18:07:15.257" v="91" actId="164"/>
          <ac:spMkLst>
            <pc:docMk/>
            <pc:sldMk cId="0" sldId="261"/>
            <ac:spMk id="7" creationId="{DC39DD42-484B-3D13-CC1E-30808A04510C}"/>
          </ac:spMkLst>
        </pc:spChg>
        <pc:spChg chg="add mod">
          <ac:chgData name="Edgar Rosales Ortega" userId="d1d54fc2-1570-4978-babc-e22e1526833f" providerId="ADAL" clId="{66BE7C30-C669-4152-AC74-10076FC0590C}" dt="2026-05-05T18:07:15.257" v="91" actId="164"/>
          <ac:spMkLst>
            <pc:docMk/>
            <pc:sldMk cId="0" sldId="261"/>
            <ac:spMk id="9" creationId="{3C669F50-C3C6-EC9A-F1F1-13F25B518983}"/>
          </ac:spMkLst>
        </pc:spChg>
        <pc:spChg chg="add mod">
          <ac:chgData name="Edgar Rosales Ortega" userId="d1d54fc2-1570-4978-babc-e22e1526833f" providerId="ADAL" clId="{66BE7C30-C669-4152-AC74-10076FC0590C}" dt="2026-05-05T18:07:15.257" v="91" actId="164"/>
          <ac:spMkLst>
            <pc:docMk/>
            <pc:sldMk cId="0" sldId="261"/>
            <ac:spMk id="10" creationId="{6E2FE7E4-A6E0-9655-EEA1-FC88CE7E59FF}"/>
          </ac:spMkLst>
        </pc:spChg>
        <pc:spChg chg="add mod">
          <ac:chgData name="Edgar Rosales Ortega" userId="d1d54fc2-1570-4978-babc-e22e1526833f" providerId="ADAL" clId="{66BE7C30-C669-4152-AC74-10076FC0590C}" dt="2026-05-05T18:07:15.257" v="91" actId="164"/>
          <ac:spMkLst>
            <pc:docMk/>
            <pc:sldMk cId="0" sldId="261"/>
            <ac:spMk id="11" creationId="{D62D0266-764E-4466-C6EF-896185DF8DE2}"/>
          </ac:spMkLst>
        </pc:spChg>
        <pc:grpChg chg="add mod">
          <ac:chgData name="Edgar Rosales Ortega" userId="d1d54fc2-1570-4978-babc-e22e1526833f" providerId="ADAL" clId="{66BE7C30-C669-4152-AC74-10076FC0590C}" dt="2026-05-05T18:07:15.257" v="91" actId="164"/>
          <ac:grpSpMkLst>
            <pc:docMk/>
            <pc:sldMk cId="0" sldId="261"/>
            <ac:grpSpMk id="2" creationId="{62A73CB6-5B90-103D-5529-67074CBF1AD5}"/>
          </ac:grpSpMkLst>
        </pc:grpChg>
        <pc:picChg chg="add mod">
          <ac:chgData name="Edgar Rosales Ortega" userId="d1d54fc2-1570-4978-babc-e22e1526833f" providerId="ADAL" clId="{66BE7C30-C669-4152-AC74-10076FC0590C}" dt="2026-05-05T18:07:15.257" v="91" actId="164"/>
          <ac:picMkLst>
            <pc:docMk/>
            <pc:sldMk cId="0" sldId="261"/>
            <ac:picMk id="8" creationId="{0A30315B-80AB-A0A5-CA91-6F2D6040C881}"/>
          </ac:picMkLst>
        </pc:picChg>
      </pc:sldChg>
      <pc:sldChg chg="delSp mod">
        <pc:chgData name="Edgar Rosales Ortega" userId="d1d54fc2-1570-4978-babc-e22e1526833f" providerId="ADAL" clId="{66BE7C30-C669-4152-AC74-10076FC0590C}" dt="2026-05-07T19:27:21.152" v="94" actId="478"/>
        <pc:sldMkLst>
          <pc:docMk/>
          <pc:sldMk cId="0" sldId="262"/>
        </pc:sldMkLst>
      </pc:sldChg>
      <pc:sldChg chg="addSp delSp modSp mod">
        <pc:chgData name="Edgar Rosales Ortega" userId="d1d54fc2-1570-4978-babc-e22e1526833f" providerId="ADAL" clId="{66BE7C30-C669-4152-AC74-10076FC0590C}" dt="2026-05-07T19:27:27.036" v="96" actId="478"/>
        <pc:sldMkLst>
          <pc:docMk/>
          <pc:sldMk cId="0" sldId="263"/>
        </pc:sldMkLst>
      </pc:sldChg>
      <pc:sldChg chg="modSp mod ord">
        <pc:chgData name="Edgar Rosales Ortega" userId="d1d54fc2-1570-4978-babc-e22e1526833f" providerId="ADAL" clId="{66BE7C30-C669-4152-AC74-10076FC0590C}" dt="2026-04-30T15:57:38.062" v="26"/>
        <pc:sldMkLst>
          <pc:docMk/>
          <pc:sldMk cId="0" sldId="267"/>
        </pc:sldMkLst>
        <pc:graphicFrameChg chg="modGraphic">
          <ac:chgData name="Edgar Rosales Ortega" userId="d1d54fc2-1570-4978-babc-e22e1526833f" providerId="ADAL" clId="{66BE7C30-C669-4152-AC74-10076FC0590C}" dt="2026-04-30T00:24:01.057" v="15"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7:34.835" v="97"/>
        <pc:sldMkLst>
          <pc:docMk/>
          <pc:sldMk cId="0" sldId="272"/>
        </pc:sldMkLst>
        <pc:graphicFrameChg chg="mod">
          <ac:chgData name="Edgar Rosales Ortega" userId="d1d54fc2-1570-4978-babc-e22e1526833f" providerId="ADAL" clId="{66BE7C30-C669-4152-AC74-10076FC0590C}" dt="2026-05-07T19:27:34.835" v="97"/>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7:37.006" v="93" actId="1076"/>
        <pc:sldMkLst>
          <pc:docMk/>
          <pc:sldMk cId="0" sldId="279"/>
        </pc:sldMkLst>
        <pc:spChg chg="add mod">
          <ac:chgData name="Edgar Rosales Ortega" userId="d1d54fc2-1570-4978-babc-e22e1526833f" providerId="ADAL" clId="{66BE7C30-C669-4152-AC74-10076FC0590C}" dt="2026-04-30T16:31:53.479" v="27" actId="1076"/>
          <ac:spMkLst>
            <pc:docMk/>
            <pc:sldMk cId="0" sldId="279"/>
            <ac:spMk id="2" creationId="{D1FA3B26-2468-67ED-0FF6-BF9BE02D00DF}"/>
          </ac:spMkLst>
        </pc:spChg>
        <pc:spChg chg="mod">
          <ac:chgData name="Edgar Rosales Ortega" userId="d1d54fc2-1570-4978-babc-e22e1526833f" providerId="ADAL" clId="{66BE7C30-C669-4152-AC74-10076FC0590C}" dt="2026-05-05T18:07:37.006" v="93"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7:33.912" v="24"/>
        <pc:sldMkLst>
          <pc:docMk/>
          <pc:sldMk cId="540716406" sldId="280"/>
        </pc:sldMkLst>
        <pc:graphicFrameChg chg="modGraphic">
          <ac:chgData name="Edgar Rosales Ortega" userId="d1d54fc2-1570-4978-babc-e22e1526833f" providerId="ADAL" clId="{66BE7C30-C669-4152-AC74-10076FC0590C}" dt="2026-04-30T00:24:03.984" v="16"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7:21.738" v="92" actId="478"/>
        <pc:sldMkLst>
          <pc:docMk/>
          <pc:sldMk cId="3828482411" sldId="281"/>
        </pc:sldMkLst>
      </pc:sldChg>
      <pc:sldChg chg="modSp mod">
        <pc:chgData name="Edgar Rosales Ortega" userId="d1d54fc2-1570-4978-babc-e22e1526833f" providerId="ADAL" clId="{66BE7C30-C669-4152-AC74-10076FC0590C}" dt="2026-05-07T19:27:56.508" v="102" actId="14100"/>
        <pc:sldMkLst>
          <pc:docMk/>
          <pc:sldMk cId="364733940" sldId="284"/>
        </pc:sldMkLst>
      </pc:sldChg>
      <pc:sldChg chg="modSp mod ord">
        <pc:chgData name="Edgar Rosales Ortega" userId="d1d54fc2-1570-4978-babc-e22e1526833f" providerId="ADAL" clId="{66BE7C30-C669-4152-AC74-10076FC0590C}" dt="2026-04-30T15:57:29.044" v="22"/>
        <pc:sldMkLst>
          <pc:docMk/>
          <pc:sldMk cId="748044913" sldId="287"/>
        </pc:sldMkLst>
        <pc:graphicFrameChg chg="modGraphic">
          <ac:chgData name="Edgar Rosales Ortega" userId="d1d54fc2-1570-4978-babc-e22e1526833f" providerId="ADAL" clId="{66BE7C30-C669-4152-AC74-10076FC0590C}" dt="2026-04-30T00:24:06.949" v="17"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7:43.918" v="99" actId="14100"/>
        <pc:sldMkLst>
          <pc:docMk/>
          <pc:sldMk cId="3240565764" sldId="297"/>
        </pc:sldMkLst>
        <pc:picChg chg="mod">
          <ac:chgData name="Edgar Rosales Ortega" userId="d1d54fc2-1570-4978-babc-e22e1526833f" providerId="ADAL" clId="{66BE7C30-C669-4152-AC74-10076FC0590C}" dt="2026-05-07T19:27:43.918" v="99"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99CBD12E-A61E-A71F-F68D-D24B728806E5}"/>
    <pc:docChg chg="modSld">
      <pc:chgData name="Gerardo Jahir Lara Garcia" userId="S::gerardo.larag@imss.gob.mx::84d5cd65-4601-4e92-b448-a9da4809e012" providerId="AD" clId="Web-{99CBD12E-A61E-A71F-F68D-D24B728806E5}" dt="2026-05-13T00:03:36.150" v="47"/>
      <pc:docMkLst>
        <pc:docMk/>
      </pc:docMkLst>
      <pc:sldChg chg="addSp delSp">
        <pc:chgData name="Gerardo Jahir Lara Garcia" userId="S::gerardo.larag@imss.gob.mx::84d5cd65-4601-4e92-b448-a9da4809e012" providerId="AD" clId="Web-{99CBD12E-A61E-A71F-F68D-D24B728806E5}" dt="2026-05-13T00:03:36.150" v="47"/>
        <pc:sldMkLst>
          <pc:docMk/>
          <pc:sldMk cId="364733940" sldId="284"/>
        </pc:sldMkLst>
      </pc:sldChg>
      <pc:sldChg chg="addSp delSp modSp">
        <pc:chgData name="Gerardo Jahir Lara Garcia" userId="S::gerardo.larag@imss.gob.mx::84d5cd65-4601-4e92-b448-a9da4809e012" providerId="AD" clId="Web-{99CBD12E-A61E-A71F-F68D-D24B728806E5}" dt="2026-05-13T00:02:49.038" v="40" actId="20577"/>
        <pc:sldMkLst>
          <pc:docMk/>
          <pc:sldMk cId="3240565764" sldId="297"/>
        </pc:sldMkLst>
        <pc:spChg chg="add mod">
          <ac:chgData name="Gerardo Jahir Lara Garcia" userId="S::gerardo.larag@imss.gob.mx::84d5cd65-4601-4e92-b448-a9da4809e012" providerId="AD" clId="Web-{99CBD12E-A61E-A71F-F68D-D24B728806E5}" dt="2026-05-13T00:02:13.021" v="5" actId="1076"/>
          <ac:spMkLst>
            <pc:docMk/>
            <pc:sldMk cId="3240565764" sldId="297"/>
            <ac:spMk id="3" creationId="{21AE8FA6-CA77-F761-93C9-BF2570CBBE30}"/>
          </ac:spMkLst>
        </pc:spChg>
        <pc:spChg chg="add mod">
          <ac:chgData name="Gerardo Jahir Lara Garcia" userId="S::gerardo.larag@imss.gob.mx::84d5cd65-4601-4e92-b448-a9da4809e012" providerId="AD" clId="Web-{99CBD12E-A61E-A71F-F68D-D24B728806E5}" dt="2026-05-13T00:02:13.037" v="7" actId="1076"/>
          <ac:spMkLst>
            <pc:docMk/>
            <pc:sldMk cId="3240565764" sldId="297"/>
            <ac:spMk id="7" creationId="{FD4175D4-66CF-7FBC-B843-C149C5339DF1}"/>
          </ac:spMkLst>
        </pc:spChg>
        <pc:spChg chg="add mod">
          <ac:chgData name="Gerardo Jahir Lara Garcia" userId="S::gerardo.larag@imss.gob.mx::84d5cd65-4601-4e92-b448-a9da4809e012" providerId="AD" clId="Web-{99CBD12E-A61E-A71F-F68D-D24B728806E5}" dt="2026-05-13T00:02:23.975" v="15" actId="20577"/>
          <ac:spMkLst>
            <pc:docMk/>
            <pc:sldMk cId="3240565764" sldId="297"/>
            <ac:spMk id="9" creationId="{50F1217E-09B0-81A3-6E99-CB1DE729ADDF}"/>
          </ac:spMkLst>
        </pc:spChg>
        <pc:spChg chg="add mod">
          <ac:chgData name="Gerardo Jahir Lara Garcia" userId="S::gerardo.larag@imss.gob.mx::84d5cd65-4601-4e92-b448-a9da4809e012" providerId="AD" clId="Web-{99CBD12E-A61E-A71F-F68D-D24B728806E5}" dt="2026-05-13T00:02:13.068" v="10" actId="1076"/>
          <ac:spMkLst>
            <pc:docMk/>
            <pc:sldMk cId="3240565764" sldId="297"/>
            <ac:spMk id="10" creationId="{991C7EE4-1170-AC4C-597D-3383D8E8A8F9}"/>
          </ac:spMkLst>
        </pc:spChg>
        <pc:spChg chg="add mod">
          <ac:chgData name="Gerardo Jahir Lara Garcia" userId="S::gerardo.larag@imss.gob.mx::84d5cd65-4601-4e92-b448-a9da4809e012" providerId="AD" clId="Web-{99CBD12E-A61E-A71F-F68D-D24B728806E5}" dt="2026-05-13T00:02:49.038" v="40" actId="20577"/>
          <ac:spMkLst>
            <pc:docMk/>
            <pc:sldMk cId="3240565764" sldId="297"/>
            <ac:spMk id="12" creationId="{CA535D92-E281-11D7-D7CB-F8BAB9F176B8}"/>
          </ac:spMkLst>
        </pc:spChg>
        <pc:picChg chg="add mod">
          <ac:chgData name="Gerardo Jahir Lara Garcia" userId="S::gerardo.larag@imss.gob.mx::84d5cd65-4601-4e92-b448-a9da4809e012" providerId="AD" clId="Web-{99CBD12E-A61E-A71F-F68D-D24B728806E5}" dt="2026-05-13T00:02:13.037" v="6" actId="1076"/>
          <ac:picMkLst>
            <pc:docMk/>
            <pc:sldMk cId="3240565764" sldId="297"/>
            <ac:picMk id="4" creationId="{AE9FD96F-084C-5DEE-6966-05F8D1633A42}"/>
          </ac:picMkLst>
        </pc:picChg>
        <pc:picChg chg="add mod">
          <ac:chgData name="Gerardo Jahir Lara Garcia" userId="S::gerardo.larag@imss.gob.mx::84d5cd65-4601-4e92-b448-a9da4809e012" providerId="AD" clId="Web-{99CBD12E-A61E-A71F-F68D-D24B728806E5}" dt="2026-05-13T00:02:13.053" v="8" actId="1076"/>
          <ac:picMkLst>
            <pc:docMk/>
            <pc:sldMk cId="3240565764" sldId="297"/>
            <ac:picMk id="8" creationId="{170CBE01-E044-2F44-556A-69D0B561DC01}"/>
          </ac:picMkLst>
        </pc:picChg>
        <pc:picChg chg="add mod">
          <ac:chgData name="Gerardo Jahir Lara Garcia" userId="S::gerardo.larag@imss.gob.mx::84d5cd65-4601-4e92-b448-a9da4809e012" providerId="AD" clId="Web-{99CBD12E-A61E-A71F-F68D-D24B728806E5}" dt="2026-05-13T00:02:13.084" v="11" actId="1076"/>
          <ac:picMkLst>
            <pc:docMk/>
            <pc:sldMk cId="3240565764" sldId="297"/>
            <ac:picMk id="11" creationId="{F7B31A16-FD1A-331A-6F76-259EB810FD76}"/>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530473.0</c:v>
                </c:pt>
                <c:pt idx="1">
                  <c:v>171928.0</c:v>
                </c:pt>
                <c:pt idx="2">
                  <c:v>756649.0</c:v>
                </c:pt>
                <c:pt idx="3">
                  <c:v>5465.0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43.67611940298507</c:v>
                </c:pt>
                <c:pt idx="1">
                  <c:v>56.32388059701493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15.854230616199999</c:v>
                </c:pt>
                <c:pt idx="1">
                  <c:v>84.1457693838</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40.605348988910634</c:v>
                </c:pt>
                <c:pt idx="1">
                  <c:v>59.394651011089366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41.26020241593209</c:v>
                </c:pt>
                <c:pt idx="1">
                  <c:v>58.73979758406791</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7</c:v>
                </c:pt>
                <c:pt idx="1">
                  <c:v>39</c:v>
                </c:pt>
                <c:pt idx="2">
                  <c:v>38</c:v>
                </c:pt>
                <c:pt idx="3">
                  <c:v>44</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 Eléctrica y Captación y Suministro de Agua Potable</c:v>
                </c:pt>
                <c:pt idx="2">
                  <c:v>Industrias Extractivas</c:v>
                </c:pt>
                <c:pt idx="3">
                  <c:v>Transportes y Comunicaciones</c:v>
                </c:pt>
                <c:pt idx="4">
                  <c:v>Servicios Sociales y Comunales</c:v>
                </c:pt>
                <c:pt idx="5">
                  <c:v>Comercio</c:v>
                </c:pt>
                <c:pt idx="6">
                  <c:v>Servicios para Empresas, Personas y el Hogar</c:v>
                </c:pt>
                <c:pt idx="7">
                  <c:v>Industria de la Construcción</c:v>
                </c:pt>
                <c:pt idx="8">
                  <c:v>Agricultura, Ganaderia, Silvicultura, Pesca y Caza</c:v>
                </c:pt>
              </c:strCache>
            </c:strRef>
          </c:cat>
          <c:val>
            <c:numRef>
              <c:f>Sheet1!$B$2:$B$10</c:f>
              <c:numCache>
                <c:formatCode>General</c:formatCode>
                <c:ptCount val="9"/>
                <c:pt idx="0">
                  <c:v>59823</c:v>
                </c:pt>
                <c:pt idx="1">
                  <c:v>624</c:v>
                </c:pt>
                <c:pt idx="2">
                  <c:v>204</c:v>
                </c:pt>
                <c:pt idx="3">
                  <c:v>3552</c:v>
                </c:pt>
                <c:pt idx="4">
                  <c:v>12904</c:v>
                </c:pt>
                <c:pt idx="5">
                  <c:v>21080</c:v>
                </c:pt>
                <c:pt idx="6">
                  <c:v>13574</c:v>
                </c:pt>
                <c:pt idx="7">
                  <c:v>5029</c:v>
                </c:pt>
                <c:pt idx="8">
                  <c:v>1577</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 Eléctrica y Captación y Suministro de Agua Potable</c:v>
                </c:pt>
                <c:pt idx="2">
                  <c:v>Industrias Extractivas</c:v>
                </c:pt>
                <c:pt idx="3">
                  <c:v>Transportes y Comunicaciones</c:v>
                </c:pt>
                <c:pt idx="4">
                  <c:v>Servicios Sociales y Comunales</c:v>
                </c:pt>
                <c:pt idx="5">
                  <c:v>Comercio</c:v>
                </c:pt>
                <c:pt idx="6">
                  <c:v>Servicios para Empresas, Personas y el Hogar</c:v>
                </c:pt>
                <c:pt idx="7">
                  <c:v>Industria de la Construcción</c:v>
                </c:pt>
                <c:pt idx="8">
                  <c:v>Agricultura, Ganaderia, Silvicultura, Pesca y Caza</c:v>
                </c:pt>
              </c:strCache>
            </c:strRef>
          </c:cat>
          <c:val>
            <c:numRef>
              <c:f>Sheet1!$C$2:$C$10</c:f>
              <c:numCache>
                <c:formatCode>General</c:formatCode>
                <c:ptCount val="9"/>
                <c:pt idx="0">
                  <c:v>55288</c:v>
                </c:pt>
                <c:pt idx="1">
                  <c:v>579</c:v>
                </c:pt>
                <c:pt idx="2">
                  <c:v>190</c:v>
                </c:pt>
                <c:pt idx="3">
                  <c:v>3542</c:v>
                </c:pt>
                <c:pt idx="4">
                  <c:v>13003</c:v>
                </c:pt>
                <c:pt idx="5">
                  <c:v>21941</c:v>
                </c:pt>
                <c:pt idx="6">
                  <c:v>14195</c:v>
                </c:pt>
                <c:pt idx="7">
                  <c:v>6949</c:v>
                </c:pt>
                <c:pt idx="8">
                  <c:v>2187</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98184</c:v>
                </c:pt>
                <c:pt idx="1">
                  <c:v>102487</c:v>
                </c:pt>
                <c:pt idx="2">
                  <c:v>101285</c:v>
                </c:pt>
                <c:pt idx="3">
                  <c:v>102990</c:v>
                </c:pt>
                <c:pt idx="4">
                  <c:v>105946</c:v>
                </c:pt>
                <c:pt idx="5">
                  <c:v>113760</c:v>
                </c:pt>
                <c:pt idx="6">
                  <c:v>118229</c:v>
                </c:pt>
                <c:pt idx="7">
                  <c:v>118367</c:v>
                </c:pt>
                <c:pt idx="8">
                  <c:v>117874</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Tlaxcala</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9_Tlaxcala.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36%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530,473</a:t>
            </a:r>
            <a:br/>
            <a:r>
              <a:t>36%</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171,928</a:t>
            </a:r>
            <a:br/>
            <a:r>
              <a:t>12%</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756,649</a:t>
            </a:r>
            <a:br/>
            <a:r>
              <a:t>52%</a:t>
            </a:r>
          </a:p>
        </p:txBody>
      </p:sp>
      <p:pic>
        <p:nvPicPr>
          <p:cNvPr id="125" name="Picture 124" descr="29.png"/>
          <p:cNvPicPr>
            <a:picLocks noChangeAspect="1"/>
          </p:cNvPicPr>
          <p:nvPr/>
        </p:nvPicPr>
        <p:blipFill>
          <a:blip r:embed="rId8"/>
          <a:stretch>
            <a:fillRect/>
          </a:stretch>
        </p:blipFill>
        <p:spPr>
          <a:xfrm>
            <a:off x="1220400" y="3290400"/>
            <a:ext cx="1904118"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5,465</a:t>
            </a:r>
            <a:br/>
            <a:r>
              <a:t>0.37%</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1,464,515</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409,814</a:t>
                      </a:r>
                    </a:p>
                  </a:txBody>
                  <a:tcPr>
                    <a:solidFill>
                      <a:srgbClr val="EBD2D9"/>
                    </a:solidFill>
                  </a:tcPr>
                </a:tc>
                <a:tc>
                  <a:txBody>
                    <a:bodyPr/>
                    <a:lstStyle/>
                    <a:p>
                      <a:pPr algn="ctr">
                        <a:defRPr sz="900" b="1">
                          <a:solidFill>
                            <a:srgbClr val="000000"/>
                          </a:solidFill>
                          <a:latin typeface="Montserrat"/>
                        </a:defRPr>
                      </a:pPr>
                      <a:r>
                        <a:t>530,473</a:t>
                      </a:r>
                    </a:p>
                  </a:txBody>
                  <a:tcPr>
                    <a:solidFill>
                      <a:srgbClr val="EBD2D9"/>
                    </a:solidFill>
                  </a:tcPr>
                </a:tc>
                <a:tc>
                  <a:txBody>
                    <a:bodyPr/>
                    <a:lstStyle/>
                    <a:p>
                      <a:pPr algn="ctr">
                        <a:defRPr sz="900" b="1">
                          <a:solidFill>
                            <a:srgbClr val="000000"/>
                          </a:solidFill>
                          <a:latin typeface="Montserrat"/>
                        </a:defRPr>
                      </a:pPr>
                      <a:r>
                        <a:t>29%</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225,427</a:t>
                      </a:r>
                    </a:p>
                  </a:txBody>
                  <a:tcPr>
                    <a:solidFill>
                      <a:srgbClr val="EBD2D9"/>
                    </a:solidFill>
                  </a:tcPr>
                </a:tc>
                <a:tc>
                  <a:txBody>
                    <a:bodyPr/>
                    <a:lstStyle/>
                    <a:p>
                      <a:pPr algn="ctr">
                        <a:defRPr sz="900" b="1">
                          <a:solidFill>
                            <a:srgbClr val="000000"/>
                          </a:solidFill>
                          <a:latin typeface="Montserrat"/>
                        </a:defRPr>
                      </a:pPr>
                      <a:r>
                        <a:t>329,438</a:t>
                      </a:r>
                    </a:p>
                  </a:txBody>
                  <a:tcPr>
                    <a:solidFill>
                      <a:srgbClr val="EBD2D9"/>
                    </a:solidFill>
                  </a:tcPr>
                </a:tc>
                <a:tc>
                  <a:txBody>
                    <a:bodyPr/>
                    <a:lstStyle/>
                    <a:p>
                      <a:pPr algn="ctr">
                        <a:defRPr sz="900" b="1">
                          <a:solidFill>
                            <a:srgbClr val="000000"/>
                          </a:solidFill>
                          <a:latin typeface="Montserrat"/>
                        </a:defRPr>
                      </a:pPr>
                      <a:r>
                        <a:t>46%</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100,979</a:t>
                      </a:r>
                    </a:p>
                  </a:txBody>
                  <a:tcPr>
                    <a:solidFill>
                      <a:srgbClr val="F8F4EC"/>
                    </a:solidFill>
                  </a:tcPr>
                </a:tc>
                <a:tc>
                  <a:txBody>
                    <a:bodyPr/>
                    <a:lstStyle/>
                    <a:p>
                      <a:pPr algn="ctr">
                        <a:defRPr sz="900" b="1">
                          <a:solidFill>
                            <a:srgbClr val="000000"/>
                          </a:solidFill>
                          <a:latin typeface="Montserrat"/>
                        </a:defRPr>
                      </a:pPr>
                      <a:r>
                        <a:t>117,874</a:t>
                      </a:r>
                    </a:p>
                  </a:txBody>
                  <a:tcPr>
                    <a:solidFill>
                      <a:srgbClr val="F8F4EC"/>
                    </a:solidFill>
                  </a:tcPr>
                </a:tc>
                <a:tc>
                  <a:txBody>
                    <a:bodyPr/>
                    <a:lstStyle/>
                    <a:p>
                      <a:pPr algn="ctr">
                        <a:defRPr sz="900" b="1">
                          <a:solidFill>
                            <a:srgbClr val="000000"/>
                          </a:solidFill>
                          <a:latin typeface="Montserrat"/>
                        </a:defRPr>
                      </a:pPr>
                      <a:r>
                        <a:t>17%</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31,290</a:t>
                      </a:r>
                    </a:p>
                  </a:txBody>
                  <a:tcPr>
                    <a:solidFill>
                      <a:srgbClr val="FFFFFF"/>
                    </a:solidFill>
                  </a:tcPr>
                </a:tc>
                <a:tc>
                  <a:txBody>
                    <a:bodyPr/>
                    <a:lstStyle/>
                    <a:p>
                      <a:pPr algn="ctr">
                        <a:defRPr sz="900">
                          <a:solidFill>
                            <a:srgbClr val="000000"/>
                          </a:solidFill>
                          <a:latin typeface="Montserrat"/>
                        </a:defRPr>
                      </a:pPr>
                      <a:r>
                        <a:t>46,753</a:t>
                      </a:r>
                    </a:p>
                  </a:txBody>
                  <a:tcPr>
                    <a:solidFill>
                      <a:srgbClr val="FFFFFF"/>
                    </a:solidFill>
                  </a:tcPr>
                </a:tc>
                <a:tc>
                  <a:txBody>
                    <a:bodyPr/>
                    <a:lstStyle/>
                    <a:p>
                      <a:pPr algn="ctr">
                        <a:defRPr sz="900">
                          <a:solidFill>
                            <a:srgbClr val="000000"/>
                          </a:solidFill>
                          <a:latin typeface="Montserrat"/>
                        </a:defRPr>
                      </a:pPr>
                      <a:r>
                        <a:t>49%</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4,953</a:t>
                      </a:r>
                    </a:p>
                  </a:txBody>
                  <a:tcPr>
                    <a:solidFill>
                      <a:srgbClr val="FFFFFF"/>
                    </a:solidFill>
                  </a:tcPr>
                </a:tc>
                <a:tc>
                  <a:txBody>
                    <a:bodyPr/>
                    <a:lstStyle/>
                    <a:p>
                      <a:pPr algn="ctr">
                        <a:defRPr sz="900">
                          <a:solidFill>
                            <a:srgbClr val="000000"/>
                          </a:solidFill>
                          <a:latin typeface="Montserrat"/>
                        </a:defRPr>
                      </a:pPr>
                      <a:r>
                        <a:t>5,867</a:t>
                      </a:r>
                    </a:p>
                  </a:txBody>
                  <a:tcPr>
                    <a:solidFill>
                      <a:srgbClr val="FFFFFF"/>
                    </a:solidFill>
                  </a:tcPr>
                </a:tc>
                <a:tc>
                  <a:txBody>
                    <a:bodyPr/>
                    <a:lstStyle/>
                    <a:p>
                      <a:pPr algn="ctr">
                        <a:defRPr sz="900">
                          <a:solidFill>
                            <a:srgbClr val="000000"/>
                          </a:solidFill>
                          <a:latin typeface="Montserrat"/>
                        </a:defRPr>
                      </a:pPr>
                      <a:r>
                        <a:t>18%</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88,205</a:t>
                      </a:r>
                    </a:p>
                  </a:txBody>
                  <a:tcPr>
                    <a:solidFill>
                      <a:srgbClr val="CCE0DD"/>
                    </a:solidFill>
                  </a:tcPr>
                </a:tc>
                <a:tc>
                  <a:txBody>
                    <a:bodyPr/>
                    <a:lstStyle/>
                    <a:p>
                      <a:pPr algn="ctr">
                        <a:defRPr sz="900" b="1">
                          <a:solidFill>
                            <a:srgbClr val="000000"/>
                          </a:solidFill>
                          <a:latin typeface="Montserrat"/>
                        </a:defRPr>
                      </a:pPr>
                      <a:r>
                        <a:t>110,505</a:t>
                      </a:r>
                    </a:p>
                  </a:txBody>
                  <a:tcPr>
                    <a:solidFill>
                      <a:srgbClr val="CCE0DD"/>
                    </a:solidFill>
                  </a:tcPr>
                </a:tc>
                <a:tc>
                  <a:txBody>
                    <a:bodyPr/>
                    <a:lstStyle/>
                    <a:p>
                      <a:pPr algn="ctr">
                        <a:defRPr sz="900" b="1">
                          <a:solidFill>
                            <a:srgbClr val="000000"/>
                          </a:solidFill>
                          <a:latin typeface="Montserrat"/>
                        </a:defRPr>
                      </a:pPr>
                      <a:r>
                        <a:t>25%</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86,474</a:t>
                      </a:r>
                    </a:p>
                  </a:txBody>
                  <a:tcPr>
                    <a:solidFill>
                      <a:srgbClr val="FFFFFF"/>
                    </a:solidFill>
                  </a:tcPr>
                </a:tc>
                <a:tc>
                  <a:txBody>
                    <a:bodyPr/>
                    <a:lstStyle/>
                    <a:p>
                      <a:pPr algn="ctr">
                        <a:defRPr sz="900">
                          <a:solidFill>
                            <a:srgbClr val="000000"/>
                          </a:solidFill>
                          <a:latin typeface="Montserrat"/>
                        </a:defRPr>
                      </a:pPr>
                      <a:r>
                        <a:t>109,430</a:t>
                      </a:r>
                    </a:p>
                  </a:txBody>
                  <a:tcPr>
                    <a:solidFill>
                      <a:srgbClr val="FFFFFF"/>
                    </a:solidFill>
                  </a:tcPr>
                </a:tc>
                <a:tc>
                  <a:txBody>
                    <a:bodyPr/>
                    <a:lstStyle/>
                    <a:p>
                      <a:pPr algn="ctr">
                        <a:defRPr sz="900">
                          <a:solidFill>
                            <a:srgbClr val="000000"/>
                          </a:solidFill>
                          <a:latin typeface="Montserrat"/>
                        </a:defRPr>
                      </a:pPr>
                      <a:r>
                        <a:t>27%</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1,312</a:t>
                      </a:r>
                    </a:p>
                  </a:txBody>
                  <a:tcPr>
                    <a:solidFill>
                      <a:srgbClr val="FFFFFF"/>
                    </a:solidFill>
                  </a:tcPr>
                </a:tc>
                <a:tc>
                  <a:txBody>
                    <a:bodyPr/>
                    <a:lstStyle/>
                    <a:p>
                      <a:pPr algn="ctr">
                        <a:defRPr sz="900">
                          <a:solidFill>
                            <a:srgbClr val="000000"/>
                          </a:solidFill>
                          <a:latin typeface="Montserrat"/>
                        </a:defRPr>
                      </a:pPr>
                      <a:r>
                        <a:t>307</a:t>
                      </a:r>
                    </a:p>
                  </a:txBody>
                  <a:tcPr>
                    <a:solidFill>
                      <a:srgbClr val="FFFFFF"/>
                    </a:solidFill>
                  </a:tcPr>
                </a:tc>
                <a:tc>
                  <a:txBody>
                    <a:bodyPr/>
                    <a:lstStyle/>
                    <a:p>
                      <a:pPr algn="ctr">
                        <a:defRPr sz="900">
                          <a:solidFill>
                            <a:srgbClr val="000000"/>
                          </a:solidFill>
                          <a:latin typeface="Montserrat"/>
                        </a:defRPr>
                      </a:pPr>
                      <a:r>
                        <a:t>-77%</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419</a:t>
                      </a:r>
                    </a:p>
                  </a:txBody>
                  <a:tcPr>
                    <a:solidFill>
                      <a:srgbClr val="FFFFFF"/>
                    </a:solidFill>
                  </a:tcPr>
                </a:tc>
                <a:tc>
                  <a:txBody>
                    <a:bodyPr/>
                    <a:lstStyle/>
                    <a:p>
                      <a:pPr algn="ctr">
                        <a:defRPr sz="900">
                          <a:solidFill>
                            <a:srgbClr val="000000"/>
                          </a:solidFill>
                          <a:latin typeface="Montserrat"/>
                        </a:defRPr>
                      </a:pPr>
                      <a:r>
                        <a:t>768</a:t>
                      </a:r>
                    </a:p>
                  </a:txBody>
                  <a:tcPr>
                    <a:solidFill>
                      <a:srgbClr val="FFFFFF"/>
                    </a:solidFill>
                  </a:tcPr>
                </a:tc>
                <a:tc>
                  <a:txBody>
                    <a:bodyPr/>
                    <a:lstStyle/>
                    <a:p>
                      <a:pPr algn="ctr">
                        <a:defRPr sz="900">
                          <a:solidFill>
                            <a:srgbClr val="000000"/>
                          </a:solidFill>
                          <a:latin typeface="Montserrat"/>
                        </a:defRPr>
                      </a:pPr>
                      <a:r>
                        <a:t>83%</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184,387</a:t>
                      </a:r>
                    </a:p>
                  </a:txBody>
                  <a:tcPr>
                    <a:solidFill>
                      <a:srgbClr val="EBD2D9"/>
                    </a:solidFill>
                  </a:tcPr>
                </a:tc>
                <a:tc>
                  <a:txBody>
                    <a:bodyPr/>
                    <a:lstStyle/>
                    <a:p>
                      <a:pPr algn="ctr">
                        <a:defRPr sz="900" b="1">
                          <a:solidFill>
                            <a:srgbClr val="000000"/>
                          </a:solidFill>
                          <a:latin typeface="Montserrat"/>
                        </a:defRPr>
                      </a:pPr>
                      <a:r>
                        <a:t>201,035</a:t>
                      </a:r>
                    </a:p>
                  </a:txBody>
                  <a:tcPr>
                    <a:solidFill>
                      <a:srgbClr val="EBD2D9"/>
                    </a:solidFill>
                  </a:tcPr>
                </a:tc>
                <a:tc>
                  <a:txBody>
                    <a:bodyPr/>
                    <a:lstStyle/>
                    <a:p>
                      <a:pPr algn="ctr">
                        <a:defRPr sz="900" b="1">
                          <a:solidFill>
                            <a:srgbClr val="000000"/>
                          </a:solidFill>
                          <a:latin typeface="Montserrat"/>
                        </a:defRPr>
                      </a:pPr>
                      <a:r>
                        <a:t>9%</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62,736</a:t>
                      </a:r>
                    </a:p>
                  </a:txBody>
                  <a:tcPr>
                    <a:solidFill>
                      <a:srgbClr val="FFFFFF"/>
                    </a:solidFill>
                  </a:tcPr>
                </a:tc>
                <a:tc>
                  <a:txBody>
                    <a:bodyPr/>
                    <a:lstStyle/>
                    <a:p>
                      <a:pPr algn="ctr">
                        <a:defRPr sz="900">
                          <a:solidFill>
                            <a:srgbClr val="000000"/>
                          </a:solidFill>
                          <a:latin typeface="Montserrat"/>
                        </a:defRPr>
                      </a:pPr>
                      <a:r>
                        <a:t>72,542</a:t>
                      </a:r>
                    </a:p>
                  </a:txBody>
                  <a:tcPr>
                    <a:solidFill>
                      <a:srgbClr val="FFFFFF"/>
                    </a:solidFill>
                  </a:tcPr>
                </a:tc>
                <a:tc>
                  <a:txBody>
                    <a:bodyPr/>
                    <a:lstStyle/>
                    <a:p>
                      <a:pPr algn="ctr">
                        <a:defRPr sz="900">
                          <a:solidFill>
                            <a:srgbClr val="000000"/>
                          </a:solidFill>
                          <a:latin typeface="Montserrat"/>
                        </a:defRPr>
                      </a:pPr>
                      <a:r>
                        <a:t>16%</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90,311</a:t>
                      </a:r>
                    </a:p>
                  </a:txBody>
                  <a:tcPr>
                    <a:solidFill>
                      <a:srgbClr val="FFFFFF"/>
                    </a:solidFill>
                  </a:tcPr>
                </a:tc>
                <a:tc>
                  <a:txBody>
                    <a:bodyPr/>
                    <a:lstStyle/>
                    <a:p>
                      <a:pPr algn="ctr">
                        <a:defRPr sz="900">
                          <a:solidFill>
                            <a:srgbClr val="000000"/>
                          </a:solidFill>
                          <a:latin typeface="Montserrat"/>
                        </a:defRPr>
                      </a:pPr>
                      <a:r>
                        <a:t>83,146</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31,340</a:t>
                      </a:r>
                    </a:p>
                  </a:txBody>
                  <a:tcPr>
                    <a:solidFill>
                      <a:srgbClr val="FFFFFF"/>
                    </a:solidFill>
                  </a:tcPr>
                </a:tc>
                <a:tc>
                  <a:txBody>
                    <a:bodyPr/>
                    <a:lstStyle/>
                    <a:p>
                      <a:pPr algn="ctr">
                        <a:defRPr sz="900">
                          <a:solidFill>
                            <a:srgbClr val="000000"/>
                          </a:solidFill>
                          <a:latin typeface="Montserrat"/>
                        </a:defRPr>
                      </a:pPr>
                      <a:r>
                        <a:t>45,347</a:t>
                      </a:r>
                    </a:p>
                  </a:txBody>
                  <a:tcPr>
                    <a:solidFill>
                      <a:srgbClr val="FFFFFF"/>
                    </a:solidFill>
                  </a:tcPr>
                </a:tc>
                <a:tc>
                  <a:txBody>
                    <a:bodyPr/>
                    <a:lstStyle/>
                    <a:p>
                      <a:pPr algn="ctr">
                        <a:defRPr sz="900">
                          <a:solidFill>
                            <a:srgbClr val="000000"/>
                          </a:solidFill>
                          <a:latin typeface="Montserrat"/>
                        </a:defRPr>
                      </a:pPr>
                      <a:r>
                        <a:t>45%</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621</a:t>
                      </a:r>
                    </a:p>
                  </a:txBody>
                  <a:tcPr>
                    <a:solidFill>
                      <a:srgbClr val="F8F4EC"/>
                    </a:solidFill>
                  </a:tcPr>
                </a:tc>
                <a:tc>
                  <a:txBody>
                    <a:bodyPr/>
                    <a:lstStyle/>
                    <a:p>
                      <a:pPr algn="ctr">
                        <a:defRPr b="1" sz="900">
                          <a:latin typeface="Montserrat"/>
                        </a:defRPr>
                      </a:pPr>
                      <a:r>
                        <a:t>828</a:t>
                      </a:r>
                    </a:p>
                  </a:txBody>
                  <a:tcPr>
                    <a:solidFill>
                      <a:srgbClr val="F8F4EC"/>
                    </a:solidFill>
                  </a:tcPr>
                </a:tc>
                <a:tc>
                  <a:txBody>
                    <a:bodyPr/>
                    <a:lstStyle/>
                    <a:p>
                      <a:pPr algn="ctr">
                        <a:defRPr b="1" sz="900">
                          <a:latin typeface="Montserrat"/>
                        </a:defRPr>
                      </a:pPr>
                      <a:r>
                        <a:t>33%</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2,927</a:t>
                      </a:r>
                    </a:p>
                  </a:txBody>
                  <a:tcPr>
                    <a:solidFill>
                      <a:srgbClr val="F8F4EC"/>
                    </a:solidFill>
                  </a:tcPr>
                </a:tc>
                <a:tc>
                  <a:txBody>
                    <a:bodyPr/>
                    <a:lstStyle/>
                    <a:p>
                      <a:pPr algn="ctr">
                        <a:defRPr b="1" sz="900">
                          <a:latin typeface="Montserrat"/>
                        </a:defRPr>
                      </a:pPr>
                      <a:r>
                        <a:t>3,507</a:t>
                      </a:r>
                    </a:p>
                  </a:txBody>
                  <a:tcPr>
                    <a:solidFill>
                      <a:srgbClr val="F8F4EC"/>
                    </a:solidFill>
                  </a:tcPr>
                </a:tc>
                <a:tc>
                  <a:txBody>
                    <a:bodyPr/>
                    <a:lstStyle/>
                    <a:p>
                      <a:pPr algn="ctr">
                        <a:defRPr b="1" sz="900">
                          <a:latin typeface="Montserrat"/>
                        </a:defRPr>
                      </a:pPr>
                      <a:r>
                        <a:t>20%</a:t>
                      </a:r>
                    </a:p>
                  </a:txBody>
                  <a:tcPr>
                    <a:solidFill>
                      <a:srgbClr val="F8F4EC"/>
                    </a:solidFill>
                  </a:tcPr>
                </a:tc>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3746970916"/>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9_tlax.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14</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207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100</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63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207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124</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934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934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tr>
              <a:tr h="2934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293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14 UMF y no incluye 2 Unidades Auxiliares de Medicina Familiar.</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66;g3d0b4d3c5c9_0_54">
            <a:extLst>
              <a:ext uri="{FF2B5EF4-FFF2-40B4-BE49-F238E27FC236}">
                <a16:creationId xmlns:a16="http://schemas.microsoft.com/office/drawing/2014/main" id="{5A9C2567-E31B-127E-A2E1-E511DDF8025D}"/>
              </a:ext>
            </a:extLst>
          </p:cNvPr>
          <p:cNvGraphicFramePr/>
          <p:nvPr>
            <p:extLst>
              <p:ext uri="{D42A27DB-BD31-4B8C-83A1-F6EECF244321}">
                <p14:modId xmlns:p14="http://schemas.microsoft.com/office/powerpoint/2010/main" val="3266337779"/>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T‑2, Ciudad de Tlaxcala</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68;g3d0b4d3c5c9_0_54">
            <a:extLst>
              <a:ext uri="{FF2B5EF4-FFF2-40B4-BE49-F238E27FC236}">
                <a16:creationId xmlns:a16="http://schemas.microsoft.com/office/drawing/2014/main" id="{71DA7FAB-3416-843B-FDE3-484E97F332DC}"/>
              </a:ext>
            </a:extLst>
          </p:cNvPr>
          <p:cNvPicPr preferRelativeResize="0"/>
          <p:nvPr/>
        </p:nvPicPr>
        <p:blipFill>
          <a:blip r:embed="rId4">
            <a:alphaModFix/>
          </a:blip>
          <a:stretch>
            <a:fillRect/>
          </a:stretch>
        </p:blipFill>
        <p:spPr>
          <a:xfrm>
            <a:off x="146304" y="2559354"/>
            <a:ext cx="2928200" cy="1662291"/>
          </a:xfrm>
          <a:prstGeom prst="rect">
            <a:avLst/>
          </a:prstGeom>
          <a:noFill/>
          <a:ln>
            <a:noFill/>
          </a:ln>
        </p:spPr>
      </p:pic>
      <p:sp>
        <p:nvSpPr>
          <p:cNvPr id="7" name="CuadroTexto 6">
            <a:extLst>
              <a:ext uri="{FF2B5EF4-FFF2-40B4-BE49-F238E27FC236}">
                <a16:creationId xmlns:a16="http://schemas.microsoft.com/office/drawing/2014/main" id="{53588435-3CBD-4713-64D1-1901EAA096DC}"/>
              </a:ext>
            </a:extLst>
          </p:cNvPr>
          <p:cNvSpPr txBox="1"/>
          <p:nvPr/>
        </p:nvSpPr>
        <p:spPr>
          <a:xfrm>
            <a:off x="3170116" y="1778521"/>
            <a:ext cx="4315434" cy="3223959"/>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operaciones el 19 de mayo de 1950, siendo la entidad uno de los últimos estados en incorporarse al sistema. Ese día se inauguraron las primeras unidades médicas en Tlaxcala capital, Panzacola, Apetatitlán y Santa Ana Chiautempan, que entonces dependían administrativamente de la Caja Regional de Puebla.</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Las consultas se otorgaban mediante clínicas de tipo “B”, con atención ambulatoria y de urgencias, operación las 24 horas y hospitalización mínima.</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fue la Clínica Hospital T‑2, ubicada en la ciudad de Tlaxcala, inaugurado en 1974.</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Al inicio, la Clínica Hospital T‑2 contó con 46 camas de hospitalización y ofrecía servicios auxiliares de diagnóstico y al menos ocho especialidades médicas, además de hospitalización general y consulta especializada.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9_TLAXCALA.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1152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8 Tlaxcala</a:t>
                      </a:r>
                    </a:p>
                  </a:txBody>
                  <a:tcPr anchor="ctr">
                    <a:solidFill>
                      <a:srgbClr val="FFFFFF"/>
                    </a:solidFill>
                  </a:tcPr>
                </a:tc>
                <a:tc>
                  <a:txBody>
                    <a:bodyPr/>
                    <a:lstStyle/>
                    <a:p>
                      <a:pPr algn="ctr">
                        <a:defRPr sz="900">
                          <a:latin typeface="Montserrat"/>
                        </a:defRPr>
                      </a:pPr>
                      <a:r>
                        <a:t>Julio de 1974</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20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HGZ 1 Tlaxcala</a:t>
                      </a:r>
                    </a:p>
                  </a:txBody>
                  <a:tcPr anchor="ctr">
                    <a:solidFill>
                      <a:srgbClr val="EFEFEF"/>
                    </a:solidFill>
                  </a:tcPr>
                </a:tc>
                <a:tc>
                  <a:txBody>
                    <a:bodyPr/>
                    <a:lstStyle/>
                    <a:p>
                      <a:pPr algn="ctr">
                        <a:defRPr sz="900">
                          <a:latin typeface="Montserrat"/>
                        </a:defRPr>
                      </a:pPr>
                      <a:r>
                        <a:t>Julio de 1982</a:t>
                      </a:r>
                    </a:p>
                  </a:txBody>
                  <a:tcPr anchor="ctr">
                    <a:solidFill>
                      <a:srgbClr val="EFEFEF"/>
                    </a:solidFill>
                  </a:tcPr>
                </a:tc>
                <a:tc>
                  <a:txBody>
                    <a:bodyPr/>
                    <a:lstStyle/>
                    <a:p>
                      <a:pPr algn="ctr">
                        <a:defRPr sz="900">
                          <a:latin typeface="Montserrat"/>
                        </a:defRPr>
                      </a:pPr>
                      <a:r>
                        <a:t>110</a:t>
                      </a:r>
                    </a:p>
                  </a:txBody>
                  <a:tcPr anchor="ctr">
                    <a:solidFill>
                      <a:srgbClr val="EFEFEF"/>
                    </a:solidFill>
                  </a:tcPr>
                </a:tc>
                <a:tc>
                  <a:txBody>
                    <a:bodyPr/>
                    <a:lstStyle/>
                    <a:p>
                      <a:pPr algn="ctr">
                        <a:defRPr sz="900">
                          <a:latin typeface="Montserrat"/>
                        </a:defRPr>
                      </a:pPr>
                      <a:r>
                        <a:t>53</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a:txBody>
                    <a:bodyPr/>
                    <a:lstStyle/>
                    <a:p>
                      <a:pPr algn="l">
                        <a:defRPr sz="900">
                          <a:latin typeface="Montserrat"/>
                        </a:defRPr>
                      </a:pPr>
                      <a:r>
                        <a:t>HGZMF 2 Apizaco</a:t>
                      </a:r>
                    </a:p>
                  </a:txBody>
                  <a:tcPr anchor="ctr">
                    <a:solidFill>
                      <a:srgbClr val="FFFFFF"/>
                    </a:solidFill>
                  </a:tcPr>
                </a:tc>
                <a:tc>
                  <a:txBody>
                    <a:bodyPr/>
                    <a:lstStyle/>
                    <a:p>
                      <a:pPr algn="ctr">
                        <a:defRPr sz="900">
                          <a:latin typeface="Montserrat"/>
                        </a:defRPr>
                      </a:pPr>
                      <a:r>
                        <a:t>Mayo de 1998</a:t>
                      </a:r>
                    </a:p>
                  </a:txBody>
                  <a:tcPr anchor="ctr">
                    <a:solidFill>
                      <a:srgbClr val="FFFFFF"/>
                    </a:solidFill>
                  </a:tcPr>
                </a:tc>
                <a:tc>
                  <a:txBody>
                    <a:bodyPr/>
                    <a:lstStyle/>
                    <a:p>
                      <a:pPr algn="ctr">
                        <a:defRPr sz="900">
                          <a:latin typeface="Montserrat"/>
                        </a:defRPr>
                      </a:pPr>
                      <a:r>
                        <a:t>63</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10</a:t>
                      </a:r>
                    </a:p>
                  </a:txBody>
                  <a:tcPr anchor="ctr">
                    <a:solidFill>
                      <a:srgbClr val="FFFFFF"/>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207</a:t>
                      </a:r>
                    </a:p>
                  </a:txBody>
                  <a:tcPr anchor="ctr">
                    <a:solidFill>
                      <a:srgbClr val="D3E9E7"/>
                    </a:solidFill>
                  </a:tcPr>
                </a:tc>
                <a:tc>
                  <a:txBody>
                    <a:bodyPr/>
                    <a:lstStyle/>
                    <a:p>
                      <a:pPr algn="ctr">
                        <a:defRPr sz="900" b="1">
                          <a:solidFill>
                            <a:srgbClr val="006556"/>
                          </a:solidFill>
                          <a:latin typeface="Montserrat"/>
                        </a:defRPr>
                      </a:pPr>
                      <a:r>
                        <a:t>100</a:t>
                      </a:r>
                    </a:p>
                  </a:txBody>
                  <a:tcPr anchor="ctr">
                    <a:solidFill>
                      <a:srgbClr val="D3E9E7"/>
                    </a:solidFill>
                  </a:tcPr>
                </a:tc>
                <a:tc>
                  <a:txBody>
                    <a:bodyPr/>
                    <a:lstStyle/>
                    <a:p>
                      <a:pPr algn="ctr">
                        <a:defRPr sz="900" b="1">
                          <a:solidFill>
                            <a:srgbClr val="006556"/>
                          </a:solidFill>
                          <a:latin typeface="Montserrat"/>
                        </a:defRPr>
                      </a:pPr>
                      <a:r>
                        <a:t>8</a:t>
                      </a:r>
                    </a:p>
                  </a:txBody>
                  <a:tcPr anchor="ctr">
                    <a:solidFill>
                      <a:srgbClr val="D3E9E7"/>
                    </a:solidFill>
                  </a:tcPr>
                </a:tc>
                <a:tc>
                  <a:txBody>
                    <a:bodyPr/>
                    <a:lstStyle/>
                    <a:p>
                      <a:pPr algn="ctr">
                        <a:defRPr sz="900" b="1">
                          <a:solidFill>
                            <a:srgbClr val="006556"/>
                          </a:solidFill>
                          <a:latin typeface="Montserrat"/>
                        </a:defRPr>
                      </a:pPr>
                      <a:r>
                        <a:t>7</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62A73CB6-5B90-103D-5529-67074CBF1AD5}"/>
              </a:ext>
            </a:extLst>
          </p:cNvPr>
          <p:cNvGrpSpPr/>
          <p:nvPr/>
        </p:nvGrpSpPr>
        <p:grpSpPr>
          <a:xfrm>
            <a:off x="0" y="5351650"/>
            <a:ext cx="7772400" cy="3483777"/>
            <a:chOff x="0" y="5351650"/>
            <a:chExt cx="7772400" cy="3483777"/>
          </a:xfrm>
        </p:grpSpPr>
        <p:sp>
          <p:nvSpPr>
            <p:cNvPr id="7" name="Google Shape;340;g3d635d120e2_2_186">
              <a:extLst>
                <a:ext uri="{FF2B5EF4-FFF2-40B4-BE49-F238E27FC236}">
                  <a16:creationId xmlns:a16="http://schemas.microsoft.com/office/drawing/2014/main" id="{DC39DD42-484B-3D13-CC1E-30808A04510C}"/>
                </a:ext>
              </a:extLst>
            </p:cNvPr>
            <p:cNvSpPr txBox="1"/>
            <p:nvPr/>
          </p:nvSpPr>
          <p:spPr>
            <a:xfrm>
              <a:off x="0" y="5351650"/>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pic>
          <p:nvPicPr>
            <p:cNvPr id="8" name="Google Shape;351;g3d635d120e2_2_186" title="HGZ 86 URUAPAN.jpg">
              <a:extLst>
                <a:ext uri="{FF2B5EF4-FFF2-40B4-BE49-F238E27FC236}">
                  <a16:creationId xmlns:a16="http://schemas.microsoft.com/office/drawing/2014/main" id="{0A30315B-80AB-A0A5-CA91-6F2D6040C881}"/>
                </a:ext>
              </a:extLst>
            </p:cNvPr>
            <p:cNvPicPr preferRelativeResize="0"/>
            <p:nvPr/>
          </p:nvPicPr>
          <p:blipFill rotWithShape="1">
            <a:blip r:embed="rId4">
              <a:alphaModFix/>
            </a:blip>
            <a:srcRect l="1417" t="15479" r="44279" b="26090"/>
            <a:stretch/>
          </p:blipFill>
          <p:spPr>
            <a:xfrm>
              <a:off x="2778614" y="6130684"/>
              <a:ext cx="2401009" cy="1562332"/>
            </a:xfrm>
            <a:prstGeom prst="rect">
              <a:avLst/>
            </a:prstGeom>
            <a:noFill/>
            <a:ln>
              <a:noFill/>
            </a:ln>
            <a:effectLst>
              <a:outerShdw blurRad="114300" dist="57150" dir="10800000" algn="bl" rotWithShape="0">
                <a:srgbClr val="000000">
                  <a:alpha val="50000"/>
                </a:srgbClr>
              </a:outerShdw>
            </a:effectLst>
          </p:spPr>
        </p:pic>
        <p:sp>
          <p:nvSpPr>
            <p:cNvPr id="9" name="Google Shape;352;g3d635d120e2_2_186">
              <a:extLst>
                <a:ext uri="{FF2B5EF4-FFF2-40B4-BE49-F238E27FC236}">
                  <a16:creationId xmlns:a16="http://schemas.microsoft.com/office/drawing/2014/main" id="{3C669F50-C3C6-EC9A-F1F1-13F25B518983}"/>
                </a:ext>
              </a:extLst>
            </p:cNvPr>
            <p:cNvSpPr/>
            <p:nvPr/>
          </p:nvSpPr>
          <p:spPr>
            <a:xfrm>
              <a:off x="3201155" y="7706888"/>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0" name="Google Shape;353;g3d635d120e2_2_186">
              <a:extLst>
                <a:ext uri="{FF2B5EF4-FFF2-40B4-BE49-F238E27FC236}">
                  <a16:creationId xmlns:a16="http://schemas.microsoft.com/office/drawing/2014/main" id="{6E2FE7E4-A6E0-9655-EEA1-FC88CE7E59FF}"/>
                </a:ext>
              </a:extLst>
            </p:cNvPr>
            <p:cNvSpPr/>
            <p:nvPr/>
          </p:nvSpPr>
          <p:spPr>
            <a:xfrm>
              <a:off x="2778623" y="7706877"/>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a:t>
              </a:r>
              <a:endParaRPr>
                <a:solidFill>
                  <a:srgbClr val="FFFFFF"/>
                </a:solidFill>
                <a:latin typeface="Noto Sans Black"/>
                <a:ea typeface="Noto Sans Black"/>
                <a:cs typeface="Noto Sans Black"/>
                <a:sym typeface="Noto Sans Black"/>
              </a:endParaRPr>
            </a:p>
          </p:txBody>
        </p:sp>
        <p:sp>
          <p:nvSpPr>
            <p:cNvPr id="11" name="Google Shape;354;g3d635d120e2_2_186">
              <a:extLst>
                <a:ext uri="{FF2B5EF4-FFF2-40B4-BE49-F238E27FC236}">
                  <a16:creationId xmlns:a16="http://schemas.microsoft.com/office/drawing/2014/main" id="{D62D0266-764E-4466-C6EF-896185DF8DE2}"/>
                </a:ext>
              </a:extLst>
            </p:cNvPr>
            <p:cNvSpPr txBox="1"/>
            <p:nvPr/>
          </p:nvSpPr>
          <p:spPr>
            <a:xfrm>
              <a:off x="2724600" y="8190665"/>
              <a:ext cx="2323200" cy="644762"/>
            </a:xfrm>
            <a:prstGeom prst="rect">
              <a:avLst/>
            </a:prstGeom>
            <a:noFill/>
            <a:ln>
              <a:noFill/>
            </a:ln>
          </p:spPr>
          <p:txBody>
            <a:bodyPr spcFirstLastPara="1" wrap="square" lIns="91425" tIns="91425" rIns="91425" bIns="91425" anchor="t" anchorCtr="0">
              <a:spAutoFit/>
            </a:bodyPr>
            <a:lstStyle/>
            <a:p>
              <a:pPr marL="0" marR="635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HGZMF 2 Apizaco</a:t>
              </a:r>
            </a:p>
            <a:p>
              <a:pPr marL="0" marR="63500" lvl="0" indent="0" algn="just"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$4.3 mdp</a:t>
              </a:r>
              <a:endParaRPr sz="1300" b="1" dirty="0">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54" name="Table 153"/>
          <p:cNvGraphicFramePr>
            <a:graphicFrameLocks noGrp="1"/>
          </p:cNvGraphicFramePr>
          <p:nvPr/>
        </p:nvGraphicFramePr>
        <p:xfrm>
          <a:off x="93600" y="1180800"/>
          <a:ext cx="7534799" cy="1080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HGZMF 2 Apizaco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 Tlaxcala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13</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8 Tlaxcala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33102879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2009593A-4134-D6D5-D72E-ABD5072710C9}"/>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43AF8512-D2A4-D90F-80AC-80134F816DAB}"/>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D4DDCB8-4864-55EC-EF66-818D0176F482}"/>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E8F03F8C-7212-7250-6076-381D285F9CD1}"/>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73D49A0A-36FC-C126-39F4-4785B0C612D4}"/>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88AFB25E-CF29-5371-33C7-7B61B2DED83B}"/>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B58A0E93-020E-51F5-24EA-C6D203BAEDF2}"/>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+3,390</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+122,696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+20,671</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878,697</a:t>
                      </a:r>
                    </a:p>
                  </a:txBody>
                  <a:tcPr marL="0" marR="0" marT="0" marB="0" anchor="ctr">
                    <a:solidFill>
                      <a:srgbClr val="FFFFFF"/>
                    </a:solidFill>
                  </a:tcPr>
                </a:tc>
                <a:tc>
                  <a:txBody>
                    <a:bodyPr/>
                    <a:lstStyle/>
                    <a:p>
                      <a:pPr algn="ctr">
                        <a:defRPr sz="1000">
                          <a:solidFill>
                            <a:srgbClr val="404040"/>
                          </a:solidFill>
                          <a:latin typeface="Montserrat"/>
                        </a:defRPr>
                      </a:pPr>
                      <a:r>
                        <a:t>122,696</a:t>
                      </a:r>
                    </a:p>
                  </a:txBody>
                  <a:tcPr marL="0" marR="0" marT="0" marB="0" anchor="ctr">
                    <a:solidFill>
                      <a:srgbClr val="FFFFFF"/>
                    </a:solidFill>
                  </a:tcPr>
                </a:tc>
                <a:tc>
                  <a:txBody>
                    <a:bodyPr/>
                    <a:lstStyle/>
                    <a:p>
                      <a:pPr algn="ctr">
                        <a:defRPr sz="1000" b="1">
                          <a:solidFill>
                            <a:srgbClr val="980000"/>
                          </a:solidFill>
                          <a:latin typeface="Montserrat"/>
                        </a:defRPr>
                      </a:pPr>
                      <a:r>
                        <a:t>370,306</a:t>
                      </a:r>
                    </a:p>
                  </a:txBody>
                  <a:tcPr marL="0" marR="0" marT="0" marB="0" anchor="ctr">
                    <a:solidFill>
                      <a:srgbClr val="ECD3D9"/>
                    </a:solidFill>
                  </a:tcPr>
                </a:tc>
                <a:tc>
                  <a:txBody>
                    <a:bodyPr/>
                    <a:lstStyle/>
                    <a:p>
                      <a:pPr algn="ctr">
                        <a:defRPr sz="1000" b="1">
                          <a:solidFill>
                            <a:srgbClr val="980000"/>
                          </a:solidFill>
                          <a:latin typeface="Montserrat"/>
                        </a:defRPr>
                      </a:pPr>
                      <a:r>
                        <a:t>879,192</a:t>
                      </a:r>
                    </a:p>
                  </a:txBody>
                  <a:tcPr marL="0" marR="0" marT="0" marB="0" anchor="ctr">
                    <a:solidFill>
                      <a:srgbClr val="ECD3D9"/>
                    </a:solidFill>
                  </a:tcPr>
                </a:tc>
                <a:tc>
                  <a:txBody>
                    <a:bodyPr/>
                    <a:lstStyle/>
                    <a:p>
                      <a:pPr algn="ctr">
                        <a:defRPr sz="1000" b="1">
                          <a:solidFill>
                            <a:srgbClr val="980000"/>
                          </a:solidFill>
                          <a:latin typeface="Montserrat"/>
                        </a:defRPr>
                      </a:pPr>
                      <a:r>
                        <a:t>42.1%</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215,676</a:t>
                      </a:r>
                    </a:p>
                  </a:txBody>
                  <a:tcPr marL="0" marR="0" marT="0" marB="0" anchor="ctr">
                    <a:solidFill>
                      <a:srgbClr val="EFEFEF"/>
                    </a:solidFill>
                  </a:tcPr>
                </a:tc>
                <a:tc>
                  <a:txBody>
                    <a:bodyPr/>
                    <a:lstStyle/>
                    <a:p>
                      <a:pPr algn="ctr">
                        <a:defRPr sz="1000">
                          <a:solidFill>
                            <a:srgbClr val="404040"/>
                          </a:solidFill>
                          <a:latin typeface="Montserrat"/>
                        </a:defRPr>
                      </a:pPr>
                      <a:r>
                        <a:t>20,671</a:t>
                      </a:r>
                    </a:p>
                  </a:txBody>
                  <a:tcPr marL="0" marR="0" marT="0" marB="0" anchor="ctr">
                    <a:solidFill>
                      <a:srgbClr val="EFEFEF"/>
                    </a:solidFill>
                  </a:tcPr>
                </a:tc>
                <a:tc>
                  <a:txBody>
                    <a:bodyPr/>
                    <a:lstStyle/>
                    <a:p>
                      <a:pPr algn="ctr">
                        <a:defRPr sz="1000" b="1">
                          <a:solidFill>
                            <a:srgbClr val="980000"/>
                          </a:solidFill>
                          <a:latin typeface="Montserrat"/>
                        </a:defRPr>
                      </a:pPr>
                      <a:r>
                        <a:t>93,372</a:t>
                      </a:r>
                    </a:p>
                  </a:txBody>
                  <a:tcPr marL="0" marR="0" marT="0" marB="0" anchor="ctr">
                    <a:solidFill>
                      <a:srgbClr val="F4E3E7"/>
                    </a:solidFill>
                  </a:tcPr>
                </a:tc>
                <a:tc>
                  <a:txBody>
                    <a:bodyPr/>
                    <a:lstStyle/>
                    <a:p>
                      <a:pPr algn="ctr">
                        <a:defRPr sz="1000" b="1">
                          <a:solidFill>
                            <a:srgbClr val="980000"/>
                          </a:solidFill>
                          <a:latin typeface="Montserrat"/>
                        </a:defRPr>
                      </a:pPr>
                      <a:r>
                        <a:t>229,950</a:t>
                      </a:r>
                    </a:p>
                  </a:txBody>
                  <a:tcPr marL="0" marR="0" marT="0" marB="0" anchor="ctr">
                    <a:solidFill>
                      <a:srgbClr val="F4E3E7"/>
                    </a:solidFill>
                  </a:tcPr>
                </a:tc>
                <a:tc>
                  <a:txBody>
                    <a:bodyPr/>
                    <a:lstStyle/>
                    <a:p>
                      <a:pPr algn="ctr">
                        <a:defRPr sz="1000" b="1">
                          <a:solidFill>
                            <a:srgbClr val="980000"/>
                          </a:solidFill>
                          <a:latin typeface="Montserrat"/>
                        </a:defRPr>
                      </a:pPr>
                      <a:r>
                        <a:t>40.6%</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13,782</a:t>
                      </a:r>
                    </a:p>
                  </a:txBody>
                  <a:tcPr marL="0" marR="0" marT="0" marB="0" anchor="ctr">
                    <a:solidFill>
                      <a:srgbClr val="FFFFFF"/>
                    </a:solidFill>
                  </a:tcPr>
                </a:tc>
                <a:tc>
                  <a:txBody>
                    <a:bodyPr/>
                    <a:lstStyle/>
                    <a:p>
                      <a:pPr algn="ctr">
                        <a:defRPr sz="1000">
                          <a:solidFill>
                            <a:srgbClr val="404040"/>
                          </a:solidFill>
                          <a:latin typeface="Montserrat"/>
                        </a:defRPr>
                      </a:pPr>
                      <a:r>
                        <a:t>3,390</a:t>
                      </a:r>
                    </a:p>
                  </a:txBody>
                  <a:tcPr marL="0" marR="0" marT="0" marB="0" anchor="ctr">
                    <a:solidFill>
                      <a:srgbClr val="FFFFFF"/>
                    </a:solidFill>
                  </a:tcPr>
                </a:tc>
                <a:tc>
                  <a:txBody>
                    <a:bodyPr/>
                    <a:lstStyle/>
                    <a:p>
                      <a:pPr algn="ctr">
                        <a:defRPr sz="1000" b="1">
                          <a:solidFill>
                            <a:srgbClr val="980000"/>
                          </a:solidFill>
                          <a:latin typeface="Montserrat"/>
                        </a:defRPr>
                      </a:pPr>
                      <a:r>
                        <a:t>6,319</a:t>
                      </a:r>
                    </a:p>
                  </a:txBody>
                  <a:tcPr marL="0" marR="0" marT="0" marB="0" anchor="ctr">
                    <a:solidFill>
                      <a:srgbClr val="ECD3D9"/>
                    </a:solidFill>
                  </a:tcPr>
                </a:tc>
                <a:tc>
                  <a:txBody>
                    <a:bodyPr/>
                    <a:lstStyle/>
                    <a:p>
                      <a:pPr algn="ctr">
                        <a:defRPr sz="1000" b="1">
                          <a:solidFill>
                            <a:srgbClr val="980000"/>
                          </a:solidFill>
                          <a:latin typeface="Montserrat"/>
                        </a:defRPr>
                      </a:pPr>
                      <a:r>
                        <a:t>15,315</a:t>
                      </a:r>
                    </a:p>
                  </a:txBody>
                  <a:tcPr marL="0" marR="0" marT="0" marB="0" anchor="ctr">
                    <a:solidFill>
                      <a:srgbClr val="ECD3D9"/>
                    </a:solidFill>
                  </a:tcPr>
                </a:tc>
                <a:tc>
                  <a:txBody>
                    <a:bodyPr/>
                    <a:lstStyle/>
                    <a:p>
                      <a:pPr algn="ctr">
                        <a:defRPr sz="1000" b="1">
                          <a:solidFill>
                            <a:srgbClr val="980000"/>
                          </a:solidFill>
                          <a:latin typeface="Montserrat"/>
                        </a:defRPr>
                      </a:pPr>
                      <a:r>
                        <a:t>41.3%</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5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1058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5 Santo Toribio</a:t>
                      </a:r>
                    </a:p>
                  </a:txBody>
                  <a:tcPr marL="0" marR="0" marT="0" marB="0">
                    <a:solidFill>
                      <a:srgbClr val="FFFFFF"/>
                    </a:solidFill>
                  </a:tcPr>
                </a:tc>
                <a:tc>
                  <a:txBody>
                    <a:bodyPr/>
                    <a:lstStyle/>
                    <a:p>
                      <a:pPr algn="ctr">
                        <a:defRPr sz="1000">
                          <a:latin typeface="Montserrat"/>
                        </a:defRPr>
                      </a:pPr>
                      <a:r>
                        <a:t>18,633</a:t>
                      </a:r>
                    </a:p>
                  </a:txBody>
                  <a:tcPr marL="0" marR="0" marT="0" marB="0">
                    <a:solidFill>
                      <a:srgbClr val="FFFFFF"/>
                    </a:solidFill>
                  </a:tcPr>
                </a:tc>
                <a:tc>
                  <a:txBody>
                    <a:bodyPr/>
                    <a:lstStyle/>
                    <a:p>
                      <a:pPr algn="ctr">
                        <a:defRPr sz="1000">
                          <a:latin typeface="Montserrat"/>
                        </a:defRPr>
                      </a:pPr>
                      <a:r>
                        <a:t>51</a:t>
                      </a:r>
                    </a:p>
                  </a:txBody>
                  <a:tcPr marL="0" marR="0" marT="0" marB="0">
                    <a:solidFill>
                      <a:srgbClr val="FFFFFF"/>
                    </a:solidFill>
                  </a:tcPr>
                </a:tc>
                <a:tc>
                  <a:txBody>
                    <a:bodyPr/>
                    <a:lstStyle/>
                    <a:p>
                      <a:pPr algn="ctr">
                        <a:defRPr sz="1000">
                          <a:latin typeface="Montserrat"/>
                        </a:defRPr>
                      </a:pPr>
                      <a:r>
                        <a:t>9,277</a:t>
                      </a:r>
                    </a:p>
                  </a:txBody>
                  <a:tcPr marL="0" marR="0" marT="0" marB="0">
                    <a:solidFill>
                      <a:srgbClr val="ECD3D9"/>
                    </a:solidFill>
                  </a:tcPr>
                </a:tc>
                <a:tc>
                  <a:txBody>
                    <a:bodyPr/>
                    <a:lstStyle/>
                    <a:p>
                      <a:pPr algn="ctr">
                        <a:defRPr sz="1000">
                          <a:latin typeface="Montserrat"/>
                        </a:defRPr>
                      </a:pPr>
                      <a:r>
                        <a:t>20,000</a:t>
                      </a:r>
                    </a:p>
                  </a:txBody>
                  <a:tcPr marL="0" marR="0" marT="0" marB="0">
                    <a:solidFill>
                      <a:srgbClr val="ECD3D9"/>
                    </a:solidFill>
                  </a:tcPr>
                </a:tc>
                <a:tc>
                  <a:txBody>
                    <a:bodyPr/>
                    <a:lstStyle/>
                    <a:p>
                      <a:pPr algn="ctr">
                        <a:defRPr sz="1000">
                          <a:latin typeface="Montserrat"/>
                        </a:defRPr>
                      </a:pPr>
                      <a:r>
                        <a:t>46.4%</a:t>
                      </a:r>
                    </a:p>
                  </a:txBody>
                  <a:tcPr marL="0" marR="0" marT="0" marB="0">
                    <a:solidFill>
                      <a:srgbClr val="ECD3D9"/>
                    </a:solidFill>
                  </a:tcPr>
                </a:tc>
              </a:tr>
              <a:tr h="151200">
                <a:tc>
                  <a:txBody>
                    <a:bodyPr/>
                    <a:lstStyle/>
                    <a:p>
                      <a:pPr algn="l">
                        <a:defRPr sz="1000">
                          <a:latin typeface="Montserrat"/>
                        </a:defRPr>
                      </a:pPr>
                      <a:r>
                        <a:t>UMF 17 S. Bernabé</a:t>
                      </a:r>
                    </a:p>
                  </a:txBody>
                  <a:tcPr marL="0" marR="0" marT="0" marB="0">
                    <a:solidFill>
                      <a:srgbClr val="EFEFEF"/>
                    </a:solidFill>
                  </a:tcPr>
                </a:tc>
                <a:tc>
                  <a:txBody>
                    <a:bodyPr/>
                    <a:lstStyle/>
                    <a:p>
                      <a:pPr algn="ctr">
                        <a:defRPr sz="1000">
                          <a:latin typeface="Montserrat"/>
                        </a:defRPr>
                      </a:pPr>
                      <a:r>
                        <a:t>6,132</a:t>
                      </a:r>
                    </a:p>
                  </a:txBody>
                  <a:tcPr marL="0" marR="0" marT="0" marB="0">
                    <a:solidFill>
                      <a:srgbClr val="EFEFEF"/>
                    </a:solidFill>
                  </a:tcPr>
                </a:tc>
                <a:tc>
                  <a:txBody>
                    <a:bodyPr/>
                    <a:lstStyle/>
                    <a:p>
                      <a:pPr algn="ctr">
                        <a:defRPr sz="1000">
                          <a:latin typeface="Montserrat"/>
                        </a:defRPr>
                      </a:pPr>
                      <a:r>
                        <a:t>-416</a:t>
                      </a:r>
                    </a:p>
                  </a:txBody>
                  <a:tcPr marL="0" marR="0" marT="0" marB="0">
                    <a:solidFill>
                      <a:srgbClr val="EFEFEF"/>
                    </a:solidFill>
                  </a:tcPr>
                </a:tc>
                <a:tc>
                  <a:txBody>
                    <a:bodyPr/>
                    <a:lstStyle/>
                    <a:p>
                      <a:pPr algn="ctr">
                        <a:defRPr sz="1000">
                          <a:latin typeface="Montserrat"/>
                        </a:defRPr>
                      </a:pPr>
                      <a:r>
                        <a:t>4,411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63.0%</a:t>
                      </a:r>
                    </a:p>
                  </a:txBody>
                  <a:tcPr marL="0" marR="0" marT="0" marB="0">
                    <a:solidFill>
                      <a:srgbClr val="ECD3D9"/>
                    </a:solidFill>
                  </a:tcPr>
                </a:tc>
              </a:tr>
              <a:tr h="151200">
                <a:tc>
                  <a:txBody>
                    <a:bodyPr/>
                    <a:lstStyle/>
                    <a:p>
                      <a:pPr algn="l">
                        <a:defRPr sz="1000">
                          <a:latin typeface="Montserrat"/>
                        </a:defRPr>
                      </a:pPr>
                      <a:r>
                        <a:t>UMF 18 Santa Cruz</a:t>
                      </a:r>
                    </a:p>
                  </a:txBody>
                  <a:tcPr marL="0" marR="0" marT="0" marB="0">
                    <a:solidFill>
                      <a:srgbClr val="FFFFFF"/>
                    </a:solidFill>
                  </a:tcPr>
                </a:tc>
                <a:tc>
                  <a:txBody>
                    <a:bodyPr/>
                    <a:lstStyle/>
                    <a:p>
                      <a:pPr algn="ctr">
                        <a:defRPr sz="1000">
                          <a:latin typeface="Montserrat"/>
                        </a:defRPr>
                      </a:pPr>
                      <a:r>
                        <a:t>12,111</a:t>
                      </a:r>
                    </a:p>
                  </a:txBody>
                  <a:tcPr marL="0" marR="0" marT="0" marB="0">
                    <a:solidFill>
                      <a:srgbClr val="FFFFFF"/>
                    </a:solidFill>
                  </a:tcPr>
                </a:tc>
                <a:tc>
                  <a:txBody>
                    <a:bodyPr/>
                    <a:lstStyle/>
                    <a:p>
                      <a:pPr algn="ctr">
                        <a:defRPr sz="1000">
                          <a:latin typeface="Montserrat"/>
                        </a:defRPr>
                      </a:pPr>
                      <a:r>
                        <a:t>-908</a:t>
                      </a:r>
                    </a:p>
                  </a:txBody>
                  <a:tcPr marL="0" marR="0" marT="0" marB="0">
                    <a:solidFill>
                      <a:srgbClr val="FFFFFF"/>
                    </a:solidFill>
                  </a:tcPr>
                </a:tc>
                <a:tc>
                  <a:txBody>
                    <a:bodyPr/>
                    <a:lstStyle/>
                    <a:p>
                      <a:pPr algn="ctr">
                        <a:defRPr sz="1000">
                          <a:latin typeface="Montserrat"/>
                        </a:defRPr>
                      </a:pPr>
                      <a:r>
                        <a:t>5,153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39.6%</a:t>
                      </a:r>
                    </a:p>
                  </a:txBody>
                  <a:tcPr marL="0" marR="0" marT="0" marB="0">
                    <a:solidFill>
                      <a:srgbClr val="ECD3D9"/>
                    </a:solidFill>
                  </a:tcPr>
                </a:tc>
              </a:tr>
              <a:tr h="151200">
                <a:tc>
                  <a:txBody>
                    <a:bodyPr/>
                    <a:lstStyle/>
                    <a:p>
                      <a:pPr algn="l">
                        <a:defRPr sz="1000">
                          <a:latin typeface="Montserrat"/>
                        </a:defRPr>
                      </a:pPr>
                      <a:r>
                        <a:t>UMF 35 Nanacamilpa</a:t>
                      </a:r>
                    </a:p>
                  </a:txBody>
                  <a:tcPr marL="0" marR="0" marT="0" marB="0">
                    <a:solidFill>
                      <a:srgbClr val="EFEFEF"/>
                    </a:solidFill>
                  </a:tcPr>
                </a:tc>
                <a:tc>
                  <a:txBody>
                    <a:bodyPr/>
                    <a:lstStyle/>
                    <a:p>
                      <a:pPr algn="ctr">
                        <a:defRPr sz="1000">
                          <a:latin typeface="Montserrat"/>
                        </a:defRPr>
                      </a:pPr>
                      <a:r>
                        <a:t>12,009</a:t>
                      </a:r>
                    </a:p>
                  </a:txBody>
                  <a:tcPr marL="0" marR="0" marT="0" marB="0">
                    <a:solidFill>
                      <a:srgbClr val="EFEFEF"/>
                    </a:solidFill>
                  </a:tcPr>
                </a:tc>
                <a:tc>
                  <a:txBody>
                    <a:bodyPr/>
                    <a:lstStyle/>
                    <a:p>
                      <a:pPr algn="ctr">
                        <a:defRPr sz="1000">
                          <a:latin typeface="Montserrat"/>
                        </a:defRPr>
                      </a:pPr>
                      <a:r>
                        <a:t>192</a:t>
                      </a:r>
                    </a:p>
                  </a:txBody>
                  <a:tcPr marL="0" marR="0" marT="0" marB="0">
                    <a:solidFill>
                      <a:srgbClr val="EFEFEF"/>
                    </a:solidFill>
                  </a:tcPr>
                </a:tc>
                <a:tc>
                  <a:txBody>
                    <a:bodyPr/>
                    <a:lstStyle/>
                    <a:p>
                      <a:pPr algn="ctr">
                        <a:defRPr sz="1000">
                          <a:latin typeface="Montserrat"/>
                        </a:defRPr>
                      </a:pPr>
                      <a:r>
                        <a:t>5,546</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42.7%</a:t>
                      </a:r>
                    </a:p>
                  </a:txBody>
                  <a:tcPr marL="0" marR="0" marT="0" marB="0">
                    <a:solidFill>
                      <a:srgbClr val="ECD3D9"/>
                    </a:solidFill>
                  </a:tcPr>
                </a:tc>
              </a:tr>
              <a:tr h="151200">
                <a:tc>
                  <a:txBody>
                    <a:bodyPr/>
                    <a:lstStyle/>
                    <a:p>
                      <a:pPr algn="l">
                        <a:defRPr sz="1000">
                          <a:latin typeface="Montserrat"/>
                        </a:defRPr>
                      </a:pPr>
                      <a:r>
                        <a:t>UMF 48 Tlaxco</a:t>
                      </a:r>
                    </a:p>
                  </a:txBody>
                  <a:tcPr marL="0" marR="0" marT="0" marB="0">
                    <a:solidFill>
                      <a:srgbClr val="FFFFFF"/>
                    </a:solidFill>
                  </a:tcPr>
                </a:tc>
                <a:tc>
                  <a:txBody>
                    <a:bodyPr/>
                    <a:lstStyle/>
                    <a:p>
                      <a:pPr algn="ctr">
                        <a:defRPr sz="1000">
                          <a:latin typeface="Montserrat"/>
                        </a:defRPr>
                      </a:pPr>
                      <a:r>
                        <a:t>12,744</a:t>
                      </a:r>
                    </a:p>
                  </a:txBody>
                  <a:tcPr marL="0" marR="0" marT="0" marB="0">
                    <a:solidFill>
                      <a:srgbClr val="FFFFFF"/>
                    </a:solidFill>
                  </a:tcPr>
                </a:tc>
                <a:tc>
                  <a:txBody>
                    <a:bodyPr/>
                    <a:lstStyle/>
                    <a:p>
                      <a:pPr algn="ctr">
                        <a:defRPr sz="1000">
                          <a:latin typeface="Montserrat"/>
                        </a:defRPr>
                      </a:pPr>
                      <a:r>
                        <a:t>189</a:t>
                      </a:r>
                    </a:p>
                  </a:txBody>
                  <a:tcPr marL="0" marR="0" marT="0" marB="0">
                    <a:solidFill>
                      <a:srgbClr val="FFFFFF"/>
                    </a:solidFill>
                  </a:tcPr>
                </a:tc>
                <a:tc>
                  <a:txBody>
                    <a:bodyPr/>
                    <a:lstStyle/>
                    <a:p>
                      <a:pPr algn="ctr">
                        <a:defRPr sz="1000">
                          <a:latin typeface="Montserrat"/>
                        </a:defRPr>
                      </a:pPr>
                      <a:r>
                        <a:t>4,876</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34.8%</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61,629</a:t>
                      </a:r>
                    </a:p>
                  </a:txBody>
                  <a:tcPr marL="0" marR="0" marT="0" marB="0">
                    <a:solidFill>
                      <a:srgbClr val="D3E9E7"/>
                    </a:solidFill>
                  </a:tcPr>
                </a:tc>
                <a:tc>
                  <a:txBody>
                    <a:bodyPr/>
                    <a:lstStyle/>
                    <a:p>
                      <a:pPr algn="ctr">
                        <a:defRPr sz="1000" b="1">
                          <a:solidFill>
                            <a:srgbClr val="006556"/>
                          </a:solidFill>
                          <a:latin typeface="Montserrat"/>
                        </a:defRPr>
                      </a:pPr>
                      <a:r>
                        <a:t>-892</a:t>
                      </a:r>
                    </a:p>
                  </a:txBody>
                  <a:tcPr marL="0" marR="0" marT="0" marB="0">
                    <a:solidFill>
                      <a:srgbClr val="D3E9E7"/>
                    </a:solidFill>
                  </a:tcPr>
                </a:tc>
                <a:tc>
                  <a:txBody>
                    <a:bodyPr/>
                    <a:lstStyle/>
                    <a:p>
                      <a:pPr algn="ctr">
                        <a:defRPr sz="1000" b="1">
                          <a:solidFill>
                            <a:srgbClr val="FFFFFF"/>
                          </a:solidFill>
                          <a:latin typeface="Montserrat"/>
                        </a:defRPr>
                      </a:pPr>
                      <a:r>
                        <a:t>29,263</a:t>
                      </a:r>
                    </a:p>
                  </a:txBody>
                  <a:tcPr marL="0" marR="0" marT="0" marB="0">
                    <a:solidFill>
                      <a:srgbClr val="9F2241"/>
                    </a:solidFill>
                  </a:tcPr>
                </a:tc>
                <a:tc>
                  <a:txBody>
                    <a:bodyPr/>
                    <a:lstStyle/>
                    <a:p>
                      <a:pPr algn="ctr">
                        <a:defRPr sz="1000" b="1">
                          <a:solidFill>
                            <a:srgbClr val="FFFFFF"/>
                          </a:solidFill>
                          <a:latin typeface="Montserrat"/>
                        </a:defRPr>
                      </a:pPr>
                      <a:r>
                        <a:t>67,000</a:t>
                      </a:r>
                    </a:p>
                  </a:txBody>
                  <a:tcPr marL="0" marR="0" marT="0" marB="0">
                    <a:solidFill>
                      <a:srgbClr val="9F2241"/>
                    </a:solidFill>
                  </a:tcPr>
                </a:tc>
                <a:tc>
                  <a:txBody>
                    <a:bodyPr/>
                    <a:lstStyle/>
                    <a:p>
                      <a:pPr algn="ctr">
                        <a:defRPr sz="1000" b="1">
                          <a:solidFill>
                            <a:srgbClr val="FFFFFF"/>
                          </a:solidFill>
                          <a:latin typeface="Montserrat"/>
                        </a:defRPr>
                      </a:pPr>
                      <a:r>
                        <a:t>43.7%</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34704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4190400"/>
            <a:ext cx="1800000" cy="360000"/>
          </a:xfrm>
          <a:prstGeom prst="rect">
            <a:avLst/>
          </a:prstGeom>
          <a:noFill/>
        </p:spPr>
        <p:txBody>
          <a:bodyPr wrap="none">
            <a:spAutoFit/>
          </a:bodyPr>
          <a:lstStyle/>
          <a:p>
            <a:pPr algn="ctr"/>
            <a:r>
              <a:rPr sz="2400" b="1">
                <a:solidFill>
                  <a:srgbClr val="9F2241"/>
                </a:solidFill>
                <a:latin typeface="Montserrat"/>
              </a:rPr>
              <a:t>43.7%</a:t>
            </a:r>
          </a:p>
        </p:txBody>
      </p:sp>
      <p:sp>
        <p:nvSpPr>
          <p:cNvPr id="11" name="TextBox 10"/>
          <p:cNvSpPr txBox="1"/>
          <p:nvPr/>
        </p:nvSpPr>
        <p:spPr>
          <a:xfrm>
            <a:off x="4780800" y="50904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3470400"/>
            <a:ext cx="2854800" cy="1198800"/>
          </a:xfrm>
          <a:prstGeom prst="rect">
            <a:avLst/>
          </a:prstGeom>
          <a:noFill/>
        </p:spPr>
        <p:txBody>
          <a:bodyPr wrap="square">
            <a:spAutoFit/>
          </a:bodyPr>
          <a:lstStyle/>
          <a:p>
            <a:pPr algn="ctr">
              <a:defRPr sz="3600" b="1">
                <a:solidFill>
                  <a:srgbClr val="9F2241"/>
                </a:solidFill>
                <a:latin typeface="Montserrat"/>
              </a:defRPr>
            </a:pPr>
            <a:r>
              <a:t>67,000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9" name="CuadroTexto 8">
            <a:extLst>
              <a:ext uri="{FF2B5EF4-FFF2-40B4-BE49-F238E27FC236}">
                <a16:creationId xmlns:a16="http://schemas.microsoft.com/office/drawing/2014/main" id="{A13E7CBA-1C58-8DCE-F283-E4734033525E}"/>
              </a:ext>
            </a:extLst>
          </p:cNvPr>
          <p:cNvSpPr txBox="1"/>
          <p:nvPr/>
        </p:nvSpPr>
        <p:spPr>
          <a:xfrm>
            <a:off x="4256736" y="5459961"/>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2 Nuevas UMTC con   2 consultorios</a:t>
            </a:r>
          </a:p>
        </p:txBody>
      </p:sp>
      <p:sp>
        <p:nvSpPr>
          <p:cNvPr id="10" name="CuadroTexto 9">
            <a:extLst>
              <a:ext uri="{FF2B5EF4-FFF2-40B4-BE49-F238E27FC236}">
                <a16:creationId xmlns:a16="http://schemas.microsoft.com/office/drawing/2014/main" id="{E113D526-D62C-4603-D371-B5EF06E5A80E}"/>
              </a:ext>
            </a:extLst>
          </p:cNvPr>
          <p:cNvSpPr txBox="1"/>
          <p:nvPr/>
        </p:nvSpPr>
        <p:spPr>
          <a:xfrm>
            <a:off x="4614277" y="6884224"/>
            <a:ext cx="2733027" cy="523220"/>
          </a:xfrm>
          <a:prstGeom prst="rect">
            <a:avLst/>
          </a:prstGeom>
          <a:noFill/>
        </p:spPr>
        <p:txBody>
          <a:bodyPr wrap="square">
            <a:spAutoFit/>
          </a:bodyPr>
          <a:lstStyle/>
          <a:p>
            <a:pPr marL="342900" indent="-342900">
              <a:buFont typeface="+mj-lt"/>
              <a:buAutoNum type="arabicParenR"/>
            </a:pPr>
            <a:r>
              <a:rPr lang="pt-BR" dirty="0">
                <a:latin typeface="Montserrat" panose="00000500000000000000" pitchFamily="2" charset="0"/>
              </a:rPr>
              <a:t>UMF 48 </a:t>
            </a:r>
            <a:r>
              <a:rPr lang="pt-BR" dirty="0" err="1">
                <a:latin typeface="Montserrat" panose="00000500000000000000" pitchFamily="2" charset="0"/>
              </a:rPr>
              <a:t>Tlaxco</a:t>
            </a:r>
            <a:endParaRPr lang="pt-BR" dirty="0">
              <a:latin typeface="Montserrat" panose="00000500000000000000" pitchFamily="2" charset="0"/>
            </a:endParaRPr>
          </a:p>
          <a:p>
            <a:pPr marL="342900" indent="-342900">
              <a:buFont typeface="+mj-lt"/>
              <a:buAutoNum type="arabicParenR"/>
            </a:pPr>
            <a:r>
              <a:rPr lang="pt-BR" dirty="0">
                <a:latin typeface="Montserrat" panose="00000500000000000000" pitchFamily="2" charset="0"/>
              </a:rPr>
              <a:t>UMF 18 Santa Cruz</a:t>
            </a:r>
          </a:p>
        </p:txBody>
      </p:sp>
      <p:sp>
        <p:nvSpPr>
          <p:cNvPr id="11" name="TextBox 1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12" name="TextBox 11"/>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14 Unidades de Medicina Familiar</a:t>
            </a:r>
          </a:p>
        </p:txBody>
      </p:sp>
      <p:sp>
        <p:nvSpPr>
          <p:cNvPr id="13" name="TextBox 12"/>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9 Unidades Médicas de tiempo completo (19 consultorios)</a:t>
            </a:r>
          </a:p>
        </p:txBody>
      </p:sp>
      <p:sp>
        <p:nvSpPr>
          <p:cNvPr id="14" name="TextBox 13"/>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5" name="Connector 14"/>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17" name="TextBox 16"/>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(93,279 consultas)</a:t>
            </a:r>
          </a:p>
        </p:txBody>
      </p:sp>
      <p:graphicFrame>
        <p:nvGraphicFramePr>
          <p:cNvPr id="18" name="Table 17"/>
          <p:cNvGraphicFramePr>
            <a:graphicFrameLocks noGrp="1"/>
          </p:cNvGraphicFramePr>
          <p:nvPr/>
        </p:nvGraphicFramePr>
        <p:xfrm>
          <a:off x="151200" y="1695600"/>
          <a:ext cx="7473599" cy="16632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7 Santa Inés</a:t>
                      </a:r>
                    </a:p>
                  </a:txBody>
                  <a:tcPr marL="0" marR="0" marT="0" marB="0">
                    <a:solidFill>
                      <a:srgbClr val="FFFFFF"/>
                    </a:solidFill>
                  </a:tcPr>
                </a:tc>
                <a:tc>
                  <a:txBody>
                    <a:bodyPr/>
                    <a:lstStyle/>
                    <a:p>
                      <a:pPr algn="ctr">
                        <a:defRPr sz="1000">
                          <a:solidFill>
                            <a:srgbClr val="000000"/>
                          </a:solidFill>
                          <a:latin typeface="Montserrat"/>
                        </a:defRPr>
                      </a:pPr>
                      <a:r>
                        <a:t>89,244</a:t>
                      </a:r>
                    </a:p>
                  </a:txBody>
                  <a:tcPr marL="0" marR="0" marT="0" marB="0">
                    <a:solidFill>
                      <a:srgbClr val="FFFFFF"/>
                    </a:solidFill>
                  </a:tcPr>
                </a:tc>
                <a:tc>
                  <a:txBody>
                    <a:bodyPr/>
                    <a:lstStyle/>
                    <a:p>
                      <a:pPr algn="ctr">
                        <a:defRPr sz="1000">
                          <a:solidFill>
                            <a:srgbClr val="000000"/>
                          </a:solidFill>
                          <a:latin typeface="Montserrat"/>
                        </a:defRPr>
                      </a:pPr>
                      <a:r>
                        <a:t>11,737</a:t>
                      </a:r>
                    </a:p>
                  </a:txBody>
                  <a:tcPr marL="0" marR="0" marT="0" marB="0">
                    <a:solidFill>
                      <a:srgbClr val="FFFFFF"/>
                    </a:solidFill>
                  </a:tcPr>
                </a:tc>
                <a:tc>
                  <a:txBody>
                    <a:bodyPr/>
                    <a:lstStyle/>
                    <a:p>
                      <a:pPr algn="ctr">
                        <a:defRPr sz="1000">
                          <a:solidFill>
                            <a:srgbClr val="000000"/>
                          </a:solidFill>
                          <a:latin typeface="Montserrat"/>
                        </a:defRPr>
                      </a:pPr>
                      <a:r>
                        <a:t>35,783</a:t>
                      </a:r>
                    </a:p>
                  </a:txBody>
                  <a:tcPr marL="0" marR="0" marT="0" marB="0">
                    <a:solidFill>
                      <a:srgbClr val="ECD3D9"/>
                    </a:solidFill>
                  </a:tcPr>
                </a:tc>
                <a:tc>
                  <a:txBody>
                    <a:bodyPr/>
                    <a:lstStyle/>
                    <a:p>
                      <a:pPr algn="ctr">
                        <a:defRPr sz="1000">
                          <a:solidFill>
                            <a:srgbClr val="000000"/>
                          </a:solidFill>
                          <a:latin typeface="Montserrat"/>
                        </a:defRPr>
                      </a:pPr>
                      <a:r>
                        <a:t>87,000</a:t>
                      </a:r>
                    </a:p>
                  </a:txBody>
                  <a:tcPr marL="0" marR="0" marT="0" marB="0">
                    <a:solidFill>
                      <a:srgbClr val="ECD3D9"/>
                    </a:solidFill>
                  </a:tcPr>
                </a:tc>
                <a:tc>
                  <a:txBody>
                    <a:bodyPr/>
                    <a:lstStyle/>
                    <a:p>
                      <a:pPr algn="ctr">
                        <a:defRPr sz="1000">
                          <a:solidFill>
                            <a:srgbClr val="000000"/>
                          </a:solidFill>
                          <a:latin typeface="Montserrat"/>
                        </a:defRPr>
                      </a:pPr>
                      <a:r>
                        <a:t>41.1%</a:t>
                      </a:r>
                    </a:p>
                  </a:txBody>
                  <a:tcPr marL="0" marR="0" marT="0" marB="0">
                    <a:solidFill>
                      <a:srgbClr val="ECD3D9"/>
                    </a:solidFill>
                  </a:tcPr>
                </a:tc>
              </a:tr>
              <a:tr h="151200">
                <a:tc>
                  <a:txBody>
                    <a:bodyPr/>
                    <a:lstStyle/>
                    <a:p>
                      <a:pPr algn="l">
                        <a:defRPr sz="1000">
                          <a:solidFill>
                            <a:srgbClr val="000000"/>
                          </a:solidFill>
                          <a:latin typeface="Montserrat"/>
                        </a:defRPr>
                      </a:pPr>
                      <a:r>
                        <a:t>UMF 6 Panzacola</a:t>
                      </a:r>
                    </a:p>
                  </a:txBody>
                  <a:tcPr marL="0" marR="0" marT="0" marB="0">
                    <a:solidFill>
                      <a:srgbClr val="EFEFEF"/>
                    </a:solidFill>
                  </a:tcPr>
                </a:tc>
                <a:tc>
                  <a:txBody>
                    <a:bodyPr/>
                    <a:lstStyle/>
                    <a:p>
                      <a:pPr algn="ctr">
                        <a:defRPr sz="1000">
                          <a:solidFill>
                            <a:srgbClr val="000000"/>
                          </a:solidFill>
                          <a:latin typeface="Montserrat"/>
                        </a:defRPr>
                      </a:pPr>
                      <a:r>
                        <a:t>45,945</a:t>
                      </a:r>
                    </a:p>
                  </a:txBody>
                  <a:tcPr marL="0" marR="0" marT="0" marB="0">
                    <a:solidFill>
                      <a:srgbClr val="EFEFEF"/>
                    </a:solidFill>
                  </a:tcPr>
                </a:tc>
                <a:tc>
                  <a:txBody>
                    <a:bodyPr/>
                    <a:lstStyle/>
                    <a:p>
                      <a:pPr algn="ctr">
                        <a:defRPr sz="1000">
                          <a:solidFill>
                            <a:srgbClr val="000000"/>
                          </a:solidFill>
                          <a:latin typeface="Montserrat"/>
                        </a:defRPr>
                      </a:pPr>
                      <a:r>
                        <a:t>6,711</a:t>
                      </a:r>
                    </a:p>
                  </a:txBody>
                  <a:tcPr marL="0" marR="0" marT="0" marB="0">
                    <a:solidFill>
                      <a:srgbClr val="EFEFEF"/>
                    </a:solidFill>
                  </a:tcPr>
                </a:tc>
                <a:tc>
                  <a:txBody>
                    <a:bodyPr/>
                    <a:lstStyle/>
                    <a:p>
                      <a:pPr algn="ctr">
                        <a:defRPr sz="1000">
                          <a:solidFill>
                            <a:srgbClr val="000000"/>
                          </a:solidFill>
                          <a:latin typeface="Montserrat"/>
                        </a:defRPr>
                      </a:pPr>
                      <a:r>
                        <a:t>19,856</a:t>
                      </a:r>
                    </a:p>
                  </a:txBody>
                  <a:tcPr marL="0" marR="0" marT="0" marB="0">
                    <a:solidFill>
                      <a:srgbClr val="ECD3D9"/>
                    </a:solidFill>
                  </a:tcPr>
                </a:tc>
                <a:tc>
                  <a:txBody>
                    <a:bodyPr/>
                    <a:lstStyle/>
                    <a:p>
                      <a:pPr algn="ctr">
                        <a:defRPr sz="1000">
                          <a:solidFill>
                            <a:srgbClr val="000000"/>
                          </a:solidFill>
                          <a:latin typeface="Montserrat"/>
                        </a:defRPr>
                      </a:pPr>
                      <a:r>
                        <a:t>45,000</a:t>
                      </a:r>
                    </a:p>
                  </a:txBody>
                  <a:tcPr marL="0" marR="0" marT="0" marB="0">
                    <a:solidFill>
                      <a:srgbClr val="ECD3D9"/>
                    </a:solidFill>
                  </a:tcPr>
                </a:tc>
                <a:tc>
                  <a:txBody>
                    <a:bodyPr/>
                    <a:lstStyle/>
                    <a:p>
                      <a:pPr algn="ctr">
                        <a:defRPr sz="1000">
                          <a:solidFill>
                            <a:srgbClr val="000000"/>
                          </a:solidFill>
                          <a:latin typeface="Montserrat"/>
                        </a:defRPr>
                      </a:pPr>
                      <a:r>
                        <a:t>44.1%</a:t>
                      </a:r>
                    </a:p>
                  </a:txBody>
                  <a:tcPr marL="0" marR="0" marT="0" marB="0">
                    <a:solidFill>
                      <a:srgbClr val="ECD3D9"/>
                    </a:solidFill>
                  </a:tcPr>
                </a:tc>
              </a:tr>
              <a:tr h="151200">
                <a:tc>
                  <a:txBody>
                    <a:bodyPr/>
                    <a:lstStyle/>
                    <a:p>
                      <a:pPr algn="l">
                        <a:defRPr sz="1000">
                          <a:solidFill>
                            <a:srgbClr val="000000"/>
                          </a:solidFill>
                          <a:latin typeface="Montserrat"/>
                        </a:defRPr>
                      </a:pPr>
                      <a:r>
                        <a:t>UMF 9 Santa Ana</a:t>
                      </a:r>
                    </a:p>
                  </a:txBody>
                  <a:tcPr marL="0" marR="0" marT="0" marB="0">
                    <a:solidFill>
                      <a:srgbClr val="FFFFFF"/>
                    </a:solidFill>
                  </a:tcPr>
                </a:tc>
                <a:tc>
                  <a:txBody>
                    <a:bodyPr/>
                    <a:lstStyle/>
                    <a:p>
                      <a:pPr algn="ctr">
                        <a:defRPr sz="1000">
                          <a:solidFill>
                            <a:srgbClr val="000000"/>
                          </a:solidFill>
                          <a:latin typeface="Montserrat"/>
                        </a:defRPr>
                      </a:pPr>
                      <a:r>
                        <a:t>79,485</a:t>
                      </a:r>
                    </a:p>
                  </a:txBody>
                  <a:tcPr marL="0" marR="0" marT="0" marB="0">
                    <a:solidFill>
                      <a:srgbClr val="FFFFFF"/>
                    </a:solidFill>
                  </a:tcPr>
                </a:tc>
                <a:tc>
                  <a:txBody>
                    <a:bodyPr/>
                    <a:lstStyle/>
                    <a:p>
                      <a:pPr algn="ctr">
                        <a:defRPr sz="1000">
                          <a:solidFill>
                            <a:srgbClr val="000000"/>
                          </a:solidFill>
                          <a:latin typeface="Montserrat"/>
                        </a:defRPr>
                      </a:pPr>
                      <a:r>
                        <a:t>14,040</a:t>
                      </a:r>
                    </a:p>
                  </a:txBody>
                  <a:tcPr marL="0" marR="0" marT="0" marB="0">
                    <a:solidFill>
                      <a:srgbClr val="FFFFFF"/>
                    </a:solidFill>
                  </a:tcPr>
                </a:tc>
                <a:tc>
                  <a:txBody>
                    <a:bodyPr/>
                    <a:lstStyle/>
                    <a:p>
                      <a:pPr algn="ctr">
                        <a:defRPr sz="1000">
                          <a:solidFill>
                            <a:srgbClr val="000000"/>
                          </a:solidFill>
                          <a:latin typeface="Montserrat"/>
                        </a:defRPr>
                      </a:pPr>
                      <a:r>
                        <a:t>34,527</a:t>
                      </a:r>
                    </a:p>
                  </a:txBody>
                  <a:tcPr marL="0" marR="0" marT="0" marB="0">
                    <a:solidFill>
                      <a:srgbClr val="ECD3D9"/>
                    </a:solidFill>
                  </a:tcPr>
                </a:tc>
                <a:tc>
                  <a:txBody>
                    <a:bodyPr/>
                    <a:lstStyle/>
                    <a:p>
                      <a:pPr algn="ctr">
                        <a:defRPr sz="1000">
                          <a:solidFill>
                            <a:srgbClr val="000000"/>
                          </a:solidFill>
                          <a:latin typeface="Montserrat"/>
                        </a:defRPr>
                      </a:pPr>
                      <a:r>
                        <a:t>82,656</a:t>
                      </a:r>
                    </a:p>
                  </a:txBody>
                  <a:tcPr marL="0" marR="0" marT="0" marB="0">
                    <a:solidFill>
                      <a:srgbClr val="ECD3D9"/>
                    </a:solidFill>
                  </a:tcPr>
                </a:tc>
                <a:tc>
                  <a:txBody>
                    <a:bodyPr/>
                    <a:lstStyle/>
                    <a:p>
                      <a:pPr algn="ctr">
                        <a:defRPr sz="1000">
                          <a:solidFill>
                            <a:srgbClr val="000000"/>
                          </a:solidFill>
                          <a:latin typeface="Montserrat"/>
                        </a:defRPr>
                      </a:pPr>
                      <a:r>
                        <a:t>41.8%</a:t>
                      </a:r>
                    </a:p>
                  </a:txBody>
                  <a:tcPr marL="0" marR="0" marT="0" marB="0">
                    <a:solidFill>
                      <a:srgbClr val="ECD3D9"/>
                    </a:solidFill>
                  </a:tcPr>
                </a:tc>
              </a:tr>
              <a:tr h="151200">
                <a:tc>
                  <a:txBody>
                    <a:bodyPr/>
                    <a:lstStyle/>
                    <a:p>
                      <a:pPr algn="l">
                        <a:defRPr sz="1000">
                          <a:solidFill>
                            <a:srgbClr val="000000"/>
                          </a:solidFill>
                          <a:latin typeface="Montserrat"/>
                        </a:defRPr>
                      </a:pPr>
                      <a:r>
                        <a:t>UMF 10 San Pablo</a:t>
                      </a:r>
                    </a:p>
                  </a:txBody>
                  <a:tcPr marL="0" marR="0" marT="0" marB="0">
                    <a:solidFill>
                      <a:srgbClr val="EFEFEF"/>
                    </a:solidFill>
                  </a:tcPr>
                </a:tc>
                <a:tc>
                  <a:txBody>
                    <a:bodyPr/>
                    <a:lstStyle/>
                    <a:p>
                      <a:pPr algn="ctr">
                        <a:defRPr sz="1000">
                          <a:solidFill>
                            <a:srgbClr val="000000"/>
                          </a:solidFill>
                          <a:latin typeface="Montserrat"/>
                        </a:defRPr>
                      </a:pPr>
                      <a:r>
                        <a:t>43,811</a:t>
                      </a:r>
                    </a:p>
                  </a:txBody>
                  <a:tcPr marL="0" marR="0" marT="0" marB="0">
                    <a:solidFill>
                      <a:srgbClr val="EFEFEF"/>
                    </a:solidFill>
                  </a:tcPr>
                </a:tc>
                <a:tc>
                  <a:txBody>
                    <a:bodyPr/>
                    <a:lstStyle/>
                    <a:p>
                      <a:pPr algn="ctr">
                        <a:defRPr sz="1000">
                          <a:solidFill>
                            <a:srgbClr val="000000"/>
                          </a:solidFill>
                          <a:latin typeface="Montserrat"/>
                        </a:defRPr>
                      </a:pPr>
                      <a:r>
                        <a:t>9,170</a:t>
                      </a:r>
                    </a:p>
                  </a:txBody>
                  <a:tcPr marL="0" marR="0" marT="0" marB="0">
                    <a:solidFill>
                      <a:srgbClr val="EFEFEF"/>
                    </a:solidFill>
                  </a:tcPr>
                </a:tc>
                <a:tc>
                  <a:txBody>
                    <a:bodyPr/>
                    <a:lstStyle/>
                    <a:p>
                      <a:pPr algn="ctr">
                        <a:defRPr sz="1000">
                          <a:solidFill>
                            <a:srgbClr val="000000"/>
                          </a:solidFill>
                          <a:latin typeface="Montserrat"/>
                        </a:defRPr>
                      </a:pPr>
                      <a:r>
                        <a:t>18,714</a:t>
                      </a:r>
                    </a:p>
                  </a:txBody>
                  <a:tcPr marL="0" marR="0" marT="0" marB="0">
                    <a:solidFill>
                      <a:srgbClr val="ECD3D9"/>
                    </a:solidFill>
                  </a:tcPr>
                </a:tc>
                <a:tc>
                  <a:txBody>
                    <a:bodyPr/>
                    <a:lstStyle/>
                    <a:p>
                      <a:pPr algn="ctr">
                        <a:defRPr sz="1000">
                          <a:solidFill>
                            <a:srgbClr val="000000"/>
                          </a:solidFill>
                          <a:latin typeface="Montserrat"/>
                        </a:defRPr>
                      </a:pPr>
                      <a:r>
                        <a:t>43,000</a:t>
                      </a:r>
                    </a:p>
                  </a:txBody>
                  <a:tcPr marL="0" marR="0" marT="0" marB="0">
                    <a:solidFill>
                      <a:srgbClr val="ECD3D9"/>
                    </a:solidFill>
                  </a:tcPr>
                </a:tc>
                <a:tc>
                  <a:txBody>
                    <a:bodyPr/>
                    <a:lstStyle/>
                    <a:p>
                      <a:pPr algn="ctr">
                        <a:defRPr sz="1000">
                          <a:solidFill>
                            <a:srgbClr val="000000"/>
                          </a:solidFill>
                          <a:latin typeface="Montserrat"/>
                        </a:defRPr>
                      </a:pPr>
                      <a:r>
                        <a:t>43.5%</a:t>
                      </a:r>
                    </a:p>
                  </a:txBody>
                  <a:tcPr marL="0" marR="0" marT="0" marB="0">
                    <a:solidFill>
                      <a:srgbClr val="ECD3D9"/>
                    </a:solidFill>
                  </a:tcPr>
                </a:tc>
              </a:tr>
              <a:tr h="151200">
                <a:tc>
                  <a:txBody>
                    <a:bodyPr/>
                    <a:lstStyle/>
                    <a:p>
                      <a:pPr algn="l">
                        <a:defRPr sz="1000">
                          <a:solidFill>
                            <a:srgbClr val="000000"/>
                          </a:solidFill>
                          <a:latin typeface="Montserrat"/>
                        </a:defRPr>
                      </a:pPr>
                      <a:r>
                        <a:t>UMF 22 San Pablo Monte</a:t>
                      </a:r>
                    </a:p>
                  </a:txBody>
                  <a:tcPr marL="0" marR="0" marT="0" marB="0">
                    <a:solidFill>
                      <a:srgbClr val="FFFFFF"/>
                    </a:solidFill>
                  </a:tcPr>
                </a:tc>
                <a:tc>
                  <a:txBody>
                    <a:bodyPr/>
                    <a:lstStyle/>
                    <a:p>
                      <a:pPr algn="ctr">
                        <a:defRPr sz="1000">
                          <a:solidFill>
                            <a:srgbClr val="000000"/>
                          </a:solidFill>
                          <a:latin typeface="Montserrat"/>
                        </a:defRPr>
                      </a:pPr>
                      <a:r>
                        <a:t>44,291</a:t>
                      </a:r>
                    </a:p>
                  </a:txBody>
                  <a:tcPr marL="0" marR="0" marT="0" marB="0">
                    <a:solidFill>
                      <a:srgbClr val="FFFFFF"/>
                    </a:solidFill>
                  </a:tcPr>
                </a:tc>
                <a:tc>
                  <a:txBody>
                    <a:bodyPr/>
                    <a:lstStyle/>
                    <a:p>
                      <a:pPr algn="ctr">
                        <a:defRPr sz="1000">
                          <a:solidFill>
                            <a:srgbClr val="000000"/>
                          </a:solidFill>
                          <a:latin typeface="Montserrat"/>
                        </a:defRPr>
                      </a:pPr>
                      <a:r>
                        <a:t>7,687</a:t>
                      </a:r>
                    </a:p>
                  </a:txBody>
                  <a:tcPr marL="0" marR="0" marT="0" marB="0">
                    <a:solidFill>
                      <a:srgbClr val="FFFFFF"/>
                    </a:solidFill>
                  </a:tcPr>
                </a:tc>
                <a:tc>
                  <a:txBody>
                    <a:bodyPr/>
                    <a:lstStyle/>
                    <a:p>
                      <a:pPr algn="ctr">
                        <a:defRPr sz="1000">
                          <a:solidFill>
                            <a:srgbClr val="000000"/>
                          </a:solidFill>
                          <a:latin typeface="Montserrat"/>
                        </a:defRPr>
                      </a:pPr>
                      <a:r>
                        <a:t>18,973</a:t>
                      </a:r>
                    </a:p>
                  </a:txBody>
                  <a:tcPr marL="0" marR="0" marT="0" marB="0">
                    <a:solidFill>
                      <a:srgbClr val="ECD3D9"/>
                    </a:solidFill>
                  </a:tcPr>
                </a:tc>
                <a:tc>
                  <a:txBody>
                    <a:bodyPr/>
                    <a:lstStyle/>
                    <a:p>
                      <a:pPr algn="ctr">
                        <a:defRPr sz="1000">
                          <a:solidFill>
                            <a:srgbClr val="000000"/>
                          </a:solidFill>
                          <a:latin typeface="Montserrat"/>
                        </a:defRPr>
                      </a:pPr>
                      <a:r>
                        <a:t>43,000</a:t>
                      </a:r>
                    </a:p>
                  </a:txBody>
                  <a:tcPr marL="0" marR="0" marT="0" marB="0">
                    <a:solidFill>
                      <a:srgbClr val="ECD3D9"/>
                    </a:solidFill>
                  </a:tcPr>
                </a:tc>
                <a:tc>
                  <a:txBody>
                    <a:bodyPr/>
                    <a:lstStyle/>
                    <a:p>
                      <a:pPr algn="ctr">
                        <a:defRPr sz="1000">
                          <a:solidFill>
                            <a:srgbClr val="000000"/>
                          </a:solidFill>
                          <a:latin typeface="Montserrat"/>
                        </a:defRPr>
                      </a:pPr>
                      <a:r>
                        <a:t>44.1%</a:t>
                      </a:r>
                    </a:p>
                  </a:txBody>
                  <a:tcPr marL="0" marR="0" marT="0" marB="0">
                    <a:solidFill>
                      <a:srgbClr val="ECD3D9"/>
                    </a:solidFill>
                  </a:tcPr>
                </a:tc>
              </a:tr>
              <a:tr h="151200">
                <a:tc>
                  <a:txBody>
                    <a:bodyPr/>
                    <a:lstStyle/>
                    <a:p>
                      <a:pPr algn="l">
                        <a:defRPr sz="1000">
                          <a:solidFill>
                            <a:srgbClr val="000000"/>
                          </a:solidFill>
                          <a:latin typeface="Montserrat"/>
                        </a:defRPr>
                      </a:pPr>
                      <a:r>
                        <a:t>UMF 19 Apizaco</a:t>
                      </a:r>
                    </a:p>
                  </a:txBody>
                  <a:tcPr marL="0" marR="0" marT="0" marB="0">
                    <a:solidFill>
                      <a:srgbClr val="EFEFEF"/>
                    </a:solidFill>
                  </a:tcPr>
                </a:tc>
                <a:tc>
                  <a:txBody>
                    <a:bodyPr/>
                    <a:lstStyle/>
                    <a:p>
                      <a:pPr algn="ctr">
                        <a:defRPr sz="1000">
                          <a:solidFill>
                            <a:srgbClr val="000000"/>
                          </a:solidFill>
                          <a:latin typeface="Montserrat"/>
                        </a:defRPr>
                      </a:pPr>
                      <a:r>
                        <a:t>144,651</a:t>
                      </a:r>
                    </a:p>
                  </a:txBody>
                  <a:tcPr marL="0" marR="0" marT="0" marB="0">
                    <a:solidFill>
                      <a:srgbClr val="EFEFEF"/>
                    </a:solidFill>
                  </a:tcPr>
                </a:tc>
                <a:tc>
                  <a:txBody>
                    <a:bodyPr/>
                    <a:lstStyle/>
                    <a:p>
                      <a:pPr algn="ctr">
                        <a:defRPr sz="1000">
                          <a:solidFill>
                            <a:srgbClr val="000000"/>
                          </a:solidFill>
                          <a:latin typeface="Montserrat"/>
                        </a:defRPr>
                      </a:pPr>
                      <a:r>
                        <a:t>23,310</a:t>
                      </a:r>
                    </a:p>
                  </a:txBody>
                  <a:tcPr marL="0" marR="0" marT="0" marB="0">
                    <a:solidFill>
                      <a:srgbClr val="EFEFEF"/>
                    </a:solidFill>
                  </a:tcPr>
                </a:tc>
                <a:tc>
                  <a:txBody>
                    <a:bodyPr/>
                    <a:lstStyle/>
                    <a:p>
                      <a:pPr algn="ctr">
                        <a:defRPr sz="1000">
                          <a:solidFill>
                            <a:srgbClr val="000000"/>
                          </a:solidFill>
                          <a:latin typeface="Montserrat"/>
                        </a:defRPr>
                      </a:pPr>
                      <a:r>
                        <a:t>62,788</a:t>
                      </a:r>
                    </a:p>
                  </a:txBody>
                  <a:tcPr marL="0" marR="0" marT="0" marB="0">
                    <a:solidFill>
                      <a:srgbClr val="ECD3D9"/>
                    </a:solidFill>
                  </a:tcPr>
                </a:tc>
                <a:tc>
                  <a:txBody>
                    <a:bodyPr/>
                    <a:lstStyle/>
                    <a:p>
                      <a:pPr algn="ctr">
                        <a:defRPr sz="1000">
                          <a:solidFill>
                            <a:srgbClr val="000000"/>
                          </a:solidFill>
                          <a:latin typeface="Montserrat"/>
                        </a:defRPr>
                      </a:pPr>
                      <a:r>
                        <a:t>151,536</a:t>
                      </a:r>
                    </a:p>
                  </a:txBody>
                  <a:tcPr marL="0" marR="0" marT="0" marB="0">
                    <a:solidFill>
                      <a:srgbClr val="ECD3D9"/>
                    </a:solidFill>
                  </a:tcPr>
                </a:tc>
                <a:tc>
                  <a:txBody>
                    <a:bodyPr/>
                    <a:lstStyle/>
                    <a:p>
                      <a:pPr algn="ctr">
                        <a:defRPr sz="1000">
                          <a:solidFill>
                            <a:srgbClr val="000000"/>
                          </a:solidFill>
                          <a:latin typeface="Montserrat"/>
                        </a:defRPr>
                      </a:pPr>
                      <a:r>
                        <a:t>41.4%</a:t>
                      </a:r>
                    </a:p>
                  </a:txBody>
                  <a:tcPr marL="0" marR="0" marT="0" marB="0">
                    <a:solidFill>
                      <a:srgbClr val="ECD3D9"/>
                    </a:solidFill>
                  </a:tcPr>
                </a:tc>
              </a:tr>
              <a:tr h="151200">
                <a:tc>
                  <a:txBody>
                    <a:bodyPr/>
                    <a:lstStyle/>
                    <a:p>
                      <a:pPr algn="l">
                        <a:defRPr sz="1000">
                          <a:solidFill>
                            <a:srgbClr val="000000"/>
                          </a:solidFill>
                          <a:latin typeface="Montserrat"/>
                        </a:defRPr>
                      </a:pPr>
                      <a:r>
                        <a:t>UMF 20 Huamantla</a:t>
                      </a:r>
                    </a:p>
                  </a:txBody>
                  <a:tcPr marL="0" marR="0" marT="0" marB="0">
                    <a:solidFill>
                      <a:srgbClr val="FFFFFF"/>
                    </a:solidFill>
                  </a:tcPr>
                </a:tc>
                <a:tc>
                  <a:txBody>
                    <a:bodyPr/>
                    <a:lstStyle/>
                    <a:p>
                      <a:pPr algn="ctr">
                        <a:defRPr sz="1000">
                          <a:solidFill>
                            <a:srgbClr val="000000"/>
                          </a:solidFill>
                          <a:latin typeface="Montserrat"/>
                        </a:defRPr>
                      </a:pPr>
                      <a:r>
                        <a:t>59,671</a:t>
                      </a:r>
                    </a:p>
                  </a:txBody>
                  <a:tcPr marL="0" marR="0" marT="0" marB="0">
                    <a:solidFill>
                      <a:srgbClr val="FFFFFF"/>
                    </a:solidFill>
                  </a:tcPr>
                </a:tc>
                <a:tc>
                  <a:txBody>
                    <a:bodyPr/>
                    <a:lstStyle/>
                    <a:p>
                      <a:pPr algn="ctr">
                        <a:defRPr sz="1000">
                          <a:solidFill>
                            <a:srgbClr val="000000"/>
                          </a:solidFill>
                          <a:latin typeface="Montserrat"/>
                        </a:defRPr>
                      </a:pPr>
                      <a:r>
                        <a:t>6,792</a:t>
                      </a:r>
                    </a:p>
                  </a:txBody>
                  <a:tcPr marL="0" marR="0" marT="0" marB="0">
                    <a:solidFill>
                      <a:srgbClr val="FFFFFF"/>
                    </a:solidFill>
                  </a:tcPr>
                </a:tc>
                <a:tc>
                  <a:txBody>
                    <a:bodyPr/>
                    <a:lstStyle/>
                    <a:p>
                      <a:pPr algn="ctr">
                        <a:defRPr sz="1000">
                          <a:solidFill>
                            <a:srgbClr val="000000"/>
                          </a:solidFill>
                          <a:latin typeface="Montserrat"/>
                        </a:defRPr>
                      </a:pPr>
                      <a:r>
                        <a:t>24,947</a:t>
                      </a:r>
                    </a:p>
                  </a:txBody>
                  <a:tcPr marL="0" marR="0" marT="0" marB="0">
                    <a:solidFill>
                      <a:srgbClr val="ECD3D9"/>
                    </a:solidFill>
                  </a:tcPr>
                </a:tc>
                <a:tc>
                  <a:txBody>
                    <a:bodyPr/>
                    <a:lstStyle/>
                    <a:p>
                      <a:pPr algn="ctr">
                        <a:defRPr sz="1000">
                          <a:solidFill>
                            <a:srgbClr val="000000"/>
                          </a:solidFill>
                          <a:latin typeface="Montserrat"/>
                        </a:defRPr>
                      </a:pPr>
                      <a:r>
                        <a:t>58,000</a:t>
                      </a:r>
                    </a:p>
                  </a:txBody>
                  <a:tcPr marL="0" marR="0" marT="0" marB="0">
                    <a:solidFill>
                      <a:srgbClr val="ECD3D9"/>
                    </a:solidFill>
                  </a:tcPr>
                </a:tc>
                <a:tc>
                  <a:txBody>
                    <a:bodyPr/>
                    <a:lstStyle/>
                    <a:p>
                      <a:pPr algn="ctr">
                        <a:defRPr sz="1000">
                          <a:solidFill>
                            <a:srgbClr val="000000"/>
                          </a:solidFill>
                          <a:latin typeface="Montserrat"/>
                        </a:defRPr>
                      </a:pPr>
                      <a:r>
                        <a:t>43.0%</a:t>
                      </a:r>
                    </a:p>
                  </a:txBody>
                  <a:tcPr marL="0" marR="0" marT="0" marB="0">
                    <a:solidFill>
                      <a:srgbClr val="ECD3D9"/>
                    </a:solidFill>
                  </a:tcPr>
                </a:tc>
              </a:tr>
              <a:tr h="151200">
                <a:tc>
                  <a:txBody>
                    <a:bodyPr/>
                    <a:lstStyle/>
                    <a:p>
                      <a:pPr algn="l">
                        <a:defRPr sz="1000">
                          <a:solidFill>
                            <a:srgbClr val="000000"/>
                          </a:solidFill>
                          <a:latin typeface="Montserrat"/>
                        </a:defRPr>
                      </a:pPr>
                      <a:r>
                        <a:t>UMF 51 Teolocholco</a:t>
                      </a:r>
                    </a:p>
                  </a:txBody>
                  <a:tcPr marL="0" marR="0" marT="0" marB="0">
                    <a:solidFill>
                      <a:srgbClr val="EFEFEF"/>
                    </a:solidFill>
                  </a:tcPr>
                </a:tc>
                <a:tc>
                  <a:txBody>
                    <a:bodyPr/>
                    <a:lstStyle/>
                    <a:p>
                      <a:pPr algn="ctr">
                        <a:defRPr sz="1000">
                          <a:solidFill>
                            <a:srgbClr val="000000"/>
                          </a:solidFill>
                          <a:latin typeface="Montserrat"/>
                        </a:defRPr>
                      </a:pPr>
                      <a:r>
                        <a:t>27,221</a:t>
                      </a:r>
                    </a:p>
                  </a:txBody>
                  <a:tcPr marL="0" marR="0" marT="0" marB="0">
                    <a:solidFill>
                      <a:srgbClr val="EFEFEF"/>
                    </a:solidFill>
                  </a:tcPr>
                </a:tc>
                <a:tc>
                  <a:txBody>
                    <a:bodyPr/>
                    <a:lstStyle/>
                    <a:p>
                      <a:pPr algn="ctr">
                        <a:defRPr sz="1000">
                          <a:solidFill>
                            <a:srgbClr val="000000"/>
                          </a:solidFill>
                          <a:latin typeface="Montserrat"/>
                        </a:defRPr>
                      </a:pPr>
                      <a:r>
                        <a:t>3,398</a:t>
                      </a:r>
                    </a:p>
                  </a:txBody>
                  <a:tcPr marL="0" marR="0" marT="0" marB="0">
                    <a:solidFill>
                      <a:srgbClr val="EFEFEF"/>
                    </a:solidFill>
                  </a:tcPr>
                </a:tc>
                <a:tc>
                  <a:txBody>
                    <a:bodyPr/>
                    <a:lstStyle/>
                    <a:p>
                      <a:pPr algn="ctr">
                        <a:defRPr sz="1000">
                          <a:solidFill>
                            <a:srgbClr val="000000"/>
                          </a:solidFill>
                          <a:latin typeface="Montserrat"/>
                        </a:defRPr>
                      </a:pPr>
                      <a:r>
                        <a:t>11,623</a:t>
                      </a:r>
                    </a:p>
                  </a:txBody>
                  <a:tcPr marL="0" marR="0" marT="0" marB="0">
                    <a:solidFill>
                      <a:srgbClr val="ECD3D9"/>
                    </a:solidFill>
                  </a:tcPr>
                </a:tc>
                <a:tc>
                  <a:txBody>
                    <a:bodyPr/>
                    <a:lstStyle/>
                    <a:p>
                      <a:pPr algn="ctr">
                        <a:defRPr sz="1000">
                          <a:solidFill>
                            <a:srgbClr val="000000"/>
                          </a:solidFill>
                          <a:latin typeface="Montserrat"/>
                        </a:defRPr>
                      </a:pPr>
                      <a:r>
                        <a:t>27,000</a:t>
                      </a:r>
                    </a:p>
                  </a:txBody>
                  <a:tcPr marL="0" marR="0" marT="0" marB="0">
                    <a:solidFill>
                      <a:srgbClr val="ECD3D9"/>
                    </a:solidFill>
                  </a:tcPr>
                </a:tc>
                <a:tc>
                  <a:txBody>
                    <a:bodyPr/>
                    <a:lstStyle/>
                    <a:p>
                      <a:pPr algn="ctr">
                        <a:defRPr sz="1000">
                          <a:solidFill>
                            <a:srgbClr val="000000"/>
                          </a:solidFill>
                          <a:latin typeface="Montserrat"/>
                        </a:defRPr>
                      </a:pPr>
                      <a:r>
                        <a:t>43.0%</a:t>
                      </a:r>
                    </a:p>
                  </a:txBody>
                  <a:tcPr marL="0" marR="0" marT="0" marB="0">
                    <a:solidFill>
                      <a:srgbClr val="ECD3D9"/>
                    </a:solidFill>
                  </a:tcPr>
                </a:tc>
              </a:tr>
              <a:tr h="151200">
                <a:tc>
                  <a:txBody>
                    <a:bodyPr/>
                    <a:lstStyle/>
                    <a:p>
                      <a:pPr algn="l">
                        <a:defRPr sz="1000">
                          <a:solidFill>
                            <a:srgbClr val="000000"/>
                          </a:solidFill>
                          <a:latin typeface="Montserrat"/>
                        </a:defRPr>
                      </a:pPr>
                      <a:r>
                        <a:t>UMF 37 Calpulalpan</a:t>
                      </a:r>
                    </a:p>
                  </a:txBody>
                  <a:tcPr marL="0" marR="0" marT="0" marB="0">
                    <a:solidFill>
                      <a:srgbClr val="FFFFFF"/>
                    </a:solidFill>
                  </a:tcPr>
                </a:tc>
                <a:tc>
                  <a:txBody>
                    <a:bodyPr/>
                    <a:lstStyle/>
                    <a:p>
                      <a:pPr algn="ctr">
                        <a:defRPr sz="1000">
                          <a:solidFill>
                            <a:srgbClr val="000000"/>
                          </a:solidFill>
                          <a:latin typeface="Montserrat"/>
                        </a:defRPr>
                      </a:pPr>
                      <a:r>
                        <a:t>29,180</a:t>
                      </a:r>
                    </a:p>
                  </a:txBody>
                  <a:tcPr marL="0" marR="0" marT="0" marB="0">
                    <a:solidFill>
                      <a:srgbClr val="FFFFFF"/>
                    </a:solidFill>
                  </a:tcPr>
                </a:tc>
                <a:tc>
                  <a:txBody>
                    <a:bodyPr/>
                    <a:lstStyle/>
                    <a:p>
                      <a:pPr algn="ctr">
                        <a:defRPr sz="1000">
                          <a:solidFill>
                            <a:srgbClr val="000000"/>
                          </a:solidFill>
                          <a:latin typeface="Montserrat"/>
                        </a:defRPr>
                      </a:pPr>
                      <a:r>
                        <a:t>3,728</a:t>
                      </a:r>
                    </a:p>
                  </a:txBody>
                  <a:tcPr marL="0" marR="0" marT="0" marB="0">
                    <a:solidFill>
                      <a:srgbClr val="FFFFFF"/>
                    </a:solidFill>
                  </a:tcPr>
                </a:tc>
                <a:tc>
                  <a:txBody>
                    <a:bodyPr/>
                    <a:lstStyle/>
                    <a:p>
                      <a:pPr algn="ctr">
                        <a:defRPr sz="1000">
                          <a:solidFill>
                            <a:srgbClr val="000000"/>
                          </a:solidFill>
                          <a:latin typeface="Montserrat"/>
                        </a:defRPr>
                      </a:pPr>
                      <a:r>
                        <a:t>11,844</a:t>
                      </a:r>
                    </a:p>
                  </a:txBody>
                  <a:tcPr marL="0" marR="0" marT="0" marB="0">
                    <a:solidFill>
                      <a:srgbClr val="ECD3D9"/>
                    </a:solidFill>
                  </a:tcPr>
                </a:tc>
                <a:tc>
                  <a:txBody>
                    <a:bodyPr/>
                    <a:lstStyle/>
                    <a:p>
                      <a:pPr algn="ctr">
                        <a:defRPr sz="1000">
                          <a:solidFill>
                            <a:srgbClr val="000000"/>
                          </a:solidFill>
                          <a:latin typeface="Montserrat"/>
                        </a:defRPr>
                      </a:pPr>
                      <a:r>
                        <a:t>29,000</a:t>
                      </a:r>
                    </a:p>
                  </a:txBody>
                  <a:tcPr marL="0" marR="0" marT="0" marB="0">
                    <a:solidFill>
                      <a:srgbClr val="ECD3D9"/>
                    </a:solidFill>
                  </a:tcPr>
                </a:tc>
                <a:tc>
                  <a:txBody>
                    <a:bodyPr/>
                    <a:lstStyle/>
                    <a:p>
                      <a:pPr algn="ctr">
                        <a:defRPr sz="1000">
                          <a:solidFill>
                            <a:srgbClr val="000000"/>
                          </a:solidFill>
                          <a:latin typeface="Montserrat"/>
                        </a:defRPr>
                      </a:pPr>
                      <a:r>
                        <a:t>40.8%</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563,499</a:t>
                      </a:r>
                    </a:p>
                  </a:txBody>
                  <a:tcPr marL="0" marR="0" marT="0" marB="0">
                    <a:solidFill>
                      <a:srgbClr val="D3E9E7"/>
                    </a:solidFill>
                  </a:tcPr>
                </a:tc>
                <a:tc>
                  <a:txBody>
                    <a:bodyPr/>
                    <a:lstStyle/>
                    <a:p>
                      <a:pPr algn="ctr">
                        <a:defRPr sz="1000" b="1">
                          <a:solidFill>
                            <a:srgbClr val="006556"/>
                          </a:solidFill>
                          <a:latin typeface="Montserrat"/>
                        </a:defRPr>
                      </a:pPr>
                      <a:r>
                        <a:t>86,573</a:t>
                      </a:r>
                    </a:p>
                  </a:txBody>
                  <a:tcPr marL="0" marR="0" marT="0" marB="0">
                    <a:solidFill>
                      <a:srgbClr val="D3E9E7"/>
                    </a:solidFill>
                  </a:tcPr>
                </a:tc>
                <a:tc>
                  <a:txBody>
                    <a:bodyPr/>
                    <a:lstStyle/>
                    <a:p>
                      <a:pPr algn="ctr">
                        <a:defRPr sz="1000" b="1">
                          <a:solidFill>
                            <a:srgbClr val="FFFFFF"/>
                          </a:solidFill>
                          <a:latin typeface="Montserrat"/>
                        </a:defRPr>
                      </a:pPr>
                      <a:r>
                        <a:t>239,055</a:t>
                      </a:r>
                    </a:p>
                  </a:txBody>
                  <a:tcPr marL="0" marR="0" marT="0" marB="0">
                    <a:solidFill>
                      <a:srgbClr val="9F2241"/>
                    </a:solidFill>
                  </a:tcPr>
                </a:tc>
                <a:tc>
                  <a:txBody>
                    <a:bodyPr/>
                    <a:lstStyle/>
                    <a:p>
                      <a:pPr algn="ctr">
                        <a:defRPr sz="1000" b="1">
                          <a:solidFill>
                            <a:srgbClr val="FFFFFF"/>
                          </a:solidFill>
                          <a:latin typeface="Montserrat"/>
                        </a:defRPr>
                      </a:pPr>
                      <a:r>
                        <a:t>566,192</a:t>
                      </a:r>
                    </a:p>
                  </a:txBody>
                  <a:tcPr marL="0" marR="0" marT="0" marB="0">
                    <a:solidFill>
                      <a:srgbClr val="9F2241"/>
                    </a:solidFill>
                  </a:tcPr>
                </a:tc>
                <a:tc>
                  <a:txBody>
                    <a:bodyPr/>
                    <a:lstStyle/>
                    <a:p>
                      <a:pPr algn="ctr">
                        <a:defRPr sz="1000" b="1">
                          <a:solidFill>
                            <a:srgbClr val="FFFFFF"/>
                          </a:solidFill>
                          <a:latin typeface="Montserrat"/>
                        </a:defRPr>
                      </a:pPr>
                      <a:r>
                        <a:t>42.2%</a:t>
                      </a:r>
                    </a:p>
                  </a:txBody>
                  <a:tcPr marL="0" marR="0" marT="0" marB="0">
                    <a:solidFill>
                      <a:srgbClr val="9F2241"/>
                    </a:solidFill>
                  </a:tcPr>
                </a:tc>
              </a:tr>
            </a:tbl>
          </a:graphicData>
        </a:graphic>
      </p:graphicFrame>
      <p:graphicFrame>
        <p:nvGraphicFramePr>
          <p:cNvPr id="19" name="Chart 18"/>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0" name="TextBox 19"/>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11732128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14220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Tlaxcala</a:t>
                      </a:r>
                    </a:p>
                  </a:txBody>
                  <a:tcPr>
                    <a:solidFill>
                      <a:srgbClr val="FFFFFF"/>
                    </a:solidFill>
                  </a:tcPr>
                </a:tc>
                <a:tc>
                  <a:txBody>
                    <a:bodyPr/>
                    <a:lstStyle/>
                    <a:p>
                      <a:pPr algn="ctr">
                        <a:defRPr sz="1000">
                          <a:latin typeface="Montserrat"/>
                        </a:defRPr>
                      </a:pPr>
                      <a:r>
                        <a:t>152,515</a:t>
                      </a:r>
                    </a:p>
                  </a:txBody>
                  <a:tcPr>
                    <a:solidFill>
                      <a:srgbClr val="FFFFFF"/>
                    </a:solidFill>
                  </a:tcPr>
                </a:tc>
                <a:tc>
                  <a:txBody>
                    <a:bodyPr/>
                    <a:lstStyle/>
                    <a:p>
                      <a:pPr algn="ctr">
                        <a:defRPr sz="1000">
                          <a:latin typeface="Montserrat"/>
                        </a:defRPr>
                      </a:pPr>
                      <a:r>
                        <a:t>13,750</a:t>
                      </a:r>
                    </a:p>
                  </a:txBody>
                  <a:tcPr>
                    <a:solidFill>
                      <a:srgbClr val="FFFFFF"/>
                    </a:solidFill>
                  </a:tcPr>
                </a:tc>
                <a:tc>
                  <a:txBody>
                    <a:bodyPr/>
                    <a:lstStyle/>
                    <a:p>
                      <a:pPr algn="ctr">
                        <a:defRPr sz="1000">
                          <a:latin typeface="Montserrat"/>
                        </a:defRPr>
                      </a:pPr>
                      <a:r>
                        <a:t>64,506</a:t>
                      </a:r>
                    </a:p>
                  </a:txBody>
                  <a:tcPr>
                    <a:solidFill>
                      <a:srgbClr val="ECD3D9"/>
                    </a:solidFill>
                  </a:tcPr>
                </a:tc>
                <a:tc>
                  <a:txBody>
                    <a:bodyPr/>
                    <a:lstStyle/>
                    <a:p>
                      <a:pPr algn="ctr">
                        <a:defRPr sz="1000">
                          <a:latin typeface="Montserrat"/>
                        </a:defRPr>
                      </a:pPr>
                      <a:r>
                        <a:t>151,110</a:t>
                      </a:r>
                    </a:p>
                  </a:txBody>
                  <a:tcPr>
                    <a:solidFill>
                      <a:srgbClr val="ECD3D9"/>
                    </a:solidFill>
                  </a:tcPr>
                </a:tc>
                <a:tc>
                  <a:txBody>
                    <a:bodyPr/>
                    <a:lstStyle/>
                    <a:p>
                      <a:pPr algn="ctr">
                        <a:defRPr sz="1000">
                          <a:latin typeface="Montserrat"/>
                        </a:defRPr>
                      </a:pPr>
                      <a:r>
                        <a:t>42.7%</a:t>
                      </a:r>
                    </a:p>
                  </a:txBody>
                  <a:tcPr>
                    <a:solidFill>
                      <a:srgbClr val="ECD3D9"/>
                    </a:solidFill>
                  </a:tcPr>
                </a:tc>
              </a:tr>
              <a:tr h="284400">
                <a:tc>
                  <a:txBody>
                    <a:bodyPr/>
                    <a:lstStyle/>
                    <a:p>
                      <a:pPr algn="l">
                        <a:defRPr sz="1000">
                          <a:latin typeface="Montserrat"/>
                        </a:defRPr>
                      </a:pPr>
                      <a:r>
                        <a:t>HGSMF 8 Tlaxcala</a:t>
                      </a:r>
                    </a:p>
                  </a:txBody>
                  <a:tcPr>
                    <a:solidFill>
                      <a:srgbClr val="EFEFEF"/>
                    </a:solidFill>
                  </a:tcPr>
                </a:tc>
                <a:tc>
                  <a:txBody>
                    <a:bodyPr/>
                    <a:lstStyle/>
                    <a:p>
                      <a:pPr algn="ctr">
                        <a:defRPr sz="1000">
                          <a:latin typeface="Montserrat"/>
                        </a:defRPr>
                      </a:pPr>
                      <a:r>
                        <a:t>19,405</a:t>
                      </a:r>
                    </a:p>
                  </a:txBody>
                  <a:tcPr>
                    <a:solidFill>
                      <a:srgbClr val="EFEFEF"/>
                    </a:solidFill>
                  </a:tcPr>
                </a:tc>
                <a:tc>
                  <a:txBody>
                    <a:bodyPr/>
                    <a:lstStyle/>
                    <a:p>
                      <a:pPr algn="ctr">
                        <a:defRPr sz="1000">
                          <a:latin typeface="Montserrat"/>
                        </a:defRPr>
                      </a:pPr>
                      <a:r>
                        <a:t>1,949</a:t>
                      </a:r>
                    </a:p>
                  </a:txBody>
                  <a:tcPr>
                    <a:solidFill>
                      <a:srgbClr val="EFEFEF"/>
                    </a:solidFill>
                  </a:tcPr>
                </a:tc>
                <a:tc>
                  <a:txBody>
                    <a:bodyPr/>
                    <a:lstStyle/>
                    <a:p>
                      <a:pPr algn="ctr">
                        <a:defRPr sz="1000">
                          <a:latin typeface="Montserrat"/>
                        </a:defRPr>
                      </a:pPr>
                      <a:r>
                        <a:t>9,999</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38.0%</a:t>
                      </a:r>
                    </a:p>
                  </a:txBody>
                  <a:tcPr>
                    <a:solidFill>
                      <a:srgbClr val="ECD3D9"/>
                    </a:solidFill>
                  </a:tcPr>
                </a:tc>
              </a:tr>
              <a:tr h="284400">
                <a:tc>
                  <a:txBody>
                    <a:bodyPr/>
                    <a:lstStyle/>
                    <a:p>
                      <a:pPr algn="l">
                        <a:defRPr sz="1000">
                          <a:latin typeface="Montserrat"/>
                        </a:defRPr>
                      </a:pPr>
                      <a:r>
                        <a:t>HGZMF 2 Apizaco</a:t>
                      </a:r>
                    </a:p>
                  </a:txBody>
                  <a:tcPr>
                    <a:solidFill>
                      <a:srgbClr val="FFFFFF"/>
                    </a:solidFill>
                  </a:tcPr>
                </a:tc>
                <a:tc>
                  <a:txBody>
                    <a:bodyPr/>
                    <a:lstStyle/>
                    <a:p>
                      <a:pPr algn="ctr">
                        <a:defRPr sz="1000">
                          <a:latin typeface="Montserrat"/>
                        </a:defRPr>
                      </a:pPr>
                      <a:r>
                        <a:t>43,756</a:t>
                      </a:r>
                    </a:p>
                  </a:txBody>
                  <a:tcPr>
                    <a:solidFill>
                      <a:srgbClr val="FFFFFF"/>
                    </a:solidFill>
                  </a:tcPr>
                </a:tc>
                <a:tc>
                  <a:txBody>
                    <a:bodyPr/>
                    <a:lstStyle/>
                    <a:p>
                      <a:pPr algn="ctr">
                        <a:defRPr sz="1000">
                          <a:latin typeface="Montserrat"/>
                        </a:defRPr>
                      </a:pPr>
                      <a:r>
                        <a:t>4,972</a:t>
                      </a:r>
                    </a:p>
                  </a:txBody>
                  <a:tcPr>
                    <a:solidFill>
                      <a:srgbClr val="FFFFFF"/>
                    </a:solidFill>
                  </a:tcPr>
                </a:tc>
                <a:tc>
                  <a:txBody>
                    <a:bodyPr/>
                    <a:lstStyle/>
                    <a:p>
                      <a:pPr algn="ctr">
                        <a:defRPr sz="1000">
                          <a:latin typeface="Montserrat"/>
                        </a:defRPr>
                      </a:pPr>
                      <a:r>
                        <a:t>18,867</a:t>
                      </a:r>
                    </a:p>
                  </a:txBody>
                  <a:tcPr>
                    <a:solidFill>
                      <a:srgbClr val="ECD3D9"/>
                    </a:solidFill>
                  </a:tcPr>
                </a:tc>
                <a:tc>
                  <a:txBody>
                    <a:bodyPr/>
                    <a:lstStyle/>
                    <a:p>
                      <a:pPr algn="ctr">
                        <a:defRPr sz="1000">
                          <a:latin typeface="Montserrat"/>
                        </a:defRPr>
                      </a:pPr>
                      <a:r>
                        <a:t>52,560</a:t>
                      </a:r>
                    </a:p>
                  </a:txBody>
                  <a:tcPr>
                    <a:solidFill>
                      <a:srgbClr val="ECD3D9"/>
                    </a:solidFill>
                  </a:tcPr>
                </a:tc>
                <a:tc>
                  <a:txBody>
                    <a:bodyPr/>
                    <a:lstStyle/>
                    <a:p>
                      <a:pPr algn="ctr">
                        <a:defRPr sz="1000">
                          <a:latin typeface="Montserrat"/>
                        </a:defRPr>
                      </a:pPr>
                      <a:r>
                        <a:t>35.9%</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215,676</a:t>
                      </a:r>
                    </a:p>
                  </a:txBody>
                  <a:tcPr>
                    <a:solidFill>
                      <a:srgbClr val="D3E9E7"/>
                    </a:solidFill>
                  </a:tcPr>
                </a:tc>
                <a:tc>
                  <a:txBody>
                    <a:bodyPr/>
                    <a:lstStyle/>
                    <a:p>
                      <a:pPr algn="ctr">
                        <a:defRPr sz="1000" b="1">
                          <a:solidFill>
                            <a:srgbClr val="006556"/>
                          </a:solidFill>
                          <a:latin typeface="Montserrat"/>
                        </a:defRPr>
                      </a:pPr>
                      <a:r>
                        <a:t>20,671</a:t>
                      </a:r>
                    </a:p>
                  </a:txBody>
                  <a:tcPr>
                    <a:solidFill>
                      <a:srgbClr val="D3E9E7"/>
                    </a:solidFill>
                  </a:tcPr>
                </a:tc>
                <a:tc>
                  <a:txBody>
                    <a:bodyPr/>
                    <a:lstStyle/>
                    <a:p>
                      <a:pPr algn="ctr">
                        <a:defRPr sz="1000" b="1">
                          <a:solidFill>
                            <a:srgbClr val="FFFFFF"/>
                          </a:solidFill>
                          <a:latin typeface="Montserrat"/>
                        </a:defRPr>
                      </a:pPr>
                      <a:r>
                        <a:t>93,372</a:t>
                      </a:r>
                    </a:p>
                  </a:txBody>
                  <a:tcPr>
                    <a:solidFill>
                      <a:srgbClr val="9F2241"/>
                    </a:solidFill>
                  </a:tcPr>
                </a:tc>
                <a:tc>
                  <a:txBody>
                    <a:bodyPr/>
                    <a:lstStyle/>
                    <a:p>
                      <a:pPr algn="ctr">
                        <a:defRPr sz="1000" b="1">
                          <a:solidFill>
                            <a:srgbClr val="FFFFFF"/>
                          </a:solidFill>
                          <a:latin typeface="Montserrat"/>
                        </a:defRPr>
                      </a:pPr>
                      <a:r>
                        <a:t>229,950</a:t>
                      </a:r>
                    </a:p>
                  </a:txBody>
                  <a:tcPr>
                    <a:solidFill>
                      <a:srgbClr val="9F2241"/>
                    </a:solidFill>
                  </a:tcPr>
                </a:tc>
                <a:tc>
                  <a:txBody>
                    <a:bodyPr/>
                    <a:lstStyle/>
                    <a:p>
                      <a:pPr algn="ctr">
                        <a:defRPr sz="1000" b="1">
                          <a:solidFill>
                            <a:srgbClr val="FFFFFF"/>
                          </a:solidFill>
                          <a:latin typeface="Montserrat"/>
                        </a:defRPr>
                      </a:pPr>
                      <a:r>
                        <a:t>40.6%</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654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374000"/>
            <a:ext cx="1800000" cy="360000"/>
          </a:xfrm>
          <a:prstGeom prst="rect">
            <a:avLst/>
          </a:prstGeom>
          <a:noFill/>
        </p:spPr>
        <p:txBody>
          <a:bodyPr wrap="none">
            <a:spAutoFit/>
          </a:bodyPr>
          <a:lstStyle/>
          <a:p>
            <a:pPr algn="ctr"/>
            <a:r>
              <a:rPr sz="2400" b="1">
                <a:solidFill>
                  <a:srgbClr val="9F2241"/>
                </a:solidFill>
                <a:latin typeface="Montserrat"/>
              </a:rPr>
              <a:t>40.6%</a:t>
            </a:r>
          </a:p>
        </p:txBody>
      </p:sp>
      <p:sp>
        <p:nvSpPr>
          <p:cNvPr id="239" name="TextBox 238"/>
          <p:cNvSpPr txBox="1"/>
          <p:nvPr/>
        </p:nvSpPr>
        <p:spPr>
          <a:xfrm>
            <a:off x="4780800" y="5274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654000"/>
            <a:ext cx="2854800" cy="1198800"/>
          </a:xfrm>
          <a:prstGeom prst="rect">
            <a:avLst/>
          </a:prstGeom>
          <a:noFill/>
        </p:spPr>
        <p:txBody>
          <a:bodyPr wrap="square">
            <a:spAutoFit/>
          </a:bodyPr>
          <a:lstStyle/>
          <a:p>
            <a:pPr algn="ctr">
              <a:defRPr sz="3600" b="1">
                <a:solidFill>
                  <a:srgbClr val="9F2241"/>
                </a:solidFill>
                <a:latin typeface="Montserrat"/>
              </a:defRPr>
            </a:pPr>
            <a:r>
              <a:t>229,950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168485073"/>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14220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HGZMF 2 Apizaco</a:t>
                      </a:r>
                    </a:p>
                  </a:txBody>
                  <a:tcPr>
                    <a:solidFill>
                      <a:srgbClr val="FFFFFF"/>
                    </a:solidFill>
                  </a:tcPr>
                </a:tc>
                <a:tc>
                  <a:txBody>
                    <a:bodyPr/>
                    <a:lstStyle/>
                    <a:p>
                      <a:pPr algn="ctr">
                        <a:defRPr sz="1000">
                          <a:latin typeface="Montserrat"/>
                        </a:defRPr>
                      </a:pPr>
                      <a:r>
                        <a:t>4,174</a:t>
                      </a:r>
                    </a:p>
                  </a:txBody>
                  <a:tcPr>
                    <a:solidFill>
                      <a:srgbClr val="FFFFFF"/>
                    </a:solidFill>
                  </a:tcPr>
                </a:tc>
                <a:tc>
                  <a:txBody>
                    <a:bodyPr/>
                    <a:lstStyle/>
                    <a:p>
                      <a:pPr algn="ctr">
                        <a:defRPr sz="1000">
                          <a:latin typeface="Montserrat"/>
                        </a:defRPr>
                      </a:pPr>
                      <a:r>
                        <a:t>1,553</a:t>
                      </a:r>
                    </a:p>
                  </a:txBody>
                  <a:tcPr>
                    <a:solidFill>
                      <a:srgbClr val="FFFFFF"/>
                    </a:solidFill>
                  </a:tcPr>
                </a:tc>
                <a:tc>
                  <a:txBody>
                    <a:bodyPr/>
                    <a:lstStyle/>
                    <a:p>
                      <a:pPr algn="ctr">
                        <a:defRPr sz="1000">
                          <a:latin typeface="Montserrat"/>
                        </a:defRPr>
                      </a:pPr>
                      <a:r>
                        <a:t>2,131</a:t>
                      </a:r>
                    </a:p>
                  </a:txBody>
                  <a:tcPr>
                    <a:solidFill>
                      <a:srgbClr val="ECD3D9"/>
                    </a:solidFill>
                  </a:tcPr>
                </a:tc>
                <a:tc>
                  <a:txBody>
                    <a:bodyPr/>
                    <a:lstStyle/>
                    <a:p>
                      <a:pPr algn="ctr">
                        <a:defRPr sz="1000">
                          <a:latin typeface="Montserrat"/>
                        </a:defRPr>
                      </a:pPr>
                      <a:r>
                        <a:t>4,182</a:t>
                      </a:r>
                    </a:p>
                  </a:txBody>
                  <a:tcPr>
                    <a:solidFill>
                      <a:srgbClr val="ECD3D9"/>
                    </a:solidFill>
                  </a:tcPr>
                </a:tc>
                <a:tc>
                  <a:txBody>
                    <a:bodyPr/>
                    <a:lstStyle/>
                    <a:p>
                      <a:pPr algn="ctr">
                        <a:defRPr sz="1000">
                          <a:latin typeface="Montserrat"/>
                        </a:defRPr>
                      </a:pPr>
                      <a:r>
                        <a:t>51.0%</a:t>
                      </a:r>
                    </a:p>
                  </a:txBody>
                  <a:tcPr>
                    <a:solidFill>
                      <a:srgbClr val="ECD3D9"/>
                    </a:solidFill>
                  </a:tcPr>
                </a:tc>
              </a:tr>
              <a:tr h="284400">
                <a:tc>
                  <a:txBody>
                    <a:bodyPr/>
                    <a:lstStyle/>
                    <a:p>
                      <a:pPr algn="l">
                        <a:defRPr sz="1000">
                          <a:latin typeface="Montserrat"/>
                        </a:defRPr>
                      </a:pPr>
                      <a:r>
                        <a:t>HGZ 1 Tlaxcala</a:t>
                      </a:r>
                    </a:p>
                  </a:txBody>
                  <a:tcPr>
                    <a:solidFill>
                      <a:srgbClr val="EFEFEF"/>
                    </a:solidFill>
                  </a:tcPr>
                </a:tc>
                <a:tc>
                  <a:txBody>
                    <a:bodyPr/>
                    <a:lstStyle/>
                    <a:p>
                      <a:pPr algn="ctr">
                        <a:defRPr sz="1000">
                          <a:latin typeface="Montserrat"/>
                        </a:defRPr>
                      </a:pPr>
                      <a:r>
                        <a:t>7,590</a:t>
                      </a:r>
                    </a:p>
                  </a:txBody>
                  <a:tcPr>
                    <a:solidFill>
                      <a:srgbClr val="EFEFEF"/>
                    </a:solidFill>
                  </a:tcPr>
                </a:tc>
                <a:tc>
                  <a:txBody>
                    <a:bodyPr/>
                    <a:lstStyle/>
                    <a:p>
                      <a:pPr algn="ctr">
                        <a:defRPr sz="1000">
                          <a:latin typeface="Montserrat"/>
                        </a:defRPr>
                      </a:pPr>
                      <a:r>
                        <a:t>1,602</a:t>
                      </a:r>
                    </a:p>
                  </a:txBody>
                  <a:tcPr>
                    <a:solidFill>
                      <a:srgbClr val="EFEFEF"/>
                    </a:solidFill>
                  </a:tcPr>
                </a:tc>
                <a:tc>
                  <a:txBody>
                    <a:bodyPr/>
                    <a:lstStyle/>
                    <a:p>
                      <a:pPr algn="ctr">
                        <a:defRPr sz="1000">
                          <a:latin typeface="Montserrat"/>
                        </a:defRPr>
                      </a:pPr>
                      <a:r>
                        <a:t>3,336</a:t>
                      </a:r>
                    </a:p>
                  </a:txBody>
                  <a:tcPr>
                    <a:solidFill>
                      <a:srgbClr val="ECD3D9"/>
                    </a:solidFill>
                  </a:tcPr>
                </a:tc>
                <a:tc>
                  <a:txBody>
                    <a:bodyPr/>
                    <a:lstStyle/>
                    <a:p>
                      <a:pPr algn="ctr">
                        <a:defRPr sz="1000">
                          <a:latin typeface="Montserrat"/>
                        </a:defRPr>
                      </a:pPr>
                      <a:r>
                        <a:t>8,625</a:t>
                      </a:r>
                    </a:p>
                  </a:txBody>
                  <a:tcPr>
                    <a:solidFill>
                      <a:srgbClr val="ECD3D9"/>
                    </a:solidFill>
                  </a:tcPr>
                </a:tc>
                <a:tc>
                  <a:txBody>
                    <a:bodyPr/>
                    <a:lstStyle/>
                    <a:p>
                      <a:pPr algn="ctr">
                        <a:defRPr sz="1000">
                          <a:latin typeface="Montserrat"/>
                        </a:defRPr>
                      </a:pPr>
                      <a:r>
                        <a:t>38.7%</a:t>
                      </a:r>
                    </a:p>
                  </a:txBody>
                  <a:tcPr>
                    <a:solidFill>
                      <a:srgbClr val="ECD3D9"/>
                    </a:solidFill>
                  </a:tcPr>
                </a:tc>
              </a:tr>
              <a:tr h="284400">
                <a:tc>
                  <a:txBody>
                    <a:bodyPr/>
                    <a:lstStyle/>
                    <a:p>
                      <a:pPr algn="l">
                        <a:defRPr sz="1000">
                          <a:latin typeface="Montserrat"/>
                        </a:defRPr>
                      </a:pPr>
                      <a:r>
                        <a:t>HGSMF 8 Tlaxcala</a:t>
                      </a:r>
                    </a:p>
                  </a:txBody>
                  <a:tcPr>
                    <a:solidFill>
                      <a:srgbClr val="FFFFFF"/>
                    </a:solidFill>
                  </a:tcPr>
                </a:tc>
                <a:tc>
                  <a:txBody>
                    <a:bodyPr/>
                    <a:lstStyle/>
                    <a:p>
                      <a:pPr algn="ctr">
                        <a:defRPr sz="1000">
                          <a:latin typeface="Montserrat"/>
                        </a:defRPr>
                      </a:pPr>
                      <a:r>
                        <a:t>2,018</a:t>
                      </a:r>
                    </a:p>
                  </a:txBody>
                  <a:tcPr>
                    <a:solidFill>
                      <a:srgbClr val="FFFFFF"/>
                    </a:solidFill>
                  </a:tcPr>
                </a:tc>
                <a:tc>
                  <a:txBody>
                    <a:bodyPr/>
                    <a:lstStyle/>
                    <a:p>
                      <a:pPr algn="ctr">
                        <a:defRPr sz="1000">
                          <a:latin typeface="Montserrat"/>
                        </a:defRPr>
                      </a:pPr>
                      <a:r>
                        <a:t>235</a:t>
                      </a:r>
                    </a:p>
                  </a:txBody>
                  <a:tcPr>
                    <a:solidFill>
                      <a:srgbClr val="FFFFFF"/>
                    </a:solidFill>
                  </a:tcPr>
                </a:tc>
                <a:tc>
                  <a:txBody>
                    <a:bodyPr/>
                    <a:lstStyle/>
                    <a:p>
                      <a:pPr algn="ctr">
                        <a:defRPr sz="1000">
                          <a:latin typeface="Montserrat"/>
                        </a:defRPr>
                      </a:pPr>
                      <a:r>
                        <a:t>852</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34.0%</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13,782</a:t>
                      </a:r>
                    </a:p>
                  </a:txBody>
                  <a:tcPr>
                    <a:solidFill>
                      <a:srgbClr val="D3E9E7"/>
                    </a:solidFill>
                  </a:tcPr>
                </a:tc>
                <a:tc>
                  <a:txBody>
                    <a:bodyPr/>
                    <a:lstStyle/>
                    <a:p>
                      <a:pPr algn="ctr">
                        <a:defRPr sz="1000" b="1">
                          <a:solidFill>
                            <a:srgbClr val="006556"/>
                          </a:solidFill>
                          <a:latin typeface="Montserrat"/>
                        </a:defRPr>
                      </a:pPr>
                      <a:r>
                        <a:t>3,390</a:t>
                      </a:r>
                    </a:p>
                  </a:txBody>
                  <a:tcPr>
                    <a:solidFill>
                      <a:srgbClr val="D3E9E7"/>
                    </a:solidFill>
                  </a:tcPr>
                </a:tc>
                <a:tc>
                  <a:txBody>
                    <a:bodyPr/>
                    <a:lstStyle/>
                    <a:p>
                      <a:pPr algn="ctr">
                        <a:defRPr sz="1000" b="1">
                          <a:solidFill>
                            <a:srgbClr val="FFFFFF"/>
                          </a:solidFill>
                          <a:latin typeface="Montserrat"/>
                        </a:defRPr>
                      </a:pPr>
                      <a:r>
                        <a:t>6,319</a:t>
                      </a:r>
                    </a:p>
                  </a:txBody>
                  <a:tcPr>
                    <a:solidFill>
                      <a:srgbClr val="9F2241"/>
                    </a:solidFill>
                  </a:tcPr>
                </a:tc>
                <a:tc>
                  <a:txBody>
                    <a:bodyPr/>
                    <a:lstStyle/>
                    <a:p>
                      <a:pPr algn="ctr">
                        <a:defRPr sz="1000" b="1">
                          <a:solidFill>
                            <a:srgbClr val="FFFFFF"/>
                          </a:solidFill>
                          <a:latin typeface="Montserrat"/>
                        </a:defRPr>
                      </a:pPr>
                      <a:r>
                        <a:t>15,315</a:t>
                      </a:r>
                    </a:p>
                  </a:txBody>
                  <a:tcPr>
                    <a:solidFill>
                      <a:srgbClr val="9F2241"/>
                    </a:solidFill>
                  </a:tcPr>
                </a:tc>
                <a:tc>
                  <a:txBody>
                    <a:bodyPr/>
                    <a:lstStyle/>
                    <a:p>
                      <a:pPr algn="ctr">
                        <a:defRPr sz="1000" b="1">
                          <a:solidFill>
                            <a:srgbClr val="FFFFFF"/>
                          </a:solidFill>
                          <a:latin typeface="Montserrat"/>
                        </a:defRPr>
                      </a:pPr>
                      <a:r>
                        <a:t>41.3%</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297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017600"/>
            <a:ext cx="1800000" cy="360000"/>
          </a:xfrm>
          <a:prstGeom prst="rect">
            <a:avLst/>
          </a:prstGeom>
          <a:noFill/>
        </p:spPr>
        <p:txBody>
          <a:bodyPr wrap="none">
            <a:spAutoFit/>
          </a:bodyPr>
          <a:lstStyle/>
          <a:p>
            <a:pPr algn="ctr"/>
            <a:r>
              <a:rPr sz="2400" b="1">
                <a:solidFill>
                  <a:srgbClr val="9F2241"/>
                </a:solidFill>
                <a:latin typeface="Montserrat"/>
              </a:rPr>
              <a:t>41.3%</a:t>
            </a:r>
          </a:p>
        </p:txBody>
      </p:sp>
      <p:sp>
        <p:nvSpPr>
          <p:cNvPr id="236" name="TextBox 235"/>
          <p:cNvSpPr txBox="1"/>
          <p:nvPr/>
        </p:nvSpPr>
        <p:spPr>
          <a:xfrm>
            <a:off x="4780800" y="4917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297600"/>
            <a:ext cx="2854800" cy="1198800"/>
          </a:xfrm>
          <a:prstGeom prst="rect">
            <a:avLst/>
          </a:prstGeom>
          <a:noFill/>
        </p:spPr>
        <p:txBody>
          <a:bodyPr wrap="square">
            <a:spAutoFit/>
          </a:bodyPr>
          <a:lstStyle/>
          <a:p>
            <a:pPr algn="ctr">
              <a:defRPr sz="3600" b="1">
                <a:solidFill>
                  <a:srgbClr val="9F2241"/>
                </a:solidFill>
                <a:latin typeface="Montserrat"/>
              </a:defRPr>
            </a:pPr>
            <a:r>
              <a:t>15,315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57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8 en Hospitales, 0 en sede, 1 en UMF y 48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Materno Fetal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
        <p:nvSpPr>
          <p:cNvPr id="9" name="TextBox 8"/>
          <p:cNvSpPr txBox="1"/>
          <p:nvPr/>
        </p:nvSpPr>
        <p:spPr>
          <a:xfrm>
            <a:off x="360000" y="4247999"/>
            <a:ext cx="6840000" cy="360000"/>
          </a:xfrm>
          <a:prstGeom prst="rect">
            <a:avLst/>
          </a:prstGeom>
          <a:noFill/>
        </p:spPr>
        <p:txBody>
          <a:bodyPr wrap="none" anchor="ctr">
            <a:spAutoFit/>
          </a:bodyPr>
          <a:lstStyle/>
          <a:p>
            <a:pPr algn="l">
              <a:defRPr sz="2000" b="1">
                <a:solidFill>
                  <a:srgbClr val="BC955C"/>
                </a:solidFill>
                <a:latin typeface="Montserrat"/>
              </a:defRPr>
            </a:pPr>
            <a:r>
              <a:t>1 en Unidades de Medicina Familiar</a:t>
            </a:r>
          </a:p>
        </p:txBody>
      </p:sp>
      <p:cxnSp>
        <p:nvCxnSpPr>
          <p:cNvPr id="10" name="Connector 9"/>
          <p:cNvCxnSpPr/>
          <p:nvPr/>
        </p:nvCxnSpPr>
        <p:spPr>
          <a:xfrm>
            <a:off x="360000" y="46439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4715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2" name="TextBox 11"/>
          <p:cNvSpPr txBox="1"/>
          <p:nvPr/>
        </p:nvSpPr>
        <p:spPr>
          <a:xfrm>
            <a:off x="360000" y="5795998"/>
            <a:ext cx="6840000" cy="360000"/>
          </a:xfrm>
          <a:prstGeom prst="rect">
            <a:avLst/>
          </a:prstGeom>
          <a:noFill/>
        </p:spPr>
        <p:txBody>
          <a:bodyPr wrap="none" anchor="ctr">
            <a:spAutoFit/>
          </a:bodyPr>
          <a:lstStyle/>
          <a:p>
            <a:pPr algn="l">
              <a:defRPr sz="2000" b="1">
                <a:solidFill>
                  <a:srgbClr val="BC955C"/>
                </a:solidFill>
                <a:latin typeface="Montserrat"/>
              </a:defRPr>
            </a:pPr>
            <a:r>
              <a:t>48 especialistas (sustitutos)</a:t>
            </a:r>
          </a:p>
        </p:txBody>
      </p:sp>
      <p:cxnSp>
        <p:nvCxnSpPr>
          <p:cNvPr id="13" name="Connector 12"/>
          <p:cNvCxnSpPr/>
          <p:nvPr/>
        </p:nvCxnSpPr>
        <p:spPr>
          <a:xfrm>
            <a:off x="360000" y="61919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7164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2334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233400">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19.2%</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Anestesiología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33.3%</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Ginecología y Obstetricia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43.8%</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Cirugía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54.3%</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64.9%</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73.6%</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Epidemiología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78.9%</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82.4%</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85.9%</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Medicina Familiar</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89.4%</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Cirugía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91.2%</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92.9%</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94.7%</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Medicina Materno Fetal</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96.4%</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98.2%</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2334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57</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65AAF74A-D151-811B-0A9C-2ACDA58925C1}"/>
              </a:ext>
            </a:extLst>
          </p:cNvPr>
          <p:cNvGraphicFramePr/>
          <p:nvPr>
            <p:extLst>
              <p:ext uri="{D42A27DB-BD31-4B8C-83A1-F6EECF244321}">
                <p14:modId xmlns:p14="http://schemas.microsoft.com/office/powerpoint/2010/main" val="1428180539"/>
              </p:ext>
            </p:extLst>
          </p:nvPr>
        </p:nvGraphicFramePr>
        <p:xfrm>
          <a:off x="287050" y="81645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TLAXCALA</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824</a:t>
                      </a:r>
                    </a:p>
                  </a:txBody>
                  <a:tcPr anchor="ctr">
                    <a:solidFill>
                      <a:srgbClr val="FFFFFF"/>
                    </a:solidFill>
                  </a:tcPr>
                </a:tc>
                <a:tc>
                  <a:txBody>
                    <a:bodyPr/>
                    <a:lstStyle/>
                    <a:p>
                      <a:pPr algn="ctr">
                        <a:defRPr sz="1000">
                          <a:latin typeface="Montserrat"/>
                        </a:defRPr>
                      </a:pPr>
                      <a:r>
                        <a:t>34.0%</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657</a:t>
                      </a:r>
                    </a:p>
                  </a:txBody>
                  <a:tcPr anchor="ctr">
                    <a:solidFill>
                      <a:srgbClr val="D9D9D9"/>
                    </a:solidFill>
                  </a:tcPr>
                </a:tc>
                <a:tc>
                  <a:txBody>
                    <a:bodyPr/>
                    <a:lstStyle/>
                    <a:p>
                      <a:pPr algn="ctr">
                        <a:defRPr sz="1000">
                          <a:latin typeface="Montserrat"/>
                        </a:defRPr>
                      </a:pPr>
                      <a:r>
                        <a:t>61.1%</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294</a:t>
                      </a:r>
                    </a:p>
                  </a:txBody>
                  <a:tcPr anchor="ctr">
                    <a:solidFill>
                      <a:srgbClr val="FFFFFF"/>
                    </a:solidFill>
                  </a:tcPr>
                </a:tc>
                <a:tc>
                  <a:txBody>
                    <a:bodyPr/>
                    <a:lstStyle/>
                    <a:p>
                      <a:pPr algn="ctr">
                        <a:defRPr sz="1000">
                          <a:latin typeface="Montserrat"/>
                        </a:defRPr>
                      </a:pPr>
                      <a:r>
                        <a:t>73.2%</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191</a:t>
                      </a:r>
                    </a:p>
                  </a:txBody>
                  <a:tcPr anchor="ctr">
                    <a:solidFill>
                      <a:srgbClr val="D9D9D9"/>
                    </a:solidFill>
                  </a:tcPr>
                </a:tc>
                <a:tc>
                  <a:txBody>
                    <a:bodyPr/>
                    <a:lstStyle/>
                    <a:p>
                      <a:pPr algn="ctr">
                        <a:defRPr sz="1000">
                          <a:latin typeface="Montserrat"/>
                        </a:defRPr>
                      </a:pPr>
                      <a:r>
                        <a:t>81.1%</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181</a:t>
                      </a:r>
                    </a:p>
                  </a:txBody>
                  <a:tcPr anchor="ctr">
                    <a:solidFill>
                      <a:srgbClr val="FFFFFF"/>
                    </a:solidFill>
                  </a:tcPr>
                </a:tc>
                <a:tc>
                  <a:txBody>
                    <a:bodyPr/>
                    <a:lstStyle/>
                    <a:p>
                      <a:pPr algn="ctr">
                        <a:defRPr sz="1000">
                          <a:latin typeface="Montserrat"/>
                        </a:defRPr>
                      </a:pPr>
                      <a:r>
                        <a:t>88.5%</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111</a:t>
                      </a:r>
                    </a:p>
                  </a:txBody>
                  <a:tcPr anchor="ctr">
                    <a:solidFill>
                      <a:srgbClr val="D9D9D9"/>
                    </a:solidFill>
                  </a:tcPr>
                </a:tc>
                <a:tc>
                  <a:txBody>
                    <a:bodyPr/>
                    <a:lstStyle/>
                    <a:p>
                      <a:pPr algn="ctr">
                        <a:defRPr sz="1000">
                          <a:latin typeface="Montserrat"/>
                        </a:defRPr>
                      </a:pPr>
                      <a:r>
                        <a:t>93.1%</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69</a:t>
                      </a:r>
                    </a:p>
                  </a:txBody>
                  <a:tcPr anchor="ctr">
                    <a:solidFill>
                      <a:srgbClr val="FFFFFF"/>
                    </a:solidFill>
                  </a:tcPr>
                </a:tc>
                <a:tc>
                  <a:txBody>
                    <a:bodyPr/>
                    <a:lstStyle/>
                    <a:p>
                      <a:pPr algn="ctr">
                        <a:defRPr sz="1000">
                          <a:latin typeface="Montserrat"/>
                        </a:defRPr>
                      </a:pPr>
                      <a:r>
                        <a:t>96.0%</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59</a:t>
                      </a:r>
                    </a:p>
                  </a:txBody>
                  <a:tcPr anchor="ctr">
                    <a:solidFill>
                      <a:srgbClr val="D9D9D9"/>
                    </a:solidFill>
                  </a:tcPr>
                </a:tc>
                <a:tc>
                  <a:txBody>
                    <a:bodyPr/>
                    <a:lstStyle/>
                    <a:p>
                      <a:pPr algn="ctr">
                        <a:defRPr sz="1000">
                          <a:latin typeface="Montserrat"/>
                        </a:defRPr>
                      </a:pPr>
                      <a:r>
                        <a:t>98.4%</a:t>
                      </a:r>
                    </a:p>
                  </a:txBody>
                  <a:tcPr anchor="ctr">
                    <a:solidFill>
                      <a:srgbClr val="D9D9D9"/>
                    </a:solidFill>
                  </a:tcPr>
                </a:tc>
              </a:tr>
              <a:tr h="216000">
                <a:tc>
                  <a:txBody>
                    <a:bodyPr/>
                    <a:lstStyle/>
                    <a:p>
                      <a:pPr algn="l">
                        <a:defRPr sz="1000">
                          <a:latin typeface="Montserrat"/>
                        </a:defRPr>
                      </a:pPr>
                      <a:r>
                        <a:t>Angiología y Cirugía Vascular</a:t>
                      </a:r>
                    </a:p>
                  </a:txBody>
                  <a:tcPr anchor="ctr">
                    <a:solidFill>
                      <a:srgbClr val="FFFFFF"/>
                    </a:solidFill>
                  </a:tcPr>
                </a:tc>
                <a:tc>
                  <a:txBody>
                    <a:bodyPr/>
                    <a:lstStyle/>
                    <a:p>
                      <a:pPr algn="ctr">
                        <a:defRPr sz="1000">
                          <a:latin typeface="Montserrat"/>
                        </a:defRPr>
                      </a:pPr>
                      <a:r>
                        <a:t>21</a:t>
                      </a:r>
                    </a:p>
                  </a:txBody>
                  <a:tcPr anchor="ctr">
                    <a:solidFill>
                      <a:srgbClr val="FFFFFF"/>
                    </a:solidFill>
                  </a:tcPr>
                </a:tc>
                <a:tc>
                  <a:txBody>
                    <a:bodyPr/>
                    <a:lstStyle/>
                    <a:p>
                      <a:pPr algn="ctr">
                        <a:defRPr sz="1000">
                          <a:latin typeface="Montserrat"/>
                        </a:defRPr>
                      </a:pPr>
                      <a:r>
                        <a:t>99.3%</a:t>
                      </a:r>
                    </a:p>
                  </a:txBody>
                  <a:tcPr anchor="ctr">
                    <a:solidFill>
                      <a:srgbClr val="FFFFFF"/>
                    </a:solidFill>
                  </a:tcPr>
                </a:tc>
              </a:tr>
              <a:tr h="216000">
                <a:tc>
                  <a:txBody>
                    <a:bodyPr/>
                    <a:lstStyle/>
                    <a:p>
                      <a:pPr algn="l">
                        <a:defRPr sz="1000">
                          <a:latin typeface="Montserrat"/>
                        </a:defRPr>
                      </a:pPr>
                      <a:r>
                        <a:t>Medicina Interna  </a:t>
                      </a:r>
                    </a:p>
                  </a:txBody>
                  <a:tcPr anchor="ctr">
                    <a:solidFill>
                      <a:srgbClr val="D9D9D9"/>
                    </a:solidFill>
                  </a:tcPr>
                </a:tc>
                <a:tc>
                  <a:txBody>
                    <a:bodyPr/>
                    <a:lstStyle/>
                    <a:p>
                      <a:pPr algn="ctr">
                        <a:defRPr sz="1000">
                          <a:latin typeface="Montserrat"/>
                        </a:defRPr>
                      </a:pPr>
                      <a:r>
                        <a:t>18</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2,425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176</a:t>
                      </a:r>
                    </a:p>
                  </a:txBody>
                  <a:tcPr anchor="ctr">
                    <a:solidFill>
                      <a:srgbClr val="FFFFFF"/>
                    </a:solidFill>
                  </a:tcPr>
                </a:tc>
                <a:tc>
                  <a:txBody>
                    <a:bodyPr/>
                    <a:lstStyle/>
                    <a:p>
                      <a:pPr algn="ctr">
                        <a:defRPr sz="1000">
                          <a:latin typeface="Montserrat"/>
                        </a:defRPr>
                      </a:pPr>
                      <a:r>
                        <a:t>28.7%</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133</a:t>
                      </a:r>
                    </a:p>
                  </a:txBody>
                  <a:tcPr anchor="ctr">
                    <a:solidFill>
                      <a:srgbClr val="D9D9D9"/>
                    </a:solidFill>
                  </a:tcPr>
                </a:tc>
                <a:tc>
                  <a:txBody>
                    <a:bodyPr/>
                    <a:lstStyle/>
                    <a:p>
                      <a:pPr algn="ctr">
                        <a:defRPr sz="1000">
                          <a:latin typeface="Montserrat"/>
                        </a:defRPr>
                      </a:pPr>
                      <a:r>
                        <a:t>50.4%</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103</a:t>
                      </a:r>
                    </a:p>
                  </a:txBody>
                  <a:tcPr anchor="ctr">
                    <a:solidFill>
                      <a:srgbClr val="FFFFFF"/>
                    </a:solidFill>
                  </a:tcPr>
                </a:tc>
                <a:tc>
                  <a:txBody>
                    <a:bodyPr/>
                    <a:lstStyle/>
                    <a:p>
                      <a:pPr algn="ctr">
                        <a:defRPr sz="1000">
                          <a:latin typeface="Montserrat"/>
                        </a:defRPr>
                      </a:pPr>
                      <a:r>
                        <a:t>67.2%</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80.8%</a:t>
                      </a:r>
                    </a:p>
                  </a:txBody>
                  <a:tcPr anchor="ctr">
                    <a:solidFill>
                      <a:srgbClr val="D9D9D9"/>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51</a:t>
                      </a:r>
                    </a:p>
                  </a:txBody>
                  <a:tcPr anchor="ctr">
                    <a:solidFill>
                      <a:srgbClr val="FFFFFF"/>
                    </a:solidFill>
                  </a:tcPr>
                </a:tc>
                <a:tc>
                  <a:txBody>
                    <a:bodyPr/>
                    <a:lstStyle/>
                    <a:p>
                      <a:pPr algn="ctr">
                        <a:defRPr sz="1000">
                          <a:latin typeface="Montserrat"/>
                        </a:defRPr>
                      </a:pPr>
                      <a:r>
                        <a:t>89.1%</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43</a:t>
                      </a:r>
                    </a:p>
                  </a:txBody>
                  <a:tcPr anchor="ctr">
                    <a:solidFill>
                      <a:srgbClr val="D9D9D9"/>
                    </a:solidFill>
                  </a:tcPr>
                </a:tc>
                <a:tc>
                  <a:txBody>
                    <a:bodyPr/>
                    <a:lstStyle/>
                    <a:p>
                      <a:pPr algn="ctr">
                        <a:defRPr sz="1000">
                          <a:latin typeface="Montserrat"/>
                        </a:defRPr>
                      </a:pPr>
                      <a:r>
                        <a:t>96.1%</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24</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613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TLAXCALA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4,635	 Personal de Salud: 2,374</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+119.0%</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21</a:t>
                      </a:r>
                    </a:p>
                  </a:txBody>
                  <a:tcPr marL="0" marR="0" marT="0" marB="0">
                    <a:noFill/>
                  </a:tcPr>
                </a:tc>
                <a:tc>
                  <a:txBody>
                    <a:bodyPr/>
                    <a:lstStyle/>
                    <a:p>
                      <a:pPr algn="ctr">
                        <a:defRPr b="1" sz="1500">
                          <a:solidFill>
                            <a:srgbClr val="B4975A"/>
                          </a:solidFill>
                          <a:latin typeface="Montserrat"/>
                        </a:defRPr>
                      </a:pPr>
                      <a:r>
                        <a:t>46</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+34.6%</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434</a:t>
                      </a:r>
                    </a:p>
                  </a:txBody>
                  <a:tcPr marL="0" marR="0" marT="0" marB="0">
                    <a:noFill/>
                  </a:tcPr>
                </a:tc>
                <a:tc>
                  <a:txBody>
                    <a:bodyPr/>
                    <a:lstStyle/>
                    <a:p>
                      <a:pPr algn="ctr">
                        <a:defRPr b="1" sz="1500">
                          <a:solidFill>
                            <a:srgbClr val="B4975A"/>
                          </a:solidFill>
                          <a:latin typeface="Montserrat"/>
                        </a:defRPr>
                      </a:pPr>
                      <a:r>
                        <a:t>584</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+14.1%</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710</a:t>
                      </a:r>
                    </a:p>
                  </a:txBody>
                  <a:tcPr marL="0" marR="0" marT="0" marB="0">
                    <a:noFill/>
                  </a:tcPr>
                </a:tc>
                <a:tc>
                  <a:txBody>
                    <a:bodyPr/>
                    <a:lstStyle/>
                    <a:p>
                      <a:pPr algn="ctr">
                        <a:defRPr b="1" sz="1500">
                          <a:solidFill>
                            <a:srgbClr val="B4975A"/>
                          </a:solidFill>
                          <a:latin typeface="Montserrat"/>
                        </a:defRPr>
                      </a:pPr>
                      <a:r>
                        <a:t>810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+16.3%</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559</a:t>
                      </a:r>
                    </a:p>
                  </a:txBody>
                  <a:tcPr marL="0" marR="0" marT="0" marB="0">
                    <a:noFill/>
                  </a:tcPr>
                </a:tc>
                <a:tc>
                  <a:txBody>
                    <a:bodyPr/>
                    <a:lstStyle/>
                    <a:p>
                      <a:pPr algn="ctr">
                        <a:defRPr b="1" sz="1500">
                          <a:solidFill>
                            <a:srgbClr val="B4975A"/>
                          </a:solidFill>
                          <a:latin typeface="Montserrat"/>
                        </a:defRPr>
                      </a:pPr>
                      <a:r>
                        <a:t>650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+290.3%</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31</a:t>
                      </a:r>
                    </a:p>
                  </a:txBody>
                  <a:tcPr marL="0" marR="0" marT="0" marB="0">
                    <a:noFill/>
                  </a:tcPr>
                </a:tc>
                <a:tc>
                  <a:txBody>
                    <a:bodyPr/>
                    <a:lstStyle/>
                    <a:p>
                      <a:pPr algn="ctr">
                        <a:defRPr b="1" sz="1500">
                          <a:solidFill>
                            <a:srgbClr val="B4975A"/>
                          </a:solidFill>
                          <a:latin typeface="Montserrat"/>
                        </a:defRPr>
                      </a:pPr>
                      <a:r>
                        <a:t>121</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-20.1%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204</a:t>
                      </a:r>
                    </a:p>
                  </a:txBody>
                  <a:tcPr marL="0" marR="0" marT="0" marB="0">
                    <a:noFill/>
                  </a:tcPr>
                </a:tc>
                <a:tc>
                  <a:txBody>
                    <a:bodyPr/>
                    <a:lstStyle/>
                    <a:p>
                      <a:pPr algn="ctr">
                        <a:defRPr b="1" sz="1500">
                          <a:solidFill>
                            <a:srgbClr val="B4975A"/>
                          </a:solidFill>
                          <a:latin typeface="Montserrat"/>
                        </a:defRPr>
                      </a:pPr>
                      <a:r>
                        <a:t>163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54864"/>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12</a:t>
                      </a:r>
                    </a:p>
                  </a:txBody>
                  <a:tcPr marL="45720" marR="45720" marT="45720" marB="45720">
                    <a:solidFill>
                      <a:srgbClr val="EFEFEF"/>
                    </a:solidFill>
                  </a:tcPr>
                </a:tc>
              </a:tr>
            </a:tbl>
          </a:graphicData>
        </a:graphic>
      </p:graphicFrame>
      <p:graphicFrame>
        <p:nvGraphicFramePr>
          <p:cNvPr id="318" name="Table 317"/>
          <p:cNvGraphicFramePr>
            <a:graphicFrameLocks noGrp="1"/>
          </p:cNvGraphicFramePr>
          <p:nvPr/>
        </p:nvGraphicFramePr>
        <p:xfrm>
          <a:off x="4507200" y="6850800"/>
          <a:ext cx="2843784" cy="73152"/>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14</a:t>
                      </a:r>
                    </a:p>
                  </a:txBody>
                  <a:tcPr marL="45720" marR="45720" marT="45720" marB="45720">
                    <a:solidFill>
                      <a:srgbClr val="EFEFEF"/>
                    </a:solidFill>
                  </a:tcPr>
                </a:tc>
              </a:tr>
              <a:tr h="18288">
                <a:tc>
                  <a:txBody>
                    <a:bodyPr/>
                    <a:lstStyle/>
                    <a:p>
                      <a:pPr algn="l">
                        <a:defRPr sz="800">
                          <a:latin typeface="Montserrat"/>
                        </a:defRPr>
                      </a:pPr>
                      <a:r>
                        <a:t>Epidemiología</a:t>
                      </a:r>
                    </a:p>
                  </a:txBody>
                  <a:tcPr marL="45720" marR="45720" marT="45720" marB="45720">
                    <a:solidFill>
                      <a:srgbClr val="FFFFFF"/>
                    </a:solidFill>
                  </a:tcPr>
                </a:tc>
                <a:tc>
                  <a:txBody>
                    <a:bodyPr/>
                    <a:lstStyle/>
                    <a:p>
                      <a:pPr algn="ctr">
                        <a:defRPr sz="800">
                          <a:latin typeface="Montserrat"/>
                        </a:defRPr>
                      </a:pPr>
                      <a:r>
                        <a:t>4</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9</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12</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42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27</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90</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3,713</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264</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44</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50</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970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480</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7</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5,427</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(57,646)</a:t>
                      </a:r>
                    </a:p>
                  </a:txBody>
                  <a:tcPr>
                    <a:solidFill>
                      <a:srgbClr val="FFFFFF"/>
                    </a:solidFill>
                  </a:tcPr>
                </a:tc>
                <a:tc>
                  <a:txBody>
                    <a:bodyPr/>
                    <a:lstStyle/>
                    <a:p>
                      <a:pPr algn="ctr"/>
                      <a:r>
                        <a:rPr sz="900" b="0">
                          <a:latin typeface="Montserrat"/>
                        </a:rPr>
                        <a:t>Traumatismos e intoxicaciones
(6,099)</a:t>
                      </a:r>
                    </a:p>
                  </a:txBody>
                  <a:tcPr>
                    <a:solidFill>
                      <a:srgbClr val="FFFFFF"/>
                    </a:solidFill>
                  </a:tcPr>
                </a:tc>
                <a:tc>
                  <a:txBody>
                    <a:bodyPr/>
                    <a:lstStyle/>
                    <a:p>
                      <a:pPr algn="ctr"/>
                      <a:r>
                        <a:rPr sz="900" b="0">
                          <a:latin typeface="Montserrat"/>
                        </a:rPr>
                        <a:t>Los demás tumores benignos
(855)</a:t>
                      </a:r>
                    </a:p>
                  </a:txBody>
                  <a:tcPr>
                    <a:solidFill>
                      <a:srgbClr val="FFFFFF"/>
                    </a:solidFill>
                  </a:tcPr>
                </a:tc>
                <a:tc>
                  <a:txBody>
                    <a:bodyPr/>
                    <a:lstStyle/>
                    <a:p>
                      <a:pPr algn="ctr"/>
                      <a:r>
                        <a:rPr sz="900" b="0">
                          <a:latin typeface="Montserrat"/>
                        </a:rPr>
                        <a:t>Embarazo, parto y puerperio
(1,286)</a:t>
                      </a:r>
                    </a:p>
                  </a:txBody>
                  <a:tcPr>
                    <a:solidFill>
                      <a:srgbClr val="FFFFFF"/>
                    </a:solidFill>
                  </a:tcPr>
                </a:tc>
                <a:tc>
                  <a:txBody>
                    <a:bodyPr/>
                    <a:lstStyle/>
                    <a:p>
                      <a:pPr algn="ctr"/>
                      <a:r>
                        <a:rPr sz="900" b="0">
                          <a:latin typeface="Montserrat"/>
                        </a:rPr>
                        <a:t>Diabetes mellitus
(63)</a:t>
                      </a:r>
                    </a:p>
                  </a:txBody>
                  <a:tcPr>
                    <a:solidFill>
                      <a:srgbClr val="FFFFFF"/>
                    </a:solidFill>
                  </a:tcPr>
                </a:tc>
              </a:tr>
              <a:tr h="489600">
                <a:tc>
                  <a:txBody>
                    <a:bodyPr/>
                    <a:lstStyle/>
                    <a:p>
                      <a:pPr algn="ctr"/>
                      <a:r>
                        <a:rPr sz="900" b="0">
                          <a:latin typeface="Montserrat"/>
                        </a:rPr>
                        <a:t>Enfermedades del corazón
(36,337)</a:t>
                      </a:r>
                    </a:p>
                  </a:txBody>
                  <a:tcPr>
                    <a:solidFill>
                      <a:srgbClr val="EFEFEF"/>
                    </a:solidFill>
                  </a:tcPr>
                </a:tc>
                <a:tc>
                  <a:txBody>
                    <a:bodyPr/>
                    <a:lstStyle/>
                    <a:p>
                      <a:pPr algn="ctr"/>
                      <a:r>
                        <a:rPr sz="900" b="0">
                          <a:latin typeface="Montserrat"/>
                        </a:rPr>
                        <a:t>Insuficiencia renal
(4,630)</a:t>
                      </a:r>
                    </a:p>
                  </a:txBody>
                  <a:tcPr>
                    <a:solidFill>
                      <a:srgbClr val="EFEFEF"/>
                    </a:solidFill>
                  </a:tcPr>
                </a:tc>
                <a:tc>
                  <a:txBody>
                    <a:bodyPr/>
                    <a:lstStyle/>
                    <a:p>
                      <a:pPr algn="ctr"/>
                      <a:r>
                        <a:rPr sz="900" b="0">
                          <a:latin typeface="Montserrat"/>
                        </a:rPr>
                        <a:t>Cesárea
(771)</a:t>
                      </a:r>
                    </a:p>
                  </a:txBody>
                  <a:tcPr>
                    <a:solidFill>
                      <a:srgbClr val="EFEFEF"/>
                    </a:solidFill>
                  </a:tcPr>
                </a:tc>
                <a:tc>
                  <a:txBody>
                    <a:bodyPr/>
                    <a:lstStyle/>
                    <a:p>
                      <a:pPr algn="ctr"/>
                      <a:r>
                        <a:rPr sz="900" b="0">
                          <a:latin typeface="Montserrat"/>
                        </a:rPr>
                        <a:t>tumores benignos
(955)</a:t>
                      </a:r>
                    </a:p>
                  </a:txBody>
                  <a:tcPr>
                    <a:solidFill>
                      <a:srgbClr val="EFEFEF"/>
                    </a:solidFill>
                  </a:tcPr>
                </a:tc>
                <a:tc>
                  <a:txBody>
                    <a:bodyPr/>
                    <a:lstStyle/>
                    <a:p>
                      <a:pPr algn="ctr"/>
                      <a:r>
                        <a:rPr sz="900" b="0">
                          <a:latin typeface="Montserrat"/>
                        </a:rPr>
                        <a:t>Enfermedades del corazón
(48)</a:t>
                      </a:r>
                    </a:p>
                  </a:txBody>
                  <a:tcPr>
                    <a:solidFill>
                      <a:srgbClr val="EFEFEF"/>
                    </a:solidFill>
                  </a:tcPr>
                </a:tc>
              </a:tr>
              <a:tr h="489600">
                <a:tc>
                  <a:txBody>
                    <a:bodyPr/>
                    <a:lstStyle/>
                    <a:p>
                      <a:pPr algn="ctr"/>
                      <a:r>
                        <a:rPr sz="900" b="0">
                          <a:latin typeface="Montserrat"/>
                        </a:rPr>
                        <a:t>Infecciones respiratorias agudas
(14,868)</a:t>
                      </a:r>
                    </a:p>
                  </a:txBody>
                  <a:tcPr>
                    <a:solidFill>
                      <a:srgbClr val="FFFFFF"/>
                    </a:solidFill>
                  </a:tcPr>
                </a:tc>
                <a:tc>
                  <a:txBody>
                    <a:bodyPr/>
                    <a:lstStyle/>
                    <a:p>
                      <a:pPr algn="ctr"/>
                      <a:r>
                        <a:rPr sz="900" b="0">
                          <a:latin typeface="Montserrat"/>
                        </a:rPr>
                        <a:t>Enfermedades y trastornos de las articulaciones
(3,729)</a:t>
                      </a:r>
                    </a:p>
                  </a:txBody>
                  <a:tcPr>
                    <a:solidFill>
                      <a:srgbClr val="FFFFFF"/>
                    </a:solidFill>
                  </a:tcPr>
                </a:tc>
                <a:tc>
                  <a:txBody>
                    <a:bodyPr/>
                    <a:lstStyle/>
                    <a:p>
                      <a:pPr algn="ctr"/>
                      <a:r>
                        <a:rPr sz="900" b="0">
                          <a:latin typeface="Montserrat"/>
                        </a:rPr>
                        <a:t>Enfermedades de la piel y del tejido subcutáneo
(729)</a:t>
                      </a:r>
                    </a:p>
                  </a:txBody>
                  <a:tcPr>
                    <a:solidFill>
                      <a:srgbClr val="FFFFFF"/>
                    </a:solidFill>
                  </a:tcPr>
                </a:tc>
                <a:tc>
                  <a:txBody>
                    <a:bodyPr/>
                    <a:lstStyle/>
                    <a:p>
                      <a:pPr algn="ctr"/>
                      <a:r>
                        <a:rPr sz="900" b="0">
                          <a:latin typeface="Montserrat"/>
                        </a:rPr>
                        <a:t>Trastornos de la piel y tejidos superficiales
(760)</a:t>
                      </a:r>
                    </a:p>
                  </a:txBody>
                  <a:tcPr>
                    <a:solidFill>
                      <a:srgbClr val="FFFFFF"/>
                    </a:solidFill>
                  </a:tcPr>
                </a:tc>
                <a:tc>
                  <a:txBody>
                    <a:bodyPr/>
                    <a:lstStyle/>
                    <a:p>
                      <a:pPr algn="ctr"/>
                      <a:r>
                        <a:rPr sz="900" b="0">
                          <a:latin typeface="Montserrat"/>
                        </a:rPr>
                        <a:t>Insuficiencia renal
(36)</a:t>
                      </a:r>
                    </a:p>
                  </a:txBody>
                  <a:tcPr>
                    <a:solidFill>
                      <a:srgbClr val="FFFFFF"/>
                    </a:solidFill>
                  </a:tcPr>
                </a:tc>
              </a:tr>
              <a:tr h="489600">
                <a:tc>
                  <a:txBody>
                    <a:bodyPr/>
                    <a:lstStyle/>
                    <a:p>
                      <a:pPr algn="ctr"/>
                      <a:r>
                        <a:rPr sz="900" b="0">
                          <a:latin typeface="Montserrat"/>
                        </a:rPr>
                        <a:t>Embarazo, parto y puerperio
(7,364)</a:t>
                      </a:r>
                    </a:p>
                  </a:txBody>
                  <a:tcPr>
                    <a:solidFill>
                      <a:srgbClr val="EFEFEF"/>
                    </a:solidFill>
                  </a:tcPr>
                </a:tc>
                <a:tc>
                  <a:txBody>
                    <a:bodyPr/>
                    <a:lstStyle/>
                    <a:p>
                      <a:pPr algn="ctr"/>
                      <a:r>
                        <a:rPr sz="900" b="0">
                          <a:latin typeface="Montserrat"/>
                        </a:rPr>
                        <a:t>Enfermedades mentales
(2,925)</a:t>
                      </a:r>
                    </a:p>
                  </a:txBody>
                  <a:tcPr>
                    <a:solidFill>
                      <a:srgbClr val="EFEFEF"/>
                    </a:solidFill>
                  </a:tcPr>
                </a:tc>
                <a:tc>
                  <a:txBody>
                    <a:bodyPr/>
                    <a:lstStyle/>
                    <a:p>
                      <a:pPr algn="ctr"/>
                      <a:r>
                        <a:rPr sz="900" b="0">
                          <a:latin typeface="Montserrat"/>
                        </a:rPr>
                        <a:t>Traumatismos y envenenamientos
(576)</a:t>
                      </a:r>
                    </a:p>
                  </a:txBody>
                  <a:tcPr>
                    <a:solidFill>
                      <a:srgbClr val="EFEFEF"/>
                    </a:solidFill>
                  </a:tcPr>
                </a:tc>
                <a:tc>
                  <a:txBody>
                    <a:bodyPr/>
                    <a:lstStyle/>
                    <a:p>
                      <a:pPr algn="ctr"/>
                      <a:r>
                        <a:rPr sz="900" b="0">
                          <a:latin typeface="Montserrat"/>
                        </a:rPr>
                        <a:t>Traumatismos e intoxicaciones
(739)</a:t>
                      </a:r>
                    </a:p>
                  </a:txBody>
                  <a:tcPr>
                    <a:solidFill>
                      <a:srgbClr val="EFEFEF"/>
                    </a:solidFill>
                  </a:tcPr>
                </a:tc>
                <a:tc>
                  <a:txBody>
                    <a:bodyPr/>
                    <a:lstStyle/>
                    <a:p>
                      <a:pPr algn="ctr"/>
                      <a:r>
                        <a:rPr sz="900" b="0">
                          <a:latin typeface="Montserrat"/>
                        </a:rPr>
                        <a:t>Tumores malignos
(31)</a:t>
                      </a:r>
                    </a:p>
                  </a:txBody>
                  <a:tcPr>
                    <a:solidFill>
                      <a:srgbClr val="EFEFEF"/>
                    </a:solidFill>
                  </a:tcPr>
                </a:tc>
              </a:tr>
              <a:tr h="489600">
                <a:tc>
                  <a:txBody>
                    <a:bodyPr/>
                    <a:lstStyle/>
                    <a:p>
                      <a:pPr algn="ctr"/>
                      <a:r>
                        <a:rPr sz="900" b="0">
                          <a:latin typeface="Montserrat"/>
                        </a:rPr>
                        <a:t>traumatismos e intoxicaciones
(6,531)</a:t>
                      </a:r>
                    </a:p>
                  </a:txBody>
                  <a:tcPr>
                    <a:solidFill>
                      <a:srgbClr val="FFFFFF"/>
                    </a:solidFill>
                  </a:tcPr>
                </a:tc>
                <a:tc>
                  <a:txBody>
                    <a:bodyPr/>
                    <a:lstStyle/>
                    <a:p>
                      <a:pPr algn="ctr"/>
                      <a:r>
                        <a:rPr sz="900" b="0">
                          <a:latin typeface="Montserrat"/>
                        </a:rPr>
                        <a:t>Diabetes mellitus
(2,431)</a:t>
                      </a:r>
                    </a:p>
                  </a:txBody>
                  <a:tcPr>
                    <a:solidFill>
                      <a:srgbClr val="FFFFFF"/>
                    </a:solidFill>
                  </a:tcPr>
                </a:tc>
                <a:tc>
                  <a:txBody>
                    <a:bodyPr/>
                    <a:lstStyle/>
                    <a:p>
                      <a:pPr algn="ctr"/>
                      <a:r>
                        <a:rPr sz="900" b="0">
                          <a:latin typeface="Montserrat"/>
                        </a:rPr>
                        <a:t>Cirugía de Hernias (Hernioplastía)
(336)</a:t>
                      </a:r>
                    </a:p>
                  </a:txBody>
                  <a:tcPr>
                    <a:solidFill>
                      <a:srgbClr val="FFFFFF"/>
                    </a:solidFill>
                  </a:tcPr>
                </a:tc>
                <a:tc>
                  <a:txBody>
                    <a:bodyPr/>
                    <a:lstStyle/>
                    <a:p>
                      <a:pPr algn="ctr"/>
                      <a:r>
                        <a:rPr sz="900" b="0">
                          <a:latin typeface="Montserrat"/>
                        </a:rPr>
                        <a:t>Insuficiencia renal
(532)</a:t>
                      </a:r>
                    </a:p>
                  </a:txBody>
                  <a:tcPr>
                    <a:solidFill>
                      <a:srgbClr val="FFFFFF"/>
                    </a:solidFill>
                  </a:tcPr>
                </a:tc>
                <a:tc>
                  <a:txBody>
                    <a:bodyPr/>
                    <a:lstStyle/>
                    <a:p>
                      <a:pPr algn="ctr"/>
                      <a:r>
                        <a:rPr sz="900" b="0">
                          <a:latin typeface="Montserrat"/>
                        </a:rPr>
                        <a:t>Neumonía e influenza
(21)</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TLAXCALA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30,968</a:t>
                      </a:r>
                    </a:p>
                  </a:txBody>
                  <a:tcPr>
                    <a:solidFill>
                      <a:srgbClr val="FFFFFF"/>
                    </a:solidFill>
                  </a:tcPr>
                </a:tc>
                <a:tc>
                  <a:txBody>
                    <a:bodyPr/>
                    <a:lstStyle/>
                    <a:p>
                      <a:pPr algn="ctr"/>
                      <a:r>
                        <a:rPr sz="1100" b="0">
                          <a:solidFill>
                            <a:srgbClr val="434343"/>
                          </a:solidFill>
                          <a:latin typeface="Montserrat"/>
                        </a:rPr>
                        <a:t>457,742</a:t>
                      </a:r>
                    </a:p>
                  </a:txBody>
                  <a:tcPr>
                    <a:solidFill>
                      <a:srgbClr val="FFFFFF"/>
                    </a:solidFill>
                  </a:tcPr>
                </a:tc>
                <a:tc>
                  <a:txBody>
                    <a:bodyPr/>
                    <a:lstStyle/>
                    <a:p>
                      <a:pPr algn="ctr"/>
                      <a:r>
                        <a:rPr sz="1100" b="0">
                          <a:solidFill>
                            <a:srgbClr val="434343"/>
                          </a:solidFill>
                          <a:latin typeface="Montserrat"/>
                        </a:rPr>
                        <a:t>93.7%</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25,478</a:t>
                      </a:r>
                    </a:p>
                  </a:txBody>
                  <a:tcPr>
                    <a:solidFill>
                      <a:srgbClr val="D9D9D9"/>
                    </a:solidFill>
                  </a:tcPr>
                </a:tc>
                <a:tc>
                  <a:txBody>
                    <a:bodyPr/>
                    <a:lstStyle/>
                    <a:p>
                      <a:pPr algn="ctr"/>
                      <a:r>
                        <a:rPr sz="1100" b="1">
                          <a:solidFill>
                            <a:srgbClr val="006455"/>
                          </a:solidFill>
                          <a:latin typeface="Montserrat"/>
                        </a:rPr>
                        <a:t>510,913</a:t>
                      </a:r>
                    </a:p>
                  </a:txBody>
                  <a:tcPr>
                    <a:solidFill>
                      <a:srgbClr val="D9D9D9"/>
                    </a:solidFill>
                  </a:tcPr>
                </a:tc>
                <a:tc>
                  <a:txBody>
                    <a:bodyPr/>
                    <a:lstStyle/>
                    <a:p>
                      <a:pPr algn="ctr"/>
                      <a:r>
                        <a:rPr sz="1100" b="1">
                          <a:solidFill>
                            <a:srgbClr val="006455"/>
                          </a:solidFill>
                          <a:latin typeface="Montserrat"/>
                        </a:rPr>
                        <a:t>95.3%</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88E67-9E64-31EB-C34E-8584652249EB}"/>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TLAXCALA</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9.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110,320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84,710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57,560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52,204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49,156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45,884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43,794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42,197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38,276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38,175</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4129938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5"/>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1645158"/>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1988746"/>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2002536"/>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2903145"/>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2916935"/>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382564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4169236"/>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4295568"/>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Mastógrafo</a:t>
            </a:r>
          </a:p>
        </p:txBody>
      </p:sp>
      <p:sp>
        <p:nvSpPr>
          <p:cNvPr id="13" name="TextBox 1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4" name="Table 13"/>
          <p:cNvGraphicFramePr>
            <a:graphicFrameLocks noGrp="1"/>
          </p:cNvGraphicFramePr>
          <p:nvPr/>
        </p:nvGraphicFramePr>
        <p:xfrm>
          <a:off x="1785600" y="1584000"/>
          <a:ext cx="5295600" cy="2880000"/>
        </p:xfrm>
        <a:graphic>
          <a:graphicData uri="http://schemas.openxmlformats.org/drawingml/2006/table">
            <a:tbl>
              <a:tblPr firstRow="1" bandRow="1">
                <a:tableStyleId>{5C22544A-7EE6-4342-B048-85BDC9FD1C3A}</a:tableStyleId>
              </a:tblPr>
              <a:tblGrid>
                <a:gridCol w="4176000"/>
                <a:gridCol w="1119600"/>
              </a:tblGrid>
              <a:tr h="411428">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11428">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$107.7</a:t>
                      </a:r>
                    </a:p>
                  </a:txBody>
                  <a:tcPr marL="3600" marR="3600" marT="3600" marB="3600">
                    <a:solidFill>
                      <a:srgbClr val="FFFFFF"/>
                    </a:solidFill>
                  </a:tcPr>
                </a:tc>
              </a:tr>
              <a:tr h="411428">
                <a:tc>
                  <a:txBody>
                    <a:bodyPr/>
                    <a:lstStyle/>
                    <a:p>
                      <a:pPr algn="l">
                        <a:lnSpc>
                          <a:spcPct val="100000"/>
                        </a:lnSpc>
                      </a:pPr>
                      <a:r>
                        <a:rPr sz="1000">
                          <a:latin typeface="Montserrat"/>
                        </a:rPr>
                        <a:t>Intervención en áreas de residencias médicas en HGZMF No. 4 y HGZ No. 1 en Tlaxcala</a:t>
                      </a:r>
                    </a:p>
                  </a:txBody>
                  <a:tcPr marL="3600" marR="3600" marT="3600" marB="3600">
                    <a:solidFill>
                      <a:srgbClr val="D9D9D9"/>
                    </a:solidFill>
                  </a:tcPr>
                </a:tc>
                <a:tc>
                  <a:txBody>
                    <a:bodyPr/>
                    <a:lstStyle/>
                    <a:p>
                      <a:pPr algn="ctr">
                        <a:lnSpc>
                          <a:spcPct val="100000"/>
                        </a:lnSpc>
                      </a:pPr>
                      <a:r>
                        <a:rPr sz="1000">
                          <a:latin typeface="Montserrat"/>
                        </a:rPr>
                        <a:t>$4.7</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accesibilidad (rampas) en HGZ No. 1 y HGZMF No.  2</a:t>
                      </a:r>
                    </a:p>
                  </a:txBody>
                  <a:tcPr marL="3600" marR="3600" marT="3600" marB="3600">
                    <a:solidFill>
                      <a:srgbClr val="FFFFFF"/>
                    </a:solidFill>
                  </a:tcPr>
                </a:tc>
                <a:tc>
                  <a:txBody>
                    <a:bodyPr/>
                    <a:lstStyle/>
                    <a:p>
                      <a:pPr algn="ctr">
                        <a:lnSpc>
                          <a:spcPct val="100000"/>
                        </a:lnSpc>
                      </a:pPr>
                      <a:r>
                        <a:rPr sz="1000">
                          <a:latin typeface="Montserrat"/>
                        </a:rPr>
                        <a:t>$1.8</a:t>
                      </a:r>
                    </a:p>
                  </a:txBody>
                  <a:tcPr marL="3600" marR="3600" marT="3600" marB="3600">
                    <a:solidFill>
                      <a:srgbClr val="FFFFFF"/>
                    </a:solidFill>
                  </a:tcPr>
                </a:tc>
              </a:tr>
              <a:tr h="411428">
                <a:tc>
                  <a:txBody>
                    <a:bodyPr/>
                    <a:lstStyle/>
                    <a:p>
                      <a:pPr algn="l">
                        <a:lnSpc>
                          <a:spcPct val="100000"/>
                        </a:lnSpc>
                      </a:pPr>
                      <a:r>
                        <a:rPr sz="1000">
                          <a:latin typeface="Montserrat"/>
                        </a:rPr>
                        <a:t>Intervención en áreas de terapia intensiva en HGZ No. 1 Tlaxcala</a:t>
                      </a:r>
                    </a:p>
                  </a:txBody>
                  <a:tcPr marL="3600" marR="3600" marT="3600" marB="3600">
                    <a:solidFill>
                      <a:srgbClr val="D9D9D9"/>
                    </a:solidFill>
                  </a:tcPr>
                </a:tc>
                <a:tc>
                  <a:txBody>
                    <a:bodyPr/>
                    <a:lstStyle/>
                    <a:p>
                      <a:pPr algn="ctr">
                        <a:lnSpc>
                          <a:spcPct val="100000"/>
                        </a:lnSpc>
                      </a:pPr>
                      <a:r>
                        <a:rPr sz="1000">
                          <a:latin typeface="Montserrat"/>
                        </a:rPr>
                        <a:t>$1.4</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hemodiálisis interna en HGZ No. 1 Tlaxcala</a:t>
                      </a:r>
                    </a:p>
                  </a:txBody>
                  <a:tcPr marL="3600" marR="3600" marT="3600" marB="3600">
                    <a:solidFill>
                      <a:srgbClr val="FFFFFF"/>
                    </a:solidFill>
                  </a:tcPr>
                </a:tc>
                <a:tc>
                  <a:txBody>
                    <a:bodyPr/>
                    <a:lstStyle/>
                    <a:p>
                      <a:pPr algn="ctr">
                        <a:lnSpc>
                          <a:spcPct val="100000"/>
                        </a:lnSpc>
                      </a:pPr>
                      <a:r>
                        <a:rPr sz="1000">
                          <a:latin typeface="Montserrat"/>
                        </a:rPr>
                        <a:t>$0.6</a:t>
                      </a:r>
                    </a:p>
                  </a:txBody>
                  <a:tcPr marL="3600" marR="3600" marT="3600" marB="3600">
                    <a:solidFill>
                      <a:srgbClr val="FFFFFF"/>
                    </a:solidFill>
                  </a:tcPr>
                </a:tc>
              </a:tr>
              <a:tr h="411432">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$116.2</a:t>
                      </a:r>
                    </a:p>
                  </a:txBody>
                  <a:tcPr marL="3600" marR="3600" marT="3600" marB="3600">
                    <a:solidFill>
                      <a:srgbClr val="ECE1D2"/>
                    </a:solidFill>
                  </a:tcPr>
                </a:tc>
              </a:tr>
            </a:tbl>
          </a:graphicData>
        </a:graphic>
      </p:graphicFrame>
      <p:graphicFrame>
        <p:nvGraphicFramePr>
          <p:cNvPr id="15" name="Table 14"/>
          <p:cNvGraphicFramePr>
            <a:graphicFrameLocks noGrp="1"/>
          </p:cNvGraphicFramePr>
          <p:nvPr/>
        </p:nvGraphicFramePr>
        <p:xfrm>
          <a:off x="1785600" y="4644000"/>
          <a:ext cx="5295600" cy="9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Adquisición de 4 piezas de equipo médico: 3 refrigeradores con congelador de 5.4 pies cúbicos, 1 mastógrafo digital con estereotaxia y tomosíntesis</a:t>
                      </a:r>
                    </a:p>
                  </a:txBody>
                  <a:tcPr marL="3600" marR="3600" marT="3600" marB="3600">
                    <a:solidFill>
                      <a:srgbClr val="FFFFFF"/>
                    </a:solidFill>
                  </a:tcPr>
                </a:tc>
                <a:tc>
                  <a:txBody>
                    <a:bodyPr/>
                    <a:lstStyle/>
                    <a:p>
                      <a:pPr algn="ctr">
                        <a:lnSpc>
                          <a:spcPct val="100000"/>
                        </a:lnSpc>
                      </a:pPr>
                      <a:r>
                        <a:rPr sz="1000">
                          <a:latin typeface="Montserrat"/>
                        </a:rPr>
                        <a:t>$4.4</a:t>
                      </a:r>
                    </a:p>
                  </a:txBody>
                  <a:tcPr marL="3600" marR="3600" marT="3600" marB="3600">
                    <a:solidFill>
                      <a:srgbClr val="FFFFFF"/>
                    </a:solidFill>
                  </a:tcPr>
                </a:tc>
              </a:tr>
            </a:tbl>
          </a:graphicData>
        </a:graphic>
      </p:graphicFrame>
      <p:sp>
        <p:nvSpPr>
          <p:cNvPr id="16" name="TextBox 15"/>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120.6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grpSp>
        <p:nvGrpSpPr>
          <p:cNvPr id="11" name="Group 10">
            <a:extLst>
              <a:ext uri="{FF2B5EF4-FFF2-40B4-BE49-F238E27FC236}">
                <a16:creationId xmlns:a16="http://schemas.microsoft.com/office/drawing/2014/main" id="{9119A1C4-1E4E-4E9A-6BEB-8D66D32D43BD}"/>
              </a:ext>
            </a:extLst>
          </p:cNvPr>
          <p:cNvGrpSpPr/>
          <p:nvPr/>
        </p:nvGrpSpPr>
        <p:grpSpPr>
          <a:xfrm>
            <a:off x="5600698" y="783997"/>
            <a:ext cx="1812473" cy="571500"/>
            <a:chOff x="5568041" y="2253568"/>
            <a:chExt cx="1812473" cy="571500"/>
          </a:xfrm>
        </p:grpSpPr>
        <p:sp>
          <p:nvSpPr>
            <p:cNvPr id="4" name="Terminator 3">
              <a:extLst>
                <a:ext uri="{FF2B5EF4-FFF2-40B4-BE49-F238E27FC236}">
                  <a16:creationId xmlns:a16="http://schemas.microsoft.com/office/drawing/2014/main" id="{DCFFC811-637E-D768-4117-BFFFD79FFB2F}"/>
                </a:ext>
              </a:extLst>
            </p:cNvPr>
            <p:cNvSpPr/>
            <p:nvPr/>
          </p:nvSpPr>
          <p:spPr>
            <a:xfrm>
              <a:off x="5568041" y="2253568"/>
              <a:ext cx="1812473" cy="571500"/>
            </a:xfrm>
            <a:prstGeom prst="flowChartTerminator">
              <a:avLst/>
            </a:prstGeom>
            <a:solidFill>
              <a:srgbClr val="9F2241"/>
            </a:solidFill>
            <a:ln>
              <a:solidFill>
                <a:srgbClr val="9F2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6" name="Oval 5">
              <a:extLst>
                <a:ext uri="{FF2B5EF4-FFF2-40B4-BE49-F238E27FC236}">
                  <a16:creationId xmlns:a16="http://schemas.microsoft.com/office/drawing/2014/main" id="{78793306-831D-7776-DB4E-229E8976EE8D}"/>
                </a:ext>
              </a:extLst>
            </p:cNvPr>
            <p:cNvSpPr/>
            <p:nvPr/>
          </p:nvSpPr>
          <p:spPr>
            <a:xfrm>
              <a:off x="5568041" y="2260318"/>
              <a:ext cx="604157" cy="558000"/>
            </a:xfrm>
            <a:prstGeom prst="ellipse">
              <a:avLst/>
            </a:prstGeom>
            <a:solidFill>
              <a:schemeClr val="bg1"/>
            </a:solidFill>
            <a:ln w="57150">
              <a:solidFill>
                <a:srgbClr val="9F2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3200" b="1" dirty="0">
                  <a:solidFill>
                    <a:srgbClr val="9F2241"/>
                  </a:solidFill>
                  <a:latin typeface="Montserrat" pitchFamily="2" charset="77"/>
                </a:rPr>
                <a:t>$</a:t>
              </a:r>
              <a:endParaRPr lang="es-ES_tradnl" dirty="0"/>
            </a:p>
          </p:txBody>
        </p:sp>
      </p:gr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3" name="Table 12"/>
          <p:cNvGraphicFramePr>
            <a:graphicFrameLocks noGrp="1"/>
          </p:cNvGraphicFramePr>
          <p:nvPr/>
        </p:nvGraphicFramePr>
        <p:xfrm>
          <a:off x="1785600" y="1584000"/>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HGR No. 260 camas Tlaxcala</a:t>
                      </a:r>
                    </a:p>
                  </a:txBody>
                  <a:tcPr marL="3600" marR="3600" marT="3600" marB="3600">
                    <a:solidFill>
                      <a:srgbClr val="FFFFFF"/>
                    </a:solidFill>
                  </a:tcPr>
                </a:tc>
                <a:tc>
                  <a:txBody>
                    <a:bodyPr/>
                    <a:lstStyle/>
                    <a:p>
                      <a:pPr algn="ctr">
                        <a:lnSpc>
                          <a:spcPct val="100000"/>
                        </a:lnSpc>
                      </a:pPr>
                      <a:r>
                        <a:rPr sz="1000">
                          <a:latin typeface="Montserrat"/>
                        </a:rPr>
                        <a:t>$3,692.0</a:t>
                      </a:r>
                    </a:p>
                  </a:txBody>
                  <a:tcPr marL="3600" marR="3600" marT="3600" marB="3600">
                    <a:solidFill>
                      <a:srgbClr val="FFFFFF"/>
                    </a:solidFill>
                  </a:tcPr>
                </a:tc>
              </a:tr>
            </a:tbl>
          </a:graphicData>
        </a:graphic>
      </p:graphicFrame>
      <p:graphicFrame>
        <p:nvGraphicFramePr>
          <p:cNvPr id="14" name="Table 13"/>
          <p:cNvGraphicFramePr>
            <a:graphicFrameLocks noGrp="1"/>
          </p:cNvGraphicFramePr>
          <p:nvPr/>
        </p:nvGraphicFramePr>
        <p:xfrm>
          <a:off x="1785600" y="2267998"/>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$68.2</a:t>
                      </a:r>
                    </a:p>
                  </a:txBody>
                  <a:tcPr marL="3600" marR="3600" marT="3600" marB="3600">
                    <a:solidFill>
                      <a:srgbClr val="FFFFFF"/>
                    </a:solidFill>
                  </a:tcPr>
                </a:tc>
              </a:tr>
            </a:tbl>
          </a:graphicData>
        </a:graphic>
      </p:graphicFrame>
      <p:sp>
        <p:nvSpPr>
          <p:cNvPr id="15" name="TextBox 14"/>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3,760.2</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a:txBody>
                    <a:bodyPr/>
                    <a:lstStyle/>
                    <a:p>
                      <a:pPr algn="l">
                        <a:defRPr sz="1000">
                          <a:latin typeface="Montserrat"/>
                        </a:defRPr>
                      </a:pPr>
                      <a:r>
                        <a:t>Hospital General Regional Tlaxcala</a:t>
                      </a:r>
                    </a:p>
                  </a:txBody>
                  <a:tcPr>
                    <a:solidFill>
                      <a:srgbClr val="FFFFFF"/>
                    </a:solidFill>
                  </a:tcPr>
                </a:tc>
                <a:tc>
                  <a:txBody>
                    <a:bodyPr/>
                    <a:lstStyle/>
                    <a:p>
                      <a:pPr algn="ctr">
                        <a:defRPr sz="1000">
                          <a:latin typeface="Montserrat"/>
                        </a:defRPr>
                      </a:pPr>
                      <a:r>
                        <a:t>$2,893.0</a:t>
                      </a:r>
                    </a:p>
                  </a:txBody>
                  <a:tcPr>
                    <a:solidFill>
                      <a:srgbClr val="FFFFFF"/>
                    </a:solidFill>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sp>
        <p:nvSpPr>
          <p:cNvPr id="24" name="TextBox 23"/>
          <p:cNvSpPr txBox="1"/>
          <p:nvPr/>
        </p:nvSpPr>
        <p:spPr>
          <a:xfrm>
            <a:off x="5936399" y="1018800"/>
            <a:ext cx="1306800" cy="338400"/>
          </a:xfrm>
          <a:prstGeom prst="rect">
            <a:avLst/>
          </a:prstGeom>
          <a:noFill/>
        </p:spPr>
        <p:txBody>
          <a:bodyPr wrap="none">
            <a:spAutoFit/>
          </a:bodyPr>
          <a:lstStyle/>
          <a:p>
            <a:pPr algn="ctr">
              <a:defRPr sz="1400" b="1">
                <a:solidFill>
                  <a:srgbClr val="FFFFFF"/>
                </a:solidFill>
                <a:latin typeface="Montserrat"/>
              </a:defRPr>
            </a:pPr>
            <a:r>
              <a:t>2,893.0 mdp</a:t>
            </a:r>
          </a:p>
        </p:txBody>
      </p:sp>
      <p:graphicFrame>
        <p:nvGraphicFramePr>
          <p:cNvPr id="25" name="Table 24"/>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2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Zacatelco, Chiautempan</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0 Donación</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bl>
          </a:graphicData>
        </a:graphic>
      </p:graphicFrame>
      <p:sp>
        <p:nvSpPr>
          <p:cNvPr id="26" name="Oval 25"/>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14</a:t>
            </a:r>
          </a:p>
        </p:txBody>
      </p:sp>
      <p:sp>
        <p:nvSpPr>
          <p:cNvPr id="27" name="Rectangle 26"/>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14 CECI IMSS</a:t>
            </a:r>
          </a:p>
          <a:p>
            <a:pPr algn="ctr">
              <a:defRPr sz="1500" b="1">
                <a:solidFill>
                  <a:srgbClr val="FFFFFF"/>
                </a:solidFill>
                <a:latin typeface="Montserrat"/>
              </a:defRPr>
            </a:pPr>
            <a:r>
              <a:t>0 CECI CAMPO</a:t>
            </a:r>
          </a:p>
        </p:txBody>
      </p:sp>
      <p:sp>
        <p:nvSpPr>
          <p:cNvPr id="28" name="TextBox 27"/>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Chiautempan y Zacatelco.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TLAXCALA</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6 </a:t>
                      </a:r>
                      <a:r>
                        <a:rPr b="1" sz="1000">
                          <a:latin typeface="Montserrat"/>
                        </a:rPr>
                        <a:t>unidades</a:t>
                      </a:r>
                    </a:p>
                    <a:p>
                      <a:pPr algn="ctr">
                        <a:defRPr sz="1000">
                          <a:solidFill>
                            <a:srgbClr val="505050"/>
                          </a:solidFill>
                          <a:latin typeface="Montserrat"/>
                        </a:defRPr>
                      </a:pPr>
                      <a:r>
                        <a:t>0 directas</a:t>
                      </a:r>
                    </a:p>
                    <a:p>
                      <a:pPr algn="ctr">
                        <a:defRPr sz="1000">
                          <a:solidFill>
                            <a:srgbClr val="505050"/>
                          </a:solidFill>
                          <a:latin typeface="Montserrat"/>
                        </a:defRPr>
                      </a:pPr>
                      <a:r>
                        <a:t>6 indirectas</a:t>
                      </a:r>
                    </a:p>
                  </a:txBody>
                  <a:tcPr anchor="ctr">
                    <a:solidFill>
                      <a:srgbClr val="FFFFFF"/>
                    </a:solidFill>
                  </a:tcPr>
                </a:tc>
                <a:tc>
                  <a:txBody>
                    <a:bodyPr/>
                    <a:lstStyle/>
                    <a:p>
                      <a:pPr algn="ctr"/>
                      <a:r>
                        <a:rPr b="1" sz="1000">
                          <a:latin typeface="Montserrat"/>
                        </a:rPr>
                        <a:t>581 </a:t>
                      </a:r>
                      <a:r>
                        <a:rPr b="1" sz="1000">
                          <a:latin typeface="Montserrat"/>
                        </a:rPr>
                        <a:t>inscritos</a:t>
                      </a:r>
                    </a:p>
                    <a:p>
                      <a:pPr algn="ctr">
                        <a:defRPr sz="1000">
                          <a:solidFill>
                            <a:srgbClr val="505050"/>
                          </a:solidFill>
                          <a:latin typeface="Montserrat"/>
                        </a:defRPr>
                      </a:pPr>
                      <a:r>
                        <a:t>79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41831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418319">
                <a:tc>
                  <a:txBody>
                    <a:bodyPr/>
                    <a:lstStyle/>
                    <a:p>
                      <a:pPr algn="ctr">
                        <a:defRPr sz="800" b="1">
                          <a:latin typeface="Montserrat"/>
                        </a:defRPr>
                      </a:pPr>
                      <a:r>
                        <a:t>5 CEBIS</a:t>
                      </a:r>
                    </a:p>
                  </a:txBody>
                  <a:tcPr anchor="ctr" marL="28800" marR="28800" marT="0" marB="0">
                    <a:solidFill>
                      <a:srgbClr val="FFFFFF"/>
                    </a:solidFill>
                  </a:tcPr>
                </a:tc>
                <a:tc>
                  <a:txBody>
                    <a:bodyPr/>
                    <a:lstStyle/>
                    <a:p>
                      <a:pPr algn="ctr">
                        <a:defRPr sz="800">
                          <a:latin typeface="Montserrat"/>
                        </a:defRPr>
                      </a:pPr>
                      <a:r>
                        <a:t>San Pablo del Monte, Santa Inéz Zacatelco, Huamantla, Tequexquitla y Tetlahnohcan</a:t>
                      </a:r>
                    </a:p>
                  </a:txBody>
                  <a:tcPr anchor="ctr" marL="28800" marR="28800" marT="0" marB="0">
                    <a:solidFill>
                      <a:srgbClr val="FFFFFF"/>
                    </a:solidFill>
                  </a:tcPr>
                </a:tc>
              </a:tr>
              <a:tr h="418319">
                <a:tc>
                  <a:txBody>
                    <a:bodyPr/>
                    <a:lstStyle/>
                    <a:p>
                      <a:pPr algn="ctr">
                        <a:defRPr sz="800" b="1">
                          <a:latin typeface="Montserrat"/>
                        </a:defRPr>
                      </a:pPr>
                      <a:r>
                        <a:t>2 Centros de Seguridad Social</a:t>
                      </a:r>
                    </a:p>
                  </a:txBody>
                  <a:tcPr anchor="ctr" marL="28800" marR="28800" marT="0" marB="0">
                    <a:solidFill>
                      <a:srgbClr val="EFEFEF"/>
                    </a:solidFill>
                  </a:tcPr>
                </a:tc>
                <a:tc>
                  <a:txBody>
                    <a:bodyPr/>
                    <a:lstStyle/>
                    <a:p>
                      <a:pPr algn="ctr">
                        <a:defRPr sz="800">
                          <a:latin typeface="Montserrat"/>
                        </a:defRPr>
                      </a:pPr>
                      <a:r>
                        <a:t>Tlaxcala y CSS Part. Calpulalpan</a:t>
                      </a:r>
                    </a:p>
                  </a:txBody>
                  <a:tcPr anchor="ctr" marL="28800" marR="28800" marT="0" marB="0">
                    <a:solidFill>
                      <a:srgbClr val="EFEFEF"/>
                    </a:solidFill>
                  </a:tcPr>
                </a:tc>
              </a:tr>
              <a:tr h="418319">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Tlaxcala</a:t>
                      </a:r>
                    </a:p>
                  </a:txBody>
                  <a:tcPr anchor="ctr" marL="28800" marR="28800" marT="0" marB="0">
                    <a:solidFill>
                      <a:srgbClr val="FFFFFF"/>
                    </a:solidFill>
                  </a:tcPr>
                </a:tc>
              </a:tr>
              <a:tr h="418323">
                <a:tc>
                  <a:txBody>
                    <a:bodyPr/>
                    <a:lstStyle/>
                    <a:p>
                      <a:pPr algn="ctr">
                        <a:defRPr sz="800" b="1">
                          <a:latin typeface="Montserrat"/>
                        </a:defRPr>
                      </a:pPr>
                      <a:r>
                        <a:t>4 Unidades Deportivas</a:t>
                      </a:r>
                    </a:p>
                  </a:txBody>
                  <a:tcPr anchor="ctr" marL="28800" marR="28800" marT="0" marB="0">
                    <a:solidFill>
                      <a:srgbClr val="EFEFEF"/>
                    </a:solidFill>
                  </a:tcPr>
                </a:tc>
                <a:tc>
                  <a:txBody>
                    <a:bodyPr/>
                    <a:lstStyle/>
                    <a:p>
                      <a:pPr algn="ctr">
                        <a:defRPr sz="800">
                          <a:latin typeface="Montserrat"/>
                        </a:defRPr>
                      </a:pPr>
                      <a:r>
                        <a:t>Amaxac, Xaloztoc, Tzompantepec y Tocatlán</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2 Centros Vacacionales</a:t>
                      </a:r>
                    </a:p>
                  </a:txBody>
                  <a:tcPr anchor="ctr" marL="28800" marR="28800" marT="0" marB="0">
                    <a:solidFill>
                      <a:srgbClr val="FFFFFF"/>
                    </a:solidFill>
                  </a:tcPr>
                </a:tc>
                <a:tc>
                  <a:txBody>
                    <a:bodyPr/>
                    <a:lstStyle/>
                    <a:p>
                      <a:pPr algn="ctr">
                        <a:defRPr sz="800">
                          <a:latin typeface="Montserrat"/>
                        </a:defRPr>
                      </a:pPr>
                      <a:r>
                        <a:t>La Trinidad y Malintzi</a:t>
                      </a:r>
                    </a:p>
                  </a:txBody>
                  <a:tcPr anchor="ctr" marL="28800" marR="28800" marT="0" marB="0">
                    <a:solidFill>
                      <a:srgbClr val="FFFFFF"/>
                    </a:solidFill>
                  </a:tcPr>
                </a:tc>
              </a:tr>
            </a:tbl>
          </a:graphicData>
        </a:graphic>
      </p:graphicFrame>
      <p:pic>
        <p:nvPicPr>
          <p:cNvPr id="470" name="Picture 469" descr="map_tipo2_29_tlax.png"/>
          <p:cNvPicPr>
            <a:picLocks noChangeAspect="1"/>
          </p:cNvPicPr>
          <p:nvPr/>
        </p:nvPicPr>
        <p:blipFill>
          <a:blip r:embed="rId6"/>
          <a:stretch>
            <a:fillRect/>
          </a:stretch>
        </p:blipFill>
        <p:spPr>
          <a:xfrm>
            <a:off x="2822400" y="5929200"/>
            <a:ext cx="2656800" cy="1642555"/>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6</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4,606</a:t>
                      </a:r>
                    </a:p>
                  </a:txBody>
                  <a:tcPr anchor="ctr">
                    <a:solidFill>
                      <a:srgbClr val="FFFFFF"/>
                    </a:solidFill>
                  </a:tcPr>
                </a:tc>
                <a:tc>
                  <a:txBody>
                    <a:bodyPr/>
                    <a:lstStyle/>
                    <a:p>
                      <a:pPr algn="ctr">
                        <a:defRPr sz="850">
                          <a:latin typeface="Montserrat"/>
                        </a:defRPr>
                      </a:pPr>
                      <a:r>
                        <a:t>4,635</a:t>
                      </a:r>
                    </a:p>
                  </a:txBody>
                  <a:tcPr anchor="ctr">
                    <a:solidFill>
                      <a:srgbClr val="FFFFFF"/>
                    </a:solidFill>
                  </a:tcPr>
                </a:tc>
                <a:tc>
                  <a:txBody>
                    <a:bodyPr/>
                    <a:lstStyle/>
                    <a:p>
                      <a:pPr algn="ctr">
                        <a:defRPr sz="850" b="1">
                          <a:solidFill>
                            <a:srgbClr val="006455"/>
                          </a:solidFill>
                          <a:latin typeface="Montserrat"/>
                        </a:defRPr>
                      </a:pPr>
                      <a:r>
                        <a:t>0.6%</a:t>
                      </a:r>
                    </a:p>
                  </a:txBody>
                  <a:tcPr anchor="ctr">
                    <a:solidFill>
                      <a:srgbClr val="FFFFFF"/>
                    </a:solidFill>
                  </a:tcPr>
                </a:tc>
                <a:tc>
                  <a:txBody>
                    <a:bodyPr/>
                    <a:lstStyle/>
                    <a:p>
                      <a:pPr algn="ctr">
                        <a:defRPr sz="850">
                          <a:latin typeface="Montserrat"/>
                        </a:defRPr>
                      </a:pPr>
                      <a:r>
                        <a:t>Schneider Industrial Tlaxcala S.A. de C.V.</a:t>
                      </a:r>
                    </a:p>
                  </a:txBody>
                  <a:tcPr anchor="ctr">
                    <a:solidFill>
                      <a:srgbClr val="FFFFFF"/>
                    </a:solidFill>
                  </a:tcPr>
                </a:tc>
                <a:tc>
                  <a:txBody>
                    <a:bodyPr/>
                    <a:lstStyle/>
                    <a:p>
                      <a:pPr algn="ctr">
                        <a:defRPr sz="850">
                          <a:latin typeface="Montserrat"/>
                        </a:defRPr>
                      </a:pPr>
                      <a:r>
                        <a:t>3,324</a:t>
                      </a:r>
                    </a:p>
                  </a:txBody>
                  <a:tcPr anchor="ctr">
                    <a:solidFill>
                      <a:srgbClr val="FFFFFF"/>
                    </a:solidFill>
                  </a:tcPr>
                </a:tc>
                <a:tc>
                  <a:txBody>
                    <a:bodyPr/>
                    <a:lstStyle/>
                    <a:p>
                      <a:pPr algn="ctr">
                        <a:defRPr sz="850">
                          <a:latin typeface="Montserrat"/>
                        </a:defRPr>
                      </a:pPr>
                      <a:r>
                        <a:t>3,293</a:t>
                      </a:r>
                    </a:p>
                  </a:txBody>
                  <a:tcPr anchor="ctr">
                    <a:solidFill>
                      <a:srgbClr val="FFFFFF"/>
                    </a:solidFill>
                  </a:tcPr>
                </a:tc>
                <a:tc>
                  <a:txBody>
                    <a:bodyPr/>
                    <a:lstStyle/>
                    <a:p>
                      <a:pPr algn="ctr">
                        <a:defRPr sz="850" b="1">
                          <a:solidFill>
                            <a:srgbClr val="691C32"/>
                          </a:solidFill>
                          <a:latin typeface="Montserrat"/>
                        </a:defRPr>
                      </a:pPr>
                      <a:r>
                        <a:t>-0.9%</a:t>
                      </a:r>
                    </a:p>
                  </a:txBody>
                  <a:tcPr anchor="ctr">
                    <a:solidFill>
                      <a:srgbClr val="FFFFFF"/>
                    </a:solidFill>
                  </a:tcPr>
                </a:tc>
              </a:tr>
              <a:tr h="490320">
                <a:tc>
                  <a:txBody>
                    <a:bodyPr/>
                    <a:lstStyle/>
                    <a:p>
                      <a:pPr algn="ctr">
                        <a:defRPr sz="850">
                          <a:latin typeface="Montserrat"/>
                        </a:defRPr>
                      </a:pPr>
                      <a:r>
                        <a:t>Universidad Autónoma de Tlaxcala</a:t>
                      </a:r>
                    </a:p>
                  </a:txBody>
                  <a:tcPr anchor="ctr">
                    <a:solidFill>
                      <a:srgbClr val="D9D9D9"/>
                    </a:solidFill>
                  </a:tcPr>
                </a:tc>
                <a:tc>
                  <a:txBody>
                    <a:bodyPr/>
                    <a:lstStyle/>
                    <a:p>
                      <a:pPr algn="ctr">
                        <a:defRPr sz="850">
                          <a:latin typeface="Montserrat"/>
                        </a:defRPr>
                      </a:pPr>
                      <a:r>
                        <a:t>1,716</a:t>
                      </a:r>
                    </a:p>
                  </a:txBody>
                  <a:tcPr anchor="ctr">
                    <a:solidFill>
                      <a:srgbClr val="D9D9D9"/>
                    </a:solidFill>
                  </a:tcPr>
                </a:tc>
                <a:tc>
                  <a:txBody>
                    <a:bodyPr/>
                    <a:lstStyle/>
                    <a:p>
                      <a:pPr algn="ctr">
                        <a:defRPr sz="850">
                          <a:latin typeface="Montserrat"/>
                        </a:defRPr>
                      </a:pPr>
                      <a:r>
                        <a:t>1,716</a:t>
                      </a:r>
                    </a:p>
                  </a:txBody>
                  <a:tcPr anchor="ctr">
                    <a:solidFill>
                      <a:srgbClr val="D9D9D9"/>
                    </a:solidFill>
                  </a:tcPr>
                </a:tc>
                <a:tc>
                  <a:txBody>
                    <a:bodyPr/>
                    <a:lstStyle/>
                    <a:p>
                      <a:pPr algn="ctr">
                        <a:defRPr sz="850">
                          <a:latin typeface="Montserrat"/>
                        </a:defRPr>
                      </a:pPr>
                      <a:r>
                        <a:t>0.0%</a:t>
                      </a:r>
                    </a:p>
                  </a:txBody>
                  <a:tcPr anchor="ctr">
                    <a:solidFill>
                      <a:srgbClr val="D9D9D9"/>
                    </a:solidFill>
                  </a:tcPr>
                </a:tc>
                <a:tc>
                  <a:txBody>
                    <a:bodyPr/>
                    <a:lstStyle/>
                    <a:p>
                      <a:pPr algn="ctr">
                        <a:defRPr sz="850">
                          <a:latin typeface="Montserrat"/>
                        </a:defRPr>
                      </a:pPr>
                      <a:r>
                        <a:t>Se Bordnetze - México S.A. de C.V.</a:t>
                      </a:r>
                    </a:p>
                  </a:txBody>
                  <a:tcPr anchor="ctr">
                    <a:solidFill>
                      <a:srgbClr val="D9D9D9"/>
                    </a:solidFill>
                  </a:tcPr>
                </a:tc>
                <a:tc>
                  <a:txBody>
                    <a:bodyPr/>
                    <a:lstStyle/>
                    <a:p>
                      <a:pPr algn="ctr">
                        <a:defRPr sz="850">
                          <a:latin typeface="Montserrat"/>
                        </a:defRPr>
                      </a:pPr>
                      <a:r>
                        <a:t>2,786</a:t>
                      </a:r>
                    </a:p>
                  </a:txBody>
                  <a:tcPr anchor="ctr">
                    <a:solidFill>
                      <a:srgbClr val="D9D9D9"/>
                    </a:solidFill>
                  </a:tcPr>
                </a:tc>
                <a:tc>
                  <a:txBody>
                    <a:bodyPr/>
                    <a:lstStyle/>
                    <a:p>
                      <a:pPr algn="ctr">
                        <a:defRPr sz="850">
                          <a:latin typeface="Montserrat"/>
                        </a:defRPr>
                      </a:pPr>
                      <a:r>
                        <a:t>2,778</a:t>
                      </a:r>
                    </a:p>
                  </a:txBody>
                  <a:tcPr anchor="ctr">
                    <a:solidFill>
                      <a:srgbClr val="D9D9D9"/>
                    </a:solidFill>
                  </a:tcPr>
                </a:tc>
                <a:tc>
                  <a:txBody>
                    <a:bodyPr/>
                    <a:lstStyle/>
                    <a:p>
                      <a:pPr algn="ctr">
                        <a:defRPr sz="850" b="1">
                          <a:solidFill>
                            <a:srgbClr val="691C32"/>
                          </a:solidFill>
                          <a:latin typeface="Montserrat"/>
                        </a:defRPr>
                      </a:pPr>
                      <a:r>
                        <a:t>-0.3%</a:t>
                      </a:r>
                    </a:p>
                  </a:txBody>
                  <a:tcPr anchor="ctr">
                    <a:solidFill>
                      <a:srgbClr val="D9D9D9"/>
                    </a:solidFill>
                  </a:tcPr>
                </a:tc>
              </a:tr>
              <a:tr h="490320">
                <a:tc>
                  <a:txBody>
                    <a:bodyPr/>
                    <a:lstStyle/>
                    <a:p>
                      <a:pPr algn="ctr">
                        <a:defRPr sz="850">
                          <a:latin typeface="Montserrat"/>
                        </a:defRPr>
                      </a:pPr>
                      <a:r>
                        <a:t>Colegio de Estudios Cientificos y Tecnologicos del Estado de Tlaxcala</a:t>
                      </a:r>
                    </a:p>
                  </a:txBody>
                  <a:tcPr anchor="ctr">
                    <a:solidFill>
                      <a:srgbClr val="FFFFFF"/>
                    </a:solidFill>
                  </a:tcPr>
                </a:tc>
                <a:tc>
                  <a:txBody>
                    <a:bodyPr/>
                    <a:lstStyle/>
                    <a:p>
                      <a:pPr algn="ctr">
                        <a:defRPr sz="850">
                          <a:latin typeface="Montserrat"/>
                        </a:defRPr>
                      </a:pPr>
                      <a:r>
                        <a:t>1,549</a:t>
                      </a:r>
                    </a:p>
                  </a:txBody>
                  <a:tcPr anchor="ctr">
                    <a:solidFill>
                      <a:srgbClr val="FFFFFF"/>
                    </a:solidFill>
                  </a:tcPr>
                </a:tc>
                <a:tc>
                  <a:txBody>
                    <a:bodyPr/>
                    <a:lstStyle/>
                    <a:p>
                      <a:pPr algn="ctr">
                        <a:defRPr sz="850">
                          <a:latin typeface="Montserrat"/>
                        </a:defRPr>
                      </a:pPr>
                      <a:r>
                        <a:t>1,585</a:t>
                      </a:r>
                    </a:p>
                  </a:txBody>
                  <a:tcPr anchor="ctr">
                    <a:solidFill>
                      <a:srgbClr val="FFFFFF"/>
                    </a:solidFill>
                  </a:tcPr>
                </a:tc>
                <a:tc>
                  <a:txBody>
                    <a:bodyPr/>
                    <a:lstStyle/>
                    <a:p>
                      <a:pPr algn="ctr">
                        <a:defRPr sz="850" b="1">
                          <a:solidFill>
                            <a:srgbClr val="006455"/>
                          </a:solidFill>
                          <a:latin typeface="Montserrat"/>
                        </a:defRPr>
                      </a:pPr>
                      <a:r>
                        <a:t>2.3%</a:t>
                      </a:r>
                    </a:p>
                  </a:txBody>
                  <a:tcPr anchor="ctr">
                    <a:solidFill>
                      <a:srgbClr val="FFFFFF"/>
                    </a:solidFill>
                  </a:tcPr>
                </a:tc>
                <a:tc>
                  <a:txBody>
                    <a:bodyPr/>
                    <a:lstStyle/>
                    <a:p>
                      <a:pPr algn="ctr">
                        <a:defRPr sz="850">
                          <a:latin typeface="Montserrat"/>
                        </a:defRPr>
                      </a:pPr>
                      <a:r>
                        <a:t>Amatech S.A. de C.V.</a:t>
                      </a:r>
                    </a:p>
                  </a:txBody>
                  <a:tcPr anchor="ctr">
                    <a:solidFill>
                      <a:srgbClr val="FFFFFF"/>
                    </a:solidFill>
                  </a:tcPr>
                </a:tc>
                <a:tc>
                  <a:txBody>
                    <a:bodyPr/>
                    <a:lstStyle/>
                    <a:p>
                      <a:pPr algn="ctr">
                        <a:defRPr sz="850">
                          <a:latin typeface="Montserrat"/>
                        </a:defRPr>
                      </a:pPr>
                      <a:r>
                        <a:t>2,482</a:t>
                      </a:r>
                    </a:p>
                  </a:txBody>
                  <a:tcPr anchor="ctr">
                    <a:solidFill>
                      <a:srgbClr val="FFFFFF"/>
                    </a:solidFill>
                  </a:tcPr>
                </a:tc>
                <a:tc>
                  <a:txBody>
                    <a:bodyPr/>
                    <a:lstStyle/>
                    <a:p>
                      <a:pPr algn="ctr">
                        <a:defRPr sz="850">
                          <a:latin typeface="Montserrat"/>
                        </a:defRPr>
                      </a:pPr>
                      <a:r>
                        <a:t>2,461</a:t>
                      </a:r>
                    </a:p>
                  </a:txBody>
                  <a:tcPr anchor="ctr">
                    <a:solidFill>
                      <a:srgbClr val="FFFFFF"/>
                    </a:solidFill>
                  </a:tcPr>
                </a:tc>
                <a:tc>
                  <a:txBody>
                    <a:bodyPr/>
                    <a:lstStyle/>
                    <a:p>
                      <a:pPr algn="ctr">
                        <a:defRPr sz="850" b="1">
                          <a:solidFill>
                            <a:srgbClr val="691C32"/>
                          </a:solidFill>
                          <a:latin typeface="Montserrat"/>
                        </a:defRPr>
                      </a:pPr>
                      <a:r>
                        <a:t>-0.9%</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-7.58%</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-7.21%</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-6.86%</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-0.28%</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+0.77%</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+4.08%</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+4.57%</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+38.18%</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+38.68%</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94,201</a:t>
                      </a:r>
                    </a:p>
                  </a:txBody>
                  <a:tcPr>
                    <a:solidFill>
                      <a:srgbClr val="FFFFFF"/>
                    </a:solidFill>
                  </a:tcPr>
                </a:tc>
                <a:tc>
                  <a:txBody>
                    <a:bodyPr/>
                    <a:lstStyle/>
                    <a:p>
                      <a:pPr algn="ctr">
                        <a:defRPr sz="900">
                          <a:latin typeface="Montserrat"/>
                        </a:defRPr>
                      </a:pPr>
                      <a:r>
                        <a:t>572</a:t>
                      </a:r>
                    </a:p>
                  </a:txBody>
                  <a:tcPr>
                    <a:solidFill>
                      <a:srgbClr val="FFFFFF"/>
                    </a:solidFill>
                  </a:tcPr>
                </a:tc>
                <a:tc>
                  <a:txBody>
                    <a:bodyPr/>
                    <a:lstStyle/>
                    <a:p>
                      <a:pPr algn="ctr">
                        <a:defRPr sz="900">
                          <a:latin typeface="Montserrat"/>
                        </a:defRPr>
                      </a:pPr>
                      <a:r>
                        <a:t>22,753</a:t>
                      </a:r>
                    </a:p>
                  </a:txBody>
                  <a:tcPr>
                    <a:solidFill>
                      <a:srgbClr val="FFFFFF"/>
                    </a:solidFill>
                  </a:tcPr>
                </a:tc>
                <a:tc>
                  <a:txBody>
                    <a:bodyPr/>
                    <a:lstStyle/>
                    <a:p>
                      <a:pPr algn="ctr">
                        <a:defRPr sz="900">
                          <a:latin typeface="Montserrat"/>
                        </a:defRPr>
                      </a:pPr>
                      <a:r>
                        <a:t>841</a:t>
                      </a:r>
                    </a:p>
                  </a:txBody>
                  <a:tcPr>
                    <a:solidFill>
                      <a:srgbClr val="FFFFFF"/>
                    </a:solidFill>
                  </a:tcPr>
                </a:tc>
                <a:tc>
                  <a:txBody>
                    <a:bodyPr/>
                    <a:lstStyle/>
                    <a:p>
                      <a:pPr algn="ctr">
                        <a:defRPr sz="900">
                          <a:latin typeface="Montserrat"/>
                        </a:defRPr>
                      </a:pPr>
                      <a:r>
                        <a:t>118,367</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93,748</a:t>
                      </a:r>
                    </a:p>
                  </a:txBody>
                  <a:tcPr>
                    <a:solidFill>
                      <a:srgbClr val="D9D9D9"/>
                    </a:solidFill>
                  </a:tcPr>
                </a:tc>
                <a:tc>
                  <a:txBody>
                    <a:bodyPr/>
                    <a:lstStyle/>
                    <a:p>
                      <a:pPr algn="ctr">
                        <a:defRPr sz="900">
                          <a:latin typeface="Montserrat"/>
                        </a:defRPr>
                      </a:pPr>
                      <a:r>
                        <a:t>945</a:t>
                      </a:r>
                    </a:p>
                  </a:txBody>
                  <a:tcPr>
                    <a:solidFill>
                      <a:srgbClr val="D9D9D9"/>
                    </a:solidFill>
                  </a:tcPr>
                </a:tc>
                <a:tc>
                  <a:txBody>
                    <a:bodyPr/>
                    <a:lstStyle/>
                    <a:p>
                      <a:pPr algn="ctr">
                        <a:defRPr sz="900">
                          <a:latin typeface="Montserrat"/>
                        </a:defRPr>
                      </a:pPr>
                      <a:r>
                        <a:t>22,138</a:t>
                      </a:r>
                    </a:p>
                  </a:txBody>
                  <a:tcPr>
                    <a:solidFill>
                      <a:srgbClr val="D9D9D9"/>
                    </a:solidFill>
                  </a:tcPr>
                </a:tc>
                <a:tc>
                  <a:txBody>
                    <a:bodyPr/>
                    <a:lstStyle/>
                    <a:p>
                      <a:pPr algn="ctr">
                        <a:defRPr sz="900">
                          <a:latin typeface="Montserrat"/>
                        </a:defRPr>
                      </a:pPr>
                      <a:r>
                        <a:t>1,043</a:t>
                      </a:r>
                    </a:p>
                  </a:txBody>
                  <a:tcPr>
                    <a:solidFill>
                      <a:srgbClr val="D9D9D9"/>
                    </a:solidFill>
                  </a:tcPr>
                </a:tc>
                <a:tc>
                  <a:txBody>
                    <a:bodyPr/>
                    <a:lstStyle/>
                    <a:p>
                      <a:pPr algn="ctr">
                        <a:defRPr sz="900">
                          <a:latin typeface="Montserrat"/>
                        </a:defRPr>
                      </a:pPr>
                      <a:r>
                        <a:t>117,874</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-0.5%</a:t>
                      </a:r>
                    </a:p>
                  </a:txBody>
                  <a:tcPr>
                    <a:solidFill>
                      <a:srgbClr val="FFFFFF"/>
                    </a:solidFill>
                  </a:tcPr>
                </a:tc>
                <a:tc>
                  <a:txBody>
                    <a:bodyPr/>
                    <a:lstStyle/>
                    <a:p>
                      <a:pPr algn="ctr">
                        <a:defRPr sz="900" b="1">
                          <a:solidFill>
                            <a:srgbClr val="006455"/>
                          </a:solidFill>
                          <a:latin typeface="Montserrat"/>
                        </a:defRPr>
                      </a:pPr>
                      <a:r>
                        <a:t>+65.2%</a:t>
                      </a:r>
                    </a:p>
                  </a:txBody>
                  <a:tcPr>
                    <a:solidFill>
                      <a:srgbClr val="FFFFFF"/>
                    </a:solidFill>
                  </a:tcPr>
                </a:tc>
                <a:tc>
                  <a:txBody>
                    <a:bodyPr/>
                    <a:lstStyle/>
                    <a:p>
                      <a:pPr algn="ctr">
                        <a:defRPr sz="900" b="0">
                          <a:solidFill>
                            <a:srgbClr val="691C32"/>
                          </a:solidFill>
                          <a:latin typeface="Montserrat"/>
                        </a:defRPr>
                      </a:pPr>
                      <a:r>
                        <a:t>-2.7%</a:t>
                      </a:r>
                    </a:p>
                  </a:txBody>
                  <a:tcPr>
                    <a:solidFill>
                      <a:srgbClr val="FFFFFF"/>
                    </a:solidFill>
                  </a:tcPr>
                </a:tc>
                <a:tc>
                  <a:txBody>
                    <a:bodyPr/>
                    <a:lstStyle/>
                    <a:p>
                      <a:pPr algn="ctr">
                        <a:defRPr sz="900" b="1">
                          <a:solidFill>
                            <a:srgbClr val="006455"/>
                          </a:solidFill>
                          <a:latin typeface="Montserrat"/>
                        </a:defRPr>
                      </a:pPr>
                      <a:r>
                        <a:t>+24.0%</a:t>
                      </a:r>
                    </a:p>
                  </a:txBody>
                  <a:tcPr>
                    <a:solidFill>
                      <a:srgbClr val="FFFFFF"/>
                    </a:solidFill>
                  </a:tcPr>
                </a:tc>
                <a:tc>
                  <a:txBody>
                    <a:bodyPr/>
                    <a:lstStyle/>
                    <a:p>
                      <a:pPr algn="ctr">
                        <a:defRPr sz="900" b="0">
                          <a:solidFill>
                            <a:srgbClr val="691C32"/>
                          </a:solidFill>
                          <a:latin typeface="Montserrat"/>
                        </a:defRPr>
                      </a:pPr>
                      <a:r>
                        <a:t>-0.4%</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D1FA3B26-2468-67ED-0FF6-BF9BE02D00DF}"/>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$552.53</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$297.28</a:t>
                      </a:r>
                    </a:p>
                  </a:txBody>
                  <a:tcPr anchor="ctr">
                    <a:solidFill>
                      <a:srgbClr val="EEEEEE"/>
                    </a:solidFill>
                  </a:tcPr>
                </a:tc>
                <a:tc>
                  <a:txBody>
                    <a:bodyPr/>
                    <a:lstStyle/>
                    <a:p>
                      <a:pPr algn="ctr">
                        <a:defRPr sz="1100" b="1">
                          <a:latin typeface="Montserrat"/>
                        </a:defRPr>
                      </a:pPr>
                      <a:r>
                        <a:t>$552.53</a:t>
                      </a:r>
                    </a:p>
                  </a:txBody>
                  <a:tcPr anchor="ctr">
                    <a:solidFill>
                      <a:srgbClr val="EEEEEE"/>
                    </a:solidFill>
                  </a:tcPr>
                </a:tc>
                <a:tc>
                  <a:txBody>
                    <a:bodyPr/>
                    <a:lstStyle/>
                    <a:p>
                      <a:pPr algn="ctr">
                        <a:defRPr sz="1100">
                          <a:latin typeface="Montserrat"/>
                        </a:defRPr>
                      </a:pPr>
                      <a:r>
                        <a:t>31.3%</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$16,575.9</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Colegio de Estudios Científicos y Tecnológicos del Estado de Tlaxcala</a:t>
                      </a:r>
                    </a:p>
                  </a:txBody>
                  <a:tcPr>
                    <a:solidFill>
                      <a:srgbClr val="FFFFFF"/>
                    </a:solidFill>
                  </a:tcPr>
                </a:tc>
                <a:tc>
                  <a:txBody>
                    <a:bodyPr/>
                    <a:lstStyle/>
                    <a:p>
                      <a:pPr algn="ctr">
                        <a:defRPr sz="900">
                          <a:latin typeface="Montserrat"/>
                        </a:defRPr>
                      </a:pPr>
                      <a:r>
                        <a:t>$8.35</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Comisión de Agua Potable y Alcantarillado Del Municipio de Tlaxcala</a:t>
                      </a:r>
                    </a:p>
                  </a:txBody>
                  <a:tcPr>
                    <a:solidFill>
                      <a:srgbClr val="EEEEEE"/>
                    </a:solidFill>
                  </a:tcPr>
                </a:tc>
                <a:tc>
                  <a:txBody>
                    <a:bodyPr/>
                    <a:lstStyle/>
                    <a:p>
                      <a:pPr algn="ctr">
                        <a:defRPr sz="900">
                          <a:latin typeface="Montserrat"/>
                        </a:defRPr>
                      </a:pPr>
                      <a:r>
                        <a:t>$0.48</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Universidad Politécnica de Tlaxcala</a:t>
                      </a:r>
                    </a:p>
                  </a:txBody>
                  <a:tcPr>
                    <a:solidFill>
                      <a:srgbClr val="FFFFFF"/>
                    </a:solidFill>
                  </a:tcPr>
                </a:tc>
                <a:tc>
                  <a:txBody>
                    <a:bodyPr/>
                    <a:lstStyle/>
                    <a:p>
                      <a:pPr algn="ctr">
                        <a:defRPr sz="900">
                          <a:latin typeface="Montserrat"/>
                        </a:defRPr>
                      </a:pPr>
                      <a:r>
                        <a:t>$0.02</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Miguel Martínez Wong</a:t>
                      </a:r>
                    </a:p>
                  </a:txBody>
                  <a:tcPr>
                    <a:solidFill>
                      <a:srgbClr val="EEEEEE"/>
                    </a:solidFill>
                  </a:tcPr>
                </a:tc>
                <a:tc>
                  <a:txBody>
                    <a:bodyPr/>
                    <a:lstStyle/>
                    <a:p>
                      <a:pPr algn="ctr">
                        <a:defRPr sz="900">
                          <a:latin typeface="Montserrat"/>
                        </a:defRPr>
                      </a:pPr>
                      <a:r>
                        <a:t>$41.36</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Ermo Industrial SA de CV</a:t>
                      </a:r>
                    </a:p>
                  </a:txBody>
                  <a:tcPr>
                    <a:solidFill>
                      <a:srgbClr val="FFFFFF"/>
                    </a:solidFill>
                  </a:tcPr>
                </a:tc>
                <a:tc>
                  <a:txBody>
                    <a:bodyPr/>
                    <a:lstStyle/>
                    <a:p>
                      <a:pPr algn="ctr">
                        <a:defRPr sz="900">
                          <a:latin typeface="Montserrat"/>
                        </a:defRPr>
                      </a:pPr>
                      <a:r>
                        <a:t>$14.45</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Edificaciones y Construcciones Santa Julia SA de CV</a:t>
                      </a:r>
                    </a:p>
                  </a:txBody>
                  <a:tcPr>
                    <a:solidFill>
                      <a:srgbClr val="EEEEEE"/>
                    </a:solidFill>
                  </a:tcPr>
                </a:tc>
                <a:tc>
                  <a:txBody>
                    <a:bodyPr/>
                    <a:lstStyle/>
                    <a:p>
                      <a:pPr algn="ctr">
                        <a:defRPr sz="900">
                          <a:latin typeface="Montserrat"/>
                        </a:defRPr>
                      </a:pPr>
                      <a:r>
                        <a:t>$7.80</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48 especialistas (sustitutos)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Sustitución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48</a:t>
                      </a:r>
                    </a:p>
                  </a:txBody>
                  <a:tcPr>
                    <a:solidFill>
                      <a:srgbClr val="D3E9E7"/>
                    </a:solidFill>
                  </a:tcPr>
                </a:tc>
              </a:tr>
            </a:tbl>
          </a:graphicData>
        </a:graphic>
      </p:graphicFrame>
      <p:sp>
        <p:nvSpPr>
          <p:cNvPr id="8" name="TextBox 7"/>
          <p:cNvSpPr txBox="1"/>
          <p:nvPr/>
        </p:nvSpPr>
        <p:spPr>
          <a:xfrm>
            <a:off x="270000" y="6393600"/>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407</TotalTime>
  <Words>374</Words>
  <Application>Microsoft Macintosh PowerPoint</Application>
  <PresentationFormat>Custom</PresentationFormat>
  <Paragraphs>94</Paragraphs>
  <Slides>24</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Noto Sans</vt:lpstr>
      <vt:lpstr>Montserrat</vt:lpstr>
      <vt:lpstr>Arial</vt:lpstr>
      <vt:lpstr>Noto Sans Black</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114</cp:revision>
  <dcterms:modified xsi:type="dcterms:W3CDTF">2026-05-20T18:04:32Z</dcterms:modified>
</cp:coreProperties>
</file>