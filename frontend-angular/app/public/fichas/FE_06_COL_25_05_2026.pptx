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9" r:id="rId3"/>
    <p:sldId id="258" r:id="rId4"/>
    <p:sldId id="259" r:id="rId5"/>
    <p:sldId id="260" r:id="rId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1" r:id="rId45"/>
    <p:sldId id="281" r:id="rId14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</p:sldIdLst>
  <p:sldSz cx="7772400" cy="10058400"/>
  <p:notesSz cx="6858000" cy="9144000"/>
  <p:embeddedFontLs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Noto Sans" panose="020B0502040504020204" pitchFamily="34" charset="0"/>
      <p:regular r:id="rId31"/>
      <p:bold r:id="rId32"/>
      <p:italic r:id="rId33"/>
      <p:boldItalic r:id="rId34"/>
    </p:embeddedFont>
    <p:embeddedFont>
      <p:font typeface="Noto Sans Black" panose="020B0604020202020204" charset="0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B77B96-8FFA-5B30-BEEC-3A647160FE22}" v="59" dt="2026-05-12T22:10:14.603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35" Type="http://schemas.openxmlformats.org/officeDocument/2006/relationships/font" Target="fonts/font9.fntdata"/><Relationship Id="rId36" Type="http://schemas.openxmlformats.org/officeDocument/2006/relationships/font" Target="fonts/font10.fntdata"/><Relationship Id="rId37" Type="http://schemas.openxmlformats.org/officeDocument/2006/relationships/font" Target="fonts/font11.fntdata"/><Relationship Id="rId45" Type="http://schemas.openxmlformats.org/officeDocument/2006/relationships/slide" Target="slides/slide25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1:16.179" v="0"/>
      <pc:docMkLst>
        <pc:docMk/>
      </pc:docMkLst>
      <pc:sldChg chg="add">
        <pc:chgData name="Carlos Esponda Rosales" userId="08a2b2cc-6d12-4dea-90fe-c484bece8186" providerId="ADAL" clId="{6846A1DD-3EC1-5A12-B3C5-9C410579EE4F}" dt="2026-05-08T17:31:16.179" v="0"/>
        <pc:sldMkLst>
          <pc:docMk/>
          <pc:sldMk cId="3818652843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undo custSel modSld sldOrd">
      <pc:chgData name="Edgar Rosales Ortega" userId="d1d54fc2-1570-4978-babc-e22e1526833f" providerId="ADAL" clId="{66BE7C30-C669-4152-AC74-10076FC0590C}" dt="2026-05-07T17:01:24.842" v="54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01:03.269" v="43" actId="107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01:03.269" v="43" actId="1076"/>
          <ac:spMkLst>
            <pc:docMk/>
            <pc:sldMk cId="0" sldId="260"/>
            <ac:spMk id="9" creationId="{B3B7AC82-D45F-3548-4EA0-7BCA82412EB0}"/>
          </ac:spMkLst>
        </pc:spChg>
        <pc:graphicFrameChg chg="add mod">
          <ac:chgData name="Edgar Rosales Ortega" userId="d1d54fc2-1570-4978-babc-e22e1526833f" providerId="ADAL" clId="{66BE7C30-C669-4152-AC74-10076FC0590C}" dt="2026-04-30T23:00:27.228" v="36" actId="1076"/>
          <ac:graphicFrameMkLst>
            <pc:docMk/>
            <pc:sldMk cId="0" sldId="260"/>
            <ac:graphicFrameMk id="6" creationId="{3BD8D301-0388-703D-7B68-6C973772D3E0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00:59.123" v="42" actId="1076"/>
          <ac:picMkLst>
            <pc:docMk/>
            <pc:sldMk cId="0" sldId="260"/>
            <ac:picMk id="7" creationId="{796C5CB4-0540-938C-639A-02BE00078D66}"/>
          </ac:picMkLst>
        </pc:picChg>
        <pc:picChg chg="add mod">
          <ac:chgData name="Edgar Rosales Ortega" userId="d1d54fc2-1570-4978-babc-e22e1526833f" providerId="ADAL" clId="{66BE7C30-C669-4152-AC74-10076FC0590C}" dt="2026-04-30T23:00:59.123" v="42" actId="1076"/>
          <ac:picMkLst>
            <pc:docMk/>
            <pc:sldMk cId="0" sldId="260"/>
            <ac:picMk id="8" creationId="{82AFC0D4-D072-7D42-ED5B-C2ABF7496C62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7:50:23.616" v="44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7:50:23.616" v="44" actId="164"/>
          <ac:spMkLst>
            <pc:docMk/>
            <pc:sldMk cId="0" sldId="261"/>
            <ac:spMk id="12" creationId="{5758ADFC-F888-7442-F089-85034FDFFCD0}"/>
          </ac:spMkLst>
        </pc:spChg>
        <pc:spChg chg="mod">
          <ac:chgData name="Edgar Rosales Ortega" userId="d1d54fc2-1570-4978-babc-e22e1526833f" providerId="ADAL" clId="{66BE7C30-C669-4152-AC74-10076FC0590C}" dt="2026-04-23T15:48:52.706" v="19"/>
          <ac:spMkLst>
            <pc:docMk/>
            <pc:sldMk cId="0" sldId="261"/>
            <ac:spMk id="14" creationId="{BD6FF699-26B4-354E-6405-455EA131789F}"/>
          </ac:spMkLst>
        </pc:spChg>
        <pc:spChg chg="mod">
          <ac:chgData name="Edgar Rosales Ortega" userId="d1d54fc2-1570-4978-babc-e22e1526833f" providerId="ADAL" clId="{66BE7C30-C669-4152-AC74-10076FC0590C}" dt="2026-04-23T15:48:52.706" v="19"/>
          <ac:spMkLst>
            <pc:docMk/>
            <pc:sldMk cId="0" sldId="261"/>
            <ac:spMk id="15" creationId="{6E276A12-D1F2-CC4C-FF25-9E09ABFA91C1}"/>
          </ac:spMkLst>
        </pc:spChg>
        <pc:spChg chg="mod">
          <ac:chgData name="Edgar Rosales Ortega" userId="d1d54fc2-1570-4978-babc-e22e1526833f" providerId="ADAL" clId="{66BE7C30-C669-4152-AC74-10076FC0590C}" dt="2026-04-23T15:48:52.706" v="19"/>
          <ac:spMkLst>
            <pc:docMk/>
            <pc:sldMk cId="0" sldId="261"/>
            <ac:spMk id="16" creationId="{44CD27F1-74E6-9768-907A-9CFEA6D00028}"/>
          </ac:spMkLst>
        </pc:spChg>
        <pc:spChg chg="add mod">
          <ac:chgData name="Edgar Rosales Ortega" userId="d1d54fc2-1570-4978-babc-e22e1526833f" providerId="ADAL" clId="{66BE7C30-C669-4152-AC74-10076FC0590C}" dt="2026-05-05T17:50:23.616" v="44" actId="164"/>
          <ac:spMkLst>
            <pc:docMk/>
            <pc:sldMk cId="0" sldId="261"/>
            <ac:spMk id="18" creationId="{7A5E59A3-3BC3-035F-8DE3-F518CFAFBD98}"/>
          </ac:spMkLst>
        </pc:spChg>
        <pc:spChg chg="add mod">
          <ac:chgData name="Edgar Rosales Ortega" userId="d1d54fc2-1570-4978-babc-e22e1526833f" providerId="ADAL" clId="{66BE7C30-C669-4152-AC74-10076FC0590C}" dt="2026-05-05T17:50:23.616" v="44" actId="164"/>
          <ac:spMkLst>
            <pc:docMk/>
            <pc:sldMk cId="0" sldId="261"/>
            <ac:spMk id="19" creationId="{A2EA029D-47AF-0BF5-A631-3ABF33B2ECA5}"/>
          </ac:spMkLst>
        </pc:spChg>
        <pc:spChg chg="add mod">
          <ac:chgData name="Edgar Rosales Ortega" userId="d1d54fc2-1570-4978-babc-e22e1526833f" providerId="ADAL" clId="{66BE7C30-C669-4152-AC74-10076FC0590C}" dt="2026-05-05T17:50:23.616" v="44" actId="164"/>
          <ac:spMkLst>
            <pc:docMk/>
            <pc:sldMk cId="0" sldId="261"/>
            <ac:spMk id="20" creationId="{CCCC2E56-76DB-A143-6318-826E4BDC534E}"/>
          </ac:spMkLst>
        </pc:spChg>
        <pc:grpChg chg="add mod">
          <ac:chgData name="Edgar Rosales Ortega" userId="d1d54fc2-1570-4978-babc-e22e1526833f" providerId="ADAL" clId="{66BE7C30-C669-4152-AC74-10076FC0590C}" dt="2026-05-05T17:50:23.616" v="44" actId="164"/>
          <ac:grpSpMkLst>
            <pc:docMk/>
            <pc:sldMk cId="0" sldId="261"/>
            <ac:grpSpMk id="2" creationId="{4FF5E04E-7E13-CB58-3F78-706F19DC0558}"/>
          </ac:grpSpMkLst>
        </pc:grpChg>
        <pc:grpChg chg="add mod">
          <ac:chgData name="Edgar Rosales Ortega" userId="d1d54fc2-1570-4978-babc-e22e1526833f" providerId="ADAL" clId="{66BE7C30-C669-4152-AC74-10076FC0590C}" dt="2026-05-05T17:50:23.616" v="44" actId="164"/>
          <ac:grpSpMkLst>
            <pc:docMk/>
            <pc:sldMk cId="0" sldId="261"/>
            <ac:grpSpMk id="13" creationId="{71653F7F-6FB8-F6BF-2234-CFDAF7FC62B9}"/>
          </ac:grpSpMkLst>
        </pc:grpChg>
        <pc:picChg chg="add mod">
          <ac:chgData name="Edgar Rosales Ortega" userId="d1d54fc2-1570-4978-babc-e22e1526833f" providerId="ADAL" clId="{66BE7C30-C669-4152-AC74-10076FC0590C}" dt="2026-05-05T17:50:23.616" v="44" actId="164"/>
          <ac:picMkLst>
            <pc:docMk/>
            <pc:sldMk cId="0" sldId="261"/>
            <ac:picMk id="17" creationId="{3FB08B45-E8F4-76BD-5B95-0CC6E53FD15A}"/>
          </ac:picMkLst>
        </pc:picChg>
        <pc:picChg chg="add mod">
          <ac:chgData name="Edgar Rosales Ortega" userId="d1d54fc2-1570-4978-babc-e22e1526833f" providerId="ADAL" clId="{66BE7C30-C669-4152-AC74-10076FC0590C}" dt="2026-05-05T17:50:23.616" v="44" actId="164"/>
          <ac:picMkLst>
            <pc:docMk/>
            <pc:sldMk cId="0" sldId="261"/>
            <ac:picMk id="21" creationId="{D36BAAE2-80F6-9DCF-B323-2E0C3808B57F}"/>
          </ac:picMkLst>
        </pc:picChg>
      </pc:sldChg>
      <pc:sldChg chg="delSp mod">
        <pc:chgData name="Edgar Rosales Ortega" userId="d1d54fc2-1570-4978-babc-e22e1526833f" providerId="ADAL" clId="{66BE7C30-C669-4152-AC74-10076FC0590C}" dt="2026-05-07T17:00:32.083" v="47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7:00:38.472" v="49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44:59.286" v="31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02:00.420" v="20" actId="6549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7:00:48.916" v="50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7:00:48.916" v="50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50:49.607" v="46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4:16.872" v="32" actId="1076"/>
          <ac:spMkLst>
            <pc:docMk/>
            <pc:sldMk cId="0" sldId="279"/>
            <ac:spMk id="2" creationId="{5D1EFEE1-D20D-FBAE-E513-772942965BF7}"/>
          </ac:spMkLst>
        </pc:spChg>
        <pc:spChg chg="mod">
          <ac:chgData name="Edgar Rosales Ortega" userId="d1d54fc2-1570-4978-babc-e22e1526833f" providerId="ADAL" clId="{66BE7C30-C669-4152-AC74-10076FC0590C}" dt="2026-05-05T17:50:49.607" v="46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44:54.503" v="29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02:05.165" v="21" actId="6549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7:50:33.449" v="45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7:01:24.842" v="54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7:01:24.842" v="54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44:34.788" v="27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02:12.129" v="22" actId="6549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7:01:05.189" v="52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7:01:05.189" v="52" actId="14100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  <pc:docChgLst>
    <pc:chgData name="Gerardo Jahir Lara Garcia" userId="S::gerardo.larag@imss.gob.mx::84d5cd65-4601-4e92-b448-a9da4809e012" providerId="AD" clId="Web-{B2B77B96-8FFA-5B30-BEEC-3A647160FE22}"/>
    <pc:docChg chg="modSld">
      <pc:chgData name="Gerardo Jahir Lara Garcia" userId="S::gerardo.larag@imss.gob.mx::84d5cd65-4601-4e92-b448-a9da4809e012" providerId="AD" clId="Web-{B2B77B96-8FFA-5B30-BEEC-3A647160FE22}" dt="2026-05-12T22:10:14.603" v="33" actId="1076"/>
      <pc:docMkLst>
        <pc:docMk/>
      </pc:docMkLst>
      <pc:sldChg chg="addSp delSp modSp">
        <pc:chgData name="Gerardo Jahir Lara Garcia" userId="S::gerardo.larag@imss.gob.mx::84d5cd65-4601-4e92-b448-a9da4809e012" providerId="AD" clId="Web-{B2B77B96-8FFA-5B30-BEEC-3A647160FE22}" dt="2026-05-12T22:10:14.603" v="33" actId="1076"/>
        <pc:sldMkLst>
          <pc:docMk/>
          <pc:sldMk cId="364733940" sldId="284"/>
        </pc:sldMkLst>
        <pc:spChg chg="add mod">
          <ac:chgData name="Gerardo Jahir Lara Garcia" userId="S::gerardo.larag@imss.gob.mx::84d5cd65-4601-4e92-b448-a9da4809e012" providerId="AD" clId="Web-{B2B77B96-8FFA-5B30-BEEC-3A647160FE22}" dt="2026-05-12T22:09:20.633" v="12" actId="20577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B2B77B96-8FFA-5B30-BEEC-3A647160FE22}" dt="2026-05-12T22:10:14.603" v="33" actId="1076"/>
          <ac:spMkLst>
            <pc:docMk/>
            <pc:sldMk cId="364733940" sldId="284"/>
            <ac:spMk id="6" creationId="{4578A0AA-9DC1-3453-263A-76BE5A8BE282}"/>
          </ac:spMkLst>
        </pc:spChg>
        <pc:spChg chg="add del">
          <ac:chgData name="Gerardo Jahir Lara Garcia" userId="S::gerardo.larag@imss.gob.mx::84d5cd65-4601-4e92-b448-a9da4809e012" providerId="AD" clId="Web-{B2B77B96-8FFA-5B30-BEEC-3A647160FE22}" dt="2026-05-12T22:09:09.929" v="6"/>
          <ac:spMkLst>
            <pc:docMk/>
            <pc:sldMk cId="364733940" sldId="284"/>
            <ac:spMk id="9" creationId="{907F7F6F-8FF8-56A0-795F-B2A127C97D4D}"/>
          </ac:spMkLst>
        </pc:spChg>
        <pc:spChg chg="add del">
          <ac:chgData name="Gerardo Jahir Lara Garcia" userId="S::gerardo.larag@imss.gob.mx::84d5cd65-4601-4e92-b448-a9da4809e012" providerId="AD" clId="Web-{B2B77B96-8FFA-5B30-BEEC-3A647160FE22}" dt="2026-05-12T22:09:09.929" v="4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B2B77B96-8FFA-5B30-BEEC-3A647160FE22}" dt="2026-05-12T22:07:42.239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B2B77B96-8FFA-5B30-BEEC-3A647160FE22}" dt="2026-05-12T22:09:09.945" v="7"/>
          <ac:picMkLst>
            <pc:docMk/>
            <pc:sldMk cId="364733940" sldId="284"/>
            <ac:picMk id="8" creationId="{4F2E1097-3694-6090-CBA5-667DCD67E48E}"/>
          </ac:picMkLst>
        </pc:picChg>
        <pc:picChg chg="add del">
          <ac:chgData name="Gerardo Jahir Lara Garcia" userId="S::gerardo.larag@imss.gob.mx::84d5cd65-4601-4e92-b448-a9da4809e012" providerId="AD" clId="Web-{B2B77B96-8FFA-5B30-BEEC-3A647160FE22}" dt="2026-05-12T22:09:09.929" v="5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modSp">
        <pc:chgData name="Gerardo Jahir Lara Garcia" userId="S::gerardo.larag@imss.gob.mx::84d5cd65-4601-4e92-b448-a9da4809e012" providerId="AD" clId="Web-{B2B77B96-8FFA-5B30-BEEC-3A647160FE22}" dt="2026-05-12T22:08:28.959" v="3" actId="1076"/>
        <pc:sldMkLst>
          <pc:docMk/>
          <pc:sldMk cId="3240565764" sldId="297"/>
        </pc:sldMkLst>
        <pc:spChg chg="add">
          <ac:chgData name="Gerardo Jahir Lara Garcia" userId="S::gerardo.larag@imss.gob.mx::84d5cd65-4601-4e92-b448-a9da4809e012" providerId="AD" clId="Web-{B2B77B96-8FFA-5B30-BEEC-3A647160FE22}" dt="2026-05-12T22:07:23.269" v="0"/>
          <ac:spMkLst>
            <pc:docMk/>
            <pc:sldMk cId="3240565764" sldId="297"/>
            <ac:spMk id="3" creationId="{21AE8FA6-CA77-F761-93C9-BF2570CBBE30}"/>
          </ac:spMkLst>
        </pc:spChg>
        <pc:spChg chg="add">
          <ac:chgData name="Gerardo Jahir Lara Garcia" userId="S::gerardo.larag@imss.gob.mx::84d5cd65-4601-4e92-b448-a9da4809e012" providerId="AD" clId="Web-{B2B77B96-8FFA-5B30-BEEC-3A647160FE22}" dt="2026-05-12T22:07:23.269" v="0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B2B77B96-8FFA-5B30-BEEC-3A647160FE22}" dt="2026-05-12T22:08:28.959" v="3" actId="1076"/>
          <ac:spMkLst>
            <pc:docMk/>
            <pc:sldMk cId="3240565764" sldId="297"/>
            <ac:spMk id="9" creationId="{50F1217E-09B0-81A3-6E99-CB1DE729ADDF}"/>
          </ac:spMkLst>
        </pc:spChg>
        <pc:spChg chg="add">
          <ac:chgData name="Gerardo Jahir Lara Garcia" userId="S::gerardo.larag@imss.gob.mx::84d5cd65-4601-4e92-b448-a9da4809e012" providerId="AD" clId="Web-{B2B77B96-8FFA-5B30-BEEC-3A647160FE22}" dt="2026-05-12T22:07:23.269" v="0"/>
          <ac:spMkLst>
            <pc:docMk/>
            <pc:sldMk cId="3240565764" sldId="297"/>
            <ac:spMk id="10" creationId="{991C7EE4-1170-AC4C-597D-3383D8E8A8F9}"/>
          </ac:spMkLst>
        </pc:spChg>
        <pc:spChg chg="add">
          <ac:chgData name="Gerardo Jahir Lara Garcia" userId="S::gerardo.larag@imss.gob.mx::84d5cd65-4601-4e92-b448-a9da4809e012" providerId="AD" clId="Web-{B2B77B96-8FFA-5B30-BEEC-3A647160FE22}" dt="2026-05-12T22:07:23.269" v="0"/>
          <ac:spMkLst>
            <pc:docMk/>
            <pc:sldMk cId="3240565764" sldId="297"/>
            <ac:spMk id="12" creationId="{CA535D92-E281-11D7-D7CB-F8BAB9F176B8}"/>
          </ac:spMkLst>
        </pc:spChg>
        <pc:spChg chg="add">
          <ac:chgData name="Gerardo Jahir Lara Garcia" userId="S::gerardo.larag@imss.gob.mx::84d5cd65-4601-4e92-b448-a9da4809e012" providerId="AD" clId="Web-{B2B77B96-8FFA-5B30-BEEC-3A647160FE22}" dt="2026-05-12T22:07:23.269" v="0"/>
          <ac:spMkLst>
            <pc:docMk/>
            <pc:sldMk cId="3240565764" sldId="297"/>
            <ac:spMk id="13" creationId="{B9C2E918-974F-A566-8C8B-5DDE4ED4290B}"/>
          </ac:spMkLst>
        </pc:spChg>
        <pc:spChg chg="add">
          <ac:chgData name="Gerardo Jahir Lara Garcia" userId="S::gerardo.larag@imss.gob.mx::84d5cd65-4601-4e92-b448-a9da4809e012" providerId="AD" clId="Web-{B2B77B96-8FFA-5B30-BEEC-3A647160FE22}" dt="2026-05-12T22:07:23.269" v="0"/>
          <ac:spMkLst>
            <pc:docMk/>
            <pc:sldMk cId="3240565764" sldId="297"/>
            <ac:spMk id="15" creationId="{A0083CC0-370A-999A-F425-0B0E05DEB5CF}"/>
          </ac:spMkLst>
        </pc:spChg>
        <pc:picChg chg="add">
          <ac:chgData name="Gerardo Jahir Lara Garcia" userId="S::gerardo.larag@imss.gob.mx::84d5cd65-4601-4e92-b448-a9da4809e012" providerId="AD" clId="Web-{B2B77B96-8FFA-5B30-BEEC-3A647160FE22}" dt="2026-05-12T22:07:23.269" v="0"/>
          <ac:picMkLst>
            <pc:docMk/>
            <pc:sldMk cId="3240565764" sldId="297"/>
            <ac:picMk id="4" creationId="{AE9FD96F-084C-5DEE-6966-05F8D1633A42}"/>
          </ac:picMkLst>
        </pc:picChg>
        <pc:picChg chg="add">
          <ac:chgData name="Gerardo Jahir Lara Garcia" userId="S::gerardo.larag@imss.gob.mx::84d5cd65-4601-4e92-b448-a9da4809e012" providerId="AD" clId="Web-{B2B77B96-8FFA-5B30-BEEC-3A647160FE22}" dt="2026-05-12T22:07:23.269" v="0"/>
          <ac:picMkLst>
            <pc:docMk/>
            <pc:sldMk cId="3240565764" sldId="297"/>
            <ac:picMk id="8" creationId="{170CBE01-E044-2F44-556A-69D0B561DC01}"/>
          </ac:picMkLst>
        </pc:picChg>
        <pc:picChg chg="add">
          <ac:chgData name="Gerardo Jahir Lara Garcia" userId="S::gerardo.larag@imss.gob.mx::84d5cd65-4601-4e92-b448-a9da4809e012" providerId="AD" clId="Web-{B2B77B96-8FFA-5B30-BEEC-3A647160FE22}" dt="2026-05-12T22:07:23.269" v="0"/>
          <ac:picMkLst>
            <pc:docMk/>
            <pc:sldMk cId="3240565764" sldId="297"/>
            <ac:picMk id="11" creationId="{F7B31A16-FD1A-331A-6F76-259EB810FD76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492568.0</c:v>
                </c:pt>
                <c:pt idx="1">
                  <c:v>95724.0</c:v>
                </c:pt>
                <c:pt idx="2">
                  <c:v>173897.0</c:v>
                </c:pt>
                <c:pt idx="3">
                  <c:v>9349.0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33.03624858354235</c:v>
                </c:pt>
                <c:pt idx="1">
                  <c:v>66.96375141645765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19.453627904599998</c:v>
                </c:pt>
                <c:pt idx="1">
                  <c:v>80.5463720954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30.60565856247305</c:v>
                </c:pt>
                <c:pt idx="1">
                  <c:v>69.39434143752695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27.19212510471935</c:v>
                </c:pt>
                <c:pt idx="1">
                  <c:v>72.80787489528065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</c:v>
                </c:pt>
                <c:pt idx="1">
                  <c:v>61</c:v>
                </c:pt>
                <c:pt idx="2">
                  <c:v>49</c:v>
                </c:pt>
                <c:pt idx="3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Sociales y Comunales</c:v>
                </c:pt>
                <c:pt idx="1">
                  <c:v>Comercio</c:v>
                </c:pt>
                <c:pt idx="2">
                  <c:v>Ind Eléctrica y Captación y Suministro de Agua Potable</c:v>
                </c:pt>
                <c:pt idx="3">
                  <c:v>Industria de la Construcción</c:v>
                </c:pt>
                <c:pt idx="4">
                  <c:v>Industrias Extractivas</c:v>
                </c:pt>
                <c:pt idx="5">
                  <c:v>Agricultura, Ganaderia, Silvicultura, Pesca y Caza</c:v>
                </c:pt>
                <c:pt idx="6">
                  <c:v>Transportes y Comunicaciones</c:v>
                </c:pt>
                <c:pt idx="7">
                  <c:v>Servicios para Empresas, Personas y el Hogar</c:v>
                </c:pt>
                <c:pt idx="8">
                  <c:v>Industrias de la Transformación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30596</c:v>
                </c:pt>
                <c:pt idx="1">
                  <c:v>30832</c:v>
                </c:pt>
                <c:pt idx="2">
                  <c:v>2399</c:v>
                </c:pt>
                <c:pt idx="3">
                  <c:v>13229</c:v>
                </c:pt>
                <c:pt idx="4">
                  <c:v>2814</c:v>
                </c:pt>
                <c:pt idx="5">
                  <c:v>10155</c:v>
                </c:pt>
                <c:pt idx="6">
                  <c:v>27290</c:v>
                </c:pt>
                <c:pt idx="7">
                  <c:v>24562</c:v>
                </c:pt>
                <c:pt idx="8">
                  <c:v>14669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Sociales y Comunales</c:v>
                </c:pt>
                <c:pt idx="1">
                  <c:v>Comercio</c:v>
                </c:pt>
                <c:pt idx="2">
                  <c:v>Ind Eléctrica y Captación y Suministro de Agua Potable</c:v>
                </c:pt>
                <c:pt idx="3">
                  <c:v>Industria de la Construcción</c:v>
                </c:pt>
                <c:pt idx="4">
                  <c:v>Industrias Extractivas</c:v>
                </c:pt>
                <c:pt idx="5">
                  <c:v>Agricultura, Ganaderia, Silvicultura, Pesca y Caza</c:v>
                </c:pt>
                <c:pt idx="6">
                  <c:v>Transportes y Comunicaciones</c:v>
                </c:pt>
                <c:pt idx="7">
                  <c:v>Servicios para Empresas, Personas y el Hogar</c:v>
                </c:pt>
                <c:pt idx="8">
                  <c:v>Industrias de la Transformación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30398</c:v>
                </c:pt>
                <c:pt idx="1">
                  <c:v>30635</c:v>
                </c:pt>
                <c:pt idx="2">
                  <c:v>2397</c:v>
                </c:pt>
                <c:pt idx="3">
                  <c:v>13275</c:v>
                </c:pt>
                <c:pt idx="4">
                  <c:v>2860</c:v>
                </c:pt>
                <c:pt idx="5">
                  <c:v>10379</c:v>
                </c:pt>
                <c:pt idx="6">
                  <c:v>28138</c:v>
                </c:pt>
                <c:pt idx="7">
                  <c:v>25858</c:v>
                </c:pt>
                <c:pt idx="8">
                  <c:v>16307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131454</c:v>
                </c:pt>
                <c:pt idx="1">
                  <c:v>135342</c:v>
                </c:pt>
                <c:pt idx="2">
                  <c:v>137558</c:v>
                </c:pt>
                <c:pt idx="3">
                  <c:v>136902</c:v>
                </c:pt>
                <c:pt idx="4">
                  <c:v>141981</c:v>
                </c:pt>
                <c:pt idx="5">
                  <c:v>149082</c:v>
                </c:pt>
                <c:pt idx="6">
                  <c:v>152105</c:v>
                </c:pt>
                <c:pt idx="7">
                  <c:v>156546</c:v>
                </c:pt>
                <c:pt idx="8">
                  <c:v>160247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Colima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_Coli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64%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492,568</a:t>
            </a:r>
            <a:br/>
            <a:r>
              <a:t>64%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95,724</a:t>
            </a:r>
            <a:br/>
            <a:r>
              <a:t>12%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173,897</a:t>
            </a:r>
            <a:br/>
            <a:r>
              <a:t>23%</a:t>
            </a:r>
          </a:p>
        </p:txBody>
      </p:sp>
      <p:pic>
        <p:nvPicPr>
          <p:cNvPr id="125" name="Picture 124" descr="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9,349</a:t>
            </a:r>
            <a:br/>
            <a:r>
              <a:t>1%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771,538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412,460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494,570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220,185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284,190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134,121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160,247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48,514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6,165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49,248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58,848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46,503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53,114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192,275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210,380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76,008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96,995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88,505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29,739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528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670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2,673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3,610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136800" y="9536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** PTPD que superaron el umbral de ingreso mínimo neto</a:t>
            </a:r>
          </a:p>
        </p:txBody>
      </p:sp>
      <p:pic>
        <p:nvPicPr>
          <p:cNvPr id="139" name="Picture 138" descr="PTP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0400" y="8161200"/>
            <a:ext cx="1666800" cy="486000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3371850201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6_c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17064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10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309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173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309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198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93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10 UMF y no incluye 3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oogle Shape;101;g3d0b4d3c5c9_3_50">
            <a:extLst>
              <a:ext uri="{FF2B5EF4-FFF2-40B4-BE49-F238E27FC236}">
                <a16:creationId xmlns:a16="http://schemas.microsoft.com/office/drawing/2014/main" id="{3BD8D301-0388-703D-7B68-6C973772D3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4117147"/>
              </p:ext>
            </p:extLst>
          </p:nvPr>
        </p:nvGraphicFramePr>
        <p:xfrm>
          <a:off x="288000" y="1191600"/>
          <a:ext cx="7396850" cy="8229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39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</a:t>
                      </a: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Subzona con Medicina Familiar</a:t>
                      </a:r>
                      <a:r>
                        <a:rPr lang="es" sz="18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No. </a:t>
                      </a: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4, Tecomán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Google Shape;103;g3d0b4d3c5c9_3_50">
            <a:extLst>
              <a:ext uri="{FF2B5EF4-FFF2-40B4-BE49-F238E27FC236}">
                <a16:creationId xmlns:a16="http://schemas.microsoft.com/office/drawing/2014/main" id="{796C5CB4-0540-938C-639A-02BE00078D6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685" y="2057951"/>
            <a:ext cx="3014438" cy="1819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04;g3d0b4d3c5c9_3_50">
            <a:extLst>
              <a:ext uri="{FF2B5EF4-FFF2-40B4-BE49-F238E27FC236}">
                <a16:creationId xmlns:a16="http://schemas.microsoft.com/office/drawing/2014/main" id="{82AFC0D4-D072-7D42-ED5B-C2ABF7496C6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686" y="4022602"/>
            <a:ext cx="3014438" cy="181982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B3B7AC82-D45F-3548-4EA0-7BCA82412EB0}"/>
              </a:ext>
            </a:extLst>
          </p:cNvPr>
          <p:cNvSpPr txBox="1"/>
          <p:nvPr/>
        </p:nvSpPr>
        <p:spPr>
          <a:xfrm>
            <a:off x="3677351" y="2434988"/>
            <a:ext cx="3889512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1959 inició el IMSS en el antiguo Sanatorio Solórzano, actualmente, el inmueble alberga oficinas delegacionales.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Hospital de Subzona con Medicina Familiar No. 4 inició operaciones el 1 de julio de 1968 , en el Municipio de Tecomán, Colima.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Comenzó su funcionamiento con 24 camas hospitalarias censables, cinco consultorios de medicina general y tres especialidades médicas: cirugía general, obstetricia y urgencias.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col_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5600" y="6476399"/>
          <a:ext cx="765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4 Tecomán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10 Manzanillo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2005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 Villa de Álvarez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4FF5E04E-7E13-CB58-3F78-706F19DC0558}"/>
              </a:ext>
            </a:extLst>
          </p:cNvPr>
          <p:cNvGrpSpPr/>
          <p:nvPr/>
        </p:nvGrpSpPr>
        <p:grpSpPr>
          <a:xfrm>
            <a:off x="-16425" y="5505161"/>
            <a:ext cx="7772400" cy="3381218"/>
            <a:chOff x="-16425" y="5505161"/>
            <a:chExt cx="7772400" cy="3381218"/>
          </a:xfrm>
        </p:grpSpPr>
        <p:sp>
          <p:nvSpPr>
            <p:cNvPr id="12" name="Google Shape;140;g3d62d805bc0_1_133">
              <a:extLst>
                <a:ext uri="{FF2B5EF4-FFF2-40B4-BE49-F238E27FC236}">
                  <a16:creationId xmlns:a16="http://schemas.microsoft.com/office/drawing/2014/main" id="{5758ADFC-F888-7442-F089-85034FDFFCD0}"/>
                </a:ext>
              </a:extLst>
            </p:cNvPr>
            <p:cNvSpPr txBox="1"/>
            <p:nvPr/>
          </p:nvSpPr>
          <p:spPr>
            <a:xfrm>
              <a:off x="-16425" y="5505161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3" name="Google Shape;153;g3d62d805bc0_1_133">
              <a:extLst>
                <a:ext uri="{FF2B5EF4-FFF2-40B4-BE49-F238E27FC236}">
                  <a16:creationId xmlns:a16="http://schemas.microsoft.com/office/drawing/2014/main" id="{71653F7F-6FB8-F6BF-2234-CFDAF7FC62B9}"/>
                </a:ext>
              </a:extLst>
            </p:cNvPr>
            <p:cNvGrpSpPr/>
            <p:nvPr/>
          </p:nvGrpSpPr>
          <p:grpSpPr>
            <a:xfrm>
              <a:off x="820749" y="7751411"/>
              <a:ext cx="2565600" cy="874090"/>
              <a:chOff x="5174274" y="7426607"/>
              <a:chExt cx="2565600" cy="874090"/>
            </a:xfrm>
          </p:grpSpPr>
          <p:sp>
            <p:nvSpPr>
              <p:cNvPr id="14" name="Google Shape;154;g3d62d805bc0_1_133">
                <a:extLst>
                  <a:ext uri="{FF2B5EF4-FFF2-40B4-BE49-F238E27FC236}">
                    <a16:creationId xmlns:a16="http://schemas.microsoft.com/office/drawing/2014/main" id="{BD6FF699-26B4-354E-6405-455EA131789F}"/>
                  </a:ext>
                </a:extLst>
              </p:cNvPr>
              <p:cNvSpPr/>
              <p:nvPr/>
            </p:nvSpPr>
            <p:spPr>
              <a:xfrm>
                <a:off x="5290923" y="7426607"/>
                <a:ext cx="454200" cy="381000"/>
              </a:xfrm>
              <a:prstGeom prst="rect">
                <a:avLst/>
              </a:prstGeom>
              <a:gradFill>
                <a:gsLst>
                  <a:gs pos="0">
                    <a:srgbClr val="691932"/>
                  </a:gs>
                  <a:gs pos="100000">
                    <a:srgbClr val="A42145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s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1</a:t>
                </a:r>
                <a:endParaRPr sz="1400" b="0" i="0" u="none" strike="noStrike" cap="none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15" name="Google Shape;155;g3d62d805bc0_1_133">
                <a:extLst>
                  <a:ext uri="{FF2B5EF4-FFF2-40B4-BE49-F238E27FC236}">
                    <a16:creationId xmlns:a16="http://schemas.microsoft.com/office/drawing/2014/main" id="{6E276A12-D1F2-CC4C-FF25-9E09ABFA91C1}"/>
                  </a:ext>
                </a:extLst>
              </p:cNvPr>
              <p:cNvSpPr/>
              <p:nvPr/>
            </p:nvSpPr>
            <p:spPr>
              <a:xfrm>
                <a:off x="5745125" y="7426614"/>
                <a:ext cx="1738500" cy="381000"/>
              </a:xfrm>
              <a:prstGeom prst="rect">
                <a:avLst/>
              </a:prstGeom>
              <a:gradFill>
                <a:gsLst>
                  <a:gs pos="0">
                    <a:srgbClr val="006455"/>
                  </a:gs>
                  <a:gs pos="100000">
                    <a:srgbClr val="1C342D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b="1" i="0" u="none" strike="noStrike" cap="non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Mastógrafo</a:t>
                </a:r>
                <a:endParaRPr sz="11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56;g3d62d805bc0_1_133">
                <a:extLst>
                  <a:ext uri="{FF2B5EF4-FFF2-40B4-BE49-F238E27FC236}">
                    <a16:creationId xmlns:a16="http://schemas.microsoft.com/office/drawing/2014/main" id="{44CD27F1-74E6-9768-907A-9CFEA6D00028}"/>
                  </a:ext>
                </a:extLst>
              </p:cNvPr>
              <p:cNvSpPr txBox="1"/>
              <p:nvPr/>
            </p:nvSpPr>
            <p:spPr>
              <a:xfrm>
                <a:off x="5174274" y="7750197"/>
                <a:ext cx="2565600" cy="5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dirty="0">
                    <a:solidFill>
                      <a:srgbClr val="595959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HGZ 1 Villa de Álvarez</a:t>
                </a: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b="1" dirty="0">
                    <a:solidFill>
                      <a:srgbClr val="595959"/>
                    </a:solidFill>
                    <a:latin typeface="Montserrat"/>
                    <a:ea typeface="Noto Sans"/>
                    <a:cs typeface="Noto Sans"/>
                    <a:sym typeface="Montserrat"/>
                  </a:rPr>
                  <a:t>$4.3 mdp</a:t>
                </a:r>
                <a:endParaRPr sz="1050" b="1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0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17" name="Google Shape;157;g3d62d805bc0_1_133">
              <a:extLst>
                <a:ext uri="{FF2B5EF4-FFF2-40B4-BE49-F238E27FC236}">
                  <a16:creationId xmlns:a16="http://schemas.microsoft.com/office/drawing/2014/main" id="{3FB08B45-E8F4-76BD-5B95-0CC6E53FD15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08425" y="6352274"/>
              <a:ext cx="2382547" cy="14664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" name="Google Shape;159;g3d62d805bc0_1_133">
              <a:extLst>
                <a:ext uri="{FF2B5EF4-FFF2-40B4-BE49-F238E27FC236}">
                  <a16:creationId xmlns:a16="http://schemas.microsoft.com/office/drawing/2014/main" id="{7A5E59A3-3BC3-035F-8DE3-F518CFAFBD98}"/>
                </a:ext>
              </a:extLst>
            </p:cNvPr>
            <p:cNvSpPr/>
            <p:nvPr/>
          </p:nvSpPr>
          <p:spPr>
            <a:xfrm>
              <a:off x="4830600" y="7886843"/>
              <a:ext cx="19098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60;g3d62d805bc0_1_133">
              <a:extLst>
                <a:ext uri="{FF2B5EF4-FFF2-40B4-BE49-F238E27FC236}">
                  <a16:creationId xmlns:a16="http://schemas.microsoft.com/office/drawing/2014/main" id="{A2EA029D-47AF-0BF5-A631-3ABF33B2ECA5}"/>
                </a:ext>
              </a:extLst>
            </p:cNvPr>
            <p:cNvSpPr/>
            <p:nvPr/>
          </p:nvSpPr>
          <p:spPr>
            <a:xfrm>
              <a:off x="4328561" y="7886843"/>
              <a:ext cx="5070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20" name="Google Shape;161;g3d62d805bc0_1_133">
              <a:extLst>
                <a:ext uri="{FF2B5EF4-FFF2-40B4-BE49-F238E27FC236}">
                  <a16:creationId xmlns:a16="http://schemas.microsoft.com/office/drawing/2014/main" id="{CCCC2E56-76DB-A143-6318-826E4BDC534E}"/>
                </a:ext>
              </a:extLst>
            </p:cNvPr>
            <p:cNvSpPr txBox="1"/>
            <p:nvPr/>
          </p:nvSpPr>
          <p:spPr>
            <a:xfrm>
              <a:off x="4345322" y="8240527"/>
              <a:ext cx="2577600" cy="6458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10 Manzanillo</a:t>
              </a: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$29.6 mdp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</a:t>
              </a:r>
              <a:r>
                <a:rPr lang="es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21" name="Google Shape;162;g3d62d805bc0_1_133">
              <a:extLst>
                <a:ext uri="{FF2B5EF4-FFF2-40B4-BE49-F238E27FC236}">
                  <a16:creationId xmlns:a16="http://schemas.microsoft.com/office/drawing/2014/main" id="{D36BAAE2-80F6-9DCF-B323-2E0C3808B57F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366297" y="6324509"/>
              <a:ext cx="2382553" cy="1562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Villa de Álvarez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Tecomán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10 Manzanillo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Fuente: Cédula de actualización de variables seleccionadas del IFU.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858578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C93F2ACC-26D7-D705-C29A-C43BFF54EC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320527"/>
              </p:ext>
            </p:extLst>
          </p:nvPr>
        </p:nvGraphicFramePr>
        <p:xfrm>
          <a:off x="143502" y="415184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1A8C040A-D8BC-D5C0-8DCB-E82D47F710E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099493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1F403CF-17C2-06D6-E5D4-09B60AD33740}"/>
              </a:ext>
            </a:extLst>
          </p:cNvPr>
          <p:cNvCxnSpPr>
            <a:cxnSpLocks/>
          </p:cNvCxnSpPr>
          <p:nvPr/>
        </p:nvCxnSpPr>
        <p:spPr>
          <a:xfrm>
            <a:off x="5210629" y="55722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6E58AFA-356A-A626-0E47-3BC6F8D9A504}"/>
              </a:ext>
            </a:extLst>
          </p:cNvPr>
          <p:cNvCxnSpPr>
            <a:cxnSpLocks/>
          </p:cNvCxnSpPr>
          <p:nvPr/>
        </p:nvCxnSpPr>
        <p:spPr>
          <a:xfrm>
            <a:off x="5210629" y="7234150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A17B8014-7070-CC0B-427F-F4541793177E}"/>
              </a:ext>
            </a:extLst>
          </p:cNvPr>
          <p:cNvSpPr txBox="1"/>
          <p:nvPr/>
        </p:nvSpPr>
        <p:spPr>
          <a:xfrm>
            <a:off x="5064096" y="5110057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B9FA401-054B-E1C8-BD1E-18771728D91A}"/>
              </a:ext>
            </a:extLst>
          </p:cNvPr>
          <p:cNvSpPr txBox="1"/>
          <p:nvPr/>
        </p:nvSpPr>
        <p:spPr>
          <a:xfrm>
            <a:off x="5064096" y="6495486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275F226-4270-9BEC-62C5-5F05985CB437}"/>
              </a:ext>
            </a:extLst>
          </p:cNvPr>
          <p:cNvSpPr txBox="1"/>
          <p:nvPr/>
        </p:nvSpPr>
        <p:spPr>
          <a:xfrm>
            <a:off x="4701239" y="8117457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+749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+47,057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+50,322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809,171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47,057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274,693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815,924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33.7%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267,019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50,322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92,273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301,490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30.6%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11,963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749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3,895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14,324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27.2%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10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7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136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 Manzanillo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99,483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33,073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100,224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Armería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25,622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28,188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 Minatitlán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11,558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3,993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Cuauhtémoc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20,395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7,719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 Quesería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19,882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2,964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7,474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 Colima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61,707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20,596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Colima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64,209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-805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22,476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302,856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10,169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103,788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314,164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33.0%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37728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4492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33.0%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5392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37728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314,164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CuadroTexto 138">
            <a:extLst>
              <a:ext uri="{FF2B5EF4-FFF2-40B4-BE49-F238E27FC236}">
                <a16:creationId xmlns:a16="http://schemas.microsoft.com/office/drawing/2014/main" id="{0B015124-4138-1C94-CE7D-ABBE57D79C8B}"/>
              </a:ext>
            </a:extLst>
          </p:cNvPr>
          <p:cNvSpPr txBox="1"/>
          <p:nvPr/>
        </p:nvSpPr>
        <p:spPr>
          <a:xfrm>
            <a:off x="4100000" y="5598866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1 Nueva UMTC con   2 consultorios</a:t>
            </a:r>
          </a:p>
        </p:txBody>
      </p:sp>
      <p:graphicFrame>
        <p:nvGraphicFramePr>
          <p:cNvPr id="140" name="Tabla 139">
            <a:extLst>
              <a:ext uri="{FF2B5EF4-FFF2-40B4-BE49-F238E27FC236}">
                <a16:creationId xmlns:a16="http://schemas.microsoft.com/office/drawing/2014/main" id="{0FD5AC23-2DF1-9A27-975F-A9634AC239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966539"/>
              </p:ext>
            </p:extLst>
          </p:nvPr>
        </p:nvGraphicFramePr>
        <p:xfrm>
          <a:off x="4770776" y="6874751"/>
          <a:ext cx="2808830" cy="66865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UMF  16 Colima</a:t>
                      </a: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141" name="TextBox 14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10 Unidades de Medicina Familiar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3 Unidades Médicas de tiempo completo (16 consultorios)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Familiar, ni hospitales que den servicio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</a:t>
            </a:r>
            <a:br/>
            <a:r>
              <a:t>No se incluye la productividad de Medicina Familiar de Hospitales, sólo contempla Unidades de primer nivel.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(90,088 consultas)</a:t>
            </a:r>
          </a:p>
        </p:txBody>
      </p:sp>
      <p:graphicFrame>
        <p:nvGraphicFramePr>
          <p:cNvPr id="148" name="Table 147"/>
          <p:cNvGraphicFramePr>
            <a:graphicFrameLocks noGrp="1"/>
          </p:cNvGraphicFramePr>
          <p:nvPr/>
        </p:nvGraphicFramePr>
        <p:xfrm>
          <a:off x="151200" y="1695600"/>
          <a:ext cx="7473599" cy="7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17 Manzanillo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132,497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5,724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45,971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137,760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19 Colima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160,181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14,554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53,203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 Colima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108,706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14,625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37,701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401,384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34,903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136,875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399,760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9" name="Chart 148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0" name="TextBox 149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834803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</a:t>
            </a:r>
            <a:br/>
            <a:r>
              <a:t>No se contempla la productividad de UMF y/o UMAA, exclusivamente segundo nivel de atención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Villa de Álvarez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198,174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65,938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203,670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10 Manzanillo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56,147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15,143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21,634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74,460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Tecomán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12,698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4,701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267,019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50,322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92,273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301,490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30.6%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3654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437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30.6%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527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3654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301,490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326994079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 </a:t>
            </a:r>
            <a:br/>
            <a:r>
              <a:t>Puede existir diferencias en metas por la metodología de cálculo por los tipos de quirófanos considerados</a:t>
            </a:r>
            <a:br/>
            <a:r>
              <a:t>No se contempla la productividad de UMF y/o UMAA, exclusivamente segundo nivel de atención.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Tecomán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Villa de Álvarez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7,996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10 Manzanillo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1,163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11,963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749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3,895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14,324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27.2%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3297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01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27.2%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491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3297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14,324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51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22 en Hospitales, 0 en sede, 2 en UMF y 27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22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5720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64079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en Unidades de Medicina Familiar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000" y="68039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68759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68759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6907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52515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5251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5251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5251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5251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5251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5251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52515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564D4000-DD68-6F07-1EFC-E272982FC0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5315483"/>
              </p:ext>
            </p:extLst>
          </p:nvPr>
        </p:nvGraphicFramePr>
        <p:xfrm>
          <a:off x="287050" y="97368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2,193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8,268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2,361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5,080	 Personal de Salud: 3,192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+88.0%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+35.8%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551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748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+11.3%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1,039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1,156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+24.6%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623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776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+123.1%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121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270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-3.5%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202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195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Geriatría Directa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Geriatría Directa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3,412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240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32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55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1,174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517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5,343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(44,014)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(5,611)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(599)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(1,112)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(35,867)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(4,672)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(557)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(803)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(11,380)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(4,178)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(300)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(476)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(8,964)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(4,049)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(188)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(319)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(25)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(7,333)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(2,680)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(187)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(275)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52,065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517,268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22,627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614,063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96.4%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6CB3E-27FE-45F7-8BBB-33818D9BC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117,271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con fibra, suspensión oral o enteral  (nutrición)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103,740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81,089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79,962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sin fibra, suspensión (nutrición)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79,689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76,215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63,241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57,211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52,434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 SOLUCION INYECTABLE CADA FRASCO CONTIENE: PARACETAMOL 1 G. ENVASE CON UN FRASCO CON 100 ML.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50,493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8652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15617"/>
            <a:ext cx="1599000" cy="7715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5497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198568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212358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4112967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4154892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5035471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5379058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5505390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Tomógrafo</a:t>
            </a: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16707" y="20306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Sala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15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HGZ 1 en Villa de Álvarez (Etapa 4)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$53.0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Estudios de preinversión del HGR 72 camas, Manzanillo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$63.3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3024000"/>
          <a:ext cx="52956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8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$161.4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5 unidades (HGZ No.1 Villa Álvarez, HGSZMF No.4 Tecomán, HGZ No.10 Manzanillo, UMF No.17 Manzanillo, UMF No. 19 Colima)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$18.5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(HGZ No.1 Villa de Álvarez y HGZ No. 10 Manzanillo)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17 unidades, Colima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$11.3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2 subdelegaciones Colima y Manzanillo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HGZ No. 10 Manzanillo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3 unidades (HGSZMF No. 4 Tecomán, HGZ No.1 Villa de Álvarez, HGZ No. 10 Manzanillo)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$215.6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7524000"/>
          <a:ext cx="52956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3  piezas de equipo médico: 1 refrigerador congelador de 5.4 pies cúbicos, 1 tomógrafo axial computarizado de alta resolucion, 1 mastógrafo digital con esterotaxia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$34.1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313.0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15617"/>
            <a:ext cx="1599000" cy="7731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050049"/>
            <a:ext cx="3886200" cy="76944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3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Equipos</a:t>
            </a:r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 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Electrome</a:t>
            </a:r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-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cánicos</a:t>
            </a:r>
            <a:endParaRPr lang="en-US" sz="800" b="1" i="0" u="none" strike="noStrike" dirty="0" err="1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1584000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de Zona Manzanillo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$1,908.0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2267998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$52.7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2951996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3 Equipos electromecánicos para 1 unidad médica, 2 lavadoras y 1 secadora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1,968.2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3527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3527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Construcción del HGZ de 72 camas en Tecomán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$2,562.0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7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y Ampliación de UMF No. 18 a UMF Plus 14+7, Villa de Álvarez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$444.5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3527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Plus Manzanillo 10+5 consultorios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$444.5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7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Servicio de Resonancia Magnética HGZ 1, Villa de Álvarez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$65.5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3527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equipo de Tomografía HGZ 1, Villa de Álvare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$46.9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7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Fortalecimiento de urgencias UMF Colima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$9.1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3527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Centro de Colecta de Sangrado y Transfusión de los Laboratorios HGZ No.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27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Centro de Colecta de Sangrado y Transfusión de los Laboratorios HGSZ/MF No. 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$1.5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3528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$3,578.8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529198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597598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6659982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3,578.8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Cuauhtémoc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Tecomán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12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3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2 en Cuauhtémoc y Tecomán.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16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15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2,518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390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10457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0458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Centros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Colima, Manzanillo y Tecomán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10 Colima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06_co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16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de Colima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6,404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6,381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Grupo Yazaki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4,431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5,117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5,080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Ssa México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2,287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2,419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de Colima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3,969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3,973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Suarcrem Holding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1,739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1,759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-0.65%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-0.64%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-0.08%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+0.35%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+1.63%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+2.21%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+3.11%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+5.28%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+11.17%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125,505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6,403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22,257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2,381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156,546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130,112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6,644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21,249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2,242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160,247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5D1EFEE1-D20D-FBAE-E513-772942965BF7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$589.17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$296.55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$589.17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40.3%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$17,675.1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Villa de Álvarez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$59.07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de Colima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$30.30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de Educación Inicial del Estado de Colima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$13.39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Tiendas Bueno Bonito y Barato del Sur SAS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$16.03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Hefreva Soluciones en Logística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Compañía Isdamar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$3.77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COLIMA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51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27 especialistas (sustitutos)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0000" y="58896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298</Words>
  <Application>Microsoft Office PowerPoint</Application>
  <PresentationFormat>Personalizado</PresentationFormat>
  <Paragraphs>85</Paragraphs>
  <Slides>24</Slides>
  <Notes>21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98</cp:revision>
  <dcterms:modified xsi:type="dcterms:W3CDTF">2026-05-12T22:10:22Z</dcterms:modified>
</cp:coreProperties>
</file>