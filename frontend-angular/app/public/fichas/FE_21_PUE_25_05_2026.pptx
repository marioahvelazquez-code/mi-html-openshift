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6B664-ECF8-7231-3A62-8EB4DE3ABE49}" v="94" dt="2026-05-12T23:33:56.32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44.991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44.991" v="0"/>
        <pc:sldMkLst>
          <pc:docMk/>
          <pc:sldMk cId="3216744436" sldId="300"/>
        </pc:sldMkLst>
      </pc:sldChg>
    </pc:docChg>
  </pc:docChgLst>
  <pc:docChgLst>
    <pc:chgData name="Gerardo Jahir Lara Garcia" userId="S::gerardo.larag@imss.gob.mx::84d5cd65-4601-4e92-b448-a9da4809e012" providerId="AD" clId="Web-{F446B664-ECF8-7231-3A62-8EB4DE3ABE49}"/>
    <pc:docChg chg="modSld">
      <pc:chgData name="Gerardo Jahir Lara Garcia" userId="S::gerardo.larag@imss.gob.mx::84d5cd65-4601-4e92-b448-a9da4809e012" providerId="AD" clId="Web-{F446B664-ECF8-7231-3A62-8EB4DE3ABE49}" dt="2026-05-12T23:33:56.321" v="59" actId="1076"/>
      <pc:docMkLst>
        <pc:docMk/>
      </pc:docMkLst>
      <pc:sldChg chg="addSp delSp modSp">
        <pc:chgData name="Gerardo Jahir Lara Garcia" userId="S::gerardo.larag@imss.gob.mx::84d5cd65-4601-4e92-b448-a9da4809e012" providerId="AD" clId="Web-{F446B664-ECF8-7231-3A62-8EB4DE3ABE49}" dt="2026-05-12T23:33:56.321" v="5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F446B664-ECF8-7231-3A62-8EB4DE3ABE49}" dt="2026-05-12T23:31:21.27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56.321" v="5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F446B664-ECF8-7231-3A62-8EB4DE3ABE49}" dt="2026-05-12T23:33:13.364" v="20"/>
          <ac:spMkLst>
            <pc:docMk/>
            <pc:sldMk cId="364733940" sldId="284"/>
            <ac:spMk id="9" creationId="{907F7F6F-8FF8-56A0-795F-B2A127C97D4D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21.052" v="23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F446B664-ECF8-7231-3A62-8EB4DE3ABE49}" dt="2026-05-12T23:31:21.27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F446B664-ECF8-7231-3A62-8EB4DE3ABE49}" dt="2026-05-12T23:33:13.364" v="21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3:21.037" v="22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F446B664-ECF8-7231-3A62-8EB4DE3ABE49}" dt="2026-05-12T23:32:31.235" v="1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59.779" v="10" actId="20577"/>
          <ac:spMkLst>
            <pc:docMk/>
            <pc:sldMk cId="3240565764" sldId="297"/>
            <ac:spMk id="7" creationId="{FD4175D4-66CF-7FBC-B843-C149C5339DF1}"/>
          </ac:spMkLst>
        </pc:spChg>
        <pc:spChg chg="add del mod">
          <ac:chgData name="Gerardo Jahir Lara Garcia" userId="S::gerardo.larag@imss.gob.mx::84d5cd65-4601-4e92-b448-a9da4809e012" providerId="AD" clId="Web-{F446B664-ECF8-7231-3A62-8EB4DE3ABE49}" dt="2026-05-12T23:32:08.842" v="13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15.311" v="15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31.235" v="1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48.793" v="8" actId="1076"/>
          <ac:spMkLst>
            <pc:docMk/>
            <pc:sldMk cId="3240565764" sldId="297"/>
            <ac:spMk id="15" creationId="{A0083CC0-370A-999A-F425-0B0E05DEB5CF}"/>
          </ac:spMkLst>
        </pc:spChg>
        <pc:picChg chg="add del mod">
          <ac:chgData name="Gerardo Jahir Lara Garcia" userId="S::gerardo.larag@imss.gob.mx::84d5cd65-4601-4e92-b448-a9da4809e012" providerId="AD" clId="Web-{F446B664-ECF8-7231-3A62-8EB4DE3ABE49}" dt="2026-05-12T23:32:08.842" v="14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2:15.311" v="16" actId="1076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F446B664-ECF8-7231-3A62-8EB4DE3ABE49}" dt="2026-05-12T23:31:11.382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7:47.464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00.378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53.455" v="105" actId="255"/>
          <ac:spMkLst>
            <pc:docMk/>
            <pc:sldMk cId="0" sldId="260"/>
            <ac:spMk id="7" creationId="{90A97AC1-F0C0-B406-381A-AC1A607454FB}"/>
          </ac:spMkLst>
        </pc:spChg>
        <pc:graphicFrameChg chg="add mod">
          <ac:chgData name="Edgar Rosales Ortega" userId="d1d54fc2-1570-4978-babc-e22e1526833f" providerId="ADAL" clId="{66BE7C30-C669-4152-AC74-10076FC0590C}" dt="2026-04-30T23:14:40.018" v="36" actId="1076"/>
          <ac:graphicFrameMkLst>
            <pc:docMk/>
            <pc:sldMk cId="0" sldId="260"/>
            <ac:graphicFrameMk id="5" creationId="{08E93805-88E4-D852-2D80-21866ECE8EB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00.378" v="107" actId="1076"/>
          <ac:picMkLst>
            <pc:docMk/>
            <pc:sldMk cId="0" sldId="260"/>
            <ac:picMk id="6" creationId="{330A8DDA-C1ED-884F-2685-9B99501C5A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2:21.630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7" creationId="{4C8AA8FE-E2F6-5427-1841-8E863D3F6E79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8" creationId="{07B1BC02-E6B2-3132-18DF-8638B522C85B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9" creationId="{7D1A9AED-2D34-6619-F890-CC97921D2FD7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11" creationId="{97F283B9-B1CF-4E1E-DCFC-5A0DC06C5190}"/>
          </ac:spMkLst>
        </pc:spChg>
        <pc:grpChg chg="add mod">
          <ac:chgData name="Edgar Rosales Ortega" userId="d1d54fc2-1570-4978-babc-e22e1526833f" providerId="ADAL" clId="{66BE7C30-C669-4152-AC74-10076FC0590C}" dt="2026-05-05T18:02:21.630" v="108" actId="164"/>
          <ac:grpSpMkLst>
            <pc:docMk/>
            <pc:sldMk cId="0" sldId="261"/>
            <ac:grpSpMk id="2" creationId="{E3F5B5BC-2B7E-8C34-F7F1-5D1ADC587717}"/>
          </ac:grpSpMkLst>
        </pc:grpChg>
        <pc:picChg chg="add mod">
          <ac:chgData name="Edgar Rosales Ortega" userId="d1d54fc2-1570-4978-babc-e22e1526833f" providerId="ADAL" clId="{66BE7C30-C669-4152-AC74-10076FC0590C}" dt="2026-05-05T18:02:21.630" v="108" actId="164"/>
          <ac:picMkLst>
            <pc:docMk/>
            <pc:sldMk cId="0" sldId="261"/>
            <ac:picMk id="10" creationId="{794D4B75-6ABE-E9FE-F800-C341261817D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5:28.577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5:34.493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3:12.358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0:22.701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5:45.429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5:45.429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43.281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42.734" v="32" actId="1076"/>
          <ac:spMkLst>
            <pc:docMk/>
            <pc:sldMk cId="0" sldId="279"/>
            <ac:spMk id="2" creationId="{01561C33-C0D9-F281-9BD9-867DE42DAC9D}"/>
          </ac:spMkLst>
        </pc:spChg>
        <pc:spChg chg="mod">
          <ac:chgData name="Edgar Rosales Ortega" userId="d1d54fc2-1570-4978-babc-e22e1526833f" providerId="ADAL" clId="{66BE7C30-C669-4152-AC74-10076FC0590C}" dt="2026-05-05T18:02:43.281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3:10.207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0:25.984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2:30.00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7:47.464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7:47.464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3:03.201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0:29.085" v="2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7:36.150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7:36.150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2225021.0</c:v>
                </c:pt>
                <c:pt idx="1">
                  <c:v>1203362.0</c:v>
                </c:pt>
                <c:pt idx="2">
                  <c:v>479627.0</c:v>
                </c:pt>
                <c:pt idx="3">
                  <c:v>3208875.0</c:v>
                </c:pt>
                <c:pt idx="4">
                  <c:v>32254.0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28.35195095339533</c:v>
                </c:pt>
                <c:pt idx="1">
                  <c:v>71.64804904660467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13.9435635463</c:v>
                </c:pt>
                <c:pt idx="1">
                  <c:v>86.0564364537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28.64</c:v>
                </c:pt>
                <c:pt idx="1">
                  <c:v>71.36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25.47</c:v>
                </c:pt>
                <c:pt idx="1">
                  <c:v>74.53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354</c:v>
                </c:pt>
                <c:pt idx="2">
                  <c:v>438</c:v>
                </c:pt>
                <c:pt idx="3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124224</c:v>
                </c:pt>
                <c:pt idx="1">
                  <c:v>191563</c:v>
                </c:pt>
                <c:pt idx="2">
                  <c:v>23656</c:v>
                </c:pt>
                <c:pt idx="3">
                  <c:v>1583</c:v>
                </c:pt>
                <c:pt idx="4">
                  <c:v>50223</c:v>
                </c:pt>
                <c:pt idx="5">
                  <c:v>5833</c:v>
                </c:pt>
                <c:pt idx="6">
                  <c:v>160143</c:v>
                </c:pt>
                <c:pt idx="7">
                  <c:v>64573</c:v>
                </c:pt>
                <c:pt idx="8">
                  <c:v>39073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121068</c:v>
                </c:pt>
                <c:pt idx="1">
                  <c:v>188677</c:v>
                </c:pt>
                <c:pt idx="2">
                  <c:v>23352</c:v>
                </c:pt>
                <c:pt idx="3">
                  <c:v>1565</c:v>
                </c:pt>
                <c:pt idx="4">
                  <c:v>50154</c:v>
                </c:pt>
                <c:pt idx="5">
                  <c:v>5842</c:v>
                </c:pt>
                <c:pt idx="6">
                  <c:v>163191</c:v>
                </c:pt>
                <c:pt idx="7">
                  <c:v>66281</c:v>
                </c:pt>
                <c:pt idx="8">
                  <c:v>42803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613412</c:v>
                </c:pt>
                <c:pt idx="1">
                  <c:v>626835</c:v>
                </c:pt>
                <c:pt idx="2">
                  <c:v>604361</c:v>
                </c:pt>
                <c:pt idx="3">
                  <c:v>592577</c:v>
                </c:pt>
                <c:pt idx="4">
                  <c:v>616226</c:v>
                </c:pt>
                <c:pt idx="5">
                  <c:v>637791</c:v>
                </c:pt>
                <c:pt idx="6">
                  <c:v>655531</c:v>
                </c:pt>
                <c:pt idx="7">
                  <c:v>660871</c:v>
                </c:pt>
                <c:pt idx="8">
                  <c:v>662933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revistamanera.wordpress.com/cumple-imss-70-anos-de-procurar-salud-y-seguridad-social-a-los-poblanos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Puebla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_Pue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48%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2,225,021</a:t>
            </a:r>
            <a:br/>
            <a:r>
              <a:t>31%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1,203,362</a:t>
            </a:r>
            <a:br/>
            <a:r>
              <a:t>17%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479,627</a:t>
            </a:r>
            <a:br/>
            <a:r>
              <a:t>7%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3,208,875</a:t>
            </a:r>
            <a:br/>
            <a:r>
              <a:t>45%</a:t>
            </a:r>
          </a:p>
        </p:txBody>
      </p:sp>
      <p:pic>
        <p:nvPicPr>
          <p:cNvPr id="128" name="Picture 127" descr="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32,254</a:t>
            </a:r>
            <a:br/>
            <a:r>
              <a:t>0.45%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7,149,139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1,954,798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2,236,928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1,424,463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620,188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418,854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498,481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758,472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812,465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1,378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11,303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1,102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37 UMF, 8 UMFH y no incluye 0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2;g3d0b4d3c5c9_0_70">
            <a:extLst>
              <a:ext uri="{FF2B5EF4-FFF2-40B4-BE49-F238E27FC236}">
                <a16:creationId xmlns:a16="http://schemas.microsoft.com/office/drawing/2014/main" id="{08E93805-88E4-D852-2D80-21866ECE8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166150"/>
              </p:ext>
            </p:extLst>
          </p:nvPr>
        </p:nvGraphicFramePr>
        <p:xfrm>
          <a:off x="288000" y="1191600"/>
          <a:ext cx="7198700" cy="426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4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Sanatorio No. 1 de la Caja Regional, Ciudad de Puebla</a:t>
                      </a:r>
                      <a:endParaRPr sz="14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17;g3d0b4d3c5c9_0_70">
            <a:extLst>
              <a:ext uri="{FF2B5EF4-FFF2-40B4-BE49-F238E27FC236}">
                <a16:creationId xmlns:a16="http://schemas.microsoft.com/office/drawing/2014/main" id="{330A8DDA-C1ED-884F-2685-9B99501C5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232" y="2312528"/>
            <a:ext cx="2673522" cy="18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0A97AC1-F0C0-B406-381A-AC1A607454FB}"/>
              </a:ext>
            </a:extLst>
          </p:cNvPr>
          <p:cNvSpPr txBox="1"/>
          <p:nvPr/>
        </p:nvSpPr>
        <p:spPr>
          <a:xfrm>
            <a:off x="2854754" y="1818001"/>
            <a:ext cx="4829157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el 1 de mayo de 1945, con la primera delegación del Instituto en provincia, apenas dos años después de promulgada la Ley del Seguro Social.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la etapa inicial, las consultas médicas se otorgaban mediante un esquema de atención directa en clínicas y subrogación hospitalaria, con servicios de medicina general y maternidad.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Puebla fue el Sanatorio No. 1 de la Caja Regional Puebla‑Tlaxcala, habilitado en 1945, al alquilarse un inmueble en la ciudad de Puebla en esquina de la 7 Poniente y 13 Sur.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Sanatorio No. 1 contaba con aproximadamente 30 camas y ofrecía servicios de hospitalización general, atención de partos, cirugía general básica, riesgos de trabajo y apoyo de consulta externa.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1_PUEB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3F5B5BC-2B7E-8C34-F7F1-5D1ADC587717}"/>
              </a:ext>
            </a:extLst>
          </p:cNvPr>
          <p:cNvGrpSpPr/>
          <p:nvPr/>
        </p:nvGrpSpPr>
        <p:grpSpPr>
          <a:xfrm>
            <a:off x="306507" y="5605887"/>
            <a:ext cx="7772400" cy="3212045"/>
            <a:chOff x="306507" y="5605887"/>
            <a:chExt cx="7772400" cy="3212045"/>
          </a:xfrm>
        </p:grpSpPr>
        <p:sp>
          <p:nvSpPr>
            <p:cNvPr id="7" name="Google Shape;255;g3d635d120e2_2_52">
              <a:extLst>
                <a:ext uri="{FF2B5EF4-FFF2-40B4-BE49-F238E27FC236}">
                  <a16:creationId xmlns:a16="http://schemas.microsoft.com/office/drawing/2014/main" id="{4C8AA8FE-E2F6-5427-1841-8E863D3F6E79}"/>
                </a:ext>
              </a:extLst>
            </p:cNvPr>
            <p:cNvSpPr txBox="1"/>
            <p:nvPr/>
          </p:nvSpPr>
          <p:spPr>
            <a:xfrm>
              <a:off x="306507" y="560588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260;g3d635d120e2_2_52">
              <a:extLst>
                <a:ext uri="{FF2B5EF4-FFF2-40B4-BE49-F238E27FC236}">
                  <a16:creationId xmlns:a16="http://schemas.microsoft.com/office/drawing/2014/main" id="{07B1BC02-E6B2-3132-18DF-8638B522C85B}"/>
                </a:ext>
              </a:extLst>
            </p:cNvPr>
            <p:cNvSpPr/>
            <p:nvPr/>
          </p:nvSpPr>
          <p:spPr>
            <a:xfrm>
              <a:off x="3159219" y="7889721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61;g3d635d120e2_2_52">
              <a:extLst>
                <a:ext uri="{FF2B5EF4-FFF2-40B4-BE49-F238E27FC236}">
                  <a16:creationId xmlns:a16="http://schemas.microsoft.com/office/drawing/2014/main" id="{7D1A9AED-2D34-6619-F890-CC97921D2FD7}"/>
                </a:ext>
              </a:extLst>
            </p:cNvPr>
            <p:cNvSpPr/>
            <p:nvPr/>
          </p:nvSpPr>
          <p:spPr>
            <a:xfrm>
              <a:off x="2657181" y="7889721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0" name="Google Shape;262;g3d635d120e2_2_52">
              <a:extLst>
                <a:ext uri="{FF2B5EF4-FFF2-40B4-BE49-F238E27FC236}">
                  <a16:creationId xmlns:a16="http://schemas.microsoft.com/office/drawing/2014/main" id="{794D4B75-6ABE-E9FE-F800-C341261817D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17" y="6327387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64;g3d635d120e2_2_52">
              <a:extLst>
                <a:ext uri="{FF2B5EF4-FFF2-40B4-BE49-F238E27FC236}">
                  <a16:creationId xmlns:a16="http://schemas.microsoft.com/office/drawing/2014/main" id="{97F283B9-B1CF-4E1E-DCFC-5A0DC06C5190}"/>
                </a:ext>
              </a:extLst>
            </p:cNvPr>
            <p:cNvSpPr txBox="1"/>
            <p:nvPr/>
          </p:nvSpPr>
          <p:spPr>
            <a:xfrm>
              <a:off x="2712300" y="8267432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Puebla</a:t>
              </a:r>
              <a:endParaRPr sz="13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HTO CMN Puebla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403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6360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12EC76B-8F98-7BC1-1ED3-274ABDF69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60AEE02-FB93-3143-CD02-D48145AA95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B6FB028-4D77-480D-6780-9F1CD68CC681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1BCE7B-54BF-1EC7-5032-74C077243E82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2EB34AF-EFA0-DA59-9D67-866F41D1127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5E90DF-811B-39B9-714F-AF7023AD783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4B74C4-8116-F0E1-9AE8-9E7ACFC07BE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+153,328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+116,762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3,177,818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153,328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1,074,368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3,160,196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259,743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16,405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Lagunillas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Aire Llibre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S.José Tilapa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V. Ajalpan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Atencingo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28 Calipan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Villa Rafael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Chietla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Xicotepec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Huauchinango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Mazatepec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Los Libres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Tetela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Oriental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Palmar Bravo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Acatlán Osorio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Tlacotepec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Zacatlán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Tecamachalco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30,867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Cd. Cerdán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El Mayorazgo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65,822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Nuevo Necaxa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Tlatlauquitepec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San José Chiapa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327,298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6,490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109,138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384,940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384,940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adroTexto 251">
            <a:extLst>
              <a:ext uri="{FF2B5EF4-FFF2-40B4-BE49-F238E27FC236}">
                <a16:creationId xmlns:a16="http://schemas.microsoft.com/office/drawing/2014/main" id="{AC6E74FB-60D7-4532-9A98-68CA3A5F5544}"/>
              </a:ext>
            </a:extLst>
          </p:cNvPr>
          <p:cNvSpPr txBox="1"/>
          <p:nvPr/>
        </p:nvSpPr>
        <p:spPr>
          <a:xfrm>
            <a:off x="4328665" y="526320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940F794C-65A8-FBF0-2490-002716D13D10}"/>
              </a:ext>
            </a:extLst>
          </p:cNvPr>
          <p:cNvSpPr txBox="1"/>
          <p:nvPr/>
        </p:nvSpPr>
        <p:spPr>
          <a:xfrm>
            <a:off x="4750993" y="6545812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8 El Mayorazgo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20 Unidades Médicas de tiempo completo (82 consultorios)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(406,642 consultas)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151200" y="16956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S. Pedro Cholula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Constancia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36,954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79,400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24 Izucar Matamor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53,892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18,611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Atlixco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41 Huejotzingo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99,134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11 S. Martín Texme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116,709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40,997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S. Miguel Xoxtla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55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349,430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Tepeaca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279,123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95,319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Puebla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33,967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Margarita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290,453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-4,435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96,658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Tehuacán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123,298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42,951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Sn Bartolo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115,285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36,178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Santa María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53,127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Teziutlán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145,271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50,663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2,850,520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146,838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965,230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2,775,256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Chart 26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05254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68,451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18,495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48,276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481,501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72,442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174,152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502,240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08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200,002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22,244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54,514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297,890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44,320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85,591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404,790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259,743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624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9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28.6%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8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624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907,030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51491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27,784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10,348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35,073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17,575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6,057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16,405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88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6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25.5%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75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88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64,398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0 en sede, 10 en UMF y 217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335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33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91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919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82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Salvador El Seco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36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Chignahuapan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Zacapoaxtla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Tepexi de Rodríguez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Ávila Camacho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Chiautla de Tapia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Ixtepec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223D0623-FD42-67B3-C108-57C4CD444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91526"/>
              </p:ext>
            </p:extLst>
          </p:nvPr>
        </p:nvGraphicFramePr>
        <p:xfrm>
          <a:off x="287050" y="91168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9,089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1,912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17,760	 Personal de Salud: 10,808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+107.4%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3,779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13,276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3,463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18,851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(196,487)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(18,743)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(141,149)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(15,909)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(3,370)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(53,675)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(14,907)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(33,613)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(807)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(1,453)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(22,718)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(1,379)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224,709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2,116,272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144,339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2,161,736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82B9-A745-5EC5-EB82-7BE9BC78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507,070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310,818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279,474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239,423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211,703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195,383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185,660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175,458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165,508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05073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394320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520652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14321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180 camas, San Alejandro (sustitución del HGR 36)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$2,652.0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$589.5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No. 20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4 unidades (H. de Especialidades CMN Puebla,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Traum. y Ortopedia CMN Puebla, HGZ No. 20 Puebla, HGZ No.15 Tehuacán)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8 unidades (H. de Especialidades CMN Puebla, HGZ No. 20, UMF No. 35, UMF No. 34, UMF No. 55 Puebla; HGZ No. 15 Tehuacán, HGZ No. 23 Teziutlán, HGZ No. 5 Atlixco)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en 3 unidades (Norte, Sur y Teziutlán)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4 unidades,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20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$770.2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 piezas de equipo médico: 2 congeladores horizontales de refrigerantes para vacunas, 5 refrigeradores para vacunas, 3 refrigeradores con congelador de 5.4 pies cúbicos, 1 calibrador de dósis de radioisótopos, 1 monitor de signos vitales para el traslado del pacientes, (con protección antimagnética), 1 equipo de anestesia básica (con protección antimagnética), 2 unidades para tomografia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3,495.1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79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Hemodiálisis</a:t>
            </a:r>
            <a:endParaRPr lang="en-US" sz="7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66951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2722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Construcción de Centro de Simulación para la Excelencia Clínica y Quirúrgica Centro en San Andres Cholula, Puebla.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2771996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20 La margarita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HE CMN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en área de Hemodiálisis en UMAA No. 36 San Alejandro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20, La Margarita y en UMF No. 6, Villas de San Alejandro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521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3 unidades; 2 elevadores, 2 lavadoras, 1 secadora, 7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609.9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Amozoc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3,692.0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Puebla (2), San Andrés Cholula, Tehuacán, San Martín Texmelucan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10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San Martín Texmelucan. En integración de expediente para donación: 4 en Puebla, San Andrés Cholula y Tehuacán.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3,663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Martin Texmelucan, Atlixco, Tehuacán, Benito Juárez G.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Bosques de Manzanilla y Lomas de San Miguel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Puebla, Cholula e Izúcar de Matamoros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Atlixco-Metepec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34 Puebla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1_p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540499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Volkswagen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7,414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-1.14%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+9.55%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557,178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565,077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13,808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78,485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1561C33-C0D9-F281-9BD9-867DE42DAC9D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$581.41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$319.46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$581.41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$17,442.3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Benemérita Universidad Autónoma de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Municipal de Arte y Cultura de Puebla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Constructora Toram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Gcool Innovation of Cormecial Technology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$25.43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Cuvs Construcción y Mantenimiento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1,129,079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1,006,114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5,386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7,724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11,783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1,203,362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241,388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961,974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403,182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1,129,079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7,516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6684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Chiautla de Tapia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Chignahuapan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Salvador El Seco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Tepexi de Rodríguez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Ávila Camacho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Zacapoaxtla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601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5997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3621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384</Words>
  <Application>Microsoft Office PowerPoint</Application>
  <PresentationFormat>Personalizado</PresentationFormat>
  <Paragraphs>88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109</cp:revision>
  <dcterms:modified xsi:type="dcterms:W3CDTF">2026-05-12T23:33:58Z</dcterms:modified>
</cp:coreProperties>
</file>