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89" r:id="rId3"/>
    <p:sldId id="258" r:id="rId4"/>
    <p:sldId id="259" r:id="rId5"/>
    <p:sldId id="260" r:id="rId6"/>
    <p:sldId id="301" r:id="rId46"/>
    <p:sldId id="261" r:id="rId7"/>
    <p:sldId id="287" r:id="rId8"/>
    <p:sldId id="262" r:id="rId9"/>
    <p:sldId id="263" r:id="rId10"/>
    <p:sldId id="280" r:id="rId11"/>
    <p:sldId id="267" r:id="rId12"/>
    <p:sldId id="298" r:id="rId13"/>
    <p:sldId id="302" r:id="rId47"/>
    <p:sldId id="303" r:id="rId48"/>
    <p:sldId id="304" r:id="rId49"/>
    <p:sldId id="281" r:id="rId14"/>
    <p:sldId id="305" r:id="rId50"/>
    <p:sldId id="288" r:id="rId15"/>
    <p:sldId id="270" r:id="rId16"/>
    <p:sldId id="271" r:id="rId17"/>
    <p:sldId id="272" r:id="rId18"/>
    <p:sldId id="300" r:id="rId19"/>
    <p:sldId id="297" r:id="rId20"/>
    <p:sldId id="284" r:id="rId21"/>
    <p:sldId id="299" r:id="rId22"/>
    <p:sldId id="277" r:id="rId23"/>
    <p:sldId id="278" r:id="rId24"/>
    <p:sldId id="279" r:id="rId25"/>
    <p:sldId id="282" r:id="rId26"/>
  </p:sldIdLst>
  <p:sldSz cx="7772400" cy="10058400"/>
  <p:notesSz cx="6858000" cy="9144000"/>
  <p:embeddedFontLst>
    <p:embeddedFont>
      <p:font typeface="Montserrat" panose="00000500000000000000" pitchFamily="2" charset="0"/>
      <p:regular r:id="rId28"/>
      <p:bold r:id="rId29"/>
      <p:italic r:id="rId30"/>
      <p:boldItalic r:id="rId31"/>
    </p:embeddedFont>
    <p:embeddedFont>
      <p:font typeface="Noto Sans" panose="020B0502040504020204" pitchFamily="34" charset="0"/>
      <p:regular r:id="rId32"/>
      <p:bold r:id="rId33"/>
      <p:italic r:id="rId34"/>
      <p:boldItalic r:id="rId35"/>
    </p:embeddedFont>
    <p:embeddedFont>
      <p:font typeface="Noto Sans Black" panose="020B0604020202020204" charset="0"/>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9FBBA6-AFD3-E048-4833-C63FEAB62A41}" v="76" dt="2026-05-13T00:00:32.610"/>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p:restoredTop sz="94759"/>
  </p:normalViewPr>
  <p:slideViewPr>
    <p:cSldViewPr snapToGrid="0">
      <p:cViewPr varScale="1">
        <p:scale>
          <a:sx n="78" d="100"/>
          <a:sy n="78" d="100"/>
        </p:scale>
        <p:origin x="3024" y="184"/>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font" Target="fonts/font1.fntdata"/><Relationship Id="rId29" Type="http://schemas.openxmlformats.org/officeDocument/2006/relationships/font" Target="fonts/font2.fntdata"/><Relationship Id="rId30" Type="http://schemas.openxmlformats.org/officeDocument/2006/relationships/font" Target="fonts/font3.fntdata"/><Relationship Id="rId31" Type="http://schemas.openxmlformats.org/officeDocument/2006/relationships/font" Target="fonts/font4.fntdata"/><Relationship Id="rId32" Type="http://schemas.openxmlformats.org/officeDocument/2006/relationships/font" Target="fonts/font5.fntdata"/><Relationship Id="rId33" Type="http://schemas.openxmlformats.org/officeDocument/2006/relationships/font" Target="fonts/font6.fntdata"/><Relationship Id="rId34" Type="http://schemas.openxmlformats.org/officeDocument/2006/relationships/font" Target="fonts/font7.fntdata"/><Relationship Id="rId35" Type="http://schemas.openxmlformats.org/officeDocument/2006/relationships/font" Target="fonts/font8.fntdata"/><Relationship Id="rId36" Type="http://schemas.openxmlformats.org/officeDocument/2006/relationships/font" Target="fonts/font9.fntdata"/><Relationship Id="rId37" Type="http://schemas.openxmlformats.org/officeDocument/2006/relationships/font" Target="fonts/font10.fntdata"/><Relationship Id="rId38" Type="http://schemas.openxmlformats.org/officeDocument/2006/relationships/font" Target="fonts/font11.fntdata"/><Relationship Id="rId46" Type="http://schemas.openxmlformats.org/officeDocument/2006/relationships/slide" Target="slides/slide26.xml"/><Relationship Id="rId47" Type="http://schemas.openxmlformats.org/officeDocument/2006/relationships/slide" Target="slides/slide27.xml"/><Relationship Id="rId48" Type="http://schemas.openxmlformats.org/officeDocument/2006/relationships/slide" Target="slides/slide28.xml"/><Relationship Id="rId49" Type="http://schemas.openxmlformats.org/officeDocument/2006/relationships/slide" Target="slides/slide29.xml"/><Relationship Id="rId50" Type="http://schemas.openxmlformats.org/officeDocument/2006/relationships/slide" Target="slides/slide30.xml"/><Relationship Id="rId52" Type="http://customschemas.google.com/relationships/presentationmetadata" Target="metadata"/><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microsoft.com/office/2016/11/relationships/changesInfo" Target="changesInfos/changesInfo1.xml"/><Relationship Id="rId5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los Esponda Rosales" userId="08a2b2cc-6d12-4dea-90fe-c484bece8186" providerId="ADAL" clId="{6846A1DD-3EC1-5A12-B3C5-9C410579EE4F}"/>
    <pc:docChg chg="addSld modSld">
      <pc:chgData name="Carlos Esponda Rosales" userId="08a2b2cc-6d12-4dea-90fe-c484bece8186" providerId="ADAL" clId="{6846A1DD-3EC1-5A12-B3C5-9C410579EE4F}" dt="2026-05-08T17:38:29.646" v="0"/>
      <pc:docMkLst>
        <pc:docMk/>
      </pc:docMkLst>
      <pc:sldChg chg="add">
        <pc:chgData name="Carlos Esponda Rosales" userId="08a2b2cc-6d12-4dea-90fe-c484bece8186" providerId="ADAL" clId="{6846A1DD-3EC1-5A12-B3C5-9C410579EE4F}" dt="2026-05-08T17:38:29.646" v="0"/>
        <pc:sldMkLst>
          <pc:docMk/>
          <pc:sldMk cId="110968613" sldId="300"/>
        </pc:sldMkLst>
      </pc:sldChg>
    </pc:docChg>
  </pc:docChgLst>
  <pc:docChgLst>
    <pc:chgData name="Edgar Rosales Ortega" userId="d1d54fc2-1570-4978-babc-e22e1526833f" providerId="ADAL" clId="{66BE7C30-C669-4152-AC74-10076FC0590C}"/>
    <pc:docChg chg="custSel modSld sldOrd">
      <pc:chgData name="Edgar Rosales Ortega" userId="d1d54fc2-1570-4978-babc-e22e1526833f" providerId="ADAL" clId="{66BE7C30-C669-4152-AC74-10076FC0590C}" dt="2026-05-07T19:26:50.356" v="94" actId="14100"/>
      <pc:docMkLst>
        <pc:docMk/>
      </pc:docMkLst>
      <pc:sldChg chg="addSp delSp modSp mod">
        <pc:chgData name="Edgar Rosales Ortega" userId="d1d54fc2-1570-4978-babc-e22e1526833f" providerId="ADAL" clId="{66BE7C30-C669-4152-AC74-10076FC0590C}" dt="2026-04-30T23:18:49.424" v="83" actId="1036"/>
        <pc:sldMkLst>
          <pc:docMk/>
          <pc:sldMk cId="0" sldId="260"/>
        </pc:sldMkLst>
        <pc:spChg chg="add mod">
          <ac:chgData name="Edgar Rosales Ortega" userId="d1d54fc2-1570-4978-babc-e22e1526833f" providerId="ADAL" clId="{66BE7C30-C669-4152-AC74-10076FC0590C}" dt="2026-04-30T23:18:49.424" v="83" actId="1036"/>
          <ac:spMkLst>
            <pc:docMk/>
            <pc:sldMk cId="0" sldId="260"/>
            <ac:spMk id="7" creationId="{47C18AA5-16CE-E9BB-B9A7-2A31CF00968A}"/>
          </ac:spMkLst>
        </pc:spChg>
        <pc:graphicFrameChg chg="add mod">
          <ac:chgData name="Edgar Rosales Ortega" userId="d1d54fc2-1570-4978-babc-e22e1526833f" providerId="ADAL" clId="{66BE7C30-C669-4152-AC74-10076FC0590C}" dt="2026-04-30T23:18:44.829" v="34" actId="1076"/>
          <ac:graphicFrameMkLst>
            <pc:docMk/>
            <pc:sldMk cId="0" sldId="260"/>
            <ac:graphicFrameMk id="5" creationId="{04FBA469-16E2-B7DE-1FA8-ECC94DD46987}"/>
          </ac:graphicFrameMkLst>
        </pc:graphicFrameChg>
        <pc:picChg chg="add mod">
          <ac:chgData name="Edgar Rosales Ortega" userId="d1d54fc2-1570-4978-babc-e22e1526833f" providerId="ADAL" clId="{66BE7C30-C669-4152-AC74-10076FC0590C}" dt="2026-04-30T23:18:49.424" v="83" actId="1036"/>
          <ac:picMkLst>
            <pc:docMk/>
            <pc:sldMk cId="0" sldId="260"/>
            <ac:picMk id="6" creationId="{5D1BEE81-670A-254B-15C8-6E5B3A507319}"/>
          </ac:picMkLst>
        </pc:picChg>
      </pc:sldChg>
      <pc:sldChg chg="addSp delSp modSp mod">
        <pc:chgData name="Edgar Rosales Ortega" userId="d1d54fc2-1570-4978-babc-e22e1526833f" providerId="ADAL" clId="{66BE7C30-C669-4152-AC74-10076FC0590C}" dt="2026-05-05T18:06:42.727" v="84" actId="164"/>
        <pc:sldMkLst>
          <pc:docMk/>
          <pc:sldMk cId="0" sldId="261"/>
        </pc:sldMkLst>
        <pc:spChg chg="add mod">
          <ac:chgData name="Edgar Rosales Ortega" userId="d1d54fc2-1570-4978-babc-e22e1526833f" providerId="ADAL" clId="{66BE7C30-C669-4152-AC74-10076FC0590C}" dt="2026-05-05T18:06:42.727" v="84" actId="164"/>
          <ac:spMkLst>
            <pc:docMk/>
            <pc:sldMk cId="0" sldId="261"/>
            <ac:spMk id="11" creationId="{15F1182A-7491-49BB-7139-9C1E73A9F6D1}"/>
          </ac:spMkLst>
        </pc:spChg>
        <pc:spChg chg="add mod">
          <ac:chgData name="Edgar Rosales Ortega" userId="d1d54fc2-1570-4978-babc-e22e1526833f" providerId="ADAL" clId="{66BE7C30-C669-4152-AC74-10076FC0590C}" dt="2026-05-05T18:06:42.727" v="84" actId="164"/>
          <ac:spMkLst>
            <pc:docMk/>
            <pc:sldMk cId="0" sldId="261"/>
            <ac:spMk id="12" creationId="{3000DFC8-3938-379A-A0FA-8B95E3630C2A}"/>
          </ac:spMkLst>
        </pc:spChg>
        <pc:spChg chg="add mod">
          <ac:chgData name="Edgar Rosales Ortega" userId="d1d54fc2-1570-4978-babc-e22e1526833f" providerId="ADAL" clId="{66BE7C30-C669-4152-AC74-10076FC0590C}" dt="2026-05-05T18:06:42.727" v="84" actId="164"/>
          <ac:spMkLst>
            <pc:docMk/>
            <pc:sldMk cId="0" sldId="261"/>
            <ac:spMk id="13" creationId="{7F2F59B8-8A70-F74F-07A3-3BF3795A5D32}"/>
          </ac:spMkLst>
        </pc:spChg>
        <pc:spChg chg="add mod">
          <ac:chgData name="Edgar Rosales Ortega" userId="d1d54fc2-1570-4978-babc-e22e1526833f" providerId="ADAL" clId="{66BE7C30-C669-4152-AC74-10076FC0590C}" dt="2026-05-05T18:06:42.727" v="84" actId="164"/>
          <ac:spMkLst>
            <pc:docMk/>
            <pc:sldMk cId="0" sldId="261"/>
            <ac:spMk id="14" creationId="{9B822026-9942-8E1F-C557-93F7219EFC46}"/>
          </ac:spMkLst>
        </pc:spChg>
        <pc:spChg chg="add mod">
          <ac:chgData name="Edgar Rosales Ortega" userId="d1d54fc2-1570-4978-babc-e22e1526833f" providerId="ADAL" clId="{66BE7C30-C669-4152-AC74-10076FC0590C}" dt="2026-05-05T18:06:42.727" v="84" actId="164"/>
          <ac:spMkLst>
            <pc:docMk/>
            <pc:sldMk cId="0" sldId="261"/>
            <ac:spMk id="16" creationId="{3BF01D4D-2266-FB4B-A92A-A8982BD85703}"/>
          </ac:spMkLst>
        </pc:spChg>
        <pc:spChg chg="add mod">
          <ac:chgData name="Edgar Rosales Ortega" userId="d1d54fc2-1570-4978-babc-e22e1526833f" providerId="ADAL" clId="{66BE7C30-C669-4152-AC74-10076FC0590C}" dt="2026-05-05T18:06:42.727" v="84" actId="164"/>
          <ac:spMkLst>
            <pc:docMk/>
            <pc:sldMk cId="0" sldId="261"/>
            <ac:spMk id="17" creationId="{A08A6AB6-5482-5BF6-3B59-969168CC9558}"/>
          </ac:spMkLst>
        </pc:spChg>
        <pc:spChg chg="add mod">
          <ac:chgData name="Edgar Rosales Ortega" userId="d1d54fc2-1570-4978-babc-e22e1526833f" providerId="ADAL" clId="{66BE7C30-C669-4152-AC74-10076FC0590C}" dt="2026-05-05T18:06:42.727" v="84" actId="164"/>
          <ac:spMkLst>
            <pc:docMk/>
            <pc:sldMk cId="0" sldId="261"/>
            <ac:spMk id="18" creationId="{7C144941-F9EA-2560-D24F-E72F845666E0}"/>
          </ac:spMkLst>
        </pc:spChg>
        <pc:grpChg chg="add mod">
          <ac:chgData name="Edgar Rosales Ortega" userId="d1d54fc2-1570-4978-babc-e22e1526833f" providerId="ADAL" clId="{66BE7C30-C669-4152-AC74-10076FC0590C}" dt="2026-05-05T18:06:42.727" v="84" actId="164"/>
          <ac:grpSpMkLst>
            <pc:docMk/>
            <pc:sldMk cId="0" sldId="261"/>
            <ac:grpSpMk id="2" creationId="{C7F762BE-3FC0-C6E7-D587-23061586B637}"/>
          </ac:grpSpMkLst>
        </pc:grpChg>
        <pc:picChg chg="add mod">
          <ac:chgData name="Edgar Rosales Ortega" userId="d1d54fc2-1570-4978-babc-e22e1526833f" providerId="ADAL" clId="{66BE7C30-C669-4152-AC74-10076FC0590C}" dt="2026-05-05T18:06:42.727" v="84" actId="164"/>
          <ac:picMkLst>
            <pc:docMk/>
            <pc:sldMk cId="0" sldId="261"/>
            <ac:picMk id="15" creationId="{D5A5FF13-ECDA-25E8-3130-DFB306A31007}"/>
          </ac:picMkLst>
        </pc:picChg>
        <pc:picChg chg="add mod">
          <ac:chgData name="Edgar Rosales Ortega" userId="d1d54fc2-1570-4978-babc-e22e1526833f" providerId="ADAL" clId="{66BE7C30-C669-4152-AC74-10076FC0590C}" dt="2026-05-05T18:06:42.727" v="84" actId="164"/>
          <ac:picMkLst>
            <pc:docMk/>
            <pc:sldMk cId="0" sldId="261"/>
            <ac:picMk id="19" creationId="{3037E67E-542B-FC8F-CE61-530C00523A91}"/>
          </ac:picMkLst>
        </pc:picChg>
      </pc:sldChg>
      <pc:sldChg chg="delSp mod">
        <pc:chgData name="Edgar Rosales Ortega" userId="d1d54fc2-1570-4978-babc-e22e1526833f" providerId="ADAL" clId="{66BE7C30-C669-4152-AC74-10076FC0590C}" dt="2026-05-07T19:26:19.367" v="87" actId="478"/>
        <pc:sldMkLst>
          <pc:docMk/>
          <pc:sldMk cId="0" sldId="262"/>
        </pc:sldMkLst>
      </pc:sldChg>
      <pc:sldChg chg="addSp delSp modSp mod">
        <pc:chgData name="Edgar Rosales Ortega" userId="d1d54fc2-1570-4978-babc-e22e1526833f" providerId="ADAL" clId="{66BE7C30-C669-4152-AC74-10076FC0590C}" dt="2026-05-07T19:26:24.720" v="89" actId="478"/>
        <pc:sldMkLst>
          <pc:docMk/>
          <pc:sldMk cId="0" sldId="263"/>
        </pc:sldMkLst>
      </pc:sldChg>
      <pc:sldChg chg="modSp mod ord">
        <pc:chgData name="Edgar Rosales Ortega" userId="d1d54fc2-1570-4978-babc-e22e1526833f" providerId="ADAL" clId="{66BE7C30-C669-4152-AC74-10076FC0590C}" dt="2026-04-30T15:57:09.727" v="29"/>
        <pc:sldMkLst>
          <pc:docMk/>
          <pc:sldMk cId="0" sldId="267"/>
        </pc:sldMkLst>
        <pc:graphicFrameChg chg="modGraphic">
          <ac:chgData name="Edgar Rosales Ortega" userId="d1d54fc2-1570-4978-babc-e22e1526833f" providerId="ADAL" clId="{66BE7C30-C669-4152-AC74-10076FC0590C}" dt="2026-04-30T00:23:30.195" v="18" actId="20577"/>
          <ac:graphicFrameMkLst>
            <pc:docMk/>
            <pc:sldMk cId="0" sldId="267"/>
            <ac:graphicFrameMk id="230" creationId="{00000000-0000-0000-0000-000000000000}"/>
          </ac:graphicFrameMkLst>
        </pc:graphicFrameChg>
      </pc:sldChg>
      <pc:sldChg chg="modSp">
        <pc:chgData name="Edgar Rosales Ortega" userId="d1d54fc2-1570-4978-babc-e22e1526833f" providerId="ADAL" clId="{66BE7C30-C669-4152-AC74-10076FC0590C}" dt="2026-05-07T19:26:32.257" v="90"/>
        <pc:sldMkLst>
          <pc:docMk/>
          <pc:sldMk cId="0" sldId="272"/>
        </pc:sldMkLst>
        <pc:graphicFrameChg chg="mod">
          <ac:chgData name="Edgar Rosales Ortega" userId="d1d54fc2-1570-4978-babc-e22e1526833f" providerId="ADAL" clId="{66BE7C30-C669-4152-AC74-10076FC0590C}" dt="2026-05-07T19:26:32.257" v="90"/>
          <ac:graphicFrameMkLst>
            <pc:docMk/>
            <pc:sldMk cId="0" sldId="272"/>
            <ac:graphicFrameMk id="347" creationId="{00000000-0000-0000-0000-000000000000}"/>
          </ac:graphicFrameMkLst>
        </pc:graphicFrameChg>
      </pc:sldChg>
      <pc:sldChg chg="addSp delSp modSp mod">
        <pc:chgData name="Edgar Rosales Ortega" userId="d1d54fc2-1570-4978-babc-e22e1526833f" providerId="ADAL" clId="{66BE7C30-C669-4152-AC74-10076FC0590C}" dt="2026-05-05T18:06:59.385" v="86" actId="1076"/>
        <pc:sldMkLst>
          <pc:docMk/>
          <pc:sldMk cId="0" sldId="279"/>
        </pc:sldMkLst>
        <pc:spChg chg="add mod">
          <ac:chgData name="Edgar Rosales Ortega" userId="d1d54fc2-1570-4978-babc-e22e1526833f" providerId="ADAL" clId="{66BE7C30-C669-4152-AC74-10076FC0590C}" dt="2026-04-30T16:31:24.669" v="30" actId="1076"/>
          <ac:spMkLst>
            <pc:docMk/>
            <pc:sldMk cId="0" sldId="279"/>
            <ac:spMk id="2" creationId="{2CDE77CF-0CB7-B059-0698-44B3FD6C4492}"/>
          </ac:spMkLst>
        </pc:spChg>
        <pc:spChg chg="mod">
          <ac:chgData name="Edgar Rosales Ortega" userId="d1d54fc2-1570-4978-babc-e22e1526833f" providerId="ADAL" clId="{66BE7C30-C669-4152-AC74-10076FC0590C}" dt="2026-05-05T18:06:59.385" v="86" actId="1076"/>
          <ac:spMkLst>
            <pc:docMk/>
            <pc:sldMk cId="0" sldId="279"/>
            <ac:spMk id="500" creationId="{00000000-0000-0000-0000-000000000000}"/>
          </ac:spMkLst>
        </pc:spChg>
      </pc:sldChg>
      <pc:sldChg chg="modSp mod ord">
        <pc:chgData name="Edgar Rosales Ortega" userId="d1d54fc2-1570-4978-babc-e22e1526833f" providerId="ADAL" clId="{66BE7C30-C669-4152-AC74-10076FC0590C}" dt="2026-04-30T15:57:06.914" v="27"/>
        <pc:sldMkLst>
          <pc:docMk/>
          <pc:sldMk cId="540716406" sldId="280"/>
        </pc:sldMkLst>
        <pc:graphicFrameChg chg="modGraphic">
          <ac:chgData name="Edgar Rosales Ortega" userId="d1d54fc2-1570-4978-babc-e22e1526833f" providerId="ADAL" clId="{66BE7C30-C669-4152-AC74-10076FC0590C}" dt="2026-04-30T00:23:33.475" v="19" actId="20577"/>
          <ac:graphicFrameMkLst>
            <pc:docMk/>
            <pc:sldMk cId="540716406" sldId="280"/>
            <ac:graphicFrameMk id="230" creationId="{64EDC3BC-A199-227A-0CEC-FB808E16739F}"/>
          </ac:graphicFrameMkLst>
        </pc:graphicFrameChg>
      </pc:sldChg>
      <pc:sldChg chg="addSp delSp modSp mod">
        <pc:chgData name="Edgar Rosales Ortega" userId="d1d54fc2-1570-4978-babc-e22e1526833f" providerId="ADAL" clId="{66BE7C30-C669-4152-AC74-10076FC0590C}" dt="2026-05-05T18:06:47.666" v="85" actId="478"/>
        <pc:sldMkLst>
          <pc:docMk/>
          <pc:sldMk cId="3828482411" sldId="281"/>
        </pc:sldMkLst>
      </pc:sldChg>
      <pc:sldChg chg="modSp mod">
        <pc:chgData name="Edgar Rosales Ortega" userId="d1d54fc2-1570-4978-babc-e22e1526833f" providerId="ADAL" clId="{66BE7C30-C669-4152-AC74-10076FC0590C}" dt="2026-05-07T19:26:50.356" v="94" actId="14100"/>
        <pc:sldMkLst>
          <pc:docMk/>
          <pc:sldMk cId="364733940" sldId="284"/>
        </pc:sldMkLst>
        <pc:picChg chg="mod">
          <ac:chgData name="Edgar Rosales Ortega" userId="d1d54fc2-1570-4978-babc-e22e1526833f" providerId="ADAL" clId="{66BE7C30-C669-4152-AC74-10076FC0590C}" dt="2026-05-07T19:26:50.356" v="94" actId="14100"/>
          <ac:picMkLst>
            <pc:docMk/>
            <pc:sldMk cId="364733940" sldId="284"/>
            <ac:picMk id="2" creationId="{1B5687F4-45A0-92B4-9653-1598AF1BC42E}"/>
          </ac:picMkLst>
        </pc:picChg>
      </pc:sldChg>
      <pc:sldChg chg="modSp mod ord">
        <pc:chgData name="Edgar Rosales Ortega" userId="d1d54fc2-1570-4978-babc-e22e1526833f" providerId="ADAL" clId="{66BE7C30-C669-4152-AC74-10076FC0590C}" dt="2026-04-30T15:57:02.651" v="25"/>
        <pc:sldMkLst>
          <pc:docMk/>
          <pc:sldMk cId="748044913" sldId="287"/>
        </pc:sldMkLst>
        <pc:graphicFrameChg chg="modGraphic">
          <ac:chgData name="Edgar Rosales Ortega" userId="d1d54fc2-1570-4978-babc-e22e1526833f" providerId="ADAL" clId="{66BE7C30-C669-4152-AC74-10076FC0590C}" dt="2026-04-30T00:23:36.379" v="20" actId="20577"/>
          <ac:graphicFrameMkLst>
            <pc:docMk/>
            <pc:sldMk cId="748044913" sldId="287"/>
            <ac:graphicFrameMk id="230" creationId="{AC3C5A3E-612D-5067-1D46-BCA5AE81D01D}"/>
          </ac:graphicFrameMkLst>
        </pc:graphicFrameChg>
      </pc:sldChg>
      <pc:sldChg chg="modSp mod">
        <pc:chgData name="Edgar Rosales Ortega" userId="d1d54fc2-1570-4978-babc-e22e1526833f" providerId="ADAL" clId="{66BE7C30-C669-4152-AC74-10076FC0590C}" dt="2026-05-07T19:26:44.422" v="93" actId="14100"/>
        <pc:sldMkLst>
          <pc:docMk/>
          <pc:sldMk cId="3240565764" sldId="297"/>
        </pc:sldMkLst>
        <pc:picChg chg="mod">
          <ac:chgData name="Edgar Rosales Ortega" userId="d1d54fc2-1570-4978-babc-e22e1526833f" providerId="ADAL" clId="{66BE7C30-C669-4152-AC74-10076FC0590C}" dt="2026-05-07T19:26:44.422" v="93" actId="14100"/>
          <ac:picMkLst>
            <pc:docMk/>
            <pc:sldMk cId="3240565764" sldId="297"/>
            <ac:picMk id="5" creationId="{4689FF38-8CFA-FB37-4E7B-B5603B7FC116}"/>
          </ac:picMkLst>
        </pc:picChg>
      </pc:sldChg>
      <pc:sldChg chg="ord">
        <pc:chgData name="Edgar Rosales Ortega" userId="d1d54fc2-1570-4978-babc-e22e1526833f" providerId="ADAL" clId="{66BE7C30-C669-4152-AC74-10076FC0590C}" dt="2026-04-17T20:43:43.232" v="1"/>
        <pc:sldMkLst>
          <pc:docMk/>
          <pc:sldMk cId="3609473420" sldId="298"/>
        </pc:sldMkLst>
      </pc:sldChg>
    </pc:docChg>
  </pc:docChgLst>
  <pc:docChgLst>
    <pc:chgData name="Gerardo Jahir Lara Garcia" userId="S::gerardo.larag@imss.gob.mx::84d5cd65-4601-4e92-b448-a9da4809e012" providerId="AD" clId="Web-{7D9FBBA6-AFD3-E048-4833-C63FEAB62A41}"/>
    <pc:docChg chg="modSld">
      <pc:chgData name="Gerardo Jahir Lara Garcia" userId="S::gerardo.larag@imss.gob.mx::84d5cd65-4601-4e92-b448-a9da4809e012" providerId="AD" clId="Web-{7D9FBBA6-AFD3-E048-4833-C63FEAB62A41}" dt="2026-05-13T00:00:32.610" v="46" actId="1076"/>
      <pc:docMkLst>
        <pc:docMk/>
      </pc:docMkLst>
      <pc:sldChg chg="addSp delSp modSp">
        <pc:chgData name="Gerardo Jahir Lara Garcia" userId="S::gerardo.larag@imss.gob.mx::84d5cd65-4601-4e92-b448-a9da4809e012" providerId="AD" clId="Web-{7D9FBBA6-AFD3-E048-4833-C63FEAB62A41}" dt="2026-05-13T00:00:32.610" v="46" actId="1076"/>
        <pc:sldMkLst>
          <pc:docMk/>
          <pc:sldMk cId="364733940" sldId="284"/>
        </pc:sldMkLst>
        <pc:spChg chg="add mod">
          <ac:chgData name="Gerardo Jahir Lara Garcia" userId="S::gerardo.larag@imss.gob.mx::84d5cd65-4601-4e92-b448-a9da4809e012" providerId="AD" clId="Web-{7D9FBBA6-AFD3-E048-4833-C63FEAB62A41}" dt="2026-05-13T00:00:04.844" v="21" actId="20577"/>
          <ac:spMkLst>
            <pc:docMk/>
            <pc:sldMk cId="364733940" sldId="284"/>
            <ac:spMk id="3" creationId="{ABCC6279-D2EB-1F1F-D811-3FFF80887FF1}"/>
          </ac:spMkLst>
        </pc:spChg>
        <pc:spChg chg="add mod">
          <ac:chgData name="Gerardo Jahir Lara Garcia" userId="S::gerardo.larag@imss.gob.mx::84d5cd65-4601-4e92-b448-a9da4809e012" providerId="AD" clId="Web-{7D9FBBA6-AFD3-E048-4833-C63FEAB62A41}" dt="2026-05-13T00:00:32.610" v="46" actId="1076"/>
          <ac:spMkLst>
            <pc:docMk/>
            <pc:sldMk cId="364733940" sldId="284"/>
            <ac:spMk id="6" creationId="{4578A0AA-9DC1-3453-263A-76BE5A8BE282}"/>
          </ac:spMkLst>
        </pc:spChg>
        <pc:spChg chg="add del">
          <ac:chgData name="Gerardo Jahir Lara Garcia" userId="S::gerardo.larag@imss.gob.mx::84d5cd65-4601-4e92-b448-a9da4809e012" providerId="AD" clId="Web-{7D9FBBA6-AFD3-E048-4833-C63FEAB62A41}" dt="2026-05-12T23:59:53.218" v="16"/>
          <ac:spMkLst>
            <pc:docMk/>
            <pc:sldMk cId="364733940" sldId="284"/>
            <ac:spMk id="9" creationId="{907F7F6F-8FF8-56A0-795F-B2A127C97D4D}"/>
          </ac:spMkLst>
        </pc:spChg>
        <pc:spChg chg="add del">
          <ac:chgData name="Gerardo Jahir Lara Garcia" userId="S::gerardo.larag@imss.gob.mx::84d5cd65-4601-4e92-b448-a9da4809e012" providerId="AD" clId="Web-{7D9FBBA6-AFD3-E048-4833-C63FEAB62A41}" dt="2026-05-12T23:59:53.218" v="14"/>
          <ac:spMkLst>
            <pc:docMk/>
            <pc:sldMk cId="364733940" sldId="284"/>
            <ac:spMk id="11" creationId="{2C157DF6-A7FD-940D-19DA-323ACD68454D}"/>
          </ac:spMkLst>
        </pc:spChg>
        <pc:picChg chg="add">
          <ac:chgData name="Gerardo Jahir Lara Garcia" userId="S::gerardo.larag@imss.gob.mx::84d5cd65-4601-4e92-b448-a9da4809e012" providerId="AD" clId="Web-{7D9FBBA6-AFD3-E048-4833-C63FEAB62A41}" dt="2026-05-12T23:58:48.779" v="1"/>
          <ac:picMkLst>
            <pc:docMk/>
            <pc:sldMk cId="364733940" sldId="284"/>
            <ac:picMk id="4" creationId="{488C755F-8E2D-8CE1-6C1B-6DBB55EE2CD3}"/>
          </ac:picMkLst>
        </pc:picChg>
        <pc:picChg chg="add del">
          <ac:chgData name="Gerardo Jahir Lara Garcia" userId="S::gerardo.larag@imss.gob.mx::84d5cd65-4601-4e92-b448-a9da4809e012" providerId="AD" clId="Web-{7D9FBBA6-AFD3-E048-4833-C63FEAB62A41}" dt="2026-05-12T23:59:53.218" v="17"/>
          <ac:picMkLst>
            <pc:docMk/>
            <pc:sldMk cId="364733940" sldId="284"/>
            <ac:picMk id="8" creationId="{4F2E1097-3694-6090-CBA5-667DCD67E48E}"/>
          </ac:picMkLst>
        </pc:picChg>
        <pc:picChg chg="add del">
          <ac:chgData name="Gerardo Jahir Lara Garcia" userId="S::gerardo.larag@imss.gob.mx::84d5cd65-4601-4e92-b448-a9da4809e012" providerId="AD" clId="Web-{7D9FBBA6-AFD3-E048-4833-C63FEAB62A41}" dt="2026-05-12T23:59:53.218" v="15"/>
          <ac:picMkLst>
            <pc:docMk/>
            <pc:sldMk cId="364733940" sldId="284"/>
            <ac:picMk id="10" creationId="{CA24C0E7-282C-9B96-A7B5-7554B2C6EF8D}"/>
          </ac:picMkLst>
        </pc:picChg>
      </pc:sldChg>
      <pc:sldChg chg="addSp delSp modSp">
        <pc:chgData name="Gerardo Jahir Lara Garcia" userId="S::gerardo.larag@imss.gob.mx::84d5cd65-4601-4e92-b448-a9da4809e012" providerId="AD" clId="Web-{7D9FBBA6-AFD3-E048-4833-C63FEAB62A41}" dt="2026-05-12T23:59:35.624" v="13" actId="20577"/>
        <pc:sldMkLst>
          <pc:docMk/>
          <pc:sldMk cId="3240565764" sldId="297"/>
        </pc:sldMkLst>
        <pc:spChg chg="add del">
          <ac:chgData name="Gerardo Jahir Lara Garcia" userId="S::gerardo.larag@imss.gob.mx::84d5cd65-4601-4e92-b448-a9da4809e012" providerId="AD" clId="Web-{7D9FBBA6-AFD3-E048-4833-C63FEAB62A41}" dt="2026-05-12T23:59:25.280" v="6"/>
          <ac:spMkLst>
            <pc:docMk/>
            <pc:sldMk cId="3240565764" sldId="297"/>
            <ac:spMk id="3" creationId="{21AE8FA6-CA77-F761-93C9-BF2570CBBE30}"/>
          </ac:spMkLst>
        </pc:spChg>
        <pc:spChg chg="add del">
          <ac:chgData name="Gerardo Jahir Lara Garcia" userId="S::gerardo.larag@imss.gob.mx::84d5cd65-4601-4e92-b448-a9da4809e012" providerId="AD" clId="Web-{7D9FBBA6-AFD3-E048-4833-C63FEAB62A41}" dt="2026-05-12T23:59:25.280" v="4"/>
          <ac:spMkLst>
            <pc:docMk/>
            <pc:sldMk cId="3240565764" sldId="297"/>
            <ac:spMk id="7" creationId="{FD4175D4-66CF-7FBC-B843-C149C5339DF1}"/>
          </ac:spMkLst>
        </pc:spChg>
        <pc:spChg chg="add del">
          <ac:chgData name="Gerardo Jahir Lara Garcia" userId="S::gerardo.larag@imss.gob.mx::84d5cd65-4601-4e92-b448-a9da4809e012" providerId="AD" clId="Web-{7D9FBBA6-AFD3-E048-4833-C63FEAB62A41}" dt="2026-05-12T23:59:25.280" v="2"/>
          <ac:spMkLst>
            <pc:docMk/>
            <pc:sldMk cId="3240565764" sldId="297"/>
            <ac:spMk id="9" creationId="{50F1217E-09B0-81A3-6E99-CB1DE729ADDF}"/>
          </ac:spMkLst>
        </pc:spChg>
        <pc:spChg chg="add mod">
          <ac:chgData name="Gerardo Jahir Lara Garcia" userId="S::gerardo.larag@imss.gob.mx::84d5cd65-4601-4e92-b448-a9da4809e012" providerId="AD" clId="Web-{7D9FBBA6-AFD3-E048-4833-C63FEAB62A41}" dt="2026-05-12T23:59:32.561" v="9" actId="1076"/>
          <ac:spMkLst>
            <pc:docMk/>
            <pc:sldMk cId="3240565764" sldId="297"/>
            <ac:spMk id="10" creationId="{991C7EE4-1170-AC4C-597D-3383D8E8A8F9}"/>
          </ac:spMkLst>
        </pc:spChg>
        <pc:spChg chg="add mod">
          <ac:chgData name="Gerardo Jahir Lara Garcia" userId="S::gerardo.larag@imss.gob.mx::84d5cd65-4601-4e92-b448-a9da4809e012" providerId="AD" clId="Web-{7D9FBBA6-AFD3-E048-4833-C63FEAB62A41}" dt="2026-05-12T23:59:35.624" v="13" actId="20577"/>
          <ac:spMkLst>
            <pc:docMk/>
            <pc:sldMk cId="3240565764" sldId="297"/>
            <ac:spMk id="12" creationId="{CA535D92-E281-11D7-D7CB-F8BAB9F176B8}"/>
          </ac:spMkLst>
        </pc:spChg>
        <pc:spChg chg="add">
          <ac:chgData name="Gerardo Jahir Lara Garcia" userId="S::gerardo.larag@imss.gob.mx::84d5cd65-4601-4e92-b448-a9da4809e012" providerId="AD" clId="Web-{7D9FBBA6-AFD3-E048-4833-C63FEAB62A41}" dt="2026-05-12T23:58:39.278" v="0"/>
          <ac:spMkLst>
            <pc:docMk/>
            <pc:sldMk cId="3240565764" sldId="297"/>
            <ac:spMk id="13" creationId="{B9C2E918-974F-A566-8C8B-5DDE4ED4290B}"/>
          </ac:spMkLst>
        </pc:spChg>
        <pc:spChg chg="add">
          <ac:chgData name="Gerardo Jahir Lara Garcia" userId="S::gerardo.larag@imss.gob.mx::84d5cd65-4601-4e92-b448-a9da4809e012" providerId="AD" clId="Web-{7D9FBBA6-AFD3-E048-4833-C63FEAB62A41}" dt="2026-05-12T23:58:39.278" v="0"/>
          <ac:spMkLst>
            <pc:docMk/>
            <pc:sldMk cId="3240565764" sldId="297"/>
            <ac:spMk id="15" creationId="{A0083CC0-370A-999A-F425-0B0E05DEB5CF}"/>
          </ac:spMkLst>
        </pc:spChg>
        <pc:picChg chg="add del">
          <ac:chgData name="Gerardo Jahir Lara Garcia" userId="S::gerardo.larag@imss.gob.mx::84d5cd65-4601-4e92-b448-a9da4809e012" providerId="AD" clId="Web-{7D9FBBA6-AFD3-E048-4833-C63FEAB62A41}" dt="2026-05-12T23:59:25.280" v="5"/>
          <ac:picMkLst>
            <pc:docMk/>
            <pc:sldMk cId="3240565764" sldId="297"/>
            <ac:picMk id="4" creationId="{AE9FD96F-084C-5DEE-6966-05F8D1633A42}"/>
          </ac:picMkLst>
        </pc:picChg>
        <pc:picChg chg="del">
          <ac:chgData name="Gerardo Jahir Lara Garcia" userId="S::gerardo.larag@imss.gob.mx::84d5cd65-4601-4e92-b448-a9da4809e012" providerId="AD" clId="Web-{7D9FBBA6-AFD3-E048-4833-C63FEAB62A41}" dt="2026-05-12T23:59:25.280" v="3"/>
          <ac:picMkLst>
            <pc:docMk/>
            <pc:sldMk cId="3240565764" sldId="297"/>
            <ac:picMk id="8" creationId="{170CBE01-E044-2F44-556A-69D0B561DC01}"/>
          </ac:picMkLst>
        </pc:picChg>
        <pc:picChg chg="add mod">
          <ac:chgData name="Gerardo Jahir Lara Garcia" userId="S::gerardo.larag@imss.gob.mx::84d5cd65-4601-4e92-b448-a9da4809e012" providerId="AD" clId="Web-{7D9FBBA6-AFD3-E048-4833-C63FEAB62A41}" dt="2026-05-12T23:59:32.577" v="10" actId="1076"/>
          <ac:picMkLst>
            <pc:docMk/>
            <pc:sldMk cId="3240565764" sldId="297"/>
            <ac:picMk id="11" creationId="{F7B31A16-FD1A-331A-6F76-259EB810FD76}"/>
          </ac:picMkLst>
        </pc:picChg>
        <pc:picChg chg="add">
          <ac:chgData name="Gerardo Jahir Lara Garcia" userId="S::gerardo.larag@imss.gob.mx::84d5cd65-4601-4e92-b448-a9da4809e012" providerId="AD" clId="Web-{7D9FBBA6-AFD3-E048-4833-C63FEAB62A41}" dt="2026-05-12T23:58:39.278" v="0"/>
          <ac:picMkLst>
            <pc:docMk/>
            <pc:sldMk cId="3240565764" sldId="297"/>
            <ac:picMk id="14" creationId="{C365C7D6-999E-5396-FE1A-9AF265B06DAC}"/>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006455"/>
              </a:solidFill>
            </c:spPr>
          </c:dPt>
          <c:dPt>
            <c:idx val="1"/>
            <c:spPr>
              <a:solidFill>
                <a:srgbClr val="549ECF"/>
              </a:solidFill>
            </c:spPr>
          </c:dPt>
          <c:dPt>
            <c:idx val="2"/>
            <c:spPr>
              <a:solidFill>
                <a:srgbClr val="691C32"/>
              </a:solidFill>
            </c:spPr>
          </c:dPt>
          <c:dPt>
            <c:idx val="3"/>
            <c:spPr>
              <a:solidFill>
                <a:srgbClr val="BC955C"/>
              </a:solidFill>
            </c:spPr>
          </c:dPt>
          <c:dPt>
            <c:idx val="4"/>
            <c:spPr>
              <a:solidFill>
                <a:srgbClr val="9E9E9E"/>
              </a:solidFill>
            </c:spPr>
          </c:dPt>
          <c:cat>
            <c:strRef>
              <c:f>Sheet1!$A$2:$A$6</c:f>
              <c:strCache>
                <c:ptCount val="5"/>
                <c:pt idx="0">
                  <c:v>IMSS</c:v>
                </c:pt>
                <c:pt idx="1">
                  <c:v>IMSS Coplamar</c:v>
                </c:pt>
                <c:pt idx="2">
                  <c:v>ISSSTE</c:v>
                </c:pt>
                <c:pt idx="3">
                  <c:v>IMSS-BIENESTAR</c:v>
                </c:pt>
                <c:pt idx="4">
                  <c:v>Otros</c:v>
                </c:pt>
              </c:strCache>
            </c:strRef>
          </c:cat>
          <c:val>
            <c:numRef>
              <c:f>Sheet1!$B$2:$B$6</c:f>
              <c:numCache>
                <c:formatCode>General</c:formatCode>
                <c:ptCount val="5"/>
                <c:pt idx="0">
                  <c:v>2062734.0</c:v>
                </c:pt>
                <c:pt idx="1">
                  <c:v>244977.0</c:v>
                </c:pt>
                <c:pt idx="2">
                  <c:v>419881.0</c:v>
                </c:pt>
                <c:pt idx="3">
                  <c:v>946342.0</c:v>
                </c:pt>
                <c:pt idx="4">
                  <c:v>103538.0</c:v>
                </c:pt>
              </c:numCache>
            </c:numRef>
          </c:val>
        </c:ser>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42.59620110084529</c:v>
                </c:pt>
                <c:pt idx="1">
                  <c:v>57.40379889915471</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title>
      <c:layout/>
      <c:overlay val="0"/>
    </c:title>
    <c:autoTitleDeleted val="0"/>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10.201812022999999</c:v>
                </c:pt>
                <c:pt idx="1">
                  <c:v>89.798187977</c:v>
                </c:pt>
              </c:numCache>
            </c:numRef>
          </c:val>
        </c:ser>
        <c:dLbls>
          <c:showLegendKey val="0"/>
          <c:showVal val="0"/>
          <c:showCatName val="0"/>
          <c:showSerName val="0"/>
          <c:showPercent val="0"/>
          <c:showBubbleSize val="0"/>
          <c:showLeaderLines val="1"/>
        </c:dLbls>
        <c:firstSliceAng val="0"/>
        <c:holeSize val="70"/>
      </c:doughnutChart>
      <c:autoTitleDeleted val="1"/>
    </c:plotArea>
    <c:plotVisOnly val="1"/>
    <c:dispBlanksAs val="gap"/>
    <c:showDLblsOverMax val="0"/>
  </c:chart>
  <c:txPr>
    <a:bodyPr/>
    <a:lstStyle/>
    <a:p>
      <a:pPr>
        <a:defRPr sz="1800"/>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41.319258216969644</c:v>
                </c:pt>
                <c:pt idx="1">
                  <c:v>58.680741783030356</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38.54986221494469</c:v>
                </c:pt>
                <c:pt idx="1">
                  <c:v>61.45013778505531</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c:pt>
              </c:strCache>
            </c:strRef>
          </c:tx>
          <c:spPr>
            <a:solidFill>
              <a:srgbClr val="006455"/>
            </a:solidFill>
          </c:spPr>
          <c:dPt>
            <c:idx val="3"/>
            <c:spPr>
              <a:solidFill>
                <a:srgbClr val="691C32"/>
              </a:solidFill>
            </c:spPr>
          </c:dPt>
          <c:cat>
            <c:strRef>
              <c:f>Sheet1!$A$2:$A$5</c:f>
              <c:strCache>
                <c:ptCount val="4"/>
                <c:pt idx="0">
                  <c:v>2018</c:v>
                </c:pt>
                <c:pt idx="1">
                  <c:v>2024</c:v>
                </c:pt>
                <c:pt idx="2">
                  <c:v>2025</c:v>
                </c:pt>
                <c:pt idx="3">
                  <c:v>2026</c:v>
                </c:pt>
              </c:strCache>
            </c:strRef>
          </c:cat>
          <c:val>
            <c:numRef>
              <c:f>Sheet1!$B$2:$B$5</c:f>
              <c:numCache>
                <c:formatCode>General</c:formatCode>
                <c:ptCount val="4"/>
                <c:pt idx="0">
                  <c:v>89</c:v>
                </c:pt>
                <c:pt idx="1">
                  <c:v>156</c:v>
                </c:pt>
                <c:pt idx="2">
                  <c:v>131</c:v>
                </c:pt>
                <c:pt idx="3">
                  <c:v>128</c:v>
                </c:pt>
              </c:numCache>
            </c:numRef>
          </c:val>
        </c:ser>
        <c:dLbls>
          <c:numFmt formatCode="#,##0" sourceLinked="0"/>
          <c:txPr>
            <a:bodyPr/>
            <a:lstStyle/>
            <a:p>
              <a:pPr>
                <a:defRPr sz="1000" b="1">
                  <a:solidFill>
                    <a:srgbClr val="FFFFFF"/>
                  </a:solidFill>
                  <a:latin typeface="Montserrat"/>
                </a:defRPr>
              </a:pPr>
            </a:p>
          </c:txPr>
          <c:dLblPos val="in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spPr>
          <a:ln>
            <a:solidFill>
              <a:srgbClr val="C8C8C8"/>
            </a:solidFill>
          </a:ln>
        </c:spPr>
        <c:txPr>
          <a:bodyPr/>
          <a:lstStyle/>
          <a:p>
            <a:pPr>
              <a:defRPr sz="1000" b="0">
                <a:latin typeface="Montserrat"/>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Mes Anterior</c:v>
                </c:pt>
              </c:strCache>
            </c:strRef>
          </c:tx>
          <c:spPr>
            <a:solidFill>
              <a:srgbClr val="006455"/>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Servicios para Empresas, Personas y el Hogar</c:v>
                </c:pt>
                <c:pt idx="1">
                  <c:v>Industrias Extractivas</c:v>
                </c:pt>
                <c:pt idx="2">
                  <c:v>Transportes y Comunicaciones</c:v>
                </c:pt>
                <c:pt idx="3">
                  <c:v>Industrias de la Transformación</c:v>
                </c:pt>
                <c:pt idx="4">
                  <c:v>Agricultura, Ganaderia, Silvicultura, Pesca y Caza</c:v>
                </c:pt>
                <c:pt idx="5">
                  <c:v>Servicios Sociales y Comunales</c:v>
                </c:pt>
                <c:pt idx="6">
                  <c:v>Ind Eléctrica y Captación y Suministro de Agua Potable</c:v>
                </c:pt>
                <c:pt idx="7">
                  <c:v>Comercio</c:v>
                </c:pt>
                <c:pt idx="8">
                  <c:v>Industria de la Construcción</c:v>
                </c:pt>
              </c:strCache>
            </c:strRef>
          </c:cat>
          <c:val>
            <c:numRef>
              <c:f>Sheet1!$B$2:$B$10</c:f>
              <c:numCache>
                <c:formatCode>General</c:formatCode>
                <c:ptCount val="9"/>
                <c:pt idx="0">
                  <c:v>81586</c:v>
                </c:pt>
                <c:pt idx="1">
                  <c:v>1447</c:v>
                </c:pt>
                <c:pt idx="2">
                  <c:v>77275</c:v>
                </c:pt>
                <c:pt idx="3">
                  <c:v>289642</c:v>
                </c:pt>
                <c:pt idx="4">
                  <c:v>9442</c:v>
                </c:pt>
                <c:pt idx="5">
                  <c:v>54268</c:v>
                </c:pt>
                <c:pt idx="6">
                  <c:v>9970</c:v>
                </c:pt>
                <c:pt idx="7">
                  <c:v>130238</c:v>
                </c:pt>
                <c:pt idx="8">
                  <c:v>42116</c:v>
                </c:pt>
              </c:numCache>
            </c:numRef>
          </c:val>
        </c:ser>
        <c:ser>
          <c:idx val="1"/>
          <c:order val="1"/>
          <c:tx>
            <c:strRef>
              <c:f>Sheet1!$C$1</c:f>
              <c:strCache>
                <c:ptCount val="1"/>
                <c:pt idx="0">
                  <c:v>Mes Actual</c:v>
                </c:pt>
              </c:strCache>
            </c:strRef>
          </c:tx>
          <c:spPr>
            <a:solidFill>
              <a:srgbClr val="9F2241"/>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Servicios para Empresas, Personas y el Hogar</c:v>
                </c:pt>
                <c:pt idx="1">
                  <c:v>Industrias Extractivas</c:v>
                </c:pt>
                <c:pt idx="2">
                  <c:v>Transportes y Comunicaciones</c:v>
                </c:pt>
                <c:pt idx="3">
                  <c:v>Industrias de la Transformación</c:v>
                </c:pt>
                <c:pt idx="4">
                  <c:v>Agricultura, Ganaderia, Silvicultura, Pesca y Caza</c:v>
                </c:pt>
                <c:pt idx="5">
                  <c:v>Servicios Sociales y Comunales</c:v>
                </c:pt>
                <c:pt idx="6">
                  <c:v>Ind Eléctrica y Captación y Suministro de Agua Potable</c:v>
                </c:pt>
                <c:pt idx="7">
                  <c:v>Comercio</c:v>
                </c:pt>
                <c:pt idx="8">
                  <c:v>Industria de la Construcción</c:v>
                </c:pt>
              </c:strCache>
            </c:strRef>
          </c:cat>
          <c:val>
            <c:numRef>
              <c:f>Sheet1!$C$2:$C$10</c:f>
              <c:numCache>
                <c:formatCode>General</c:formatCode>
                <c:ptCount val="9"/>
                <c:pt idx="0">
                  <c:v>76611</c:v>
                </c:pt>
                <c:pt idx="1">
                  <c:v>1368</c:v>
                </c:pt>
                <c:pt idx="2">
                  <c:v>73075</c:v>
                </c:pt>
                <c:pt idx="3">
                  <c:v>278905</c:v>
                </c:pt>
                <c:pt idx="4">
                  <c:v>9239</c:v>
                </c:pt>
                <c:pt idx="5">
                  <c:v>54557</c:v>
                </c:pt>
                <c:pt idx="6">
                  <c:v>10047</c:v>
                </c:pt>
                <c:pt idx="7">
                  <c:v>133187</c:v>
                </c:pt>
                <c:pt idx="8">
                  <c:v>44118</c:v>
                </c:pt>
              </c:numCache>
            </c:numRef>
          </c:val>
        </c:ser>
        <c:gapWidth val="50"/>
        <c:axId val="-2068027336"/>
        <c:axId val="-2113994440"/>
      </c:barChart>
      <c:catAx>
        <c:axId val="-2068027336"/>
        <c:scaling>
          <c:orientation val="maxMin"/>
        </c:scaling>
        <c:delete val="0"/>
        <c:axPos val="l"/>
        <c:majorTickMark val="out"/>
        <c:minorTickMark val="none"/>
        <c:tickLblPos val="nextTo"/>
        <c:txPr>
          <a:bodyPr/>
          <a:lstStyle/>
          <a:p>
            <a:pPr>
              <a:defRPr sz="700" b="1">
                <a:solidFill>
                  <a:srgbClr val="000000"/>
                </a:solidFill>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c:v>
                </c:pt>
              </c:strCache>
            </c:strRef>
          </c:tx>
          <c:spPr>
            <a:solidFill>
              <a:srgbClr val="006455"/>
            </a:solidFill>
          </c:spPr>
          <c:dLbls>
            <c:numFmt formatCode="#,##0" sourceLinked="0"/>
            <c:txPr>
              <a:bodyPr/>
              <a:lstStyle/>
              <a:p>
                <a:pPr>
                  <a:defRPr sz="1000" b="1">
                    <a:solidFill>
                      <a:srgbClr val="006455"/>
                    </a:solidFill>
                    <a:latin typeface="Montserrat"/>
                  </a:defRPr>
                </a:pPr>
              </a:p>
            </c:txPr>
            <c:showLegendKey val="0"/>
            <c:showVal val="1"/>
            <c:showCatName val="0"/>
            <c:showSerName val="0"/>
            <c:showPercent val="0"/>
            <c:showBubbleSize val="0"/>
            <c:showLeaderLines val="1"/>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662440</c:v>
                </c:pt>
                <c:pt idx="1">
                  <c:v>678244</c:v>
                </c:pt>
                <c:pt idx="2">
                  <c:v>664641</c:v>
                </c:pt>
                <c:pt idx="3">
                  <c:v>666983</c:v>
                </c:pt>
                <c:pt idx="4">
                  <c:v>696239</c:v>
                </c:pt>
                <c:pt idx="5">
                  <c:v>697273</c:v>
                </c:pt>
                <c:pt idx="6">
                  <c:v>701314</c:v>
                </c:pt>
                <c:pt idx="7">
                  <c:v>695984</c:v>
                </c:pt>
                <c:pt idx="8">
                  <c:v>681107</c:v>
                </c:pt>
              </c:numCache>
            </c:numRef>
          </c:val>
        </c:ser>
        <c:gapWidth val="5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0e475fb19_0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70e475fb19_0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0e87ffe7a_2_13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02DA1AD-DC59-3000-7A33-461D8414CF15}"/>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8B2E3E8A-1EC6-D995-AC17-846CE9C51586}"/>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55E2556A-7BF8-3E42-359D-76358D9BCBBF}"/>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09489A0A-9EDD-DF26-612E-143D64D53E0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19</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67157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6748FD04-E291-0974-F4E5-FC419EB554C3}"/>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023253F0-14D4-7F0B-EE6E-A818859FFABB}"/>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471D9D08-AB58-0AA1-FB4E-ED2CE9BA972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9D7235F3-FF7F-6E66-9B6F-24EAFC762A0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20</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6462116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99F6AE50-7516-062A-8150-10B1F45D6F28}"/>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9480E368-56B1-0B8B-C173-5B48C9CF4D30}"/>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1B9C63BB-C6A9-A587-325E-C12C2D94C1F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A359AA88-700C-9A17-FB2E-8A8735D21CF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21</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679420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370e87ffe7a_0_0: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g370e87ffe7a_0_0: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504" name="Google Shape;504;g370e87ffe7a_0_0: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chart" Target="../charts/chart1.xml"/><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image" Target="../media/image2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hyperlink" Target="https://oem.com.mx/elsoldetampico/ciencia-y-salud/se-cumplen-73-anos-del-imss-en-tamaulipas-historia-logros-y-futuro-13331569" TargetMode="External"/><Relationship Id="rId6" Type="http://schemas.openxmlformats.org/officeDocument/2006/relationships/image" Target="../media/image3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chart" Target="../charts/char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3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chart" Target="../charts/char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22.png"/><Relationship Id="rId5" Type="http://schemas.openxmlformats.org/officeDocument/2006/relationships/chart" Target="../charts/char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Tamaulipas</a:t>
            </a:r>
          </a:p>
        </p:txBody>
      </p:sp>
      <p:sp>
        <p:nvSpPr>
          <p:cNvPr id="70" name="TextBox 69"/>
          <p:cNvSpPr txBox="1"/>
          <p:nvPr/>
        </p:nvSpPr>
        <p:spPr>
          <a:xfrm>
            <a:off x="0" y="5472000"/>
            <a:ext cx="7772400" cy="554400"/>
          </a:xfrm>
          <a:prstGeom prst="rect">
            <a:avLst/>
          </a:prstGeom>
          <a:noFill/>
        </p:spPr>
        <p:txBody>
          <a:bodyPr wrap="none">
            <a:spAutoFit/>
          </a:bodyPr>
          <a:lstStyle/>
          <a:p>
            <a:pPr algn="ctr">
              <a:defRPr sz="1500" b="0">
                <a:solidFill>
                  <a:srgbClr val="7F7F7F"/>
                </a:solidFill>
                <a:latin typeface="Montserrat"/>
              </a:defRPr>
            </a:pPr>
            <a:r>
              <a:t>Ficha Estatal</a:t>
            </a:r>
          </a:p>
          <a:p>
            <a:pPr algn="ctr">
              <a:defRPr sz="1500" b="1">
                <a:solidFill>
                  <a:srgbClr val="7F7F7F"/>
                </a:solidFill>
                <a:latin typeface="Montserrat"/>
              </a:defRPr>
            </a:pPr>
            <a:r>
              <a:t>Junio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8_Tamaulipas.png"/>
          <p:cNvPicPr>
            <a:picLocks noChangeAspect="1"/>
          </p:cNvPicPr>
          <p:nvPr/>
        </p:nvPicPr>
        <p:blipFill>
          <a:blip r:embed="rId2"/>
          <a:stretch>
            <a:fillRect/>
          </a:stretch>
        </p:blipFill>
        <p:spPr>
          <a:xfrm>
            <a:off x="0" y="799200"/>
            <a:ext cx="7793999" cy="8067600"/>
          </a:xfrm>
          <a:prstGeom prst="rect">
            <a:avLst/>
          </a:prstGeom>
        </p:spPr>
      </p:pic>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Tree>
    <p:extLst>
      <p:ext uri="{BB962C8B-B14F-4D97-AF65-F5344CB8AC3E}">
        <p14:creationId xmlns:p14="http://schemas.microsoft.com/office/powerpoint/2010/main" val="376377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6926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025201"/>
            <a:ext cx="1153699" cy="684220"/>
          </a:xfrm>
          <a:prstGeom prst="rect">
            <a:avLst/>
          </a:prstGeom>
          <a:noFill/>
          <a:ln>
            <a:noFill/>
          </a:ln>
        </p:spPr>
      </p:pic>
      <p:sp>
        <p:nvSpPr>
          <p:cNvPr id="113" name="Google Shape;113;p2"/>
          <p:cNvSpPr txBox="1"/>
          <p:nvPr/>
        </p:nvSpPr>
        <p:spPr>
          <a:xfrm>
            <a:off x="6810875" y="66976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dirty="0">
                <a:solidFill>
                  <a:srgbClr val="006455"/>
                </a:solidFill>
                <a:latin typeface="Noto Sans"/>
                <a:ea typeface="Noto Sans"/>
                <a:cs typeface="Noto Sans"/>
                <a:sym typeface="Noto Sans"/>
              </a:rPr>
              <a:t>Personas Trabajadoras Independientes</a:t>
            </a:r>
            <a:endParaRPr sz="700" b="1" i="0" u="none" strike="noStrike" cap="none" dirty="0">
              <a:solidFill>
                <a:srgbClr val="006455"/>
              </a:solidFill>
              <a:latin typeface="Noto Sans"/>
              <a:ea typeface="Noto Sans"/>
              <a:cs typeface="Noto Sans"/>
              <a:sym typeface="Noto Sans"/>
            </a:endParaRPr>
          </a:p>
        </p:txBody>
      </p:sp>
      <p:sp>
        <p:nvSpPr>
          <p:cNvPr id="114" name="TextBox 113"/>
          <p:cNvSpPr txBox="1"/>
          <p:nvPr/>
        </p:nvSpPr>
        <p:spPr>
          <a:xfrm>
            <a:off x="0" y="583200"/>
            <a:ext cx="7473600" cy="385200"/>
          </a:xfrm>
          <a:prstGeom prst="rect">
            <a:avLst/>
          </a:prstGeom>
          <a:noFill/>
        </p:spPr>
        <p:txBody>
          <a:bodyPr wrap="none">
            <a:spAutoFit/>
          </a:bodyPr>
          <a:lstStyle/>
          <a:p>
            <a:pPr algn="l">
              <a:defRPr sz="2000" b="1">
                <a:solidFill>
                  <a:srgbClr val="BC955C"/>
                </a:solidFill>
                <a:latin typeface="Montserrat"/>
              </a:defRPr>
            </a:pPr>
            <a:r>
              <a:t>IMSS atiende 61% de la población (incluye COPLAMAR)</a:t>
            </a:r>
          </a:p>
        </p:txBody>
      </p:sp>
      <p:cxnSp>
        <p:nvCxnSpPr>
          <p:cNvPr id="115" name="Connector 114"/>
          <p:cNvCxnSpPr/>
          <p:nvPr/>
        </p:nvCxnSpPr>
        <p:spPr>
          <a:xfrm>
            <a:off x="0" y="9684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82800" y="4622400"/>
            <a:ext cx="5864400" cy="360000"/>
          </a:xfrm>
          <a:prstGeom prst="rect">
            <a:avLst/>
          </a:prstGeom>
          <a:noFill/>
        </p:spPr>
        <p:txBody>
          <a:bodyPr wrap="square">
            <a:spAutoFit/>
          </a:bodyPr>
          <a:lstStyle/>
          <a:p>
            <a:pPr algn="l">
              <a:defRPr sz="800">
                <a:solidFill>
                  <a:srgbClr val="000000"/>
                </a:solidFill>
                <a:latin typeface="Montserrat"/>
              </a:defRPr>
            </a:pPr>
            <a:r>
              <a:t>Fuente: CONAPO, proyección a enero de 2026.</a:t>
            </a:r>
          </a:p>
        </p:txBody>
      </p:sp>
      <p:graphicFrame>
        <p:nvGraphicFramePr>
          <p:cNvPr id="117" name="Chart 116"/>
          <p:cNvGraphicFramePr>
            <a:graphicFrameLocks noGrp="1"/>
          </p:cNvGraphicFramePr>
          <p:nvPr/>
        </p:nvGraphicFramePr>
        <p:xfrm>
          <a:off x="2268000" y="1116000"/>
          <a:ext cx="3240000" cy="3240000"/>
        </p:xfrm>
        <a:graphic>
          <a:graphicData uri="http://schemas.openxmlformats.org/drawingml/2006/chart">
            <c:chart xmlns:c="http://schemas.openxmlformats.org/drawingml/2006/chart" r:id="rId5"/>
          </a:graphicData>
        </a:graphic>
      </p:graphicFrame>
      <p:sp>
        <p:nvSpPr>
          <p:cNvPr id="118" name="TextBox 117"/>
          <p:cNvSpPr txBox="1"/>
          <p:nvPr/>
        </p:nvSpPr>
        <p:spPr>
          <a:xfrm>
            <a:off x="6552000" y="1465200"/>
            <a:ext cx="1188000" cy="503999"/>
          </a:xfrm>
          <a:prstGeom prst="rect">
            <a:avLst/>
          </a:prstGeom>
          <a:noFill/>
        </p:spPr>
        <p:txBody>
          <a:bodyPr wrap="none"/>
          <a:lstStyle/>
          <a:p>
            <a:pPr algn="l">
              <a:defRPr sz="1400" b="1">
                <a:solidFill>
                  <a:srgbClr val="595959"/>
                </a:solidFill>
                <a:latin typeface="Montserrat"/>
              </a:defRPr>
            </a:pPr>
            <a:r>
              <a:t>2,062,734</a:t>
            </a:r>
            <a:br/>
            <a:r>
              <a:t>55%</a:t>
            </a:r>
          </a:p>
        </p:txBody>
      </p:sp>
      <p:pic>
        <p:nvPicPr>
          <p:cNvPr id="119" name="Picture 118" descr="imss.png"/>
          <p:cNvPicPr>
            <a:picLocks noChangeAspect="1"/>
          </p:cNvPicPr>
          <p:nvPr/>
        </p:nvPicPr>
        <p:blipFill>
          <a:blip r:embed="rId6"/>
          <a:stretch>
            <a:fillRect/>
          </a:stretch>
        </p:blipFill>
        <p:spPr>
          <a:xfrm>
            <a:off x="6213600" y="1461599"/>
            <a:ext cx="377265" cy="468000"/>
          </a:xfrm>
          <a:prstGeom prst="rect">
            <a:avLst/>
          </a:prstGeom>
        </p:spPr>
      </p:pic>
      <p:sp>
        <p:nvSpPr>
          <p:cNvPr id="120" name="Rectangle 119"/>
          <p:cNvSpPr/>
          <p:nvPr/>
        </p:nvSpPr>
        <p:spPr>
          <a:xfrm>
            <a:off x="5868000" y="1634400"/>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555600" y="2487600"/>
            <a:ext cx="1188000" cy="503999"/>
          </a:xfrm>
          <a:prstGeom prst="rect">
            <a:avLst/>
          </a:prstGeom>
          <a:noFill/>
        </p:spPr>
        <p:txBody>
          <a:bodyPr wrap="none"/>
          <a:lstStyle/>
          <a:p>
            <a:pPr algn="l">
              <a:defRPr sz="1400" b="1">
                <a:solidFill>
                  <a:srgbClr val="595959"/>
                </a:solidFill>
                <a:latin typeface="Montserrat"/>
              </a:defRPr>
            </a:pPr>
            <a:r>
              <a:t>244,977</a:t>
            </a:r>
            <a:br/>
            <a:r>
              <a:t>6%</a:t>
            </a:r>
          </a:p>
        </p:txBody>
      </p:sp>
      <p:pic>
        <p:nvPicPr>
          <p:cNvPr id="122" name="Picture 121" descr="imss_coplamar.png"/>
          <p:cNvPicPr>
            <a:picLocks noChangeAspect="1"/>
          </p:cNvPicPr>
          <p:nvPr/>
        </p:nvPicPr>
        <p:blipFill>
          <a:blip r:embed="rId7"/>
          <a:stretch>
            <a:fillRect/>
          </a:stretch>
        </p:blipFill>
        <p:spPr>
          <a:xfrm>
            <a:off x="6004800" y="2523600"/>
            <a:ext cx="586036" cy="468000"/>
          </a:xfrm>
          <a:prstGeom prst="rect">
            <a:avLst/>
          </a:prstGeom>
        </p:spPr>
      </p:pic>
      <p:sp>
        <p:nvSpPr>
          <p:cNvPr id="123" name="Rectangle 122"/>
          <p:cNvSpPr/>
          <p:nvPr/>
        </p:nvSpPr>
        <p:spPr>
          <a:xfrm>
            <a:off x="5796000" y="2696400"/>
            <a:ext cx="122400" cy="122400"/>
          </a:xfrm>
          <a:prstGeom prst="rect">
            <a:avLst/>
          </a:prstGeom>
          <a:solidFill>
            <a:srgbClr val="539ED0"/>
          </a:solidFill>
          <a:ln>
            <a:solidFill>
              <a:srgbClr val="539E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6552000" y="3754800"/>
            <a:ext cx="1188000" cy="503999"/>
          </a:xfrm>
          <a:prstGeom prst="rect">
            <a:avLst/>
          </a:prstGeom>
          <a:noFill/>
        </p:spPr>
        <p:txBody>
          <a:bodyPr wrap="none"/>
          <a:lstStyle/>
          <a:p>
            <a:pPr algn="l">
              <a:defRPr sz="1400" b="1">
                <a:solidFill>
                  <a:srgbClr val="595959"/>
                </a:solidFill>
                <a:latin typeface="Montserrat"/>
              </a:defRPr>
            </a:pPr>
            <a:r>
              <a:t>419,881</a:t>
            </a:r>
            <a:br/>
            <a:r>
              <a:t>11%</a:t>
            </a:r>
          </a:p>
        </p:txBody>
      </p:sp>
      <p:pic>
        <p:nvPicPr>
          <p:cNvPr id="125" name="Picture 124" descr="issste.png"/>
          <p:cNvPicPr>
            <a:picLocks noChangeAspect="1"/>
          </p:cNvPicPr>
          <p:nvPr/>
        </p:nvPicPr>
        <p:blipFill>
          <a:blip r:embed="rId8"/>
          <a:stretch>
            <a:fillRect/>
          </a:stretch>
        </p:blipFill>
        <p:spPr>
          <a:xfrm>
            <a:off x="5151600" y="3798000"/>
            <a:ext cx="1437091" cy="468000"/>
          </a:xfrm>
          <a:prstGeom prst="rect">
            <a:avLst/>
          </a:prstGeom>
        </p:spPr>
      </p:pic>
      <p:sp>
        <p:nvSpPr>
          <p:cNvPr id="126" name="Rectangle 125"/>
          <p:cNvSpPr/>
          <p:nvPr/>
        </p:nvSpPr>
        <p:spPr>
          <a:xfrm>
            <a:off x="4942800" y="3978000"/>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200" y="3254399"/>
            <a:ext cx="1188000" cy="503999"/>
          </a:xfrm>
          <a:prstGeom prst="rect">
            <a:avLst/>
          </a:prstGeom>
          <a:noFill/>
        </p:spPr>
        <p:txBody>
          <a:bodyPr wrap="none"/>
          <a:lstStyle/>
          <a:p>
            <a:pPr algn="r">
              <a:defRPr sz="1400" b="1">
                <a:solidFill>
                  <a:srgbClr val="595959"/>
                </a:solidFill>
                <a:latin typeface="Montserrat"/>
              </a:defRPr>
            </a:pPr>
            <a:r>
              <a:t>946,342</a:t>
            </a:r>
            <a:br/>
            <a:r>
              <a:t>25%</a:t>
            </a:r>
          </a:p>
        </p:txBody>
      </p:sp>
      <p:pic>
        <p:nvPicPr>
          <p:cNvPr id="128" name="Picture 127" descr="28.png"/>
          <p:cNvPicPr>
            <a:picLocks noChangeAspect="1"/>
          </p:cNvPicPr>
          <p:nvPr/>
        </p:nvPicPr>
        <p:blipFill>
          <a:blip r:embed="rId9"/>
          <a:stretch>
            <a:fillRect/>
          </a:stretch>
        </p:blipFill>
        <p:spPr>
          <a:xfrm>
            <a:off x="1220400" y="3290400"/>
            <a:ext cx="1904118" cy="468000"/>
          </a:xfrm>
          <a:prstGeom prst="rect">
            <a:avLst/>
          </a:prstGeom>
        </p:spPr>
      </p:pic>
      <p:sp>
        <p:nvSpPr>
          <p:cNvPr id="129" name="Rectangle 128"/>
          <p:cNvSpPr/>
          <p:nvPr/>
        </p:nvSpPr>
        <p:spPr>
          <a:xfrm>
            <a:off x="75600" y="3463199"/>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7200" y="1782000"/>
            <a:ext cx="1188000" cy="503999"/>
          </a:xfrm>
          <a:prstGeom prst="rect">
            <a:avLst/>
          </a:prstGeom>
          <a:noFill/>
        </p:spPr>
        <p:txBody>
          <a:bodyPr wrap="none"/>
          <a:lstStyle/>
          <a:p>
            <a:pPr algn="r">
              <a:defRPr sz="1400" b="1">
                <a:solidFill>
                  <a:srgbClr val="595959"/>
                </a:solidFill>
                <a:latin typeface="Montserrat"/>
              </a:defRPr>
            </a:pPr>
            <a:r>
              <a:t>Otros</a:t>
            </a:r>
            <a:br/>
            <a:r>
              <a:t>103,538</a:t>
            </a:r>
            <a:br/>
            <a:r>
              <a:t>3%</a:t>
            </a:r>
          </a:p>
        </p:txBody>
      </p:sp>
      <p:pic>
        <p:nvPicPr>
          <p:cNvPr id="131" name="Picture 130" descr="otros.png"/>
          <p:cNvPicPr>
            <a:picLocks noChangeAspect="1"/>
          </p:cNvPicPr>
          <p:nvPr/>
        </p:nvPicPr>
        <p:blipFill>
          <a:blip r:embed="rId10"/>
          <a:stretch>
            <a:fillRect/>
          </a:stretch>
        </p:blipFill>
        <p:spPr>
          <a:xfrm>
            <a:off x="1220400" y="1800000"/>
            <a:ext cx="468000" cy="468000"/>
          </a:xfrm>
          <a:prstGeom prst="rect">
            <a:avLst/>
          </a:prstGeom>
        </p:spPr>
      </p:pic>
      <p:sp>
        <p:nvSpPr>
          <p:cNvPr id="132" name="Rectangle 131"/>
          <p:cNvSpPr/>
          <p:nvPr/>
        </p:nvSpPr>
        <p:spPr>
          <a:xfrm>
            <a:off x="75600" y="1868400"/>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988000" y="2296800"/>
            <a:ext cx="1800000" cy="900000"/>
          </a:xfrm>
          <a:prstGeom prst="rect">
            <a:avLst/>
          </a:prstGeom>
          <a:noFill/>
        </p:spPr>
        <p:txBody>
          <a:bodyPr wrap="none">
            <a:spAutoFit/>
          </a:bodyPr>
          <a:lstStyle/>
          <a:p>
            <a:pPr algn="ctr">
              <a:defRPr sz="1400" b="1">
                <a:solidFill>
                  <a:srgbClr val="9F2241"/>
                </a:solidFill>
                <a:latin typeface="Montserrat"/>
              </a:defRPr>
            </a:pPr>
            <a:r>
              <a:t>Población </a:t>
            </a:r>
            <a:br/>
            <a:r>
              <a:t>estatal</a:t>
            </a:r>
            <a:br/>
            <a:r>
              <a:t>3,777,472</a:t>
            </a:r>
          </a:p>
        </p:txBody>
      </p:sp>
      <p:sp>
        <p:nvSpPr>
          <p:cNvPr id="134" name="TextBox 133"/>
          <p:cNvSpPr txBox="1"/>
          <p:nvPr/>
        </p:nvSpPr>
        <p:spPr>
          <a:xfrm>
            <a:off x="82800" y="8910000"/>
            <a:ext cx="5864400" cy="360000"/>
          </a:xfrm>
          <a:prstGeom prst="rect">
            <a:avLst/>
          </a:prstGeom>
          <a:noFill/>
        </p:spPr>
        <p:txBody>
          <a:bodyPr wrap="square">
            <a:spAutoFit/>
          </a:bodyPr>
          <a:lstStyle/>
          <a:p>
            <a:pPr algn="l">
              <a:defRPr sz="800">
                <a:solidFill>
                  <a:srgbClr val="000000"/>
                </a:solidFill>
                <a:latin typeface="Montserrat"/>
              </a:defRPr>
            </a:pPr>
            <a:r>
              <a:t>Fuente: Dirección de Incorporación y Recaudación. Corte abril de 2026.</a:t>
            </a:r>
          </a:p>
        </p:txBody>
      </p:sp>
      <p:sp>
        <p:nvSpPr>
          <p:cNvPr id="135" name="TextBox 134"/>
          <p:cNvSpPr txBox="1"/>
          <p:nvPr/>
        </p:nvSpPr>
        <p:spPr>
          <a:xfrm>
            <a:off x="82800" y="9090000"/>
            <a:ext cx="5864400" cy="360000"/>
          </a:xfrm>
          <a:prstGeom prst="rect">
            <a:avLst/>
          </a:prstGeom>
          <a:noFill/>
        </p:spPr>
        <p:txBody>
          <a:bodyPr wrap="square">
            <a:spAutoFit/>
          </a:bodyPr>
          <a:lstStyle/>
          <a:p>
            <a:pPr algn="l">
              <a:defRPr sz="800">
                <a:solidFill>
                  <a:srgbClr val="000000"/>
                </a:solidFill>
                <a:latin typeface="Montserrat"/>
              </a:defRPr>
            </a:pPr>
            <a:r>
              <a:t>¹ Se refiere a personas derechohabientes (titulares y familiares) adscritas a UMF.</a:t>
            </a:r>
          </a:p>
        </p:txBody>
      </p:sp>
      <p:sp>
        <p:nvSpPr>
          <p:cNvPr id="136" name="TextBox 135"/>
          <p:cNvSpPr txBox="1"/>
          <p:nvPr/>
        </p:nvSpPr>
        <p:spPr>
          <a:xfrm>
            <a:off x="82800" y="9270000"/>
            <a:ext cx="7653600" cy="360000"/>
          </a:xfrm>
          <a:prstGeom prst="rect">
            <a:avLst/>
          </a:prstGeom>
          <a:noFill/>
        </p:spPr>
        <p:txBody>
          <a:bodyPr wrap="square">
            <a:spAutoFit/>
          </a:bodyPr>
          <a:lstStyle/>
          <a:p>
            <a:pPr algn="l">
              <a:defRPr sz="800">
                <a:solidFill>
                  <a:srgbClr val="000000"/>
                </a:solidFill>
                <a:latin typeface="Montserrat"/>
              </a:defRPr>
            </a:pPr>
            <a:r>
              <a:t>² La afiliación al Seguro de Salud de Familia disminuye en virtud del incremento en los nuevos esquemas de aseguramiento.</a:t>
            </a:r>
          </a:p>
        </p:txBody>
      </p:sp>
      <p:graphicFrame>
        <p:nvGraphicFramePr>
          <p:cNvPr id="137" name="Table 136"/>
          <p:cNvGraphicFramePr>
            <a:graphicFrameLocks noGrp="1"/>
          </p:cNvGraphicFramePr>
          <p:nvPr/>
        </p:nvGraphicFramePr>
        <p:xfrm>
          <a:off x="313200" y="5270400"/>
          <a:ext cx="5364000" cy="3527986"/>
        </p:xfrm>
        <a:graphic>
          <a:graphicData uri="http://schemas.openxmlformats.org/drawingml/2006/table">
            <a:tbl>
              <a:tblPr firstRow="1" bandRow="1">
                <a:tableStyleId>{5C22544A-7EE6-4342-B048-85BDC9FD1C3A}</a:tableStyleId>
              </a:tblPr>
              <a:tblGrid>
                <a:gridCol w="1792800"/>
                <a:gridCol w="1206000"/>
                <a:gridCol w="1206000"/>
                <a:gridCol w="1159200"/>
              </a:tblGrid>
              <a:tr h="251999">
                <a:tc>
                  <a:txBody>
                    <a:bodyPr/>
                    <a:lstStyle/>
                    <a:p>
                      <a:pPr algn="ctr">
                        <a:defRPr b="1" sz="900">
                          <a:solidFill>
                            <a:srgbClr val="FFFFFF"/>
                          </a:solidFill>
                          <a:latin typeface="Montserrat"/>
                        </a:defRPr>
                      </a:pPr>
                      <a:r>
                        <a:t>Categoría</a:t>
                      </a:r>
                    </a:p>
                  </a:txBody>
                  <a:tcPr>
                    <a:solidFill>
                      <a:srgbClr val="006455"/>
                    </a:solidFill>
                  </a:tcPr>
                </a:tc>
                <a:tc>
                  <a:txBody>
                    <a:bodyPr/>
                    <a:lstStyle/>
                    <a:p>
                      <a:pPr algn="ctr">
                        <a:defRPr b="1" sz="900">
                          <a:solidFill>
                            <a:srgbClr val="FFFFFF"/>
                          </a:solidFill>
                          <a:latin typeface="Montserrat"/>
                        </a:defRPr>
                      </a:pPr>
                      <a:r>
                        <a:t>2018</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a:txBody>
                    <a:bodyPr/>
                    <a:lstStyle/>
                    <a:p>
                      <a:pPr algn="ctr">
                        <a:defRPr b="1" sz="900">
                          <a:solidFill>
                            <a:srgbClr val="FFFFFF"/>
                          </a:solidFill>
                          <a:latin typeface="Montserrat"/>
                        </a:defRPr>
                      </a:pPr>
                      <a:r>
                        <a:t>Variación</a:t>
                      </a:r>
                    </a:p>
                  </a:txBody>
                  <a:tcPr>
                    <a:solidFill>
                      <a:srgbClr val="006455"/>
                    </a:solidFill>
                  </a:tcPr>
                </a:tc>
              </a:tr>
              <a:tr h="251999">
                <a:tc>
                  <a:txBody>
                    <a:bodyPr/>
                    <a:lstStyle/>
                    <a:p>
                      <a:pPr algn="l">
                        <a:defRPr sz="900" b="1">
                          <a:solidFill>
                            <a:srgbClr val="FFFFFF"/>
                          </a:solidFill>
                          <a:latin typeface="Montserrat"/>
                        </a:defRPr>
                      </a:pPr>
                      <a:r>
                        <a:t>PDA¹</a:t>
                      </a:r>
                    </a:p>
                  </a:txBody>
                  <a:tcPr>
                    <a:solidFill>
                      <a:srgbClr val="9F2241"/>
                    </a:solidFill>
                  </a:tcPr>
                </a:tc>
                <a:tc>
                  <a:txBody>
                    <a:bodyPr/>
                    <a:lstStyle/>
                    <a:p>
                      <a:pPr algn="ctr">
                        <a:defRPr sz="900" b="1">
                          <a:solidFill>
                            <a:srgbClr val="000000"/>
                          </a:solidFill>
                          <a:latin typeface="Montserrat"/>
                        </a:defRPr>
                      </a:pPr>
                      <a:r>
                        <a:t>1,928,671</a:t>
                      </a:r>
                    </a:p>
                  </a:txBody>
                  <a:tcPr>
                    <a:solidFill>
                      <a:srgbClr val="EBD2D9"/>
                    </a:solidFill>
                  </a:tcPr>
                </a:tc>
                <a:tc>
                  <a:txBody>
                    <a:bodyPr/>
                    <a:lstStyle/>
                    <a:p>
                      <a:pPr algn="ctr">
                        <a:defRPr sz="900" b="1">
                          <a:solidFill>
                            <a:srgbClr val="000000"/>
                          </a:solidFill>
                          <a:latin typeface="Montserrat"/>
                        </a:defRPr>
                      </a:pPr>
                      <a:r>
                        <a:t>2,062,734</a:t>
                      </a:r>
                    </a:p>
                  </a:txBody>
                  <a:tcPr>
                    <a:solidFill>
                      <a:srgbClr val="EBD2D9"/>
                    </a:solidFill>
                  </a:tcPr>
                </a:tc>
                <a:tc>
                  <a:txBody>
                    <a:bodyPr/>
                    <a:lstStyle/>
                    <a:p>
                      <a:pPr algn="ctr">
                        <a:defRPr sz="900" b="1">
                          <a:solidFill>
                            <a:srgbClr val="000000"/>
                          </a:solidFill>
                          <a:latin typeface="Montserrat"/>
                        </a:defRPr>
                      </a:pPr>
                      <a:r>
                        <a:t>7%</a:t>
                      </a:r>
                    </a:p>
                  </a:txBody>
                  <a:tcPr>
                    <a:solidFill>
                      <a:srgbClr val="EBD2D9"/>
                    </a:solidFill>
                  </a:tcPr>
                </a:tc>
              </a:tr>
              <a:tr h="251999">
                <a:tc>
                  <a:txBody>
                    <a:bodyPr/>
                    <a:lstStyle/>
                    <a:p>
                      <a:pPr algn="l">
                        <a:defRPr sz="900" b="1">
                          <a:solidFill>
                            <a:srgbClr val="FFFFFF"/>
                          </a:solidFill>
                          <a:latin typeface="Montserrat"/>
                        </a:defRPr>
                      </a:pPr>
                      <a:r>
                        <a:t>Titulares</a:t>
                      </a:r>
                    </a:p>
                  </a:txBody>
                  <a:tcPr>
                    <a:solidFill>
                      <a:srgbClr val="9F2241"/>
                    </a:solidFill>
                  </a:tcPr>
                </a:tc>
                <a:tc>
                  <a:txBody>
                    <a:bodyPr/>
                    <a:lstStyle/>
                    <a:p>
                      <a:pPr algn="ctr">
                        <a:defRPr sz="900" b="1">
                          <a:solidFill>
                            <a:srgbClr val="000000"/>
                          </a:solidFill>
                          <a:latin typeface="Montserrat"/>
                        </a:defRPr>
                      </a:pPr>
                      <a:r>
                        <a:t>1,013,374</a:t>
                      </a:r>
                    </a:p>
                  </a:txBody>
                  <a:tcPr>
                    <a:solidFill>
                      <a:srgbClr val="EBD2D9"/>
                    </a:solidFill>
                  </a:tcPr>
                </a:tc>
                <a:tc>
                  <a:txBody>
                    <a:bodyPr/>
                    <a:lstStyle/>
                    <a:p>
                      <a:pPr algn="ctr">
                        <a:defRPr sz="900" b="1">
                          <a:solidFill>
                            <a:srgbClr val="000000"/>
                          </a:solidFill>
                          <a:latin typeface="Montserrat"/>
                        </a:defRPr>
                      </a:pPr>
                      <a:r>
                        <a:t>1,183,822</a:t>
                      </a:r>
                    </a:p>
                  </a:txBody>
                  <a:tcPr>
                    <a:solidFill>
                      <a:srgbClr val="EBD2D9"/>
                    </a:solidFill>
                  </a:tcPr>
                </a:tc>
                <a:tc>
                  <a:txBody>
                    <a:bodyPr/>
                    <a:lstStyle/>
                    <a:p>
                      <a:pPr algn="ctr">
                        <a:defRPr sz="900" b="1">
                          <a:solidFill>
                            <a:srgbClr val="000000"/>
                          </a:solidFill>
                          <a:latin typeface="Montserrat"/>
                        </a:defRPr>
                      </a:pPr>
                      <a:r>
                        <a:t>17%</a:t>
                      </a:r>
                    </a:p>
                  </a:txBody>
                  <a:tcPr>
                    <a:solidFill>
                      <a:srgbClr val="EBD2D9"/>
                    </a:solidFill>
                  </a:tcPr>
                </a:tc>
              </a:tr>
              <a:tr h="251999">
                <a:tc>
                  <a:txBody>
                    <a:bodyPr/>
                    <a:lstStyle/>
                    <a:p>
                      <a:pPr algn="l">
                        <a:defRPr sz="900" b="1">
                          <a:solidFill>
                            <a:srgbClr val="000000"/>
                          </a:solidFill>
                          <a:latin typeface="Montserrat"/>
                        </a:defRPr>
                      </a:pPr>
                      <a:r>
                        <a:t>Puestos de trabajo</a:t>
                      </a:r>
                    </a:p>
                  </a:txBody>
                  <a:tcPr>
                    <a:solidFill>
                      <a:srgbClr val="DDC9A3"/>
                    </a:solidFill>
                  </a:tcPr>
                </a:tc>
                <a:tc>
                  <a:txBody>
                    <a:bodyPr/>
                    <a:lstStyle/>
                    <a:p>
                      <a:pPr algn="ctr">
                        <a:defRPr sz="900" b="1">
                          <a:solidFill>
                            <a:srgbClr val="000000"/>
                          </a:solidFill>
                          <a:latin typeface="Montserrat"/>
                        </a:defRPr>
                      </a:pPr>
                      <a:r>
                        <a:t>674,263</a:t>
                      </a:r>
                    </a:p>
                  </a:txBody>
                  <a:tcPr>
                    <a:solidFill>
                      <a:srgbClr val="F8F4EC"/>
                    </a:solidFill>
                  </a:tcPr>
                </a:tc>
                <a:tc>
                  <a:txBody>
                    <a:bodyPr/>
                    <a:lstStyle/>
                    <a:p>
                      <a:pPr algn="ctr">
                        <a:defRPr sz="900" b="1">
                          <a:solidFill>
                            <a:srgbClr val="000000"/>
                          </a:solidFill>
                          <a:latin typeface="Montserrat"/>
                        </a:defRPr>
                      </a:pPr>
                      <a:r>
                        <a:t>681,107</a:t>
                      </a:r>
                    </a:p>
                  </a:txBody>
                  <a:tcPr>
                    <a:solidFill>
                      <a:srgbClr val="F8F4EC"/>
                    </a:solidFill>
                  </a:tcPr>
                </a:tc>
                <a:tc>
                  <a:txBody>
                    <a:bodyPr/>
                    <a:lstStyle/>
                    <a:p>
                      <a:pPr algn="ctr">
                        <a:defRPr sz="900" b="1">
                          <a:solidFill>
                            <a:srgbClr val="000000"/>
                          </a:solidFill>
                          <a:latin typeface="Montserrat"/>
                        </a:defRPr>
                      </a:pPr>
                      <a:r>
                        <a:t>1%</a:t>
                      </a:r>
                    </a:p>
                  </a:txBody>
                  <a:tcPr>
                    <a:solidFill>
                      <a:srgbClr val="F8F4EC"/>
                    </a:solidFill>
                  </a:tcPr>
                </a:tc>
              </a:tr>
              <a:tr h="251999">
                <a:tc>
                  <a:txBody>
                    <a:bodyPr/>
                    <a:lstStyle/>
                    <a:p>
                      <a:pPr algn="l" lvl="1">
                        <a:defRPr sz="900">
                          <a:solidFill>
                            <a:srgbClr val="000000"/>
                          </a:solidFill>
                          <a:latin typeface="Montserrat"/>
                        </a:defRPr>
                      </a:pPr>
                      <a:r>
                        <a:t>Pensionados</a:t>
                      </a:r>
                    </a:p>
                  </a:txBody>
                  <a:tcPr>
                    <a:solidFill>
                      <a:srgbClr val="FFFFFF"/>
                    </a:solidFill>
                  </a:tcPr>
                </a:tc>
                <a:tc>
                  <a:txBody>
                    <a:bodyPr/>
                    <a:lstStyle/>
                    <a:p>
                      <a:pPr algn="ctr">
                        <a:defRPr sz="900">
                          <a:solidFill>
                            <a:srgbClr val="000000"/>
                          </a:solidFill>
                          <a:latin typeface="Montserrat"/>
                        </a:defRPr>
                      </a:pPr>
                      <a:r>
                        <a:t>139,092</a:t>
                      </a:r>
                    </a:p>
                  </a:txBody>
                  <a:tcPr>
                    <a:solidFill>
                      <a:srgbClr val="FFFFFF"/>
                    </a:solidFill>
                  </a:tcPr>
                </a:tc>
                <a:tc>
                  <a:txBody>
                    <a:bodyPr/>
                    <a:lstStyle/>
                    <a:p>
                      <a:pPr algn="ctr">
                        <a:defRPr sz="900">
                          <a:solidFill>
                            <a:srgbClr val="000000"/>
                          </a:solidFill>
                          <a:latin typeface="Montserrat"/>
                        </a:defRPr>
                      </a:pPr>
                      <a:r>
                        <a:t>207,602</a:t>
                      </a:r>
                    </a:p>
                  </a:txBody>
                  <a:tcPr>
                    <a:solidFill>
                      <a:srgbClr val="FFFFFF"/>
                    </a:solidFill>
                  </a:tcPr>
                </a:tc>
                <a:tc>
                  <a:txBody>
                    <a:bodyPr/>
                    <a:lstStyle/>
                    <a:p>
                      <a:pPr algn="ctr">
                        <a:defRPr sz="900">
                          <a:solidFill>
                            <a:srgbClr val="000000"/>
                          </a:solidFill>
                          <a:latin typeface="Montserrat"/>
                        </a:defRPr>
                      </a:pPr>
                      <a:r>
                        <a:t>49%</a:t>
                      </a:r>
                    </a:p>
                  </a:txBody>
                  <a:tcPr>
                    <a:solidFill>
                      <a:srgbClr val="FFFFFF"/>
                    </a:solidFill>
                  </a:tcPr>
                </a:tc>
              </a:tr>
              <a:tr h="251999">
                <a:tc>
                  <a:txBody>
                    <a:bodyPr/>
                    <a:lstStyle/>
                    <a:p>
                      <a:pPr algn="l" lvl="1">
                        <a:defRPr sz="900">
                          <a:solidFill>
                            <a:srgbClr val="000000"/>
                          </a:solidFill>
                          <a:latin typeface="Montserrat"/>
                        </a:defRPr>
                      </a:pPr>
                      <a:r>
                        <a:t>Conservación de derechos</a:t>
                      </a:r>
                    </a:p>
                  </a:txBody>
                  <a:tcPr>
                    <a:solidFill>
                      <a:srgbClr val="FFFFFF"/>
                    </a:solidFill>
                  </a:tcPr>
                </a:tc>
                <a:tc>
                  <a:txBody>
                    <a:bodyPr/>
                    <a:lstStyle/>
                    <a:p>
                      <a:pPr algn="ctr">
                        <a:defRPr sz="900">
                          <a:solidFill>
                            <a:srgbClr val="000000"/>
                          </a:solidFill>
                          <a:latin typeface="Montserrat"/>
                        </a:defRPr>
                      </a:pPr>
                      <a:r>
                        <a:t>23,380</a:t>
                      </a:r>
                    </a:p>
                  </a:txBody>
                  <a:tcPr>
                    <a:solidFill>
                      <a:srgbClr val="FFFFFF"/>
                    </a:solidFill>
                  </a:tcPr>
                </a:tc>
                <a:tc>
                  <a:txBody>
                    <a:bodyPr/>
                    <a:lstStyle/>
                    <a:p>
                      <a:pPr algn="ctr">
                        <a:defRPr sz="900">
                          <a:solidFill>
                            <a:srgbClr val="000000"/>
                          </a:solidFill>
                          <a:latin typeface="Montserrat"/>
                        </a:defRPr>
                      </a:pPr>
                      <a:r>
                        <a:t>26,759</a:t>
                      </a:r>
                    </a:p>
                  </a:txBody>
                  <a:tcPr>
                    <a:solidFill>
                      <a:srgbClr val="FFFFFF"/>
                    </a:solidFill>
                  </a:tcPr>
                </a:tc>
                <a:tc>
                  <a:txBody>
                    <a:bodyPr/>
                    <a:lstStyle/>
                    <a:p>
                      <a:pPr algn="ctr">
                        <a:defRPr sz="900">
                          <a:solidFill>
                            <a:srgbClr val="000000"/>
                          </a:solidFill>
                          <a:latin typeface="Montserrat"/>
                        </a:defRPr>
                      </a:pPr>
                      <a:r>
                        <a:t>14%</a:t>
                      </a:r>
                    </a:p>
                  </a:txBody>
                  <a:tcPr>
                    <a:solidFill>
                      <a:srgbClr val="FFFFFF"/>
                    </a:solidFill>
                  </a:tcPr>
                </a:tc>
              </a:tr>
              <a:tr h="251999">
                <a:tc>
                  <a:txBody>
                    <a:bodyPr/>
                    <a:lstStyle/>
                    <a:p>
                      <a:pPr algn="l">
                        <a:defRPr sz="900" b="1">
                          <a:solidFill>
                            <a:srgbClr val="FFFFFF"/>
                          </a:solidFill>
                          <a:latin typeface="Montserrat"/>
                        </a:defRPr>
                      </a:pPr>
                      <a:r>
                        <a:t>Sin empleo asociado</a:t>
                      </a:r>
                    </a:p>
                  </a:txBody>
                  <a:tcPr>
                    <a:solidFill>
                      <a:srgbClr val="006455"/>
                    </a:solidFill>
                  </a:tcPr>
                </a:tc>
                <a:tc>
                  <a:txBody>
                    <a:bodyPr/>
                    <a:lstStyle/>
                    <a:p>
                      <a:pPr algn="ctr">
                        <a:defRPr sz="900" b="1">
                          <a:solidFill>
                            <a:srgbClr val="000000"/>
                          </a:solidFill>
                          <a:latin typeface="Montserrat"/>
                        </a:defRPr>
                      </a:pPr>
                      <a:r>
                        <a:t>176,639</a:t>
                      </a:r>
                    </a:p>
                  </a:txBody>
                  <a:tcPr>
                    <a:solidFill>
                      <a:srgbClr val="CCE0DD"/>
                    </a:solidFill>
                  </a:tcPr>
                </a:tc>
                <a:tc>
                  <a:txBody>
                    <a:bodyPr/>
                    <a:lstStyle/>
                    <a:p>
                      <a:pPr algn="ctr">
                        <a:defRPr sz="900" b="1">
                          <a:solidFill>
                            <a:srgbClr val="000000"/>
                          </a:solidFill>
                          <a:latin typeface="Montserrat"/>
                        </a:defRPr>
                      </a:pPr>
                      <a:r>
                        <a:t>209,197</a:t>
                      </a:r>
                    </a:p>
                  </a:txBody>
                  <a:tcPr>
                    <a:solidFill>
                      <a:srgbClr val="CCE0DD"/>
                    </a:solidFill>
                  </a:tcPr>
                </a:tc>
                <a:tc>
                  <a:txBody>
                    <a:bodyPr/>
                    <a:lstStyle/>
                    <a:p>
                      <a:pPr algn="ctr">
                        <a:defRPr sz="900" b="1">
                          <a:solidFill>
                            <a:srgbClr val="000000"/>
                          </a:solidFill>
                          <a:latin typeface="Montserrat"/>
                        </a:defRPr>
                      </a:pPr>
                      <a:r>
                        <a:t>18%</a:t>
                      </a:r>
                    </a:p>
                  </a:txBody>
                  <a:tcPr>
                    <a:solidFill>
                      <a:srgbClr val="CCE0DD"/>
                    </a:solidFill>
                  </a:tcPr>
                </a:tc>
              </a:tr>
              <a:tr h="251999">
                <a:tc>
                  <a:txBody>
                    <a:bodyPr/>
                    <a:lstStyle/>
                    <a:p>
                      <a:pPr algn="l" lvl="1">
                        <a:defRPr sz="900">
                          <a:solidFill>
                            <a:srgbClr val="000000"/>
                          </a:solidFill>
                          <a:latin typeface="Montserrat"/>
                        </a:defRPr>
                      </a:pPr>
                      <a:r>
                        <a:t>Estudiantes</a:t>
                      </a:r>
                    </a:p>
                  </a:txBody>
                  <a:tcPr>
                    <a:solidFill>
                      <a:srgbClr val="FFFFFF"/>
                    </a:solidFill>
                  </a:tcPr>
                </a:tc>
                <a:tc>
                  <a:txBody>
                    <a:bodyPr/>
                    <a:lstStyle/>
                    <a:p>
                      <a:pPr algn="ctr">
                        <a:defRPr sz="900">
                          <a:solidFill>
                            <a:srgbClr val="000000"/>
                          </a:solidFill>
                          <a:latin typeface="Montserrat"/>
                        </a:defRPr>
                      </a:pPr>
                      <a:r>
                        <a:t>168,148</a:t>
                      </a:r>
                    </a:p>
                  </a:txBody>
                  <a:tcPr>
                    <a:solidFill>
                      <a:srgbClr val="FFFFFF"/>
                    </a:solidFill>
                  </a:tcPr>
                </a:tc>
                <a:tc>
                  <a:txBody>
                    <a:bodyPr/>
                    <a:lstStyle/>
                    <a:p>
                      <a:pPr algn="ctr">
                        <a:defRPr sz="900">
                          <a:solidFill>
                            <a:srgbClr val="000000"/>
                          </a:solidFill>
                          <a:latin typeface="Montserrat"/>
                        </a:defRPr>
                      </a:pPr>
                      <a:r>
                        <a:t>201,397</a:t>
                      </a:r>
                    </a:p>
                  </a:txBody>
                  <a:tcPr>
                    <a:solidFill>
                      <a:srgbClr val="FFFFFF"/>
                    </a:solidFill>
                  </a:tcPr>
                </a:tc>
                <a:tc>
                  <a:txBody>
                    <a:bodyPr/>
                    <a:lstStyle/>
                    <a:p>
                      <a:pPr algn="ctr">
                        <a:defRPr sz="900">
                          <a:solidFill>
                            <a:srgbClr val="000000"/>
                          </a:solidFill>
                          <a:latin typeface="Montserrat"/>
                        </a:defRPr>
                      </a:pPr>
                      <a:r>
                        <a:t>20%</a:t>
                      </a:r>
                    </a:p>
                  </a:txBody>
                  <a:tcPr>
                    <a:solidFill>
                      <a:srgbClr val="FFFFFF"/>
                    </a:solidFill>
                  </a:tcPr>
                </a:tc>
              </a:tr>
              <a:tr h="251999">
                <a:tc>
                  <a:txBody>
                    <a:bodyPr/>
                    <a:lstStyle/>
                    <a:p>
                      <a:pPr algn="l" lvl="1">
                        <a:defRPr sz="900">
                          <a:solidFill>
                            <a:srgbClr val="000000"/>
                          </a:solidFill>
                          <a:latin typeface="Montserrat"/>
                        </a:defRPr>
                      </a:pPr>
                      <a:r>
                        <a:t>Seguro de Salud de Familia²</a:t>
                      </a:r>
                    </a:p>
                  </a:txBody>
                  <a:tcPr>
                    <a:solidFill>
                      <a:srgbClr val="FFFFFF"/>
                    </a:solidFill>
                  </a:tcPr>
                </a:tc>
                <a:tc>
                  <a:txBody>
                    <a:bodyPr/>
                    <a:lstStyle/>
                    <a:p>
                      <a:pPr algn="ctr">
                        <a:defRPr sz="900">
                          <a:solidFill>
                            <a:srgbClr val="000000"/>
                          </a:solidFill>
                          <a:latin typeface="Montserrat"/>
                        </a:defRPr>
                      </a:pPr>
                      <a:r>
                        <a:t>5,021</a:t>
                      </a:r>
                    </a:p>
                  </a:txBody>
                  <a:tcPr>
                    <a:solidFill>
                      <a:srgbClr val="FFFFFF"/>
                    </a:solidFill>
                  </a:tcPr>
                </a:tc>
                <a:tc>
                  <a:txBody>
                    <a:bodyPr/>
                    <a:lstStyle/>
                    <a:p>
                      <a:pPr algn="ctr">
                        <a:defRPr sz="900">
                          <a:solidFill>
                            <a:srgbClr val="000000"/>
                          </a:solidFill>
                          <a:latin typeface="Montserrat"/>
                        </a:defRPr>
                      </a:pPr>
                      <a:r>
                        <a:t>1,723</a:t>
                      </a:r>
                    </a:p>
                  </a:txBody>
                  <a:tcPr>
                    <a:solidFill>
                      <a:srgbClr val="FFFFFF"/>
                    </a:solidFill>
                  </a:tcPr>
                </a:tc>
                <a:tc>
                  <a:txBody>
                    <a:bodyPr/>
                    <a:lstStyle/>
                    <a:p>
                      <a:pPr algn="ctr">
                        <a:defRPr sz="900">
                          <a:solidFill>
                            <a:srgbClr val="000000"/>
                          </a:solidFill>
                          <a:latin typeface="Montserrat"/>
                        </a:defRPr>
                      </a:pPr>
                      <a:r>
                        <a:t>-66%</a:t>
                      </a:r>
                    </a:p>
                  </a:txBody>
                  <a:tcPr>
                    <a:solidFill>
                      <a:srgbClr val="FFFFFF"/>
                    </a:solidFill>
                  </a:tcPr>
                </a:tc>
              </a:tr>
              <a:tr h="251999">
                <a:tc>
                  <a:txBody>
                    <a:bodyPr/>
                    <a:lstStyle/>
                    <a:p>
                      <a:pPr algn="l" lvl="1">
                        <a:defRPr sz="900">
                          <a:solidFill>
                            <a:srgbClr val="000000"/>
                          </a:solidFill>
                          <a:latin typeface="Montserrat"/>
                        </a:defRPr>
                      </a:pPr>
                      <a:r>
                        <a:t>Continuación voluntaria</a:t>
                      </a:r>
                    </a:p>
                  </a:txBody>
                  <a:tcPr>
                    <a:solidFill>
                      <a:srgbClr val="FFFFFF"/>
                    </a:solidFill>
                  </a:tcPr>
                </a:tc>
                <a:tc>
                  <a:txBody>
                    <a:bodyPr/>
                    <a:lstStyle/>
                    <a:p>
                      <a:pPr algn="ctr">
                        <a:defRPr sz="900">
                          <a:solidFill>
                            <a:srgbClr val="000000"/>
                          </a:solidFill>
                          <a:latin typeface="Montserrat"/>
                        </a:defRPr>
                      </a:pPr>
                      <a:r>
                        <a:t>3,470</a:t>
                      </a:r>
                    </a:p>
                  </a:txBody>
                  <a:tcPr>
                    <a:solidFill>
                      <a:srgbClr val="FFFFFF"/>
                    </a:solidFill>
                  </a:tcPr>
                </a:tc>
                <a:tc>
                  <a:txBody>
                    <a:bodyPr/>
                    <a:lstStyle/>
                    <a:p>
                      <a:pPr algn="ctr">
                        <a:defRPr sz="900">
                          <a:solidFill>
                            <a:srgbClr val="000000"/>
                          </a:solidFill>
                          <a:latin typeface="Montserrat"/>
                        </a:defRPr>
                      </a:pPr>
                      <a:r>
                        <a:t>6,077</a:t>
                      </a:r>
                    </a:p>
                  </a:txBody>
                  <a:tcPr>
                    <a:solidFill>
                      <a:srgbClr val="FFFFFF"/>
                    </a:solidFill>
                  </a:tcPr>
                </a:tc>
                <a:tc>
                  <a:txBody>
                    <a:bodyPr/>
                    <a:lstStyle/>
                    <a:p>
                      <a:pPr algn="ctr">
                        <a:defRPr sz="900">
                          <a:solidFill>
                            <a:srgbClr val="000000"/>
                          </a:solidFill>
                          <a:latin typeface="Montserrat"/>
                        </a:defRPr>
                      </a:pPr>
                      <a:r>
                        <a:t>75%</a:t>
                      </a:r>
                    </a:p>
                  </a:txBody>
                  <a:tcPr>
                    <a:solidFill>
                      <a:srgbClr val="FFFFFF"/>
                    </a:solidFill>
                  </a:tcPr>
                </a:tc>
              </a:tr>
              <a:tr h="251999">
                <a:tc>
                  <a:txBody>
                    <a:bodyPr/>
                    <a:lstStyle/>
                    <a:p>
                      <a:pPr algn="l">
                        <a:defRPr sz="900" b="1">
                          <a:solidFill>
                            <a:srgbClr val="FFFFFF"/>
                          </a:solidFill>
                          <a:latin typeface="Montserrat"/>
                        </a:defRPr>
                      </a:pPr>
                      <a:r>
                        <a:t>Familiares</a:t>
                      </a:r>
                    </a:p>
                  </a:txBody>
                  <a:tcPr>
                    <a:solidFill>
                      <a:srgbClr val="9F2241"/>
                    </a:solidFill>
                  </a:tcPr>
                </a:tc>
                <a:tc>
                  <a:txBody>
                    <a:bodyPr/>
                    <a:lstStyle/>
                    <a:p>
                      <a:pPr algn="ctr">
                        <a:defRPr sz="900" b="1">
                          <a:solidFill>
                            <a:srgbClr val="000000"/>
                          </a:solidFill>
                          <a:latin typeface="Montserrat"/>
                        </a:defRPr>
                      </a:pPr>
                      <a:r>
                        <a:t>915,297</a:t>
                      </a:r>
                    </a:p>
                  </a:txBody>
                  <a:tcPr>
                    <a:solidFill>
                      <a:srgbClr val="EBD2D9"/>
                    </a:solidFill>
                  </a:tcPr>
                </a:tc>
                <a:tc>
                  <a:txBody>
                    <a:bodyPr/>
                    <a:lstStyle/>
                    <a:p>
                      <a:pPr algn="ctr">
                        <a:defRPr sz="900" b="1">
                          <a:solidFill>
                            <a:srgbClr val="000000"/>
                          </a:solidFill>
                          <a:latin typeface="Montserrat"/>
                        </a:defRPr>
                      </a:pPr>
                      <a:r>
                        <a:t>878,912</a:t>
                      </a:r>
                    </a:p>
                  </a:txBody>
                  <a:tcPr>
                    <a:solidFill>
                      <a:srgbClr val="EBD2D9"/>
                    </a:solidFill>
                  </a:tcPr>
                </a:tc>
                <a:tc>
                  <a:txBody>
                    <a:bodyPr/>
                    <a:lstStyle/>
                    <a:p>
                      <a:pPr algn="ctr">
                        <a:defRPr sz="900" b="1">
                          <a:solidFill>
                            <a:srgbClr val="000000"/>
                          </a:solidFill>
                          <a:latin typeface="Montserrat"/>
                        </a:defRPr>
                      </a:pPr>
                      <a:r>
                        <a:t>-4%</a:t>
                      </a:r>
                    </a:p>
                  </a:txBody>
                  <a:tcPr>
                    <a:solidFill>
                      <a:srgbClr val="EBD2D9"/>
                    </a:solidFill>
                  </a:tcPr>
                </a:tc>
              </a:tr>
              <a:tr h="251999">
                <a:tc>
                  <a:txBody>
                    <a:bodyPr/>
                    <a:lstStyle/>
                    <a:p>
                      <a:pPr algn="l" lvl="1">
                        <a:defRPr sz="900">
                          <a:solidFill>
                            <a:srgbClr val="000000"/>
                          </a:solidFill>
                          <a:latin typeface="Montserrat"/>
                        </a:defRPr>
                      </a:pPr>
                      <a:r>
                        <a:t>Esposa(o)/concubina(rio)</a:t>
                      </a:r>
                    </a:p>
                  </a:txBody>
                  <a:tcPr>
                    <a:solidFill>
                      <a:srgbClr val="FFFFFF"/>
                    </a:solidFill>
                  </a:tcPr>
                </a:tc>
                <a:tc>
                  <a:txBody>
                    <a:bodyPr/>
                    <a:lstStyle/>
                    <a:p>
                      <a:pPr algn="ctr">
                        <a:defRPr sz="900">
                          <a:solidFill>
                            <a:srgbClr val="000000"/>
                          </a:solidFill>
                          <a:latin typeface="Montserrat"/>
                        </a:defRPr>
                      </a:pPr>
                      <a:r>
                        <a:t>302,364</a:t>
                      </a:r>
                    </a:p>
                  </a:txBody>
                  <a:tcPr>
                    <a:solidFill>
                      <a:srgbClr val="FFFFFF"/>
                    </a:solidFill>
                  </a:tcPr>
                </a:tc>
                <a:tc>
                  <a:txBody>
                    <a:bodyPr/>
                    <a:lstStyle/>
                    <a:p>
                      <a:pPr algn="ctr">
                        <a:defRPr sz="900">
                          <a:solidFill>
                            <a:srgbClr val="000000"/>
                          </a:solidFill>
                          <a:latin typeface="Montserrat"/>
                        </a:defRPr>
                      </a:pPr>
                      <a:r>
                        <a:t>317,582</a:t>
                      </a:r>
                    </a:p>
                  </a:txBody>
                  <a:tcPr>
                    <a:solidFill>
                      <a:srgbClr val="FFFFFF"/>
                    </a:solidFill>
                  </a:tcPr>
                </a:tc>
                <a:tc>
                  <a:txBody>
                    <a:bodyPr/>
                    <a:lstStyle/>
                    <a:p>
                      <a:pPr algn="ctr">
                        <a:defRPr sz="900">
                          <a:solidFill>
                            <a:srgbClr val="000000"/>
                          </a:solidFill>
                          <a:latin typeface="Montserrat"/>
                        </a:defRPr>
                      </a:pPr>
                      <a:r>
                        <a:t>5%</a:t>
                      </a:r>
                    </a:p>
                  </a:txBody>
                  <a:tcPr>
                    <a:solidFill>
                      <a:srgbClr val="FFFFFF"/>
                    </a:solidFill>
                  </a:tcPr>
                </a:tc>
              </a:tr>
              <a:tr h="251999">
                <a:tc>
                  <a:txBody>
                    <a:bodyPr/>
                    <a:lstStyle/>
                    <a:p>
                      <a:pPr algn="l" lvl="1">
                        <a:defRPr sz="900">
                          <a:solidFill>
                            <a:srgbClr val="000000"/>
                          </a:solidFill>
                          <a:latin typeface="Montserrat"/>
                        </a:defRPr>
                      </a:pPr>
                      <a:r>
                        <a:t>Hijas e hijos</a:t>
                      </a:r>
                    </a:p>
                  </a:txBody>
                  <a:tcPr>
                    <a:solidFill>
                      <a:srgbClr val="FFFFFF"/>
                    </a:solidFill>
                  </a:tcPr>
                </a:tc>
                <a:tc>
                  <a:txBody>
                    <a:bodyPr/>
                    <a:lstStyle/>
                    <a:p>
                      <a:pPr algn="ctr">
                        <a:defRPr sz="900">
                          <a:solidFill>
                            <a:srgbClr val="000000"/>
                          </a:solidFill>
                          <a:latin typeface="Montserrat"/>
                        </a:defRPr>
                      </a:pPr>
                      <a:r>
                        <a:t>458,579</a:t>
                      </a:r>
                    </a:p>
                  </a:txBody>
                  <a:tcPr>
                    <a:solidFill>
                      <a:srgbClr val="FFFFFF"/>
                    </a:solidFill>
                  </a:tcPr>
                </a:tc>
                <a:tc>
                  <a:txBody>
                    <a:bodyPr/>
                    <a:lstStyle/>
                    <a:p>
                      <a:pPr algn="ctr">
                        <a:defRPr sz="900">
                          <a:solidFill>
                            <a:srgbClr val="000000"/>
                          </a:solidFill>
                          <a:latin typeface="Montserrat"/>
                        </a:defRPr>
                      </a:pPr>
                      <a:r>
                        <a:t>375,450</a:t>
                      </a:r>
                    </a:p>
                  </a:txBody>
                  <a:tcPr>
                    <a:solidFill>
                      <a:srgbClr val="FFFFFF"/>
                    </a:solidFill>
                  </a:tcPr>
                </a:tc>
                <a:tc>
                  <a:txBody>
                    <a:bodyPr/>
                    <a:lstStyle/>
                    <a:p>
                      <a:pPr algn="ctr">
                        <a:defRPr sz="900">
                          <a:solidFill>
                            <a:srgbClr val="000000"/>
                          </a:solidFill>
                          <a:latin typeface="Montserrat"/>
                        </a:defRPr>
                      </a:pPr>
                      <a:r>
                        <a:t>-18%</a:t>
                      </a:r>
                    </a:p>
                  </a:txBody>
                  <a:tcPr>
                    <a:solidFill>
                      <a:srgbClr val="FFFFFF"/>
                    </a:solidFill>
                  </a:tcPr>
                </a:tc>
              </a:tr>
              <a:tr h="251999">
                <a:tc>
                  <a:txBody>
                    <a:bodyPr/>
                    <a:lstStyle/>
                    <a:p>
                      <a:pPr algn="l" lvl="1">
                        <a:defRPr sz="900">
                          <a:solidFill>
                            <a:srgbClr val="000000"/>
                          </a:solidFill>
                          <a:latin typeface="Montserrat"/>
                        </a:defRPr>
                      </a:pPr>
                      <a:r>
                        <a:t>Madres y padres</a:t>
                      </a:r>
                    </a:p>
                  </a:txBody>
                  <a:tcPr>
                    <a:solidFill>
                      <a:srgbClr val="FFFFFF"/>
                    </a:solidFill>
                  </a:tcPr>
                </a:tc>
                <a:tc>
                  <a:txBody>
                    <a:bodyPr/>
                    <a:lstStyle/>
                    <a:p>
                      <a:pPr algn="ctr">
                        <a:defRPr sz="900">
                          <a:solidFill>
                            <a:srgbClr val="000000"/>
                          </a:solidFill>
                          <a:latin typeface="Montserrat"/>
                        </a:defRPr>
                      </a:pPr>
                      <a:r>
                        <a:t>154,354</a:t>
                      </a:r>
                    </a:p>
                  </a:txBody>
                  <a:tcPr>
                    <a:solidFill>
                      <a:srgbClr val="FFFFFF"/>
                    </a:solidFill>
                  </a:tcPr>
                </a:tc>
                <a:tc>
                  <a:txBody>
                    <a:bodyPr/>
                    <a:lstStyle/>
                    <a:p>
                      <a:pPr algn="ctr">
                        <a:defRPr sz="900">
                          <a:solidFill>
                            <a:srgbClr val="000000"/>
                          </a:solidFill>
                          <a:latin typeface="Montserrat"/>
                        </a:defRPr>
                      </a:pPr>
                      <a:r>
                        <a:t>185,880</a:t>
                      </a:r>
                    </a:p>
                  </a:txBody>
                  <a:tcPr>
                    <a:solidFill>
                      <a:srgbClr val="FFFFFF"/>
                    </a:solidFill>
                  </a:tcPr>
                </a:tc>
                <a:tc>
                  <a:txBody>
                    <a:bodyPr/>
                    <a:lstStyle/>
                    <a:p>
                      <a:pPr algn="ctr">
                        <a:defRPr sz="900">
                          <a:solidFill>
                            <a:srgbClr val="000000"/>
                          </a:solidFill>
                          <a:latin typeface="Montserrat"/>
                        </a:defRPr>
                      </a:pPr>
                      <a:r>
                        <a:t>20%</a:t>
                      </a:r>
                    </a:p>
                  </a:txBody>
                  <a:tcPr>
                    <a:solidFill>
                      <a:srgbClr val="FFFFFF"/>
                    </a:solidFill>
                  </a:tcPr>
                </a:tc>
              </a:tr>
            </a:tbl>
          </a:graphicData>
        </a:graphic>
      </p:graphicFrame>
      <p:graphicFrame>
        <p:nvGraphicFramePr>
          <p:cNvPr id="138" name="Table 137"/>
          <p:cNvGraphicFramePr>
            <a:graphicFrameLocks noGrp="1"/>
          </p:cNvGraphicFramePr>
          <p:nvPr/>
        </p:nvGraphicFramePr>
        <p:xfrm>
          <a:off x="5792400" y="56880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1,462</a:t>
                      </a:r>
                    </a:p>
                  </a:txBody>
                  <a:tcPr>
                    <a:solidFill>
                      <a:srgbClr val="F8F4EC"/>
                    </a:solidFill>
                  </a:tcPr>
                </a:tc>
                <a:tc>
                  <a:txBody>
                    <a:bodyPr/>
                    <a:lstStyle/>
                    <a:p>
                      <a:pPr algn="ctr">
                        <a:defRPr b="1" sz="900">
                          <a:latin typeface="Montserrat"/>
                        </a:defRPr>
                      </a:pPr>
                      <a:r>
                        <a:t>1,438</a:t>
                      </a:r>
                    </a:p>
                  </a:txBody>
                  <a:tcPr>
                    <a:solidFill>
                      <a:srgbClr val="F8F4EC"/>
                    </a:solidFill>
                  </a:tcPr>
                </a:tc>
                <a:tc>
                  <a:txBody>
                    <a:bodyPr/>
                    <a:lstStyle/>
                    <a:p>
                      <a:pPr algn="ctr">
                        <a:defRPr b="1" sz="900">
                          <a:solidFill>
                            <a:srgbClr val="A61C00"/>
                          </a:solidFill>
                          <a:latin typeface="Montserrat"/>
                        </a:defRPr>
                      </a:pPr>
                      <a:r>
                        <a:t>-1%</a:t>
                      </a:r>
                    </a:p>
                  </a:txBody>
                  <a:tcPr>
                    <a:solidFill>
                      <a:srgbClr val="F8F4EC"/>
                    </a:solidFill>
                  </a:tcPr>
                </a:tc>
              </a:tr>
            </a:tbl>
          </a:graphicData>
        </a:graphic>
      </p:graphicFrame>
      <p:graphicFrame>
        <p:nvGraphicFramePr>
          <p:cNvPr id="139" name="Table 138"/>
          <p:cNvGraphicFramePr>
            <a:graphicFrameLocks noGrp="1"/>
          </p:cNvGraphicFramePr>
          <p:nvPr/>
        </p:nvGraphicFramePr>
        <p:xfrm>
          <a:off x="5792400" y="72684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9,258</a:t>
                      </a:r>
                    </a:p>
                  </a:txBody>
                  <a:tcPr>
                    <a:solidFill>
                      <a:srgbClr val="F8F4EC"/>
                    </a:solidFill>
                  </a:tcPr>
                </a:tc>
                <a:tc>
                  <a:txBody>
                    <a:bodyPr/>
                    <a:lstStyle/>
                    <a:p>
                      <a:pPr algn="ctr">
                        <a:defRPr b="1" sz="900">
                          <a:latin typeface="Montserrat"/>
                        </a:defRPr>
                      </a:pPr>
                      <a:r>
                        <a:t>11,842</a:t>
                      </a:r>
                    </a:p>
                  </a:txBody>
                  <a:tcPr>
                    <a:solidFill>
                      <a:srgbClr val="F8F4EC"/>
                    </a:solidFill>
                  </a:tcPr>
                </a:tc>
                <a:tc>
                  <a:txBody>
                    <a:bodyPr/>
                    <a:lstStyle/>
                    <a:p>
                      <a:pPr algn="ctr">
                        <a:defRPr b="1" sz="900">
                          <a:latin typeface="Montserrat"/>
                        </a:defRPr>
                      </a:pPr>
                      <a:r>
                        <a:t>28%</a:t>
                      </a:r>
                    </a:p>
                  </a:txBody>
                  <a:tcPr>
                    <a:solidFill>
                      <a:srgbClr val="F8F4EC"/>
                    </a:solidFill>
                  </a:tcPr>
                </a:tc>
              </a:tr>
            </a:tbl>
          </a:graphicData>
        </a:graphic>
      </p:graphicFrame>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Infraestructura médica IMSS e IMSS Coplamar</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28_tamps.png"/>
          <p:cNvPicPr>
            <a:picLocks noChangeAspect="1"/>
          </p:cNvPicPr>
          <p:nvPr/>
        </p:nvPicPr>
        <p:blipFill>
          <a:blip r:embed="rId4"/>
          <a:stretch>
            <a:fillRect/>
          </a:stretch>
        </p:blipFill>
        <p:spPr>
          <a:xfrm>
            <a:off x="198000" y="1475999"/>
            <a:ext cx="5461200" cy="5011200"/>
          </a:xfrm>
          <a:prstGeom prst="rect">
            <a:avLst/>
          </a:prstGeom>
        </p:spPr>
      </p:pic>
      <p:graphicFrame>
        <p:nvGraphicFramePr>
          <p:cNvPr id="135" name="Table 134"/>
          <p:cNvGraphicFramePr>
            <a:graphicFrameLocks noGrp="1"/>
          </p:cNvGraphicFramePr>
          <p:nvPr/>
        </p:nvGraphicFramePr>
        <p:xfrm>
          <a:off x="97200" y="6854400"/>
          <a:ext cx="4359600" cy="1170000"/>
        </p:xfrm>
        <a:graphic>
          <a:graphicData uri="http://schemas.openxmlformats.org/drawingml/2006/table">
            <a:tbl>
              <a:tblPr firstRow="1" bandRow="1">
                <a:tableStyleId>{5C22544A-7EE6-4342-B048-85BDC9FD1C3A}</a:tableStyleId>
              </a:tblPr>
              <a:tblGrid>
                <a:gridCol w="871920"/>
                <a:gridCol w="871920"/>
                <a:gridCol w="871920"/>
                <a:gridCol w="871920"/>
                <a:gridCol w="871920"/>
              </a:tblGrid>
              <a:tr h="234000">
                <a:tc rowSpan="2">
                  <a:txBody>
                    <a:bodyPr/>
                    <a:lstStyle/>
                    <a:p>
                      <a:pPr algn="ctr">
                        <a:defRPr b="1" sz="1000">
                          <a:solidFill>
                            <a:srgbClr val="FFFFFF"/>
                          </a:solidFill>
                          <a:latin typeface="Montserrat"/>
                        </a:defRPr>
                      </a:pPr>
                      <a:r>
                        <a:t>Nivel</a:t>
                      </a:r>
                    </a:p>
                  </a:txBody>
                  <a:tcPr marL="10800" marR="10800" marT="10800" marB="10800" anchor="ctr">
                    <a:solidFill>
                      <a:srgbClr val="660000"/>
                    </a:solidFill>
                  </a:tcPr>
                </a:tc>
                <a:tc gridSpan="4">
                  <a:txBody>
                    <a:bodyPr/>
                    <a:lstStyle/>
                    <a:p>
                      <a:pPr algn="ctr">
                        <a:defRPr b="1" sz="1000">
                          <a:solidFill>
                            <a:srgbClr val="FFFFFF"/>
                          </a:solidFill>
                          <a:latin typeface="Montserrat"/>
                        </a:defRPr>
                      </a:pPr>
                      <a:r>
                        <a:t>IMSS Ordinario</a:t>
                      </a:r>
                    </a:p>
                  </a:txBody>
                  <a:tcPr marL="10800" marR="10800" marT="10800" marB="10800">
                    <a:solidFill>
                      <a:srgbClr val="006455"/>
                    </a:solidFill>
                  </a:tcPr>
                </a:tc>
                <a:tc hMerge="1">
                  <a:txBody>
                    <a:bodyPr/>
                    <a:lstStyle/>
                    <a:p/>
                  </a:txBody>
                  <a:tcPr marL="10800" marR="10800" marT="10800" marB="10800"/>
                </a:tc>
                <a:tc hMerge="1">
                  <a:txBody>
                    <a:bodyPr/>
                    <a:lstStyle/>
                    <a:p/>
                  </a:txBody>
                  <a:tcPr marL="10800" marR="10800" marT="10800" marB="10800"/>
                </a:tc>
                <a:tc hMerge="1">
                  <a:txBody>
                    <a:bodyPr/>
                    <a:lstStyle/>
                    <a:p/>
                  </a:txBody>
                  <a:tcPr marL="10800" marR="10800" marT="10800" marB="10800"/>
                </a:tc>
              </a:tr>
              <a:tr h="234000">
                <a:tc vMerge="1">
                  <a:txBody>
                    <a:bodyPr/>
                    <a:lstStyle/>
                    <a:p/>
                  </a:txBody>
                  <a:tcPr marL="10800" marR="10800" marT="10800" marB="10800" anchor="ctr">
                    <a:solidFill>
                      <a:srgbClr val="006455"/>
                    </a:solidFill>
                  </a:tcPr>
                </a:tc>
                <a:tc>
                  <a:txBody>
                    <a:bodyPr/>
                    <a:lstStyle/>
                    <a:p>
                      <a:pPr algn="ctr">
                        <a:defRPr b="1" sz="1000">
                          <a:solidFill>
                            <a:srgbClr val="FFFFFF"/>
                          </a:solidFill>
                          <a:latin typeface="Montserrat"/>
                        </a:defRPr>
                      </a:pPr>
                      <a:r>
                        <a:t>Unidades</a:t>
                      </a:r>
                    </a:p>
                  </a:txBody>
                  <a:tcPr marL="10800" marR="10800" marT="10800" marB="10800" anchor="ctr">
                    <a:solidFill>
                      <a:srgbClr val="006455"/>
                    </a:solidFill>
                  </a:tcPr>
                </a:tc>
                <a:tc>
                  <a:txBody>
                    <a:bodyPr/>
                    <a:lstStyle/>
                    <a:p>
                      <a:pPr algn="ctr">
                        <a:defRPr b="1" sz="1000">
                          <a:solidFill>
                            <a:srgbClr val="FFFFFF"/>
                          </a:solidFill>
                          <a:latin typeface="Montserrat"/>
                        </a:defRPr>
                      </a:pPr>
                      <a:r>
                        <a:t>Consultorios de MF</a:t>
                      </a:r>
                    </a:p>
                  </a:txBody>
                  <a:tcPr marL="10800" marR="10800" marT="10800" marB="10800" anchor="ctr">
                    <a:solidFill>
                      <a:srgbClr val="006455"/>
                    </a:solidFill>
                  </a:tcPr>
                </a:tc>
                <a:tc>
                  <a:txBody>
                    <a:bodyPr/>
                    <a:lstStyle/>
                    <a:p>
                      <a:pPr algn="ctr">
                        <a:defRPr b="1" sz="1000">
                          <a:solidFill>
                            <a:srgbClr val="FFFFFF"/>
                          </a:solidFill>
                          <a:latin typeface="Montserrat"/>
                        </a:defRPr>
                      </a:pPr>
                      <a:r>
                        <a:t>Camas</a:t>
                      </a:r>
                    </a:p>
                  </a:txBody>
                  <a:tcPr marL="10800" marR="10800" marT="10800" marB="10800" anchor="ctr">
                    <a:solidFill>
                      <a:srgbClr val="006455"/>
                    </a:solidFill>
                  </a:tcPr>
                </a:tc>
                <a:tc>
                  <a:txBody>
                    <a:bodyPr/>
                    <a:lstStyle/>
                    <a:p>
                      <a:pPr algn="ctr">
                        <a:defRPr b="1" sz="1000">
                          <a:solidFill>
                            <a:srgbClr val="FFFFFF"/>
                          </a:solidFill>
                          <a:latin typeface="Montserrat"/>
                        </a:defRPr>
                      </a:pPr>
                      <a:r>
                        <a:t>Camas no censables</a:t>
                      </a:r>
                    </a:p>
                  </a:txBody>
                  <a:tcPr marL="10800" marR="10800" marT="10800" marB="10800" anchor="ctr">
                    <a:solidFill>
                      <a:srgbClr val="006455"/>
                    </a:solidFill>
                  </a:tcPr>
                </a:tc>
              </a:tr>
              <a:tr h="234000">
                <a:tc>
                  <a:txBody>
                    <a:bodyPr/>
                    <a:lstStyle/>
                    <a:p>
                      <a:pPr algn="l">
                        <a:defRPr sz="1000">
                          <a:solidFill>
                            <a:srgbClr val="000000"/>
                          </a:solidFill>
                          <a:latin typeface="Montserrat"/>
                        </a:defRPr>
                      </a:pPr>
                      <a:r>
                        <a:rPr sz="1000">
                          <a:latin typeface="Montserrat"/>
                        </a:rPr>
                        <a:t>Primer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42</a:t>
                      </a:r>
                      <a:r>
                        <a:rPr sz="700">
                          <a:latin typeface="Montserrat"/>
                        </a:rPr>
                        <a:t> 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273</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74</a:t>
                      </a:r>
                    </a:p>
                  </a:txBody>
                  <a:tcPr marL="10800" marR="10800" marT="10800" marB="10800" anchor="ctr">
                    <a:solidFill>
                      <a:srgbClr val="FFFFFF"/>
                    </a:solidFill>
                  </a:tcPr>
                </a:tc>
              </a:tr>
              <a:tr h="234000">
                <a:tc>
                  <a:txBody>
                    <a:bodyPr/>
                    <a:lstStyle/>
                    <a:p>
                      <a:pPr algn="l">
                        <a:defRPr sz="1000">
                          <a:solidFill>
                            <a:srgbClr val="000000"/>
                          </a:solidFill>
                          <a:latin typeface="Montserrat"/>
                        </a:defRPr>
                      </a:pPr>
                      <a:r>
                        <a:rPr sz="1000">
                          <a:latin typeface="Montserrat"/>
                        </a:rP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7</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16</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1,043</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452</a:t>
                      </a:r>
                    </a:p>
                  </a:txBody>
                  <a:tcPr marL="10800" marR="10800" marT="10800" marB="10800" anchor="ctr">
                    <a:solidFill>
                      <a:srgbClr val="EFEFEF"/>
                    </a:solidFill>
                  </a:tcPr>
                </a:tc>
              </a:tr>
              <a:tr h="234000">
                <a:tc>
                  <a:txBody>
                    <a:bodyPr/>
                    <a:lstStyle/>
                    <a:p>
                      <a:pPr algn="l">
                        <a:defRPr sz="1000" b="1">
                          <a:solidFill>
                            <a:srgbClr val="006556"/>
                          </a:solidFill>
                          <a:latin typeface="Montserrat"/>
                        </a:defRPr>
                      </a:pPr>
                      <a:r>
                        <a:rPr sz="1000">
                          <a:latin typeface="Montserrat"/>
                        </a:rP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49</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289</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1,043</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526</a:t>
                      </a:r>
                    </a:p>
                  </a:txBody>
                  <a:tcPr marL="10800" marR="10800" marT="10800" marB="10800" anchor="ctr">
                    <a:solidFill>
                      <a:srgbClr val="D3E9E7"/>
                    </a:solidFill>
                  </a:tcPr>
                </a:tc>
              </a:tr>
            </a:tbl>
          </a:graphicData>
        </a:graphic>
      </p:graphicFrame>
      <p:graphicFrame>
        <p:nvGraphicFramePr>
          <p:cNvPr id="136" name="Table 135"/>
          <p:cNvGraphicFramePr>
            <a:graphicFrameLocks noGrp="1"/>
          </p:cNvGraphicFramePr>
          <p:nvPr/>
        </p:nvGraphicFramePr>
        <p:xfrm>
          <a:off x="4536000" y="6854400"/>
          <a:ext cx="3096000" cy="1242000"/>
        </p:xfrm>
        <a:graphic>
          <a:graphicData uri="http://schemas.openxmlformats.org/drawingml/2006/table">
            <a:tbl>
              <a:tblPr firstRow="1" bandRow="1">
                <a:tableStyleId>{5C22544A-7EE6-4342-B048-85BDC9FD1C3A}</a:tableStyleId>
              </a:tblPr>
              <a:tblGrid>
                <a:gridCol w="846000"/>
                <a:gridCol w="846000"/>
                <a:gridCol w="846000"/>
                <a:gridCol w="558000"/>
              </a:tblGrid>
              <a:tr h="248400">
                <a:tc gridSpan="4">
                  <a:txBody>
                    <a:bodyPr/>
                    <a:lstStyle/>
                    <a:p>
                      <a:pPr algn="ctr">
                        <a:defRPr b="1" sz="1000">
                          <a:solidFill>
                            <a:srgbClr val="FFFFFF"/>
                          </a:solidFill>
                          <a:latin typeface="Montserrat"/>
                        </a:defRPr>
                      </a:pPr>
                      <a:r>
                        <a:t>IMSS-COPLAMAR</a:t>
                      </a:r>
                    </a:p>
                  </a:txBody>
                  <a:tcPr marL="10800" marR="10800" marT="10800" marB="10800" anchor="ctr">
                    <a:solidFill>
                      <a:srgbClr val="BC955C"/>
                    </a:solidFill>
                  </a:tcPr>
                </a:tc>
                <a:tc hMerge="1">
                  <a:txBody>
                    <a:bodyPr/>
                    <a:lstStyle/>
                    <a:p/>
                  </a:txBody>
                  <a:tcPr marL="10800" marR="10800" marT="10800" marB="10800" anchor="ctr"/>
                </a:tc>
                <a:tc hMerge="1">
                  <a:txBody>
                    <a:bodyPr/>
                    <a:lstStyle/>
                    <a:p/>
                  </a:txBody>
                  <a:tcPr marL="10800" marR="10800" marT="10800" marB="10800" anchor="ctr"/>
                </a:tc>
                <a:tc hMerge="1">
                  <a:txBody>
                    <a:bodyPr/>
                    <a:lstStyle/>
                    <a:p/>
                  </a:txBody>
                  <a:tcPr marL="10800" marR="10800" marT="10800" marB="10800" anchor="ctr"/>
                </a:tc>
              </a:tr>
              <a:tr h="248400">
                <a:tc>
                  <a:txBody>
                    <a:bodyPr/>
                    <a:lstStyle/>
                    <a:p>
                      <a:pPr algn="ctr">
                        <a:defRPr b="1" sz="1000">
                          <a:solidFill>
                            <a:srgbClr val="FFFFFF"/>
                          </a:solidFill>
                          <a:latin typeface="Montserrat"/>
                        </a:defRPr>
                      </a:pPr>
                      <a:r>
                        <a:t>Nivel</a:t>
                      </a:r>
                    </a:p>
                  </a:txBody>
                  <a:tcPr marL="10800" marR="10800" marT="10800" marB="10800" anchor="ctr">
                    <a:solidFill>
                      <a:srgbClr val="BC955C"/>
                    </a:solidFill>
                  </a:tcPr>
                </a:tc>
                <a:tc>
                  <a:txBody>
                    <a:bodyPr/>
                    <a:lstStyle/>
                    <a:p>
                      <a:pPr algn="ctr">
                        <a:defRPr b="1" sz="1000">
                          <a:solidFill>
                            <a:srgbClr val="FFFFFF"/>
                          </a:solidFill>
                          <a:latin typeface="Montserrat"/>
                        </a:defRPr>
                      </a:pPr>
                      <a:r>
                        <a:t>Unidades</a:t>
                      </a:r>
                    </a:p>
                  </a:txBody>
                  <a:tcPr marL="0" marR="0" marT="10800" marB="10800" anchor="ctr">
                    <a:solidFill>
                      <a:srgbClr val="BC955C"/>
                    </a:solidFill>
                  </a:tcPr>
                </a:tc>
                <a:tc>
                  <a:txBody>
                    <a:bodyPr/>
                    <a:lstStyle/>
                    <a:p>
                      <a:pPr algn="ctr">
                        <a:defRPr b="1" sz="1000">
                          <a:solidFill>
                            <a:srgbClr val="FFFFFF"/>
                          </a:solidFill>
                          <a:latin typeface="Montserrat"/>
                        </a:defRPr>
                      </a:pPr>
                      <a:r>
                        <a:t>Consultorios de MF</a:t>
                      </a:r>
                    </a:p>
                  </a:txBody>
                  <a:tcPr marL="0" marR="0" marT="10800" marB="10800" anchor="ctr">
                    <a:solidFill>
                      <a:srgbClr val="BC955C"/>
                    </a:solidFill>
                  </a:tcPr>
                </a:tc>
                <a:tc>
                  <a:txBody>
                    <a:bodyPr/>
                    <a:lstStyle/>
                    <a:p>
                      <a:pPr algn="ctr">
                        <a:defRPr b="1" sz="1000">
                          <a:solidFill>
                            <a:srgbClr val="FFFFFF"/>
                          </a:solidFill>
                          <a:latin typeface="Montserrat"/>
                        </a:defRPr>
                      </a:pPr>
                      <a:r>
                        <a:t>Camas</a:t>
                      </a:r>
                    </a:p>
                  </a:txBody>
                  <a:tcPr marL="0" marR="0" marT="10800" marB="10800" anchor="ctr">
                    <a:solidFill>
                      <a:srgbClr val="BC955C"/>
                    </a:solidFill>
                  </a:tcPr>
                </a:tc>
              </a:tr>
              <a:tr h="248400">
                <a:tc>
                  <a:txBody>
                    <a:bodyPr/>
                    <a:lstStyle/>
                    <a:p>
                      <a:pPr algn="l">
                        <a:defRPr sz="1000">
                          <a:solidFill>
                            <a:srgbClr val="000000"/>
                          </a:solidFill>
                          <a:latin typeface="Montserrat"/>
                        </a:defRPr>
                      </a:pPr>
                      <a:r>
                        <a:t>Primer</a:t>
                      </a:r>
                    </a:p>
                  </a:txBody>
                  <a:tcPr marL="10800" marR="10800" marT="10800" marB="10800" anchor="ctr">
                    <a:solidFill>
                      <a:srgbClr val="FFFFFF"/>
                    </a:solidFill>
                  </a:tcPr>
                </a:tc>
                <a:tc>
                  <a:txBody>
                    <a:bodyPr/>
                    <a:lstStyle/>
                    <a:p>
                      <a:pPr algn="ctr">
                        <a:defRPr sz="1000">
                          <a:solidFill>
                            <a:srgbClr val="000000"/>
                          </a:solidFill>
                          <a:latin typeface="Montserrat"/>
                        </a:defRPr>
                      </a:pPr>
                      <a:r>
                        <a:t>102</a:t>
                      </a:r>
                    </a:p>
                  </a:txBody>
                  <a:tcPr marL="10800" marR="10800" marT="10800" marB="10800" anchor="ctr">
                    <a:solidFill>
                      <a:srgbClr val="FFFFFF"/>
                    </a:solidFill>
                  </a:tcPr>
                </a:tc>
                <a:tc>
                  <a:txBody>
                    <a:bodyPr/>
                    <a:lstStyle/>
                    <a:p>
                      <a:pPr algn="ctr">
                        <a:defRPr sz="1000">
                          <a:solidFill>
                            <a:srgbClr val="000000"/>
                          </a:solidFill>
                          <a:latin typeface="Montserrat"/>
                        </a:defRPr>
                      </a:pPr>
                      <a:r>
                        <a:t>102</a:t>
                      </a:r>
                    </a:p>
                  </a:txBody>
                  <a:tcPr marL="10800" marR="10800" marT="10800" marB="10800" anchor="ctr">
                    <a:solidFill>
                      <a:srgbClr val="FFFFFF"/>
                    </a:solidFill>
                  </a:tcPr>
                </a:tc>
                <a:tc>
                  <a:txBody>
                    <a:bodyPr/>
                    <a:lstStyle/>
                    <a:p>
                      <a:pPr algn="ctr">
                        <a:defRPr sz="1000">
                          <a:solidFill>
                            <a:srgbClr val="000000"/>
                          </a:solidFill>
                          <a:latin typeface="Montserrat"/>
                        </a:defRPr>
                      </a:pPr>
                      <a:r>
                        <a:t>0</a:t>
                      </a:r>
                    </a:p>
                  </a:txBody>
                  <a:tcPr marL="10800" marR="10800" marT="10800" marB="10800" anchor="ctr">
                    <a:solidFill>
                      <a:srgbClr val="FFFFFF"/>
                    </a:solidFill>
                  </a:tcPr>
                </a:tc>
              </a:tr>
              <a:tr h="248400">
                <a:tc>
                  <a:txBody>
                    <a:bodyPr/>
                    <a:lstStyle/>
                    <a:p>
                      <a:pPr algn="l">
                        <a:defRPr sz="1000">
                          <a:solidFill>
                            <a:srgbClr val="000000"/>
                          </a:solidFill>
                          <a:latin typeface="Montserrat"/>
                        </a:defRPr>
                      </a:pPr>
                      <a: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t>4</a:t>
                      </a:r>
                    </a:p>
                  </a:txBody>
                  <a:tcPr marL="10800" marR="10800" marT="10800" marB="10800" anchor="ctr">
                    <a:solidFill>
                      <a:srgbClr val="EFEFEF"/>
                    </a:solidFill>
                  </a:tcPr>
                </a:tc>
                <a:tc>
                  <a:txBody>
                    <a:bodyPr/>
                    <a:lstStyle/>
                    <a:p>
                      <a:pPr algn="ctr">
                        <a:defRPr sz="1000">
                          <a:solidFill>
                            <a:srgbClr val="000000"/>
                          </a:solidFill>
                          <a:latin typeface="Montserrat"/>
                        </a:defRPr>
                      </a:pPr>
                      <a:r>
                        <a:t>16</a:t>
                      </a:r>
                    </a:p>
                  </a:txBody>
                  <a:tcPr marL="10800" marR="10800" marT="10800" marB="10800" anchor="ctr">
                    <a:solidFill>
                      <a:srgbClr val="EFEFEF"/>
                    </a:solidFill>
                  </a:tcPr>
                </a:tc>
                <a:tc>
                  <a:txBody>
                    <a:bodyPr/>
                    <a:lstStyle/>
                    <a:p>
                      <a:pPr algn="ctr">
                        <a:defRPr sz="1000">
                          <a:solidFill>
                            <a:srgbClr val="000000"/>
                          </a:solidFill>
                          <a:latin typeface="Montserrat"/>
                        </a:defRPr>
                      </a:pPr>
                      <a:r>
                        <a:t>89</a:t>
                      </a:r>
                    </a:p>
                  </a:txBody>
                  <a:tcPr marL="10800" marR="10800" marT="10800" marB="10800" anchor="ctr">
                    <a:solidFill>
                      <a:srgbClr val="EFEFEF"/>
                    </a:solidFill>
                  </a:tcPr>
                </a:tc>
              </a:tr>
              <a:tr h="248400">
                <a:tc>
                  <a:txBody>
                    <a:bodyPr/>
                    <a:lstStyle/>
                    <a:p>
                      <a:pPr algn="l">
                        <a:defRPr sz="1000" b="1">
                          <a:solidFill>
                            <a:srgbClr val="006556"/>
                          </a:solidFill>
                          <a:latin typeface="Montserrat"/>
                        </a:defRPr>
                      </a:pPr>
                      <a: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t>106</a:t>
                      </a:r>
                    </a:p>
                  </a:txBody>
                  <a:tcPr marL="10800" marR="10800" marT="10800" marB="10800" anchor="ctr">
                    <a:solidFill>
                      <a:srgbClr val="D3E9E7"/>
                    </a:solidFill>
                  </a:tcPr>
                </a:tc>
                <a:tc>
                  <a:txBody>
                    <a:bodyPr/>
                    <a:lstStyle/>
                    <a:p>
                      <a:pPr algn="ctr">
                        <a:defRPr sz="1000" b="1">
                          <a:solidFill>
                            <a:srgbClr val="006556"/>
                          </a:solidFill>
                          <a:latin typeface="Montserrat"/>
                        </a:defRPr>
                      </a:pPr>
                      <a:r>
                        <a:t>118</a:t>
                      </a:r>
                    </a:p>
                  </a:txBody>
                  <a:tcPr marL="10800" marR="10800" marT="10800" marB="10800" anchor="ctr">
                    <a:solidFill>
                      <a:srgbClr val="D3E9E7"/>
                    </a:solidFill>
                  </a:tcPr>
                </a:tc>
                <a:tc>
                  <a:txBody>
                    <a:bodyPr/>
                    <a:lstStyle/>
                    <a:p>
                      <a:pPr algn="ctr">
                        <a:defRPr sz="1000" b="1">
                          <a:solidFill>
                            <a:srgbClr val="006556"/>
                          </a:solidFill>
                          <a:latin typeface="Montserrat"/>
                        </a:defRPr>
                      </a:pPr>
                      <a:r>
                        <a:t>89</a:t>
                      </a:r>
                    </a:p>
                  </a:txBody>
                  <a:tcPr marL="10800" marR="10800" marT="10800" marB="10800" anchor="ctr">
                    <a:solidFill>
                      <a:srgbClr val="D3E9E7"/>
                    </a:solidFill>
                  </a:tcPr>
                </a:tc>
              </a:tr>
            </a:tbl>
          </a:graphicData>
        </a:graphic>
      </p:graphicFrame>
      <p:graphicFrame>
        <p:nvGraphicFramePr>
          <p:cNvPr id="137" name="Table 136"/>
          <p:cNvGraphicFramePr>
            <a:graphicFrameLocks noGrp="1"/>
          </p:cNvGraphicFramePr>
          <p:nvPr/>
        </p:nvGraphicFramePr>
        <p:xfrm>
          <a:off x="5659200" y="1155600"/>
          <a:ext cx="2026800" cy="1173600"/>
        </p:xfrm>
        <a:graphic>
          <a:graphicData uri="http://schemas.openxmlformats.org/drawingml/2006/table">
            <a:tbl>
              <a:tblPr firstRow="1" bandRow="1">
                <a:tableStyleId>{5C22544A-7EE6-4342-B048-85BDC9FD1C3A}</a:tableStyleId>
              </a:tblPr>
              <a:tblGrid>
                <a:gridCol w="1013400"/>
                <a:gridCol w="1013400"/>
              </a:tblGrid>
              <a:tr h="195600">
                <a:tc>
                  <a:txBody>
                    <a:bodyPr/>
                    <a:lstStyle/>
                    <a:p>
                      <a:pPr algn="ctr">
                        <a:defRPr b="1" sz="1000">
                          <a:solidFill>
                            <a:srgbClr val="FFFFFF"/>
                          </a:solidFill>
                          <a:latin typeface="Montserrat"/>
                        </a:defRPr>
                      </a:pPr>
                      <a:r>
                        <a:t>2o Nivel</a:t>
                      </a:r>
                    </a:p>
                  </a:txBody>
                  <a:tcPr>
                    <a:solidFill>
                      <a:srgbClr val="006455"/>
                    </a:solidFill>
                  </a:tcPr>
                </a:tc>
                <a:tc>
                  <a:txBody>
                    <a:bodyPr/>
                    <a:lstStyle/>
                    <a:p>
                      <a:pPr algn="ctr">
                        <a:defRPr b="1" sz="1000">
                          <a:solidFill>
                            <a:srgbClr val="FFFFFF"/>
                          </a:solidFill>
                          <a:latin typeface="Montserrat"/>
                        </a:defRPr>
                      </a:pPr>
                      <a:r>
                        <a:t>Unidades</a:t>
                      </a:r>
                    </a:p>
                  </a:txBody>
                  <a:tcPr>
                    <a:solidFill>
                      <a:srgbClr val="006455"/>
                    </a:solidFill>
                  </a:tcPr>
                </a:tc>
              </a:tr>
              <a:tr h="195600">
                <a:tc>
                  <a:txBody>
                    <a:bodyPr/>
                    <a:lstStyle/>
                    <a:p>
                      <a:pPr algn="ctr">
                        <a:defRPr sz="1000">
                          <a:solidFill>
                            <a:srgbClr val="000000"/>
                          </a:solidFill>
                          <a:latin typeface="Montserrat"/>
                        </a:defRPr>
                      </a:pPr>
                      <a:r>
                        <a:t>HR</a:t>
                      </a:r>
                    </a:p>
                  </a:txBody>
                  <a:tcPr>
                    <a:solidFill>
                      <a:srgbClr val="EFEFEF"/>
                    </a:solidFill>
                  </a:tcPr>
                </a:tc>
                <a:tc>
                  <a:txBody>
                    <a:bodyPr/>
                    <a:lstStyle/>
                    <a:p>
                      <a:pPr algn="ctr">
                        <a:defRPr sz="1000">
                          <a:solidFill>
                            <a:srgbClr val="000000"/>
                          </a:solidFill>
                          <a:latin typeface="Montserrat"/>
                        </a:defRPr>
                      </a:pPr>
                      <a:r>
                        <a:t>4</a:t>
                      </a:r>
                    </a:p>
                  </a:txBody>
                  <a:tcPr>
                    <a:solidFill>
                      <a:srgbClr val="EFEFEF"/>
                    </a:solidFill>
                  </a:tcPr>
                </a:tc>
              </a:tr>
              <a:tr h="195600">
                <a:tc>
                  <a:txBody>
                    <a:bodyPr/>
                    <a:lstStyle/>
                    <a:p>
                      <a:pPr algn="ctr">
                        <a:defRPr sz="1000">
                          <a:solidFill>
                            <a:srgbClr val="000000"/>
                          </a:solidFill>
                          <a:latin typeface="Montserrat"/>
                        </a:defRPr>
                      </a:pPr>
                      <a:r>
                        <a:t>HGZ</a:t>
                      </a:r>
                    </a:p>
                  </a:txBody>
                  <a:tcPr>
                    <a:solidFill>
                      <a:srgbClr val="FFFFFF"/>
                    </a:solidFill>
                  </a:tcPr>
                </a:tc>
                <a:tc>
                  <a:txBody>
                    <a:bodyPr/>
                    <a:lstStyle/>
                    <a:p>
                      <a:pPr algn="ctr">
                        <a:defRPr sz="1000">
                          <a:solidFill>
                            <a:srgbClr val="000000"/>
                          </a:solidFill>
                          <a:latin typeface="Montserrat"/>
                        </a:defRPr>
                      </a:pPr>
                      <a:r>
                        <a:t>5</a:t>
                      </a:r>
                    </a:p>
                  </a:txBody>
                  <a:tcPr>
                    <a:solidFill>
                      <a:srgbClr val="FFFFFF"/>
                    </a:solidFill>
                  </a:tcPr>
                </a:tc>
              </a:tr>
              <a:tr h="195600">
                <a:tc>
                  <a:txBody>
                    <a:bodyPr/>
                    <a:lstStyle/>
                    <a:p>
                      <a:pPr algn="ctr">
                        <a:defRPr sz="1000">
                          <a:solidFill>
                            <a:srgbClr val="000000"/>
                          </a:solidFill>
                          <a:latin typeface="Montserrat"/>
                        </a:defRPr>
                      </a:pPr>
                      <a:r>
                        <a:t>HGS</a:t>
                      </a:r>
                    </a:p>
                  </a:txBody>
                  <a:tcPr>
                    <a:solidFill>
                      <a:srgbClr val="EFEFEF"/>
                    </a:solidFill>
                  </a:tcPr>
                </a:tc>
                <a:tc>
                  <a:txBody>
                    <a:bodyPr/>
                    <a:lstStyle/>
                    <a:p>
                      <a:pPr algn="ctr">
                        <a:defRPr sz="1000">
                          <a:solidFill>
                            <a:srgbClr val="000000"/>
                          </a:solidFill>
                          <a:latin typeface="Montserrat"/>
                        </a:defRPr>
                      </a:pPr>
                      <a:r>
                        <a:t>1</a:t>
                      </a:r>
                    </a:p>
                  </a:txBody>
                  <a:tcPr>
                    <a:solidFill>
                      <a:srgbClr val="EFEFEF"/>
                    </a:solidFill>
                  </a:tcPr>
                </a:tc>
              </a:tr>
              <a:tr h="195600">
                <a:tc>
                  <a:txBody>
                    <a:bodyPr/>
                    <a:lstStyle/>
                    <a:p>
                      <a:pPr algn="ctr">
                        <a:defRPr sz="1000">
                          <a:solidFill>
                            <a:srgbClr val="000000"/>
                          </a:solidFill>
                          <a:latin typeface="Montserrat"/>
                        </a:defRPr>
                      </a:pPr>
                      <a:r>
                        <a:t>HGR</a:t>
                      </a:r>
                    </a:p>
                  </a:txBody>
                  <a:tcPr>
                    <a:solidFill>
                      <a:srgbClr val="FFFFFF"/>
                    </a:solidFill>
                  </a:tcPr>
                </a:tc>
                <a:tc>
                  <a:txBody>
                    <a:bodyPr/>
                    <a:lstStyle/>
                    <a:p>
                      <a:pPr algn="ctr">
                        <a:defRPr sz="1000">
                          <a:solidFill>
                            <a:srgbClr val="000000"/>
                          </a:solidFill>
                          <a:latin typeface="Montserrat"/>
                        </a:defRPr>
                      </a:pPr>
                      <a:r>
                        <a:t>2</a:t>
                      </a:r>
                    </a:p>
                  </a:txBody>
                  <a:tcPr>
                    <a:solidFill>
                      <a:srgbClr val="FFFFFF"/>
                    </a:solidFill>
                  </a:tcPr>
                </a:tc>
              </a:tr>
              <a:tr h="19560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12</a:t>
                      </a:r>
                    </a:p>
                  </a:txBody>
                  <a:tcPr>
                    <a:solidFill>
                      <a:srgbClr val="D3E9E7"/>
                    </a:solidFill>
                  </a:tcPr>
                </a:tc>
              </a:tr>
            </a:tbl>
          </a:graphicData>
        </a:graphic>
      </p:graphicFrame>
      <p:sp>
        <p:nvSpPr>
          <p:cNvPr id="138" name="TextBox 137"/>
          <p:cNvSpPr txBox="1"/>
          <p:nvPr/>
        </p:nvSpPr>
        <p:spPr>
          <a:xfrm>
            <a:off x="212400" y="8877600"/>
            <a:ext cx="7200000" cy="360000"/>
          </a:xfrm>
          <a:prstGeom prst="rect">
            <a:avLst/>
          </a:prstGeom>
          <a:noFill/>
        </p:spPr>
        <p:txBody>
          <a:bodyPr wrap="square" tIns="0" bIns="0" lIns="0" rIns="0">
            <a:spAutoFit/>
          </a:bodyPr>
          <a:lstStyle/>
          <a:p>
            <a:pPr algn="l">
              <a:defRPr sz="700">
                <a:solidFill>
                  <a:srgbClr val="000000"/>
                </a:solidFill>
                <a:latin typeface="Montserrat"/>
              </a:defRPr>
            </a:pPr>
            <a:r>
              <a:t>¹ Incluye 40 UMF, 2 UMF-UMAA y no incluye 6 Unidades Auxiliares de Medicina Familiar.</a:t>
            </a:r>
            <a:br/>
            <a:r>
              <a:t>² No incluye Unidades médicas móviles (UMM) ni Brigadas de salud (BS).</a:t>
            </a:r>
          </a:p>
        </p:txBody>
      </p:sp>
      <p:sp>
        <p:nvSpPr>
          <p:cNvPr id="139" name="TextBox 138"/>
          <p:cNvSpPr txBox="1"/>
          <p:nvPr/>
        </p:nvSpPr>
        <p:spPr>
          <a:xfrm>
            <a:off x="212400" y="9057600"/>
            <a:ext cx="1713600" cy="1224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de 2026</a:t>
            </a:r>
          </a:p>
        </p:txBody>
      </p:sp>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graphicFrame>
        <p:nvGraphicFramePr>
          <p:cNvPr id="5" name="Google Shape;254;g3d0b4d3c5c9_0_58">
            <a:extLst>
              <a:ext uri="{FF2B5EF4-FFF2-40B4-BE49-F238E27FC236}">
                <a16:creationId xmlns:a16="http://schemas.microsoft.com/office/drawing/2014/main" id="{04FBA469-16E2-B7DE-1FA8-ECC94DD46987}"/>
              </a:ext>
            </a:extLst>
          </p:cNvPr>
          <p:cNvGraphicFramePr/>
          <p:nvPr>
            <p:extLst>
              <p:ext uri="{D42A27DB-BD31-4B8C-83A1-F6EECF244321}">
                <p14:modId xmlns:p14="http://schemas.microsoft.com/office/powerpoint/2010/main" val="3359309684"/>
              </p:ext>
            </p:extLst>
          </p:nvPr>
        </p:nvGraphicFramePr>
        <p:xfrm>
          <a:off x="288000" y="1191600"/>
          <a:ext cx="7198700" cy="548640"/>
        </p:xfrm>
        <a:graphic>
          <a:graphicData uri="http://schemas.openxmlformats.org/drawingml/2006/table">
            <a:tbl>
              <a:tblPr>
                <a:noFill/>
              </a:tblPr>
              <a:tblGrid>
                <a:gridCol w="7198700">
                  <a:extLst>
                    <a:ext uri="{9D8B030D-6E8A-4147-A177-3AD203B41FA5}">
                      <a16:colId xmlns:a16="http://schemas.microsoft.com/office/drawing/2014/main" val="20000"/>
                    </a:ext>
                  </a:extLst>
                </a:gridCol>
              </a:tblGrid>
              <a:tr h="381000">
                <a:tc>
                  <a:txBody>
                    <a:bodyPr/>
                    <a:lstStyle/>
                    <a:p>
                      <a:pPr marL="0" lvl="0" indent="0" algn="l" rtl="0">
                        <a:lnSpc>
                          <a:spcPct val="100000"/>
                        </a:lnSpc>
                        <a:spcBef>
                          <a:spcPts val="0"/>
                        </a:spcBef>
                        <a:spcAft>
                          <a:spcPts val="0"/>
                        </a:spcAft>
                        <a:buClr>
                          <a:schemeClr val="dk1"/>
                        </a:buClr>
                        <a:buSzPts val="1100"/>
                        <a:buFont typeface="Arial"/>
                        <a:buNone/>
                      </a:pPr>
                      <a:r>
                        <a:rPr lang="es" sz="1800" b="1" dirty="0">
                          <a:solidFill>
                            <a:srgbClr val="A42145"/>
                          </a:solidFill>
                          <a:latin typeface="Montserrat"/>
                          <a:ea typeface="Montserrat"/>
                          <a:cs typeface="Montserrat"/>
                          <a:sym typeface="Montserrat"/>
                        </a:rPr>
                        <a:t>Primer hospital en la entidad:</a:t>
                      </a:r>
                      <a:endParaRPr sz="1800" b="1" dirty="0">
                        <a:solidFill>
                          <a:srgbClr val="A42145"/>
                        </a:solidFill>
                        <a:latin typeface="Montserrat"/>
                        <a:ea typeface="Montserrat"/>
                        <a:cs typeface="Montserrat"/>
                        <a:sym typeface="Montserrat"/>
                      </a:endParaRPr>
                    </a:p>
                    <a:p>
                      <a:pPr marL="0" lvl="0" indent="0" algn="l" rtl="0">
                        <a:lnSpc>
                          <a:spcPct val="100000"/>
                        </a:lnSpc>
                        <a:spcBef>
                          <a:spcPts val="0"/>
                        </a:spcBef>
                        <a:spcAft>
                          <a:spcPts val="0"/>
                        </a:spcAft>
                        <a:buClr>
                          <a:schemeClr val="dk1"/>
                        </a:buClr>
                        <a:buSzPts val="1100"/>
                        <a:buFont typeface="Arial"/>
                        <a:buNone/>
                      </a:pPr>
                      <a:r>
                        <a:rPr lang="es" sz="1800" b="1" dirty="0">
                          <a:solidFill>
                            <a:srgbClr val="BC955C"/>
                          </a:solidFill>
                          <a:latin typeface="Montserrat"/>
                          <a:ea typeface="Montserrat"/>
                          <a:cs typeface="Montserrat"/>
                          <a:sym typeface="Montserrat"/>
                        </a:rPr>
                        <a:t>Clínica Hospital No. 11, Nuevo Laredo</a:t>
                      </a:r>
                      <a:endParaRPr sz="1800" b="1"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6" name="Google Shape;256;g3d0b4d3c5c9_0_58">
            <a:extLst>
              <a:ext uri="{FF2B5EF4-FFF2-40B4-BE49-F238E27FC236}">
                <a16:creationId xmlns:a16="http://schemas.microsoft.com/office/drawing/2014/main" id="{5D1BEE81-670A-254B-15C8-6E5B3A507319}"/>
              </a:ext>
            </a:extLst>
          </p:cNvPr>
          <p:cNvPicPr preferRelativeResize="0"/>
          <p:nvPr/>
        </p:nvPicPr>
        <p:blipFill>
          <a:blip r:embed="rId4">
            <a:alphaModFix/>
          </a:blip>
          <a:stretch>
            <a:fillRect/>
          </a:stretch>
        </p:blipFill>
        <p:spPr>
          <a:xfrm flipH="1">
            <a:off x="371060" y="2347411"/>
            <a:ext cx="2716696" cy="1846181"/>
          </a:xfrm>
          <a:prstGeom prst="rect">
            <a:avLst/>
          </a:prstGeom>
          <a:noFill/>
          <a:ln>
            <a:noFill/>
          </a:ln>
        </p:spPr>
      </p:pic>
      <p:sp>
        <p:nvSpPr>
          <p:cNvPr id="7" name="CuadroTexto 6">
            <a:extLst>
              <a:ext uri="{FF2B5EF4-FFF2-40B4-BE49-F238E27FC236}">
                <a16:creationId xmlns:a16="http://schemas.microsoft.com/office/drawing/2014/main" id="{47C18AA5-16CE-E9BB-B9A7-2A31CF00968A}"/>
              </a:ext>
            </a:extLst>
          </p:cNvPr>
          <p:cNvSpPr txBox="1"/>
          <p:nvPr/>
        </p:nvSpPr>
        <p:spPr>
          <a:xfrm>
            <a:off x="3286539" y="1898332"/>
            <a:ext cx="4330413" cy="2744341"/>
          </a:xfrm>
          <a:prstGeom prst="rect">
            <a:avLst/>
          </a:prstGeom>
          <a:noFill/>
        </p:spPr>
        <p:txBody>
          <a:bodyPr wrap="square">
            <a:spAutoFit/>
          </a:bodyPr>
          <a:lstStyle/>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IMSS comenzó a operar  el 1 de agosto de 1951, en Nuevo Laredo, con el servicio de afiliación y vigencia. El 26 de julio de 1952, los servicios médicos se otorgaron mediante consulta externa en un edificio provisional (antiguas garitas de un puente internacional), mientras que la atención hospitalaria era subrogada al Sanatorio Isabel.</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primer hospital del IMSS en Tamaulipas fue la Clínica Hospital No. 11, en Nuevo Laredo, inaugurado el 1 de octubre de 1964. En 1980 fue remodelada y elevada a la categoría de Hospital General de Zona (HGZ) No. 11.</a:t>
            </a:r>
            <a:r>
              <a:rPr lang="es-ES" sz="1100" b="0" i="0" u="none" strike="noStrike" dirty="0">
                <a:solidFill>
                  <a:srgbClr val="000000"/>
                </a:solidFill>
                <a:effectLst/>
                <a:latin typeface="Montserrat" panose="00000500000000000000" pitchFamily="2" charset="0"/>
                <a:hlinkClick r:id="rId5"/>
              </a:rPr>
              <a:t> </a:t>
            </a:r>
            <a:endParaRPr lang="es-ES" sz="1100" b="0" i="0" u="none" strike="noStrike" dirty="0">
              <a:solidFill>
                <a:srgbClr val="000000"/>
              </a:solidFill>
              <a:effectLst/>
              <a:latin typeface="Montserrat" panose="00000500000000000000" pitchFamily="2" charset="0"/>
            </a:endParaRP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La unidad contaba con capacidad hospitalaria acorde a un hospital general de la época, y brindó consulta externa, hospitalización general, urgencias, cirugía básica, gineco‑obstetricia, medicina interna y pediatría.</a:t>
            </a:r>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9" name="TextBox 8"/>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10" name="Connector 9"/>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11" name="Picture 10" descr="28_TAMAULIPAS.png"/>
          <p:cNvPicPr>
            <a:picLocks noChangeAspect="1"/>
          </p:cNvPicPr>
          <p:nvPr/>
        </p:nvPicPr>
        <p:blipFill>
          <a:blip r:embed="rId6"/>
          <a:stretch>
            <a:fillRect/>
          </a:stretch>
        </p:blipFill>
        <p:spPr>
          <a:xfrm>
            <a:off x="122400" y="5666400"/>
            <a:ext cx="7488000" cy="727200"/>
          </a:xfrm>
          <a:prstGeom prst="rect">
            <a:avLst/>
          </a:prstGeom>
        </p:spPr>
      </p:pic>
      <p:graphicFrame>
        <p:nvGraphicFramePr>
          <p:cNvPr id="12" name="Table 11"/>
          <p:cNvGraphicFramePr>
            <a:graphicFrameLocks noGrp="1"/>
          </p:cNvGraphicFramePr>
          <p:nvPr/>
        </p:nvGraphicFramePr>
        <p:xfrm>
          <a:off x="75600" y="6476399"/>
          <a:ext cx="7650000" cy="23040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HGZ 3 Mante</a:t>
                      </a:r>
                    </a:p>
                  </a:txBody>
                  <a:tcPr anchor="ctr">
                    <a:solidFill>
                      <a:srgbClr val="FFFFFF"/>
                    </a:solidFill>
                  </a:tcPr>
                </a:tc>
                <a:tc>
                  <a:txBody>
                    <a:bodyPr/>
                    <a:lstStyle/>
                    <a:p>
                      <a:pPr algn="ctr">
                        <a:defRPr sz="900">
                          <a:latin typeface="Montserrat"/>
                        </a:defRPr>
                      </a:pPr>
                      <a:r>
                        <a:t>Octubre de 1964</a:t>
                      </a:r>
                    </a:p>
                  </a:txBody>
                  <a:tcPr anchor="ctr">
                    <a:solidFill>
                      <a:srgbClr val="FFFFFF"/>
                    </a:solidFill>
                  </a:tcPr>
                </a:tc>
                <a:tc>
                  <a:txBody>
                    <a:bodyPr/>
                    <a:lstStyle/>
                    <a:p>
                      <a:pPr algn="ctr">
                        <a:defRPr sz="900">
                          <a:latin typeface="Montserrat"/>
                        </a:defRPr>
                      </a:pPr>
                      <a:r>
                        <a:t>130</a:t>
                      </a:r>
                    </a:p>
                  </a:txBody>
                  <a:tcPr anchor="ctr">
                    <a:solidFill>
                      <a:srgbClr val="FFFFFF"/>
                    </a:solidFill>
                  </a:tcPr>
                </a:tc>
                <a:tc>
                  <a:txBody>
                    <a:bodyPr/>
                    <a:lstStyle/>
                    <a:p>
                      <a:pPr algn="ctr">
                        <a:defRPr sz="900">
                          <a:latin typeface="Montserrat"/>
                        </a:defRPr>
                      </a:pPr>
                      <a:r>
                        <a:t>43</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3</a:t>
                      </a:r>
                    </a:p>
                  </a:txBody>
                  <a:tcPr anchor="ctr">
                    <a:solidFill>
                      <a:srgbClr val="FFFFFF"/>
                    </a:solidFill>
                  </a:tcPr>
                </a:tc>
                <a:tc>
                  <a:txBody>
                    <a:bodyPr/>
                    <a:lstStyle/>
                    <a:p>
                      <a:pPr algn="ctr">
                        <a:defRPr sz="900">
                          <a:latin typeface="Montserrat"/>
                        </a:defRPr>
                      </a:pPr>
                      <a:r>
                        <a:t>16</a:t>
                      </a:r>
                    </a:p>
                  </a:txBody>
                  <a:tcPr anchor="ctr">
                    <a:solidFill>
                      <a:srgbClr val="FFFFFF"/>
                    </a:solidFill>
                  </a:tcPr>
                </a:tc>
              </a:tr>
              <a:tr h="230400">
                <a:tc>
                  <a:txBody>
                    <a:bodyPr/>
                    <a:lstStyle/>
                    <a:p>
                      <a:pPr algn="l">
                        <a:defRPr sz="900">
                          <a:latin typeface="Montserrat"/>
                        </a:defRPr>
                      </a:pPr>
                      <a:r>
                        <a:t>HGZ 11 Nuevo Laredo</a:t>
                      </a:r>
                    </a:p>
                  </a:txBody>
                  <a:tcPr anchor="ctr">
                    <a:solidFill>
                      <a:srgbClr val="EFEFEF"/>
                    </a:solidFill>
                  </a:tcPr>
                </a:tc>
                <a:tc>
                  <a:txBody>
                    <a:bodyPr/>
                    <a:lstStyle/>
                    <a:p>
                      <a:pPr algn="ctr">
                        <a:defRPr sz="900">
                          <a:latin typeface="Montserrat"/>
                        </a:defRPr>
                      </a:pPr>
                      <a:r>
                        <a:t>Octubre de 1964</a:t>
                      </a:r>
                    </a:p>
                  </a:txBody>
                  <a:tcPr anchor="ctr">
                    <a:solidFill>
                      <a:srgbClr val="EFEFEF"/>
                    </a:solidFill>
                  </a:tcPr>
                </a:tc>
                <a:tc>
                  <a:txBody>
                    <a:bodyPr/>
                    <a:lstStyle/>
                    <a:p>
                      <a:pPr algn="ctr">
                        <a:defRPr sz="900">
                          <a:latin typeface="Montserrat"/>
                        </a:defRPr>
                      </a:pPr>
                      <a:r>
                        <a:t>102</a:t>
                      </a:r>
                    </a:p>
                  </a:txBody>
                  <a:tcPr anchor="ctr">
                    <a:solidFill>
                      <a:srgbClr val="EFEFEF"/>
                    </a:solidFill>
                  </a:tcPr>
                </a:tc>
                <a:tc>
                  <a:txBody>
                    <a:bodyPr/>
                    <a:lstStyle/>
                    <a:p>
                      <a:pPr algn="ctr">
                        <a:defRPr sz="900">
                          <a:latin typeface="Montserrat"/>
                        </a:defRPr>
                      </a:pPr>
                      <a:r>
                        <a:t>54</a:t>
                      </a:r>
                    </a:p>
                  </a:txBody>
                  <a:tcPr anchor="ctr">
                    <a:solidFill>
                      <a:srgbClr val="EFEFEF"/>
                    </a:solidFill>
                  </a:tcPr>
                </a:tc>
                <a:tc>
                  <a:txBody>
                    <a:bodyPr/>
                    <a:lstStyle/>
                    <a:p>
                      <a:pPr algn="ctr">
                        <a:defRPr sz="900">
                          <a:latin typeface="Montserrat"/>
                        </a:defRPr>
                      </a:pPr>
                      <a:r>
                        <a:t>4</a:t>
                      </a:r>
                    </a:p>
                  </a:txBody>
                  <a:tcPr anchor="ctr">
                    <a:solidFill>
                      <a:srgbClr val="EFEFEF"/>
                    </a:solidFill>
                  </a:tcPr>
                </a:tc>
                <a:tc>
                  <a:txBody>
                    <a:bodyPr/>
                    <a:lstStyle/>
                    <a:p>
                      <a:pPr algn="ctr">
                        <a:defRPr sz="900">
                          <a:latin typeface="Montserrat"/>
                        </a:defRPr>
                      </a:pPr>
                      <a:r>
                        <a:t>5</a:t>
                      </a:r>
                    </a:p>
                  </a:txBody>
                  <a:tcPr anchor="ctr">
                    <a:solidFill>
                      <a:srgbClr val="EFEFEF"/>
                    </a:solidFill>
                  </a:tcPr>
                </a:tc>
                <a:tc>
                  <a:txBody>
                    <a:bodyPr/>
                    <a:lstStyle/>
                    <a:p>
                      <a:pPr algn="ctr">
                        <a:defRPr sz="900">
                          <a:latin typeface="Montserrat"/>
                        </a:defRPr>
                      </a:pPr>
                      <a:r>
                        <a:t>20</a:t>
                      </a:r>
                    </a:p>
                  </a:txBody>
                  <a:tcPr anchor="ctr">
                    <a:solidFill>
                      <a:srgbClr val="EFEFEF"/>
                    </a:solidFill>
                  </a:tcPr>
                </a:tc>
              </a:tr>
              <a:tr h="230400">
                <a:tc>
                  <a:txBody>
                    <a:bodyPr/>
                    <a:lstStyle/>
                    <a:p>
                      <a:pPr algn="l">
                        <a:defRPr sz="900">
                          <a:latin typeface="Montserrat"/>
                        </a:defRPr>
                      </a:pPr>
                      <a:r>
                        <a:t>HGZMF 1 Ciudad Victoria</a:t>
                      </a:r>
                    </a:p>
                  </a:txBody>
                  <a:tcPr anchor="ctr">
                    <a:solidFill>
                      <a:srgbClr val="FFFFFF"/>
                    </a:solidFill>
                  </a:tcPr>
                </a:tc>
                <a:tc>
                  <a:txBody>
                    <a:bodyPr/>
                    <a:lstStyle/>
                    <a:p>
                      <a:pPr algn="ctr">
                        <a:defRPr sz="900">
                          <a:latin typeface="Montserrat"/>
                        </a:defRPr>
                      </a:pPr>
                      <a:r>
                        <a:t>Febrero de 1968</a:t>
                      </a:r>
                    </a:p>
                  </a:txBody>
                  <a:tcPr anchor="ctr">
                    <a:solidFill>
                      <a:srgbClr val="FFFFFF"/>
                    </a:solidFill>
                  </a:tcPr>
                </a:tc>
                <a:tc>
                  <a:txBody>
                    <a:bodyPr/>
                    <a:lstStyle/>
                    <a:p>
                      <a:pPr algn="ctr">
                        <a:defRPr sz="900">
                          <a:latin typeface="Montserrat"/>
                        </a:defRPr>
                      </a:pPr>
                      <a:r>
                        <a:t>97</a:t>
                      </a:r>
                    </a:p>
                  </a:txBody>
                  <a:tcPr anchor="ctr">
                    <a:solidFill>
                      <a:srgbClr val="FFFFFF"/>
                    </a:solidFill>
                  </a:tcPr>
                </a:tc>
                <a:tc>
                  <a:txBody>
                    <a:bodyPr/>
                    <a:lstStyle/>
                    <a:p>
                      <a:pPr algn="ctr">
                        <a:defRPr sz="900">
                          <a:latin typeface="Montserrat"/>
                        </a:defRPr>
                      </a:pPr>
                      <a:r>
                        <a:t>50</a:t>
                      </a:r>
                    </a:p>
                  </a:txBody>
                  <a:tcPr anchor="ctr">
                    <a:solidFill>
                      <a:srgbClr val="FFFFFF"/>
                    </a:solidFill>
                  </a:tcPr>
                </a:tc>
                <a:tc>
                  <a:txBody>
                    <a:bodyPr/>
                    <a:lstStyle/>
                    <a:p>
                      <a:pPr algn="ctr">
                        <a:defRPr sz="900">
                          <a:latin typeface="Montserrat"/>
                        </a:defRPr>
                      </a:pPr>
                      <a:r>
                        <a:t>3</a:t>
                      </a:r>
                    </a:p>
                  </a:txBody>
                  <a:tcPr anchor="ctr">
                    <a:solidFill>
                      <a:srgbClr val="FFFFFF"/>
                    </a:solidFill>
                  </a:tcPr>
                </a:tc>
                <a:tc>
                  <a:txBody>
                    <a:bodyPr/>
                    <a:lstStyle/>
                    <a:p>
                      <a:pPr algn="ctr">
                        <a:defRPr sz="900">
                          <a:latin typeface="Montserrat"/>
                        </a:defRPr>
                      </a:pPr>
                      <a:r>
                        <a:t>3</a:t>
                      </a:r>
                    </a:p>
                  </a:txBody>
                  <a:tcPr anchor="ctr">
                    <a:solidFill>
                      <a:srgbClr val="FFFFFF"/>
                    </a:solidFill>
                  </a:tcPr>
                </a:tc>
                <a:tc>
                  <a:txBody>
                    <a:bodyPr/>
                    <a:lstStyle/>
                    <a:p>
                      <a:pPr algn="ctr">
                        <a:defRPr sz="900">
                          <a:latin typeface="Montserrat"/>
                        </a:defRPr>
                      </a:pPr>
                      <a:r>
                        <a:t>13</a:t>
                      </a:r>
                    </a:p>
                  </a:txBody>
                  <a:tcPr anchor="ctr">
                    <a:solidFill>
                      <a:srgbClr val="FFFFFF"/>
                    </a:solidFill>
                  </a:tcPr>
                </a:tc>
              </a:tr>
              <a:tr h="230400">
                <a:tc>
                  <a:txBody>
                    <a:bodyPr/>
                    <a:lstStyle/>
                    <a:p>
                      <a:pPr algn="l">
                        <a:defRPr sz="900">
                          <a:latin typeface="Montserrat"/>
                        </a:defRPr>
                      </a:pPr>
                      <a:r>
                        <a:t>HGZ-UMAA 15 Ciudad Reynosa</a:t>
                      </a:r>
                    </a:p>
                  </a:txBody>
                  <a:tcPr anchor="ctr">
                    <a:solidFill>
                      <a:srgbClr val="EFEFEF"/>
                    </a:solidFill>
                  </a:tcPr>
                </a:tc>
                <a:tc>
                  <a:txBody>
                    <a:bodyPr/>
                    <a:lstStyle/>
                    <a:p>
                      <a:pPr algn="ctr">
                        <a:defRPr sz="900">
                          <a:latin typeface="Montserrat"/>
                        </a:defRPr>
                      </a:pPr>
                      <a:r>
                        <a:t>Febrero de 1968</a:t>
                      </a:r>
                    </a:p>
                  </a:txBody>
                  <a:tcPr anchor="ctr">
                    <a:solidFill>
                      <a:srgbClr val="EFEFEF"/>
                    </a:solidFill>
                  </a:tcPr>
                </a:tc>
                <a:tc>
                  <a:txBody>
                    <a:bodyPr/>
                    <a:lstStyle/>
                    <a:p>
                      <a:pPr algn="ctr">
                        <a:defRPr sz="900">
                          <a:latin typeface="Montserrat"/>
                        </a:defRPr>
                      </a:pPr>
                      <a:r>
                        <a:t>160</a:t>
                      </a:r>
                    </a:p>
                  </a:txBody>
                  <a:tcPr anchor="ctr">
                    <a:solidFill>
                      <a:srgbClr val="EFEFEF"/>
                    </a:solidFill>
                  </a:tcPr>
                </a:tc>
                <a:tc>
                  <a:txBody>
                    <a:bodyPr/>
                    <a:lstStyle/>
                    <a:p>
                      <a:pPr algn="ctr">
                        <a:defRPr sz="900">
                          <a:latin typeface="Montserrat"/>
                        </a:defRPr>
                      </a:pPr>
                      <a:r>
                        <a:t>87</a:t>
                      </a:r>
                    </a:p>
                  </a:txBody>
                  <a:tcPr anchor="ctr">
                    <a:solidFill>
                      <a:srgbClr val="EFEFEF"/>
                    </a:solidFill>
                  </a:tcPr>
                </a:tc>
                <a:tc>
                  <a:txBody>
                    <a:bodyPr/>
                    <a:lstStyle/>
                    <a:p>
                      <a:pPr algn="ctr">
                        <a:defRPr sz="900">
                          <a:latin typeface="Montserrat"/>
                        </a:defRPr>
                      </a:pPr>
                      <a:r>
                        <a:t>6</a:t>
                      </a:r>
                    </a:p>
                  </a:txBody>
                  <a:tcPr anchor="ctr">
                    <a:solidFill>
                      <a:srgbClr val="EFEFEF"/>
                    </a:solidFill>
                  </a:tcPr>
                </a:tc>
                <a:tc>
                  <a:txBody>
                    <a:bodyPr/>
                    <a:lstStyle/>
                    <a:p>
                      <a:pPr algn="ctr">
                        <a:defRPr sz="900">
                          <a:latin typeface="Montserrat"/>
                        </a:defRPr>
                      </a:pPr>
                      <a:r>
                        <a:t>5</a:t>
                      </a:r>
                    </a:p>
                  </a:txBody>
                  <a:tcPr anchor="ctr">
                    <a:solidFill>
                      <a:srgbClr val="EFEFEF"/>
                    </a:solidFill>
                  </a:tcPr>
                </a:tc>
                <a:tc>
                  <a:txBody>
                    <a:bodyPr/>
                    <a:lstStyle/>
                    <a:p>
                      <a:pPr algn="ctr">
                        <a:defRPr sz="900">
                          <a:latin typeface="Montserrat"/>
                        </a:defRPr>
                      </a:pPr>
                      <a:r>
                        <a:t>24</a:t>
                      </a:r>
                    </a:p>
                  </a:txBody>
                  <a:tcPr anchor="ctr">
                    <a:solidFill>
                      <a:srgbClr val="EFEFEF"/>
                    </a:solidFill>
                  </a:tcPr>
                </a:tc>
              </a:tr>
              <a:tr h="230400">
                <a:tc>
                  <a:txBody>
                    <a:bodyPr/>
                    <a:lstStyle/>
                    <a:p>
                      <a:pPr algn="l">
                        <a:defRPr sz="900">
                          <a:latin typeface="Montserrat"/>
                        </a:defRPr>
                      </a:pPr>
                      <a:r>
                        <a:t>HGR 6 Ciudad Madero.</a:t>
                      </a:r>
                    </a:p>
                  </a:txBody>
                  <a:tcPr anchor="ctr">
                    <a:solidFill>
                      <a:srgbClr val="FFFFFF"/>
                    </a:solidFill>
                  </a:tcPr>
                </a:tc>
                <a:tc>
                  <a:txBody>
                    <a:bodyPr/>
                    <a:lstStyle/>
                    <a:p>
                      <a:pPr algn="ctr">
                        <a:defRPr sz="900">
                          <a:latin typeface="Montserrat"/>
                        </a:defRPr>
                      </a:pPr>
                      <a:r>
                        <a:t>Marzo de 1970</a:t>
                      </a:r>
                    </a:p>
                  </a:txBody>
                  <a:tcPr anchor="ctr">
                    <a:solidFill>
                      <a:srgbClr val="FFFFFF"/>
                    </a:solidFill>
                  </a:tcPr>
                </a:tc>
                <a:tc>
                  <a:txBody>
                    <a:bodyPr/>
                    <a:lstStyle/>
                    <a:p>
                      <a:pPr algn="ctr">
                        <a:defRPr sz="900">
                          <a:latin typeface="Montserrat"/>
                        </a:defRPr>
                      </a:pPr>
                      <a:r>
                        <a:t>286</a:t>
                      </a:r>
                    </a:p>
                  </a:txBody>
                  <a:tcPr anchor="ctr">
                    <a:solidFill>
                      <a:srgbClr val="FFFFFF"/>
                    </a:solidFill>
                  </a:tcPr>
                </a:tc>
                <a:tc>
                  <a:txBody>
                    <a:bodyPr/>
                    <a:lstStyle/>
                    <a:p>
                      <a:pPr algn="ctr">
                        <a:defRPr sz="900">
                          <a:latin typeface="Montserrat"/>
                        </a:defRPr>
                      </a:pPr>
                      <a:r>
                        <a:t>118</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t>7</a:t>
                      </a:r>
                    </a:p>
                  </a:txBody>
                  <a:tcPr anchor="ctr">
                    <a:solidFill>
                      <a:srgbClr val="FFFFFF"/>
                    </a:solidFill>
                  </a:tcPr>
                </a:tc>
                <a:tc>
                  <a:txBody>
                    <a:bodyPr/>
                    <a:lstStyle/>
                    <a:p>
                      <a:pPr algn="ctr">
                        <a:defRPr sz="900">
                          <a:latin typeface="Montserrat"/>
                        </a:defRPr>
                      </a:pPr>
                      <a:r>
                        <a:t>44</a:t>
                      </a:r>
                    </a:p>
                  </a:txBody>
                  <a:tcPr anchor="ctr">
                    <a:solidFill>
                      <a:srgbClr val="FFFFFF"/>
                    </a:solidFill>
                  </a:tcPr>
                </a:tc>
              </a:tr>
              <a:tr h="230400">
                <a:tc>
                  <a:txBody>
                    <a:bodyPr/>
                    <a:lstStyle/>
                    <a:p>
                      <a:pPr algn="l">
                        <a:defRPr sz="900">
                          <a:latin typeface="Montserrat"/>
                        </a:defRPr>
                      </a:pPr>
                      <a:r>
                        <a:t>HGZ 13 Matamoros</a:t>
                      </a:r>
                    </a:p>
                  </a:txBody>
                  <a:tcPr anchor="ctr">
                    <a:solidFill>
                      <a:srgbClr val="EFEFEF"/>
                    </a:solidFill>
                  </a:tcPr>
                </a:tc>
                <a:tc>
                  <a:txBody>
                    <a:bodyPr/>
                    <a:lstStyle/>
                    <a:p>
                      <a:pPr algn="ctr">
                        <a:defRPr sz="900">
                          <a:latin typeface="Montserrat"/>
                        </a:defRPr>
                      </a:pPr>
                      <a:r>
                        <a:t>Febrero de 1976</a:t>
                      </a:r>
                    </a:p>
                  </a:txBody>
                  <a:tcPr anchor="ctr">
                    <a:solidFill>
                      <a:srgbClr val="EFEFEF"/>
                    </a:solidFill>
                  </a:tcPr>
                </a:tc>
                <a:tc>
                  <a:txBody>
                    <a:bodyPr/>
                    <a:lstStyle/>
                    <a:p>
                      <a:pPr algn="ctr">
                        <a:defRPr sz="900">
                          <a:latin typeface="Montserrat"/>
                        </a:defRPr>
                      </a:pPr>
                      <a:r>
                        <a:t>161</a:t>
                      </a:r>
                    </a:p>
                  </a:txBody>
                  <a:tcPr anchor="ctr">
                    <a:solidFill>
                      <a:srgbClr val="EFEFEF"/>
                    </a:solidFill>
                  </a:tcPr>
                </a:tc>
                <a:tc>
                  <a:txBody>
                    <a:bodyPr/>
                    <a:lstStyle/>
                    <a:p>
                      <a:pPr algn="ctr">
                        <a:defRPr sz="900">
                          <a:latin typeface="Montserrat"/>
                        </a:defRPr>
                      </a:pPr>
                      <a:r>
                        <a:t>70</a:t>
                      </a:r>
                    </a:p>
                  </a:txBody>
                  <a:tcPr anchor="ctr">
                    <a:solidFill>
                      <a:srgbClr val="EFEFEF"/>
                    </a:solidFill>
                  </a:tcPr>
                </a:tc>
                <a:tc>
                  <a:txBody>
                    <a:bodyPr/>
                    <a:lstStyle/>
                    <a:p>
                      <a:pPr algn="ctr">
                        <a:defRPr sz="900">
                          <a:latin typeface="Montserrat"/>
                        </a:defRPr>
                      </a:pPr>
                      <a:r>
                        <a:t>4</a:t>
                      </a:r>
                    </a:p>
                  </a:txBody>
                  <a:tcPr anchor="ctr">
                    <a:solidFill>
                      <a:srgbClr val="EFEFEF"/>
                    </a:solidFill>
                  </a:tcPr>
                </a:tc>
                <a:tc>
                  <a:txBody>
                    <a:bodyPr/>
                    <a:lstStyle/>
                    <a:p>
                      <a:pPr algn="ctr">
                        <a:defRPr sz="900">
                          <a:latin typeface="Montserrat"/>
                        </a:defRPr>
                      </a:pPr>
                      <a:r>
                        <a:t>4</a:t>
                      </a:r>
                    </a:p>
                  </a:txBody>
                  <a:tcPr anchor="ctr">
                    <a:solidFill>
                      <a:srgbClr val="EFEFEF"/>
                    </a:solidFill>
                  </a:tcPr>
                </a:tc>
                <a:tc>
                  <a:txBody>
                    <a:bodyPr/>
                    <a:lstStyle/>
                    <a:p>
                      <a:pPr algn="ctr">
                        <a:defRPr sz="900">
                          <a:latin typeface="Montserrat"/>
                        </a:defRPr>
                      </a:pPr>
                      <a:r>
                        <a:t>18</a:t>
                      </a:r>
                    </a:p>
                  </a:txBody>
                  <a:tcPr anchor="ctr">
                    <a:solidFill>
                      <a:srgbClr val="EFEFEF"/>
                    </a:solidFill>
                  </a:tcPr>
                </a:tc>
              </a:tr>
              <a:tr h="230400">
                <a:tc>
                  <a:txBody>
                    <a:bodyPr/>
                    <a:lstStyle/>
                    <a:p>
                      <a:pPr algn="l">
                        <a:defRPr sz="900">
                          <a:latin typeface="Montserrat"/>
                        </a:defRPr>
                      </a:pPr>
                      <a:r>
                        <a:t>HGS 17 Miguel Alemán</a:t>
                      </a:r>
                    </a:p>
                  </a:txBody>
                  <a:tcPr anchor="ctr">
                    <a:solidFill>
                      <a:srgbClr val="FFFFFF"/>
                    </a:solidFill>
                  </a:tcPr>
                </a:tc>
                <a:tc>
                  <a:txBody>
                    <a:bodyPr/>
                    <a:lstStyle/>
                    <a:p>
                      <a:pPr algn="ctr">
                        <a:defRPr sz="900">
                          <a:latin typeface="Montserrat"/>
                        </a:defRPr>
                      </a:pPr>
                      <a:r>
                        <a:t>Marzo de 2012</a:t>
                      </a:r>
                    </a:p>
                  </a:txBody>
                  <a:tcPr anchor="ctr">
                    <a:solidFill>
                      <a:srgbClr val="FFFFFF"/>
                    </a:solidFill>
                  </a:tcPr>
                </a:tc>
                <a:tc>
                  <a:txBody>
                    <a:bodyPr/>
                    <a:lstStyle/>
                    <a:p>
                      <a:pPr algn="ctr">
                        <a:defRPr sz="900">
                          <a:latin typeface="Montserrat"/>
                        </a:defRPr>
                      </a:pPr>
                      <a:r>
                        <a:t>27</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8</a:t>
                      </a:r>
                    </a:p>
                  </a:txBody>
                  <a:tcPr anchor="ctr">
                    <a:solidFill>
                      <a:srgbClr val="FFFFFF"/>
                    </a:solidFill>
                  </a:tcPr>
                </a:tc>
              </a:tr>
              <a:tr h="230400">
                <a:tc>
                  <a:txBody>
                    <a:bodyPr/>
                    <a:lstStyle/>
                    <a:p>
                      <a:pPr algn="l">
                        <a:defRPr sz="900">
                          <a:latin typeface="Montserrat"/>
                        </a:defRPr>
                      </a:pPr>
                      <a:r>
                        <a:t>HGR 270 Reynosa</a:t>
                      </a:r>
                    </a:p>
                  </a:txBody>
                  <a:tcPr anchor="ctr">
                    <a:solidFill>
                      <a:srgbClr val="EFEFEF"/>
                    </a:solidFill>
                  </a:tcPr>
                </a:tc>
                <a:tc>
                  <a:txBody>
                    <a:bodyPr/>
                    <a:lstStyle/>
                    <a:p>
                      <a:pPr algn="ctr">
                        <a:defRPr sz="900">
                          <a:latin typeface="Montserrat"/>
                        </a:defRPr>
                      </a:pPr>
                      <a:r>
                        <a:t>Marzo de 2015</a:t>
                      </a:r>
                    </a:p>
                  </a:txBody>
                  <a:tcPr anchor="ctr">
                    <a:solidFill>
                      <a:srgbClr val="EFEFEF"/>
                    </a:solidFill>
                  </a:tcPr>
                </a:tc>
                <a:tc>
                  <a:txBody>
                    <a:bodyPr/>
                    <a:lstStyle/>
                    <a:p>
                      <a:pPr algn="ctr">
                        <a:defRPr sz="900">
                          <a:latin typeface="Montserrat"/>
                        </a:defRPr>
                      </a:pPr>
                      <a:r>
                        <a:t>240</a:t>
                      </a:r>
                    </a:p>
                  </a:txBody>
                  <a:tcPr anchor="ctr">
                    <a:solidFill>
                      <a:srgbClr val="EFEFEF"/>
                    </a:solidFill>
                  </a:tcPr>
                </a:tc>
                <a:tc>
                  <a:txBody>
                    <a:bodyPr/>
                    <a:lstStyle/>
                    <a:p>
                      <a:pPr algn="ctr">
                        <a:defRPr sz="900">
                          <a:latin typeface="Montserrat"/>
                        </a:defRPr>
                      </a:pPr>
                      <a:r>
                        <a:t>107</a:t>
                      </a:r>
                    </a:p>
                  </a:txBody>
                  <a:tcPr anchor="ctr">
                    <a:solidFill>
                      <a:srgbClr val="EFEFEF"/>
                    </a:solidFill>
                  </a:tcPr>
                </a:tc>
                <a:tc>
                  <a:txBody>
                    <a:bodyPr/>
                    <a:lstStyle/>
                    <a:p>
                      <a:pPr algn="ctr">
                        <a:defRPr sz="900">
                          <a:latin typeface="Montserrat"/>
                        </a:defRPr>
                      </a:pPr>
                      <a:r>
                        <a:t>20</a:t>
                      </a:r>
                    </a:p>
                  </a:txBody>
                  <a:tcPr anchor="ctr">
                    <a:solidFill>
                      <a:srgbClr val="EFEFEF"/>
                    </a:solidFill>
                  </a:tcPr>
                </a:tc>
                <a:tc>
                  <a:txBody>
                    <a:bodyPr/>
                    <a:lstStyle/>
                    <a:p>
                      <a:pPr algn="ctr">
                        <a:defRPr sz="900">
                          <a:latin typeface="Montserrat"/>
                        </a:defRPr>
                      </a:pPr>
                      <a:r>
                        <a:t>8</a:t>
                      </a:r>
                    </a:p>
                  </a:txBody>
                  <a:tcPr anchor="ctr">
                    <a:solidFill>
                      <a:srgbClr val="EFEFEF"/>
                    </a:solidFill>
                  </a:tcPr>
                </a:tc>
                <a:tc>
                  <a:txBody>
                    <a:bodyPr/>
                    <a:lstStyle/>
                    <a:p>
                      <a:pPr algn="ctr">
                        <a:defRPr sz="900">
                          <a:latin typeface="Montserrat"/>
                        </a:defRPr>
                      </a:pPr>
                      <a:r>
                        <a:t>35</a:t>
                      </a:r>
                    </a:p>
                  </a:txBody>
                  <a:tcPr anchor="ctr">
                    <a:solidFill>
                      <a:srgbClr val="EFEFE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1,203</a:t>
                      </a:r>
                    </a:p>
                  </a:txBody>
                  <a:tcPr anchor="ctr">
                    <a:solidFill>
                      <a:srgbClr val="D3E9E7"/>
                    </a:solidFill>
                  </a:tcPr>
                </a:tc>
                <a:tc>
                  <a:txBody>
                    <a:bodyPr/>
                    <a:lstStyle/>
                    <a:p>
                      <a:pPr algn="ctr">
                        <a:defRPr sz="900" b="1">
                          <a:solidFill>
                            <a:srgbClr val="006556"/>
                          </a:solidFill>
                          <a:latin typeface="Montserrat"/>
                        </a:defRPr>
                      </a:pPr>
                      <a:r>
                        <a:t>539</a:t>
                      </a:r>
                    </a:p>
                  </a:txBody>
                  <a:tcPr anchor="ctr">
                    <a:solidFill>
                      <a:srgbClr val="D3E9E7"/>
                    </a:solidFill>
                  </a:tcPr>
                </a:tc>
                <a:tc>
                  <a:txBody>
                    <a:bodyPr/>
                    <a:lstStyle/>
                    <a:p>
                      <a:pPr algn="ctr">
                        <a:defRPr sz="900" b="1">
                          <a:solidFill>
                            <a:srgbClr val="006556"/>
                          </a:solidFill>
                          <a:latin typeface="Montserrat"/>
                        </a:defRPr>
                      </a:pPr>
                      <a:r>
                        <a:t>51</a:t>
                      </a:r>
                    </a:p>
                  </a:txBody>
                  <a:tcPr anchor="ctr">
                    <a:solidFill>
                      <a:srgbClr val="D3E9E7"/>
                    </a:solidFill>
                  </a:tcPr>
                </a:tc>
                <a:tc>
                  <a:txBody>
                    <a:bodyPr/>
                    <a:lstStyle/>
                    <a:p>
                      <a:pPr algn="ctr">
                        <a:defRPr sz="900" b="1">
                          <a:solidFill>
                            <a:srgbClr val="006556"/>
                          </a:solidFill>
                          <a:latin typeface="Montserrat"/>
                        </a:defRPr>
                      </a:pPr>
                      <a:r>
                        <a:t>36</a:t>
                      </a:r>
                    </a:p>
                  </a:txBody>
                  <a:tcPr anchor="ctr">
                    <a:solidFill>
                      <a:srgbClr val="D3E9E7"/>
                    </a:solidFill>
                  </a:tcPr>
                </a:tc>
                <a:tc>
                  <a:txBody>
                    <a:bodyPr/>
                    <a:lstStyle/>
                    <a:p>
                      <a:pPr algn="ctr">
                        <a:defRPr sz="900" b="1">
                          <a:solidFill>
                            <a:srgbClr val="006556"/>
                          </a:solidFill>
                          <a:latin typeface="Montserrat"/>
                        </a:defRPr>
                      </a:pPr>
                      <a:r>
                        <a:t>178</a:t>
                      </a:r>
                    </a:p>
                  </a:txBody>
                  <a:tcPr anchor="ctr">
                    <a:solidFill>
                      <a:srgbClr val="D3E9E7"/>
                    </a:solidFill>
                  </a:tcPr>
                </a:tc>
              </a:tr>
            </a:tbl>
          </a:graphicData>
        </a:graphic>
      </p:graphicFrame>
      <p:sp>
        <p:nvSpPr>
          <p:cNvPr id="13" name="TextBox 12"/>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Corte de Información: marzo de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p:cNvGrpSpPr/>
        <p:nvPr/>
      </p:nvGrpSpPr>
      <p:grpSpPr>
        <a:xfrm>
          <a:off x="0" y="0"/>
          <a:ext cx="0" cy="0"/>
          <a:chOff x="0" y="0"/>
          <a:chExt cx="0" cy="0"/>
        </a:xfrm>
      </p:grpSpPr>
      <p:graphicFrame>
        <p:nvGraphicFramePr>
          <p:cNvPr id="152" name="Google Shape;152;g370e475fb19_0_8"/>
          <p:cNvGraphicFramePr/>
          <p:nvPr/>
        </p:nvGraphicFramePr>
        <p:xfrm>
          <a:off x="149075" y="72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2" name="Grupo 1">
            <a:extLst>
              <a:ext uri="{FF2B5EF4-FFF2-40B4-BE49-F238E27FC236}">
                <a16:creationId xmlns:a16="http://schemas.microsoft.com/office/drawing/2014/main" id="{C7F762BE-3FC0-C6E7-D587-23061586B637}"/>
              </a:ext>
            </a:extLst>
          </p:cNvPr>
          <p:cNvGrpSpPr/>
          <p:nvPr/>
        </p:nvGrpSpPr>
        <p:grpSpPr>
          <a:xfrm>
            <a:off x="0" y="5028082"/>
            <a:ext cx="7772400" cy="3648888"/>
            <a:chOff x="0" y="5028082"/>
            <a:chExt cx="7772400" cy="3648888"/>
          </a:xfrm>
        </p:grpSpPr>
        <p:sp>
          <p:nvSpPr>
            <p:cNvPr id="11" name="Google Shape;342;g3d635d120e2_2_186">
              <a:extLst>
                <a:ext uri="{FF2B5EF4-FFF2-40B4-BE49-F238E27FC236}">
                  <a16:creationId xmlns:a16="http://schemas.microsoft.com/office/drawing/2014/main" id="{15F1182A-7491-49BB-7139-9C1E73A9F6D1}"/>
                </a:ext>
              </a:extLst>
            </p:cNvPr>
            <p:cNvSpPr txBox="1"/>
            <p:nvPr/>
          </p:nvSpPr>
          <p:spPr>
            <a:xfrm>
              <a:off x="0" y="5028082"/>
              <a:ext cx="7772400" cy="34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s" sz="1600" b="1" dirty="0">
                  <a:solidFill>
                    <a:srgbClr val="006858"/>
                  </a:solidFill>
                  <a:latin typeface="Montserrat"/>
                  <a:ea typeface="Montserrat"/>
                  <a:cs typeface="Montserrat"/>
                  <a:sym typeface="Montserrat"/>
                </a:rPr>
                <a:t>Fortalecimiento de equipo médico</a:t>
              </a:r>
              <a:endParaRPr sz="1600" b="1" dirty="0">
                <a:solidFill>
                  <a:srgbClr val="006858"/>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1600" b="1" i="0" u="none" strike="noStrike" cap="none" dirty="0">
                  <a:solidFill>
                    <a:srgbClr val="006858"/>
                  </a:solidFill>
                  <a:latin typeface="Montserrat"/>
                  <a:ea typeface="Montserrat"/>
                  <a:cs typeface="Montserrat"/>
                  <a:sym typeface="Montserrat"/>
                </a:rPr>
                <a:t>Compra 2025-2026 equipo mayor  (</a:t>
              </a:r>
              <a:r>
                <a:rPr lang="es" sz="1600" b="1" dirty="0">
                  <a:solidFill>
                    <a:srgbClr val="006858"/>
                  </a:solidFill>
                  <a:latin typeface="Montserrat"/>
                  <a:ea typeface="Montserrat"/>
                  <a:cs typeface="Montserrat"/>
                  <a:sym typeface="Montserrat"/>
                </a:rPr>
                <a:t>Instalación</a:t>
              </a:r>
              <a:r>
                <a:rPr lang="es" sz="1600" b="1" i="0" u="none" strike="noStrike" cap="none" dirty="0">
                  <a:solidFill>
                    <a:srgbClr val="006858"/>
                  </a:solidFill>
                  <a:latin typeface="Montserrat"/>
                  <a:ea typeface="Montserrat"/>
                  <a:cs typeface="Montserrat"/>
                  <a:sym typeface="Montserrat"/>
                </a:rPr>
                <a:t> abr</a:t>
              </a:r>
              <a:r>
                <a:rPr lang="es" sz="1600" b="1" dirty="0">
                  <a:solidFill>
                    <a:srgbClr val="006858"/>
                  </a:solidFill>
                  <a:latin typeface="Montserrat"/>
                  <a:ea typeface="Montserrat"/>
                  <a:cs typeface="Montserrat"/>
                  <a:sym typeface="Montserrat"/>
                </a:rPr>
                <a:t>il-</a:t>
              </a:r>
              <a:r>
                <a:rPr lang="es" sz="1600" b="1" i="0" u="none" strike="noStrike" cap="none" dirty="0">
                  <a:solidFill>
                    <a:srgbClr val="006858"/>
                  </a:solidFill>
                  <a:latin typeface="Montserrat"/>
                  <a:ea typeface="Montserrat"/>
                  <a:cs typeface="Montserrat"/>
                  <a:sym typeface="Montserrat"/>
                </a:rPr>
                <a:t>mayo)</a:t>
              </a:r>
              <a:endParaRPr sz="2300" b="1" i="0" u="none" strike="noStrike" cap="none" dirty="0">
                <a:solidFill>
                  <a:srgbClr val="006858"/>
                </a:solidFill>
                <a:latin typeface="Montserrat"/>
                <a:ea typeface="Montserrat"/>
                <a:cs typeface="Montserrat"/>
                <a:sym typeface="Montserrat"/>
              </a:endParaRPr>
            </a:p>
          </p:txBody>
        </p:sp>
        <p:sp>
          <p:nvSpPr>
            <p:cNvPr id="12" name="Google Shape;343;g3d635d120e2_2_186">
              <a:extLst>
                <a:ext uri="{FF2B5EF4-FFF2-40B4-BE49-F238E27FC236}">
                  <a16:creationId xmlns:a16="http://schemas.microsoft.com/office/drawing/2014/main" id="{3000DFC8-3938-379A-A0FA-8B95E3630C2A}"/>
                </a:ext>
              </a:extLst>
            </p:cNvPr>
            <p:cNvSpPr/>
            <p:nvPr/>
          </p:nvSpPr>
          <p:spPr>
            <a:xfrm>
              <a:off x="5078164" y="7453049"/>
              <a:ext cx="1909800" cy="3801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a:solidFill>
                    <a:srgbClr val="FFFFFF"/>
                  </a:solidFill>
                  <a:latin typeface="Montserrat"/>
                  <a:ea typeface="Montserrat"/>
                  <a:cs typeface="Montserrat"/>
                  <a:sym typeface="Montserrat"/>
                </a:rPr>
                <a:t>Tomógrafo</a:t>
              </a:r>
              <a:r>
                <a:rPr lang="es" sz="1300" b="1">
                  <a:solidFill>
                    <a:srgbClr val="FFFFFF"/>
                  </a:solidFill>
                  <a:latin typeface="Montserrat"/>
                  <a:ea typeface="Montserrat"/>
                  <a:cs typeface="Montserrat"/>
                  <a:sym typeface="Montserrat"/>
                </a:rPr>
                <a:t>s</a:t>
              </a:r>
              <a:endParaRPr sz="1100" b="0" i="0" u="none" strike="noStrike" cap="none">
                <a:solidFill>
                  <a:srgbClr val="FFFFFF"/>
                </a:solidFill>
                <a:latin typeface="Arial"/>
                <a:ea typeface="Arial"/>
                <a:cs typeface="Arial"/>
                <a:sym typeface="Arial"/>
              </a:endParaRPr>
            </a:p>
          </p:txBody>
        </p:sp>
        <p:sp>
          <p:nvSpPr>
            <p:cNvPr id="13" name="Google Shape;344;g3d635d120e2_2_186">
              <a:extLst>
                <a:ext uri="{FF2B5EF4-FFF2-40B4-BE49-F238E27FC236}">
                  <a16:creationId xmlns:a16="http://schemas.microsoft.com/office/drawing/2014/main" id="{7F2F59B8-8A70-F74F-07A3-3BF3795A5D32}"/>
                </a:ext>
              </a:extLst>
            </p:cNvPr>
            <p:cNvSpPr/>
            <p:nvPr/>
          </p:nvSpPr>
          <p:spPr>
            <a:xfrm>
              <a:off x="4576123" y="7453049"/>
              <a:ext cx="507000" cy="3801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a:solidFill>
                    <a:srgbClr val="FFFFFF"/>
                  </a:solidFill>
                  <a:latin typeface="Noto Sans Black"/>
                  <a:ea typeface="Noto Sans Black"/>
                  <a:cs typeface="Noto Sans Black"/>
                  <a:sym typeface="Noto Sans Black"/>
                </a:rPr>
                <a:t>2</a:t>
              </a:r>
              <a:endParaRPr sz="1400" b="0" i="0" u="none" strike="noStrike" cap="none">
                <a:solidFill>
                  <a:srgbClr val="FFFFFF"/>
                </a:solidFill>
                <a:latin typeface="Noto Sans Black"/>
                <a:ea typeface="Noto Sans Black"/>
                <a:cs typeface="Noto Sans Black"/>
                <a:sym typeface="Noto Sans Black"/>
              </a:endParaRPr>
            </a:p>
          </p:txBody>
        </p:sp>
        <p:sp>
          <p:nvSpPr>
            <p:cNvPr id="14" name="Google Shape;345;g3d635d120e2_2_186">
              <a:extLst>
                <a:ext uri="{FF2B5EF4-FFF2-40B4-BE49-F238E27FC236}">
                  <a16:creationId xmlns:a16="http://schemas.microsoft.com/office/drawing/2014/main" id="{9B822026-9942-8E1F-C557-93F7219EFC46}"/>
                </a:ext>
              </a:extLst>
            </p:cNvPr>
            <p:cNvSpPr txBox="1"/>
            <p:nvPr/>
          </p:nvSpPr>
          <p:spPr>
            <a:xfrm>
              <a:off x="4592884" y="7809070"/>
              <a:ext cx="2577600" cy="867900"/>
            </a:xfrm>
            <a:prstGeom prst="rect">
              <a:avLst/>
            </a:prstGeom>
            <a:noFill/>
            <a:ln>
              <a:noFill/>
            </a:ln>
          </p:spPr>
          <p:txBody>
            <a:bodyPr spcFirstLastPara="1" wrap="square" lIns="91425" tIns="91425" rIns="91425" bIns="91425" anchor="t" anchorCtr="0">
              <a:spAutoFit/>
            </a:bodyPr>
            <a:lstStyle/>
            <a:p>
              <a:pPr marL="0" marR="50800" lvl="0" indent="0" algn="l" rtl="0">
                <a:lnSpc>
                  <a:spcPct val="111000"/>
                </a:lnSpc>
                <a:spcBef>
                  <a:spcPts val="0"/>
                </a:spcBef>
                <a:spcAft>
                  <a:spcPts val="0"/>
                </a:spcAft>
                <a:buNone/>
              </a:pPr>
              <a:r>
                <a:rPr lang="es" sz="1300" dirty="0">
                  <a:solidFill>
                    <a:srgbClr val="595959"/>
                  </a:solidFill>
                  <a:latin typeface="Montserrat"/>
                  <a:ea typeface="Montserrat"/>
                  <a:cs typeface="Montserrat"/>
                  <a:sym typeface="Montserrat"/>
                </a:rPr>
                <a:t>HGZ-UMAA 15 Reynosa</a:t>
              </a:r>
              <a:endParaRPr sz="1300" dirty="0">
                <a:solidFill>
                  <a:srgbClr val="595959"/>
                </a:solidFill>
                <a:latin typeface="Montserrat"/>
                <a:ea typeface="Montserrat"/>
                <a:cs typeface="Montserrat"/>
                <a:sym typeface="Montserrat"/>
              </a:endParaRPr>
            </a:p>
            <a:p>
              <a:pPr marL="0" marR="50800" lvl="0" indent="0" algn="l" rtl="0">
                <a:lnSpc>
                  <a:spcPct val="111000"/>
                </a:lnSpc>
                <a:spcBef>
                  <a:spcPts val="0"/>
                </a:spcBef>
                <a:spcAft>
                  <a:spcPts val="0"/>
                </a:spcAft>
                <a:buNone/>
              </a:pPr>
              <a:r>
                <a:rPr lang="es" sz="1300" dirty="0">
                  <a:solidFill>
                    <a:srgbClr val="595959"/>
                  </a:solidFill>
                  <a:latin typeface="Montserrat"/>
                  <a:ea typeface="Montserrat"/>
                  <a:cs typeface="Montserrat"/>
                  <a:sym typeface="Montserrat"/>
                </a:rPr>
                <a:t> HGZ 13 Matamoros</a:t>
              </a:r>
            </a:p>
            <a:p>
              <a:pPr marL="0" marR="50800" lvl="0" indent="0" algn="l" rtl="0">
                <a:lnSpc>
                  <a:spcPct val="111000"/>
                </a:lnSpc>
                <a:spcBef>
                  <a:spcPts val="0"/>
                </a:spcBef>
                <a:spcAft>
                  <a:spcPts val="0"/>
                </a:spcAft>
                <a:buNone/>
              </a:pPr>
              <a:r>
                <a:rPr lang="es" sz="1300" b="1" dirty="0">
                  <a:solidFill>
                    <a:srgbClr val="595959"/>
                  </a:solidFill>
                  <a:latin typeface="Montserrat"/>
                  <a:ea typeface="Noto Sans"/>
                  <a:cs typeface="Noto Sans"/>
                  <a:sym typeface="Montserrat"/>
                </a:rPr>
                <a:t>$59.3 mdp</a:t>
              </a:r>
              <a:r>
                <a:rPr lang="es" dirty="0">
                  <a:solidFill>
                    <a:srgbClr val="434343"/>
                  </a:solidFill>
                  <a:latin typeface="Noto Sans"/>
                  <a:ea typeface="Noto Sans"/>
                  <a:cs typeface="Noto Sans"/>
                  <a:sym typeface="Noto Sans"/>
                </a:rPr>
                <a:t> </a:t>
              </a:r>
              <a:r>
                <a:rPr lang="es" sz="1300" dirty="0">
                  <a:solidFill>
                    <a:srgbClr val="595959"/>
                  </a:solidFill>
                  <a:latin typeface="Montserrat"/>
                  <a:ea typeface="Montserrat"/>
                  <a:cs typeface="Montserrat"/>
                  <a:sym typeface="Montserrat"/>
                </a:rPr>
                <a:t>   </a:t>
              </a:r>
              <a:endParaRPr dirty="0">
                <a:solidFill>
                  <a:srgbClr val="434343"/>
                </a:solidFill>
                <a:latin typeface="Noto Sans"/>
                <a:ea typeface="Noto Sans"/>
                <a:cs typeface="Noto Sans"/>
                <a:sym typeface="Noto Sans"/>
              </a:endParaRPr>
            </a:p>
          </p:txBody>
        </p:sp>
        <p:pic>
          <p:nvPicPr>
            <p:cNvPr id="15" name="Google Shape;346;g3d635d120e2_2_186">
              <a:extLst>
                <a:ext uri="{FF2B5EF4-FFF2-40B4-BE49-F238E27FC236}">
                  <a16:creationId xmlns:a16="http://schemas.microsoft.com/office/drawing/2014/main" id="{D5A5FF13-ECDA-25E8-3130-DFB306A31007}"/>
                </a:ext>
              </a:extLst>
            </p:cNvPr>
            <p:cNvPicPr preferRelativeResize="0"/>
            <p:nvPr/>
          </p:nvPicPr>
          <p:blipFill>
            <a:blip r:embed="rId4">
              <a:alphaModFix/>
            </a:blip>
            <a:stretch>
              <a:fillRect/>
            </a:stretch>
          </p:blipFill>
          <p:spPr>
            <a:xfrm>
              <a:off x="4613859" y="5880389"/>
              <a:ext cx="2382565" cy="1572660"/>
            </a:xfrm>
            <a:prstGeom prst="rect">
              <a:avLst/>
            </a:prstGeom>
            <a:noFill/>
            <a:ln>
              <a:noFill/>
            </a:ln>
          </p:spPr>
        </p:pic>
        <p:sp>
          <p:nvSpPr>
            <p:cNvPr id="16" name="Google Shape;347;g3d635d120e2_2_186">
              <a:extLst>
                <a:ext uri="{FF2B5EF4-FFF2-40B4-BE49-F238E27FC236}">
                  <a16:creationId xmlns:a16="http://schemas.microsoft.com/office/drawing/2014/main" id="{3BF01D4D-2266-FB4B-A92A-A8982BD85703}"/>
                </a:ext>
              </a:extLst>
            </p:cNvPr>
            <p:cNvSpPr/>
            <p:nvPr/>
          </p:nvSpPr>
          <p:spPr>
            <a:xfrm>
              <a:off x="1227523" y="7442715"/>
              <a:ext cx="460500" cy="3777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a:solidFill>
                    <a:srgbClr val="FFFFFF"/>
                  </a:solidFill>
                  <a:latin typeface="Noto Sans Black"/>
                  <a:ea typeface="Noto Sans Black"/>
                  <a:cs typeface="Noto Sans Black"/>
                  <a:sym typeface="Noto Sans Black"/>
                </a:rPr>
                <a:t>1</a:t>
              </a:r>
              <a:endParaRPr sz="1400" b="0" i="0" u="none" strike="noStrike" cap="none">
                <a:solidFill>
                  <a:srgbClr val="FFFFFF"/>
                </a:solidFill>
                <a:latin typeface="Noto Sans Black"/>
                <a:ea typeface="Noto Sans Black"/>
                <a:cs typeface="Noto Sans Black"/>
                <a:sym typeface="Noto Sans Black"/>
              </a:endParaRPr>
            </a:p>
          </p:txBody>
        </p:sp>
        <p:sp>
          <p:nvSpPr>
            <p:cNvPr id="17" name="Google Shape;348;g3d635d120e2_2_186">
              <a:extLst>
                <a:ext uri="{FF2B5EF4-FFF2-40B4-BE49-F238E27FC236}">
                  <a16:creationId xmlns:a16="http://schemas.microsoft.com/office/drawing/2014/main" id="{A08A6AB6-5482-5BF6-3B59-969168CC9558}"/>
                </a:ext>
              </a:extLst>
            </p:cNvPr>
            <p:cNvSpPr/>
            <p:nvPr/>
          </p:nvSpPr>
          <p:spPr>
            <a:xfrm>
              <a:off x="1685730" y="7442715"/>
              <a:ext cx="2038500" cy="3777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a:solidFill>
                    <a:srgbClr val="FFFFFF"/>
                  </a:solidFill>
                  <a:latin typeface="Montserrat"/>
                  <a:ea typeface="Montserrat"/>
                  <a:cs typeface="Montserrat"/>
                  <a:sym typeface="Montserrat"/>
                </a:rPr>
                <a:t>Resonador magnético </a:t>
              </a:r>
              <a:endParaRPr sz="1300" b="1" i="0" u="none" strike="noStrike" cap="none">
                <a:solidFill>
                  <a:srgbClr val="FFFFFF"/>
                </a:solidFill>
                <a:latin typeface="Montserrat"/>
                <a:ea typeface="Montserrat"/>
                <a:cs typeface="Montserrat"/>
                <a:sym typeface="Montserrat"/>
              </a:endParaRPr>
            </a:p>
          </p:txBody>
        </p:sp>
        <p:sp>
          <p:nvSpPr>
            <p:cNvPr id="18" name="Google Shape;349;g3d635d120e2_2_186">
              <a:extLst>
                <a:ext uri="{FF2B5EF4-FFF2-40B4-BE49-F238E27FC236}">
                  <a16:creationId xmlns:a16="http://schemas.microsoft.com/office/drawing/2014/main" id="{7C144941-F9EA-2560-D24F-E72F845666E0}"/>
                </a:ext>
              </a:extLst>
            </p:cNvPr>
            <p:cNvSpPr txBox="1"/>
            <p:nvPr/>
          </p:nvSpPr>
          <p:spPr>
            <a:xfrm>
              <a:off x="1184775" y="7897170"/>
              <a:ext cx="2323200" cy="644762"/>
            </a:xfrm>
            <a:prstGeom prst="rect">
              <a:avLst/>
            </a:prstGeom>
            <a:noFill/>
            <a:ln>
              <a:noFill/>
            </a:ln>
          </p:spPr>
          <p:txBody>
            <a:bodyPr spcFirstLastPara="1" wrap="square" lIns="91425" tIns="91425" rIns="91425" bIns="91425" anchor="t" anchorCtr="0">
              <a:spAutoFit/>
            </a:bodyPr>
            <a:lstStyle/>
            <a:p>
              <a:pPr marL="0" marR="63500" lvl="0" indent="0" algn="l" rtl="0">
                <a:lnSpc>
                  <a:spcPct val="115000"/>
                </a:lnSpc>
                <a:spcBef>
                  <a:spcPts val="0"/>
                </a:spcBef>
                <a:spcAft>
                  <a:spcPts val="0"/>
                </a:spcAft>
                <a:buNone/>
              </a:pPr>
              <a:r>
                <a:rPr lang="es" sz="1300" dirty="0">
                  <a:solidFill>
                    <a:schemeClr val="dk2"/>
                  </a:solidFill>
                  <a:latin typeface="Montserrat"/>
                  <a:ea typeface="Montserrat"/>
                  <a:cs typeface="Montserrat"/>
                  <a:sym typeface="Montserrat"/>
                </a:rPr>
                <a:t>HGR 270 Reynosa</a:t>
              </a:r>
            </a:p>
            <a:p>
              <a:pPr marL="0" marR="63500" lvl="0" indent="0" algn="l" rtl="0">
                <a:lnSpc>
                  <a:spcPct val="115000"/>
                </a:lnSpc>
                <a:spcBef>
                  <a:spcPts val="0"/>
                </a:spcBef>
                <a:spcAft>
                  <a:spcPts val="0"/>
                </a:spcAft>
                <a:buNone/>
              </a:pPr>
              <a:r>
                <a:rPr lang="es" sz="1300" b="1" dirty="0">
                  <a:solidFill>
                    <a:schemeClr val="dk2"/>
                  </a:solidFill>
                  <a:latin typeface="Montserrat"/>
                  <a:ea typeface="Montserrat"/>
                  <a:cs typeface="Montserrat"/>
                  <a:sym typeface="Montserrat"/>
                </a:rPr>
                <a:t>$40.6 mdp</a:t>
              </a:r>
              <a:r>
                <a:rPr lang="es" sz="1300" dirty="0">
                  <a:solidFill>
                    <a:schemeClr val="dk2"/>
                  </a:solidFill>
                  <a:latin typeface="Montserrat"/>
                  <a:ea typeface="Montserrat"/>
                  <a:cs typeface="Montserrat"/>
                  <a:sym typeface="Montserrat"/>
                </a:rPr>
                <a:t> </a:t>
              </a:r>
              <a:r>
                <a:rPr lang="es" sz="1300" dirty="0">
                  <a:solidFill>
                    <a:srgbClr val="595959"/>
                  </a:solidFill>
                  <a:latin typeface="Montserrat"/>
                  <a:ea typeface="Montserrat"/>
                  <a:cs typeface="Montserrat"/>
                  <a:sym typeface="Montserrat"/>
                </a:rPr>
                <a:t> </a:t>
              </a:r>
              <a:endParaRPr dirty="0"/>
            </a:p>
          </p:txBody>
        </p:sp>
        <p:pic>
          <p:nvPicPr>
            <p:cNvPr id="19" name="Google Shape;350;g3d635d120e2_2_186">
              <a:extLst>
                <a:ext uri="{FF2B5EF4-FFF2-40B4-BE49-F238E27FC236}">
                  <a16:creationId xmlns:a16="http://schemas.microsoft.com/office/drawing/2014/main" id="{3037E67E-542B-FC8F-CE61-530C00523A91}"/>
                </a:ext>
              </a:extLst>
            </p:cNvPr>
            <p:cNvPicPr preferRelativeResize="0"/>
            <p:nvPr/>
          </p:nvPicPr>
          <p:blipFill>
            <a:blip r:embed="rId5">
              <a:alphaModFix/>
            </a:blip>
            <a:stretch>
              <a:fillRect/>
            </a:stretch>
          </p:blipFill>
          <p:spPr>
            <a:xfrm>
              <a:off x="1205255" y="5880389"/>
              <a:ext cx="2471605" cy="1562331"/>
            </a:xfrm>
            <a:prstGeom prst="rect">
              <a:avLst/>
            </a:prstGeom>
            <a:noFill/>
            <a:ln>
              <a:noFill/>
            </a:ln>
          </p:spPr>
        </p:pic>
      </p:grpSp>
      <p:sp>
        <p:nvSpPr>
          <p:cNvPr id="153" name="TextBox 15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graphicFrame>
        <p:nvGraphicFramePr>
          <p:cNvPr id="154" name="Table 153"/>
          <p:cNvGraphicFramePr>
            <a:graphicFrameLocks noGrp="1"/>
          </p:cNvGraphicFramePr>
          <p:nvPr/>
        </p:nvGraphicFramePr>
        <p:xfrm>
          <a:off x="93600" y="1180800"/>
          <a:ext cx="7534799" cy="2160000"/>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60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6000">
                <a:tc>
                  <a:txBody>
                    <a:bodyPr/>
                    <a:lstStyle/>
                    <a:p>
                      <a:pPr algn="l">
                        <a:defRPr sz="1000">
                          <a:latin typeface="Montserrat"/>
                        </a:defRPr>
                      </a:pPr>
                      <a:r>
                        <a:t>HGZMF 1 Ciudad Victoria</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2</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5</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11 Nuevo Laredo</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HGR 6 Ciudad Madero.</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2</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12</a:t>
                      </a:r>
                    </a:p>
                  </a:txBody>
                  <a:tcPr>
                    <a:solidFill>
                      <a:srgbClr val="FFFFFF"/>
                    </a:solidFill>
                  </a:tcPr>
                </a:tc>
                <a:tc>
                  <a:txBody>
                    <a:bodyPr/>
                    <a:lstStyle/>
                    <a:p>
                      <a:pPr algn="ctr">
                        <a:defRPr sz="1000">
                          <a:latin typeface="Montserrat"/>
                        </a:defRPr>
                      </a:pPr>
                      <a:r>
                        <a:t>1</a:t>
                      </a:r>
                    </a:p>
                  </a:txBody>
                  <a:tcPr>
                    <a:solidFill>
                      <a:srgbClr val="E6D194"/>
                    </a:solidFill>
                  </a:tcPr>
                </a:tc>
              </a:tr>
              <a:tr h="216000">
                <a:tc>
                  <a:txBody>
                    <a:bodyPr/>
                    <a:lstStyle/>
                    <a:p>
                      <a:pPr algn="l">
                        <a:defRPr sz="1000">
                          <a:latin typeface="Montserrat"/>
                        </a:defRPr>
                      </a:pPr>
                      <a:r>
                        <a:t>HGZ 3 Mante</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5</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13 Matamoros</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HGZ-UMAA 15 Ciudad Reynosa</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HGS 17 Miguel Alemán</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HGR 270 Reynosa</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t>10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5</a:t>
                      </a:r>
                    </a:p>
                  </a:txBody>
                  <a:tcPr>
                    <a:solidFill>
                      <a:srgbClr val="D3E9E7"/>
                    </a:solidFill>
                  </a:tcPr>
                </a:tc>
                <a:tc>
                  <a:txBody>
                    <a:bodyPr/>
                    <a:lstStyle/>
                    <a:p>
                      <a:pPr algn="ctr">
                        <a:defRPr sz="1000" b="1">
                          <a:solidFill>
                            <a:srgbClr val="006556"/>
                          </a:solidFill>
                          <a:latin typeface="Montserrat"/>
                        </a:defRPr>
                      </a:pPr>
                      <a:r>
                        <a:t>3</a:t>
                      </a:r>
                    </a:p>
                  </a:txBody>
                  <a:tcPr>
                    <a:solidFill>
                      <a:srgbClr val="D3E9E7"/>
                    </a:solidFill>
                  </a:tcPr>
                </a:tc>
                <a:tc>
                  <a:txBody>
                    <a:bodyPr/>
                    <a:lstStyle/>
                    <a:p>
                      <a:pPr algn="ctr">
                        <a:defRPr sz="1000" b="1">
                          <a:solidFill>
                            <a:srgbClr val="006556"/>
                          </a:solidFill>
                          <a:latin typeface="Montserrat"/>
                        </a:defRPr>
                      </a:pPr>
                      <a:r>
                        <a:t>8</a:t>
                      </a:r>
                    </a:p>
                  </a:txBody>
                  <a:tcPr>
                    <a:solidFill>
                      <a:srgbClr val="D3E9E7"/>
                    </a:solidFill>
                  </a:tcPr>
                </a:tc>
                <a:tc>
                  <a:txBody>
                    <a:bodyPr/>
                    <a:lstStyle/>
                    <a:p>
                      <a:pPr algn="ctr">
                        <a:defRPr sz="1000" b="1">
                          <a:solidFill>
                            <a:srgbClr val="006556"/>
                          </a:solidFill>
                          <a:latin typeface="Montserrat"/>
                        </a:defRPr>
                      </a:pPr>
                      <a:r>
                        <a:t>5</a:t>
                      </a:r>
                    </a:p>
                  </a:txBody>
                  <a:tcPr>
                    <a:solidFill>
                      <a:srgbClr val="D3E9E7"/>
                    </a:solidFill>
                  </a:tcPr>
                </a:tc>
                <a:tc>
                  <a:txBody>
                    <a:bodyPr/>
                    <a:lstStyle/>
                    <a:p>
                      <a:pPr algn="ctr">
                        <a:defRPr sz="1000" b="1">
                          <a:solidFill>
                            <a:srgbClr val="006556"/>
                          </a:solidFill>
                          <a:latin typeface="Montserrat"/>
                        </a:defRPr>
                      </a:pPr>
                      <a:r>
                        <a:t>34</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r>
            </a:tbl>
          </a:graphicData>
        </a:graphic>
      </p:graphicFrame>
      <p:sp>
        <p:nvSpPr>
          <p:cNvPr id="155" name="Rectangle 154"/>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No incluye equipo relevante no instalado.</a:t>
            </a:r>
            <a:br/>
            <a:r>
              <a:t>Fuente: Cédula de actualización de variables seleccionadas del IFU, enviadas por el OOAD.</a:t>
            </a:r>
            <a:br/>
            <a:r>
              <a:t>Corte de información: marzo de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1206828826"/>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Resumen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 name="Google Shape;230;g370e87ffe7a_2_137">
            <a:extLst>
              <a:ext uri="{FF2B5EF4-FFF2-40B4-BE49-F238E27FC236}">
                <a16:creationId xmlns:a16="http://schemas.microsoft.com/office/drawing/2014/main" id="{9B7FBCC8-0893-C56E-8BFC-BE23B90C8EF9}"/>
              </a:ext>
            </a:extLst>
          </p:cNvPr>
          <p:cNvGraphicFramePr/>
          <p:nvPr>
            <p:extLst>
              <p:ext uri="{D42A27DB-BD31-4B8C-83A1-F6EECF244321}">
                <p14:modId xmlns:p14="http://schemas.microsoft.com/office/powerpoint/2010/main" val="2058233477"/>
              </p:ext>
            </p:extLst>
          </p:nvPr>
        </p:nvGraphicFramePr>
        <p:xfrm>
          <a:off x="143502" y="4166360"/>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Resultados 2025</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 name="Imagen 2">
            <a:extLst>
              <a:ext uri="{FF2B5EF4-FFF2-40B4-BE49-F238E27FC236}">
                <a16:creationId xmlns:a16="http://schemas.microsoft.com/office/drawing/2014/main" id="{B099A3F0-BBD0-96C1-5C02-94B86A8DEBD4}"/>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910705" y="5114007"/>
            <a:ext cx="2975495" cy="3699793"/>
          </a:xfrm>
          <a:prstGeom prst="rect">
            <a:avLst/>
          </a:prstGeom>
        </p:spPr>
      </p:pic>
      <p:cxnSp>
        <p:nvCxnSpPr>
          <p:cNvPr id="4" name="Conector recto 3">
            <a:extLst>
              <a:ext uri="{FF2B5EF4-FFF2-40B4-BE49-F238E27FC236}">
                <a16:creationId xmlns:a16="http://schemas.microsoft.com/office/drawing/2014/main" id="{30B8AFA2-F0CA-673A-3E65-D8F91348E4CA}"/>
              </a:ext>
            </a:extLst>
          </p:cNvPr>
          <p:cNvCxnSpPr>
            <a:cxnSpLocks/>
          </p:cNvCxnSpPr>
          <p:nvPr/>
        </p:nvCxnSpPr>
        <p:spPr>
          <a:xfrm>
            <a:off x="5210629" y="5586778"/>
            <a:ext cx="1637335" cy="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 name="Conector recto 4">
            <a:extLst>
              <a:ext uri="{FF2B5EF4-FFF2-40B4-BE49-F238E27FC236}">
                <a16:creationId xmlns:a16="http://schemas.microsoft.com/office/drawing/2014/main" id="{75653194-3E3F-A95F-E78E-F0C0987E5559}"/>
              </a:ext>
            </a:extLst>
          </p:cNvPr>
          <p:cNvCxnSpPr>
            <a:cxnSpLocks/>
          </p:cNvCxnSpPr>
          <p:nvPr/>
        </p:nvCxnSpPr>
        <p:spPr>
          <a:xfrm>
            <a:off x="5210629" y="7248664"/>
            <a:ext cx="1637335" cy="0"/>
          </a:xfrm>
          <a:prstGeom prst="line">
            <a:avLst/>
          </a:prstGeom>
          <a:ln/>
        </p:spPr>
        <p:style>
          <a:lnRef idx="3">
            <a:schemeClr val="accent3"/>
          </a:lnRef>
          <a:fillRef idx="0">
            <a:schemeClr val="accent3"/>
          </a:fillRef>
          <a:effectRef idx="2">
            <a:schemeClr val="accent3"/>
          </a:effectRef>
          <a:fontRef idx="minor">
            <a:schemeClr val="tx1"/>
          </a:fontRef>
        </p:style>
      </p:cxnSp>
      <p:sp>
        <p:nvSpPr>
          <p:cNvPr id="6" name="CuadroTexto 5">
            <a:extLst>
              <a:ext uri="{FF2B5EF4-FFF2-40B4-BE49-F238E27FC236}">
                <a16:creationId xmlns:a16="http://schemas.microsoft.com/office/drawing/2014/main" id="{422A3FF9-9CEB-CD26-106D-6B41D4AA546E}"/>
              </a:ext>
            </a:extLst>
          </p:cNvPr>
          <p:cNvSpPr txBox="1"/>
          <p:nvPr/>
        </p:nvSpPr>
        <p:spPr>
          <a:xfrm>
            <a:off x="5064096" y="5124571"/>
            <a:ext cx="1930400" cy="415498"/>
          </a:xfrm>
          <a:prstGeom prst="rect">
            <a:avLst/>
          </a:prstGeom>
          <a:noFill/>
        </p:spPr>
        <p:txBody>
          <a:bodyPr wrap="square" rtlCol="0">
            <a:spAutoFit/>
          </a:bodyPr>
          <a:lstStyle/>
          <a:p>
            <a:pPr algn="ctr"/>
            <a:r>
              <a:rPr lang="es-ES" sz="2100" b="1" dirty="0">
                <a:solidFill>
                  <a:schemeClr val="tx1">
                    <a:lumMod val="75000"/>
                    <a:lumOff val="25000"/>
                  </a:schemeClr>
                </a:solidFill>
              </a:rPr>
              <a:t>Cirugías</a:t>
            </a:r>
            <a:endParaRPr lang="es-MX" sz="2100" b="1" dirty="0">
              <a:solidFill>
                <a:schemeClr val="tx1">
                  <a:lumMod val="75000"/>
                  <a:lumOff val="25000"/>
                </a:schemeClr>
              </a:solidFill>
            </a:endParaRPr>
          </a:p>
        </p:txBody>
      </p:sp>
      <p:sp>
        <p:nvSpPr>
          <p:cNvPr id="7" name="CuadroTexto 6">
            <a:extLst>
              <a:ext uri="{FF2B5EF4-FFF2-40B4-BE49-F238E27FC236}">
                <a16:creationId xmlns:a16="http://schemas.microsoft.com/office/drawing/2014/main" id="{FC7F3CF1-AD01-0CEF-E886-2ACC8926219A}"/>
              </a:ext>
            </a:extLst>
          </p:cNvPr>
          <p:cNvSpPr txBox="1"/>
          <p:nvPr/>
        </p:nvSpPr>
        <p:spPr>
          <a:xfrm>
            <a:off x="5064096" y="6510000"/>
            <a:ext cx="1930400"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Especialidad</a:t>
            </a:r>
            <a:endParaRPr lang="es-MX" sz="2100" b="1" dirty="0">
              <a:solidFill>
                <a:schemeClr val="tx1">
                  <a:lumMod val="75000"/>
                  <a:lumOff val="25000"/>
                </a:schemeClr>
              </a:solidFill>
            </a:endParaRPr>
          </a:p>
        </p:txBody>
      </p:sp>
      <p:sp>
        <p:nvSpPr>
          <p:cNvPr id="8" name="CuadroTexto 7">
            <a:extLst>
              <a:ext uri="{FF2B5EF4-FFF2-40B4-BE49-F238E27FC236}">
                <a16:creationId xmlns:a16="http://schemas.microsoft.com/office/drawing/2014/main" id="{889E72D9-2731-D20B-7E8F-16C7329FC682}"/>
              </a:ext>
            </a:extLst>
          </p:cNvPr>
          <p:cNvSpPr txBox="1"/>
          <p:nvPr/>
        </p:nvSpPr>
        <p:spPr>
          <a:xfrm>
            <a:off x="4701239" y="8131971"/>
            <a:ext cx="2656114"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Medicina Familiar</a:t>
            </a:r>
            <a:endParaRPr lang="es-MX" sz="2100" b="1" dirty="0">
              <a:solidFill>
                <a:schemeClr val="tx1">
                  <a:lumMod val="75000"/>
                  <a:lumOff val="25000"/>
                </a:schemeClr>
              </a:solidFill>
            </a:endParaRPr>
          </a:p>
        </p:txBody>
      </p:sp>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232" name="TextBox 231"/>
          <p:cNvSpPr txBox="1"/>
          <p:nvPr/>
        </p:nvSpPr>
        <p:spPr>
          <a:xfrm>
            <a:off x="176400" y="8982000"/>
            <a:ext cx="2977200" cy="3996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22, 24 mayo 2026</a:t>
            </a:r>
            <a:br/>
            <a:r>
              <a:t>¹Las consultas de medicina familiar incluyen los hospitales con UMF.</a:t>
            </a:r>
          </a:p>
        </p:txBody>
      </p:sp>
      <p:sp>
        <p:nvSpPr>
          <p:cNvPr id="233" name="TextBox 232"/>
          <p:cNvSpPr txBox="1"/>
          <p:nvPr/>
        </p:nvSpPr>
        <p:spPr>
          <a:xfrm>
            <a:off x="5270400" y="4662000"/>
            <a:ext cx="1515600" cy="540000"/>
          </a:xfrm>
          <a:prstGeom prst="rect">
            <a:avLst/>
          </a:prstGeom>
          <a:noFill/>
        </p:spPr>
        <p:txBody>
          <a:bodyPr wrap="none">
            <a:spAutoFit/>
          </a:bodyPr>
          <a:lstStyle/>
          <a:p>
            <a:pPr algn="ctr">
              <a:defRPr sz="2500" b="1">
                <a:solidFill>
                  <a:srgbClr val="9F2241"/>
                </a:solidFill>
                <a:latin typeface="Montserrat"/>
              </a:defRPr>
            </a:pPr>
            <a:r>
              <a:t>+10,284</a:t>
            </a:r>
          </a:p>
        </p:txBody>
      </p:sp>
      <p:sp>
        <p:nvSpPr>
          <p:cNvPr id="234" name="TextBox 233"/>
          <p:cNvSpPr txBox="1"/>
          <p:nvPr/>
        </p:nvSpPr>
        <p:spPr>
          <a:xfrm>
            <a:off x="5270400" y="7513200"/>
            <a:ext cx="1515600" cy="540000"/>
          </a:xfrm>
          <a:prstGeom prst="rect">
            <a:avLst/>
          </a:prstGeom>
          <a:noFill/>
        </p:spPr>
        <p:txBody>
          <a:bodyPr wrap="none">
            <a:spAutoFit/>
          </a:bodyPr>
          <a:lstStyle/>
          <a:p>
            <a:pPr algn="ctr">
              <a:defRPr sz="2500" b="1">
                <a:solidFill>
                  <a:srgbClr val="9F2241"/>
                </a:solidFill>
                <a:latin typeface="Montserrat"/>
              </a:defRPr>
            </a:pPr>
            <a:r>
              <a:t>+735,852</a:t>
            </a:r>
          </a:p>
        </p:txBody>
      </p:sp>
      <p:sp>
        <p:nvSpPr>
          <p:cNvPr id="235" name="TextBox 234"/>
          <p:cNvSpPr txBox="1"/>
          <p:nvPr/>
        </p:nvSpPr>
        <p:spPr>
          <a:xfrm>
            <a:off x="5270400" y="5911200"/>
            <a:ext cx="1515600" cy="540000"/>
          </a:xfrm>
          <a:prstGeom prst="rect">
            <a:avLst/>
          </a:prstGeom>
          <a:noFill/>
        </p:spPr>
        <p:txBody>
          <a:bodyPr wrap="none">
            <a:spAutoFit/>
          </a:bodyPr>
          <a:lstStyle/>
          <a:p>
            <a:pPr algn="ctr">
              <a:defRPr sz="2500" b="1">
                <a:solidFill>
                  <a:srgbClr val="9F2241"/>
                </a:solidFill>
                <a:latin typeface="Montserrat"/>
              </a:defRPr>
            </a:pPr>
            <a:r>
              <a:t>+266,907</a:t>
            </a:r>
          </a:p>
        </p:txBody>
      </p:sp>
      <p:graphicFrame>
        <p:nvGraphicFramePr>
          <p:cNvPr id="236" name="Table 235"/>
          <p:cNvGraphicFramePr>
            <a:graphicFrameLocks noGrp="1"/>
          </p:cNvGraphicFramePr>
          <p:nvPr/>
        </p:nvGraphicFramePr>
        <p:xfrm>
          <a:off x="144000" y="1620000"/>
          <a:ext cx="7469999" cy="1584000"/>
        </p:xfrm>
        <a:graphic>
          <a:graphicData uri="http://schemas.openxmlformats.org/drawingml/2006/table">
            <a:tbl>
              <a:tblPr firstRow="1" bandRow="1">
                <a:tableStyleId>{5C22544A-7EE6-4342-B048-85BDC9FD1C3A}</a:tableStyleId>
              </a:tblPr>
              <a:tblGrid>
                <a:gridCol w="2134800"/>
                <a:gridCol w="1007999"/>
                <a:gridCol w="1188000"/>
                <a:gridCol w="1098000"/>
                <a:gridCol w="1098000"/>
                <a:gridCol w="943200"/>
              </a:tblGrid>
              <a:tr h="396000">
                <a:tc>
                  <a:txBody>
                    <a:bodyPr/>
                    <a:lstStyle/>
                    <a:p>
                      <a:pPr algn="ctr">
                        <a:defRPr b="1" sz="1200">
                          <a:solidFill>
                            <a:srgbClr val="FFFFFF"/>
                          </a:solidFill>
                          <a:latin typeface="Montserrat"/>
                        </a:defRPr>
                      </a:pPr>
                      <a:r>
                        <a:t>Indicador</a:t>
                      </a:r>
                    </a:p>
                  </a:txBody>
                  <a:tcPr anchor="ctr">
                    <a:solidFill>
                      <a:srgbClr val="006455"/>
                    </a:solidFill>
                  </a:tcPr>
                </a:tc>
                <a:tc>
                  <a:txBody>
                    <a:bodyPr/>
                    <a:lstStyle/>
                    <a:p>
                      <a:pPr algn="ctr">
                        <a:defRPr b="1" sz="1200">
                          <a:solidFill>
                            <a:srgbClr val="FFFFFF"/>
                          </a:solidFill>
                          <a:latin typeface="Montserrat"/>
                        </a:defRPr>
                      </a:pPr>
                      <a:r>
                        <a:t>2025</a:t>
                      </a:r>
                    </a:p>
                  </a:txBody>
                  <a:tcPr anchor="ctr">
                    <a:solidFill>
                      <a:srgbClr val="006455"/>
                    </a:solidFill>
                  </a:tcPr>
                </a:tc>
                <a:tc>
                  <a:txBody>
                    <a:bodyPr/>
                    <a:lstStyle/>
                    <a:p>
                      <a:pPr algn="ctr">
                        <a:defRPr b="1" sz="1200">
                          <a:solidFill>
                            <a:srgbClr val="FFFFFF"/>
                          </a:solidFill>
                          <a:latin typeface="Montserrat"/>
                        </a:defRPr>
                      </a:pPr>
                      <a:r>
                        <a:t>Incremento 2024 vs 2025</a:t>
                      </a:r>
                    </a:p>
                  </a:txBody>
                  <a:tcPr anchor="ctr">
                    <a:solidFill>
                      <a:srgbClr val="006455"/>
                    </a:solidFill>
                  </a:tcPr>
                </a:tc>
                <a:tc>
                  <a:txBody>
                    <a:bodyPr/>
                    <a:lstStyle/>
                    <a:p>
                      <a:pPr algn="ctr">
                        <a:defRPr b="1" sz="1200">
                          <a:solidFill>
                            <a:srgbClr val="FFFFFF"/>
                          </a:solidFill>
                          <a:latin typeface="Montserrat"/>
                        </a:defRPr>
                      </a:pPr>
                      <a:r>
                        <a:t>Avance 2026</a:t>
                      </a:r>
                    </a:p>
                  </a:txBody>
                  <a:tcPr anchor="ctr">
                    <a:solidFill>
                      <a:srgbClr val="980000"/>
                    </a:solidFill>
                  </a:tcPr>
                </a:tc>
                <a:tc>
                  <a:txBody>
                    <a:bodyPr/>
                    <a:lstStyle/>
                    <a:p>
                      <a:pPr algn="ctr">
                        <a:defRPr b="1" sz="1200">
                          <a:solidFill>
                            <a:srgbClr val="FFFFFF"/>
                          </a:solidFill>
                          <a:latin typeface="Montserrat"/>
                        </a:defRPr>
                      </a:pPr>
                      <a:r>
                        <a:t>Meta 2026</a:t>
                      </a:r>
                    </a:p>
                  </a:txBody>
                  <a:tcPr anchor="ctr">
                    <a:solidFill>
                      <a:srgbClr val="980000"/>
                    </a:solidFill>
                  </a:tcPr>
                </a:tc>
                <a:tc>
                  <a:txBody>
                    <a:bodyPr/>
                    <a:lstStyle/>
                    <a:p>
                      <a:pPr algn="ctr">
                        <a:defRPr b="1" sz="1200">
                          <a:solidFill>
                            <a:srgbClr val="FFFFFF"/>
                          </a:solidFill>
                          <a:latin typeface="Montserrat"/>
                        </a:defRPr>
                      </a:pPr>
                      <a:r>
                        <a:t>% avance anual</a:t>
                      </a:r>
                    </a:p>
                  </a:txBody>
                  <a:tcPr anchor="ctr">
                    <a:solidFill>
                      <a:srgbClr val="980000"/>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Medicina Familiar¹</a:t>
                      </a:r>
                    </a:p>
                  </a:txBody>
                  <a:tcPr marL="0" marR="0" marT="0" marB="0" anchor="ctr">
                    <a:solidFill>
                      <a:srgbClr val="006455"/>
                    </a:solidFill>
                  </a:tcPr>
                </a:tc>
                <a:tc>
                  <a:txBody>
                    <a:bodyPr/>
                    <a:lstStyle/>
                    <a:p>
                      <a:pPr algn="ctr">
                        <a:defRPr sz="1000">
                          <a:solidFill>
                            <a:srgbClr val="404040"/>
                          </a:solidFill>
                          <a:latin typeface="Montserrat"/>
                        </a:defRPr>
                      </a:pPr>
                      <a:r>
                        <a:t>4,161,357</a:t>
                      </a:r>
                    </a:p>
                  </a:txBody>
                  <a:tcPr marL="0" marR="0" marT="0" marB="0" anchor="ctr">
                    <a:solidFill>
                      <a:srgbClr val="FFFFFF"/>
                    </a:solidFill>
                  </a:tcPr>
                </a:tc>
                <a:tc>
                  <a:txBody>
                    <a:bodyPr/>
                    <a:lstStyle/>
                    <a:p>
                      <a:pPr algn="ctr">
                        <a:defRPr sz="1000">
                          <a:solidFill>
                            <a:srgbClr val="404040"/>
                          </a:solidFill>
                          <a:latin typeface="Montserrat"/>
                        </a:defRPr>
                      </a:pPr>
                      <a:r>
                        <a:t>735,852</a:t>
                      </a:r>
                    </a:p>
                  </a:txBody>
                  <a:tcPr marL="0" marR="0" marT="0" marB="0" anchor="ctr">
                    <a:solidFill>
                      <a:srgbClr val="FFFFFF"/>
                    </a:solidFill>
                  </a:tcPr>
                </a:tc>
                <a:tc>
                  <a:txBody>
                    <a:bodyPr/>
                    <a:lstStyle/>
                    <a:p>
                      <a:pPr algn="ctr">
                        <a:defRPr sz="1000" b="1">
                          <a:solidFill>
                            <a:srgbClr val="980000"/>
                          </a:solidFill>
                          <a:latin typeface="Montserrat"/>
                        </a:defRPr>
                      </a:pPr>
                      <a:r>
                        <a:t>1,781,661</a:t>
                      </a:r>
                    </a:p>
                  </a:txBody>
                  <a:tcPr marL="0" marR="0" marT="0" marB="0" anchor="ctr">
                    <a:solidFill>
                      <a:srgbClr val="ECD3D9"/>
                    </a:solidFill>
                  </a:tcPr>
                </a:tc>
                <a:tc>
                  <a:txBody>
                    <a:bodyPr/>
                    <a:lstStyle/>
                    <a:p>
                      <a:pPr algn="ctr">
                        <a:defRPr sz="1000" b="1">
                          <a:solidFill>
                            <a:srgbClr val="980000"/>
                          </a:solidFill>
                          <a:latin typeface="Montserrat"/>
                        </a:defRPr>
                      </a:pPr>
                      <a:r>
                        <a:t>4,112,256</a:t>
                      </a:r>
                    </a:p>
                  </a:txBody>
                  <a:tcPr marL="0" marR="0" marT="0" marB="0" anchor="ctr">
                    <a:solidFill>
                      <a:srgbClr val="ECD3D9"/>
                    </a:solidFill>
                  </a:tcPr>
                </a:tc>
                <a:tc>
                  <a:txBody>
                    <a:bodyPr/>
                    <a:lstStyle/>
                    <a:p>
                      <a:pPr algn="ctr">
                        <a:defRPr sz="1000" b="1">
                          <a:solidFill>
                            <a:srgbClr val="980000"/>
                          </a:solidFill>
                          <a:latin typeface="Montserrat"/>
                        </a:defRPr>
                      </a:pPr>
                      <a:r>
                        <a:t>43.3%</a:t>
                      </a:r>
                    </a:p>
                  </a:txBody>
                  <a:tcPr marL="0" marR="0" marT="0" marB="0" anchor="ctr">
                    <a:solidFill>
                      <a:srgbClr val="ECD3D9"/>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Especialidad</a:t>
                      </a:r>
                    </a:p>
                  </a:txBody>
                  <a:tcPr marL="0" marR="0" marT="0" marB="0" anchor="ctr">
                    <a:solidFill>
                      <a:srgbClr val="006455"/>
                    </a:solidFill>
                  </a:tcPr>
                </a:tc>
                <a:tc>
                  <a:txBody>
                    <a:bodyPr/>
                    <a:lstStyle/>
                    <a:p>
                      <a:pPr algn="ctr">
                        <a:defRPr sz="1000">
                          <a:solidFill>
                            <a:srgbClr val="404040"/>
                          </a:solidFill>
                          <a:latin typeface="Montserrat"/>
                        </a:defRPr>
                      </a:pPr>
                      <a:r>
                        <a:t>691,555</a:t>
                      </a:r>
                    </a:p>
                  </a:txBody>
                  <a:tcPr marL="0" marR="0" marT="0" marB="0" anchor="ctr">
                    <a:solidFill>
                      <a:srgbClr val="EFEFEF"/>
                    </a:solidFill>
                  </a:tcPr>
                </a:tc>
                <a:tc>
                  <a:txBody>
                    <a:bodyPr/>
                    <a:lstStyle/>
                    <a:p>
                      <a:pPr algn="ctr">
                        <a:defRPr sz="1000">
                          <a:solidFill>
                            <a:srgbClr val="404040"/>
                          </a:solidFill>
                          <a:latin typeface="Montserrat"/>
                        </a:defRPr>
                      </a:pPr>
                      <a:r>
                        <a:t>266,907</a:t>
                      </a:r>
                    </a:p>
                  </a:txBody>
                  <a:tcPr marL="0" marR="0" marT="0" marB="0" anchor="ctr">
                    <a:solidFill>
                      <a:srgbClr val="EFEFEF"/>
                    </a:solidFill>
                  </a:tcPr>
                </a:tc>
                <a:tc>
                  <a:txBody>
                    <a:bodyPr/>
                    <a:lstStyle/>
                    <a:p>
                      <a:pPr algn="ctr">
                        <a:defRPr sz="1000" b="1">
                          <a:solidFill>
                            <a:srgbClr val="980000"/>
                          </a:solidFill>
                          <a:latin typeface="Montserrat"/>
                        </a:defRPr>
                      </a:pPr>
                      <a:r>
                        <a:t>327,420</a:t>
                      </a:r>
                    </a:p>
                  </a:txBody>
                  <a:tcPr marL="0" marR="0" marT="0" marB="0" anchor="ctr">
                    <a:solidFill>
                      <a:srgbClr val="F4E3E7"/>
                    </a:solidFill>
                  </a:tcPr>
                </a:tc>
                <a:tc>
                  <a:txBody>
                    <a:bodyPr/>
                    <a:lstStyle/>
                    <a:p>
                      <a:pPr algn="ctr">
                        <a:defRPr sz="1000" b="1">
                          <a:solidFill>
                            <a:srgbClr val="980000"/>
                          </a:solidFill>
                          <a:latin typeface="Montserrat"/>
                        </a:defRPr>
                      </a:pPr>
                      <a:r>
                        <a:t>792,415</a:t>
                      </a:r>
                    </a:p>
                  </a:txBody>
                  <a:tcPr marL="0" marR="0" marT="0" marB="0" anchor="ctr">
                    <a:solidFill>
                      <a:srgbClr val="F4E3E7"/>
                    </a:solidFill>
                  </a:tcPr>
                </a:tc>
                <a:tc>
                  <a:txBody>
                    <a:bodyPr/>
                    <a:lstStyle/>
                    <a:p>
                      <a:pPr algn="ctr">
                        <a:defRPr sz="1000" b="1">
                          <a:solidFill>
                            <a:srgbClr val="980000"/>
                          </a:solidFill>
                          <a:latin typeface="Montserrat"/>
                        </a:defRPr>
                      </a:pPr>
                      <a:r>
                        <a:t>41.3%</a:t>
                      </a:r>
                    </a:p>
                  </a:txBody>
                  <a:tcPr marL="0" marR="0" marT="0" marB="0" anchor="ctr">
                    <a:solidFill>
                      <a:srgbClr val="F4E3E7"/>
                    </a:solidFill>
                  </a:tcPr>
                </a:tc>
              </a:tr>
              <a:tr h="396000">
                <a:tc>
                  <a:txBody>
                    <a:bodyPr/>
                    <a:lstStyle/>
                    <a:p>
                      <a:pPr algn="l">
                        <a:defRPr sz="1000" b="1">
                          <a:solidFill>
                            <a:srgbClr val="FFFFFF"/>
                          </a:solidFill>
                          <a:latin typeface="Montserrat"/>
                        </a:defRPr>
                      </a:pPr>
                      <a:r>
                        <a:t>Cirugías</a:t>
                      </a:r>
                    </a:p>
                  </a:txBody>
                  <a:tcPr marL="0" marR="0" marT="0" marB="0" anchor="ctr">
                    <a:solidFill>
                      <a:srgbClr val="006455"/>
                    </a:solidFill>
                  </a:tcPr>
                </a:tc>
                <a:tc>
                  <a:txBody>
                    <a:bodyPr/>
                    <a:lstStyle/>
                    <a:p>
                      <a:pPr algn="ctr">
                        <a:defRPr sz="1000">
                          <a:solidFill>
                            <a:srgbClr val="404040"/>
                          </a:solidFill>
                          <a:latin typeface="Montserrat"/>
                        </a:defRPr>
                      </a:pPr>
                      <a:r>
                        <a:t>38,021</a:t>
                      </a:r>
                    </a:p>
                  </a:txBody>
                  <a:tcPr marL="0" marR="0" marT="0" marB="0" anchor="ctr">
                    <a:solidFill>
                      <a:srgbClr val="FFFFFF"/>
                    </a:solidFill>
                  </a:tcPr>
                </a:tc>
                <a:tc>
                  <a:txBody>
                    <a:bodyPr/>
                    <a:lstStyle/>
                    <a:p>
                      <a:pPr algn="ctr">
                        <a:defRPr sz="1000">
                          <a:solidFill>
                            <a:srgbClr val="404040"/>
                          </a:solidFill>
                          <a:latin typeface="Montserrat"/>
                        </a:defRPr>
                      </a:pPr>
                      <a:r>
                        <a:t>10,284</a:t>
                      </a:r>
                    </a:p>
                  </a:txBody>
                  <a:tcPr marL="0" marR="0" marT="0" marB="0" anchor="ctr">
                    <a:solidFill>
                      <a:srgbClr val="FFFFFF"/>
                    </a:solidFill>
                  </a:tcPr>
                </a:tc>
                <a:tc>
                  <a:txBody>
                    <a:bodyPr/>
                    <a:lstStyle/>
                    <a:p>
                      <a:pPr algn="ctr">
                        <a:defRPr sz="1000" b="1">
                          <a:solidFill>
                            <a:srgbClr val="980000"/>
                          </a:solidFill>
                          <a:latin typeface="Montserrat"/>
                        </a:defRPr>
                      </a:pPr>
                      <a:r>
                        <a:t>19,305</a:t>
                      </a:r>
                    </a:p>
                  </a:txBody>
                  <a:tcPr marL="0" marR="0" marT="0" marB="0" anchor="ctr">
                    <a:solidFill>
                      <a:srgbClr val="ECD3D9"/>
                    </a:solidFill>
                  </a:tcPr>
                </a:tc>
                <a:tc>
                  <a:txBody>
                    <a:bodyPr/>
                    <a:lstStyle/>
                    <a:p>
                      <a:pPr algn="ctr">
                        <a:defRPr sz="1000" b="1">
                          <a:solidFill>
                            <a:srgbClr val="980000"/>
                          </a:solidFill>
                          <a:latin typeface="Montserrat"/>
                        </a:defRPr>
                      </a:pPr>
                      <a:r>
                        <a:t>50,078</a:t>
                      </a:r>
                    </a:p>
                  </a:txBody>
                  <a:tcPr marL="0" marR="0" marT="0" marB="0" anchor="ctr">
                    <a:solidFill>
                      <a:srgbClr val="ECD3D9"/>
                    </a:solidFill>
                  </a:tcPr>
                </a:tc>
                <a:tc>
                  <a:txBody>
                    <a:bodyPr/>
                    <a:lstStyle/>
                    <a:p>
                      <a:pPr algn="ctr">
                        <a:defRPr sz="1000" b="1">
                          <a:solidFill>
                            <a:srgbClr val="980000"/>
                          </a:solidFill>
                          <a:latin typeface="Montserrat"/>
                        </a:defRPr>
                      </a:pPr>
                      <a:r>
                        <a:t>38.5%</a:t>
                      </a:r>
                    </a:p>
                  </a:txBody>
                  <a:tcPr marL="0" marR="0" marT="0" marB="0" anchor="ctr">
                    <a:solidFill>
                      <a:srgbClr val="ECD3D9"/>
                    </a:solidFill>
                  </a:tcPr>
                </a:tc>
              </a:tr>
            </a:tbl>
          </a:graphicData>
        </a:graphic>
      </p:graphicFrame>
    </p:spTree>
    <p:extLst>
      <p:ext uri="{BB962C8B-B14F-4D97-AF65-F5344CB8AC3E}">
        <p14:creationId xmlns:p14="http://schemas.microsoft.com/office/powerpoint/2010/main" val="748044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42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34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(del 26 de Dic de 2024 al 25 de Dic de 2025).</a:t>
            </a:r>
            <a:br/>
            <a:r>
              <a:t>Corte de información: Semana 22, 24 mayo 2026</a:t>
            </a:r>
          </a:p>
        </p:txBody>
      </p:sp>
      <p:cxnSp>
        <p:nvCxnSpPr>
          <p:cNvPr id="7" name="Connector 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151200" y="1692000"/>
          <a:ext cx="7473599" cy="54432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 12 E. Ramírez</a:t>
                      </a:r>
                    </a:p>
                  </a:txBody>
                  <a:tcPr marL="0" marR="0" marT="0" marB="0">
                    <a:solidFill>
                      <a:srgbClr val="FFFFFF"/>
                    </a:solidFill>
                  </a:tcPr>
                </a:tc>
                <a:tc>
                  <a:txBody>
                    <a:bodyPr/>
                    <a:lstStyle/>
                    <a:p>
                      <a:pPr algn="ctr">
                        <a:defRPr sz="1000">
                          <a:latin typeface="Montserrat"/>
                        </a:defRPr>
                      </a:pPr>
                      <a:r>
                        <a:t>5,091</a:t>
                      </a:r>
                    </a:p>
                  </a:txBody>
                  <a:tcPr marL="0" marR="0" marT="0" marB="0">
                    <a:solidFill>
                      <a:srgbClr val="FFFFFF"/>
                    </a:solidFill>
                  </a:tcPr>
                </a:tc>
                <a:tc>
                  <a:txBody>
                    <a:bodyPr/>
                    <a:lstStyle/>
                    <a:p>
                      <a:pPr algn="ctr">
                        <a:defRPr sz="1000">
                          <a:latin typeface="Montserrat"/>
                        </a:defRPr>
                      </a:pPr>
                      <a:r>
                        <a:t>-815</a:t>
                      </a:r>
                    </a:p>
                  </a:txBody>
                  <a:tcPr marL="0" marR="0" marT="0" marB="0">
                    <a:solidFill>
                      <a:srgbClr val="FFFFFF"/>
                    </a:solidFill>
                  </a:tcPr>
                </a:tc>
                <a:tc>
                  <a:txBody>
                    <a:bodyPr/>
                    <a:lstStyle/>
                    <a:p>
                      <a:pPr algn="ctr">
                        <a:defRPr sz="1000">
                          <a:latin typeface="Montserrat"/>
                        </a:defRPr>
                      </a:pPr>
                      <a:r>
                        <a:t>1,982</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33.0%</a:t>
                      </a:r>
                    </a:p>
                  </a:txBody>
                  <a:tcPr marL="0" marR="0" marT="0" marB="0">
                    <a:solidFill>
                      <a:srgbClr val="ECD3D9"/>
                    </a:solidFill>
                  </a:tcPr>
                </a:tc>
              </a:tr>
              <a:tr h="151200">
                <a:tc>
                  <a:txBody>
                    <a:bodyPr/>
                    <a:lstStyle/>
                    <a:p>
                      <a:pPr algn="l">
                        <a:defRPr sz="1000">
                          <a:latin typeface="Montserrat"/>
                        </a:defRPr>
                      </a:pPr>
                      <a:r>
                        <a:t>UMF 22 Ciudad Mier</a:t>
                      </a:r>
                    </a:p>
                  </a:txBody>
                  <a:tcPr marL="0" marR="0" marT="0" marB="0">
                    <a:solidFill>
                      <a:srgbClr val="EFEFEF"/>
                    </a:solidFill>
                  </a:tcPr>
                </a:tc>
                <a:tc>
                  <a:txBody>
                    <a:bodyPr/>
                    <a:lstStyle/>
                    <a:p>
                      <a:pPr algn="ctr">
                        <a:defRPr sz="1000">
                          <a:latin typeface="Montserrat"/>
                        </a:defRPr>
                      </a:pPr>
                      <a:r>
                        <a:t>4,141</a:t>
                      </a:r>
                    </a:p>
                  </a:txBody>
                  <a:tcPr marL="0" marR="0" marT="0" marB="0">
                    <a:solidFill>
                      <a:srgbClr val="EFEFEF"/>
                    </a:solidFill>
                  </a:tcPr>
                </a:tc>
                <a:tc>
                  <a:txBody>
                    <a:bodyPr/>
                    <a:lstStyle/>
                    <a:p>
                      <a:pPr algn="ctr">
                        <a:defRPr sz="1000">
                          <a:latin typeface="Montserrat"/>
                        </a:defRPr>
                      </a:pPr>
                      <a:r>
                        <a:t>1,001</a:t>
                      </a:r>
                    </a:p>
                  </a:txBody>
                  <a:tcPr marL="0" marR="0" marT="0" marB="0">
                    <a:solidFill>
                      <a:srgbClr val="EFEFEF"/>
                    </a:solidFill>
                  </a:tcPr>
                </a:tc>
                <a:tc>
                  <a:txBody>
                    <a:bodyPr/>
                    <a:lstStyle/>
                    <a:p>
                      <a:pPr algn="ctr">
                        <a:defRPr sz="1000">
                          <a:latin typeface="Montserrat"/>
                        </a:defRPr>
                      </a:pPr>
                      <a:r>
                        <a:t>2,546</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42.4%</a:t>
                      </a:r>
                    </a:p>
                  </a:txBody>
                  <a:tcPr marL="0" marR="0" marT="0" marB="0">
                    <a:solidFill>
                      <a:srgbClr val="ECD3D9"/>
                    </a:solidFill>
                  </a:tcPr>
                </a:tc>
              </a:tr>
              <a:tr h="151200">
                <a:tc>
                  <a:txBody>
                    <a:bodyPr/>
                    <a:lstStyle/>
                    <a:p>
                      <a:pPr algn="l">
                        <a:defRPr sz="1000">
                          <a:latin typeface="Montserrat"/>
                        </a:defRPr>
                      </a:pPr>
                      <a:r>
                        <a:t>UMF 30 Villa Aldama</a:t>
                      </a:r>
                    </a:p>
                  </a:txBody>
                  <a:tcPr marL="0" marR="0" marT="0" marB="0">
                    <a:solidFill>
                      <a:srgbClr val="FFFFFF"/>
                    </a:solidFill>
                  </a:tcPr>
                </a:tc>
                <a:tc>
                  <a:txBody>
                    <a:bodyPr/>
                    <a:lstStyle/>
                    <a:p>
                      <a:pPr algn="ctr">
                        <a:defRPr sz="1000">
                          <a:latin typeface="Montserrat"/>
                        </a:defRPr>
                      </a:pPr>
                      <a:r>
                        <a:t>10,713</a:t>
                      </a:r>
                    </a:p>
                  </a:txBody>
                  <a:tcPr marL="0" marR="0" marT="0" marB="0">
                    <a:solidFill>
                      <a:srgbClr val="FFFFFF"/>
                    </a:solidFill>
                  </a:tcPr>
                </a:tc>
                <a:tc>
                  <a:txBody>
                    <a:bodyPr/>
                    <a:lstStyle/>
                    <a:p>
                      <a:pPr algn="ctr">
                        <a:defRPr sz="1000">
                          <a:latin typeface="Montserrat"/>
                        </a:defRPr>
                      </a:pPr>
                      <a:r>
                        <a:t>1,580</a:t>
                      </a:r>
                    </a:p>
                  </a:txBody>
                  <a:tcPr marL="0" marR="0" marT="0" marB="0">
                    <a:solidFill>
                      <a:srgbClr val="FFFFFF"/>
                    </a:solidFill>
                  </a:tcPr>
                </a:tc>
                <a:tc>
                  <a:txBody>
                    <a:bodyPr/>
                    <a:lstStyle/>
                    <a:p>
                      <a:pPr algn="ctr">
                        <a:defRPr sz="1000">
                          <a:latin typeface="Montserrat"/>
                        </a:defRPr>
                      </a:pPr>
                      <a:r>
                        <a:t>5,340</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44.5%</a:t>
                      </a:r>
                    </a:p>
                  </a:txBody>
                  <a:tcPr marL="0" marR="0" marT="0" marB="0">
                    <a:solidFill>
                      <a:srgbClr val="ECD3D9"/>
                    </a:solidFill>
                  </a:tcPr>
                </a:tc>
              </a:tr>
              <a:tr h="151200">
                <a:tc>
                  <a:txBody>
                    <a:bodyPr/>
                    <a:lstStyle/>
                    <a:p>
                      <a:pPr algn="l">
                        <a:defRPr sz="1000">
                          <a:latin typeface="Montserrat"/>
                        </a:defRPr>
                      </a:pPr>
                      <a:r>
                        <a:t>UMF 26 Loma Alta</a:t>
                      </a:r>
                    </a:p>
                  </a:txBody>
                  <a:tcPr marL="0" marR="0" marT="0" marB="0">
                    <a:solidFill>
                      <a:srgbClr val="EFEFEF"/>
                    </a:solidFill>
                  </a:tcPr>
                </a:tc>
                <a:tc>
                  <a:txBody>
                    <a:bodyPr/>
                    <a:lstStyle/>
                    <a:p>
                      <a:pPr algn="ctr">
                        <a:defRPr sz="1000">
                          <a:latin typeface="Montserrat"/>
                        </a:defRPr>
                      </a:pPr>
                      <a:r>
                        <a:t>8,619</a:t>
                      </a:r>
                    </a:p>
                  </a:txBody>
                  <a:tcPr marL="0" marR="0" marT="0" marB="0">
                    <a:solidFill>
                      <a:srgbClr val="EFEFEF"/>
                    </a:solidFill>
                  </a:tcPr>
                </a:tc>
                <a:tc>
                  <a:txBody>
                    <a:bodyPr/>
                    <a:lstStyle/>
                    <a:p>
                      <a:pPr algn="ctr">
                        <a:defRPr sz="1000">
                          <a:latin typeface="Montserrat"/>
                        </a:defRPr>
                      </a:pPr>
                      <a:r>
                        <a:t>1,113</a:t>
                      </a:r>
                    </a:p>
                  </a:txBody>
                  <a:tcPr marL="0" marR="0" marT="0" marB="0">
                    <a:solidFill>
                      <a:srgbClr val="EFEFEF"/>
                    </a:solidFill>
                  </a:tcPr>
                </a:tc>
                <a:tc>
                  <a:txBody>
                    <a:bodyPr/>
                    <a:lstStyle/>
                    <a:p>
                      <a:pPr algn="ctr">
                        <a:defRPr sz="1000">
                          <a:latin typeface="Montserrat"/>
                        </a:defRPr>
                      </a:pPr>
                      <a:r>
                        <a:t>4,335</a:t>
                      </a:r>
                    </a:p>
                  </a:txBody>
                  <a:tcPr marL="0" marR="0" marT="0" marB="0">
                    <a:solidFill>
                      <a:srgbClr val="ECD3D9"/>
                    </a:solidFill>
                  </a:tcPr>
                </a:tc>
                <a:tc>
                  <a:txBody>
                    <a:bodyPr/>
                    <a:lstStyle/>
                    <a:p>
                      <a:pPr algn="ctr">
                        <a:defRPr sz="1000">
                          <a:latin typeface="Montserrat"/>
                        </a:defRPr>
                      </a:pPr>
                      <a:r>
                        <a:t>10,000</a:t>
                      </a:r>
                    </a:p>
                  </a:txBody>
                  <a:tcPr marL="0" marR="0" marT="0" marB="0">
                    <a:solidFill>
                      <a:srgbClr val="ECD3D9"/>
                    </a:solidFill>
                  </a:tcPr>
                </a:tc>
                <a:tc>
                  <a:txBody>
                    <a:bodyPr/>
                    <a:lstStyle/>
                    <a:p>
                      <a:pPr algn="ctr">
                        <a:defRPr sz="1000">
                          <a:latin typeface="Montserrat"/>
                        </a:defRPr>
                      </a:pPr>
                      <a:r>
                        <a:t>43.4%</a:t>
                      </a:r>
                    </a:p>
                  </a:txBody>
                  <a:tcPr marL="0" marR="0" marT="0" marB="0">
                    <a:solidFill>
                      <a:srgbClr val="ECD3D9"/>
                    </a:solidFill>
                  </a:tcPr>
                </a:tc>
              </a:tr>
              <a:tr h="151200">
                <a:tc>
                  <a:txBody>
                    <a:bodyPr/>
                    <a:lstStyle/>
                    <a:p>
                      <a:pPr algn="l">
                        <a:defRPr sz="1000">
                          <a:latin typeface="Montserrat"/>
                        </a:defRPr>
                      </a:pPr>
                      <a:r>
                        <a:t>UMF 25 E. González</a:t>
                      </a:r>
                    </a:p>
                  </a:txBody>
                  <a:tcPr marL="0" marR="0" marT="0" marB="0">
                    <a:solidFill>
                      <a:srgbClr val="FFFFFF"/>
                    </a:solidFill>
                  </a:tcPr>
                </a:tc>
                <a:tc>
                  <a:txBody>
                    <a:bodyPr/>
                    <a:lstStyle/>
                    <a:p>
                      <a:pPr algn="ctr">
                        <a:defRPr sz="1000">
                          <a:latin typeface="Montserrat"/>
                        </a:defRPr>
                      </a:pPr>
                      <a:r>
                        <a:t>11,792</a:t>
                      </a:r>
                    </a:p>
                  </a:txBody>
                  <a:tcPr marL="0" marR="0" marT="0" marB="0">
                    <a:solidFill>
                      <a:srgbClr val="FFFFFF"/>
                    </a:solidFill>
                  </a:tcPr>
                </a:tc>
                <a:tc>
                  <a:txBody>
                    <a:bodyPr/>
                    <a:lstStyle/>
                    <a:p>
                      <a:pPr algn="ctr">
                        <a:defRPr sz="1000">
                          <a:latin typeface="Montserrat"/>
                        </a:defRPr>
                      </a:pPr>
                      <a:r>
                        <a:t>2,067</a:t>
                      </a:r>
                    </a:p>
                  </a:txBody>
                  <a:tcPr marL="0" marR="0" marT="0" marB="0">
                    <a:solidFill>
                      <a:srgbClr val="FFFFFF"/>
                    </a:solidFill>
                  </a:tcPr>
                </a:tc>
                <a:tc>
                  <a:txBody>
                    <a:bodyPr/>
                    <a:lstStyle/>
                    <a:p>
                      <a:pPr algn="ctr">
                        <a:defRPr sz="1000">
                          <a:latin typeface="Montserrat"/>
                        </a:defRPr>
                      </a:pPr>
                      <a:r>
                        <a:t>5,766</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44.4%</a:t>
                      </a:r>
                    </a:p>
                  </a:txBody>
                  <a:tcPr marL="0" marR="0" marT="0" marB="0">
                    <a:solidFill>
                      <a:srgbClr val="ECD3D9"/>
                    </a:solidFill>
                  </a:tcPr>
                </a:tc>
              </a:tr>
              <a:tr h="151200">
                <a:tc>
                  <a:txBody>
                    <a:bodyPr/>
                    <a:lstStyle/>
                    <a:p>
                      <a:pPr algn="l">
                        <a:defRPr sz="1000">
                          <a:latin typeface="Montserrat"/>
                        </a:defRPr>
                      </a:pPr>
                      <a:r>
                        <a:t>UMF 10 Altamira</a:t>
                      </a:r>
                    </a:p>
                  </a:txBody>
                  <a:tcPr marL="0" marR="0" marT="0" marB="0">
                    <a:solidFill>
                      <a:srgbClr val="EFEFEF"/>
                    </a:solidFill>
                  </a:tcPr>
                </a:tc>
                <a:tc>
                  <a:txBody>
                    <a:bodyPr/>
                    <a:lstStyle/>
                    <a:p>
                      <a:pPr algn="ctr">
                        <a:defRPr sz="1000">
                          <a:latin typeface="Montserrat"/>
                        </a:defRPr>
                      </a:pPr>
                      <a:r>
                        <a:t>65,730</a:t>
                      </a:r>
                    </a:p>
                  </a:txBody>
                  <a:tcPr marL="0" marR="0" marT="0" marB="0">
                    <a:solidFill>
                      <a:srgbClr val="EFEFEF"/>
                    </a:solidFill>
                  </a:tcPr>
                </a:tc>
                <a:tc>
                  <a:txBody>
                    <a:bodyPr/>
                    <a:lstStyle/>
                    <a:p>
                      <a:pPr algn="ctr">
                        <a:defRPr sz="1000">
                          <a:latin typeface="Montserrat"/>
                        </a:defRPr>
                      </a:pPr>
                      <a:r>
                        <a:t>16,782</a:t>
                      </a:r>
                    </a:p>
                  </a:txBody>
                  <a:tcPr marL="0" marR="0" marT="0" marB="0">
                    <a:solidFill>
                      <a:srgbClr val="EFEFEF"/>
                    </a:solidFill>
                  </a:tcPr>
                </a:tc>
                <a:tc>
                  <a:txBody>
                    <a:bodyPr/>
                    <a:lstStyle/>
                    <a:p>
                      <a:pPr algn="ctr">
                        <a:defRPr sz="1000">
                          <a:latin typeface="Montserrat"/>
                        </a:defRPr>
                      </a:pPr>
                      <a:r>
                        <a:t>29,424</a:t>
                      </a:r>
                    </a:p>
                  </a:txBody>
                  <a:tcPr marL="0" marR="0" marT="0" marB="0">
                    <a:solidFill>
                      <a:srgbClr val="ECD3D9"/>
                    </a:solidFill>
                  </a:tcPr>
                </a:tc>
                <a:tc>
                  <a:txBody>
                    <a:bodyPr/>
                    <a:lstStyle/>
                    <a:p>
                      <a:pPr algn="ctr">
                        <a:defRPr sz="1000">
                          <a:latin typeface="Montserrat"/>
                        </a:defRPr>
                      </a:pPr>
                      <a:r>
                        <a:t>64,000</a:t>
                      </a:r>
                    </a:p>
                  </a:txBody>
                  <a:tcPr marL="0" marR="0" marT="0" marB="0">
                    <a:solidFill>
                      <a:srgbClr val="ECD3D9"/>
                    </a:solidFill>
                  </a:tcPr>
                </a:tc>
                <a:tc>
                  <a:txBody>
                    <a:bodyPr/>
                    <a:lstStyle/>
                    <a:p>
                      <a:pPr algn="ctr">
                        <a:defRPr sz="1000">
                          <a:latin typeface="Montserrat"/>
                        </a:defRPr>
                      </a:pPr>
                      <a:r>
                        <a:t>46.0%</a:t>
                      </a:r>
                    </a:p>
                  </a:txBody>
                  <a:tcPr marL="0" marR="0" marT="0" marB="0">
                    <a:solidFill>
                      <a:srgbClr val="ECD3D9"/>
                    </a:solidFill>
                  </a:tcPr>
                </a:tc>
              </a:tr>
              <a:tr h="151200">
                <a:tc>
                  <a:txBody>
                    <a:bodyPr/>
                    <a:lstStyle/>
                    <a:p>
                      <a:pPr algn="l">
                        <a:defRPr sz="1000">
                          <a:latin typeface="Montserrat"/>
                        </a:defRPr>
                      </a:pPr>
                      <a:r>
                        <a:t>UMF 8 E. Cuauhtémoc</a:t>
                      </a:r>
                    </a:p>
                  </a:txBody>
                  <a:tcPr marL="0" marR="0" marT="0" marB="0">
                    <a:solidFill>
                      <a:srgbClr val="FFFFFF"/>
                    </a:solidFill>
                  </a:tcPr>
                </a:tc>
                <a:tc>
                  <a:txBody>
                    <a:bodyPr/>
                    <a:lstStyle/>
                    <a:p>
                      <a:pPr algn="ctr">
                        <a:defRPr sz="1000">
                          <a:latin typeface="Montserrat"/>
                        </a:defRPr>
                      </a:pPr>
                      <a:r>
                        <a:t>8,996</a:t>
                      </a:r>
                    </a:p>
                  </a:txBody>
                  <a:tcPr marL="0" marR="0" marT="0" marB="0">
                    <a:solidFill>
                      <a:srgbClr val="FFFFFF"/>
                    </a:solidFill>
                  </a:tcPr>
                </a:tc>
                <a:tc>
                  <a:txBody>
                    <a:bodyPr/>
                    <a:lstStyle/>
                    <a:p>
                      <a:pPr algn="ctr">
                        <a:defRPr sz="1000">
                          <a:latin typeface="Montserrat"/>
                        </a:defRPr>
                      </a:pPr>
                      <a:r>
                        <a:t>2,702</a:t>
                      </a:r>
                    </a:p>
                  </a:txBody>
                  <a:tcPr marL="0" marR="0" marT="0" marB="0">
                    <a:solidFill>
                      <a:srgbClr val="FFFFFF"/>
                    </a:solidFill>
                  </a:tcPr>
                </a:tc>
                <a:tc>
                  <a:txBody>
                    <a:bodyPr/>
                    <a:lstStyle/>
                    <a:p>
                      <a:pPr algn="ctr">
                        <a:defRPr sz="1000">
                          <a:latin typeface="Montserrat"/>
                        </a:defRPr>
                      </a:pPr>
                      <a:r>
                        <a:t>4,131</a:t>
                      </a:r>
                    </a:p>
                  </a:txBody>
                  <a:tcPr marL="0" marR="0" marT="0" marB="0">
                    <a:solidFill>
                      <a:srgbClr val="ECD3D9"/>
                    </a:solidFill>
                  </a:tcPr>
                </a:tc>
                <a:tc>
                  <a:txBody>
                    <a:bodyPr/>
                    <a:lstStyle/>
                    <a:p>
                      <a:pPr algn="ctr">
                        <a:defRPr sz="1000">
                          <a:latin typeface="Montserrat"/>
                        </a:defRPr>
                      </a:pPr>
                      <a:r>
                        <a:t>10,000</a:t>
                      </a:r>
                    </a:p>
                  </a:txBody>
                  <a:tcPr marL="0" marR="0" marT="0" marB="0">
                    <a:solidFill>
                      <a:srgbClr val="ECD3D9"/>
                    </a:solidFill>
                  </a:tcPr>
                </a:tc>
                <a:tc>
                  <a:txBody>
                    <a:bodyPr/>
                    <a:lstStyle/>
                    <a:p>
                      <a:pPr algn="ctr">
                        <a:defRPr sz="1000">
                          <a:latin typeface="Montserrat"/>
                        </a:defRPr>
                      </a:pPr>
                      <a:r>
                        <a:t>41.3%</a:t>
                      </a:r>
                    </a:p>
                  </a:txBody>
                  <a:tcPr marL="0" marR="0" marT="0" marB="0">
                    <a:solidFill>
                      <a:srgbClr val="ECD3D9"/>
                    </a:solidFill>
                  </a:tcPr>
                </a:tc>
              </a:tr>
              <a:tr h="151200">
                <a:tc>
                  <a:txBody>
                    <a:bodyPr/>
                    <a:lstStyle/>
                    <a:p>
                      <a:pPr algn="l">
                        <a:defRPr sz="1000">
                          <a:latin typeface="Montserrat"/>
                        </a:defRPr>
                      </a:pPr>
                      <a:r>
                        <a:t>UMF 20 Ciudad Camargo</a:t>
                      </a:r>
                    </a:p>
                  </a:txBody>
                  <a:tcPr marL="0" marR="0" marT="0" marB="0">
                    <a:solidFill>
                      <a:srgbClr val="EFEFEF"/>
                    </a:solidFill>
                  </a:tcPr>
                </a:tc>
                <a:tc>
                  <a:txBody>
                    <a:bodyPr/>
                    <a:lstStyle/>
                    <a:p>
                      <a:pPr algn="ctr">
                        <a:defRPr sz="1000">
                          <a:latin typeface="Montserrat"/>
                        </a:defRPr>
                      </a:pPr>
                      <a:r>
                        <a:t>9,194</a:t>
                      </a:r>
                    </a:p>
                  </a:txBody>
                  <a:tcPr marL="0" marR="0" marT="0" marB="0">
                    <a:solidFill>
                      <a:srgbClr val="EFEFEF"/>
                    </a:solidFill>
                  </a:tcPr>
                </a:tc>
                <a:tc>
                  <a:txBody>
                    <a:bodyPr/>
                    <a:lstStyle/>
                    <a:p>
                      <a:pPr algn="ctr">
                        <a:defRPr sz="1000">
                          <a:latin typeface="Montserrat"/>
                        </a:defRPr>
                      </a:pPr>
                      <a:r>
                        <a:t>2,223</a:t>
                      </a:r>
                    </a:p>
                  </a:txBody>
                  <a:tcPr marL="0" marR="0" marT="0" marB="0">
                    <a:solidFill>
                      <a:srgbClr val="EFEFEF"/>
                    </a:solidFill>
                  </a:tcPr>
                </a:tc>
                <a:tc>
                  <a:txBody>
                    <a:bodyPr/>
                    <a:lstStyle/>
                    <a:p>
                      <a:pPr algn="ctr">
                        <a:defRPr sz="1000">
                          <a:latin typeface="Montserrat"/>
                        </a:defRPr>
                      </a:pPr>
                      <a:r>
                        <a:t>4,438</a:t>
                      </a:r>
                    </a:p>
                  </a:txBody>
                  <a:tcPr marL="0" marR="0" marT="0" marB="0">
                    <a:solidFill>
                      <a:srgbClr val="ECD3D9"/>
                    </a:solidFill>
                  </a:tcPr>
                </a:tc>
                <a:tc>
                  <a:txBody>
                    <a:bodyPr/>
                    <a:lstStyle/>
                    <a:p>
                      <a:pPr algn="ctr">
                        <a:defRPr sz="1000">
                          <a:latin typeface="Montserrat"/>
                        </a:defRPr>
                      </a:pPr>
                      <a:r>
                        <a:t>10,000</a:t>
                      </a:r>
                    </a:p>
                  </a:txBody>
                  <a:tcPr marL="0" marR="0" marT="0" marB="0">
                    <a:solidFill>
                      <a:srgbClr val="ECD3D9"/>
                    </a:solidFill>
                  </a:tcPr>
                </a:tc>
                <a:tc>
                  <a:txBody>
                    <a:bodyPr/>
                    <a:lstStyle/>
                    <a:p>
                      <a:pPr algn="ctr">
                        <a:defRPr sz="1000">
                          <a:latin typeface="Montserrat"/>
                        </a:defRPr>
                      </a:pPr>
                      <a:r>
                        <a:t>44.4%</a:t>
                      </a:r>
                    </a:p>
                  </a:txBody>
                  <a:tcPr marL="0" marR="0" marT="0" marB="0">
                    <a:solidFill>
                      <a:srgbClr val="ECD3D9"/>
                    </a:solidFill>
                  </a:tcPr>
                </a:tc>
              </a:tr>
              <a:tr h="151200">
                <a:tc>
                  <a:txBody>
                    <a:bodyPr/>
                    <a:lstStyle/>
                    <a:p>
                      <a:pPr algn="l">
                        <a:defRPr sz="1000">
                          <a:latin typeface="Montserrat"/>
                        </a:defRPr>
                      </a:pPr>
                      <a:r>
                        <a:t>UMF 19 C. Miguel Aleman</a:t>
                      </a:r>
                    </a:p>
                  </a:txBody>
                  <a:tcPr marL="0" marR="0" marT="0" marB="0">
                    <a:solidFill>
                      <a:srgbClr val="FFFFFF"/>
                    </a:solidFill>
                  </a:tcPr>
                </a:tc>
                <a:tc>
                  <a:txBody>
                    <a:bodyPr/>
                    <a:lstStyle/>
                    <a:p>
                      <a:pPr algn="ctr">
                        <a:defRPr sz="1000">
                          <a:latin typeface="Montserrat"/>
                        </a:defRPr>
                      </a:pPr>
                      <a:r>
                        <a:t>12,684</a:t>
                      </a:r>
                    </a:p>
                  </a:txBody>
                  <a:tcPr marL="0" marR="0" marT="0" marB="0">
                    <a:solidFill>
                      <a:srgbClr val="FFFFFF"/>
                    </a:solidFill>
                  </a:tcPr>
                </a:tc>
                <a:tc>
                  <a:txBody>
                    <a:bodyPr/>
                    <a:lstStyle/>
                    <a:p>
                      <a:pPr algn="ctr">
                        <a:defRPr sz="1000">
                          <a:latin typeface="Montserrat"/>
                        </a:defRPr>
                      </a:pPr>
                      <a:r>
                        <a:t>1,680</a:t>
                      </a:r>
                    </a:p>
                  </a:txBody>
                  <a:tcPr marL="0" marR="0" marT="0" marB="0">
                    <a:solidFill>
                      <a:srgbClr val="FFFFFF"/>
                    </a:solidFill>
                  </a:tcPr>
                </a:tc>
                <a:tc>
                  <a:txBody>
                    <a:bodyPr/>
                    <a:lstStyle/>
                    <a:p>
                      <a:pPr algn="ctr">
                        <a:defRPr sz="1000">
                          <a:latin typeface="Montserrat"/>
                        </a:defRPr>
                      </a:pPr>
                      <a:r>
                        <a:t>5,364</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38.3%</a:t>
                      </a:r>
                    </a:p>
                  </a:txBody>
                  <a:tcPr marL="0" marR="0" marT="0" marB="0">
                    <a:solidFill>
                      <a:srgbClr val="ECD3D9"/>
                    </a:solidFill>
                  </a:tcPr>
                </a:tc>
              </a:tr>
              <a:tr h="151200">
                <a:tc>
                  <a:txBody>
                    <a:bodyPr/>
                    <a:lstStyle/>
                    <a:p>
                      <a:pPr algn="l">
                        <a:defRPr sz="1000">
                          <a:latin typeface="Montserrat"/>
                        </a:defRPr>
                      </a:pPr>
                      <a:r>
                        <a:t>UMF 18 Valle Hermoso</a:t>
                      </a:r>
                    </a:p>
                  </a:txBody>
                  <a:tcPr marL="0" marR="0" marT="0" marB="0">
                    <a:solidFill>
                      <a:srgbClr val="EFEFEF"/>
                    </a:solidFill>
                  </a:tcPr>
                </a:tc>
                <a:tc>
                  <a:txBody>
                    <a:bodyPr/>
                    <a:lstStyle/>
                    <a:p>
                      <a:pPr algn="ctr">
                        <a:defRPr sz="1000">
                          <a:latin typeface="Montserrat"/>
                        </a:defRPr>
                      </a:pPr>
                      <a:r>
                        <a:t>42,914</a:t>
                      </a:r>
                    </a:p>
                  </a:txBody>
                  <a:tcPr marL="0" marR="0" marT="0" marB="0">
                    <a:solidFill>
                      <a:srgbClr val="EFEFEF"/>
                    </a:solidFill>
                  </a:tcPr>
                </a:tc>
                <a:tc>
                  <a:txBody>
                    <a:bodyPr/>
                    <a:lstStyle/>
                    <a:p>
                      <a:pPr algn="ctr">
                        <a:defRPr sz="1000">
                          <a:latin typeface="Montserrat"/>
                        </a:defRPr>
                      </a:pPr>
                      <a:r>
                        <a:t>5,588</a:t>
                      </a:r>
                    </a:p>
                  </a:txBody>
                  <a:tcPr marL="0" marR="0" marT="0" marB="0">
                    <a:solidFill>
                      <a:srgbClr val="EFEFEF"/>
                    </a:solidFill>
                  </a:tcPr>
                </a:tc>
                <a:tc>
                  <a:txBody>
                    <a:bodyPr/>
                    <a:lstStyle/>
                    <a:p>
                      <a:pPr algn="ctr">
                        <a:defRPr sz="1000">
                          <a:latin typeface="Montserrat"/>
                        </a:defRPr>
                      </a:pPr>
                      <a:r>
                        <a:t>24,541</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39.2%</a:t>
                      </a:r>
                    </a:p>
                  </a:txBody>
                  <a:tcPr marL="0" marR="0" marT="0" marB="0">
                    <a:solidFill>
                      <a:srgbClr val="ECD3D9"/>
                    </a:solidFill>
                  </a:tcPr>
                </a:tc>
              </a:tr>
              <a:tr h="151200">
                <a:tc>
                  <a:txBody>
                    <a:bodyPr/>
                    <a:lstStyle/>
                    <a:p>
                      <a:pPr algn="l">
                        <a:defRPr sz="1000">
                          <a:latin typeface="Montserrat"/>
                        </a:defRPr>
                      </a:pPr>
                      <a:r>
                        <a:t>UMF 29 E. Manuel</a:t>
                      </a:r>
                    </a:p>
                  </a:txBody>
                  <a:tcPr marL="0" marR="0" marT="0" marB="0">
                    <a:solidFill>
                      <a:srgbClr val="FFFFFF"/>
                    </a:solidFill>
                  </a:tcPr>
                </a:tc>
                <a:tc>
                  <a:txBody>
                    <a:bodyPr/>
                    <a:lstStyle/>
                    <a:p>
                      <a:pPr algn="ctr">
                        <a:defRPr sz="1000">
                          <a:latin typeface="Montserrat"/>
                        </a:defRPr>
                      </a:pPr>
                      <a:r>
                        <a:t>7,564</a:t>
                      </a:r>
                    </a:p>
                  </a:txBody>
                  <a:tcPr marL="0" marR="0" marT="0" marB="0">
                    <a:solidFill>
                      <a:srgbClr val="FFFFFF"/>
                    </a:solidFill>
                  </a:tcPr>
                </a:tc>
                <a:tc>
                  <a:txBody>
                    <a:bodyPr/>
                    <a:lstStyle/>
                    <a:p>
                      <a:pPr algn="ctr">
                        <a:defRPr sz="1000">
                          <a:latin typeface="Montserrat"/>
                        </a:defRPr>
                      </a:pPr>
                      <a:r>
                        <a:t>1,360</a:t>
                      </a:r>
                    </a:p>
                  </a:txBody>
                  <a:tcPr marL="0" marR="0" marT="0" marB="0">
                    <a:solidFill>
                      <a:srgbClr val="FFFFFF"/>
                    </a:solidFill>
                  </a:tcPr>
                </a:tc>
                <a:tc>
                  <a:txBody>
                    <a:bodyPr/>
                    <a:lstStyle/>
                    <a:p>
                      <a:pPr algn="ctr">
                        <a:defRPr sz="1000">
                          <a:latin typeface="Montserrat"/>
                        </a:defRPr>
                      </a:pPr>
                      <a:r>
                        <a:t>4,080</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45.3%</a:t>
                      </a:r>
                    </a:p>
                  </a:txBody>
                  <a:tcPr marL="0" marR="0" marT="0" marB="0">
                    <a:solidFill>
                      <a:srgbClr val="ECD3D9"/>
                    </a:solidFill>
                  </a:tcPr>
                </a:tc>
              </a:tr>
              <a:tr h="151200">
                <a:tc>
                  <a:txBody>
                    <a:bodyPr/>
                    <a:lstStyle/>
                    <a:p>
                      <a:pPr algn="l">
                        <a:defRPr sz="1000">
                          <a:latin typeface="Montserrat"/>
                        </a:defRPr>
                      </a:pPr>
                      <a:r>
                        <a:t>UMF 27 Ocampo</a:t>
                      </a:r>
                    </a:p>
                  </a:txBody>
                  <a:tcPr marL="0" marR="0" marT="0" marB="0">
                    <a:solidFill>
                      <a:srgbClr val="EFEFEF"/>
                    </a:solidFill>
                  </a:tcPr>
                </a:tc>
                <a:tc>
                  <a:txBody>
                    <a:bodyPr/>
                    <a:lstStyle/>
                    <a:p>
                      <a:pPr algn="ctr">
                        <a:defRPr sz="1000">
                          <a:latin typeface="Montserrat"/>
                        </a:defRPr>
                      </a:pPr>
                      <a:r>
                        <a:t>7,323</a:t>
                      </a:r>
                    </a:p>
                  </a:txBody>
                  <a:tcPr marL="0" marR="0" marT="0" marB="0">
                    <a:solidFill>
                      <a:srgbClr val="EFEFEF"/>
                    </a:solidFill>
                  </a:tcPr>
                </a:tc>
                <a:tc>
                  <a:txBody>
                    <a:bodyPr/>
                    <a:lstStyle/>
                    <a:p>
                      <a:pPr algn="ctr">
                        <a:defRPr sz="1000">
                          <a:latin typeface="Montserrat"/>
                        </a:defRPr>
                      </a:pPr>
                      <a:r>
                        <a:t>44</a:t>
                      </a:r>
                    </a:p>
                  </a:txBody>
                  <a:tcPr marL="0" marR="0" marT="0" marB="0">
                    <a:solidFill>
                      <a:srgbClr val="EFEFEF"/>
                    </a:solidFill>
                  </a:tcPr>
                </a:tc>
                <a:tc>
                  <a:txBody>
                    <a:bodyPr/>
                    <a:lstStyle/>
                    <a:p>
                      <a:pPr algn="ctr">
                        <a:defRPr sz="1000">
                          <a:latin typeface="Montserrat"/>
                        </a:defRPr>
                      </a:pPr>
                      <a:r>
                        <a:t>3,362</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42.0%</a:t>
                      </a:r>
                    </a:p>
                  </a:txBody>
                  <a:tcPr marL="0" marR="0" marT="0" marB="0">
                    <a:solidFill>
                      <a:srgbClr val="ECD3D9"/>
                    </a:solidFill>
                  </a:tcPr>
                </a:tc>
              </a:tr>
              <a:tr h="151200">
                <a:tc>
                  <a:txBody>
                    <a:bodyPr/>
                    <a:lstStyle/>
                    <a:p>
                      <a:pPr algn="l">
                        <a:defRPr sz="1000">
                          <a:latin typeface="Montserrat"/>
                        </a:defRPr>
                      </a:pPr>
                      <a:r>
                        <a:t>UMF 2 Ciudad Limón</a:t>
                      </a:r>
                    </a:p>
                  </a:txBody>
                  <a:tcPr marL="0" marR="0" marT="0" marB="0">
                    <a:solidFill>
                      <a:srgbClr val="FFFFFF"/>
                    </a:solidFill>
                  </a:tcPr>
                </a:tc>
                <a:tc>
                  <a:txBody>
                    <a:bodyPr/>
                    <a:lstStyle/>
                    <a:p>
                      <a:pPr algn="ctr">
                        <a:defRPr sz="1000">
                          <a:latin typeface="Montserrat"/>
                        </a:defRPr>
                      </a:pPr>
                      <a:r>
                        <a:t>7,301</a:t>
                      </a:r>
                    </a:p>
                  </a:txBody>
                  <a:tcPr marL="0" marR="0" marT="0" marB="0">
                    <a:solidFill>
                      <a:srgbClr val="FFFFFF"/>
                    </a:solidFill>
                  </a:tcPr>
                </a:tc>
                <a:tc>
                  <a:txBody>
                    <a:bodyPr/>
                    <a:lstStyle/>
                    <a:p>
                      <a:pPr algn="ctr">
                        <a:defRPr sz="1000">
                          <a:latin typeface="Montserrat"/>
                        </a:defRPr>
                      </a:pPr>
                      <a:r>
                        <a:t>1,142</a:t>
                      </a:r>
                    </a:p>
                  </a:txBody>
                  <a:tcPr marL="0" marR="0" marT="0" marB="0">
                    <a:solidFill>
                      <a:srgbClr val="FFFFFF"/>
                    </a:solidFill>
                  </a:tcPr>
                </a:tc>
                <a:tc>
                  <a:txBody>
                    <a:bodyPr/>
                    <a:lstStyle/>
                    <a:p>
                      <a:pPr algn="ctr">
                        <a:defRPr sz="1000">
                          <a:latin typeface="Montserrat"/>
                        </a:defRPr>
                      </a:pPr>
                      <a:r>
                        <a:t>3,397</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37.7%</a:t>
                      </a:r>
                    </a:p>
                  </a:txBody>
                  <a:tcPr marL="0" marR="0" marT="0" marB="0">
                    <a:solidFill>
                      <a:srgbClr val="ECD3D9"/>
                    </a:solidFill>
                  </a:tcPr>
                </a:tc>
              </a:tr>
              <a:tr h="151200">
                <a:tc>
                  <a:txBody>
                    <a:bodyPr/>
                    <a:lstStyle/>
                    <a:p>
                      <a:pPr algn="l">
                        <a:defRPr sz="1000">
                          <a:latin typeface="Montserrat"/>
                        </a:defRPr>
                      </a:pPr>
                      <a:r>
                        <a:t>UMF 4 I. Guayalejo</a:t>
                      </a:r>
                    </a:p>
                  </a:txBody>
                  <a:tcPr marL="0" marR="0" marT="0" marB="0">
                    <a:solidFill>
                      <a:srgbClr val="EFEFEF"/>
                    </a:solidFill>
                  </a:tcPr>
                </a:tc>
                <a:tc>
                  <a:txBody>
                    <a:bodyPr/>
                    <a:lstStyle/>
                    <a:p>
                      <a:pPr algn="ctr">
                        <a:defRPr sz="1000">
                          <a:latin typeface="Montserrat"/>
                        </a:defRPr>
                      </a:pPr>
                      <a:r>
                        <a:t>8,031</a:t>
                      </a:r>
                    </a:p>
                  </a:txBody>
                  <a:tcPr marL="0" marR="0" marT="0" marB="0">
                    <a:solidFill>
                      <a:srgbClr val="EFEFEF"/>
                    </a:solidFill>
                  </a:tcPr>
                </a:tc>
                <a:tc>
                  <a:txBody>
                    <a:bodyPr/>
                    <a:lstStyle/>
                    <a:p>
                      <a:pPr algn="ctr">
                        <a:defRPr sz="1000">
                          <a:latin typeface="Montserrat"/>
                        </a:defRPr>
                      </a:pPr>
                      <a:r>
                        <a:t>2,405</a:t>
                      </a:r>
                    </a:p>
                  </a:txBody>
                  <a:tcPr marL="0" marR="0" marT="0" marB="0">
                    <a:solidFill>
                      <a:srgbClr val="EFEFEF"/>
                    </a:solidFill>
                  </a:tcPr>
                </a:tc>
                <a:tc>
                  <a:txBody>
                    <a:bodyPr/>
                    <a:lstStyle/>
                    <a:p>
                      <a:pPr algn="ctr">
                        <a:defRPr sz="1000">
                          <a:latin typeface="Montserrat"/>
                        </a:defRPr>
                      </a:pPr>
                      <a:r>
                        <a:t>4,191</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46.6%</a:t>
                      </a:r>
                    </a:p>
                  </a:txBody>
                  <a:tcPr marL="0" marR="0" marT="0" marB="0">
                    <a:solidFill>
                      <a:srgbClr val="ECD3D9"/>
                    </a:solidFill>
                  </a:tcPr>
                </a:tc>
              </a:tr>
              <a:tr h="151200">
                <a:tc>
                  <a:txBody>
                    <a:bodyPr/>
                    <a:lstStyle/>
                    <a:p>
                      <a:pPr algn="l">
                        <a:defRPr sz="1000">
                          <a:latin typeface="Montserrat"/>
                        </a:defRPr>
                      </a:pPr>
                      <a:r>
                        <a:t>UMF 31 Guemez</a:t>
                      </a:r>
                    </a:p>
                  </a:txBody>
                  <a:tcPr marL="0" marR="0" marT="0" marB="0">
                    <a:solidFill>
                      <a:srgbClr val="FFFFFF"/>
                    </a:solidFill>
                  </a:tcPr>
                </a:tc>
                <a:tc>
                  <a:txBody>
                    <a:bodyPr/>
                    <a:lstStyle/>
                    <a:p>
                      <a:pPr algn="ctr">
                        <a:defRPr sz="1000">
                          <a:latin typeface="Montserrat"/>
                        </a:defRPr>
                      </a:pPr>
                      <a:r>
                        <a:t>7,382</a:t>
                      </a:r>
                    </a:p>
                  </a:txBody>
                  <a:tcPr marL="0" marR="0" marT="0" marB="0">
                    <a:solidFill>
                      <a:srgbClr val="FFFFFF"/>
                    </a:solidFill>
                  </a:tcPr>
                </a:tc>
                <a:tc>
                  <a:txBody>
                    <a:bodyPr/>
                    <a:lstStyle/>
                    <a:p>
                      <a:pPr algn="ctr">
                        <a:defRPr sz="1000">
                          <a:latin typeface="Montserrat"/>
                        </a:defRPr>
                      </a:pPr>
                      <a:r>
                        <a:t>2,898</a:t>
                      </a:r>
                    </a:p>
                  </a:txBody>
                  <a:tcPr marL="0" marR="0" marT="0" marB="0">
                    <a:solidFill>
                      <a:srgbClr val="FFFFFF"/>
                    </a:solidFill>
                  </a:tcPr>
                </a:tc>
                <a:tc>
                  <a:txBody>
                    <a:bodyPr/>
                    <a:lstStyle/>
                    <a:p>
                      <a:pPr algn="ctr">
                        <a:defRPr sz="1000">
                          <a:latin typeface="Montserrat"/>
                        </a:defRPr>
                      </a:pPr>
                      <a:r>
                        <a:t>4,079</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45.3%</a:t>
                      </a:r>
                    </a:p>
                  </a:txBody>
                  <a:tcPr marL="0" marR="0" marT="0" marB="0">
                    <a:solidFill>
                      <a:srgbClr val="ECD3D9"/>
                    </a:solidFill>
                  </a:tcPr>
                </a:tc>
              </a:tr>
              <a:tr h="151200">
                <a:tc>
                  <a:txBody>
                    <a:bodyPr/>
                    <a:lstStyle/>
                    <a:p>
                      <a:pPr algn="l">
                        <a:defRPr sz="1000">
                          <a:latin typeface="Montserrat"/>
                        </a:defRPr>
                      </a:pPr>
                      <a:r>
                        <a:t>UMF 21 Nueva Cd. Guerrero</a:t>
                      </a:r>
                    </a:p>
                  </a:txBody>
                  <a:tcPr marL="0" marR="0" marT="0" marB="0">
                    <a:solidFill>
                      <a:srgbClr val="EFEFEF"/>
                    </a:solidFill>
                  </a:tcPr>
                </a:tc>
                <a:tc>
                  <a:txBody>
                    <a:bodyPr/>
                    <a:lstStyle/>
                    <a:p>
                      <a:pPr algn="ctr">
                        <a:defRPr sz="1000">
                          <a:latin typeface="Montserrat"/>
                        </a:defRPr>
                      </a:pPr>
                      <a:r>
                        <a:t>3,308</a:t>
                      </a:r>
                    </a:p>
                  </a:txBody>
                  <a:tcPr marL="0" marR="0" marT="0" marB="0">
                    <a:solidFill>
                      <a:srgbClr val="EFEFEF"/>
                    </a:solidFill>
                  </a:tcPr>
                </a:tc>
                <a:tc>
                  <a:txBody>
                    <a:bodyPr/>
                    <a:lstStyle/>
                    <a:p>
                      <a:pPr algn="ctr">
                        <a:defRPr sz="1000">
                          <a:latin typeface="Montserrat"/>
                        </a:defRPr>
                      </a:pPr>
                      <a:r>
                        <a:t>2,992</a:t>
                      </a:r>
                    </a:p>
                  </a:txBody>
                  <a:tcPr marL="0" marR="0" marT="0" marB="0">
                    <a:solidFill>
                      <a:srgbClr val="EFEFEF"/>
                    </a:solidFill>
                  </a:tcPr>
                </a:tc>
                <a:tc>
                  <a:txBody>
                    <a:bodyPr/>
                    <a:lstStyle/>
                    <a:p>
                      <a:pPr algn="ctr">
                        <a:defRPr sz="1000">
                          <a:latin typeface="Montserrat"/>
                        </a:defRPr>
                      </a:pPr>
                      <a:r>
                        <a:t>1,890</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37.8%</a:t>
                      </a:r>
                    </a:p>
                  </a:txBody>
                  <a:tcPr marL="0" marR="0" marT="0" marB="0">
                    <a:solidFill>
                      <a:srgbClr val="ECD3D9"/>
                    </a:solidFill>
                  </a:tcPr>
                </a:tc>
              </a:tr>
              <a:tr h="151200">
                <a:tc>
                  <a:txBody>
                    <a:bodyPr/>
                    <a:lstStyle/>
                    <a:p>
                      <a:pPr algn="l">
                        <a:defRPr sz="1000">
                          <a:latin typeface="Montserrat"/>
                        </a:defRPr>
                      </a:pPr>
                      <a:r>
                        <a:t>UMF 28 Villa Llera</a:t>
                      </a:r>
                    </a:p>
                  </a:txBody>
                  <a:tcPr marL="0" marR="0" marT="0" marB="0">
                    <a:solidFill>
                      <a:srgbClr val="FFFFFF"/>
                    </a:solidFill>
                  </a:tcPr>
                </a:tc>
                <a:tc>
                  <a:txBody>
                    <a:bodyPr/>
                    <a:lstStyle/>
                    <a:p>
                      <a:pPr algn="ctr">
                        <a:defRPr sz="1000">
                          <a:latin typeface="Montserrat"/>
                        </a:defRPr>
                      </a:pPr>
                      <a:r>
                        <a:t>13,627</a:t>
                      </a:r>
                    </a:p>
                  </a:txBody>
                  <a:tcPr marL="0" marR="0" marT="0" marB="0">
                    <a:solidFill>
                      <a:srgbClr val="FFFFFF"/>
                    </a:solidFill>
                  </a:tcPr>
                </a:tc>
                <a:tc>
                  <a:txBody>
                    <a:bodyPr/>
                    <a:lstStyle/>
                    <a:p>
                      <a:pPr algn="ctr">
                        <a:defRPr sz="1000">
                          <a:latin typeface="Montserrat"/>
                        </a:defRPr>
                      </a:pPr>
                      <a:r>
                        <a:t>3,500</a:t>
                      </a:r>
                    </a:p>
                  </a:txBody>
                  <a:tcPr marL="0" marR="0" marT="0" marB="0">
                    <a:solidFill>
                      <a:srgbClr val="FFFFFF"/>
                    </a:solidFill>
                  </a:tcPr>
                </a:tc>
                <a:tc>
                  <a:txBody>
                    <a:bodyPr/>
                    <a:lstStyle/>
                    <a:p>
                      <a:pPr algn="ctr">
                        <a:defRPr sz="1000">
                          <a:latin typeface="Montserrat"/>
                        </a:defRPr>
                      </a:pPr>
                      <a:r>
                        <a:t>6,423</a:t>
                      </a:r>
                    </a:p>
                  </a:txBody>
                  <a:tcPr marL="0" marR="0" marT="0" marB="0">
                    <a:solidFill>
                      <a:srgbClr val="ECD3D9"/>
                    </a:solidFill>
                  </a:tcPr>
                </a:tc>
                <a:tc>
                  <a:txBody>
                    <a:bodyPr/>
                    <a:lstStyle/>
                    <a:p>
                      <a:pPr algn="ctr">
                        <a:defRPr sz="1000">
                          <a:latin typeface="Montserrat"/>
                        </a:defRPr>
                      </a:pPr>
                      <a:r>
                        <a:t>15,000</a:t>
                      </a:r>
                    </a:p>
                  </a:txBody>
                  <a:tcPr marL="0" marR="0" marT="0" marB="0">
                    <a:solidFill>
                      <a:srgbClr val="ECD3D9"/>
                    </a:solidFill>
                  </a:tcPr>
                </a:tc>
                <a:tc>
                  <a:txBody>
                    <a:bodyPr/>
                    <a:lstStyle/>
                    <a:p>
                      <a:pPr algn="ctr">
                        <a:defRPr sz="1000">
                          <a:latin typeface="Montserrat"/>
                        </a:defRPr>
                      </a:pPr>
                      <a:r>
                        <a:t>42.8%</a:t>
                      </a:r>
                    </a:p>
                  </a:txBody>
                  <a:tcPr marL="0" marR="0" marT="0" marB="0">
                    <a:solidFill>
                      <a:srgbClr val="ECD3D9"/>
                    </a:solidFill>
                  </a:tcPr>
                </a:tc>
              </a:tr>
              <a:tr h="151200">
                <a:tc>
                  <a:txBody>
                    <a:bodyPr/>
                    <a:lstStyle/>
                    <a:p>
                      <a:pPr algn="l">
                        <a:defRPr sz="1000">
                          <a:latin typeface="Montserrat"/>
                        </a:defRPr>
                      </a:pPr>
                      <a:r>
                        <a:t>UMF 66 San Fernando</a:t>
                      </a:r>
                    </a:p>
                  </a:txBody>
                  <a:tcPr marL="0" marR="0" marT="0" marB="0">
                    <a:solidFill>
                      <a:srgbClr val="EFEFEF"/>
                    </a:solidFill>
                  </a:tcPr>
                </a:tc>
                <a:tc>
                  <a:txBody>
                    <a:bodyPr/>
                    <a:lstStyle/>
                    <a:p>
                      <a:pPr algn="ctr">
                        <a:defRPr sz="1000">
                          <a:latin typeface="Montserrat"/>
                        </a:defRPr>
                      </a:pPr>
                      <a:r>
                        <a:t>12,201</a:t>
                      </a:r>
                    </a:p>
                  </a:txBody>
                  <a:tcPr marL="0" marR="0" marT="0" marB="0">
                    <a:solidFill>
                      <a:srgbClr val="EFEFEF"/>
                    </a:solidFill>
                  </a:tcPr>
                </a:tc>
                <a:tc>
                  <a:txBody>
                    <a:bodyPr/>
                    <a:lstStyle/>
                    <a:p>
                      <a:pPr algn="ctr">
                        <a:defRPr sz="1000">
                          <a:latin typeface="Montserrat"/>
                        </a:defRPr>
                      </a:pPr>
                      <a:r>
                        <a:t>-182</a:t>
                      </a:r>
                    </a:p>
                  </a:txBody>
                  <a:tcPr marL="0" marR="0" marT="0" marB="0">
                    <a:solidFill>
                      <a:srgbClr val="EFEFEF"/>
                    </a:solidFill>
                  </a:tcPr>
                </a:tc>
                <a:tc>
                  <a:txBody>
                    <a:bodyPr/>
                    <a:lstStyle/>
                    <a:p>
                      <a:pPr algn="ctr">
                        <a:defRPr sz="1000">
                          <a:latin typeface="Montserrat"/>
                        </a:defRPr>
                      </a:pPr>
                      <a:r>
                        <a:t>5,045</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38.8%</a:t>
                      </a:r>
                    </a:p>
                  </a:txBody>
                  <a:tcPr marL="0" marR="0" marT="0" marB="0">
                    <a:solidFill>
                      <a:srgbClr val="ECD3D9"/>
                    </a:solidFill>
                  </a:tcPr>
                </a:tc>
              </a:tr>
              <a:tr h="151200">
                <a:tc>
                  <a:txBody>
                    <a:bodyPr/>
                    <a:lstStyle/>
                    <a:p>
                      <a:pPr algn="l">
                        <a:defRPr sz="1000">
                          <a:latin typeface="Montserrat"/>
                        </a:defRPr>
                      </a:pPr>
                      <a:r>
                        <a:t>UMF 68 Jiménez</a:t>
                      </a:r>
                    </a:p>
                  </a:txBody>
                  <a:tcPr marL="0" marR="0" marT="0" marB="0">
                    <a:solidFill>
                      <a:srgbClr val="FFFFFF"/>
                    </a:solidFill>
                  </a:tcPr>
                </a:tc>
                <a:tc>
                  <a:txBody>
                    <a:bodyPr/>
                    <a:lstStyle/>
                    <a:p>
                      <a:pPr algn="ctr">
                        <a:defRPr sz="1000">
                          <a:latin typeface="Montserrat"/>
                        </a:defRPr>
                      </a:pPr>
                      <a:r>
                        <a:t>7,088</a:t>
                      </a:r>
                    </a:p>
                  </a:txBody>
                  <a:tcPr marL="0" marR="0" marT="0" marB="0">
                    <a:solidFill>
                      <a:srgbClr val="FFFFFF"/>
                    </a:solidFill>
                  </a:tcPr>
                </a:tc>
                <a:tc>
                  <a:txBody>
                    <a:bodyPr/>
                    <a:lstStyle/>
                    <a:p>
                      <a:pPr algn="ctr">
                        <a:defRPr sz="1000">
                          <a:latin typeface="Montserrat"/>
                        </a:defRPr>
                      </a:pPr>
                      <a:r>
                        <a:t>2,570</a:t>
                      </a:r>
                    </a:p>
                  </a:txBody>
                  <a:tcPr marL="0" marR="0" marT="0" marB="0">
                    <a:solidFill>
                      <a:srgbClr val="FFFFFF"/>
                    </a:solidFill>
                  </a:tcPr>
                </a:tc>
                <a:tc>
                  <a:txBody>
                    <a:bodyPr/>
                    <a:lstStyle/>
                    <a:p>
                      <a:pPr algn="ctr">
                        <a:defRPr sz="1000">
                          <a:latin typeface="Montserrat"/>
                        </a:defRPr>
                      </a:pPr>
                      <a:r>
                        <a:t>3,453</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43.2%</a:t>
                      </a:r>
                    </a:p>
                  </a:txBody>
                  <a:tcPr marL="0" marR="0" marT="0" marB="0">
                    <a:solidFill>
                      <a:srgbClr val="ECD3D9"/>
                    </a:solidFill>
                  </a:tcPr>
                </a:tc>
              </a:tr>
              <a:tr h="151200">
                <a:tc>
                  <a:txBody>
                    <a:bodyPr/>
                    <a:lstStyle/>
                    <a:p>
                      <a:pPr algn="l">
                        <a:defRPr sz="1000">
                          <a:latin typeface="Montserrat"/>
                        </a:defRPr>
                      </a:pPr>
                      <a:r>
                        <a:t>UMF 69 Abasolo</a:t>
                      </a:r>
                    </a:p>
                  </a:txBody>
                  <a:tcPr marL="0" marR="0" marT="0" marB="0">
                    <a:solidFill>
                      <a:srgbClr val="EFEFEF"/>
                    </a:solidFill>
                  </a:tcPr>
                </a:tc>
                <a:tc>
                  <a:txBody>
                    <a:bodyPr/>
                    <a:lstStyle/>
                    <a:p>
                      <a:pPr algn="ctr">
                        <a:defRPr sz="1000">
                          <a:latin typeface="Montserrat"/>
                        </a:defRPr>
                      </a:pPr>
                      <a:r>
                        <a:t>4,946</a:t>
                      </a:r>
                    </a:p>
                  </a:txBody>
                  <a:tcPr marL="0" marR="0" marT="0" marB="0">
                    <a:solidFill>
                      <a:srgbClr val="EFEFEF"/>
                    </a:solidFill>
                  </a:tcPr>
                </a:tc>
                <a:tc>
                  <a:txBody>
                    <a:bodyPr/>
                    <a:lstStyle/>
                    <a:p>
                      <a:pPr algn="ctr">
                        <a:defRPr sz="1000">
                          <a:latin typeface="Montserrat"/>
                        </a:defRPr>
                      </a:pPr>
                      <a:r>
                        <a:t>2,173</a:t>
                      </a:r>
                    </a:p>
                  </a:txBody>
                  <a:tcPr marL="0" marR="0" marT="0" marB="0">
                    <a:solidFill>
                      <a:srgbClr val="EFEFEF"/>
                    </a:solidFill>
                  </a:tcPr>
                </a:tc>
                <a:tc>
                  <a:txBody>
                    <a:bodyPr/>
                    <a:lstStyle/>
                    <a:p>
                      <a:pPr algn="ctr">
                        <a:defRPr sz="1000">
                          <a:latin typeface="Montserrat"/>
                        </a:defRPr>
                      </a:pPr>
                      <a:r>
                        <a:t>2,762</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46.0%</a:t>
                      </a:r>
                    </a:p>
                  </a:txBody>
                  <a:tcPr marL="0" marR="0" marT="0" marB="0">
                    <a:solidFill>
                      <a:srgbClr val="ECD3D9"/>
                    </a:solidFill>
                  </a:tcPr>
                </a:tc>
              </a:tr>
              <a:tr h="151200">
                <a:tc>
                  <a:txBody>
                    <a:bodyPr/>
                    <a:lstStyle/>
                    <a:p>
                      <a:pPr algn="l">
                        <a:defRPr sz="1000">
                          <a:latin typeface="Montserrat"/>
                        </a:defRPr>
                      </a:pPr>
                      <a:r>
                        <a:t>UMF 73 Villagran Hidalgo</a:t>
                      </a:r>
                    </a:p>
                  </a:txBody>
                  <a:tcPr marL="0" marR="0" marT="0" marB="0">
                    <a:solidFill>
                      <a:srgbClr val="FFFFFF"/>
                    </a:solidFill>
                  </a:tcPr>
                </a:tc>
                <a:tc>
                  <a:txBody>
                    <a:bodyPr/>
                    <a:lstStyle/>
                    <a:p>
                      <a:pPr algn="ctr">
                        <a:defRPr sz="1000">
                          <a:latin typeface="Montserrat"/>
                        </a:defRPr>
                      </a:pPr>
                      <a:r>
                        <a:t>3,393</a:t>
                      </a:r>
                    </a:p>
                  </a:txBody>
                  <a:tcPr marL="0" marR="0" marT="0" marB="0">
                    <a:solidFill>
                      <a:srgbClr val="FFFFFF"/>
                    </a:solidFill>
                  </a:tcPr>
                </a:tc>
                <a:tc>
                  <a:txBody>
                    <a:bodyPr/>
                    <a:lstStyle/>
                    <a:p>
                      <a:pPr algn="ctr">
                        <a:defRPr sz="1000">
                          <a:latin typeface="Montserrat"/>
                        </a:defRPr>
                      </a:pPr>
                      <a:r>
                        <a:t>1,760</a:t>
                      </a:r>
                    </a:p>
                  </a:txBody>
                  <a:tcPr marL="0" marR="0" marT="0" marB="0">
                    <a:solidFill>
                      <a:srgbClr val="FFFFFF"/>
                    </a:solidFill>
                  </a:tcPr>
                </a:tc>
                <a:tc>
                  <a:txBody>
                    <a:bodyPr/>
                    <a:lstStyle/>
                    <a:p>
                      <a:pPr algn="ctr">
                        <a:defRPr sz="1000">
                          <a:latin typeface="Montserrat"/>
                        </a:defRPr>
                      </a:pPr>
                      <a:r>
                        <a:t>2,265</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45.3%</a:t>
                      </a:r>
                    </a:p>
                  </a:txBody>
                  <a:tcPr marL="0" marR="0" marT="0" marB="0">
                    <a:solidFill>
                      <a:srgbClr val="ECD3D9"/>
                    </a:solidFill>
                  </a:tcPr>
                </a:tc>
              </a:tr>
              <a:tr h="151200">
                <a:tc>
                  <a:txBody>
                    <a:bodyPr/>
                    <a:lstStyle/>
                    <a:p>
                      <a:pPr algn="l">
                        <a:defRPr sz="1000">
                          <a:latin typeface="Montserrat"/>
                        </a:defRPr>
                      </a:pPr>
                      <a:r>
                        <a:t>UMF 70 Soto la Marina</a:t>
                      </a:r>
                    </a:p>
                  </a:txBody>
                  <a:tcPr marL="0" marR="0" marT="0" marB="0">
                    <a:solidFill>
                      <a:srgbClr val="EFEFEF"/>
                    </a:solidFill>
                  </a:tcPr>
                </a:tc>
                <a:tc>
                  <a:txBody>
                    <a:bodyPr/>
                    <a:lstStyle/>
                    <a:p>
                      <a:pPr algn="ctr">
                        <a:defRPr sz="1000">
                          <a:latin typeface="Montserrat"/>
                        </a:defRPr>
                      </a:pPr>
                      <a:r>
                        <a:t>7,873</a:t>
                      </a:r>
                    </a:p>
                  </a:txBody>
                  <a:tcPr marL="0" marR="0" marT="0" marB="0">
                    <a:solidFill>
                      <a:srgbClr val="EFEFEF"/>
                    </a:solidFill>
                  </a:tcPr>
                </a:tc>
                <a:tc>
                  <a:txBody>
                    <a:bodyPr/>
                    <a:lstStyle/>
                    <a:p>
                      <a:pPr algn="ctr">
                        <a:defRPr sz="1000">
                          <a:latin typeface="Montserrat"/>
                        </a:defRPr>
                      </a:pPr>
                      <a:r>
                        <a:t>2,891</a:t>
                      </a:r>
                    </a:p>
                  </a:txBody>
                  <a:tcPr marL="0" marR="0" marT="0" marB="0">
                    <a:solidFill>
                      <a:srgbClr val="EFEFEF"/>
                    </a:solidFill>
                  </a:tcPr>
                </a:tc>
                <a:tc>
                  <a:txBody>
                    <a:bodyPr/>
                    <a:lstStyle/>
                    <a:p>
                      <a:pPr algn="ctr">
                        <a:defRPr sz="1000">
                          <a:latin typeface="Montserrat"/>
                        </a:defRPr>
                      </a:pPr>
                      <a:r>
                        <a:t>4,101</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45.6%</a:t>
                      </a:r>
                    </a:p>
                  </a:txBody>
                  <a:tcPr marL="0" marR="0" marT="0" marB="0">
                    <a:solidFill>
                      <a:srgbClr val="ECD3D9"/>
                    </a:solidFill>
                  </a:tcPr>
                </a:tc>
              </a:tr>
              <a:tr h="151200">
                <a:tc>
                  <a:txBody>
                    <a:bodyPr/>
                    <a:lstStyle/>
                    <a:p>
                      <a:pPr algn="l">
                        <a:defRPr sz="1000">
                          <a:latin typeface="Montserrat"/>
                        </a:defRPr>
                      </a:pPr>
                      <a:r>
                        <a:t>UMF 72 Hidalgo</a:t>
                      </a:r>
                    </a:p>
                  </a:txBody>
                  <a:tcPr marL="0" marR="0" marT="0" marB="0">
                    <a:solidFill>
                      <a:srgbClr val="FFFFFF"/>
                    </a:solidFill>
                  </a:tcPr>
                </a:tc>
                <a:tc>
                  <a:txBody>
                    <a:bodyPr/>
                    <a:lstStyle/>
                    <a:p>
                      <a:pPr algn="ctr">
                        <a:defRPr sz="1000">
                          <a:latin typeface="Montserrat"/>
                        </a:defRPr>
                      </a:pPr>
                      <a:r>
                        <a:t>3,774</a:t>
                      </a:r>
                    </a:p>
                  </a:txBody>
                  <a:tcPr marL="0" marR="0" marT="0" marB="0">
                    <a:solidFill>
                      <a:srgbClr val="FFFFFF"/>
                    </a:solidFill>
                  </a:tcPr>
                </a:tc>
                <a:tc>
                  <a:txBody>
                    <a:bodyPr/>
                    <a:lstStyle/>
                    <a:p>
                      <a:pPr algn="ctr">
                        <a:defRPr sz="1000">
                          <a:latin typeface="Montserrat"/>
                        </a:defRPr>
                      </a:pPr>
                      <a:r>
                        <a:t>1,707</a:t>
                      </a:r>
                    </a:p>
                  </a:txBody>
                  <a:tcPr marL="0" marR="0" marT="0" marB="0">
                    <a:solidFill>
                      <a:srgbClr val="FFFFFF"/>
                    </a:solidFill>
                  </a:tcPr>
                </a:tc>
                <a:tc>
                  <a:txBody>
                    <a:bodyPr/>
                    <a:lstStyle/>
                    <a:p>
                      <a:pPr algn="ctr">
                        <a:defRPr sz="1000">
                          <a:latin typeface="Montserrat"/>
                        </a:defRPr>
                      </a:pPr>
                      <a:r>
                        <a:t>2,421</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48.4%</a:t>
                      </a:r>
                    </a:p>
                  </a:txBody>
                  <a:tcPr marL="0" marR="0" marT="0" marB="0">
                    <a:solidFill>
                      <a:srgbClr val="ECD3D9"/>
                    </a:solidFill>
                  </a:tcPr>
                </a:tc>
              </a:tr>
              <a:tr h="151200">
                <a:tc>
                  <a:txBody>
                    <a:bodyPr/>
                    <a:lstStyle/>
                    <a:p>
                      <a:pPr algn="l">
                        <a:defRPr sz="1000">
                          <a:latin typeface="Montserrat"/>
                        </a:defRPr>
                      </a:pPr>
                      <a:r>
                        <a:t>UMF 79 Matamoros</a:t>
                      </a:r>
                    </a:p>
                  </a:txBody>
                  <a:tcPr marL="0" marR="0" marT="0" marB="0">
                    <a:solidFill>
                      <a:srgbClr val="EFEFEF"/>
                    </a:solidFill>
                  </a:tcPr>
                </a:tc>
                <a:tc>
                  <a:txBody>
                    <a:bodyPr/>
                    <a:lstStyle/>
                    <a:p>
                      <a:pPr algn="ctr">
                        <a:defRPr sz="1000">
                          <a:latin typeface="Montserrat"/>
                        </a:defRPr>
                      </a:pPr>
                      <a:r>
                        <a:t>328,175</a:t>
                      </a:r>
                    </a:p>
                  </a:txBody>
                  <a:tcPr marL="0" marR="0" marT="0" marB="0">
                    <a:solidFill>
                      <a:srgbClr val="EFEFEF"/>
                    </a:solidFill>
                  </a:tcPr>
                </a:tc>
                <a:tc>
                  <a:txBody>
                    <a:bodyPr/>
                    <a:lstStyle/>
                    <a:p>
                      <a:pPr algn="ctr">
                        <a:defRPr sz="1000">
                          <a:latin typeface="Montserrat"/>
                        </a:defRPr>
                      </a:pPr>
                      <a:r>
                        <a:t>64,830</a:t>
                      </a:r>
                    </a:p>
                  </a:txBody>
                  <a:tcPr marL="0" marR="0" marT="0" marB="0">
                    <a:solidFill>
                      <a:srgbClr val="EFEFEF"/>
                    </a:solidFill>
                  </a:tcPr>
                </a:tc>
                <a:tc>
                  <a:txBody>
                    <a:bodyPr/>
                    <a:lstStyle/>
                    <a:p>
                      <a:pPr algn="ctr">
                        <a:defRPr sz="1000">
                          <a:latin typeface="Montserrat"/>
                        </a:defRPr>
                      </a:pPr>
                      <a:r>
                        <a:t>150,559</a:t>
                      </a:r>
                    </a:p>
                  </a:txBody>
                  <a:tcPr marL="0" marR="0" marT="0" marB="0">
                    <a:solidFill>
                      <a:srgbClr val="ECD3D9"/>
                    </a:solidFill>
                  </a:tcPr>
                </a:tc>
                <a:tc>
                  <a:txBody>
                    <a:bodyPr/>
                    <a:lstStyle/>
                    <a:p>
                      <a:pPr algn="ctr">
                        <a:defRPr sz="1000">
                          <a:latin typeface="Montserrat"/>
                        </a:defRPr>
                      </a:pPr>
                      <a:r>
                        <a:t>316,000</a:t>
                      </a:r>
                    </a:p>
                  </a:txBody>
                  <a:tcPr marL="0" marR="0" marT="0" marB="0">
                    <a:solidFill>
                      <a:srgbClr val="ECD3D9"/>
                    </a:solidFill>
                  </a:tcPr>
                </a:tc>
                <a:tc>
                  <a:txBody>
                    <a:bodyPr/>
                    <a:lstStyle/>
                    <a:p>
                      <a:pPr algn="ctr">
                        <a:defRPr sz="1000">
                          <a:latin typeface="Montserrat"/>
                        </a:defRPr>
                      </a:pPr>
                      <a:r>
                        <a:t>47.6%</a:t>
                      </a:r>
                    </a:p>
                  </a:txBody>
                  <a:tcPr marL="0" marR="0" marT="0" marB="0">
                    <a:solidFill>
                      <a:srgbClr val="ECD3D9"/>
                    </a:solidFill>
                  </a:tcPr>
                </a:tc>
              </a:tr>
              <a:tr h="151200">
                <a:tc>
                  <a:txBody>
                    <a:bodyPr/>
                    <a:lstStyle/>
                    <a:p>
                      <a:pPr algn="l">
                        <a:defRPr sz="1000">
                          <a:latin typeface="Montserrat"/>
                        </a:defRPr>
                      </a:pPr>
                      <a:r>
                        <a:t>UMF 35 Nuevo Morelos</a:t>
                      </a:r>
                    </a:p>
                  </a:txBody>
                  <a:tcPr marL="0" marR="0" marT="0" marB="0">
                    <a:solidFill>
                      <a:srgbClr val="FFFFFF"/>
                    </a:solidFill>
                  </a:tcPr>
                </a:tc>
                <a:tc>
                  <a:txBody>
                    <a:bodyPr/>
                    <a:lstStyle/>
                    <a:p>
                      <a:pPr algn="ctr">
                        <a:defRPr sz="1000">
                          <a:latin typeface="Montserrat"/>
                        </a:defRPr>
                      </a:pPr>
                      <a:r>
                        <a:t>4,217</a:t>
                      </a:r>
                    </a:p>
                  </a:txBody>
                  <a:tcPr marL="0" marR="0" marT="0" marB="0">
                    <a:solidFill>
                      <a:srgbClr val="FFFFFF"/>
                    </a:solidFill>
                  </a:tcPr>
                </a:tc>
                <a:tc>
                  <a:txBody>
                    <a:bodyPr/>
                    <a:lstStyle/>
                    <a:p>
                      <a:pPr algn="ctr">
                        <a:defRPr sz="1000">
                          <a:latin typeface="Montserrat"/>
                        </a:defRPr>
                      </a:pPr>
                      <a:r>
                        <a:t>683</a:t>
                      </a:r>
                    </a:p>
                  </a:txBody>
                  <a:tcPr marL="0" marR="0" marT="0" marB="0">
                    <a:solidFill>
                      <a:srgbClr val="FFFFFF"/>
                    </a:solidFill>
                  </a:tcPr>
                </a:tc>
                <a:tc>
                  <a:txBody>
                    <a:bodyPr/>
                    <a:lstStyle/>
                    <a:p>
                      <a:pPr algn="ctr">
                        <a:defRPr sz="1000">
                          <a:latin typeface="Montserrat"/>
                        </a:defRPr>
                      </a:pPr>
                      <a:r>
                        <a:t>2,112</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35.2%</a:t>
                      </a:r>
                    </a:p>
                  </a:txBody>
                  <a:tcPr marL="0" marR="0" marT="0" marB="0">
                    <a:solidFill>
                      <a:srgbClr val="ECD3D9"/>
                    </a:solidFill>
                  </a:tcPr>
                </a:tc>
              </a:tr>
              <a:tr h="151200">
                <a:tc>
                  <a:txBody>
                    <a:bodyPr/>
                    <a:lstStyle/>
                    <a:p>
                      <a:pPr algn="l">
                        <a:defRPr sz="1000">
                          <a:latin typeface="Montserrat"/>
                        </a:defRPr>
                      </a:pPr>
                      <a:r>
                        <a:t>UMF 34 Antiguo Morelos</a:t>
                      </a:r>
                    </a:p>
                  </a:txBody>
                  <a:tcPr marL="0" marR="0" marT="0" marB="0">
                    <a:solidFill>
                      <a:srgbClr val="EFEFEF"/>
                    </a:solidFill>
                  </a:tcPr>
                </a:tc>
                <a:tc>
                  <a:txBody>
                    <a:bodyPr/>
                    <a:lstStyle/>
                    <a:p>
                      <a:pPr algn="ctr">
                        <a:defRPr sz="1000">
                          <a:latin typeface="Montserrat"/>
                        </a:defRPr>
                      </a:pPr>
                      <a:r>
                        <a:t>6,237</a:t>
                      </a:r>
                    </a:p>
                  </a:txBody>
                  <a:tcPr marL="0" marR="0" marT="0" marB="0">
                    <a:solidFill>
                      <a:srgbClr val="EFEFEF"/>
                    </a:solidFill>
                  </a:tcPr>
                </a:tc>
                <a:tc>
                  <a:txBody>
                    <a:bodyPr/>
                    <a:lstStyle/>
                    <a:p>
                      <a:pPr algn="ctr">
                        <a:defRPr sz="1000">
                          <a:latin typeface="Montserrat"/>
                        </a:defRPr>
                      </a:pPr>
                      <a:r>
                        <a:t>784</a:t>
                      </a:r>
                    </a:p>
                  </a:txBody>
                  <a:tcPr marL="0" marR="0" marT="0" marB="0">
                    <a:solidFill>
                      <a:srgbClr val="EFEFEF"/>
                    </a:solidFill>
                  </a:tcPr>
                </a:tc>
                <a:tc>
                  <a:txBody>
                    <a:bodyPr/>
                    <a:lstStyle/>
                    <a:p>
                      <a:pPr algn="ctr">
                        <a:defRPr sz="1000">
                          <a:latin typeface="Montserrat"/>
                        </a:defRPr>
                      </a:pPr>
                      <a:r>
                        <a:t>2,757</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34.5%</a:t>
                      </a:r>
                    </a:p>
                  </a:txBody>
                  <a:tcPr marL="0" marR="0" marT="0" marB="0">
                    <a:solidFill>
                      <a:srgbClr val="ECD3D9"/>
                    </a:solidFill>
                  </a:tcPr>
                </a:tc>
              </a:tr>
              <a:tr h="151200">
                <a:tc>
                  <a:txBody>
                    <a:bodyPr/>
                    <a:lstStyle/>
                    <a:p>
                      <a:pPr algn="l">
                        <a:defRPr sz="1000">
                          <a:latin typeface="Montserrat"/>
                        </a:defRPr>
                      </a:pPr>
                      <a:r>
                        <a:t>UMF 23 Ciudad Gustavo Díaz Ordaz</a:t>
                      </a:r>
                    </a:p>
                  </a:txBody>
                  <a:tcPr marL="0" marR="0" marT="0" marB="0">
                    <a:solidFill>
                      <a:srgbClr val="FFFFFF"/>
                    </a:solidFill>
                  </a:tcPr>
                </a:tc>
                <a:tc>
                  <a:txBody>
                    <a:bodyPr/>
                    <a:lstStyle/>
                    <a:p>
                      <a:pPr algn="ctr">
                        <a:defRPr sz="1000">
                          <a:latin typeface="Montserrat"/>
                        </a:defRPr>
                      </a:pPr>
                      <a:r>
                        <a:t>7,147</a:t>
                      </a:r>
                    </a:p>
                  </a:txBody>
                  <a:tcPr marL="0" marR="0" marT="0" marB="0">
                    <a:solidFill>
                      <a:srgbClr val="FFFFFF"/>
                    </a:solidFill>
                  </a:tcPr>
                </a:tc>
                <a:tc>
                  <a:txBody>
                    <a:bodyPr/>
                    <a:lstStyle/>
                    <a:p>
                      <a:pPr algn="ctr">
                        <a:defRPr sz="1000">
                          <a:latin typeface="Montserrat"/>
                        </a:defRPr>
                      </a:pPr>
                      <a:r>
                        <a:t>1,511</a:t>
                      </a:r>
                    </a:p>
                  </a:txBody>
                  <a:tcPr marL="0" marR="0" marT="0" marB="0">
                    <a:solidFill>
                      <a:srgbClr val="FFFFFF"/>
                    </a:solidFill>
                  </a:tcPr>
                </a:tc>
                <a:tc>
                  <a:txBody>
                    <a:bodyPr/>
                    <a:lstStyle/>
                    <a:p>
                      <a:pPr algn="ctr">
                        <a:defRPr sz="1000">
                          <a:latin typeface="Montserrat"/>
                        </a:defRPr>
                      </a:pPr>
                      <a:r>
                        <a:t>3,088</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38.6%</a:t>
                      </a:r>
                    </a:p>
                  </a:txBody>
                  <a:tcPr marL="0" marR="0" marT="0" marB="0">
                    <a:solidFill>
                      <a:srgbClr val="ECD3D9"/>
                    </a:solidFill>
                  </a:tcPr>
                </a:tc>
              </a:tr>
              <a:tr h="151200">
                <a:tc>
                  <a:txBody>
                    <a:bodyPr/>
                    <a:lstStyle/>
                    <a:p>
                      <a:pPr algn="l">
                        <a:defRPr sz="1000">
                          <a:latin typeface="Montserrat"/>
                        </a:defRPr>
                      </a:pPr>
                      <a:r>
                        <a:t>UMF 14 Nva. Apoloria</a:t>
                      </a:r>
                    </a:p>
                  </a:txBody>
                  <a:tcPr marL="0" marR="0" marT="0" marB="0">
                    <a:solidFill>
                      <a:srgbClr val="EFEFEF"/>
                    </a:solidFill>
                  </a:tcPr>
                </a:tc>
                <a:tc>
                  <a:txBody>
                    <a:bodyPr/>
                    <a:lstStyle/>
                    <a:p>
                      <a:pPr algn="ctr">
                        <a:defRPr sz="1000">
                          <a:latin typeface="Montserrat"/>
                        </a:defRPr>
                      </a:pPr>
                      <a:r>
                        <a:t>4,762</a:t>
                      </a:r>
                    </a:p>
                  </a:txBody>
                  <a:tcPr marL="0" marR="0" marT="0" marB="0">
                    <a:solidFill>
                      <a:srgbClr val="EFEFEF"/>
                    </a:solidFill>
                  </a:tcPr>
                </a:tc>
                <a:tc>
                  <a:txBody>
                    <a:bodyPr/>
                    <a:lstStyle/>
                    <a:p>
                      <a:pPr algn="ctr">
                        <a:defRPr sz="1000">
                          <a:latin typeface="Montserrat"/>
                        </a:defRPr>
                      </a:pPr>
                      <a:r>
                        <a:t>685</a:t>
                      </a:r>
                    </a:p>
                  </a:txBody>
                  <a:tcPr marL="0" marR="0" marT="0" marB="0">
                    <a:solidFill>
                      <a:srgbClr val="EFEFEF"/>
                    </a:solidFill>
                  </a:tcPr>
                </a:tc>
                <a:tc>
                  <a:txBody>
                    <a:bodyPr/>
                    <a:lstStyle/>
                    <a:p>
                      <a:pPr algn="ctr">
                        <a:defRPr sz="1000">
                          <a:latin typeface="Montserrat"/>
                        </a:defRPr>
                      </a:pPr>
                      <a:r>
                        <a:t>1,866</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31.1%</a:t>
                      </a:r>
                    </a:p>
                  </a:txBody>
                  <a:tcPr marL="0" marR="0" marT="0" marB="0">
                    <a:solidFill>
                      <a:srgbClr val="ECD3D9"/>
                    </a:solidFill>
                  </a:tcPr>
                </a:tc>
              </a:tr>
              <a:tr h="151200">
                <a:tc>
                  <a:txBody>
                    <a:bodyPr/>
                    <a:lstStyle/>
                    <a:p>
                      <a:pPr algn="l">
                        <a:defRPr sz="1000">
                          <a:latin typeface="Montserrat"/>
                        </a:defRPr>
                      </a:pPr>
                      <a:r>
                        <a:t>UMF 36 Matamoros</a:t>
                      </a:r>
                    </a:p>
                  </a:txBody>
                  <a:tcPr marL="0" marR="0" marT="0" marB="0">
                    <a:solidFill>
                      <a:srgbClr val="FFFFFF"/>
                    </a:solidFill>
                  </a:tcPr>
                </a:tc>
                <a:tc>
                  <a:txBody>
                    <a:bodyPr/>
                    <a:lstStyle/>
                    <a:p>
                      <a:pPr algn="ctr">
                        <a:defRPr sz="1000">
                          <a:latin typeface="Montserrat"/>
                        </a:defRPr>
                      </a:pPr>
                      <a:r>
                        <a:t>310,734</a:t>
                      </a:r>
                    </a:p>
                  </a:txBody>
                  <a:tcPr marL="0" marR="0" marT="0" marB="0">
                    <a:solidFill>
                      <a:srgbClr val="FFFFFF"/>
                    </a:solidFill>
                  </a:tcPr>
                </a:tc>
                <a:tc>
                  <a:txBody>
                    <a:bodyPr/>
                    <a:lstStyle/>
                    <a:p>
                      <a:pPr algn="ctr">
                        <a:defRPr sz="1000">
                          <a:latin typeface="Montserrat"/>
                        </a:defRPr>
                      </a:pPr>
                      <a:r>
                        <a:t>45,147</a:t>
                      </a:r>
                    </a:p>
                  </a:txBody>
                  <a:tcPr marL="0" marR="0" marT="0" marB="0">
                    <a:solidFill>
                      <a:srgbClr val="FFFFFF"/>
                    </a:solidFill>
                  </a:tcPr>
                </a:tc>
                <a:tc>
                  <a:txBody>
                    <a:bodyPr/>
                    <a:lstStyle/>
                    <a:p>
                      <a:pPr algn="ctr">
                        <a:defRPr sz="1000">
                          <a:latin typeface="Montserrat"/>
                        </a:defRPr>
                      </a:pPr>
                      <a:r>
                        <a:t>123,624</a:t>
                      </a:r>
                    </a:p>
                  </a:txBody>
                  <a:tcPr marL="0" marR="0" marT="0" marB="0">
                    <a:solidFill>
                      <a:srgbClr val="ECD3D9"/>
                    </a:solidFill>
                  </a:tcPr>
                </a:tc>
                <a:tc>
                  <a:txBody>
                    <a:bodyPr/>
                    <a:lstStyle/>
                    <a:p>
                      <a:pPr algn="ctr">
                        <a:defRPr sz="1000">
                          <a:latin typeface="Montserrat"/>
                        </a:defRPr>
                      </a:pPr>
                      <a:r>
                        <a:t>302,000</a:t>
                      </a:r>
                    </a:p>
                  </a:txBody>
                  <a:tcPr marL="0" marR="0" marT="0" marB="0">
                    <a:solidFill>
                      <a:srgbClr val="ECD3D9"/>
                    </a:solidFill>
                  </a:tcPr>
                </a:tc>
                <a:tc>
                  <a:txBody>
                    <a:bodyPr/>
                    <a:lstStyle/>
                    <a:p>
                      <a:pPr algn="ctr">
                        <a:defRPr sz="1000">
                          <a:latin typeface="Montserrat"/>
                        </a:defRPr>
                      </a:pPr>
                      <a:r>
                        <a:t>40.9%</a:t>
                      </a:r>
                    </a:p>
                  </a:txBody>
                  <a:tcPr marL="0" marR="0" marT="0" marB="0">
                    <a:solidFill>
                      <a:srgbClr val="ECD3D9"/>
                    </a:solidFill>
                  </a:tcPr>
                </a:tc>
              </a:tr>
              <a:tr h="151200">
                <a:tc>
                  <a:txBody>
                    <a:bodyPr/>
                    <a:lstStyle/>
                    <a:p>
                      <a:pPr algn="l">
                        <a:defRPr sz="1000">
                          <a:latin typeface="Montserrat"/>
                        </a:defRPr>
                      </a:pPr>
                      <a:r>
                        <a:t>UMF 5 Xicotencatl</a:t>
                      </a:r>
                    </a:p>
                  </a:txBody>
                  <a:tcPr marL="0" marR="0" marT="0" marB="0">
                    <a:solidFill>
                      <a:srgbClr val="EFEFEF"/>
                    </a:solidFill>
                  </a:tcPr>
                </a:tc>
                <a:tc>
                  <a:txBody>
                    <a:bodyPr/>
                    <a:lstStyle/>
                    <a:p>
                      <a:pPr algn="ctr">
                        <a:defRPr sz="1000">
                          <a:latin typeface="Montserrat"/>
                        </a:defRPr>
                      </a:pPr>
                      <a:r>
                        <a:t>22,702</a:t>
                      </a:r>
                    </a:p>
                  </a:txBody>
                  <a:tcPr marL="0" marR="0" marT="0" marB="0">
                    <a:solidFill>
                      <a:srgbClr val="EFEFEF"/>
                    </a:solidFill>
                  </a:tcPr>
                </a:tc>
                <a:tc>
                  <a:txBody>
                    <a:bodyPr/>
                    <a:lstStyle/>
                    <a:p>
                      <a:pPr algn="ctr">
                        <a:defRPr sz="1000">
                          <a:latin typeface="Montserrat"/>
                        </a:defRPr>
                      </a:pPr>
                      <a:r>
                        <a:t>1,617</a:t>
                      </a:r>
                    </a:p>
                  </a:txBody>
                  <a:tcPr marL="0" marR="0" marT="0" marB="0">
                    <a:solidFill>
                      <a:srgbClr val="EFEFEF"/>
                    </a:solidFill>
                  </a:tcPr>
                </a:tc>
                <a:tc>
                  <a:txBody>
                    <a:bodyPr/>
                    <a:lstStyle/>
                    <a:p>
                      <a:pPr algn="ctr">
                        <a:defRPr sz="1000">
                          <a:latin typeface="Montserrat"/>
                        </a:defRPr>
                      </a:pPr>
                      <a:r>
                        <a:t>9,302</a:t>
                      </a:r>
                    </a:p>
                  </a:txBody>
                  <a:tcPr marL="0" marR="0" marT="0" marB="0">
                    <a:solidFill>
                      <a:srgbClr val="ECD3D9"/>
                    </a:solidFill>
                  </a:tcPr>
                </a:tc>
                <a:tc>
                  <a:txBody>
                    <a:bodyPr/>
                    <a:lstStyle/>
                    <a:p>
                      <a:pPr algn="ctr">
                        <a:defRPr sz="1000">
                          <a:latin typeface="Montserrat"/>
                        </a:defRPr>
                      </a:pPr>
                      <a:r>
                        <a:t>24,000</a:t>
                      </a:r>
                    </a:p>
                  </a:txBody>
                  <a:tcPr marL="0" marR="0" marT="0" marB="0">
                    <a:solidFill>
                      <a:srgbClr val="ECD3D9"/>
                    </a:solidFill>
                  </a:tcPr>
                </a:tc>
                <a:tc>
                  <a:txBody>
                    <a:bodyPr/>
                    <a:lstStyle/>
                    <a:p>
                      <a:pPr algn="ctr">
                        <a:defRPr sz="1000">
                          <a:latin typeface="Montserrat"/>
                        </a:defRPr>
                      </a:pPr>
                      <a:r>
                        <a:t>38.8%</a:t>
                      </a:r>
                    </a:p>
                  </a:txBody>
                  <a:tcPr marL="0" marR="0" marT="0" marB="0">
                    <a:solidFill>
                      <a:srgbClr val="ECD3D9"/>
                    </a:solidFill>
                  </a:tcPr>
                </a:tc>
              </a:tr>
              <a:tr h="151200">
                <a:tc>
                  <a:txBody>
                    <a:bodyPr/>
                    <a:lstStyle/>
                    <a:p>
                      <a:pPr algn="l">
                        <a:defRPr sz="1000">
                          <a:latin typeface="Montserrat"/>
                        </a:defRPr>
                      </a:pPr>
                      <a:r>
                        <a:t>UMF 24 Mante</a:t>
                      </a:r>
                    </a:p>
                  </a:txBody>
                  <a:tcPr marL="0" marR="0" marT="0" marB="0">
                    <a:solidFill>
                      <a:srgbClr val="FFFFFF"/>
                    </a:solidFill>
                  </a:tcPr>
                </a:tc>
                <a:tc>
                  <a:txBody>
                    <a:bodyPr/>
                    <a:lstStyle/>
                    <a:p>
                      <a:pPr algn="ctr">
                        <a:defRPr sz="1000">
                          <a:latin typeface="Montserrat"/>
                        </a:defRPr>
                      </a:pPr>
                      <a:r>
                        <a:t>206,492</a:t>
                      </a:r>
                    </a:p>
                  </a:txBody>
                  <a:tcPr marL="0" marR="0" marT="0" marB="0">
                    <a:solidFill>
                      <a:srgbClr val="FFFFFF"/>
                    </a:solidFill>
                  </a:tcPr>
                </a:tc>
                <a:tc>
                  <a:txBody>
                    <a:bodyPr/>
                    <a:lstStyle/>
                    <a:p>
                      <a:pPr algn="ctr">
                        <a:defRPr sz="1000">
                          <a:latin typeface="Montserrat"/>
                        </a:defRPr>
                      </a:pPr>
                      <a:r>
                        <a:t>33,916</a:t>
                      </a:r>
                    </a:p>
                  </a:txBody>
                  <a:tcPr marL="0" marR="0" marT="0" marB="0">
                    <a:solidFill>
                      <a:srgbClr val="FFFFFF"/>
                    </a:solidFill>
                  </a:tcPr>
                </a:tc>
                <a:tc>
                  <a:txBody>
                    <a:bodyPr/>
                    <a:lstStyle/>
                    <a:p>
                      <a:pPr algn="ctr">
                        <a:defRPr sz="1000">
                          <a:latin typeface="Montserrat"/>
                        </a:defRPr>
                      </a:pPr>
                      <a:r>
                        <a:t>81,992</a:t>
                      </a:r>
                    </a:p>
                  </a:txBody>
                  <a:tcPr marL="0" marR="0" marT="0" marB="0">
                    <a:solidFill>
                      <a:srgbClr val="ECD3D9"/>
                    </a:solidFill>
                  </a:tcPr>
                </a:tc>
                <a:tc>
                  <a:txBody>
                    <a:bodyPr/>
                    <a:lstStyle/>
                    <a:p>
                      <a:pPr algn="ctr">
                        <a:defRPr sz="1000">
                          <a:latin typeface="Montserrat"/>
                        </a:defRPr>
                      </a:pPr>
                      <a:r>
                        <a:t>200,000</a:t>
                      </a:r>
                    </a:p>
                  </a:txBody>
                  <a:tcPr marL="0" marR="0" marT="0" marB="0">
                    <a:solidFill>
                      <a:srgbClr val="ECD3D9"/>
                    </a:solidFill>
                  </a:tcPr>
                </a:tc>
                <a:tc>
                  <a:txBody>
                    <a:bodyPr/>
                    <a:lstStyle/>
                    <a:p>
                      <a:pPr algn="ctr">
                        <a:defRPr sz="1000">
                          <a:latin typeface="Montserrat"/>
                        </a:defRPr>
                      </a:pPr>
                      <a:r>
                        <a:t>41.0%</a:t>
                      </a:r>
                    </a:p>
                  </a:txBody>
                  <a:tcPr marL="0" marR="0" marT="0" marB="0">
                    <a:solidFill>
                      <a:srgbClr val="ECD3D9"/>
                    </a:solidFill>
                  </a:tcPr>
                </a:tc>
              </a:tr>
              <a:tr h="151200">
                <a:tc>
                  <a:txBody>
                    <a:bodyPr/>
                    <a:lstStyle/>
                    <a:p>
                      <a:pPr algn="l">
                        <a:defRPr sz="1000">
                          <a:latin typeface="Montserrat"/>
                        </a:defRPr>
                      </a:pPr>
                      <a:r>
                        <a:t>UMF 67 Ciudad Victoria c/Rehab</a:t>
                      </a:r>
                    </a:p>
                  </a:txBody>
                  <a:tcPr marL="0" marR="0" marT="0" marB="0">
                    <a:solidFill>
                      <a:srgbClr val="EFEFEF"/>
                    </a:solidFill>
                  </a:tcPr>
                </a:tc>
                <a:tc>
                  <a:txBody>
                    <a:bodyPr/>
                    <a:lstStyle/>
                    <a:p>
                      <a:pPr algn="ctr">
                        <a:defRPr sz="1000">
                          <a:latin typeface="Montserrat"/>
                        </a:defRPr>
                      </a:pPr>
                      <a:r>
                        <a:t>183,789</a:t>
                      </a:r>
                    </a:p>
                  </a:txBody>
                  <a:tcPr marL="0" marR="0" marT="0" marB="0">
                    <a:solidFill>
                      <a:srgbClr val="EFEFEF"/>
                    </a:solidFill>
                  </a:tcPr>
                </a:tc>
                <a:tc>
                  <a:txBody>
                    <a:bodyPr/>
                    <a:lstStyle/>
                    <a:p>
                      <a:pPr algn="ctr">
                        <a:defRPr sz="1000">
                          <a:latin typeface="Montserrat"/>
                        </a:defRPr>
                      </a:pPr>
                      <a:r>
                        <a:t>31,873</a:t>
                      </a:r>
                    </a:p>
                  </a:txBody>
                  <a:tcPr marL="0" marR="0" marT="0" marB="0">
                    <a:solidFill>
                      <a:srgbClr val="EFEFEF"/>
                    </a:solidFill>
                  </a:tcPr>
                </a:tc>
                <a:tc>
                  <a:txBody>
                    <a:bodyPr/>
                    <a:lstStyle/>
                    <a:p>
                      <a:pPr algn="ctr">
                        <a:defRPr sz="1000">
                          <a:latin typeface="Montserrat"/>
                        </a:defRPr>
                      </a:pPr>
                      <a:r>
                        <a:t>78,577</a:t>
                      </a:r>
                    </a:p>
                  </a:txBody>
                  <a:tcPr marL="0" marR="0" marT="0" marB="0">
                    <a:solidFill>
                      <a:srgbClr val="ECD3D9"/>
                    </a:solidFill>
                  </a:tcPr>
                </a:tc>
                <a:tc>
                  <a:txBody>
                    <a:bodyPr/>
                    <a:lstStyle/>
                    <a:p>
                      <a:pPr algn="ctr">
                        <a:defRPr sz="1000">
                          <a:latin typeface="Montserrat"/>
                        </a:defRPr>
                      </a:pPr>
                      <a:r>
                        <a:t>187,920</a:t>
                      </a:r>
                    </a:p>
                  </a:txBody>
                  <a:tcPr marL="0" marR="0" marT="0" marB="0">
                    <a:solidFill>
                      <a:srgbClr val="ECD3D9"/>
                    </a:solidFill>
                  </a:tcPr>
                </a:tc>
                <a:tc>
                  <a:txBody>
                    <a:bodyPr/>
                    <a:lstStyle/>
                    <a:p>
                      <a:pPr algn="ctr">
                        <a:defRPr sz="1000">
                          <a:latin typeface="Montserrat"/>
                        </a:defRPr>
                      </a:pPr>
                      <a:r>
                        <a:t>41.8%</a:t>
                      </a:r>
                    </a:p>
                  </a:txBody>
                  <a:tcPr marL="0" marR="0" marT="0" marB="0">
                    <a:solidFill>
                      <a:srgbClr val="ECD3D9"/>
                    </a:solidFill>
                  </a:tcPr>
                </a:tc>
              </a:tr>
              <a:tr h="151200">
                <a:tc>
                  <a:txBody>
                    <a:bodyPr/>
                    <a:lstStyle/>
                    <a:p>
                      <a:pPr algn="l">
                        <a:defRPr sz="1000">
                          <a:latin typeface="Montserrat"/>
                        </a:defRPr>
                      </a:pPr>
                      <a:r>
                        <a:t>UMF-UMAA 76 Nuevo Laredo</a:t>
                      </a:r>
                    </a:p>
                  </a:txBody>
                  <a:tcPr marL="0" marR="0" marT="0" marB="0">
                    <a:solidFill>
                      <a:srgbClr val="FFFFFF"/>
                    </a:solidFill>
                  </a:tcPr>
                </a:tc>
                <a:tc>
                  <a:txBody>
                    <a:bodyPr/>
                    <a:lstStyle/>
                    <a:p>
                      <a:pPr algn="ctr">
                        <a:defRPr sz="1000">
                          <a:latin typeface="Montserrat"/>
                        </a:defRPr>
                      </a:pPr>
                      <a:r>
                        <a:t>121,649</a:t>
                      </a:r>
                    </a:p>
                  </a:txBody>
                  <a:tcPr marL="0" marR="0" marT="0" marB="0">
                    <a:solidFill>
                      <a:srgbClr val="FFFFFF"/>
                    </a:solidFill>
                  </a:tcPr>
                </a:tc>
                <a:tc>
                  <a:txBody>
                    <a:bodyPr/>
                    <a:lstStyle/>
                    <a:p>
                      <a:pPr algn="ctr">
                        <a:defRPr sz="1000">
                          <a:latin typeface="Montserrat"/>
                        </a:defRPr>
                      </a:pPr>
                      <a:r>
                        <a:t>10,756</a:t>
                      </a:r>
                    </a:p>
                  </a:txBody>
                  <a:tcPr marL="0" marR="0" marT="0" marB="0">
                    <a:solidFill>
                      <a:srgbClr val="FFFFFF"/>
                    </a:solidFill>
                  </a:tcPr>
                </a:tc>
                <a:tc>
                  <a:txBody>
                    <a:bodyPr/>
                    <a:lstStyle/>
                    <a:p>
                      <a:pPr algn="ctr">
                        <a:defRPr sz="1000">
                          <a:latin typeface="Montserrat"/>
                        </a:defRPr>
                      </a:pPr>
                      <a:r>
                        <a:t>51,994</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41.5%</a:t>
                      </a:r>
                    </a:p>
                  </a:txBody>
                  <a:tcPr marL="0" marR="0" marT="0" marB="0">
                    <a:solidFill>
                      <a:srgbClr val="ECD3D9"/>
                    </a:solidFill>
                  </a:tcPr>
                </a:tc>
              </a:tr>
              <a:tr h="151200">
                <a:tc>
                  <a:txBody>
                    <a:bodyPr/>
                    <a:lstStyle/>
                    <a:p>
                      <a:pPr algn="l">
                        <a:defRPr sz="1000">
                          <a:latin typeface="Montserrat"/>
                        </a:defRPr>
                      </a:pPr>
                      <a:r>
                        <a:t>UMF 41 Balcones de Alcalá</a:t>
                      </a:r>
                    </a:p>
                  </a:txBody>
                  <a:tcPr marL="0" marR="0" marT="0" marB="0">
                    <a:solidFill>
                      <a:srgbClr val="EFEFEF"/>
                    </a:solidFill>
                  </a:tcPr>
                </a:tc>
                <a:tc>
                  <a:txBody>
                    <a:bodyPr/>
                    <a:lstStyle/>
                    <a:p>
                      <a:pPr algn="ctr">
                        <a:defRPr sz="1000">
                          <a:latin typeface="Montserrat"/>
                        </a:defRPr>
                      </a:pPr>
                      <a:r>
                        <a:t>129,870</a:t>
                      </a:r>
                    </a:p>
                  </a:txBody>
                  <a:tcPr marL="0" marR="0" marT="0" marB="0">
                    <a:solidFill>
                      <a:srgbClr val="EFEFEF"/>
                    </a:solidFill>
                  </a:tcPr>
                </a:tc>
                <a:tc>
                  <a:txBody>
                    <a:bodyPr/>
                    <a:lstStyle/>
                    <a:p>
                      <a:pPr algn="ctr">
                        <a:defRPr sz="1000">
                          <a:latin typeface="Montserrat"/>
                        </a:defRPr>
                      </a:pPr>
                      <a:r>
                        <a:t>18,156</a:t>
                      </a:r>
                    </a:p>
                  </a:txBody>
                  <a:tcPr marL="0" marR="0" marT="0" marB="0">
                    <a:solidFill>
                      <a:srgbClr val="EFEFEF"/>
                    </a:solidFill>
                  </a:tcPr>
                </a:tc>
                <a:tc>
                  <a:txBody>
                    <a:bodyPr/>
                    <a:lstStyle/>
                    <a:p>
                      <a:pPr algn="ctr">
                        <a:defRPr sz="1000">
                          <a:latin typeface="Montserrat"/>
                        </a:defRPr>
                      </a:pPr>
                      <a:r>
                        <a:t>52,191</a:t>
                      </a:r>
                    </a:p>
                  </a:txBody>
                  <a:tcPr marL="0" marR="0" marT="0" marB="0">
                    <a:solidFill>
                      <a:srgbClr val="ECD3D9"/>
                    </a:solidFill>
                  </a:tcPr>
                </a:tc>
                <a:tc>
                  <a:txBody>
                    <a:bodyPr/>
                    <a:lstStyle/>
                    <a:p>
                      <a:pPr algn="ctr">
                        <a:defRPr sz="1000">
                          <a:latin typeface="Montserrat"/>
                        </a:defRPr>
                      </a:pPr>
                      <a:r>
                        <a:t>127,000</a:t>
                      </a:r>
                    </a:p>
                  </a:txBody>
                  <a:tcPr marL="0" marR="0" marT="0" marB="0">
                    <a:solidFill>
                      <a:srgbClr val="ECD3D9"/>
                    </a:solidFill>
                  </a:tcPr>
                </a:tc>
                <a:tc>
                  <a:txBody>
                    <a:bodyPr/>
                    <a:lstStyle/>
                    <a:p>
                      <a:pPr algn="ctr">
                        <a:defRPr sz="1000">
                          <a:latin typeface="Montserrat"/>
                        </a:defRPr>
                      </a:pPr>
                      <a:r>
                        <a:t>41.1%</a:t>
                      </a:r>
                    </a:p>
                  </a:txBody>
                  <a:tcPr marL="0" marR="0" marT="0" marB="0">
                    <a:solidFill>
                      <a:srgbClr val="ECD3D9"/>
                    </a:solidFill>
                  </a:tcPr>
                </a:tc>
              </a:tr>
              <a:tr h="151200">
                <a:tc>
                  <a:txBody>
                    <a:bodyPr/>
                    <a:lstStyle/>
                    <a:p>
                      <a:pPr algn="ctr">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1,599,459</a:t>
                      </a:r>
                    </a:p>
                  </a:txBody>
                  <a:tcPr marL="0" marR="0" marT="0" marB="0">
                    <a:solidFill>
                      <a:srgbClr val="D3E9E7"/>
                    </a:solidFill>
                  </a:tcPr>
                </a:tc>
                <a:tc>
                  <a:txBody>
                    <a:bodyPr/>
                    <a:lstStyle/>
                    <a:p>
                      <a:pPr algn="ctr">
                        <a:defRPr sz="1000" b="1">
                          <a:solidFill>
                            <a:srgbClr val="006556"/>
                          </a:solidFill>
                          <a:latin typeface="Montserrat"/>
                        </a:defRPr>
                      </a:pPr>
                      <a:r>
                        <a:t>269,139</a:t>
                      </a:r>
                    </a:p>
                  </a:txBody>
                  <a:tcPr marL="0" marR="0" marT="0" marB="0">
                    <a:solidFill>
                      <a:srgbClr val="D3E9E7"/>
                    </a:solidFill>
                  </a:tcPr>
                </a:tc>
                <a:tc>
                  <a:txBody>
                    <a:bodyPr/>
                    <a:lstStyle/>
                    <a:p>
                      <a:pPr algn="ctr">
                        <a:defRPr sz="1000" b="1">
                          <a:solidFill>
                            <a:srgbClr val="FFFFFF"/>
                          </a:solidFill>
                          <a:latin typeface="Montserrat"/>
                        </a:defRPr>
                      </a:pPr>
                      <a:r>
                        <a:t>693,398</a:t>
                      </a:r>
                    </a:p>
                  </a:txBody>
                  <a:tcPr marL="0" marR="0" marT="0" marB="0">
                    <a:solidFill>
                      <a:srgbClr val="9F2241"/>
                    </a:solidFill>
                  </a:tcPr>
                </a:tc>
                <a:tc>
                  <a:txBody>
                    <a:bodyPr/>
                    <a:lstStyle/>
                    <a:p>
                      <a:pPr algn="ctr">
                        <a:defRPr sz="1000" b="1">
                          <a:solidFill>
                            <a:srgbClr val="FFFFFF"/>
                          </a:solidFill>
                          <a:latin typeface="Montserrat"/>
                        </a:defRPr>
                      </a:pPr>
                      <a:r>
                        <a:t>1,627,840</a:t>
                      </a:r>
                    </a:p>
                  </a:txBody>
                  <a:tcPr marL="0" marR="0" marT="0" marB="0">
                    <a:solidFill>
                      <a:srgbClr val="9F2241"/>
                    </a:solidFill>
                  </a:tcPr>
                </a:tc>
                <a:tc>
                  <a:txBody>
                    <a:bodyPr/>
                    <a:lstStyle/>
                    <a:p>
                      <a:pPr algn="ctr">
                        <a:defRPr sz="1000" b="1">
                          <a:solidFill>
                            <a:srgbClr val="FFFFFF"/>
                          </a:solidFill>
                          <a:latin typeface="Montserrat"/>
                        </a:defRPr>
                      </a:pPr>
                      <a:r>
                        <a:t>42.6%</a:t>
                      </a:r>
                    </a:p>
                  </a:txBody>
                  <a:tcPr marL="0" marR="0" marT="0" marB="0">
                    <a:solidFill>
                      <a:srgbClr val="9F2241"/>
                    </a:solidFill>
                  </a:tcPr>
                </a:tc>
              </a:tr>
            </a:tbl>
          </a:graphicData>
        </a:graphic>
      </p:graphicFrame>
      <p:graphicFrame>
        <p:nvGraphicFramePr>
          <p:cNvPr id="9" name="Chart 8"/>
          <p:cNvGraphicFramePr>
            <a:graphicFrameLocks noGrp="1"/>
          </p:cNvGraphicFramePr>
          <p:nvPr/>
        </p:nvGraphicFramePr>
        <p:xfrm>
          <a:off x="4780800" y="7855200"/>
          <a:ext cx="1800000" cy="1800000"/>
        </p:xfrm>
        <a:graphic>
          <a:graphicData uri="http://schemas.openxmlformats.org/drawingml/2006/chart">
            <c:chart xmlns:c="http://schemas.openxmlformats.org/drawingml/2006/chart" r:id="rId4"/>
          </a:graphicData>
        </a:graphic>
      </p:graphicFrame>
      <p:sp>
        <p:nvSpPr>
          <p:cNvPr id="10" name="TextBox 9"/>
          <p:cNvSpPr txBox="1"/>
          <p:nvPr/>
        </p:nvSpPr>
        <p:spPr>
          <a:xfrm>
            <a:off x="4780800" y="8575200"/>
            <a:ext cx="1800000" cy="360000"/>
          </a:xfrm>
          <a:prstGeom prst="rect">
            <a:avLst/>
          </a:prstGeom>
          <a:noFill/>
        </p:spPr>
        <p:txBody>
          <a:bodyPr wrap="none">
            <a:spAutoFit/>
          </a:bodyPr>
          <a:lstStyle/>
          <a:p>
            <a:pPr algn="ctr"/>
            <a:r>
              <a:rPr sz="2400" b="1">
                <a:solidFill>
                  <a:srgbClr val="9F2241"/>
                </a:solidFill>
                <a:latin typeface="Montserrat"/>
              </a:rPr>
              <a:t>42.6%</a:t>
            </a:r>
          </a:p>
        </p:txBody>
      </p:sp>
      <p:sp>
        <p:nvSpPr>
          <p:cNvPr id="11" name="TextBox 10"/>
          <p:cNvSpPr txBox="1"/>
          <p:nvPr/>
        </p:nvSpPr>
        <p:spPr>
          <a:xfrm>
            <a:off x="4780800" y="94752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2" name="TextBox 11"/>
          <p:cNvSpPr txBox="1"/>
          <p:nvPr/>
        </p:nvSpPr>
        <p:spPr>
          <a:xfrm>
            <a:off x="730799" y="7855200"/>
            <a:ext cx="2854800" cy="1198800"/>
          </a:xfrm>
          <a:prstGeom prst="rect">
            <a:avLst/>
          </a:prstGeom>
          <a:noFill/>
        </p:spPr>
        <p:txBody>
          <a:bodyPr wrap="square">
            <a:spAutoFit/>
          </a:bodyPr>
          <a:lstStyle/>
          <a:p>
            <a:pPr algn="ctr">
              <a:defRPr sz="3600" b="1">
                <a:solidFill>
                  <a:srgbClr val="9F2241"/>
                </a:solidFill>
                <a:latin typeface="Montserrat"/>
              </a:defRPr>
            </a:pPr>
            <a:r>
              <a:t>1,627,840 </a:t>
            </a:r>
            <a:br/>
            <a:r>
              <a:t>Meta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sp>
        <p:nvSpPr>
          <p:cNvPr id="316" name="CuadroTexto 315">
            <a:extLst>
              <a:ext uri="{FF2B5EF4-FFF2-40B4-BE49-F238E27FC236}">
                <a16:creationId xmlns:a16="http://schemas.microsoft.com/office/drawing/2014/main" id="{D9F31008-9FFC-2E06-821E-01FD7ED7822D}"/>
              </a:ext>
            </a:extLst>
          </p:cNvPr>
          <p:cNvSpPr txBox="1"/>
          <p:nvPr/>
        </p:nvSpPr>
        <p:spPr>
          <a:xfrm>
            <a:off x="4362328" y="5355106"/>
            <a:ext cx="3006672" cy="1015663"/>
          </a:xfrm>
          <a:prstGeom prst="rect">
            <a:avLst/>
          </a:prstGeom>
          <a:noFill/>
        </p:spPr>
        <p:txBody>
          <a:bodyPr wrap="square">
            <a:spAutoFit/>
          </a:bodyPr>
          <a:lstStyle/>
          <a:p>
            <a:pPr algn="ctr">
              <a:defRPr sz="2000" b="1">
                <a:solidFill>
                  <a:srgbClr val="5B0F00"/>
                </a:solidFill>
                <a:latin typeface="Montserrat"/>
              </a:defRPr>
            </a:pPr>
            <a:r>
              <a:rPr lang="es-MX" dirty="0"/>
              <a:t>Proyectos 2026</a:t>
            </a:r>
          </a:p>
          <a:p>
            <a:pPr algn="ctr">
              <a:defRPr sz="2000" b="1">
                <a:solidFill>
                  <a:srgbClr val="5B0F00"/>
                </a:solidFill>
                <a:latin typeface="Montserrat"/>
              </a:defRPr>
            </a:pPr>
            <a:r>
              <a:rPr lang="es-MX" dirty="0"/>
              <a:t>4 Nuevas UMTC con   7 consultorios</a:t>
            </a:r>
          </a:p>
        </p:txBody>
      </p:sp>
      <p:sp>
        <p:nvSpPr>
          <p:cNvPr id="317" name="CuadroTexto 316">
            <a:extLst>
              <a:ext uri="{FF2B5EF4-FFF2-40B4-BE49-F238E27FC236}">
                <a16:creationId xmlns:a16="http://schemas.microsoft.com/office/drawing/2014/main" id="{F95BCF7C-8897-CBB8-0345-4FA6908826F5}"/>
              </a:ext>
            </a:extLst>
          </p:cNvPr>
          <p:cNvSpPr txBox="1"/>
          <p:nvPr/>
        </p:nvSpPr>
        <p:spPr>
          <a:xfrm>
            <a:off x="4362327" y="6495146"/>
            <a:ext cx="3454851" cy="954107"/>
          </a:xfrm>
          <a:prstGeom prst="rect">
            <a:avLst/>
          </a:prstGeom>
          <a:noFill/>
        </p:spPr>
        <p:txBody>
          <a:bodyPr wrap="square">
            <a:spAutoFit/>
          </a:bodyPr>
          <a:lstStyle/>
          <a:p>
            <a:pPr marL="342900" indent="-342900">
              <a:buFont typeface="+mj-lt"/>
              <a:buAutoNum type="arabicParenR"/>
            </a:pPr>
            <a:r>
              <a:rPr lang="es-MX" dirty="0">
                <a:latin typeface="Montserrat" panose="00000500000000000000" pitchFamily="2" charset="0"/>
              </a:rPr>
              <a:t>UMF 41 Balcones de Alcalá</a:t>
            </a:r>
          </a:p>
          <a:p>
            <a:pPr marL="342900" indent="-342900">
              <a:buFont typeface="+mj-lt"/>
              <a:buAutoNum type="arabicParenR"/>
            </a:pPr>
            <a:r>
              <a:rPr lang="es-MX" dirty="0">
                <a:latin typeface="Montserrat" panose="00000500000000000000" pitchFamily="2" charset="0"/>
              </a:rPr>
              <a:t>UMF-UMAA 76 Nuevo Laredo</a:t>
            </a:r>
          </a:p>
          <a:p>
            <a:pPr marL="342900" indent="-342900">
              <a:buFont typeface="+mj-lt"/>
              <a:buAutoNum type="arabicParenR"/>
            </a:pPr>
            <a:r>
              <a:rPr lang="es-MX" dirty="0">
                <a:latin typeface="Montserrat" panose="00000500000000000000" pitchFamily="2" charset="0"/>
              </a:rPr>
              <a:t>UMF 67 Ciudad Victoria c/</a:t>
            </a:r>
            <a:r>
              <a:rPr lang="es-MX" dirty="0" err="1">
                <a:latin typeface="Montserrat" panose="00000500000000000000" pitchFamily="2" charset="0"/>
              </a:rPr>
              <a:t>Rehab</a:t>
            </a:r>
            <a:endParaRPr lang="es-MX" dirty="0">
              <a:latin typeface="Montserrat" panose="00000500000000000000" pitchFamily="2" charset="0"/>
            </a:endParaRPr>
          </a:p>
          <a:p>
            <a:pPr marL="342900" indent="-342900">
              <a:buFont typeface="+mj-lt"/>
              <a:buAutoNum type="arabicParenR"/>
            </a:pPr>
            <a:r>
              <a:rPr lang="es-MX" dirty="0">
                <a:latin typeface="Montserrat" panose="00000500000000000000" pitchFamily="2" charset="0"/>
              </a:rPr>
              <a:t>UMF 10 Altamira</a:t>
            </a:r>
          </a:p>
        </p:txBody>
      </p:sp>
      <p:sp>
        <p:nvSpPr>
          <p:cNvPr id="318" name="TextBox 31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319" name="TextBox 318"/>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42 Unidades de Medicina Familiar</a:t>
            </a:r>
          </a:p>
        </p:txBody>
      </p:sp>
      <p:sp>
        <p:nvSpPr>
          <p:cNvPr id="320" name="TextBox 319"/>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8 Unidades Médicas de tiempo completo (40 consultorios)</a:t>
            </a:r>
          </a:p>
        </p:txBody>
      </p:sp>
      <p:sp>
        <p:nvSpPr>
          <p:cNvPr id="321" name="TextBox 320"/>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322" name="Connector 321"/>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323" name="TextBox 322"/>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(del 26 de Dic de 2024 al 25 de Dic de 2025).</a:t>
            </a:r>
            <a:br/>
            <a:r>
              <a:t>Corte de información: Semana 22, 24 mayo 2026</a:t>
            </a:r>
          </a:p>
        </p:txBody>
      </p:sp>
      <p:sp>
        <p:nvSpPr>
          <p:cNvPr id="324" name="TextBox 323"/>
          <p:cNvSpPr txBox="1"/>
          <p:nvPr/>
        </p:nvSpPr>
        <p:spPr>
          <a:xfrm>
            <a:off x="1940400" y="5432400"/>
            <a:ext cx="1810800" cy="1569600"/>
          </a:xfrm>
          <a:prstGeom prst="rect">
            <a:avLst/>
          </a:prstGeom>
          <a:noFill/>
        </p:spPr>
        <p:txBody>
          <a:bodyPr wrap="square">
            <a:spAutoFit/>
          </a:bodyPr>
          <a:lstStyle/>
          <a:p>
            <a:pPr algn="l">
              <a:defRPr sz="1600" b="1">
                <a:solidFill>
                  <a:srgbClr val="000000"/>
                </a:solidFill>
                <a:latin typeface="Montserrat"/>
              </a:defRPr>
            </a:pPr>
            <a:r>
              <a:t>de las consultas en 2025 fueron en fin de semana (289,971 consultas)</a:t>
            </a:r>
          </a:p>
        </p:txBody>
      </p:sp>
      <p:graphicFrame>
        <p:nvGraphicFramePr>
          <p:cNvPr id="325" name="Table 324"/>
          <p:cNvGraphicFramePr>
            <a:graphicFrameLocks noGrp="1"/>
          </p:cNvGraphicFramePr>
          <p:nvPr/>
        </p:nvGraphicFramePr>
        <p:xfrm>
          <a:off x="151200" y="1695600"/>
          <a:ext cx="7473599" cy="15120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2025</a:t>
                      </a:r>
                    </a:p>
                  </a:txBody>
                  <a:tcPr anchor="ctr">
                    <a:solidFill>
                      <a:srgbClr val="006455"/>
                    </a:solidFill>
                  </a:tcPr>
                </a:tc>
                <a:tc>
                  <a:txBody>
                    <a:bodyPr/>
                    <a:lstStyle/>
                    <a:p>
                      <a:pPr algn="ctr">
                        <a:defRPr b="1" sz="1000">
                          <a:solidFill>
                            <a:srgbClr val="FFFFFF"/>
                          </a:solidFill>
                          <a:latin typeface="Montserrat"/>
                        </a:defRPr>
                      </a:pPr>
                      <a:r>
                        <a:t>Incremento 2024 vs 2025</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solidFill>
                            <a:srgbClr val="000000"/>
                          </a:solidFill>
                          <a:latin typeface="Montserrat"/>
                        </a:defRPr>
                      </a:pPr>
                      <a:r>
                        <a:t>UMF 17 Río Bravo</a:t>
                      </a:r>
                    </a:p>
                  </a:txBody>
                  <a:tcPr marL="0" marR="0" marT="0" marB="0">
                    <a:solidFill>
                      <a:srgbClr val="FFFFFF"/>
                    </a:solidFill>
                  </a:tcPr>
                </a:tc>
                <a:tc>
                  <a:txBody>
                    <a:bodyPr/>
                    <a:lstStyle/>
                    <a:p>
                      <a:pPr algn="ctr">
                        <a:defRPr sz="1000">
                          <a:solidFill>
                            <a:srgbClr val="000000"/>
                          </a:solidFill>
                          <a:latin typeface="Montserrat"/>
                        </a:defRPr>
                      </a:pPr>
                      <a:r>
                        <a:t>128,229</a:t>
                      </a:r>
                    </a:p>
                  </a:txBody>
                  <a:tcPr marL="0" marR="0" marT="0" marB="0">
                    <a:solidFill>
                      <a:srgbClr val="FFFFFF"/>
                    </a:solidFill>
                  </a:tcPr>
                </a:tc>
                <a:tc>
                  <a:txBody>
                    <a:bodyPr/>
                    <a:lstStyle/>
                    <a:p>
                      <a:pPr algn="ctr">
                        <a:defRPr sz="1000">
                          <a:solidFill>
                            <a:srgbClr val="000000"/>
                          </a:solidFill>
                          <a:latin typeface="Montserrat"/>
                        </a:defRPr>
                      </a:pPr>
                      <a:r>
                        <a:t>21,505</a:t>
                      </a:r>
                    </a:p>
                  </a:txBody>
                  <a:tcPr marL="0" marR="0" marT="0" marB="0">
                    <a:solidFill>
                      <a:srgbClr val="FFFFFF"/>
                    </a:solidFill>
                  </a:tcPr>
                </a:tc>
                <a:tc>
                  <a:txBody>
                    <a:bodyPr/>
                    <a:lstStyle/>
                    <a:p>
                      <a:pPr algn="ctr">
                        <a:defRPr sz="1000">
                          <a:solidFill>
                            <a:srgbClr val="000000"/>
                          </a:solidFill>
                          <a:latin typeface="Montserrat"/>
                        </a:defRPr>
                      </a:pPr>
                      <a:r>
                        <a:t>55,742</a:t>
                      </a:r>
                    </a:p>
                  </a:txBody>
                  <a:tcPr marL="0" marR="0" marT="0" marB="0">
                    <a:solidFill>
                      <a:srgbClr val="ECD3D9"/>
                    </a:solidFill>
                  </a:tcPr>
                </a:tc>
                <a:tc>
                  <a:txBody>
                    <a:bodyPr/>
                    <a:lstStyle/>
                    <a:p>
                      <a:pPr algn="ctr">
                        <a:defRPr sz="1000">
                          <a:solidFill>
                            <a:srgbClr val="000000"/>
                          </a:solidFill>
                          <a:latin typeface="Montserrat"/>
                        </a:defRPr>
                      </a:pPr>
                      <a:r>
                        <a:t>125,000</a:t>
                      </a:r>
                    </a:p>
                  </a:txBody>
                  <a:tcPr marL="0" marR="0" marT="0" marB="0">
                    <a:solidFill>
                      <a:srgbClr val="ECD3D9"/>
                    </a:solidFill>
                  </a:tcPr>
                </a:tc>
                <a:tc>
                  <a:txBody>
                    <a:bodyPr/>
                    <a:lstStyle/>
                    <a:p>
                      <a:pPr algn="ctr">
                        <a:defRPr sz="1000">
                          <a:solidFill>
                            <a:srgbClr val="000000"/>
                          </a:solidFill>
                          <a:latin typeface="Montserrat"/>
                        </a:defRPr>
                      </a:pPr>
                      <a:r>
                        <a:t>44.6%</a:t>
                      </a:r>
                    </a:p>
                  </a:txBody>
                  <a:tcPr marL="0" marR="0" marT="0" marB="0">
                    <a:solidFill>
                      <a:srgbClr val="ECD3D9"/>
                    </a:solidFill>
                  </a:tcPr>
                </a:tc>
              </a:tr>
              <a:tr h="151200">
                <a:tc>
                  <a:txBody>
                    <a:bodyPr/>
                    <a:lstStyle/>
                    <a:p>
                      <a:pPr algn="l">
                        <a:defRPr sz="1000">
                          <a:solidFill>
                            <a:srgbClr val="000000"/>
                          </a:solidFill>
                          <a:latin typeface="Montserrat"/>
                        </a:defRPr>
                      </a:pPr>
                      <a:r>
                        <a:t>UMF 77 Ciudad Madero</a:t>
                      </a:r>
                    </a:p>
                  </a:txBody>
                  <a:tcPr marL="0" marR="0" marT="0" marB="0">
                    <a:solidFill>
                      <a:srgbClr val="EFEFEF"/>
                    </a:solidFill>
                  </a:tcPr>
                </a:tc>
                <a:tc>
                  <a:txBody>
                    <a:bodyPr/>
                    <a:lstStyle/>
                    <a:p>
                      <a:pPr algn="ctr">
                        <a:defRPr sz="1000">
                          <a:solidFill>
                            <a:srgbClr val="000000"/>
                          </a:solidFill>
                          <a:latin typeface="Montserrat"/>
                        </a:defRPr>
                      </a:pPr>
                      <a:r>
                        <a:t>594,464</a:t>
                      </a:r>
                    </a:p>
                  </a:txBody>
                  <a:tcPr marL="0" marR="0" marT="0" marB="0">
                    <a:solidFill>
                      <a:srgbClr val="EFEFEF"/>
                    </a:solidFill>
                  </a:tcPr>
                </a:tc>
                <a:tc>
                  <a:txBody>
                    <a:bodyPr/>
                    <a:lstStyle/>
                    <a:p>
                      <a:pPr algn="ctr">
                        <a:defRPr sz="1000">
                          <a:solidFill>
                            <a:srgbClr val="000000"/>
                          </a:solidFill>
                          <a:latin typeface="Montserrat"/>
                        </a:defRPr>
                      </a:pPr>
                      <a:r>
                        <a:t>118,090</a:t>
                      </a:r>
                    </a:p>
                  </a:txBody>
                  <a:tcPr marL="0" marR="0" marT="0" marB="0">
                    <a:solidFill>
                      <a:srgbClr val="EFEFEF"/>
                    </a:solidFill>
                  </a:tcPr>
                </a:tc>
                <a:tc>
                  <a:txBody>
                    <a:bodyPr/>
                    <a:lstStyle/>
                    <a:p>
                      <a:pPr algn="ctr">
                        <a:defRPr sz="1000">
                          <a:solidFill>
                            <a:srgbClr val="000000"/>
                          </a:solidFill>
                          <a:latin typeface="Montserrat"/>
                        </a:defRPr>
                      </a:pPr>
                      <a:r>
                        <a:t>247,055</a:t>
                      </a:r>
                    </a:p>
                  </a:txBody>
                  <a:tcPr marL="0" marR="0" marT="0" marB="0">
                    <a:solidFill>
                      <a:srgbClr val="ECD3D9"/>
                    </a:solidFill>
                  </a:tcPr>
                </a:tc>
                <a:tc>
                  <a:txBody>
                    <a:bodyPr/>
                    <a:lstStyle/>
                    <a:p>
                      <a:pPr algn="ctr">
                        <a:defRPr sz="1000">
                          <a:solidFill>
                            <a:srgbClr val="000000"/>
                          </a:solidFill>
                          <a:latin typeface="Montserrat"/>
                        </a:defRPr>
                      </a:pPr>
                      <a:r>
                        <a:t>570,000</a:t>
                      </a:r>
                    </a:p>
                  </a:txBody>
                  <a:tcPr marL="0" marR="0" marT="0" marB="0">
                    <a:solidFill>
                      <a:srgbClr val="ECD3D9"/>
                    </a:solidFill>
                  </a:tcPr>
                </a:tc>
                <a:tc>
                  <a:txBody>
                    <a:bodyPr/>
                    <a:lstStyle/>
                    <a:p>
                      <a:pPr algn="ctr">
                        <a:defRPr sz="1000">
                          <a:solidFill>
                            <a:srgbClr val="000000"/>
                          </a:solidFill>
                          <a:latin typeface="Montserrat"/>
                        </a:defRPr>
                      </a:pPr>
                      <a:r>
                        <a:t>43.3%</a:t>
                      </a:r>
                    </a:p>
                  </a:txBody>
                  <a:tcPr marL="0" marR="0" marT="0" marB="0">
                    <a:solidFill>
                      <a:srgbClr val="ECD3D9"/>
                    </a:solidFill>
                  </a:tcPr>
                </a:tc>
              </a:tr>
              <a:tr h="151200">
                <a:tc>
                  <a:txBody>
                    <a:bodyPr/>
                    <a:lstStyle/>
                    <a:p>
                      <a:pPr algn="l">
                        <a:defRPr sz="1000">
                          <a:solidFill>
                            <a:srgbClr val="000000"/>
                          </a:solidFill>
                          <a:latin typeface="Montserrat"/>
                        </a:defRPr>
                      </a:pPr>
                      <a:r>
                        <a:t>UMF 78 Nuevo Laredo</a:t>
                      </a:r>
                    </a:p>
                  </a:txBody>
                  <a:tcPr marL="0" marR="0" marT="0" marB="0">
                    <a:solidFill>
                      <a:srgbClr val="FFFFFF"/>
                    </a:solidFill>
                  </a:tcPr>
                </a:tc>
                <a:tc>
                  <a:txBody>
                    <a:bodyPr/>
                    <a:lstStyle/>
                    <a:p>
                      <a:pPr algn="ctr">
                        <a:defRPr sz="1000">
                          <a:solidFill>
                            <a:srgbClr val="000000"/>
                          </a:solidFill>
                          <a:latin typeface="Montserrat"/>
                        </a:defRPr>
                      </a:pPr>
                      <a:r>
                        <a:t>422,019</a:t>
                      </a:r>
                    </a:p>
                  </a:txBody>
                  <a:tcPr marL="0" marR="0" marT="0" marB="0">
                    <a:solidFill>
                      <a:srgbClr val="FFFFFF"/>
                    </a:solidFill>
                  </a:tcPr>
                </a:tc>
                <a:tc>
                  <a:txBody>
                    <a:bodyPr/>
                    <a:lstStyle/>
                    <a:p>
                      <a:pPr algn="ctr">
                        <a:defRPr sz="1000">
                          <a:solidFill>
                            <a:srgbClr val="000000"/>
                          </a:solidFill>
                          <a:latin typeface="Montserrat"/>
                        </a:defRPr>
                      </a:pPr>
                      <a:r>
                        <a:t>74,549</a:t>
                      </a:r>
                    </a:p>
                  </a:txBody>
                  <a:tcPr marL="0" marR="0" marT="0" marB="0">
                    <a:solidFill>
                      <a:srgbClr val="FFFFFF"/>
                    </a:solidFill>
                  </a:tcPr>
                </a:tc>
                <a:tc>
                  <a:txBody>
                    <a:bodyPr/>
                    <a:lstStyle/>
                    <a:p>
                      <a:pPr algn="ctr">
                        <a:defRPr sz="1000">
                          <a:solidFill>
                            <a:srgbClr val="000000"/>
                          </a:solidFill>
                          <a:latin typeface="Montserrat"/>
                        </a:defRPr>
                      </a:pPr>
                      <a:r>
                        <a:t>160,074</a:t>
                      </a:r>
                    </a:p>
                  </a:txBody>
                  <a:tcPr marL="0" marR="0" marT="0" marB="0">
                    <a:solidFill>
                      <a:srgbClr val="ECD3D9"/>
                    </a:solidFill>
                  </a:tcPr>
                </a:tc>
                <a:tc>
                  <a:txBody>
                    <a:bodyPr/>
                    <a:lstStyle/>
                    <a:p>
                      <a:pPr algn="ctr">
                        <a:defRPr sz="1000">
                          <a:solidFill>
                            <a:srgbClr val="000000"/>
                          </a:solidFill>
                          <a:latin typeface="Montserrat"/>
                        </a:defRPr>
                      </a:pPr>
                      <a:r>
                        <a:t>409,000</a:t>
                      </a:r>
                    </a:p>
                  </a:txBody>
                  <a:tcPr marL="0" marR="0" marT="0" marB="0">
                    <a:solidFill>
                      <a:srgbClr val="ECD3D9"/>
                    </a:solidFill>
                  </a:tcPr>
                </a:tc>
                <a:tc>
                  <a:txBody>
                    <a:bodyPr/>
                    <a:lstStyle/>
                    <a:p>
                      <a:pPr algn="ctr">
                        <a:defRPr sz="1000">
                          <a:solidFill>
                            <a:srgbClr val="000000"/>
                          </a:solidFill>
                          <a:latin typeface="Montserrat"/>
                        </a:defRPr>
                      </a:pPr>
                      <a:r>
                        <a:t>39.1%</a:t>
                      </a:r>
                    </a:p>
                  </a:txBody>
                  <a:tcPr marL="0" marR="0" marT="0" marB="0">
                    <a:solidFill>
                      <a:srgbClr val="ECD3D9"/>
                    </a:solidFill>
                  </a:tcPr>
                </a:tc>
              </a:tr>
              <a:tr h="151200">
                <a:tc>
                  <a:txBody>
                    <a:bodyPr/>
                    <a:lstStyle/>
                    <a:p>
                      <a:pPr algn="l">
                        <a:defRPr sz="1000">
                          <a:solidFill>
                            <a:srgbClr val="000000"/>
                          </a:solidFill>
                          <a:latin typeface="Montserrat"/>
                        </a:defRPr>
                      </a:pPr>
                      <a:r>
                        <a:t>UMF 33 Ciudad Reynosa</a:t>
                      </a:r>
                    </a:p>
                  </a:txBody>
                  <a:tcPr marL="0" marR="0" marT="0" marB="0">
                    <a:solidFill>
                      <a:srgbClr val="EFEFEF"/>
                    </a:solidFill>
                  </a:tcPr>
                </a:tc>
                <a:tc>
                  <a:txBody>
                    <a:bodyPr/>
                    <a:lstStyle/>
                    <a:p>
                      <a:pPr algn="ctr">
                        <a:defRPr sz="1000">
                          <a:solidFill>
                            <a:srgbClr val="000000"/>
                          </a:solidFill>
                          <a:latin typeface="Montserrat"/>
                        </a:defRPr>
                      </a:pPr>
                      <a:r>
                        <a:t>447,334</a:t>
                      </a:r>
                    </a:p>
                  </a:txBody>
                  <a:tcPr marL="0" marR="0" marT="0" marB="0">
                    <a:solidFill>
                      <a:srgbClr val="EFEFEF"/>
                    </a:solidFill>
                  </a:tcPr>
                </a:tc>
                <a:tc>
                  <a:txBody>
                    <a:bodyPr/>
                    <a:lstStyle/>
                    <a:p>
                      <a:pPr algn="ctr">
                        <a:defRPr sz="1000">
                          <a:solidFill>
                            <a:srgbClr val="000000"/>
                          </a:solidFill>
                          <a:latin typeface="Montserrat"/>
                        </a:defRPr>
                      </a:pPr>
                      <a:r>
                        <a:t>87,311</a:t>
                      </a:r>
                    </a:p>
                  </a:txBody>
                  <a:tcPr marL="0" marR="0" marT="0" marB="0">
                    <a:solidFill>
                      <a:srgbClr val="EFEFEF"/>
                    </a:solidFill>
                  </a:tcPr>
                </a:tc>
                <a:tc>
                  <a:txBody>
                    <a:bodyPr/>
                    <a:lstStyle/>
                    <a:p>
                      <a:pPr algn="ctr">
                        <a:defRPr sz="1000">
                          <a:solidFill>
                            <a:srgbClr val="000000"/>
                          </a:solidFill>
                          <a:latin typeface="Montserrat"/>
                        </a:defRPr>
                      </a:pPr>
                      <a:r>
                        <a:t>210,411</a:t>
                      </a:r>
                    </a:p>
                  </a:txBody>
                  <a:tcPr marL="0" marR="0" marT="0" marB="0">
                    <a:solidFill>
                      <a:srgbClr val="ECD3D9"/>
                    </a:solidFill>
                  </a:tcPr>
                </a:tc>
                <a:tc>
                  <a:txBody>
                    <a:bodyPr/>
                    <a:lstStyle/>
                    <a:p>
                      <a:pPr algn="ctr">
                        <a:defRPr sz="1000">
                          <a:solidFill>
                            <a:srgbClr val="000000"/>
                          </a:solidFill>
                          <a:latin typeface="Montserrat"/>
                        </a:defRPr>
                      </a:pPr>
                      <a:r>
                        <a:t>432,000</a:t>
                      </a:r>
                    </a:p>
                  </a:txBody>
                  <a:tcPr marL="0" marR="0" marT="0" marB="0">
                    <a:solidFill>
                      <a:srgbClr val="ECD3D9"/>
                    </a:solidFill>
                  </a:tcPr>
                </a:tc>
                <a:tc>
                  <a:txBody>
                    <a:bodyPr/>
                    <a:lstStyle/>
                    <a:p>
                      <a:pPr algn="ctr">
                        <a:defRPr sz="1000">
                          <a:solidFill>
                            <a:srgbClr val="000000"/>
                          </a:solidFill>
                          <a:latin typeface="Montserrat"/>
                        </a:defRPr>
                      </a:pPr>
                      <a:r>
                        <a:t>48.7%</a:t>
                      </a:r>
                    </a:p>
                  </a:txBody>
                  <a:tcPr marL="0" marR="0" marT="0" marB="0">
                    <a:solidFill>
                      <a:srgbClr val="ECD3D9"/>
                    </a:solidFill>
                  </a:tcPr>
                </a:tc>
              </a:tr>
              <a:tr h="151200">
                <a:tc>
                  <a:txBody>
                    <a:bodyPr/>
                    <a:lstStyle/>
                    <a:p>
                      <a:pPr algn="l">
                        <a:defRPr sz="1000">
                          <a:solidFill>
                            <a:srgbClr val="000000"/>
                          </a:solidFill>
                          <a:latin typeface="Montserrat"/>
                        </a:defRPr>
                      </a:pPr>
                      <a:r>
                        <a:t>UMF 38 Tampico</a:t>
                      </a:r>
                    </a:p>
                  </a:txBody>
                  <a:tcPr marL="0" marR="0" marT="0" marB="0">
                    <a:solidFill>
                      <a:srgbClr val="FFFFFF"/>
                    </a:solidFill>
                  </a:tcPr>
                </a:tc>
                <a:tc>
                  <a:txBody>
                    <a:bodyPr/>
                    <a:lstStyle/>
                    <a:p>
                      <a:pPr algn="ctr">
                        <a:defRPr sz="1000">
                          <a:solidFill>
                            <a:srgbClr val="000000"/>
                          </a:solidFill>
                          <a:latin typeface="Montserrat"/>
                        </a:defRPr>
                      </a:pPr>
                      <a:r>
                        <a:t>187,810</a:t>
                      </a:r>
                    </a:p>
                  </a:txBody>
                  <a:tcPr marL="0" marR="0" marT="0" marB="0">
                    <a:solidFill>
                      <a:srgbClr val="FFFFFF"/>
                    </a:solidFill>
                  </a:tcPr>
                </a:tc>
                <a:tc>
                  <a:txBody>
                    <a:bodyPr/>
                    <a:lstStyle/>
                    <a:p>
                      <a:pPr algn="ctr">
                        <a:defRPr sz="1000">
                          <a:solidFill>
                            <a:srgbClr val="000000"/>
                          </a:solidFill>
                          <a:latin typeface="Montserrat"/>
                        </a:defRPr>
                      </a:pPr>
                      <a:r>
                        <a:t>35,985</a:t>
                      </a:r>
                    </a:p>
                  </a:txBody>
                  <a:tcPr marL="0" marR="0" marT="0" marB="0">
                    <a:solidFill>
                      <a:srgbClr val="FFFFFF"/>
                    </a:solidFill>
                  </a:tcPr>
                </a:tc>
                <a:tc>
                  <a:txBody>
                    <a:bodyPr/>
                    <a:lstStyle/>
                    <a:p>
                      <a:pPr algn="ctr">
                        <a:defRPr sz="1000">
                          <a:solidFill>
                            <a:srgbClr val="000000"/>
                          </a:solidFill>
                          <a:latin typeface="Montserrat"/>
                        </a:defRPr>
                      </a:pPr>
                      <a:r>
                        <a:t>75,924</a:t>
                      </a:r>
                    </a:p>
                  </a:txBody>
                  <a:tcPr marL="0" marR="0" marT="0" marB="0">
                    <a:solidFill>
                      <a:srgbClr val="ECD3D9"/>
                    </a:solidFill>
                  </a:tcPr>
                </a:tc>
                <a:tc>
                  <a:txBody>
                    <a:bodyPr/>
                    <a:lstStyle/>
                    <a:p>
                      <a:pPr algn="ctr">
                        <a:defRPr sz="1000">
                          <a:solidFill>
                            <a:srgbClr val="000000"/>
                          </a:solidFill>
                          <a:latin typeface="Montserrat"/>
                        </a:defRPr>
                      </a:pPr>
                      <a:r>
                        <a:t>183,000</a:t>
                      </a:r>
                    </a:p>
                  </a:txBody>
                  <a:tcPr marL="0" marR="0" marT="0" marB="0">
                    <a:solidFill>
                      <a:srgbClr val="ECD3D9"/>
                    </a:solidFill>
                  </a:tcPr>
                </a:tc>
                <a:tc>
                  <a:txBody>
                    <a:bodyPr/>
                    <a:lstStyle/>
                    <a:p>
                      <a:pPr algn="ctr">
                        <a:defRPr sz="1000">
                          <a:solidFill>
                            <a:srgbClr val="000000"/>
                          </a:solidFill>
                          <a:latin typeface="Montserrat"/>
                        </a:defRPr>
                      </a:pPr>
                      <a:r>
                        <a:t>41.5%</a:t>
                      </a:r>
                    </a:p>
                  </a:txBody>
                  <a:tcPr marL="0" marR="0" marT="0" marB="0">
                    <a:solidFill>
                      <a:srgbClr val="ECD3D9"/>
                    </a:solidFill>
                  </a:tcPr>
                </a:tc>
              </a:tr>
              <a:tr h="151200">
                <a:tc>
                  <a:txBody>
                    <a:bodyPr/>
                    <a:lstStyle/>
                    <a:p>
                      <a:pPr algn="l">
                        <a:defRPr sz="1000">
                          <a:solidFill>
                            <a:srgbClr val="000000"/>
                          </a:solidFill>
                          <a:latin typeface="Montserrat"/>
                        </a:defRPr>
                      </a:pPr>
                      <a:r>
                        <a:t>UMF 40 Jarachina</a:t>
                      </a:r>
                    </a:p>
                  </a:txBody>
                  <a:tcPr marL="0" marR="0" marT="0" marB="0">
                    <a:solidFill>
                      <a:srgbClr val="EFEFEF"/>
                    </a:solidFill>
                  </a:tcPr>
                </a:tc>
                <a:tc>
                  <a:txBody>
                    <a:bodyPr/>
                    <a:lstStyle/>
                    <a:p>
                      <a:pPr algn="ctr">
                        <a:defRPr sz="1000">
                          <a:solidFill>
                            <a:srgbClr val="000000"/>
                          </a:solidFill>
                          <a:latin typeface="Montserrat"/>
                        </a:defRPr>
                      </a:pPr>
                      <a:r>
                        <a:t>171,461</a:t>
                      </a:r>
                    </a:p>
                  </a:txBody>
                  <a:tcPr marL="0" marR="0" marT="0" marB="0">
                    <a:solidFill>
                      <a:srgbClr val="EFEFEF"/>
                    </a:solidFill>
                  </a:tcPr>
                </a:tc>
                <a:tc>
                  <a:txBody>
                    <a:bodyPr/>
                    <a:lstStyle/>
                    <a:p>
                      <a:pPr algn="ctr">
                        <a:defRPr sz="1000">
                          <a:solidFill>
                            <a:srgbClr val="000000"/>
                          </a:solidFill>
                          <a:latin typeface="Montserrat"/>
                        </a:defRPr>
                      </a:pPr>
                      <a:r>
                        <a:t>28,082</a:t>
                      </a:r>
                    </a:p>
                  </a:txBody>
                  <a:tcPr marL="0" marR="0" marT="0" marB="0">
                    <a:solidFill>
                      <a:srgbClr val="EFEFEF"/>
                    </a:solidFill>
                  </a:tcPr>
                </a:tc>
                <a:tc>
                  <a:txBody>
                    <a:bodyPr/>
                    <a:lstStyle/>
                    <a:p>
                      <a:pPr algn="ctr">
                        <a:defRPr sz="1000">
                          <a:solidFill>
                            <a:srgbClr val="000000"/>
                          </a:solidFill>
                          <a:latin typeface="Montserrat"/>
                        </a:defRPr>
                      </a:pPr>
                      <a:r>
                        <a:t>74,401</a:t>
                      </a:r>
                    </a:p>
                  </a:txBody>
                  <a:tcPr marL="0" marR="0" marT="0" marB="0">
                    <a:solidFill>
                      <a:srgbClr val="ECD3D9"/>
                    </a:solidFill>
                  </a:tcPr>
                </a:tc>
                <a:tc>
                  <a:txBody>
                    <a:bodyPr/>
                    <a:lstStyle/>
                    <a:p>
                      <a:pPr algn="ctr">
                        <a:defRPr sz="1000">
                          <a:solidFill>
                            <a:srgbClr val="000000"/>
                          </a:solidFill>
                          <a:latin typeface="Montserrat"/>
                        </a:defRPr>
                      </a:pPr>
                      <a:r>
                        <a:t>165,000</a:t>
                      </a:r>
                    </a:p>
                  </a:txBody>
                  <a:tcPr marL="0" marR="0" marT="0" marB="0">
                    <a:solidFill>
                      <a:srgbClr val="ECD3D9"/>
                    </a:solidFill>
                  </a:tcPr>
                </a:tc>
                <a:tc>
                  <a:txBody>
                    <a:bodyPr/>
                    <a:lstStyle/>
                    <a:p>
                      <a:pPr algn="ctr">
                        <a:defRPr sz="1000">
                          <a:solidFill>
                            <a:srgbClr val="000000"/>
                          </a:solidFill>
                          <a:latin typeface="Montserrat"/>
                        </a:defRPr>
                      </a:pPr>
                      <a:r>
                        <a:t>45.1%</a:t>
                      </a:r>
                    </a:p>
                  </a:txBody>
                  <a:tcPr marL="0" marR="0" marT="0" marB="0">
                    <a:solidFill>
                      <a:srgbClr val="ECD3D9"/>
                    </a:solidFill>
                  </a:tcPr>
                </a:tc>
              </a:tr>
              <a:tr h="151200">
                <a:tc>
                  <a:txBody>
                    <a:bodyPr/>
                    <a:lstStyle/>
                    <a:p>
                      <a:pPr algn="l">
                        <a:defRPr sz="1000">
                          <a:solidFill>
                            <a:srgbClr val="000000"/>
                          </a:solidFill>
                          <a:latin typeface="Montserrat"/>
                        </a:defRPr>
                      </a:pPr>
                      <a:r>
                        <a:t>UMF 16 Altamira</a:t>
                      </a:r>
                    </a:p>
                  </a:txBody>
                  <a:tcPr marL="0" marR="0" marT="0" marB="0">
                    <a:solidFill>
                      <a:srgbClr val="FFFFFF"/>
                    </a:solidFill>
                  </a:tcPr>
                </a:tc>
                <a:tc>
                  <a:txBody>
                    <a:bodyPr/>
                    <a:lstStyle/>
                    <a:p>
                      <a:pPr algn="ctr">
                        <a:defRPr sz="1000">
                          <a:solidFill>
                            <a:srgbClr val="000000"/>
                          </a:solidFill>
                          <a:latin typeface="Montserrat"/>
                        </a:defRPr>
                      </a:pPr>
                      <a:r>
                        <a:t>196,006</a:t>
                      </a:r>
                    </a:p>
                  </a:txBody>
                  <a:tcPr marL="0" marR="0" marT="0" marB="0">
                    <a:solidFill>
                      <a:srgbClr val="FFFFFF"/>
                    </a:solidFill>
                  </a:tcPr>
                </a:tc>
                <a:tc>
                  <a:txBody>
                    <a:bodyPr/>
                    <a:lstStyle/>
                    <a:p>
                      <a:pPr algn="ctr">
                        <a:defRPr sz="1000">
                          <a:solidFill>
                            <a:srgbClr val="000000"/>
                          </a:solidFill>
                          <a:latin typeface="Montserrat"/>
                        </a:defRPr>
                      </a:pPr>
                      <a:r>
                        <a:t>22,424</a:t>
                      </a:r>
                    </a:p>
                  </a:txBody>
                  <a:tcPr marL="0" marR="0" marT="0" marB="0">
                    <a:solidFill>
                      <a:srgbClr val="FFFFFF"/>
                    </a:solidFill>
                  </a:tcPr>
                </a:tc>
                <a:tc>
                  <a:txBody>
                    <a:bodyPr/>
                    <a:lstStyle/>
                    <a:p>
                      <a:pPr algn="ctr">
                        <a:defRPr sz="1000">
                          <a:solidFill>
                            <a:srgbClr val="000000"/>
                          </a:solidFill>
                          <a:latin typeface="Montserrat"/>
                        </a:defRPr>
                      </a:pPr>
                      <a:r>
                        <a:t>82,148</a:t>
                      </a:r>
                    </a:p>
                  </a:txBody>
                  <a:tcPr marL="0" marR="0" marT="0" marB="0">
                    <a:solidFill>
                      <a:srgbClr val="ECD3D9"/>
                    </a:solidFill>
                  </a:tcPr>
                </a:tc>
                <a:tc>
                  <a:txBody>
                    <a:bodyPr/>
                    <a:lstStyle/>
                    <a:p>
                      <a:pPr algn="ctr">
                        <a:defRPr sz="1000">
                          <a:solidFill>
                            <a:srgbClr val="000000"/>
                          </a:solidFill>
                          <a:latin typeface="Montserrat"/>
                        </a:defRPr>
                      </a:pPr>
                      <a:r>
                        <a:t>191,000</a:t>
                      </a:r>
                    </a:p>
                  </a:txBody>
                  <a:tcPr marL="0" marR="0" marT="0" marB="0">
                    <a:solidFill>
                      <a:srgbClr val="ECD3D9"/>
                    </a:solidFill>
                  </a:tcPr>
                </a:tc>
                <a:tc>
                  <a:txBody>
                    <a:bodyPr/>
                    <a:lstStyle/>
                    <a:p>
                      <a:pPr algn="ctr">
                        <a:defRPr sz="1000">
                          <a:solidFill>
                            <a:srgbClr val="000000"/>
                          </a:solidFill>
                          <a:latin typeface="Montserrat"/>
                        </a:defRPr>
                      </a:pPr>
                      <a:r>
                        <a:t>43.0%</a:t>
                      </a:r>
                    </a:p>
                  </a:txBody>
                  <a:tcPr marL="0" marR="0" marT="0" marB="0">
                    <a:solidFill>
                      <a:srgbClr val="ECD3D9"/>
                    </a:solidFill>
                  </a:tcPr>
                </a:tc>
              </a:tr>
              <a:tr h="151200">
                <a:tc>
                  <a:txBody>
                    <a:bodyPr/>
                    <a:lstStyle/>
                    <a:p>
                      <a:pPr algn="l">
                        <a:defRPr sz="1000">
                          <a:solidFill>
                            <a:srgbClr val="000000"/>
                          </a:solidFill>
                          <a:latin typeface="Montserrat"/>
                        </a:defRPr>
                      </a:pPr>
                      <a:r>
                        <a:t>UMF-UMAA 39 y Rehab</a:t>
                      </a:r>
                    </a:p>
                  </a:txBody>
                  <a:tcPr marL="0" marR="0" marT="0" marB="0">
                    <a:solidFill>
                      <a:srgbClr val="EFEFEF"/>
                    </a:solidFill>
                  </a:tcPr>
                </a:tc>
                <a:tc>
                  <a:txBody>
                    <a:bodyPr/>
                    <a:lstStyle/>
                    <a:p>
                      <a:pPr algn="ctr">
                        <a:defRPr sz="1000">
                          <a:solidFill>
                            <a:srgbClr val="000000"/>
                          </a:solidFill>
                          <a:latin typeface="Montserrat"/>
                        </a:defRPr>
                      </a:pPr>
                      <a:r>
                        <a:t>193,987</a:t>
                      </a:r>
                    </a:p>
                  </a:txBody>
                  <a:tcPr marL="0" marR="0" marT="0" marB="0">
                    <a:solidFill>
                      <a:srgbClr val="EFEFEF"/>
                    </a:solidFill>
                  </a:tcPr>
                </a:tc>
                <a:tc>
                  <a:txBody>
                    <a:bodyPr/>
                    <a:lstStyle/>
                    <a:p>
                      <a:pPr algn="ctr">
                        <a:defRPr sz="1000">
                          <a:solidFill>
                            <a:srgbClr val="000000"/>
                          </a:solidFill>
                          <a:latin typeface="Montserrat"/>
                        </a:defRPr>
                      </a:pPr>
                      <a:r>
                        <a:t>37,224</a:t>
                      </a:r>
                    </a:p>
                  </a:txBody>
                  <a:tcPr marL="0" marR="0" marT="0" marB="0">
                    <a:solidFill>
                      <a:srgbClr val="EFEFEF"/>
                    </a:solidFill>
                  </a:tcPr>
                </a:tc>
                <a:tc>
                  <a:txBody>
                    <a:bodyPr/>
                    <a:lstStyle/>
                    <a:p>
                      <a:pPr algn="ctr">
                        <a:defRPr sz="1000">
                          <a:solidFill>
                            <a:srgbClr val="000000"/>
                          </a:solidFill>
                          <a:latin typeface="Montserrat"/>
                        </a:defRPr>
                      </a:pPr>
                      <a:r>
                        <a:t>84,183</a:t>
                      </a:r>
                    </a:p>
                  </a:txBody>
                  <a:tcPr marL="0" marR="0" marT="0" marB="0">
                    <a:solidFill>
                      <a:srgbClr val="ECD3D9"/>
                    </a:solidFill>
                  </a:tcPr>
                </a:tc>
                <a:tc>
                  <a:txBody>
                    <a:bodyPr/>
                    <a:lstStyle/>
                    <a:p>
                      <a:pPr algn="ctr">
                        <a:defRPr sz="1000">
                          <a:solidFill>
                            <a:srgbClr val="000000"/>
                          </a:solidFill>
                          <a:latin typeface="Montserrat"/>
                        </a:defRPr>
                      </a:pPr>
                      <a:r>
                        <a:t>189,000</a:t>
                      </a:r>
                    </a:p>
                  </a:txBody>
                  <a:tcPr marL="0" marR="0" marT="0" marB="0">
                    <a:solidFill>
                      <a:srgbClr val="ECD3D9"/>
                    </a:solidFill>
                  </a:tcPr>
                </a:tc>
                <a:tc>
                  <a:txBody>
                    <a:bodyPr/>
                    <a:lstStyle/>
                    <a:p>
                      <a:pPr algn="ctr">
                        <a:defRPr sz="1000">
                          <a:solidFill>
                            <a:srgbClr val="000000"/>
                          </a:solidFill>
                          <a:latin typeface="Montserrat"/>
                        </a:defRPr>
                      </a:pPr>
                      <a:r>
                        <a:t>44.5%</a:t>
                      </a:r>
                    </a:p>
                  </a:txBody>
                  <a:tcPr marL="0" marR="0" marT="0" marB="0">
                    <a:solidFill>
                      <a:srgbClr val="ECD3D9"/>
                    </a:solidFill>
                  </a:tcPr>
                </a:tc>
              </a:tr>
              <a:tr h="151200">
                <a:tc>
                  <a:txBody>
                    <a:bodyPr/>
                    <a:lstStyle/>
                    <a:p>
                      <a:pPr algn="l">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2,341,310</a:t>
                      </a:r>
                    </a:p>
                  </a:txBody>
                  <a:tcPr marL="0" marR="0" marT="0" marB="0">
                    <a:solidFill>
                      <a:srgbClr val="D3E9E7"/>
                    </a:solidFill>
                  </a:tcPr>
                </a:tc>
                <a:tc>
                  <a:txBody>
                    <a:bodyPr/>
                    <a:lstStyle/>
                    <a:p>
                      <a:pPr algn="ctr">
                        <a:defRPr sz="1000" b="1">
                          <a:solidFill>
                            <a:srgbClr val="006556"/>
                          </a:solidFill>
                          <a:latin typeface="Montserrat"/>
                        </a:defRPr>
                      </a:pPr>
                      <a:r>
                        <a:t>425,170</a:t>
                      </a:r>
                    </a:p>
                  </a:txBody>
                  <a:tcPr marL="0" marR="0" marT="0" marB="0">
                    <a:solidFill>
                      <a:srgbClr val="D3E9E7"/>
                    </a:solidFill>
                  </a:tcPr>
                </a:tc>
                <a:tc>
                  <a:txBody>
                    <a:bodyPr/>
                    <a:lstStyle/>
                    <a:p>
                      <a:pPr algn="ctr">
                        <a:defRPr sz="1000" b="1">
                          <a:solidFill>
                            <a:srgbClr val="FFFFFF"/>
                          </a:solidFill>
                          <a:latin typeface="Montserrat"/>
                        </a:defRPr>
                      </a:pPr>
                      <a:r>
                        <a:t>989,938</a:t>
                      </a:r>
                    </a:p>
                  </a:txBody>
                  <a:tcPr marL="0" marR="0" marT="0" marB="0">
                    <a:solidFill>
                      <a:srgbClr val="9F2241"/>
                    </a:solidFill>
                  </a:tcPr>
                </a:tc>
                <a:tc>
                  <a:txBody>
                    <a:bodyPr/>
                    <a:lstStyle/>
                    <a:p>
                      <a:pPr algn="ctr">
                        <a:defRPr sz="1000" b="1">
                          <a:solidFill>
                            <a:srgbClr val="FFFFFF"/>
                          </a:solidFill>
                          <a:latin typeface="Montserrat"/>
                        </a:defRPr>
                      </a:pPr>
                      <a:r>
                        <a:t>2,264,000</a:t>
                      </a:r>
                    </a:p>
                  </a:txBody>
                  <a:tcPr marL="0" marR="0" marT="0" marB="0">
                    <a:solidFill>
                      <a:srgbClr val="9F2241"/>
                    </a:solidFill>
                  </a:tcPr>
                </a:tc>
                <a:tc>
                  <a:txBody>
                    <a:bodyPr/>
                    <a:lstStyle/>
                    <a:p>
                      <a:pPr algn="ctr">
                        <a:defRPr sz="1000" b="1">
                          <a:solidFill>
                            <a:srgbClr val="FFFFFF"/>
                          </a:solidFill>
                          <a:latin typeface="Montserrat"/>
                        </a:defRPr>
                      </a:pPr>
                      <a:r>
                        <a:t>43.7%</a:t>
                      </a:r>
                    </a:p>
                  </a:txBody>
                  <a:tcPr marL="0" marR="0" marT="0" marB="0">
                    <a:solidFill>
                      <a:srgbClr val="9F2241"/>
                    </a:solidFill>
                  </a:tcPr>
                </a:tc>
              </a:tr>
            </a:tbl>
          </a:graphicData>
        </a:graphic>
      </p:graphicFrame>
      <p:graphicFrame>
        <p:nvGraphicFramePr>
          <p:cNvPr id="326" name="Chart 325"/>
          <p:cNvGraphicFramePr>
            <a:graphicFrameLocks noGrp="1"/>
          </p:cNvGraphicFramePr>
          <p:nvPr/>
        </p:nvGraphicFramePr>
        <p:xfrm>
          <a:off x="385200" y="5400000"/>
          <a:ext cx="1555200" cy="1533600"/>
        </p:xfrm>
        <a:graphic>
          <a:graphicData uri="http://schemas.openxmlformats.org/drawingml/2006/chart">
            <c:chart xmlns:c="http://schemas.openxmlformats.org/drawingml/2006/chart" r:id="rId4"/>
          </a:graphicData>
        </a:graphic>
      </p:graphicFrame>
      <p:sp>
        <p:nvSpPr>
          <p:cNvPr id="327" name="TextBox 326"/>
          <p:cNvSpPr txBox="1"/>
          <p:nvPr/>
        </p:nvSpPr>
        <p:spPr>
          <a:xfrm>
            <a:off x="385200" y="5986800"/>
            <a:ext cx="1555200" cy="360000"/>
          </a:xfrm>
          <a:prstGeom prst="rect">
            <a:avLst/>
          </a:prstGeom>
          <a:noFill/>
        </p:spPr>
        <p:txBody>
          <a:bodyPr wrap="none">
            <a:spAutoFit/>
          </a:bodyPr>
          <a:lstStyle/>
          <a:p>
            <a:pPr algn="ctr"/>
            <a:r>
              <a:rPr sz="2200" b="1">
                <a:solidFill>
                  <a:srgbClr val="9F2241"/>
                </a:solidFill>
                <a:latin typeface="Montserrat"/>
              </a:rPr>
              <a:t>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1953406548"/>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Consultas de especialidad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232" name="TextBox 231"/>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 </a:t>
            </a:r>
          </a:p>
        </p:txBody>
      </p:sp>
      <p:cxnSp>
        <p:nvCxnSpPr>
          <p:cNvPr id="233" name="Connector 232"/>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4" name="TextBox 233"/>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235" name="TextBox 23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 productividad de especialidad generada en UMF ni en HR</a:t>
            </a:r>
            <a:br/>
            <a:r>
              <a:t>En el año 2025 no incluye información de HR y UMU.</a:t>
            </a:r>
            <a:br/>
            <a:r>
              <a:t>El año de proceso inicia del 26 de diciembre del año anterior al 25 de diciembre del año en curso:</a:t>
            </a:r>
            <a:br/>
            <a:r>
              <a:t>2025 (del 26 de Dic de 2024 al 25 de Dic de 2025)</a:t>
            </a:r>
            <a:br/>
            <a:r>
              <a:t>Corte de información: Semana: 22, 24 mayo 2026</a:t>
            </a:r>
          </a:p>
        </p:txBody>
      </p:sp>
      <p:graphicFrame>
        <p:nvGraphicFramePr>
          <p:cNvPr id="236" name="Table 235"/>
          <p:cNvGraphicFramePr>
            <a:graphicFrameLocks noGrp="1"/>
          </p:cNvGraphicFramePr>
          <p:nvPr/>
        </p:nvGraphicFramePr>
        <p:xfrm>
          <a:off x="144000" y="1494000"/>
          <a:ext cx="7340399" cy="2559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HGZ 3 Mante</a:t>
                      </a:r>
                    </a:p>
                  </a:txBody>
                  <a:tcPr>
                    <a:solidFill>
                      <a:srgbClr val="FFFFFF"/>
                    </a:solidFill>
                  </a:tcPr>
                </a:tc>
                <a:tc>
                  <a:txBody>
                    <a:bodyPr/>
                    <a:lstStyle/>
                    <a:p>
                      <a:pPr algn="ctr">
                        <a:defRPr sz="1000">
                          <a:latin typeface="Montserrat"/>
                        </a:defRPr>
                      </a:pPr>
                      <a:r>
                        <a:t>69,767</a:t>
                      </a:r>
                    </a:p>
                  </a:txBody>
                  <a:tcPr>
                    <a:solidFill>
                      <a:srgbClr val="FFFFFF"/>
                    </a:solidFill>
                  </a:tcPr>
                </a:tc>
                <a:tc>
                  <a:txBody>
                    <a:bodyPr/>
                    <a:lstStyle/>
                    <a:p>
                      <a:pPr algn="ctr">
                        <a:defRPr sz="1000">
                          <a:latin typeface="Montserrat"/>
                        </a:defRPr>
                      </a:pPr>
                      <a:r>
                        <a:t>34,458</a:t>
                      </a:r>
                    </a:p>
                  </a:txBody>
                  <a:tcPr>
                    <a:solidFill>
                      <a:srgbClr val="FFFFFF"/>
                    </a:solidFill>
                  </a:tcPr>
                </a:tc>
                <a:tc>
                  <a:txBody>
                    <a:bodyPr/>
                    <a:lstStyle/>
                    <a:p>
                      <a:pPr algn="ctr">
                        <a:defRPr sz="1000">
                          <a:latin typeface="Montserrat"/>
                        </a:defRPr>
                      </a:pPr>
                      <a:r>
                        <a:t>36,798</a:t>
                      </a:r>
                    </a:p>
                  </a:txBody>
                  <a:tcPr>
                    <a:solidFill>
                      <a:srgbClr val="ECD3D9"/>
                    </a:solidFill>
                  </a:tcPr>
                </a:tc>
                <a:tc>
                  <a:txBody>
                    <a:bodyPr/>
                    <a:lstStyle/>
                    <a:p>
                      <a:pPr algn="ctr">
                        <a:defRPr sz="1000">
                          <a:latin typeface="Montserrat"/>
                        </a:defRPr>
                      </a:pPr>
                      <a:r>
                        <a:t>72,270</a:t>
                      </a:r>
                    </a:p>
                  </a:txBody>
                  <a:tcPr>
                    <a:solidFill>
                      <a:srgbClr val="ECD3D9"/>
                    </a:solidFill>
                  </a:tcPr>
                </a:tc>
                <a:tc>
                  <a:txBody>
                    <a:bodyPr/>
                    <a:lstStyle/>
                    <a:p>
                      <a:pPr algn="ctr">
                        <a:defRPr sz="1000">
                          <a:latin typeface="Montserrat"/>
                        </a:defRPr>
                      </a:pPr>
                      <a:r>
                        <a:t>50.9%</a:t>
                      </a:r>
                    </a:p>
                  </a:txBody>
                  <a:tcPr>
                    <a:solidFill>
                      <a:srgbClr val="ECD3D9"/>
                    </a:solidFill>
                  </a:tcPr>
                </a:tc>
              </a:tr>
              <a:tr h="284400">
                <a:tc>
                  <a:txBody>
                    <a:bodyPr/>
                    <a:lstStyle/>
                    <a:p>
                      <a:pPr algn="l">
                        <a:defRPr sz="1000">
                          <a:latin typeface="Montserrat"/>
                        </a:defRPr>
                      </a:pPr>
                      <a:r>
                        <a:t>HGR 6 Ciudad Madero.</a:t>
                      </a:r>
                    </a:p>
                  </a:txBody>
                  <a:tcPr>
                    <a:solidFill>
                      <a:srgbClr val="EFEFEF"/>
                    </a:solidFill>
                  </a:tcPr>
                </a:tc>
                <a:tc>
                  <a:txBody>
                    <a:bodyPr/>
                    <a:lstStyle/>
                    <a:p>
                      <a:pPr algn="ctr">
                        <a:defRPr sz="1000">
                          <a:latin typeface="Montserrat"/>
                        </a:defRPr>
                      </a:pPr>
                      <a:r>
                        <a:t>248,890</a:t>
                      </a:r>
                    </a:p>
                  </a:txBody>
                  <a:tcPr>
                    <a:solidFill>
                      <a:srgbClr val="EFEFEF"/>
                    </a:solidFill>
                  </a:tcPr>
                </a:tc>
                <a:tc>
                  <a:txBody>
                    <a:bodyPr/>
                    <a:lstStyle/>
                    <a:p>
                      <a:pPr algn="ctr">
                        <a:defRPr sz="1000">
                          <a:latin typeface="Montserrat"/>
                        </a:defRPr>
                      </a:pPr>
                      <a:r>
                        <a:t>78,168</a:t>
                      </a:r>
                    </a:p>
                  </a:txBody>
                  <a:tcPr>
                    <a:solidFill>
                      <a:srgbClr val="EFEFEF"/>
                    </a:solidFill>
                  </a:tcPr>
                </a:tc>
                <a:tc>
                  <a:txBody>
                    <a:bodyPr/>
                    <a:lstStyle/>
                    <a:p>
                      <a:pPr algn="ctr">
                        <a:defRPr sz="1000">
                          <a:latin typeface="Montserrat"/>
                        </a:defRPr>
                      </a:pPr>
                      <a:r>
                        <a:t>114,496</a:t>
                      </a:r>
                    </a:p>
                  </a:txBody>
                  <a:tcPr>
                    <a:solidFill>
                      <a:srgbClr val="ECD3D9"/>
                    </a:solidFill>
                  </a:tcPr>
                </a:tc>
                <a:tc>
                  <a:txBody>
                    <a:bodyPr/>
                    <a:lstStyle/>
                    <a:p>
                      <a:pPr algn="ctr">
                        <a:defRPr sz="1000">
                          <a:latin typeface="Montserrat"/>
                        </a:defRPr>
                      </a:pPr>
                      <a:r>
                        <a:t>249,660</a:t>
                      </a:r>
                    </a:p>
                  </a:txBody>
                  <a:tcPr>
                    <a:solidFill>
                      <a:srgbClr val="ECD3D9"/>
                    </a:solidFill>
                  </a:tcPr>
                </a:tc>
                <a:tc>
                  <a:txBody>
                    <a:bodyPr/>
                    <a:lstStyle/>
                    <a:p>
                      <a:pPr algn="ctr">
                        <a:defRPr sz="1000">
                          <a:latin typeface="Montserrat"/>
                        </a:defRPr>
                      </a:pPr>
                      <a:r>
                        <a:t>45.9%</a:t>
                      </a:r>
                    </a:p>
                  </a:txBody>
                  <a:tcPr>
                    <a:solidFill>
                      <a:srgbClr val="ECD3D9"/>
                    </a:solidFill>
                  </a:tcPr>
                </a:tc>
              </a:tr>
              <a:tr h="284400">
                <a:tc>
                  <a:txBody>
                    <a:bodyPr/>
                    <a:lstStyle/>
                    <a:p>
                      <a:pPr algn="l">
                        <a:defRPr sz="1000">
                          <a:latin typeface="Montserrat"/>
                        </a:defRPr>
                      </a:pPr>
                      <a:r>
                        <a:t>HGZ 13 Matamoros</a:t>
                      </a:r>
                    </a:p>
                  </a:txBody>
                  <a:tcPr>
                    <a:solidFill>
                      <a:srgbClr val="FFFFFF"/>
                    </a:solidFill>
                  </a:tcPr>
                </a:tc>
                <a:tc>
                  <a:txBody>
                    <a:bodyPr/>
                    <a:lstStyle/>
                    <a:p>
                      <a:pPr algn="ctr">
                        <a:defRPr sz="1000">
                          <a:latin typeface="Montserrat"/>
                        </a:defRPr>
                      </a:pPr>
                      <a:r>
                        <a:t>109,384</a:t>
                      </a:r>
                    </a:p>
                  </a:txBody>
                  <a:tcPr>
                    <a:solidFill>
                      <a:srgbClr val="FFFFFF"/>
                    </a:solidFill>
                  </a:tcPr>
                </a:tc>
                <a:tc>
                  <a:txBody>
                    <a:bodyPr/>
                    <a:lstStyle/>
                    <a:p>
                      <a:pPr algn="ctr">
                        <a:defRPr sz="1000">
                          <a:latin typeface="Montserrat"/>
                        </a:defRPr>
                      </a:pPr>
                      <a:r>
                        <a:t>50,761</a:t>
                      </a:r>
                    </a:p>
                  </a:txBody>
                  <a:tcPr>
                    <a:solidFill>
                      <a:srgbClr val="FFFFFF"/>
                    </a:solidFill>
                  </a:tcPr>
                </a:tc>
                <a:tc>
                  <a:txBody>
                    <a:bodyPr/>
                    <a:lstStyle/>
                    <a:p>
                      <a:pPr algn="ctr">
                        <a:defRPr sz="1000">
                          <a:latin typeface="Montserrat"/>
                        </a:defRPr>
                      </a:pPr>
                      <a:r>
                        <a:t>47,475</a:t>
                      </a:r>
                    </a:p>
                  </a:txBody>
                  <a:tcPr>
                    <a:solidFill>
                      <a:srgbClr val="ECD3D9"/>
                    </a:solidFill>
                  </a:tcPr>
                </a:tc>
                <a:tc>
                  <a:txBody>
                    <a:bodyPr/>
                    <a:lstStyle/>
                    <a:p>
                      <a:pPr algn="ctr">
                        <a:defRPr sz="1000">
                          <a:latin typeface="Montserrat"/>
                        </a:defRPr>
                      </a:pPr>
                      <a:r>
                        <a:t>111,690</a:t>
                      </a:r>
                    </a:p>
                  </a:txBody>
                  <a:tcPr>
                    <a:solidFill>
                      <a:srgbClr val="ECD3D9"/>
                    </a:solidFill>
                  </a:tcPr>
                </a:tc>
                <a:tc>
                  <a:txBody>
                    <a:bodyPr/>
                    <a:lstStyle/>
                    <a:p>
                      <a:pPr algn="ctr">
                        <a:defRPr sz="1000">
                          <a:latin typeface="Montserrat"/>
                        </a:defRPr>
                      </a:pPr>
                      <a:r>
                        <a:t>42.5%</a:t>
                      </a:r>
                    </a:p>
                  </a:txBody>
                  <a:tcPr>
                    <a:solidFill>
                      <a:srgbClr val="ECD3D9"/>
                    </a:solidFill>
                  </a:tcPr>
                </a:tc>
              </a:tr>
              <a:tr h="284400">
                <a:tc>
                  <a:txBody>
                    <a:bodyPr/>
                    <a:lstStyle/>
                    <a:p>
                      <a:pPr algn="l">
                        <a:defRPr sz="1000">
                          <a:latin typeface="Montserrat"/>
                        </a:defRPr>
                      </a:pPr>
                      <a:r>
                        <a:t>HGZ 11 Nuevo Laredo</a:t>
                      </a:r>
                    </a:p>
                  </a:txBody>
                  <a:tcPr>
                    <a:solidFill>
                      <a:srgbClr val="EFEFEF"/>
                    </a:solidFill>
                  </a:tcPr>
                </a:tc>
                <a:tc>
                  <a:txBody>
                    <a:bodyPr/>
                    <a:lstStyle/>
                    <a:p>
                      <a:pPr algn="ctr">
                        <a:defRPr sz="1000">
                          <a:latin typeface="Montserrat"/>
                        </a:defRPr>
                      </a:pPr>
                      <a:r>
                        <a:t>64,327</a:t>
                      </a:r>
                    </a:p>
                  </a:txBody>
                  <a:tcPr>
                    <a:solidFill>
                      <a:srgbClr val="EFEFEF"/>
                    </a:solidFill>
                  </a:tcPr>
                </a:tc>
                <a:tc>
                  <a:txBody>
                    <a:bodyPr/>
                    <a:lstStyle/>
                    <a:p>
                      <a:pPr algn="ctr">
                        <a:defRPr sz="1000">
                          <a:latin typeface="Montserrat"/>
                        </a:defRPr>
                      </a:pPr>
                      <a:r>
                        <a:t>22,875</a:t>
                      </a:r>
                    </a:p>
                  </a:txBody>
                  <a:tcPr>
                    <a:solidFill>
                      <a:srgbClr val="EFEFEF"/>
                    </a:solidFill>
                  </a:tcPr>
                </a:tc>
                <a:tc>
                  <a:txBody>
                    <a:bodyPr/>
                    <a:lstStyle/>
                    <a:p>
                      <a:pPr algn="ctr">
                        <a:defRPr sz="1000">
                          <a:latin typeface="Montserrat"/>
                        </a:defRPr>
                      </a:pPr>
                      <a:r>
                        <a:t>33,646</a:t>
                      </a:r>
                    </a:p>
                  </a:txBody>
                  <a:tcPr>
                    <a:solidFill>
                      <a:srgbClr val="ECD3D9"/>
                    </a:solidFill>
                  </a:tcPr>
                </a:tc>
                <a:tc>
                  <a:txBody>
                    <a:bodyPr/>
                    <a:lstStyle/>
                    <a:p>
                      <a:pPr algn="ctr">
                        <a:defRPr sz="1000">
                          <a:latin typeface="Montserrat"/>
                        </a:defRPr>
                      </a:pPr>
                      <a:r>
                        <a:t>80,665</a:t>
                      </a:r>
                    </a:p>
                  </a:txBody>
                  <a:tcPr>
                    <a:solidFill>
                      <a:srgbClr val="ECD3D9"/>
                    </a:solidFill>
                  </a:tcPr>
                </a:tc>
                <a:tc>
                  <a:txBody>
                    <a:bodyPr/>
                    <a:lstStyle/>
                    <a:p>
                      <a:pPr algn="ctr">
                        <a:defRPr sz="1000">
                          <a:latin typeface="Montserrat"/>
                        </a:defRPr>
                      </a:pPr>
                      <a:r>
                        <a:t>41.7%</a:t>
                      </a:r>
                    </a:p>
                  </a:txBody>
                  <a:tcPr>
                    <a:solidFill>
                      <a:srgbClr val="ECD3D9"/>
                    </a:solidFill>
                  </a:tcPr>
                </a:tc>
              </a:tr>
              <a:tr h="284400">
                <a:tc>
                  <a:txBody>
                    <a:bodyPr/>
                    <a:lstStyle/>
                    <a:p>
                      <a:pPr algn="l">
                        <a:defRPr sz="1000">
                          <a:latin typeface="Montserrat"/>
                        </a:defRPr>
                      </a:pPr>
                      <a:r>
                        <a:t>HGZMF 1 Ciudad Victoria</a:t>
                      </a:r>
                    </a:p>
                  </a:txBody>
                  <a:tcPr>
                    <a:solidFill>
                      <a:srgbClr val="FFFFFF"/>
                    </a:solidFill>
                  </a:tcPr>
                </a:tc>
                <a:tc>
                  <a:txBody>
                    <a:bodyPr/>
                    <a:lstStyle/>
                    <a:p>
                      <a:pPr algn="ctr">
                        <a:defRPr sz="1000">
                          <a:latin typeface="Montserrat"/>
                        </a:defRPr>
                      </a:pPr>
                      <a:r>
                        <a:t>79,253</a:t>
                      </a:r>
                    </a:p>
                  </a:txBody>
                  <a:tcPr>
                    <a:solidFill>
                      <a:srgbClr val="FFFFFF"/>
                    </a:solidFill>
                  </a:tcPr>
                </a:tc>
                <a:tc>
                  <a:txBody>
                    <a:bodyPr/>
                    <a:lstStyle/>
                    <a:p>
                      <a:pPr algn="ctr">
                        <a:defRPr sz="1000">
                          <a:latin typeface="Montserrat"/>
                        </a:defRPr>
                      </a:pPr>
                      <a:r>
                        <a:t>24,533</a:t>
                      </a:r>
                    </a:p>
                  </a:txBody>
                  <a:tcPr>
                    <a:solidFill>
                      <a:srgbClr val="FFFFFF"/>
                    </a:solidFill>
                  </a:tcPr>
                </a:tc>
                <a:tc>
                  <a:txBody>
                    <a:bodyPr/>
                    <a:lstStyle/>
                    <a:p>
                      <a:pPr algn="ctr">
                        <a:defRPr sz="1000">
                          <a:latin typeface="Montserrat"/>
                        </a:defRPr>
                      </a:pPr>
                      <a:r>
                        <a:t>33,848</a:t>
                      </a:r>
                    </a:p>
                  </a:txBody>
                  <a:tcPr>
                    <a:solidFill>
                      <a:srgbClr val="ECD3D9"/>
                    </a:solidFill>
                  </a:tcPr>
                </a:tc>
                <a:tc>
                  <a:txBody>
                    <a:bodyPr/>
                    <a:lstStyle/>
                    <a:p>
                      <a:pPr algn="ctr">
                        <a:defRPr sz="1000">
                          <a:latin typeface="Montserrat"/>
                        </a:defRPr>
                      </a:pPr>
                      <a:r>
                        <a:t>85,410</a:t>
                      </a:r>
                    </a:p>
                  </a:txBody>
                  <a:tcPr>
                    <a:solidFill>
                      <a:srgbClr val="ECD3D9"/>
                    </a:solidFill>
                  </a:tcPr>
                </a:tc>
                <a:tc>
                  <a:txBody>
                    <a:bodyPr/>
                    <a:lstStyle/>
                    <a:p>
                      <a:pPr algn="ctr">
                        <a:defRPr sz="1000">
                          <a:latin typeface="Montserrat"/>
                        </a:defRPr>
                      </a:pPr>
                      <a:r>
                        <a:t>39.6%</a:t>
                      </a:r>
                    </a:p>
                  </a:txBody>
                  <a:tcPr>
                    <a:solidFill>
                      <a:srgbClr val="ECD3D9"/>
                    </a:solidFill>
                  </a:tcPr>
                </a:tc>
              </a:tr>
              <a:tr h="284400">
                <a:tc>
                  <a:txBody>
                    <a:bodyPr/>
                    <a:lstStyle/>
                    <a:p>
                      <a:pPr algn="l">
                        <a:defRPr sz="1000">
                          <a:latin typeface="Montserrat"/>
                        </a:defRPr>
                      </a:pPr>
                      <a:r>
                        <a:t>HGR 270 Reynosa</a:t>
                      </a:r>
                    </a:p>
                  </a:txBody>
                  <a:tcPr>
                    <a:solidFill>
                      <a:srgbClr val="EFEFEF"/>
                    </a:solidFill>
                  </a:tcPr>
                </a:tc>
                <a:tc>
                  <a:txBody>
                    <a:bodyPr/>
                    <a:lstStyle/>
                    <a:p>
                      <a:pPr algn="ctr">
                        <a:defRPr sz="1000">
                          <a:latin typeface="Montserrat"/>
                        </a:defRPr>
                      </a:pPr>
                      <a:r>
                        <a:t>117,467</a:t>
                      </a:r>
                    </a:p>
                  </a:txBody>
                  <a:tcPr>
                    <a:solidFill>
                      <a:srgbClr val="EFEFEF"/>
                    </a:solidFill>
                  </a:tcPr>
                </a:tc>
                <a:tc>
                  <a:txBody>
                    <a:bodyPr/>
                    <a:lstStyle/>
                    <a:p>
                      <a:pPr algn="ctr">
                        <a:defRPr sz="1000">
                          <a:latin typeface="Montserrat"/>
                        </a:defRPr>
                      </a:pPr>
                      <a:r>
                        <a:t>54,681</a:t>
                      </a:r>
                    </a:p>
                  </a:txBody>
                  <a:tcPr>
                    <a:solidFill>
                      <a:srgbClr val="EFEFEF"/>
                    </a:solidFill>
                  </a:tcPr>
                </a:tc>
                <a:tc>
                  <a:txBody>
                    <a:bodyPr/>
                    <a:lstStyle/>
                    <a:p>
                      <a:pPr algn="ctr">
                        <a:defRPr sz="1000">
                          <a:latin typeface="Montserrat"/>
                        </a:defRPr>
                      </a:pPr>
                      <a:r>
                        <a:t>59,779</a:t>
                      </a:r>
                    </a:p>
                  </a:txBody>
                  <a:tcPr>
                    <a:solidFill>
                      <a:srgbClr val="ECD3D9"/>
                    </a:solidFill>
                  </a:tcPr>
                </a:tc>
                <a:tc>
                  <a:txBody>
                    <a:bodyPr/>
                    <a:lstStyle/>
                    <a:p>
                      <a:pPr algn="ctr">
                        <a:defRPr sz="1000">
                          <a:latin typeface="Montserrat"/>
                        </a:defRPr>
                      </a:pPr>
                      <a:r>
                        <a:t>157,680</a:t>
                      </a:r>
                    </a:p>
                  </a:txBody>
                  <a:tcPr>
                    <a:solidFill>
                      <a:srgbClr val="ECD3D9"/>
                    </a:solidFill>
                  </a:tcPr>
                </a:tc>
                <a:tc>
                  <a:txBody>
                    <a:bodyPr/>
                    <a:lstStyle/>
                    <a:p>
                      <a:pPr algn="ctr">
                        <a:defRPr sz="1000">
                          <a:latin typeface="Montserrat"/>
                        </a:defRPr>
                      </a:pPr>
                      <a:r>
                        <a:t>37.9%</a:t>
                      </a:r>
                    </a:p>
                  </a:txBody>
                  <a:tcPr>
                    <a:solidFill>
                      <a:srgbClr val="ECD3D9"/>
                    </a:solidFill>
                  </a:tcPr>
                </a:tc>
              </a:tr>
              <a:tr h="284400">
                <a:tc>
                  <a:txBody>
                    <a:bodyPr/>
                    <a:lstStyle/>
                    <a:p>
                      <a:pPr algn="l">
                        <a:defRPr sz="1000">
                          <a:latin typeface="Montserrat"/>
                        </a:defRPr>
                      </a:pPr>
                      <a:r>
                        <a:t>HGS 17 Miguel Alemán</a:t>
                      </a:r>
                    </a:p>
                  </a:txBody>
                  <a:tcPr>
                    <a:solidFill>
                      <a:srgbClr val="FFFFFF"/>
                    </a:solidFill>
                  </a:tcPr>
                </a:tc>
                <a:tc>
                  <a:txBody>
                    <a:bodyPr/>
                    <a:lstStyle/>
                    <a:p>
                      <a:pPr algn="ctr">
                        <a:defRPr sz="1000">
                          <a:latin typeface="Montserrat"/>
                        </a:defRPr>
                      </a:pPr>
                      <a:r>
                        <a:t>2,467</a:t>
                      </a:r>
                    </a:p>
                  </a:txBody>
                  <a:tcPr>
                    <a:solidFill>
                      <a:srgbClr val="FFFFFF"/>
                    </a:solidFill>
                  </a:tcPr>
                </a:tc>
                <a:tc>
                  <a:txBody>
                    <a:bodyPr/>
                    <a:lstStyle/>
                    <a:p>
                      <a:pPr algn="ctr">
                        <a:defRPr sz="1000">
                          <a:latin typeface="Montserrat"/>
                        </a:defRPr>
                      </a:pPr>
                      <a:r>
                        <a:t>1,431</a:t>
                      </a:r>
                    </a:p>
                  </a:txBody>
                  <a:tcPr>
                    <a:solidFill>
                      <a:srgbClr val="FFFFFF"/>
                    </a:solidFill>
                  </a:tcPr>
                </a:tc>
                <a:tc>
                  <a:txBody>
                    <a:bodyPr/>
                    <a:lstStyle/>
                    <a:p>
                      <a:pPr algn="ctr">
                        <a:defRPr sz="1000">
                          <a:latin typeface="Montserrat"/>
                        </a:defRPr>
                      </a:pPr>
                      <a:r>
                        <a:t>1,378</a:t>
                      </a:r>
                    </a:p>
                  </a:txBody>
                  <a:tcPr>
                    <a:solidFill>
                      <a:srgbClr val="ECD3D9"/>
                    </a:solidFill>
                  </a:tcPr>
                </a:tc>
                <a:tc>
                  <a:txBody>
                    <a:bodyPr/>
                    <a:lstStyle/>
                    <a:p>
                      <a:pPr algn="ctr">
                        <a:defRPr sz="1000">
                          <a:latin typeface="Montserrat"/>
                        </a:defRPr>
                      </a:pPr>
                      <a:r>
                        <a:t>35,040</a:t>
                      </a:r>
                    </a:p>
                  </a:txBody>
                  <a:tcPr>
                    <a:solidFill>
                      <a:srgbClr val="ECD3D9"/>
                    </a:solidFill>
                  </a:tcPr>
                </a:tc>
                <a:tc>
                  <a:txBody>
                    <a:bodyPr/>
                    <a:lstStyle/>
                    <a:p>
                      <a:pPr algn="ctr">
                        <a:defRPr sz="1000">
                          <a:latin typeface="Montserrat"/>
                        </a:defRPr>
                      </a:pPr>
                      <a:r>
                        <a:t>3.9%</a:t>
                      </a:r>
                    </a:p>
                  </a:txBody>
                  <a:tcPr>
                    <a:solidFill>
                      <a:srgbClr val="ECD3D9"/>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691,555</a:t>
                      </a:r>
                    </a:p>
                  </a:txBody>
                  <a:tcPr>
                    <a:solidFill>
                      <a:srgbClr val="D3E9E7"/>
                    </a:solidFill>
                  </a:tcPr>
                </a:tc>
                <a:tc>
                  <a:txBody>
                    <a:bodyPr/>
                    <a:lstStyle/>
                    <a:p>
                      <a:pPr algn="ctr">
                        <a:defRPr sz="1000" b="1">
                          <a:solidFill>
                            <a:srgbClr val="006556"/>
                          </a:solidFill>
                          <a:latin typeface="Montserrat"/>
                        </a:defRPr>
                      </a:pPr>
                      <a:r>
                        <a:t>266,907</a:t>
                      </a:r>
                    </a:p>
                  </a:txBody>
                  <a:tcPr>
                    <a:solidFill>
                      <a:srgbClr val="D3E9E7"/>
                    </a:solidFill>
                  </a:tcPr>
                </a:tc>
                <a:tc>
                  <a:txBody>
                    <a:bodyPr/>
                    <a:lstStyle/>
                    <a:p>
                      <a:pPr algn="ctr">
                        <a:defRPr sz="1000" b="1">
                          <a:solidFill>
                            <a:srgbClr val="FFFFFF"/>
                          </a:solidFill>
                          <a:latin typeface="Montserrat"/>
                        </a:defRPr>
                      </a:pPr>
                      <a:r>
                        <a:t>327,420</a:t>
                      </a:r>
                    </a:p>
                  </a:txBody>
                  <a:tcPr>
                    <a:solidFill>
                      <a:srgbClr val="9F2241"/>
                    </a:solidFill>
                  </a:tcPr>
                </a:tc>
                <a:tc>
                  <a:txBody>
                    <a:bodyPr/>
                    <a:lstStyle/>
                    <a:p>
                      <a:pPr algn="ctr">
                        <a:defRPr sz="1000" b="1">
                          <a:solidFill>
                            <a:srgbClr val="FFFFFF"/>
                          </a:solidFill>
                          <a:latin typeface="Montserrat"/>
                        </a:defRPr>
                      </a:pPr>
                      <a:r>
                        <a:t>792,415</a:t>
                      </a:r>
                    </a:p>
                  </a:txBody>
                  <a:tcPr>
                    <a:solidFill>
                      <a:srgbClr val="9F2241"/>
                    </a:solidFill>
                  </a:tcPr>
                </a:tc>
                <a:tc>
                  <a:txBody>
                    <a:bodyPr/>
                    <a:lstStyle/>
                    <a:p>
                      <a:pPr algn="ctr">
                        <a:defRPr sz="1000" b="1">
                          <a:solidFill>
                            <a:srgbClr val="FFFFFF"/>
                          </a:solidFill>
                          <a:latin typeface="Montserrat"/>
                        </a:defRPr>
                      </a:pPr>
                      <a:r>
                        <a:t>41.3%</a:t>
                      </a:r>
                    </a:p>
                  </a:txBody>
                  <a:tcPr>
                    <a:solidFill>
                      <a:srgbClr val="9F2241"/>
                    </a:solidFill>
                  </a:tcPr>
                </a:tc>
              </a:tr>
            </a:tbl>
          </a:graphicData>
        </a:graphic>
      </p:graphicFrame>
      <p:graphicFrame>
        <p:nvGraphicFramePr>
          <p:cNvPr id="237" name="Chart 236"/>
          <p:cNvGraphicFramePr>
            <a:graphicFrameLocks noGrp="1"/>
          </p:cNvGraphicFramePr>
          <p:nvPr/>
        </p:nvGraphicFramePr>
        <p:xfrm>
          <a:off x="4780800" y="4806000"/>
          <a:ext cx="1800000" cy="1800000"/>
        </p:xfrm>
        <a:graphic>
          <a:graphicData uri="http://schemas.openxmlformats.org/drawingml/2006/chart">
            <c:chart xmlns:c="http://schemas.openxmlformats.org/drawingml/2006/chart" r:id="rId4"/>
          </a:graphicData>
        </a:graphic>
      </p:graphicFrame>
      <p:sp>
        <p:nvSpPr>
          <p:cNvPr id="238" name="TextBox 237"/>
          <p:cNvSpPr txBox="1"/>
          <p:nvPr/>
        </p:nvSpPr>
        <p:spPr>
          <a:xfrm>
            <a:off x="4780800" y="5526000"/>
            <a:ext cx="1800000" cy="360000"/>
          </a:xfrm>
          <a:prstGeom prst="rect">
            <a:avLst/>
          </a:prstGeom>
          <a:noFill/>
        </p:spPr>
        <p:txBody>
          <a:bodyPr wrap="none">
            <a:spAutoFit/>
          </a:bodyPr>
          <a:lstStyle/>
          <a:p>
            <a:pPr algn="ctr"/>
            <a:r>
              <a:rPr sz="2400" b="1">
                <a:solidFill>
                  <a:srgbClr val="9F2241"/>
                </a:solidFill>
                <a:latin typeface="Montserrat"/>
              </a:rPr>
              <a:t>41.3%</a:t>
            </a:r>
          </a:p>
        </p:txBody>
      </p:sp>
      <p:sp>
        <p:nvSpPr>
          <p:cNvPr id="239" name="TextBox 238"/>
          <p:cNvSpPr txBox="1"/>
          <p:nvPr/>
        </p:nvSpPr>
        <p:spPr>
          <a:xfrm>
            <a:off x="4780800" y="64260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40" name="TextBox 239"/>
          <p:cNvSpPr txBox="1"/>
          <p:nvPr/>
        </p:nvSpPr>
        <p:spPr>
          <a:xfrm>
            <a:off x="730799" y="4806000"/>
            <a:ext cx="2854800" cy="1198800"/>
          </a:xfrm>
          <a:prstGeom prst="rect">
            <a:avLst/>
          </a:prstGeom>
          <a:noFill/>
        </p:spPr>
        <p:txBody>
          <a:bodyPr wrap="square">
            <a:spAutoFit/>
          </a:bodyPr>
          <a:lstStyle/>
          <a:p>
            <a:pPr algn="ctr">
              <a:defRPr sz="3600" b="1">
                <a:solidFill>
                  <a:srgbClr val="9F2241"/>
                </a:solidFill>
                <a:latin typeface="Montserrat"/>
              </a:defRPr>
            </a:pPr>
            <a:r>
              <a:t>792,415 </a:t>
            </a:r>
            <a:br/>
            <a:r>
              <a:t>Meta 2026</a:t>
            </a:r>
          </a:p>
        </p:txBody>
      </p:sp>
    </p:spTree>
    <p:extLst>
      <p:ext uri="{BB962C8B-B14F-4D97-AF65-F5344CB8AC3E}">
        <p14:creationId xmlns:p14="http://schemas.microsoft.com/office/powerpoint/2010/main" val="54071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graphicFrame>
        <p:nvGraphicFramePr>
          <p:cNvPr id="230" name="Google Shape;230;g370e87ffe7a_2_137"/>
          <p:cNvGraphicFramePr/>
          <p:nvPr>
            <p:extLst>
              <p:ext uri="{D42A27DB-BD31-4B8C-83A1-F6EECF244321}">
                <p14:modId xmlns:p14="http://schemas.microsoft.com/office/powerpoint/2010/main" val="1049851215"/>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Cirugías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232" name="TextBox 231"/>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las cirugías realizadas en HR.</a:t>
            </a:r>
            <a:br/>
            <a:r>
              <a:t>Sólo se consideran cirugías principales.</a:t>
            </a:r>
            <a:br/>
            <a:r>
              <a:t>Corte de información: Semana: 22, 24 mayo 2026</a:t>
            </a:r>
          </a:p>
        </p:txBody>
      </p:sp>
      <p:graphicFrame>
        <p:nvGraphicFramePr>
          <p:cNvPr id="233" name="Table 232"/>
          <p:cNvGraphicFramePr>
            <a:graphicFrameLocks noGrp="1"/>
          </p:cNvGraphicFramePr>
          <p:nvPr/>
        </p:nvGraphicFramePr>
        <p:xfrm>
          <a:off x="144000" y="1137600"/>
          <a:ext cx="7340399" cy="2559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HGZ 3 Mante</a:t>
                      </a:r>
                    </a:p>
                  </a:txBody>
                  <a:tcPr>
                    <a:solidFill>
                      <a:srgbClr val="FFFFFF"/>
                    </a:solidFill>
                  </a:tcPr>
                </a:tc>
                <a:tc>
                  <a:txBody>
                    <a:bodyPr/>
                    <a:lstStyle/>
                    <a:p>
                      <a:pPr algn="ctr">
                        <a:defRPr sz="1000">
                          <a:latin typeface="Montserrat"/>
                        </a:defRPr>
                      </a:pPr>
                      <a:r>
                        <a:t>4,641</a:t>
                      </a:r>
                    </a:p>
                  </a:txBody>
                  <a:tcPr>
                    <a:solidFill>
                      <a:srgbClr val="FFFFFF"/>
                    </a:solidFill>
                  </a:tcPr>
                </a:tc>
                <a:tc>
                  <a:txBody>
                    <a:bodyPr/>
                    <a:lstStyle/>
                    <a:p>
                      <a:pPr algn="ctr">
                        <a:defRPr sz="1000">
                          <a:latin typeface="Montserrat"/>
                        </a:defRPr>
                      </a:pPr>
                      <a:r>
                        <a:t>1,843</a:t>
                      </a:r>
                    </a:p>
                  </a:txBody>
                  <a:tcPr>
                    <a:solidFill>
                      <a:srgbClr val="FFFFFF"/>
                    </a:solidFill>
                  </a:tcPr>
                </a:tc>
                <a:tc>
                  <a:txBody>
                    <a:bodyPr/>
                    <a:lstStyle/>
                    <a:p>
                      <a:pPr algn="ctr">
                        <a:defRPr sz="1000">
                          <a:latin typeface="Montserrat"/>
                        </a:defRPr>
                      </a:pPr>
                      <a:r>
                        <a:t>2,902</a:t>
                      </a:r>
                    </a:p>
                  </a:txBody>
                  <a:tcPr>
                    <a:solidFill>
                      <a:srgbClr val="ECD3D9"/>
                    </a:solidFill>
                  </a:tcPr>
                </a:tc>
                <a:tc>
                  <a:txBody>
                    <a:bodyPr/>
                    <a:lstStyle/>
                    <a:p>
                      <a:pPr algn="ctr">
                        <a:defRPr sz="1000">
                          <a:latin typeface="Montserrat"/>
                        </a:defRPr>
                      </a:pPr>
                      <a:r>
                        <a:t>5,856</a:t>
                      </a:r>
                    </a:p>
                  </a:txBody>
                  <a:tcPr>
                    <a:solidFill>
                      <a:srgbClr val="ECD3D9"/>
                    </a:solidFill>
                  </a:tcPr>
                </a:tc>
                <a:tc>
                  <a:txBody>
                    <a:bodyPr/>
                    <a:lstStyle/>
                    <a:p>
                      <a:pPr algn="ctr">
                        <a:defRPr sz="1000">
                          <a:latin typeface="Montserrat"/>
                        </a:defRPr>
                      </a:pPr>
                      <a:r>
                        <a:t>49.6%</a:t>
                      </a:r>
                    </a:p>
                  </a:txBody>
                  <a:tcPr>
                    <a:solidFill>
                      <a:srgbClr val="ECD3D9"/>
                    </a:solidFill>
                  </a:tcPr>
                </a:tc>
              </a:tr>
              <a:tr h="284400">
                <a:tc>
                  <a:txBody>
                    <a:bodyPr/>
                    <a:lstStyle/>
                    <a:p>
                      <a:pPr algn="l">
                        <a:defRPr sz="1000">
                          <a:latin typeface="Montserrat"/>
                        </a:defRPr>
                      </a:pPr>
                      <a:r>
                        <a:t>HGR 270 Reynosa</a:t>
                      </a:r>
                    </a:p>
                  </a:txBody>
                  <a:tcPr>
                    <a:solidFill>
                      <a:srgbClr val="EFEFEF"/>
                    </a:solidFill>
                  </a:tcPr>
                </a:tc>
                <a:tc>
                  <a:txBody>
                    <a:bodyPr/>
                    <a:lstStyle/>
                    <a:p>
                      <a:pPr algn="ctr">
                        <a:defRPr sz="1000">
                          <a:latin typeface="Montserrat"/>
                        </a:defRPr>
                      </a:pPr>
                      <a:r>
                        <a:t>7,558</a:t>
                      </a:r>
                    </a:p>
                  </a:txBody>
                  <a:tcPr>
                    <a:solidFill>
                      <a:srgbClr val="EFEFEF"/>
                    </a:solidFill>
                  </a:tcPr>
                </a:tc>
                <a:tc>
                  <a:txBody>
                    <a:bodyPr/>
                    <a:lstStyle/>
                    <a:p>
                      <a:pPr algn="ctr">
                        <a:defRPr sz="1000">
                          <a:latin typeface="Montserrat"/>
                        </a:defRPr>
                      </a:pPr>
                      <a:r>
                        <a:t>3,337</a:t>
                      </a:r>
                    </a:p>
                  </a:txBody>
                  <a:tcPr>
                    <a:solidFill>
                      <a:srgbClr val="EFEFEF"/>
                    </a:solidFill>
                  </a:tcPr>
                </a:tc>
                <a:tc>
                  <a:txBody>
                    <a:bodyPr/>
                    <a:lstStyle/>
                    <a:p>
                      <a:pPr algn="ctr">
                        <a:defRPr sz="1000">
                          <a:latin typeface="Montserrat"/>
                        </a:defRPr>
                      </a:pPr>
                      <a:r>
                        <a:t>4,227</a:t>
                      </a:r>
                    </a:p>
                  </a:txBody>
                  <a:tcPr>
                    <a:solidFill>
                      <a:srgbClr val="ECD3D9"/>
                    </a:solidFill>
                  </a:tcPr>
                </a:tc>
                <a:tc>
                  <a:txBody>
                    <a:bodyPr/>
                    <a:lstStyle/>
                    <a:p>
                      <a:pPr algn="ctr">
                        <a:defRPr sz="1000">
                          <a:latin typeface="Montserrat"/>
                        </a:defRPr>
                      </a:pPr>
                      <a:r>
                        <a:t>10,248</a:t>
                      </a:r>
                    </a:p>
                  </a:txBody>
                  <a:tcPr>
                    <a:solidFill>
                      <a:srgbClr val="ECD3D9"/>
                    </a:solidFill>
                  </a:tcPr>
                </a:tc>
                <a:tc>
                  <a:txBody>
                    <a:bodyPr/>
                    <a:lstStyle/>
                    <a:p>
                      <a:pPr algn="ctr">
                        <a:defRPr sz="1000">
                          <a:latin typeface="Montserrat"/>
                        </a:defRPr>
                      </a:pPr>
                      <a:r>
                        <a:t>41.2%</a:t>
                      </a:r>
                    </a:p>
                  </a:txBody>
                  <a:tcPr>
                    <a:solidFill>
                      <a:srgbClr val="ECD3D9"/>
                    </a:solidFill>
                  </a:tcPr>
                </a:tc>
              </a:tr>
              <a:tr h="284400">
                <a:tc>
                  <a:txBody>
                    <a:bodyPr/>
                    <a:lstStyle/>
                    <a:p>
                      <a:pPr algn="l">
                        <a:defRPr sz="1000">
                          <a:latin typeface="Montserrat"/>
                        </a:defRPr>
                      </a:pPr>
                      <a:r>
                        <a:t>HGZ 13 Matamoros</a:t>
                      </a:r>
                    </a:p>
                  </a:txBody>
                  <a:tcPr>
                    <a:solidFill>
                      <a:srgbClr val="FFFFFF"/>
                    </a:solidFill>
                  </a:tcPr>
                </a:tc>
                <a:tc>
                  <a:txBody>
                    <a:bodyPr/>
                    <a:lstStyle/>
                    <a:p>
                      <a:pPr algn="ctr">
                        <a:defRPr sz="1000">
                          <a:latin typeface="Montserrat"/>
                        </a:defRPr>
                      </a:pPr>
                      <a:r>
                        <a:t>5,327</a:t>
                      </a:r>
                    </a:p>
                  </a:txBody>
                  <a:tcPr>
                    <a:solidFill>
                      <a:srgbClr val="FFFFFF"/>
                    </a:solidFill>
                  </a:tcPr>
                </a:tc>
                <a:tc>
                  <a:txBody>
                    <a:bodyPr/>
                    <a:lstStyle/>
                    <a:p>
                      <a:pPr algn="ctr">
                        <a:defRPr sz="1000">
                          <a:latin typeface="Montserrat"/>
                        </a:defRPr>
                      </a:pPr>
                      <a:r>
                        <a:t>1,055</a:t>
                      </a:r>
                    </a:p>
                  </a:txBody>
                  <a:tcPr>
                    <a:solidFill>
                      <a:srgbClr val="FFFFFF"/>
                    </a:solidFill>
                  </a:tcPr>
                </a:tc>
                <a:tc>
                  <a:txBody>
                    <a:bodyPr/>
                    <a:lstStyle/>
                    <a:p>
                      <a:pPr algn="ctr">
                        <a:defRPr sz="1000">
                          <a:latin typeface="Montserrat"/>
                        </a:defRPr>
                      </a:pPr>
                      <a:r>
                        <a:t>2,695</a:t>
                      </a:r>
                    </a:p>
                  </a:txBody>
                  <a:tcPr>
                    <a:solidFill>
                      <a:srgbClr val="ECD3D9"/>
                    </a:solidFill>
                  </a:tcPr>
                </a:tc>
                <a:tc>
                  <a:txBody>
                    <a:bodyPr/>
                    <a:lstStyle/>
                    <a:p>
                      <a:pPr algn="ctr">
                        <a:defRPr sz="1000">
                          <a:latin typeface="Montserrat"/>
                        </a:defRPr>
                      </a:pPr>
                      <a:r>
                        <a:t>6,795</a:t>
                      </a:r>
                    </a:p>
                  </a:txBody>
                  <a:tcPr>
                    <a:solidFill>
                      <a:srgbClr val="ECD3D9"/>
                    </a:solidFill>
                  </a:tcPr>
                </a:tc>
                <a:tc>
                  <a:txBody>
                    <a:bodyPr/>
                    <a:lstStyle/>
                    <a:p>
                      <a:pPr algn="ctr">
                        <a:defRPr sz="1000">
                          <a:latin typeface="Montserrat"/>
                        </a:defRPr>
                      </a:pPr>
                      <a:r>
                        <a:t>39.7%</a:t>
                      </a:r>
                    </a:p>
                  </a:txBody>
                  <a:tcPr>
                    <a:solidFill>
                      <a:srgbClr val="ECD3D9"/>
                    </a:solidFill>
                  </a:tcPr>
                </a:tc>
              </a:tr>
              <a:tr h="284400">
                <a:tc>
                  <a:txBody>
                    <a:bodyPr/>
                    <a:lstStyle/>
                    <a:p>
                      <a:pPr algn="l">
                        <a:defRPr sz="1000">
                          <a:latin typeface="Montserrat"/>
                        </a:defRPr>
                      </a:pPr>
                      <a:r>
                        <a:t>HGR 6 Ciudad Madero.</a:t>
                      </a:r>
                    </a:p>
                  </a:txBody>
                  <a:tcPr>
                    <a:solidFill>
                      <a:srgbClr val="EFEFEF"/>
                    </a:solidFill>
                  </a:tcPr>
                </a:tc>
                <a:tc>
                  <a:txBody>
                    <a:bodyPr/>
                    <a:lstStyle/>
                    <a:p>
                      <a:pPr algn="ctr">
                        <a:defRPr sz="1000">
                          <a:latin typeface="Montserrat"/>
                        </a:defRPr>
                      </a:pPr>
                      <a:r>
                        <a:t>11,691</a:t>
                      </a:r>
                    </a:p>
                  </a:txBody>
                  <a:tcPr>
                    <a:solidFill>
                      <a:srgbClr val="EFEFEF"/>
                    </a:solidFill>
                  </a:tcPr>
                </a:tc>
                <a:tc>
                  <a:txBody>
                    <a:bodyPr/>
                    <a:lstStyle/>
                    <a:p>
                      <a:pPr algn="ctr">
                        <a:defRPr sz="1000">
                          <a:latin typeface="Montserrat"/>
                        </a:defRPr>
                      </a:pPr>
                      <a:r>
                        <a:t>2,071</a:t>
                      </a:r>
                    </a:p>
                  </a:txBody>
                  <a:tcPr>
                    <a:solidFill>
                      <a:srgbClr val="EFEFEF"/>
                    </a:solidFill>
                  </a:tcPr>
                </a:tc>
                <a:tc>
                  <a:txBody>
                    <a:bodyPr/>
                    <a:lstStyle/>
                    <a:p>
                      <a:pPr algn="ctr">
                        <a:defRPr sz="1000">
                          <a:latin typeface="Montserrat"/>
                        </a:defRPr>
                      </a:pPr>
                      <a:r>
                        <a:t>5,238</a:t>
                      </a:r>
                    </a:p>
                  </a:txBody>
                  <a:tcPr>
                    <a:solidFill>
                      <a:srgbClr val="ECD3D9"/>
                    </a:solidFill>
                  </a:tcPr>
                </a:tc>
                <a:tc>
                  <a:txBody>
                    <a:bodyPr/>
                    <a:lstStyle/>
                    <a:p>
                      <a:pPr algn="ctr">
                        <a:defRPr sz="1000">
                          <a:latin typeface="Montserrat"/>
                        </a:defRPr>
                      </a:pPr>
                      <a:r>
                        <a:t>14,165</a:t>
                      </a:r>
                    </a:p>
                  </a:txBody>
                  <a:tcPr>
                    <a:solidFill>
                      <a:srgbClr val="ECD3D9"/>
                    </a:solidFill>
                  </a:tcPr>
                </a:tc>
                <a:tc>
                  <a:txBody>
                    <a:bodyPr/>
                    <a:lstStyle/>
                    <a:p>
                      <a:pPr algn="ctr">
                        <a:defRPr sz="1000">
                          <a:latin typeface="Montserrat"/>
                        </a:defRPr>
                      </a:pPr>
                      <a:r>
                        <a:t>37.0%</a:t>
                      </a:r>
                    </a:p>
                  </a:txBody>
                  <a:tcPr>
                    <a:solidFill>
                      <a:srgbClr val="ECD3D9"/>
                    </a:solidFill>
                  </a:tcPr>
                </a:tc>
              </a:tr>
              <a:tr h="284400">
                <a:tc>
                  <a:txBody>
                    <a:bodyPr/>
                    <a:lstStyle/>
                    <a:p>
                      <a:pPr algn="l">
                        <a:defRPr sz="1000">
                          <a:latin typeface="Montserrat"/>
                        </a:defRPr>
                      </a:pPr>
                      <a:r>
                        <a:t>HGZMF 1 Ciudad Victoria</a:t>
                      </a:r>
                    </a:p>
                  </a:txBody>
                  <a:tcPr>
                    <a:solidFill>
                      <a:srgbClr val="FFFFFF"/>
                    </a:solidFill>
                  </a:tcPr>
                </a:tc>
                <a:tc>
                  <a:txBody>
                    <a:bodyPr/>
                    <a:lstStyle/>
                    <a:p>
                      <a:pPr algn="ctr">
                        <a:defRPr sz="1000">
                          <a:latin typeface="Montserrat"/>
                        </a:defRPr>
                      </a:pPr>
                      <a:r>
                        <a:t>3,942</a:t>
                      </a:r>
                    </a:p>
                  </a:txBody>
                  <a:tcPr>
                    <a:solidFill>
                      <a:srgbClr val="FFFFFF"/>
                    </a:solidFill>
                  </a:tcPr>
                </a:tc>
                <a:tc>
                  <a:txBody>
                    <a:bodyPr/>
                    <a:lstStyle/>
                    <a:p>
                      <a:pPr algn="ctr">
                        <a:defRPr sz="1000">
                          <a:latin typeface="Montserrat"/>
                        </a:defRPr>
                      </a:pPr>
                      <a:r>
                        <a:t>858</a:t>
                      </a:r>
                    </a:p>
                  </a:txBody>
                  <a:tcPr>
                    <a:solidFill>
                      <a:srgbClr val="FFFFFF"/>
                    </a:solidFill>
                  </a:tcPr>
                </a:tc>
                <a:tc>
                  <a:txBody>
                    <a:bodyPr/>
                    <a:lstStyle/>
                    <a:p>
                      <a:pPr algn="ctr">
                        <a:defRPr sz="1000">
                          <a:latin typeface="Montserrat"/>
                        </a:defRPr>
                      </a:pPr>
                      <a:r>
                        <a:t>1,919</a:t>
                      </a:r>
                    </a:p>
                  </a:txBody>
                  <a:tcPr>
                    <a:solidFill>
                      <a:srgbClr val="ECD3D9"/>
                    </a:solidFill>
                  </a:tcPr>
                </a:tc>
                <a:tc>
                  <a:txBody>
                    <a:bodyPr/>
                    <a:lstStyle/>
                    <a:p>
                      <a:pPr algn="ctr">
                        <a:defRPr sz="1000">
                          <a:latin typeface="Montserrat"/>
                        </a:defRPr>
                      </a:pPr>
                      <a:r>
                        <a:t>5,436</a:t>
                      </a:r>
                    </a:p>
                  </a:txBody>
                  <a:tcPr>
                    <a:solidFill>
                      <a:srgbClr val="ECD3D9"/>
                    </a:solidFill>
                  </a:tcPr>
                </a:tc>
                <a:tc>
                  <a:txBody>
                    <a:bodyPr/>
                    <a:lstStyle/>
                    <a:p>
                      <a:pPr algn="ctr">
                        <a:defRPr sz="1000">
                          <a:latin typeface="Montserrat"/>
                        </a:defRPr>
                      </a:pPr>
                      <a:r>
                        <a:t>35.3%</a:t>
                      </a:r>
                    </a:p>
                  </a:txBody>
                  <a:tcPr>
                    <a:solidFill>
                      <a:srgbClr val="ECD3D9"/>
                    </a:solidFill>
                  </a:tcPr>
                </a:tc>
              </a:tr>
              <a:tr h="284400">
                <a:tc>
                  <a:txBody>
                    <a:bodyPr/>
                    <a:lstStyle/>
                    <a:p>
                      <a:pPr algn="l">
                        <a:defRPr sz="1000">
                          <a:latin typeface="Montserrat"/>
                        </a:defRPr>
                      </a:pPr>
                      <a:r>
                        <a:t>HGZ 11 Nuevo Laredo</a:t>
                      </a:r>
                    </a:p>
                  </a:txBody>
                  <a:tcPr>
                    <a:solidFill>
                      <a:srgbClr val="EFEFEF"/>
                    </a:solidFill>
                  </a:tcPr>
                </a:tc>
                <a:tc>
                  <a:txBody>
                    <a:bodyPr/>
                    <a:lstStyle/>
                    <a:p>
                      <a:pPr algn="ctr">
                        <a:defRPr sz="1000">
                          <a:latin typeface="Montserrat"/>
                        </a:defRPr>
                      </a:pPr>
                      <a:r>
                        <a:t>4,695</a:t>
                      </a:r>
                    </a:p>
                  </a:txBody>
                  <a:tcPr>
                    <a:solidFill>
                      <a:srgbClr val="EFEFEF"/>
                    </a:solidFill>
                  </a:tcPr>
                </a:tc>
                <a:tc>
                  <a:txBody>
                    <a:bodyPr/>
                    <a:lstStyle/>
                    <a:p>
                      <a:pPr algn="ctr">
                        <a:defRPr sz="1000">
                          <a:latin typeface="Montserrat"/>
                        </a:defRPr>
                      </a:pPr>
                      <a:r>
                        <a:t>1,011</a:t>
                      </a:r>
                    </a:p>
                  </a:txBody>
                  <a:tcPr>
                    <a:solidFill>
                      <a:srgbClr val="EFEFEF"/>
                    </a:solidFill>
                  </a:tcPr>
                </a:tc>
                <a:tc>
                  <a:txBody>
                    <a:bodyPr/>
                    <a:lstStyle/>
                    <a:p>
                      <a:pPr algn="ctr">
                        <a:defRPr sz="1000">
                          <a:latin typeface="Montserrat"/>
                        </a:defRPr>
                      </a:pPr>
                      <a:r>
                        <a:t>2,207</a:t>
                      </a:r>
                    </a:p>
                  </a:txBody>
                  <a:tcPr>
                    <a:solidFill>
                      <a:srgbClr val="ECD3D9"/>
                    </a:solidFill>
                  </a:tcPr>
                </a:tc>
                <a:tc>
                  <a:txBody>
                    <a:bodyPr/>
                    <a:lstStyle/>
                    <a:p>
                      <a:pPr algn="ctr">
                        <a:defRPr sz="1000">
                          <a:latin typeface="Montserrat"/>
                        </a:defRPr>
                      </a:pPr>
                      <a:r>
                        <a:t>6,795</a:t>
                      </a:r>
                    </a:p>
                  </a:txBody>
                  <a:tcPr>
                    <a:solidFill>
                      <a:srgbClr val="ECD3D9"/>
                    </a:solidFill>
                  </a:tcPr>
                </a:tc>
                <a:tc>
                  <a:txBody>
                    <a:bodyPr/>
                    <a:lstStyle/>
                    <a:p>
                      <a:pPr algn="ctr">
                        <a:defRPr sz="1000">
                          <a:latin typeface="Montserrat"/>
                        </a:defRPr>
                      </a:pPr>
                      <a:r>
                        <a:t>32.5%</a:t>
                      </a:r>
                    </a:p>
                  </a:txBody>
                  <a:tcPr>
                    <a:solidFill>
                      <a:srgbClr val="ECD3D9"/>
                    </a:solidFill>
                  </a:tcPr>
                </a:tc>
              </a:tr>
              <a:tr h="284400">
                <a:tc>
                  <a:txBody>
                    <a:bodyPr/>
                    <a:lstStyle/>
                    <a:p>
                      <a:pPr algn="l">
                        <a:defRPr sz="1000">
                          <a:latin typeface="Montserrat"/>
                        </a:defRPr>
                      </a:pPr>
                      <a:r>
                        <a:t>HGS 17 Miguel Alemán</a:t>
                      </a:r>
                    </a:p>
                  </a:txBody>
                  <a:tcPr>
                    <a:solidFill>
                      <a:srgbClr val="FFFFFF"/>
                    </a:solidFill>
                  </a:tcPr>
                </a:tc>
                <a:tc>
                  <a:txBody>
                    <a:bodyPr/>
                    <a:lstStyle/>
                    <a:p>
                      <a:pPr algn="ctr">
                        <a:defRPr sz="1000">
                          <a:latin typeface="Montserrat"/>
                        </a:defRPr>
                      </a:pPr>
                      <a:r>
                        <a:t>167</a:t>
                      </a:r>
                    </a:p>
                  </a:txBody>
                  <a:tcPr>
                    <a:solidFill>
                      <a:srgbClr val="FFFFFF"/>
                    </a:solidFill>
                  </a:tcPr>
                </a:tc>
                <a:tc>
                  <a:txBody>
                    <a:bodyPr/>
                    <a:lstStyle/>
                    <a:p>
                      <a:pPr algn="ctr">
                        <a:defRPr sz="1000">
                          <a:latin typeface="Montserrat"/>
                        </a:defRPr>
                      </a:pPr>
                      <a:r>
                        <a:t>109</a:t>
                      </a:r>
                    </a:p>
                  </a:txBody>
                  <a:tcPr>
                    <a:solidFill>
                      <a:srgbClr val="FFFFFF"/>
                    </a:solidFill>
                  </a:tcPr>
                </a:tc>
                <a:tc>
                  <a:txBody>
                    <a:bodyPr/>
                    <a:lstStyle/>
                    <a:p>
                      <a:pPr algn="ctr">
                        <a:defRPr sz="1000">
                          <a:latin typeface="Montserrat"/>
                        </a:defRPr>
                      </a:pPr>
                      <a:r>
                        <a:t>117</a:t>
                      </a:r>
                    </a:p>
                  </a:txBody>
                  <a:tcPr>
                    <a:solidFill>
                      <a:srgbClr val="ECD3D9"/>
                    </a:solidFill>
                  </a:tcPr>
                </a:tc>
                <a:tc>
                  <a:txBody>
                    <a:bodyPr/>
                    <a:lstStyle/>
                    <a:p>
                      <a:pPr algn="ctr">
                        <a:defRPr sz="1000">
                          <a:latin typeface="Montserrat"/>
                        </a:defRPr>
                      </a:pPr>
                      <a:r>
                        <a:t>783</a:t>
                      </a:r>
                    </a:p>
                  </a:txBody>
                  <a:tcPr>
                    <a:solidFill>
                      <a:srgbClr val="ECD3D9"/>
                    </a:solidFill>
                  </a:tcPr>
                </a:tc>
                <a:tc>
                  <a:txBody>
                    <a:bodyPr/>
                    <a:lstStyle/>
                    <a:p>
                      <a:pPr algn="ctr">
                        <a:defRPr sz="1000">
                          <a:latin typeface="Montserrat"/>
                        </a:defRPr>
                      </a:pPr>
                      <a:r>
                        <a:t>14.9%</a:t>
                      </a:r>
                    </a:p>
                  </a:txBody>
                  <a:tcPr>
                    <a:solidFill>
                      <a:srgbClr val="ECD3D9"/>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38,021</a:t>
                      </a:r>
                    </a:p>
                  </a:txBody>
                  <a:tcPr>
                    <a:solidFill>
                      <a:srgbClr val="D3E9E7"/>
                    </a:solidFill>
                  </a:tcPr>
                </a:tc>
                <a:tc>
                  <a:txBody>
                    <a:bodyPr/>
                    <a:lstStyle/>
                    <a:p>
                      <a:pPr algn="ctr">
                        <a:defRPr sz="1000" b="1">
                          <a:solidFill>
                            <a:srgbClr val="006556"/>
                          </a:solidFill>
                          <a:latin typeface="Montserrat"/>
                        </a:defRPr>
                      </a:pPr>
                      <a:r>
                        <a:t>10,284</a:t>
                      </a:r>
                    </a:p>
                  </a:txBody>
                  <a:tcPr>
                    <a:solidFill>
                      <a:srgbClr val="D3E9E7"/>
                    </a:solidFill>
                  </a:tcPr>
                </a:tc>
                <a:tc>
                  <a:txBody>
                    <a:bodyPr/>
                    <a:lstStyle/>
                    <a:p>
                      <a:pPr algn="ctr">
                        <a:defRPr sz="1000" b="1">
                          <a:solidFill>
                            <a:srgbClr val="FFFFFF"/>
                          </a:solidFill>
                          <a:latin typeface="Montserrat"/>
                        </a:defRPr>
                      </a:pPr>
                      <a:r>
                        <a:t>19,305</a:t>
                      </a:r>
                    </a:p>
                  </a:txBody>
                  <a:tcPr>
                    <a:solidFill>
                      <a:srgbClr val="9F2241"/>
                    </a:solidFill>
                  </a:tcPr>
                </a:tc>
                <a:tc>
                  <a:txBody>
                    <a:bodyPr/>
                    <a:lstStyle/>
                    <a:p>
                      <a:pPr algn="ctr">
                        <a:defRPr sz="1000" b="1">
                          <a:solidFill>
                            <a:srgbClr val="FFFFFF"/>
                          </a:solidFill>
                          <a:latin typeface="Montserrat"/>
                        </a:defRPr>
                      </a:pPr>
                      <a:r>
                        <a:t>50,078</a:t>
                      </a:r>
                    </a:p>
                  </a:txBody>
                  <a:tcPr>
                    <a:solidFill>
                      <a:srgbClr val="9F2241"/>
                    </a:solidFill>
                  </a:tcPr>
                </a:tc>
                <a:tc>
                  <a:txBody>
                    <a:bodyPr/>
                    <a:lstStyle/>
                    <a:p>
                      <a:pPr algn="ctr">
                        <a:defRPr sz="1000" b="1">
                          <a:solidFill>
                            <a:srgbClr val="FFFFFF"/>
                          </a:solidFill>
                          <a:latin typeface="Montserrat"/>
                        </a:defRPr>
                      </a:pPr>
                      <a:r>
                        <a:t>38.5%</a:t>
                      </a:r>
                    </a:p>
                  </a:txBody>
                  <a:tcPr>
                    <a:solidFill>
                      <a:srgbClr val="9F2241"/>
                    </a:solidFill>
                  </a:tcPr>
                </a:tc>
              </a:tr>
            </a:tbl>
          </a:graphicData>
        </a:graphic>
      </p:graphicFrame>
      <p:graphicFrame>
        <p:nvGraphicFramePr>
          <p:cNvPr id="234" name="Chart 233"/>
          <p:cNvGraphicFramePr>
            <a:graphicFrameLocks noGrp="1"/>
          </p:cNvGraphicFramePr>
          <p:nvPr/>
        </p:nvGraphicFramePr>
        <p:xfrm>
          <a:off x="4780800" y="4449600"/>
          <a:ext cx="1800000" cy="1800000"/>
        </p:xfrm>
        <a:graphic>
          <a:graphicData uri="http://schemas.openxmlformats.org/drawingml/2006/chart">
            <c:chart xmlns:c="http://schemas.openxmlformats.org/drawingml/2006/chart" r:id="rId4"/>
          </a:graphicData>
        </a:graphic>
      </p:graphicFrame>
      <p:sp>
        <p:nvSpPr>
          <p:cNvPr id="235" name="TextBox 234"/>
          <p:cNvSpPr txBox="1"/>
          <p:nvPr/>
        </p:nvSpPr>
        <p:spPr>
          <a:xfrm>
            <a:off x="4780800" y="5169600"/>
            <a:ext cx="1800000" cy="360000"/>
          </a:xfrm>
          <a:prstGeom prst="rect">
            <a:avLst/>
          </a:prstGeom>
          <a:noFill/>
        </p:spPr>
        <p:txBody>
          <a:bodyPr wrap="none">
            <a:spAutoFit/>
          </a:bodyPr>
          <a:lstStyle/>
          <a:p>
            <a:pPr algn="ctr"/>
            <a:r>
              <a:rPr sz="2400" b="1">
                <a:solidFill>
                  <a:srgbClr val="9F2241"/>
                </a:solidFill>
                <a:latin typeface="Montserrat"/>
              </a:rPr>
              <a:t>38.5%</a:t>
            </a:r>
          </a:p>
        </p:txBody>
      </p:sp>
      <p:sp>
        <p:nvSpPr>
          <p:cNvPr id="236" name="TextBox 235"/>
          <p:cNvSpPr txBox="1"/>
          <p:nvPr/>
        </p:nvSpPr>
        <p:spPr>
          <a:xfrm>
            <a:off x="4780800" y="6069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37" name="TextBox 236"/>
          <p:cNvSpPr txBox="1"/>
          <p:nvPr/>
        </p:nvSpPr>
        <p:spPr>
          <a:xfrm>
            <a:off x="730799" y="4449600"/>
            <a:ext cx="2854800" cy="1198800"/>
          </a:xfrm>
          <a:prstGeom prst="rect">
            <a:avLst/>
          </a:prstGeom>
          <a:noFill/>
        </p:spPr>
        <p:txBody>
          <a:bodyPr wrap="square">
            <a:spAutoFit/>
          </a:bodyPr>
          <a:lstStyle/>
          <a:p>
            <a:pPr algn="ctr">
              <a:defRPr sz="3600" b="1">
                <a:solidFill>
                  <a:srgbClr val="9F2241"/>
                </a:solidFill>
                <a:latin typeface="Montserrat"/>
              </a:defRPr>
            </a:pPr>
            <a:r>
              <a:t>50,078 </a:t>
            </a:r>
            <a:br/>
            <a:r>
              <a:t>Meta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299 total especialistas contratados en el draft 2026</a:t>
            </a:r>
          </a:p>
        </p:txBody>
      </p:sp>
      <p:sp>
        <p:nvSpPr>
          <p:cNvPr id="4" name="TextBox 3"/>
          <p:cNvSpPr txBox="1"/>
          <p:nvPr/>
        </p:nvSpPr>
        <p:spPr>
          <a:xfrm>
            <a:off x="0" y="1007999"/>
            <a:ext cx="7772400" cy="360000"/>
          </a:xfrm>
          <a:prstGeom prst="rect">
            <a:avLst/>
          </a:prstGeom>
          <a:noFill/>
        </p:spPr>
        <p:txBody>
          <a:bodyPr wrap="none">
            <a:spAutoFit/>
          </a:bodyPr>
          <a:lstStyle/>
          <a:p>
            <a:pPr algn="ctr">
              <a:defRPr sz="1400" b="0">
                <a:solidFill>
                  <a:srgbClr val="BC955C"/>
                </a:solidFill>
                <a:latin typeface="Montserrat"/>
              </a:defRPr>
            </a:pPr>
            <a:r>
              <a:t>111 en Hospitales, 3 en sede, 26 en UMF y 159 sustitutos</a:t>
            </a:r>
          </a:p>
        </p:txBody>
      </p:sp>
      <p:sp>
        <p:nvSpPr>
          <p:cNvPr id="5" name="TextBox 4"/>
          <p:cNvSpPr txBox="1"/>
          <p:nvPr/>
        </p:nvSpPr>
        <p:spPr>
          <a:xfrm>
            <a:off x="360000" y="1440000"/>
            <a:ext cx="6840000" cy="360000"/>
          </a:xfrm>
          <a:prstGeom prst="rect">
            <a:avLst/>
          </a:prstGeom>
          <a:noFill/>
        </p:spPr>
        <p:txBody>
          <a:bodyPr wrap="none" anchor="ctr">
            <a:spAutoFit/>
          </a:bodyPr>
          <a:lstStyle/>
          <a:p>
            <a:pPr algn="l">
              <a:defRPr sz="2000" b="1">
                <a:solidFill>
                  <a:srgbClr val="BC955C"/>
                </a:solidFill>
                <a:latin typeface="Montserrat"/>
              </a:defRPr>
            </a:pPr>
            <a:r>
              <a:t>111 en Hospitales</a:t>
            </a:r>
          </a:p>
        </p:txBody>
      </p:sp>
      <p:cxnSp>
        <p:nvCxnSpPr>
          <p:cNvPr id="6" name="Connector 5"/>
          <p:cNvCxnSpPr/>
          <p:nvPr/>
        </p:nvCxnSpPr>
        <p:spPr>
          <a:xfrm>
            <a:off x="360000" y="18360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908000"/>
          <a:ext cx="3456000" cy="3671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16">
                  <a:txBody>
                    <a:bodyPr/>
                    <a:lstStyle/>
                    <a:p>
                      <a:pPr algn="ctr">
                        <a:defRPr sz="800" b="1">
                          <a:solidFill>
                            <a:srgbClr val="000000"/>
                          </a:solidFill>
                          <a:latin typeface="Montserrat"/>
                        </a:defRPr>
                      </a:pPr>
                      <a:r>
                        <a:t>Hospital General Regional 270</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Audiología Otoneurología y Foniatría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Endocrinología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Ginecología Oncológica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 Rehabilitación</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Neurología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Servicios de Sangre</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Urología Ginecológica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15">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35</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908000"/>
          <a:ext cx="3456000" cy="237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0">
                  <a:txBody>
                    <a:bodyPr/>
                    <a:lstStyle/>
                    <a:p>
                      <a:pPr algn="ctr">
                        <a:defRPr sz="800" b="1">
                          <a:solidFill>
                            <a:srgbClr val="000000"/>
                          </a:solidFill>
                          <a:latin typeface="Montserrat"/>
                        </a:defRPr>
                      </a:pPr>
                      <a:r>
                        <a:t>Hospital General Regional 6</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Cardiología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Plástica y Reconstructiva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Hemodinamia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Rehabilitación</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63359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General de Subzona 17</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63359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General de Subzona C/MF 7</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spTree>
    <p:extLst>
      <p:ext uri="{BB962C8B-B14F-4D97-AF65-F5344CB8AC3E}">
        <p14:creationId xmlns:p14="http://schemas.microsoft.com/office/powerpoint/2010/main" val="36094734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161584">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161584">
                <a:tc>
                  <a:txBody>
                    <a:bodyPr/>
                    <a:lstStyle/>
                    <a:p>
                      <a:pPr algn="l">
                        <a:defRPr sz="1100" b="0">
                          <a:solidFill>
                            <a:srgbClr val="000000"/>
                          </a:solidFill>
                          <a:latin typeface="Montserrat"/>
                        </a:defRPr>
                      </a:pPr>
                      <a:r>
                        <a:t>Medicina Familiar</a:t>
                      </a:r>
                    </a:p>
                  </a:txBody>
                  <a:tcPr anchor="ctr" marL="45720" marR="45720" marT="45720" marB="45720">
                    <a:solidFill>
                      <a:srgbClr val="FFFFFF"/>
                    </a:solidFill>
                  </a:tcPr>
                </a:tc>
                <a:tc>
                  <a:txBody>
                    <a:bodyPr/>
                    <a:lstStyle/>
                    <a:p>
                      <a:pPr algn="ctr">
                        <a:defRPr sz="1100" b="0">
                          <a:solidFill>
                            <a:srgbClr val="000000"/>
                          </a:solidFill>
                          <a:latin typeface="Montserrat"/>
                        </a:defRPr>
                      </a:pPr>
                      <a:r>
                        <a:t>48</a:t>
                      </a:r>
                    </a:p>
                  </a:txBody>
                  <a:tcPr anchor="ctr" marL="45720" marR="45720" marT="45720" marB="45720">
                    <a:solidFill>
                      <a:srgbClr val="FFFFFF"/>
                    </a:solidFill>
                  </a:tcPr>
                </a:tc>
                <a:tc>
                  <a:txBody>
                    <a:bodyPr/>
                    <a:lstStyle/>
                    <a:p>
                      <a:pPr algn="ctr">
                        <a:defRPr sz="1100" b="1">
                          <a:solidFill>
                            <a:srgbClr val="000000"/>
                          </a:solidFill>
                          <a:latin typeface="Montserrat"/>
                        </a:defRPr>
                      </a:pPr>
                      <a:r>
                        <a:t>16.0%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de Urgencias</a:t>
                      </a:r>
                    </a:p>
                  </a:txBody>
                  <a:tcPr anchor="ctr" marL="45720" marR="45720" marT="45720" marB="45720">
                    <a:solidFill>
                      <a:srgbClr val="D9D9D9"/>
                    </a:solidFill>
                  </a:tcPr>
                </a:tc>
                <a:tc>
                  <a:txBody>
                    <a:bodyPr/>
                    <a:lstStyle/>
                    <a:p>
                      <a:pPr algn="ctr">
                        <a:defRPr sz="1100" b="0">
                          <a:solidFill>
                            <a:srgbClr val="000000"/>
                          </a:solidFill>
                          <a:latin typeface="Montserrat"/>
                        </a:defRPr>
                      </a:pPr>
                      <a:r>
                        <a:t>46</a:t>
                      </a:r>
                    </a:p>
                  </a:txBody>
                  <a:tcPr anchor="ctr" marL="45720" marR="45720" marT="45720" marB="45720">
                    <a:solidFill>
                      <a:srgbClr val="D9D9D9"/>
                    </a:solidFill>
                  </a:tcPr>
                </a:tc>
                <a:tc>
                  <a:txBody>
                    <a:bodyPr/>
                    <a:lstStyle/>
                    <a:p>
                      <a:pPr algn="ctr">
                        <a:defRPr sz="1100" b="1">
                          <a:solidFill>
                            <a:srgbClr val="000000"/>
                          </a:solidFill>
                          <a:latin typeface="Montserrat"/>
                        </a:defRPr>
                      </a:pPr>
                      <a:r>
                        <a:t>31.4%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Cirugía General</a:t>
                      </a:r>
                    </a:p>
                  </a:txBody>
                  <a:tcPr anchor="ctr" marL="45720" marR="45720" marT="45720" marB="45720">
                    <a:solidFill>
                      <a:srgbClr val="FFFFFF"/>
                    </a:solidFill>
                  </a:tcPr>
                </a:tc>
                <a:tc>
                  <a:txBody>
                    <a:bodyPr/>
                    <a:lstStyle/>
                    <a:p>
                      <a:pPr algn="ctr">
                        <a:defRPr sz="1100" b="0">
                          <a:solidFill>
                            <a:srgbClr val="000000"/>
                          </a:solidFill>
                          <a:latin typeface="Montserrat"/>
                        </a:defRPr>
                      </a:pPr>
                      <a:r>
                        <a:t>27</a:t>
                      </a:r>
                    </a:p>
                  </a:txBody>
                  <a:tcPr anchor="ctr" marL="45720" marR="45720" marT="45720" marB="45720">
                    <a:solidFill>
                      <a:srgbClr val="FFFFFF"/>
                    </a:solidFill>
                  </a:tcPr>
                </a:tc>
                <a:tc>
                  <a:txBody>
                    <a:bodyPr/>
                    <a:lstStyle/>
                    <a:p>
                      <a:pPr algn="ctr">
                        <a:defRPr sz="1100" b="1">
                          <a:solidFill>
                            <a:srgbClr val="000000"/>
                          </a:solidFill>
                          <a:latin typeface="Montserrat"/>
                        </a:defRPr>
                      </a:pPr>
                      <a:r>
                        <a:t>40.4%</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Ginecología y Obstetricia</a:t>
                      </a:r>
                    </a:p>
                  </a:txBody>
                  <a:tcPr anchor="ctr" marL="45720" marR="45720" marT="45720" marB="45720">
                    <a:solidFill>
                      <a:srgbClr val="D9D9D9"/>
                    </a:solidFill>
                  </a:tcPr>
                </a:tc>
                <a:tc>
                  <a:txBody>
                    <a:bodyPr/>
                    <a:lstStyle/>
                    <a:p>
                      <a:pPr algn="ctr">
                        <a:defRPr sz="1100" b="0">
                          <a:solidFill>
                            <a:srgbClr val="000000"/>
                          </a:solidFill>
                          <a:latin typeface="Montserrat"/>
                        </a:defRPr>
                      </a:pPr>
                      <a:r>
                        <a:t>24</a:t>
                      </a:r>
                    </a:p>
                  </a:txBody>
                  <a:tcPr anchor="ctr" marL="45720" marR="45720" marT="45720" marB="45720">
                    <a:solidFill>
                      <a:srgbClr val="D9D9D9"/>
                    </a:solidFill>
                  </a:tcPr>
                </a:tc>
                <a:tc>
                  <a:txBody>
                    <a:bodyPr/>
                    <a:lstStyle/>
                    <a:p>
                      <a:pPr algn="ctr">
                        <a:defRPr sz="1100" b="1">
                          <a:solidFill>
                            <a:srgbClr val="000000"/>
                          </a:solidFill>
                          <a:latin typeface="Montserrat"/>
                        </a:defRPr>
                      </a:pPr>
                      <a:r>
                        <a:t>48.4%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Anestesiología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21</a:t>
                      </a:r>
                    </a:p>
                  </a:txBody>
                  <a:tcPr anchor="ctr" marL="45720" marR="45720" marT="45720" marB="45720">
                    <a:solidFill>
                      <a:srgbClr val="FFFFFF"/>
                    </a:solidFill>
                  </a:tcPr>
                </a:tc>
                <a:tc>
                  <a:txBody>
                    <a:bodyPr/>
                    <a:lstStyle/>
                    <a:p>
                      <a:pPr algn="ctr">
                        <a:defRPr sz="1100" b="1">
                          <a:solidFill>
                            <a:srgbClr val="000000"/>
                          </a:solidFill>
                          <a:latin typeface="Montserrat"/>
                        </a:defRPr>
                      </a:pPr>
                      <a:r>
                        <a:t>55.5%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Traumatología y Ortopedia</a:t>
                      </a:r>
                    </a:p>
                  </a:txBody>
                  <a:tcPr anchor="ctr" marL="45720" marR="45720" marT="45720" marB="45720">
                    <a:solidFill>
                      <a:srgbClr val="D9D9D9"/>
                    </a:solidFill>
                  </a:tcPr>
                </a:tc>
                <a:tc>
                  <a:txBody>
                    <a:bodyPr/>
                    <a:lstStyle/>
                    <a:p>
                      <a:pPr algn="ctr">
                        <a:defRPr sz="1100" b="0">
                          <a:solidFill>
                            <a:srgbClr val="000000"/>
                          </a:solidFill>
                          <a:latin typeface="Montserrat"/>
                        </a:defRPr>
                      </a:pPr>
                      <a:r>
                        <a:t>19</a:t>
                      </a:r>
                    </a:p>
                  </a:txBody>
                  <a:tcPr anchor="ctr" marL="45720" marR="45720" marT="45720" marB="45720">
                    <a:solidFill>
                      <a:srgbClr val="D9D9D9"/>
                    </a:solidFill>
                  </a:tcPr>
                </a:tc>
                <a:tc>
                  <a:txBody>
                    <a:bodyPr/>
                    <a:lstStyle/>
                    <a:p>
                      <a:pPr algn="ctr">
                        <a:defRPr sz="1100" b="1">
                          <a:solidFill>
                            <a:srgbClr val="000000"/>
                          </a:solidFill>
                          <a:latin typeface="Montserrat"/>
                        </a:defRPr>
                      </a:pPr>
                      <a:r>
                        <a:t>61.8%</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Pediatría</a:t>
                      </a:r>
                    </a:p>
                  </a:txBody>
                  <a:tcPr anchor="ctr" marL="45720" marR="45720" marT="45720" marB="45720">
                    <a:solidFill>
                      <a:srgbClr val="FFFFFF"/>
                    </a:solidFill>
                  </a:tcPr>
                </a:tc>
                <a:tc>
                  <a:txBody>
                    <a:bodyPr/>
                    <a:lstStyle/>
                    <a:p>
                      <a:pPr algn="ctr">
                        <a:defRPr sz="1100" b="0">
                          <a:solidFill>
                            <a:srgbClr val="000000"/>
                          </a:solidFill>
                          <a:latin typeface="Montserrat"/>
                        </a:defRPr>
                      </a:pPr>
                      <a:r>
                        <a:t>17</a:t>
                      </a:r>
                    </a:p>
                  </a:txBody>
                  <a:tcPr anchor="ctr" marL="45720" marR="45720" marT="45720" marB="45720">
                    <a:solidFill>
                      <a:srgbClr val="FFFFFF"/>
                    </a:solidFill>
                  </a:tcPr>
                </a:tc>
                <a:tc>
                  <a:txBody>
                    <a:bodyPr/>
                    <a:lstStyle/>
                    <a:p>
                      <a:pPr algn="ctr">
                        <a:defRPr sz="1100" b="1">
                          <a:solidFill>
                            <a:srgbClr val="000000"/>
                          </a:solidFill>
                          <a:latin typeface="Montserrat"/>
                        </a:defRPr>
                      </a:pPr>
                      <a:r>
                        <a:t>67.5%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Interna</a:t>
                      </a:r>
                    </a:p>
                  </a:txBody>
                  <a:tcPr anchor="ctr" marL="45720" marR="45720" marT="45720" marB="45720">
                    <a:solidFill>
                      <a:srgbClr val="D9D9D9"/>
                    </a:solidFill>
                  </a:tcPr>
                </a:tc>
                <a:tc>
                  <a:txBody>
                    <a:bodyPr/>
                    <a:lstStyle/>
                    <a:p>
                      <a:pPr algn="ctr">
                        <a:defRPr sz="1100" b="0">
                          <a:solidFill>
                            <a:srgbClr val="000000"/>
                          </a:solidFill>
                          <a:latin typeface="Montserrat"/>
                        </a:defRPr>
                      </a:pPr>
                      <a:r>
                        <a:t>17</a:t>
                      </a:r>
                    </a:p>
                  </a:txBody>
                  <a:tcPr anchor="ctr" marL="45720" marR="45720" marT="45720" marB="45720">
                    <a:solidFill>
                      <a:srgbClr val="D9D9D9"/>
                    </a:solidFill>
                  </a:tcPr>
                </a:tc>
                <a:tc>
                  <a:txBody>
                    <a:bodyPr/>
                    <a:lstStyle/>
                    <a:p>
                      <a:pPr algn="ctr">
                        <a:defRPr sz="1100" b="1">
                          <a:solidFill>
                            <a:srgbClr val="000000"/>
                          </a:solidFill>
                          <a:latin typeface="Montserrat"/>
                        </a:defRPr>
                      </a:pPr>
                      <a:r>
                        <a:t>73.2%</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Imagenología Diagnóstico y Terapéutica</a:t>
                      </a:r>
                    </a:p>
                  </a:txBody>
                  <a:tcPr anchor="ctr" marL="45720" marR="45720" marT="45720" marB="45720">
                    <a:solidFill>
                      <a:srgbClr val="FFFFFF"/>
                    </a:solidFill>
                  </a:tcPr>
                </a:tc>
                <a:tc>
                  <a:txBody>
                    <a:bodyPr/>
                    <a:lstStyle/>
                    <a:p>
                      <a:pPr algn="ctr">
                        <a:defRPr sz="1100" b="0">
                          <a:solidFill>
                            <a:srgbClr val="000000"/>
                          </a:solidFill>
                          <a:latin typeface="Montserrat"/>
                        </a:defRPr>
                      </a:pPr>
                      <a:r>
                        <a:t>16</a:t>
                      </a:r>
                    </a:p>
                  </a:txBody>
                  <a:tcPr anchor="ctr" marL="45720" marR="45720" marT="45720" marB="45720">
                    <a:solidFill>
                      <a:srgbClr val="FFFFFF"/>
                    </a:solidFill>
                  </a:tcPr>
                </a:tc>
                <a:tc>
                  <a:txBody>
                    <a:bodyPr/>
                    <a:lstStyle/>
                    <a:p>
                      <a:pPr algn="ctr">
                        <a:defRPr sz="1100" b="1">
                          <a:solidFill>
                            <a:srgbClr val="000000"/>
                          </a:solidFill>
                          <a:latin typeface="Montserrat"/>
                        </a:defRPr>
                      </a:pPr>
                      <a:r>
                        <a:t>78.5%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del Enfermo en Estado Crítico</a:t>
                      </a:r>
                    </a:p>
                  </a:txBody>
                  <a:tcPr anchor="ctr" marL="45720" marR="45720" marT="45720" marB="45720">
                    <a:solidFill>
                      <a:srgbClr val="D9D9D9"/>
                    </a:solidFill>
                  </a:tcPr>
                </a:tc>
                <a:tc>
                  <a:txBody>
                    <a:bodyPr/>
                    <a:lstStyle/>
                    <a:p>
                      <a:pPr algn="ctr">
                        <a:defRPr sz="1100" b="0">
                          <a:solidFill>
                            <a:srgbClr val="000000"/>
                          </a:solidFill>
                          <a:latin typeface="Montserrat"/>
                        </a:defRPr>
                      </a:pPr>
                      <a:r>
                        <a:t>12</a:t>
                      </a:r>
                    </a:p>
                  </a:txBody>
                  <a:tcPr anchor="ctr" marL="45720" marR="45720" marT="45720" marB="45720">
                    <a:solidFill>
                      <a:srgbClr val="D9D9D9"/>
                    </a:solidFill>
                  </a:tcPr>
                </a:tc>
                <a:tc>
                  <a:txBody>
                    <a:bodyPr/>
                    <a:lstStyle/>
                    <a:p>
                      <a:pPr algn="ctr">
                        <a:defRPr sz="1100" b="1">
                          <a:solidFill>
                            <a:srgbClr val="000000"/>
                          </a:solidFill>
                          <a:latin typeface="Montserrat"/>
                        </a:defRPr>
                      </a:pPr>
                      <a:r>
                        <a:t>82.6%</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Medicina de Rehabilitación</a:t>
                      </a:r>
                    </a:p>
                  </a:txBody>
                  <a:tcPr anchor="ctr" marL="45720" marR="45720" marT="45720" marB="45720">
                    <a:solidFill>
                      <a:srgbClr val="FFFFFF"/>
                    </a:solidFill>
                  </a:tcPr>
                </a:tc>
                <a:tc>
                  <a:txBody>
                    <a:bodyPr/>
                    <a:lstStyle/>
                    <a:p>
                      <a:pPr algn="ctr">
                        <a:defRPr sz="1100" b="0">
                          <a:solidFill>
                            <a:srgbClr val="000000"/>
                          </a:solidFill>
                          <a:latin typeface="Montserrat"/>
                        </a:defRPr>
                      </a:pPr>
                      <a:r>
                        <a:t>10</a:t>
                      </a:r>
                    </a:p>
                  </a:txBody>
                  <a:tcPr anchor="ctr" marL="45720" marR="45720" marT="45720" marB="45720">
                    <a:solidFill>
                      <a:srgbClr val="FFFFFF"/>
                    </a:solidFill>
                  </a:tcPr>
                </a:tc>
                <a:tc>
                  <a:txBody>
                    <a:bodyPr/>
                    <a:lstStyle/>
                    <a:p>
                      <a:pPr algn="ctr">
                        <a:defRPr sz="1100" b="1">
                          <a:solidFill>
                            <a:srgbClr val="000000"/>
                          </a:solidFill>
                          <a:latin typeface="Montserrat"/>
                        </a:defRPr>
                      </a:pPr>
                      <a:r>
                        <a:t>85.9%</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Epidemiología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6</a:t>
                      </a:r>
                    </a:p>
                  </a:txBody>
                  <a:tcPr anchor="ctr" marL="45720" marR="45720" marT="45720" marB="45720">
                    <a:solidFill>
                      <a:srgbClr val="D9D9D9"/>
                    </a:solidFill>
                  </a:tcPr>
                </a:tc>
                <a:tc>
                  <a:txBody>
                    <a:bodyPr/>
                    <a:lstStyle/>
                    <a:p>
                      <a:pPr algn="ctr">
                        <a:defRPr sz="1100" b="1">
                          <a:solidFill>
                            <a:srgbClr val="000000"/>
                          </a:solidFill>
                          <a:latin typeface="Montserrat"/>
                        </a:defRPr>
                      </a:pPr>
                      <a:r>
                        <a:t>87.9%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Medicina del Trabajo y Ambiental</a:t>
                      </a:r>
                    </a:p>
                  </a:txBody>
                  <a:tcPr anchor="ctr" marL="45720" marR="45720" marT="45720" marB="45720">
                    <a:solidFill>
                      <a:srgbClr val="FFFFFF"/>
                    </a:solidFill>
                  </a:tcPr>
                </a:tc>
                <a:tc>
                  <a:txBody>
                    <a:bodyPr/>
                    <a:lstStyle/>
                    <a:p>
                      <a:pPr algn="ctr">
                        <a:defRPr sz="1100" b="0">
                          <a:solidFill>
                            <a:srgbClr val="000000"/>
                          </a:solidFill>
                          <a:latin typeface="Montserrat"/>
                        </a:defRPr>
                      </a:pPr>
                      <a:r>
                        <a:t>4</a:t>
                      </a:r>
                    </a:p>
                  </a:txBody>
                  <a:tcPr anchor="ctr" marL="45720" marR="45720" marT="45720" marB="45720">
                    <a:solidFill>
                      <a:srgbClr val="FFFFFF"/>
                    </a:solidFill>
                  </a:tcPr>
                </a:tc>
                <a:tc>
                  <a:txBody>
                    <a:bodyPr/>
                    <a:lstStyle/>
                    <a:p>
                      <a:pPr algn="ctr">
                        <a:defRPr sz="1100" b="1">
                          <a:solidFill>
                            <a:srgbClr val="000000"/>
                          </a:solidFill>
                          <a:latin typeface="Montserrat"/>
                        </a:defRPr>
                      </a:pPr>
                      <a:r>
                        <a:t>89.2%</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Cardiología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4</a:t>
                      </a:r>
                    </a:p>
                  </a:txBody>
                  <a:tcPr anchor="ctr" marL="45720" marR="45720" marT="45720" marB="45720">
                    <a:solidFill>
                      <a:srgbClr val="D9D9D9"/>
                    </a:solidFill>
                  </a:tcPr>
                </a:tc>
                <a:tc>
                  <a:txBody>
                    <a:bodyPr/>
                    <a:lstStyle/>
                    <a:p>
                      <a:pPr algn="ctr">
                        <a:defRPr sz="1100" b="1">
                          <a:solidFill>
                            <a:srgbClr val="000000"/>
                          </a:solidFill>
                          <a:latin typeface="Montserrat"/>
                        </a:defRPr>
                      </a:pPr>
                      <a:r>
                        <a:t>90.6%</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Oftalmología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91.6%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Geriatría</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92.6%</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Otorrinolaringología y Cirugía de Cabeza y Cuello</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93.3%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Psiquiatría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93.9%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Hematología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94.6%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Audiología Otoneurología y Foniatría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94.9%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Anatomía Patológica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95.3%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Ginecología Oncológica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95.6%</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Hematología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95.9%</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Cirugía Plástica y Reconstructiva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96.3%</a:t>
                      </a:r>
                    </a:p>
                  </a:txBody>
                  <a:tcPr anchor="ctr" marL="45720" marR="45720" marT="45720" marB="45720">
                    <a:solidFill>
                      <a:srgbClr val="D9D9D9"/>
                    </a:solidFill>
                  </a:tcPr>
                </a:tc>
              </a:tr>
              <a:tr h="161600">
                <a:tc>
                  <a:txBody>
                    <a:bodyPr/>
                    <a:lstStyle/>
                    <a:p>
                      <a:pPr algn="l">
                        <a:defRPr sz="1100" b="0">
                          <a:solidFill>
                            <a:srgbClr val="000000"/>
                          </a:solidFill>
                          <a:latin typeface="Montserrat"/>
                        </a:defRPr>
                      </a:pPr>
                      <a:r>
                        <a:t>Cardiología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96.6%</a:t>
                      </a:r>
                    </a:p>
                  </a:txBody>
                  <a:tcPr anchor="ctr" marL="45720" marR="45720" marT="45720" marB="45720">
                    <a:solidFill>
                      <a:srgbClr val="FFFFFF"/>
                    </a:solidFill>
                  </a:tcPr>
                </a:tc>
              </a:tr>
            </a:tbl>
          </a:graphicData>
        </a:graphic>
      </p:graphicFrame>
    </p:spTree>
    <p:extLst>
      <p:ext uri="{BB962C8B-B14F-4D97-AF65-F5344CB8AC3E}">
        <p14:creationId xmlns:p14="http://schemas.microsoft.com/office/powerpoint/2010/main" val="3828482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9DF52B11-9C7D-4CFF-8584-9083070AB48D}"/>
              </a:ext>
            </a:extLst>
          </p:cNvPr>
          <p:cNvGraphicFramePr/>
          <p:nvPr>
            <p:extLst>
              <p:ext uri="{D42A27DB-BD31-4B8C-83A1-F6EECF244321}">
                <p14:modId xmlns:p14="http://schemas.microsoft.com/office/powerpoint/2010/main" val="895463715"/>
              </p:ext>
            </p:extLst>
          </p:nvPr>
        </p:nvGraphicFramePr>
        <p:xfrm>
          <a:off x="287050" y="862946"/>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Lista de espera por especialidad y por cirugía prioritaria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TAMAULIPAS</a:t>
            </a:r>
          </a:p>
        </p:txBody>
      </p:sp>
      <p:sp>
        <p:nvSpPr>
          <p:cNvPr id="4" name="TextBox 3"/>
          <p:cNvSpPr txBox="1"/>
          <p:nvPr/>
        </p:nvSpPr>
        <p:spPr>
          <a:xfrm>
            <a:off x="176400" y="8982000"/>
            <a:ext cx="5324400" cy="4284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22, 24 mayo 2026</a:t>
            </a:r>
          </a:p>
        </p:txBody>
      </p:sp>
      <p:graphicFrame>
        <p:nvGraphicFramePr>
          <p:cNvPr id="5" name="Table 4"/>
          <p:cNvGraphicFramePr>
            <a:graphicFrameLocks noGrp="1"/>
          </p:cNvGraphicFramePr>
          <p:nvPr/>
        </p:nvGraphicFramePr>
        <p:xfrm>
          <a:off x="32400" y="3474000"/>
          <a:ext cx="3639599" cy="2592000"/>
        </p:xfrm>
        <a:graphic>
          <a:graphicData uri="http://schemas.openxmlformats.org/drawingml/2006/table">
            <a:tbl>
              <a:tblPr firstRow="1" bandRow="1">
                <a:tableStyleId>{5C22544A-7EE6-4342-B048-85BDC9FD1C3A}</a:tableStyleId>
              </a:tblPr>
              <a:tblGrid>
                <a:gridCol w="1731599"/>
                <a:gridCol w="950400"/>
                <a:gridCol w="957600"/>
              </a:tblGrid>
              <a:tr h="216000">
                <a:tc>
                  <a:txBody>
                    <a:bodyPr/>
                    <a:lstStyle/>
                    <a:p>
                      <a:pPr algn="ctr">
                        <a:defRPr b="1" sz="1100">
                          <a:solidFill>
                            <a:srgbClr val="FFFFFF"/>
                          </a:solidFill>
                          <a:latin typeface="Montserrat"/>
                        </a:defRPr>
                      </a:pPr>
                      <a:r>
                        <a:t>Especialidad</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acumulado total</a:t>
                      </a:r>
                    </a:p>
                  </a:txBody>
                  <a:tcPr marL="14400" marR="14400" anchor="ctr">
                    <a:solidFill>
                      <a:srgbClr val="006455"/>
                    </a:solidFill>
                  </a:tcPr>
                </a:tc>
              </a:tr>
              <a:tr h="216000">
                <a:tc>
                  <a:txBody>
                    <a:bodyPr/>
                    <a:lstStyle/>
                    <a:p>
                      <a:pPr algn="l">
                        <a:defRPr sz="1000">
                          <a:latin typeface="Montserrat"/>
                        </a:defRPr>
                      </a:pPr>
                      <a:r>
                        <a:t>Cirugía General</a:t>
                      </a:r>
                    </a:p>
                  </a:txBody>
                  <a:tcPr anchor="ctr">
                    <a:solidFill>
                      <a:srgbClr val="FFFFFF"/>
                    </a:solidFill>
                  </a:tcPr>
                </a:tc>
                <a:tc>
                  <a:txBody>
                    <a:bodyPr/>
                    <a:lstStyle/>
                    <a:p>
                      <a:pPr algn="ctr">
                        <a:defRPr sz="1000">
                          <a:latin typeface="Montserrat"/>
                        </a:defRPr>
                      </a:pPr>
                      <a:r>
                        <a:t>1,874</a:t>
                      </a:r>
                    </a:p>
                  </a:txBody>
                  <a:tcPr anchor="ctr">
                    <a:solidFill>
                      <a:srgbClr val="FFFFFF"/>
                    </a:solidFill>
                  </a:tcPr>
                </a:tc>
                <a:tc>
                  <a:txBody>
                    <a:bodyPr/>
                    <a:lstStyle/>
                    <a:p>
                      <a:pPr algn="ctr">
                        <a:defRPr sz="1000">
                          <a:latin typeface="Montserrat"/>
                        </a:defRPr>
                      </a:pPr>
                      <a:r>
                        <a:t>34.3%</a:t>
                      </a:r>
                    </a:p>
                  </a:txBody>
                  <a:tcPr anchor="ctr">
                    <a:solidFill>
                      <a:srgbClr val="FFFFFF"/>
                    </a:solidFill>
                  </a:tcPr>
                </a:tc>
              </a:tr>
              <a:tr h="216000">
                <a:tc>
                  <a:txBody>
                    <a:bodyPr/>
                    <a:lstStyle/>
                    <a:p>
                      <a:pPr algn="l">
                        <a:defRPr sz="1000">
                          <a:latin typeface="Montserrat"/>
                        </a:defRPr>
                      </a:pPr>
                      <a:r>
                        <a:t>Traumatología y ortopedia</a:t>
                      </a:r>
                    </a:p>
                  </a:txBody>
                  <a:tcPr anchor="ctr">
                    <a:solidFill>
                      <a:srgbClr val="D9D9D9"/>
                    </a:solidFill>
                  </a:tcPr>
                </a:tc>
                <a:tc>
                  <a:txBody>
                    <a:bodyPr/>
                    <a:lstStyle/>
                    <a:p>
                      <a:pPr algn="ctr">
                        <a:defRPr sz="1000">
                          <a:latin typeface="Montserrat"/>
                        </a:defRPr>
                      </a:pPr>
                      <a:r>
                        <a:t>1,442</a:t>
                      </a:r>
                    </a:p>
                  </a:txBody>
                  <a:tcPr anchor="ctr">
                    <a:solidFill>
                      <a:srgbClr val="D9D9D9"/>
                    </a:solidFill>
                  </a:tcPr>
                </a:tc>
                <a:tc>
                  <a:txBody>
                    <a:bodyPr/>
                    <a:lstStyle/>
                    <a:p>
                      <a:pPr algn="ctr">
                        <a:defRPr sz="1000">
                          <a:latin typeface="Montserrat"/>
                        </a:defRPr>
                      </a:pPr>
                      <a:r>
                        <a:t>60.7%</a:t>
                      </a:r>
                    </a:p>
                  </a:txBody>
                  <a:tcPr anchor="ctr">
                    <a:solidFill>
                      <a:srgbClr val="D9D9D9"/>
                    </a:solidFill>
                  </a:tcPr>
                </a:tc>
              </a:tr>
              <a:tr h="216000">
                <a:tc>
                  <a:txBody>
                    <a:bodyPr/>
                    <a:lstStyle/>
                    <a:p>
                      <a:pPr algn="l">
                        <a:defRPr sz="1000">
                          <a:latin typeface="Montserrat"/>
                        </a:defRPr>
                      </a:pPr>
                      <a:r>
                        <a:t>Ginecología</a:t>
                      </a:r>
                    </a:p>
                  </a:txBody>
                  <a:tcPr anchor="ctr">
                    <a:solidFill>
                      <a:srgbClr val="FFFFFF"/>
                    </a:solidFill>
                  </a:tcPr>
                </a:tc>
                <a:tc>
                  <a:txBody>
                    <a:bodyPr/>
                    <a:lstStyle/>
                    <a:p>
                      <a:pPr algn="ctr">
                        <a:defRPr sz="1000">
                          <a:latin typeface="Montserrat"/>
                        </a:defRPr>
                      </a:pPr>
                      <a:r>
                        <a:t>512</a:t>
                      </a:r>
                    </a:p>
                  </a:txBody>
                  <a:tcPr anchor="ctr">
                    <a:solidFill>
                      <a:srgbClr val="FFFFFF"/>
                    </a:solidFill>
                  </a:tcPr>
                </a:tc>
                <a:tc>
                  <a:txBody>
                    <a:bodyPr/>
                    <a:lstStyle/>
                    <a:p>
                      <a:pPr algn="ctr">
                        <a:defRPr sz="1000">
                          <a:latin typeface="Montserrat"/>
                        </a:defRPr>
                      </a:pPr>
                      <a:r>
                        <a:t>70.1%</a:t>
                      </a:r>
                    </a:p>
                  </a:txBody>
                  <a:tcPr anchor="ctr">
                    <a:solidFill>
                      <a:srgbClr val="FFFFFF"/>
                    </a:solidFill>
                  </a:tcPr>
                </a:tc>
              </a:tr>
              <a:tr h="216000">
                <a:tc>
                  <a:txBody>
                    <a:bodyPr/>
                    <a:lstStyle/>
                    <a:p>
                      <a:pPr algn="l">
                        <a:defRPr sz="1000">
                          <a:latin typeface="Montserrat"/>
                        </a:defRPr>
                      </a:pPr>
                      <a:r>
                        <a:t>Urología  </a:t>
                      </a:r>
                    </a:p>
                  </a:txBody>
                  <a:tcPr anchor="ctr">
                    <a:solidFill>
                      <a:srgbClr val="D9D9D9"/>
                    </a:solidFill>
                  </a:tcPr>
                </a:tc>
                <a:tc>
                  <a:txBody>
                    <a:bodyPr/>
                    <a:lstStyle/>
                    <a:p>
                      <a:pPr algn="ctr">
                        <a:defRPr sz="1000">
                          <a:latin typeface="Montserrat"/>
                        </a:defRPr>
                      </a:pPr>
                      <a:r>
                        <a:t>377</a:t>
                      </a:r>
                    </a:p>
                  </a:txBody>
                  <a:tcPr anchor="ctr">
                    <a:solidFill>
                      <a:srgbClr val="D9D9D9"/>
                    </a:solidFill>
                  </a:tcPr>
                </a:tc>
                <a:tc>
                  <a:txBody>
                    <a:bodyPr/>
                    <a:lstStyle/>
                    <a:p>
                      <a:pPr algn="ctr">
                        <a:defRPr sz="1000">
                          <a:latin typeface="Montserrat"/>
                        </a:defRPr>
                      </a:pPr>
                      <a:r>
                        <a:t>77.0%</a:t>
                      </a:r>
                    </a:p>
                  </a:txBody>
                  <a:tcPr anchor="ctr">
                    <a:solidFill>
                      <a:srgbClr val="D9D9D9"/>
                    </a:solidFill>
                  </a:tcPr>
                </a:tc>
              </a:tr>
              <a:tr h="216000">
                <a:tc>
                  <a:txBody>
                    <a:bodyPr/>
                    <a:lstStyle/>
                    <a:p>
                      <a:pPr algn="l">
                        <a:defRPr sz="1000">
                          <a:latin typeface="Montserrat"/>
                        </a:defRPr>
                      </a:pPr>
                      <a:r>
                        <a:t>Obstetricia</a:t>
                      </a:r>
                    </a:p>
                  </a:txBody>
                  <a:tcPr anchor="ctr">
                    <a:solidFill>
                      <a:srgbClr val="FFFFFF"/>
                    </a:solidFill>
                  </a:tcPr>
                </a:tc>
                <a:tc>
                  <a:txBody>
                    <a:bodyPr/>
                    <a:lstStyle/>
                    <a:p>
                      <a:pPr algn="ctr">
                        <a:defRPr sz="1000">
                          <a:latin typeface="Montserrat"/>
                        </a:defRPr>
                      </a:pPr>
                      <a:r>
                        <a:t>356</a:t>
                      </a:r>
                    </a:p>
                  </a:txBody>
                  <a:tcPr anchor="ctr">
                    <a:solidFill>
                      <a:srgbClr val="FFFFFF"/>
                    </a:solidFill>
                  </a:tcPr>
                </a:tc>
                <a:tc>
                  <a:txBody>
                    <a:bodyPr/>
                    <a:lstStyle/>
                    <a:p>
                      <a:pPr algn="ctr">
                        <a:defRPr sz="1000">
                          <a:latin typeface="Montserrat"/>
                        </a:defRPr>
                      </a:pPr>
                      <a:r>
                        <a:t>83.5%</a:t>
                      </a:r>
                    </a:p>
                  </a:txBody>
                  <a:tcPr anchor="ctr">
                    <a:solidFill>
                      <a:srgbClr val="FFFFFF"/>
                    </a:solidFill>
                  </a:tcPr>
                </a:tc>
              </a:tr>
              <a:tr h="216000">
                <a:tc>
                  <a:txBody>
                    <a:bodyPr/>
                    <a:lstStyle/>
                    <a:p>
                      <a:pPr algn="l">
                        <a:defRPr sz="1000">
                          <a:latin typeface="Montserrat"/>
                        </a:defRPr>
                      </a:pPr>
                      <a:r>
                        <a:t>Oftalmología</a:t>
                      </a:r>
                    </a:p>
                  </a:txBody>
                  <a:tcPr anchor="ctr">
                    <a:solidFill>
                      <a:srgbClr val="D9D9D9"/>
                    </a:solidFill>
                  </a:tcPr>
                </a:tc>
                <a:tc>
                  <a:txBody>
                    <a:bodyPr/>
                    <a:lstStyle/>
                    <a:p>
                      <a:pPr algn="ctr">
                        <a:defRPr sz="1000">
                          <a:latin typeface="Montserrat"/>
                        </a:defRPr>
                      </a:pPr>
                      <a:r>
                        <a:t>318</a:t>
                      </a:r>
                    </a:p>
                  </a:txBody>
                  <a:tcPr anchor="ctr">
                    <a:solidFill>
                      <a:srgbClr val="D9D9D9"/>
                    </a:solidFill>
                  </a:tcPr>
                </a:tc>
                <a:tc>
                  <a:txBody>
                    <a:bodyPr/>
                    <a:lstStyle/>
                    <a:p>
                      <a:pPr algn="ctr">
                        <a:defRPr sz="1000">
                          <a:latin typeface="Montserrat"/>
                        </a:defRPr>
                      </a:pPr>
                      <a:r>
                        <a:t>89.3%</a:t>
                      </a:r>
                    </a:p>
                  </a:txBody>
                  <a:tcPr anchor="ctr">
                    <a:solidFill>
                      <a:srgbClr val="D9D9D9"/>
                    </a:solidFill>
                  </a:tcPr>
                </a:tc>
              </a:tr>
              <a:tr h="216000">
                <a:tc>
                  <a:txBody>
                    <a:bodyPr/>
                    <a:lstStyle/>
                    <a:p>
                      <a:pPr algn="l">
                        <a:defRPr sz="1000">
                          <a:latin typeface="Montserrat"/>
                        </a:defRPr>
                      </a:pPr>
                      <a:r>
                        <a:t>Gastroenterología</a:t>
                      </a:r>
                    </a:p>
                  </a:txBody>
                  <a:tcPr anchor="ctr">
                    <a:solidFill>
                      <a:srgbClr val="FFFFFF"/>
                    </a:solidFill>
                  </a:tcPr>
                </a:tc>
                <a:tc>
                  <a:txBody>
                    <a:bodyPr/>
                    <a:lstStyle/>
                    <a:p>
                      <a:pPr algn="ctr">
                        <a:defRPr sz="1000">
                          <a:latin typeface="Montserrat"/>
                        </a:defRPr>
                      </a:pPr>
                      <a:r>
                        <a:t>216</a:t>
                      </a:r>
                    </a:p>
                  </a:txBody>
                  <a:tcPr anchor="ctr">
                    <a:solidFill>
                      <a:srgbClr val="FFFFFF"/>
                    </a:solidFill>
                  </a:tcPr>
                </a:tc>
                <a:tc>
                  <a:txBody>
                    <a:bodyPr/>
                    <a:lstStyle/>
                    <a:p>
                      <a:pPr algn="ctr">
                        <a:defRPr sz="1000">
                          <a:latin typeface="Montserrat"/>
                        </a:defRPr>
                      </a:pPr>
                      <a:r>
                        <a:t>93.3%</a:t>
                      </a:r>
                    </a:p>
                  </a:txBody>
                  <a:tcPr anchor="ctr">
                    <a:solidFill>
                      <a:srgbClr val="FFFFFF"/>
                    </a:solidFill>
                  </a:tcPr>
                </a:tc>
              </a:tr>
              <a:tr h="216000">
                <a:tc>
                  <a:txBody>
                    <a:bodyPr/>
                    <a:lstStyle/>
                    <a:p>
                      <a:pPr algn="l">
                        <a:defRPr sz="1000">
                          <a:latin typeface="Montserrat"/>
                        </a:defRPr>
                      </a:pPr>
                      <a:r>
                        <a:t>Otorrinolaringología</a:t>
                      </a:r>
                    </a:p>
                  </a:txBody>
                  <a:tcPr anchor="ctr">
                    <a:solidFill>
                      <a:srgbClr val="D9D9D9"/>
                    </a:solidFill>
                  </a:tcPr>
                </a:tc>
                <a:tc>
                  <a:txBody>
                    <a:bodyPr/>
                    <a:lstStyle/>
                    <a:p>
                      <a:pPr algn="ctr">
                        <a:defRPr sz="1000">
                          <a:latin typeface="Montserrat"/>
                        </a:defRPr>
                      </a:pPr>
                      <a:r>
                        <a:t>153</a:t>
                      </a:r>
                    </a:p>
                  </a:txBody>
                  <a:tcPr anchor="ctr">
                    <a:solidFill>
                      <a:srgbClr val="D9D9D9"/>
                    </a:solidFill>
                  </a:tcPr>
                </a:tc>
                <a:tc>
                  <a:txBody>
                    <a:bodyPr/>
                    <a:lstStyle/>
                    <a:p>
                      <a:pPr algn="ctr">
                        <a:defRPr sz="1000">
                          <a:latin typeface="Montserrat"/>
                        </a:defRPr>
                      </a:pPr>
                      <a:r>
                        <a:t>96.1%</a:t>
                      </a:r>
                    </a:p>
                  </a:txBody>
                  <a:tcPr anchor="ctr">
                    <a:solidFill>
                      <a:srgbClr val="D9D9D9"/>
                    </a:solidFill>
                  </a:tcPr>
                </a:tc>
              </a:tr>
              <a:tr h="216000">
                <a:tc>
                  <a:txBody>
                    <a:bodyPr/>
                    <a:lstStyle/>
                    <a:p>
                      <a:pPr algn="l">
                        <a:defRPr sz="1000">
                          <a:latin typeface="Montserrat"/>
                        </a:defRPr>
                      </a:pPr>
                      <a:r>
                        <a:t>Cirugía oncológica</a:t>
                      </a:r>
                    </a:p>
                  </a:txBody>
                  <a:tcPr anchor="ctr">
                    <a:solidFill>
                      <a:srgbClr val="FFFFFF"/>
                    </a:solidFill>
                  </a:tcPr>
                </a:tc>
                <a:tc>
                  <a:txBody>
                    <a:bodyPr/>
                    <a:lstStyle/>
                    <a:p>
                      <a:pPr algn="ctr">
                        <a:defRPr sz="1000">
                          <a:latin typeface="Montserrat"/>
                        </a:defRPr>
                      </a:pPr>
                      <a:r>
                        <a:t>131</a:t>
                      </a:r>
                    </a:p>
                  </a:txBody>
                  <a:tcPr anchor="ctr">
                    <a:solidFill>
                      <a:srgbClr val="FFFFFF"/>
                    </a:solidFill>
                  </a:tcPr>
                </a:tc>
                <a:tc>
                  <a:txBody>
                    <a:bodyPr/>
                    <a:lstStyle/>
                    <a:p>
                      <a:pPr algn="ctr">
                        <a:defRPr sz="1000">
                          <a:latin typeface="Montserrat"/>
                        </a:defRPr>
                      </a:pPr>
                      <a:r>
                        <a:t>98.5%</a:t>
                      </a:r>
                    </a:p>
                  </a:txBody>
                  <a:tcPr anchor="ctr">
                    <a:solidFill>
                      <a:srgbClr val="FFFFFF"/>
                    </a:solidFill>
                  </a:tcPr>
                </a:tc>
              </a:tr>
              <a:tr h="216000">
                <a:tc>
                  <a:txBody>
                    <a:bodyPr/>
                    <a:lstStyle/>
                    <a:p>
                      <a:pPr algn="l">
                        <a:defRPr sz="1000">
                          <a:latin typeface="Montserrat"/>
                        </a:defRPr>
                      </a:pPr>
                      <a:r>
                        <a:t>Neurocirugía</a:t>
                      </a:r>
                    </a:p>
                  </a:txBody>
                  <a:tcPr anchor="ctr">
                    <a:solidFill>
                      <a:srgbClr val="D9D9D9"/>
                    </a:solidFill>
                  </a:tcPr>
                </a:tc>
                <a:tc>
                  <a:txBody>
                    <a:bodyPr/>
                    <a:lstStyle/>
                    <a:p>
                      <a:pPr algn="ctr">
                        <a:defRPr sz="1000">
                          <a:latin typeface="Montserrat"/>
                        </a:defRPr>
                      </a:pPr>
                      <a:r>
                        <a:t>83</a:t>
                      </a:r>
                    </a:p>
                  </a:txBody>
                  <a:tcPr anchor="ctr">
                    <a:solidFill>
                      <a:srgbClr val="D9D9D9"/>
                    </a:solidFill>
                  </a:tcPr>
                </a:tc>
                <a:tc>
                  <a:txBody>
                    <a:bodyPr/>
                    <a:lstStyle/>
                    <a:p>
                      <a:pPr algn="ctr">
                        <a:defRPr sz="1000">
                          <a:latin typeface="Montserrat"/>
                        </a:defRPr>
                      </a:pPr>
                      <a:r>
                        <a:t>100.0%</a:t>
                      </a:r>
                    </a:p>
                  </a:txBody>
                  <a:tcPr anchor="ctr">
                    <a:solidFill>
                      <a:srgbClr val="D9D9D9"/>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5,462</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3992400" y="3848400"/>
          <a:ext cx="3639599" cy="1944000"/>
        </p:xfrm>
        <a:graphic>
          <a:graphicData uri="http://schemas.openxmlformats.org/drawingml/2006/table">
            <a:tbl>
              <a:tblPr firstRow="1" bandRow="1">
                <a:tableStyleId>{5C22544A-7EE6-4342-B048-85BDC9FD1C3A}</a:tableStyleId>
              </a:tblPr>
              <a:tblGrid>
                <a:gridCol w="1738800"/>
                <a:gridCol w="1000799"/>
                <a:gridCol w="900000"/>
              </a:tblGrid>
              <a:tr h="216000">
                <a:tc>
                  <a:txBody>
                    <a:bodyPr/>
                    <a:lstStyle/>
                    <a:p>
                      <a:pPr algn="ctr">
                        <a:defRPr b="1" sz="1100">
                          <a:solidFill>
                            <a:srgbClr val="FFFFFF"/>
                          </a:solidFill>
                          <a:latin typeface="Montserrat"/>
                        </a:defRPr>
                      </a:pPr>
                      <a:r>
                        <a:t>Cirugía prioritaria</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del total</a:t>
                      </a:r>
                    </a:p>
                  </a:txBody>
                  <a:tcPr marL="14400" marR="14400" anchor="ctr">
                    <a:solidFill>
                      <a:srgbClr val="006455"/>
                    </a:solidFill>
                  </a:tcPr>
                </a:tc>
              </a:tr>
              <a:tr h="216000">
                <a:tc>
                  <a:txBody>
                    <a:bodyPr/>
                    <a:lstStyle/>
                    <a:p>
                      <a:pPr algn="l">
                        <a:defRPr sz="1000">
                          <a:latin typeface="Montserrat"/>
                        </a:defRPr>
                      </a:pPr>
                      <a:r>
                        <a:t>Colecistectomías</a:t>
                      </a:r>
                    </a:p>
                  </a:txBody>
                  <a:tcPr anchor="ctr">
                    <a:solidFill>
                      <a:srgbClr val="FFFFFF"/>
                    </a:solidFill>
                  </a:tcPr>
                </a:tc>
                <a:tc>
                  <a:txBody>
                    <a:bodyPr/>
                    <a:lstStyle/>
                    <a:p>
                      <a:pPr algn="ctr">
                        <a:defRPr sz="1000">
                          <a:latin typeface="Montserrat"/>
                        </a:defRPr>
                      </a:pPr>
                      <a:r>
                        <a:t>364</a:t>
                      </a:r>
                    </a:p>
                  </a:txBody>
                  <a:tcPr anchor="ctr">
                    <a:solidFill>
                      <a:srgbClr val="FFFFFF"/>
                    </a:solidFill>
                  </a:tcPr>
                </a:tc>
                <a:tc>
                  <a:txBody>
                    <a:bodyPr/>
                    <a:lstStyle/>
                    <a:p>
                      <a:pPr algn="ctr">
                        <a:defRPr sz="1000">
                          <a:latin typeface="Montserrat"/>
                        </a:defRPr>
                      </a:pPr>
                      <a:r>
                        <a:t>29.2%</a:t>
                      </a:r>
                    </a:p>
                  </a:txBody>
                  <a:tcPr anchor="ctr">
                    <a:solidFill>
                      <a:srgbClr val="FFFFFF"/>
                    </a:solidFill>
                  </a:tcPr>
                </a:tc>
              </a:tr>
              <a:tr h="216000">
                <a:tc>
                  <a:txBody>
                    <a:bodyPr/>
                    <a:lstStyle/>
                    <a:p>
                      <a:pPr algn="l">
                        <a:defRPr sz="1000">
                          <a:latin typeface="Montserrat"/>
                        </a:defRPr>
                      </a:pPr>
                      <a:r>
                        <a:t>Sustitución de rodilla</a:t>
                      </a:r>
                    </a:p>
                  </a:txBody>
                  <a:tcPr anchor="ctr">
                    <a:solidFill>
                      <a:srgbClr val="D9D9D9"/>
                    </a:solidFill>
                  </a:tcPr>
                </a:tc>
                <a:tc>
                  <a:txBody>
                    <a:bodyPr/>
                    <a:lstStyle/>
                    <a:p>
                      <a:pPr algn="ctr">
                        <a:defRPr sz="1000">
                          <a:latin typeface="Montserrat"/>
                        </a:defRPr>
                      </a:pPr>
                      <a:r>
                        <a:t>274</a:t>
                      </a:r>
                    </a:p>
                  </a:txBody>
                  <a:tcPr anchor="ctr">
                    <a:solidFill>
                      <a:srgbClr val="D9D9D9"/>
                    </a:solidFill>
                  </a:tcPr>
                </a:tc>
                <a:tc>
                  <a:txBody>
                    <a:bodyPr/>
                    <a:lstStyle/>
                    <a:p>
                      <a:pPr algn="ctr">
                        <a:defRPr sz="1000">
                          <a:latin typeface="Montserrat"/>
                        </a:defRPr>
                      </a:pPr>
                      <a:r>
                        <a:t>51.2%</a:t>
                      </a:r>
                    </a:p>
                  </a:txBody>
                  <a:tcPr anchor="ctr">
                    <a:solidFill>
                      <a:srgbClr val="D9D9D9"/>
                    </a:solidFill>
                  </a:tcPr>
                </a:tc>
              </a:tr>
              <a:tr h="216000">
                <a:tc>
                  <a:txBody>
                    <a:bodyPr/>
                    <a:lstStyle/>
                    <a:p>
                      <a:pPr algn="l">
                        <a:defRPr sz="1000">
                          <a:latin typeface="Montserrat"/>
                        </a:defRPr>
                      </a:pPr>
                      <a:r>
                        <a:t>Catarata</a:t>
                      </a:r>
                    </a:p>
                  </a:txBody>
                  <a:tcPr anchor="ctr">
                    <a:solidFill>
                      <a:srgbClr val="FFFFFF"/>
                    </a:solidFill>
                  </a:tcPr>
                </a:tc>
                <a:tc>
                  <a:txBody>
                    <a:bodyPr/>
                    <a:lstStyle/>
                    <a:p>
                      <a:pPr algn="ctr">
                        <a:defRPr sz="1000">
                          <a:latin typeface="Montserrat"/>
                        </a:defRPr>
                      </a:pPr>
                      <a:r>
                        <a:t>197</a:t>
                      </a:r>
                    </a:p>
                  </a:txBody>
                  <a:tcPr anchor="ctr">
                    <a:solidFill>
                      <a:srgbClr val="FFFFFF"/>
                    </a:solidFill>
                  </a:tcPr>
                </a:tc>
                <a:tc>
                  <a:txBody>
                    <a:bodyPr/>
                    <a:lstStyle/>
                    <a:p>
                      <a:pPr algn="ctr">
                        <a:defRPr sz="1000">
                          <a:latin typeface="Montserrat"/>
                        </a:defRPr>
                      </a:pPr>
                      <a:r>
                        <a:t>67.1%</a:t>
                      </a:r>
                    </a:p>
                  </a:txBody>
                  <a:tcPr anchor="ctr">
                    <a:solidFill>
                      <a:srgbClr val="FFFFFF"/>
                    </a:solidFill>
                  </a:tcPr>
                </a:tc>
              </a:tr>
              <a:tr h="216000">
                <a:tc>
                  <a:txBody>
                    <a:bodyPr/>
                    <a:lstStyle/>
                    <a:p>
                      <a:pPr algn="l">
                        <a:defRPr sz="1000">
                          <a:latin typeface="Montserrat"/>
                        </a:defRPr>
                      </a:pPr>
                      <a:r>
                        <a:t>Hernioplastías abdominales</a:t>
                      </a:r>
                    </a:p>
                  </a:txBody>
                  <a:tcPr anchor="ctr">
                    <a:solidFill>
                      <a:srgbClr val="D9D9D9"/>
                    </a:solidFill>
                  </a:tcPr>
                </a:tc>
                <a:tc>
                  <a:txBody>
                    <a:bodyPr/>
                    <a:lstStyle/>
                    <a:p>
                      <a:pPr algn="ctr">
                        <a:defRPr sz="1000">
                          <a:latin typeface="Montserrat"/>
                        </a:defRPr>
                      </a:pPr>
                      <a:r>
                        <a:t>165</a:t>
                      </a:r>
                    </a:p>
                  </a:txBody>
                  <a:tcPr anchor="ctr">
                    <a:solidFill>
                      <a:srgbClr val="D9D9D9"/>
                    </a:solidFill>
                  </a:tcPr>
                </a:tc>
                <a:tc>
                  <a:txBody>
                    <a:bodyPr/>
                    <a:lstStyle/>
                    <a:p>
                      <a:pPr algn="ctr">
                        <a:defRPr sz="1000">
                          <a:latin typeface="Montserrat"/>
                        </a:defRPr>
                      </a:pPr>
                      <a:r>
                        <a:t>80.3%</a:t>
                      </a:r>
                    </a:p>
                  </a:txBody>
                  <a:tcPr anchor="ctr">
                    <a:solidFill>
                      <a:srgbClr val="D9D9D9"/>
                    </a:solidFill>
                  </a:tcPr>
                </a:tc>
              </a:tr>
              <a:tr h="216000">
                <a:tc>
                  <a:txBody>
                    <a:bodyPr/>
                    <a:lstStyle/>
                    <a:p>
                      <a:pPr algn="l">
                        <a:defRPr sz="1000">
                          <a:latin typeface="Montserrat"/>
                        </a:defRPr>
                      </a:pPr>
                      <a:r>
                        <a:t>Histerectomías</a:t>
                      </a:r>
                    </a:p>
                  </a:txBody>
                  <a:tcPr anchor="ctr">
                    <a:solidFill>
                      <a:srgbClr val="FFFFFF"/>
                    </a:solidFill>
                  </a:tcPr>
                </a:tc>
                <a:tc>
                  <a:txBody>
                    <a:bodyPr/>
                    <a:lstStyle/>
                    <a:p>
                      <a:pPr algn="ctr">
                        <a:defRPr sz="1000">
                          <a:latin typeface="Montserrat"/>
                        </a:defRPr>
                      </a:pPr>
                      <a:r>
                        <a:t>158</a:t>
                      </a:r>
                    </a:p>
                  </a:txBody>
                  <a:tcPr anchor="ctr">
                    <a:solidFill>
                      <a:srgbClr val="FFFFFF"/>
                    </a:solidFill>
                  </a:tcPr>
                </a:tc>
                <a:tc>
                  <a:txBody>
                    <a:bodyPr/>
                    <a:lstStyle/>
                    <a:p>
                      <a:pPr algn="ctr">
                        <a:defRPr sz="1000">
                          <a:latin typeface="Montserrat"/>
                        </a:defRPr>
                      </a:pPr>
                      <a:r>
                        <a:t>93.0%</a:t>
                      </a:r>
                    </a:p>
                  </a:txBody>
                  <a:tcPr anchor="ctr">
                    <a:solidFill>
                      <a:srgbClr val="FFFFFF"/>
                    </a:solidFill>
                  </a:tcPr>
                </a:tc>
              </a:tr>
              <a:tr h="216000">
                <a:tc>
                  <a:txBody>
                    <a:bodyPr/>
                    <a:lstStyle/>
                    <a:p>
                      <a:pPr algn="l">
                        <a:defRPr sz="1000">
                          <a:latin typeface="Montserrat"/>
                        </a:defRPr>
                      </a:pPr>
                      <a:r>
                        <a:t>Sustitución de cadera</a:t>
                      </a:r>
                    </a:p>
                  </a:txBody>
                  <a:tcPr anchor="ctr">
                    <a:solidFill>
                      <a:srgbClr val="D9D9D9"/>
                    </a:solidFill>
                  </a:tcPr>
                </a:tc>
                <a:tc>
                  <a:txBody>
                    <a:bodyPr/>
                    <a:lstStyle/>
                    <a:p>
                      <a:pPr algn="ctr">
                        <a:defRPr sz="1000">
                          <a:latin typeface="Montserrat"/>
                        </a:defRPr>
                      </a:pPr>
                      <a:r>
                        <a:t>44</a:t>
                      </a:r>
                    </a:p>
                  </a:txBody>
                  <a:tcPr anchor="ctr">
                    <a:solidFill>
                      <a:srgbClr val="D9D9D9"/>
                    </a:solidFill>
                  </a:tcPr>
                </a:tc>
                <a:tc>
                  <a:txBody>
                    <a:bodyPr/>
                    <a:lstStyle/>
                    <a:p>
                      <a:pPr algn="ctr">
                        <a:defRPr sz="1000">
                          <a:latin typeface="Montserrat"/>
                        </a:defRPr>
                      </a:pPr>
                      <a:r>
                        <a:t>96.5%</a:t>
                      </a:r>
                    </a:p>
                  </a:txBody>
                  <a:tcPr anchor="ctr">
                    <a:solidFill>
                      <a:srgbClr val="D9D9D9"/>
                    </a:solidFill>
                  </a:tcPr>
                </a:tc>
              </a:tr>
              <a:tr h="216000">
                <a:tc>
                  <a:txBody>
                    <a:bodyPr/>
                    <a:lstStyle/>
                    <a:p>
                      <a:pPr algn="l">
                        <a:defRPr sz="1000">
                          <a:latin typeface="Montserrat"/>
                        </a:defRPr>
                      </a:pPr>
                      <a:r>
                        <a:t>Mastectomías</a:t>
                      </a:r>
                    </a:p>
                  </a:txBody>
                  <a:tcPr anchor="ctr">
                    <a:solidFill>
                      <a:srgbClr val="FFFFFF"/>
                    </a:solidFill>
                  </a:tcPr>
                </a:tc>
                <a:tc>
                  <a:txBody>
                    <a:bodyPr/>
                    <a:lstStyle/>
                    <a:p>
                      <a:pPr algn="ctr">
                        <a:defRPr sz="1000">
                          <a:latin typeface="Montserrat"/>
                        </a:defRPr>
                      </a:pPr>
                      <a:r>
                        <a:t>43</a:t>
                      </a:r>
                    </a:p>
                  </a:txBody>
                  <a:tcPr anchor="ctr">
                    <a:solidFill>
                      <a:srgbClr val="FFFFFF"/>
                    </a:solidFill>
                  </a:tcPr>
                </a:tc>
                <a:tc>
                  <a:txBody>
                    <a:bodyPr/>
                    <a:lstStyle/>
                    <a:p>
                      <a:pPr algn="ctr">
                        <a:defRPr sz="1000">
                          <a:latin typeface="Montserrat"/>
                        </a:defRPr>
                      </a:pPr>
                      <a:r>
                        <a:t>100.0%</a:t>
                      </a:r>
                    </a:p>
                  </a:txBody>
                  <a:tcPr anchor="ctr">
                    <a:solidFill>
                      <a:srgbClr val="FFFFFF"/>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1,245</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spTree>
    <p:extLst>
      <p:ext uri="{BB962C8B-B14F-4D97-AF65-F5344CB8AC3E}">
        <p14:creationId xmlns:p14="http://schemas.microsoft.com/office/powerpoint/2010/main" val="3805655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297" name="TextBox 296"/>
          <p:cNvSpPr txBox="1"/>
          <p:nvPr/>
        </p:nvSpPr>
        <p:spPr>
          <a:xfrm>
            <a:off x="137160" y="722376"/>
            <a:ext cx="7470648" cy="384048"/>
          </a:xfrm>
          <a:prstGeom prst="rect">
            <a:avLst/>
          </a:prstGeom>
          <a:noFill/>
        </p:spPr>
        <p:txBody>
          <a:bodyPr wrap="none">
            <a:spAutoFit/>
          </a:bodyPr>
          <a:lstStyle/>
          <a:p>
            <a:pPr algn="l">
              <a:defRPr sz="2100" b="1">
                <a:solidFill>
                  <a:srgbClr val="B4975A"/>
                </a:solidFill>
                <a:latin typeface="Montserrat"/>
              </a:defRPr>
            </a:pPr>
            <a:r>
              <a:t>Personal Total: 16,290	 Personal de Salud: 10,450</a:t>
            </a:r>
          </a:p>
        </p:txBody>
      </p:sp>
      <p:cxnSp>
        <p:nvCxnSpPr>
          <p:cNvPr id="298" name="Connector 297"/>
          <p:cNvCxnSpPr/>
          <p:nvPr/>
        </p:nvCxnSpPr>
        <p:spPr>
          <a:xfrm>
            <a:off x="137160" y="1106424"/>
            <a:ext cx="7470648" cy="0"/>
          </a:xfrm>
          <a:prstGeom prst="line">
            <a:avLst/>
          </a:prstGeom>
          <a:ln w="18288">
            <a:solidFill>
              <a:srgbClr val="B4975A"/>
            </a:solidFill>
          </a:ln>
          <a:effectLst/>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+66.9%</a:t>
            </a:r>
          </a:p>
        </p:txBody>
      </p:sp>
      <p:graphicFrame>
        <p:nvGraphicFramePr>
          <p:cNvPr id="301" name="Table 300"/>
          <p:cNvGraphicFramePr>
            <a:graphicFrameLocks noGrp="1"/>
          </p:cNvGraphicFramePr>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133</a:t>
                      </a:r>
                    </a:p>
                  </a:txBody>
                  <a:tcPr marL="0" marR="0" marT="0" marB="0">
                    <a:noFill/>
                  </a:tcPr>
                </a:tc>
                <a:tc>
                  <a:txBody>
                    <a:bodyPr/>
                    <a:lstStyle/>
                    <a:p>
                      <a:pPr algn="ctr">
                        <a:defRPr b="1" sz="1500">
                          <a:solidFill>
                            <a:srgbClr val="B4975A"/>
                          </a:solidFill>
                          <a:latin typeface="Montserrat"/>
                        </a:defRPr>
                      </a:pPr>
                      <a:r>
                        <a:t>222</a:t>
                      </a:r>
                    </a:p>
                  </a:txBody>
                  <a:tcPr marL="0" marR="0" marT="0" marB="0">
                    <a:noFill/>
                  </a:tcPr>
                </a:tc>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+34.1%</a:t>
            </a:r>
          </a:p>
        </p:txBody>
      </p:sp>
      <p:graphicFrame>
        <p:nvGraphicFramePr>
          <p:cNvPr id="304" name="Table 303"/>
          <p:cNvGraphicFramePr>
            <a:graphicFrameLocks noGrp="1"/>
          </p:cNvGraphicFramePr>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gridCol w="992124"/>
              </a:tblGrid>
              <a:tr h="258317">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8318">
                <a:tc>
                  <a:txBody>
                    <a:bodyPr/>
                    <a:lstStyle/>
                    <a:p>
                      <a:pPr algn="ctr">
                        <a:defRPr b="1" sz="1500">
                          <a:solidFill>
                            <a:srgbClr val="004B41"/>
                          </a:solidFill>
                          <a:latin typeface="Montserrat"/>
                        </a:defRPr>
                      </a:pPr>
                      <a:r>
                        <a:t>1,677</a:t>
                      </a:r>
                    </a:p>
                  </a:txBody>
                  <a:tcPr marL="0" marR="0" marT="0" marB="0">
                    <a:noFill/>
                  </a:tcPr>
                </a:tc>
                <a:tc>
                  <a:txBody>
                    <a:bodyPr/>
                    <a:lstStyle/>
                    <a:p>
                      <a:pPr algn="ctr">
                        <a:defRPr b="1" sz="1500">
                          <a:solidFill>
                            <a:srgbClr val="B4975A"/>
                          </a:solidFill>
                          <a:latin typeface="Montserrat"/>
                        </a:defRPr>
                      </a:pPr>
                      <a:r>
                        <a:t>2,249</a:t>
                      </a:r>
                    </a:p>
                  </a:txBody>
                  <a:tcPr marL="0" marR="0" marT="0" marB="0">
                    <a:noFill/>
                  </a:tcPr>
                </a:tc>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+25.7%</a:t>
            </a:r>
          </a:p>
        </p:txBody>
      </p:sp>
      <p:graphicFrame>
        <p:nvGraphicFramePr>
          <p:cNvPr id="307" name="Table 306"/>
          <p:cNvGraphicFramePr>
            <a:graphicFrameLocks noGrp="1"/>
          </p:cNvGraphicFramePr>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3,277</a:t>
                      </a:r>
                    </a:p>
                  </a:txBody>
                  <a:tcPr marL="0" marR="0" marT="0" marB="0">
                    <a:noFill/>
                  </a:tcPr>
                </a:tc>
                <a:tc>
                  <a:txBody>
                    <a:bodyPr/>
                    <a:lstStyle/>
                    <a:p>
                      <a:pPr algn="ctr">
                        <a:defRPr b="1" sz="1500">
                          <a:solidFill>
                            <a:srgbClr val="B4975A"/>
                          </a:solidFill>
                          <a:latin typeface="Montserrat"/>
                        </a:defRPr>
                      </a:pPr>
                      <a:r>
                        <a:t>4,120</a:t>
                      </a:r>
                    </a:p>
                  </a:txBody>
                  <a:tcPr marL="0" marR="0" marT="0" marB="0">
                    <a:noFill/>
                  </a:tcPr>
                </a:tc>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+26.0%</a:t>
            </a:r>
          </a:p>
        </p:txBody>
      </p:sp>
      <p:graphicFrame>
        <p:nvGraphicFramePr>
          <p:cNvPr id="310" name="Table 309"/>
          <p:cNvGraphicFramePr>
            <a:graphicFrameLocks noGrp="1"/>
          </p:cNvGraphicFramePr>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2,296</a:t>
                      </a:r>
                    </a:p>
                  </a:txBody>
                  <a:tcPr marL="0" marR="0" marT="0" marB="0">
                    <a:noFill/>
                  </a:tcPr>
                </a:tc>
                <a:tc>
                  <a:txBody>
                    <a:bodyPr/>
                    <a:lstStyle/>
                    <a:p>
                      <a:pPr algn="ctr">
                        <a:defRPr b="1" sz="1500">
                          <a:solidFill>
                            <a:srgbClr val="B4975A"/>
                          </a:solidFill>
                          <a:latin typeface="Montserrat"/>
                        </a:defRPr>
                      </a:pPr>
                      <a:r>
                        <a:t>2,892</a:t>
                      </a:r>
                    </a:p>
                  </a:txBody>
                  <a:tcPr marL="0" marR="0" marT="0" marB="0">
                    <a:noFill/>
                  </a:tcPr>
                </a:tc>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-4.3%</a:t>
            </a:r>
          </a:p>
        </p:txBody>
      </p:sp>
      <p:graphicFrame>
        <p:nvGraphicFramePr>
          <p:cNvPr id="313" name="Table 312"/>
          <p:cNvGraphicFramePr>
            <a:graphicFrameLocks noGrp="1"/>
          </p:cNvGraphicFramePr>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278</a:t>
                      </a:r>
                    </a:p>
                  </a:txBody>
                  <a:tcPr marL="0" marR="0" marT="0" marB="0">
                    <a:noFill/>
                  </a:tcPr>
                </a:tc>
                <a:tc>
                  <a:txBody>
                    <a:bodyPr/>
                    <a:lstStyle/>
                    <a:p>
                      <a:pPr algn="ctr">
                        <a:defRPr b="1" sz="1500">
                          <a:solidFill>
                            <a:srgbClr val="B4975A"/>
                          </a:solidFill>
                          <a:latin typeface="Montserrat"/>
                        </a:defRPr>
                      </a:pPr>
                      <a:r>
                        <a:t>266</a:t>
                      </a:r>
                    </a:p>
                  </a:txBody>
                  <a:tcPr marL="0" marR="0" marT="0" marB="0">
                    <a:noFill/>
                  </a:tcPr>
                </a:tc>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+6.9%</a:t>
            </a:r>
          </a:p>
        </p:txBody>
      </p:sp>
      <p:graphicFrame>
        <p:nvGraphicFramePr>
          <p:cNvPr id="316" name="Table 315"/>
          <p:cNvGraphicFramePr>
            <a:graphicFrameLocks noGrp="1"/>
          </p:cNvGraphicFramePr>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656</a:t>
                      </a:r>
                    </a:p>
                  </a:txBody>
                  <a:tcPr marL="0" marR="0" marT="0" marB="0">
                    <a:noFill/>
                  </a:tcPr>
                </a:tc>
                <a:tc>
                  <a:txBody>
                    <a:bodyPr/>
                    <a:lstStyle/>
                    <a:p>
                      <a:pPr algn="ctr">
                        <a:defRPr b="1" sz="1500">
                          <a:solidFill>
                            <a:srgbClr val="B4975A"/>
                          </a:solidFill>
                          <a:latin typeface="Montserrat"/>
                        </a:defRPr>
                      </a:pPr>
                      <a:r>
                        <a:t>701</a:t>
                      </a:r>
                    </a:p>
                  </a:txBody>
                  <a:tcPr marL="0" marR="0" marT="0" marB="0">
                    <a:noFill/>
                  </a:tcPr>
                </a:tc>
              </a:tr>
            </a:tbl>
          </a:graphicData>
        </a:graphic>
      </p:graphicFrame>
      <p:graphicFrame>
        <p:nvGraphicFramePr>
          <p:cNvPr id="317" name="Table 316"/>
          <p:cNvGraphicFramePr>
            <a:graphicFrameLocks noGrp="1"/>
          </p:cNvGraphicFramePr>
          <p:nvPr/>
        </p:nvGraphicFramePr>
        <p:xfrm>
          <a:off x="4507200" y="55152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2025</a:t>
                      </a:r>
                    </a:p>
                  </a:txBody>
                  <a:tcPr marL="36576" marR="36576" marT="36576" marB="36576">
                    <a:solidFill>
                      <a:srgbClr val="006455"/>
                    </a:solidFill>
                  </a:tcPr>
                </a:tc>
                <a:tc>
                  <a:txBody>
                    <a:bodyPr/>
                    <a:lstStyle/>
                    <a:p>
                      <a:pPr algn="ctr">
                        <a:defRPr b="1" sz="900">
                          <a:solidFill>
                            <a:srgbClr val="FFFFFF"/>
                          </a:solidFill>
                          <a:latin typeface="Montserrat"/>
                        </a:defRPr>
                      </a:pPr>
                      <a:r>
                        <a:t>Cantidad</a:t>
                      </a:r>
                    </a:p>
                  </a:txBody>
                  <a:tcPr marL="36576" marR="36576" marT="36576" marB="36576">
                    <a:solidFill>
                      <a:srgbClr val="006455"/>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40</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34</a:t>
                      </a:r>
                    </a:p>
                  </a:txBody>
                  <a:tcPr marL="45720" marR="45720" marT="45720" marB="45720">
                    <a:solidFill>
                      <a:srgbClr val="EFEFEF"/>
                    </a:solidFill>
                  </a:tcPr>
                </a:tc>
              </a:tr>
              <a:tr h="18288">
                <a:tc>
                  <a:txBody>
                    <a:bodyPr/>
                    <a:lstStyle/>
                    <a:p>
                      <a:pPr algn="l">
                        <a:defRPr sz="800">
                          <a:latin typeface="Montserrat"/>
                        </a:defRPr>
                      </a:pPr>
                      <a:r>
                        <a:t>Anestesiología</a:t>
                      </a:r>
                    </a:p>
                  </a:txBody>
                  <a:tcPr marL="45720" marR="45720" marT="45720" marB="45720">
                    <a:solidFill>
                      <a:srgbClr val="FFFFFF"/>
                    </a:solidFill>
                  </a:tcPr>
                </a:tc>
                <a:tc>
                  <a:txBody>
                    <a:bodyPr/>
                    <a:lstStyle/>
                    <a:p>
                      <a:pPr algn="ctr">
                        <a:defRPr sz="800">
                          <a:latin typeface="Montserrat"/>
                        </a:defRPr>
                      </a:pPr>
                      <a:r>
                        <a:t>17</a:t>
                      </a:r>
                    </a:p>
                  </a:txBody>
                  <a:tcPr marL="45720" marR="45720" marT="45720" marB="45720">
                    <a:solidFill>
                      <a:srgbClr val="FFFFFF"/>
                    </a:solidFill>
                  </a:tcPr>
                </a:tc>
              </a:tr>
              <a:tr h="18288">
                <a:tc>
                  <a:txBody>
                    <a:bodyPr/>
                    <a:lstStyle/>
                    <a:p>
                      <a:pPr algn="l">
                        <a:defRPr sz="800">
                          <a:latin typeface="Montserrat"/>
                        </a:defRPr>
                      </a:pPr>
                      <a:r>
                        <a:t>Cirugía General</a:t>
                      </a:r>
                    </a:p>
                  </a:txBody>
                  <a:tcPr marL="45720" marR="45720" marT="45720" marB="45720">
                    <a:solidFill>
                      <a:srgbClr val="EFEFEF"/>
                    </a:solidFill>
                  </a:tcPr>
                </a:tc>
                <a:tc>
                  <a:txBody>
                    <a:bodyPr/>
                    <a:lstStyle/>
                    <a:p>
                      <a:pPr algn="ctr">
                        <a:defRPr sz="800">
                          <a:latin typeface="Montserrat"/>
                        </a:defRPr>
                      </a:pPr>
                      <a:r>
                        <a:t>11</a:t>
                      </a:r>
                    </a:p>
                  </a:txBody>
                  <a:tcPr marL="45720" marR="45720" marT="45720" marB="45720">
                    <a:solidFill>
                      <a:srgbClr val="EFEFEF"/>
                    </a:solidFill>
                  </a:tcPr>
                </a:tc>
              </a:tr>
              <a:tr h="18288">
                <a:tc>
                  <a:txBody>
                    <a:bodyPr/>
                    <a:lstStyle/>
                    <a:p>
                      <a:pPr algn="l">
                        <a:defRPr sz="800">
                          <a:latin typeface="Montserrat"/>
                        </a:defRPr>
                      </a:pPr>
                      <a:r>
                        <a:t>Medicina Interna</a:t>
                      </a:r>
                    </a:p>
                  </a:txBody>
                  <a:tcPr marL="45720" marR="45720" marT="45720" marB="45720">
                    <a:solidFill>
                      <a:srgbClr val="FFFFFF"/>
                    </a:solidFill>
                  </a:tcPr>
                </a:tc>
                <a:tc>
                  <a:txBody>
                    <a:bodyPr/>
                    <a:lstStyle/>
                    <a:p>
                      <a:pPr algn="ctr">
                        <a:defRPr sz="800">
                          <a:latin typeface="Montserrat"/>
                        </a:defRPr>
                      </a:pPr>
                      <a:r>
                        <a:t>9</a:t>
                      </a:r>
                    </a:p>
                  </a:txBody>
                  <a:tcPr marL="45720" marR="45720" marT="45720" marB="45720">
                    <a:solidFill>
                      <a:srgbClr val="FFFFFF"/>
                    </a:solidFill>
                  </a:tcPr>
                </a:tc>
              </a:tr>
            </a:tbl>
          </a:graphicData>
        </a:graphic>
      </p:graphicFrame>
      <p:graphicFrame>
        <p:nvGraphicFramePr>
          <p:cNvPr id="318" name="Table 317"/>
          <p:cNvGraphicFramePr>
            <a:graphicFrameLocks noGrp="1"/>
          </p:cNvGraphicFramePr>
          <p:nvPr/>
        </p:nvGraphicFramePr>
        <p:xfrm>
          <a:off x="4507200" y="68508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2026</a:t>
                      </a:r>
                    </a:p>
                  </a:txBody>
                  <a:tcPr marL="36576" marR="36576" marT="36576" marB="36576">
                    <a:solidFill>
                      <a:srgbClr val="691C32"/>
                    </a:solidFill>
                  </a:tcPr>
                </a:tc>
                <a:tc>
                  <a:txBody>
                    <a:bodyPr/>
                    <a:lstStyle/>
                    <a:p>
                      <a:pPr algn="ctr">
                        <a:defRPr b="1" sz="900">
                          <a:solidFill>
                            <a:srgbClr val="FFFFFF"/>
                          </a:solidFill>
                          <a:latin typeface="Montserrat"/>
                        </a:defRPr>
                      </a:pPr>
                      <a:r>
                        <a:t>Cantidad</a:t>
                      </a:r>
                    </a:p>
                  </a:txBody>
                  <a:tcPr marL="36576" marR="36576" marT="36576" marB="36576">
                    <a:solidFill>
                      <a:srgbClr val="691C32"/>
                    </a:solidFill>
                  </a:tcPr>
                </a:tc>
              </a:tr>
              <a:tr h="18288">
                <a:tc>
                  <a:txBody>
                    <a:bodyPr/>
                    <a:lstStyle/>
                    <a:p>
                      <a:pPr algn="l">
                        <a:defRPr sz="800">
                          <a:latin typeface="Montserrat"/>
                        </a:defRPr>
                      </a:pPr>
                      <a:r>
                        <a:t>Medicina de Urgencias</a:t>
                      </a:r>
                    </a:p>
                  </a:txBody>
                  <a:tcPr marL="45720" marR="45720" marT="45720" marB="45720">
                    <a:solidFill>
                      <a:srgbClr val="FFFFFF"/>
                    </a:solidFill>
                  </a:tcPr>
                </a:tc>
                <a:tc>
                  <a:txBody>
                    <a:bodyPr/>
                    <a:lstStyle/>
                    <a:p>
                      <a:pPr algn="ctr">
                        <a:defRPr sz="800">
                          <a:latin typeface="Montserrat"/>
                        </a:defRPr>
                      </a:pPr>
                      <a:r>
                        <a:t>30</a:t>
                      </a:r>
                    </a:p>
                  </a:txBody>
                  <a:tcPr marL="45720" marR="45720" marT="45720" marB="45720">
                    <a:solidFill>
                      <a:srgbClr val="FFFFFF"/>
                    </a:solidFill>
                  </a:tcPr>
                </a:tc>
              </a:tr>
              <a:tr h="18288">
                <a:tc>
                  <a:txBody>
                    <a:bodyPr/>
                    <a:lstStyle/>
                    <a:p>
                      <a:pPr algn="l">
                        <a:defRPr sz="800">
                          <a:latin typeface="Montserrat"/>
                        </a:defRPr>
                      </a:pPr>
                      <a:r>
                        <a:t>Medicina Familiar</a:t>
                      </a:r>
                    </a:p>
                  </a:txBody>
                  <a:tcPr marL="45720" marR="45720" marT="45720" marB="45720">
                    <a:solidFill>
                      <a:srgbClr val="EFEFEF"/>
                    </a:solidFill>
                  </a:tcPr>
                </a:tc>
                <a:tc>
                  <a:txBody>
                    <a:bodyPr/>
                    <a:lstStyle/>
                    <a:p>
                      <a:pPr algn="ctr">
                        <a:defRPr sz="800">
                          <a:latin typeface="Montserrat"/>
                        </a:defRPr>
                      </a:pPr>
                      <a:r>
                        <a:t>29</a:t>
                      </a:r>
                    </a:p>
                  </a:txBody>
                  <a:tcPr marL="45720" marR="45720" marT="45720" marB="45720">
                    <a:solidFill>
                      <a:srgbClr val="EFEFEF"/>
                    </a:solidFill>
                  </a:tcPr>
                </a:tc>
              </a:tr>
              <a:tr h="18288">
                <a:tc>
                  <a:txBody>
                    <a:bodyPr/>
                    <a:lstStyle/>
                    <a:p>
                      <a:pPr algn="l">
                        <a:defRPr sz="800">
                          <a:latin typeface="Montserrat"/>
                        </a:defRPr>
                      </a:pPr>
                      <a:r>
                        <a:t>Cirugía General</a:t>
                      </a:r>
                    </a:p>
                  </a:txBody>
                  <a:tcPr marL="45720" marR="45720" marT="45720" marB="45720">
                    <a:solidFill>
                      <a:srgbClr val="FFFFFF"/>
                    </a:solidFill>
                  </a:tcPr>
                </a:tc>
                <a:tc>
                  <a:txBody>
                    <a:bodyPr/>
                    <a:lstStyle/>
                    <a:p>
                      <a:pPr algn="ctr">
                        <a:defRPr sz="800">
                          <a:latin typeface="Montserrat"/>
                        </a:defRPr>
                      </a:pPr>
                      <a:r>
                        <a:t>16</a:t>
                      </a:r>
                    </a:p>
                  </a:txBody>
                  <a:tcPr marL="45720" marR="45720" marT="45720" marB="45720">
                    <a:solidFill>
                      <a:srgbClr val="FFFFFF"/>
                    </a:solidFill>
                  </a:tcPr>
                </a:tc>
              </a:tr>
              <a:tr h="18288">
                <a:tc>
                  <a:txBody>
                    <a:bodyPr/>
                    <a:lstStyle/>
                    <a:p>
                      <a:pPr algn="l">
                        <a:defRPr sz="800">
                          <a:latin typeface="Montserrat"/>
                        </a:defRPr>
                      </a:pPr>
                      <a:r>
                        <a:t>Anestesiología</a:t>
                      </a:r>
                    </a:p>
                  </a:txBody>
                  <a:tcPr marL="45720" marR="45720" marT="45720" marB="45720">
                    <a:solidFill>
                      <a:srgbClr val="EFEFEF"/>
                    </a:solidFill>
                  </a:tcPr>
                </a:tc>
                <a:tc>
                  <a:txBody>
                    <a:bodyPr/>
                    <a:lstStyle/>
                    <a:p>
                      <a:pPr algn="ctr">
                        <a:defRPr sz="800">
                          <a:latin typeface="Montserrat"/>
                        </a:defRPr>
                      </a:pPr>
                      <a:r>
                        <a:t>13</a:t>
                      </a:r>
                    </a:p>
                  </a:txBody>
                  <a:tcPr marL="45720" marR="45720" marT="45720" marB="45720">
                    <a:solidFill>
                      <a:srgbClr val="EFEFEF"/>
                    </a:solidFill>
                  </a:tcPr>
                </a:tc>
              </a:tr>
              <a:tr h="18288">
                <a:tc>
                  <a:txBody>
                    <a:bodyPr/>
                    <a:lstStyle/>
                    <a:p>
                      <a:pPr algn="l">
                        <a:defRPr sz="800">
                          <a:latin typeface="Montserrat"/>
                        </a:defRPr>
                      </a:pPr>
                      <a:r>
                        <a:t>Medicina Interna</a:t>
                      </a:r>
                    </a:p>
                  </a:txBody>
                  <a:tcPr marL="45720" marR="45720" marT="45720" marB="45720">
                    <a:solidFill>
                      <a:srgbClr val="FFFFFF"/>
                    </a:solidFill>
                  </a:tcPr>
                </a:tc>
                <a:tc>
                  <a:txBody>
                    <a:bodyPr/>
                    <a:lstStyle/>
                    <a:p>
                      <a:pPr algn="ctr">
                        <a:defRPr sz="800">
                          <a:latin typeface="Montserrat"/>
                        </a:defRPr>
                      </a:pPr>
                      <a:r>
                        <a:t>10</a:t>
                      </a:r>
                    </a:p>
                  </a:txBody>
                  <a:tcPr marL="45720" marR="45720" marT="45720" marB="45720">
                    <a:solidFill>
                      <a:srgbClr val="FFFFFF"/>
                    </a:solidFill>
                  </a:tcPr>
                </a:tc>
              </a:tr>
            </a:tbl>
          </a:graphicData>
        </a:graphic>
      </p:graphicFrame>
      <p:graphicFrame>
        <p:nvGraphicFramePr>
          <p:cNvPr id="319" name="Table 318"/>
          <p:cNvGraphicFramePr>
            <a:graphicFrameLocks noGrp="1"/>
          </p:cNvGraphicFramePr>
          <p:nvPr/>
        </p:nvGraphicFramePr>
        <p:xfrm>
          <a:off x="384048" y="8313724"/>
          <a:ext cx="5266944" cy="91440"/>
        </p:xfrm>
        <a:graphic>
          <a:graphicData uri="http://schemas.openxmlformats.org/drawingml/2006/table">
            <a:tbl>
              <a:tblPr bandRow="1">
                <a:tableStyleId>{5C22544A-7EE6-4342-B048-85BDC9FD1C3A}</a:tableStyleId>
              </a:tblPr>
              <a:tblGrid>
                <a:gridCol w="3218688"/>
                <a:gridCol w="2048256"/>
              </a:tblGrid>
              <a:tr h="18288">
                <a:tc>
                  <a:txBody>
                    <a:bodyPr/>
                    <a:lstStyle/>
                    <a:p>
                      <a:pPr algn="l">
                        <a:defRPr b="1" sz="1000">
                          <a:solidFill>
                            <a:srgbClr val="FFFFFF"/>
                          </a:solidFill>
                          <a:latin typeface="Montserrat"/>
                        </a:defRPr>
                      </a:pPr>
                      <a:r>
                        <a:t>Personal médico</a:t>
                      </a:r>
                    </a:p>
                  </a:txBody>
                  <a:tcPr anchor="ctr" marL="36576" marR="36576" marT="36576" marB="36576">
                    <a:solidFill>
                      <a:srgbClr val="006455"/>
                    </a:solidFill>
                  </a:tcPr>
                </a:tc>
                <a:tc>
                  <a:txBody>
                    <a:bodyPr/>
                    <a:lstStyle/>
                    <a:p>
                      <a:pPr algn="ctr">
                        <a:defRPr b="0" sz="1000">
                          <a:solidFill>
                            <a:srgbClr val="000000"/>
                          </a:solidFill>
                          <a:latin typeface="Montserrat"/>
                        </a:defRPr>
                      </a:pPr>
                      <a:r>
                        <a:t>202</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de Enfermería</a:t>
                      </a:r>
                    </a:p>
                  </a:txBody>
                  <a:tcPr anchor="ctr" marL="36576" marR="36576" marT="36576" marB="36576">
                    <a:solidFill>
                      <a:srgbClr val="006455"/>
                    </a:solidFill>
                  </a:tcPr>
                </a:tc>
                <a:tc>
                  <a:txBody>
                    <a:bodyPr/>
                    <a:lstStyle/>
                    <a:p>
                      <a:pPr algn="ctr">
                        <a:defRPr b="0" sz="1000">
                          <a:solidFill>
                            <a:srgbClr val="000000"/>
                          </a:solidFill>
                          <a:latin typeface="Montserrat"/>
                        </a:defRPr>
                      </a:pPr>
                      <a:r>
                        <a:t>81</a:t>
                      </a:r>
                    </a:p>
                  </a:txBody>
                  <a:tcPr anchor="ctr" marL="36576" marR="36576" marT="36576" marB="36576">
                    <a:solidFill>
                      <a:srgbClr val="FFFFFF"/>
                    </a:solidFill>
                  </a:tcPr>
                </a:tc>
              </a:tr>
              <a:tr h="18288">
                <a:tc>
                  <a:txBody>
                    <a:bodyPr/>
                    <a:lstStyle/>
                    <a:p>
                      <a:pPr algn="l">
                        <a:defRPr b="1" sz="1000">
                          <a:solidFill>
                            <a:srgbClr val="FFFFFF"/>
                          </a:solidFill>
                          <a:latin typeface="Montserrat"/>
                        </a:defRPr>
                      </a:pPr>
                      <a:r>
                        <a:t>Personal administrativos y básico</a:t>
                      </a:r>
                    </a:p>
                  </a:txBody>
                  <a:tcPr anchor="ctr" marL="36576" marR="36576" marT="36576" marB="36576">
                    <a:solidFill>
                      <a:srgbClr val="006455"/>
                    </a:solidFill>
                  </a:tcPr>
                </a:tc>
                <a:tc>
                  <a:txBody>
                    <a:bodyPr/>
                    <a:lstStyle/>
                    <a:p>
                      <a:pPr algn="ctr">
                        <a:defRPr b="0" sz="1000">
                          <a:solidFill>
                            <a:srgbClr val="000000"/>
                          </a:solidFill>
                          <a:latin typeface="Montserrat"/>
                        </a:defRPr>
                      </a:pPr>
                      <a:r>
                        <a:t>125</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paramédico y técnico</a:t>
                      </a:r>
                    </a:p>
                  </a:txBody>
                  <a:tcPr anchor="ctr" marL="36576" marR="36576" marT="36576" marB="36576">
                    <a:solidFill>
                      <a:srgbClr val="006455"/>
                    </a:solidFill>
                  </a:tcPr>
                </a:tc>
                <a:tc>
                  <a:txBody>
                    <a:bodyPr/>
                    <a:lstStyle/>
                    <a:p>
                      <a:pPr algn="ctr">
                        <a:defRPr b="0" sz="1000">
                          <a:solidFill>
                            <a:srgbClr val="000000"/>
                          </a:solidFill>
                          <a:latin typeface="Montserrat"/>
                        </a:defRPr>
                      </a:pPr>
                      <a:r>
                        <a:t>115</a:t>
                      </a:r>
                    </a:p>
                  </a:txBody>
                  <a:tcPr anchor="ctr" marL="36576" marR="36576" marT="36576" marB="36576">
                    <a:solidFill>
                      <a:srgbClr val="FFFFFF"/>
                    </a:solidFill>
                  </a:tcPr>
                </a:tc>
              </a:tr>
              <a:tr h="18288">
                <a:tc>
                  <a:txBody>
                    <a:bodyPr/>
                    <a:lstStyle/>
                    <a:p>
                      <a:pPr algn="l">
                        <a:defRPr b="1" sz="1000">
                          <a:solidFill>
                            <a:srgbClr val="00515E"/>
                          </a:solidFill>
                          <a:latin typeface="Montserrat"/>
                        </a:defRPr>
                      </a:pPr>
                      <a:r>
                        <a:t>Total</a:t>
                      </a:r>
                    </a:p>
                  </a:txBody>
                  <a:tcPr anchor="ctr" marL="36576" marR="36576" marT="36576" marB="36576">
                    <a:solidFill>
                      <a:srgbClr val="D3E9E7"/>
                    </a:solidFill>
                  </a:tcPr>
                </a:tc>
                <a:tc>
                  <a:txBody>
                    <a:bodyPr/>
                    <a:lstStyle/>
                    <a:p>
                      <a:pPr algn="ctr">
                        <a:defRPr b="1" sz="1000">
                          <a:solidFill>
                            <a:srgbClr val="00515E"/>
                          </a:solidFill>
                          <a:latin typeface="Montserrat"/>
                        </a:defRPr>
                      </a:pPr>
                      <a:r>
                        <a:t>523</a:t>
                      </a:r>
                    </a:p>
                  </a:txBody>
                  <a:tcPr anchor="ctr" marL="36576" marR="36576" marT="36576" marB="36576">
                    <a:solidFill>
                      <a:srgbClr val="D3E9E7"/>
                    </a:solidFill>
                  </a:tcPr>
                </a:tc>
              </a:tr>
            </a:tbl>
          </a:graphicData>
        </a:graphic>
      </p:graphicFrame>
      <p:graphicFrame>
        <p:nvGraphicFramePr>
          <p:cNvPr id="320" name="Chart 319"/>
          <p:cNvGraphicFramePr>
            <a:graphicFrameLocks noGrp="1"/>
          </p:cNvGraphicFramePr>
          <p:nvPr/>
        </p:nvGraphicFramePr>
        <p:xfrm>
          <a:off x="320040" y="5404104"/>
          <a:ext cx="3438144" cy="2066543"/>
        </p:xfrm>
        <a:graphic>
          <a:graphicData uri="http://schemas.openxmlformats.org/drawingml/2006/chart">
            <c:chart xmlns:c="http://schemas.openxmlformats.org/drawingml/2006/chart" r:id="rId10"/>
          </a:graphicData>
        </a:graphic>
      </p:graphicFrame>
      <p:sp>
        <p:nvSpPr>
          <p:cNvPr id="321" name="TextBox 320"/>
          <p:cNvSpPr txBox="1"/>
          <p:nvPr/>
        </p:nvSpPr>
        <p:spPr>
          <a:xfrm>
            <a:off x="324000" y="4888800"/>
            <a:ext cx="7286399" cy="331200"/>
          </a:xfrm>
          <a:prstGeom prst="rect">
            <a:avLst/>
          </a:prstGeom>
          <a:noFill/>
        </p:spPr>
        <p:txBody>
          <a:bodyPr wrap="square" tIns="0" bIns="0" lIns="0" rIns="0">
            <a:spAutoFit/>
          </a:bodyPr>
          <a:lstStyle/>
          <a:p>
            <a:pPr algn="l">
              <a:defRPr sz="900">
                <a:solidFill>
                  <a:srgbClr val="000000"/>
                </a:solidFill>
                <a:latin typeface="Montserrat"/>
              </a:defRPr>
            </a:pPr>
            <a:r>
              <a:t>Fuente: Dirección de Administración. Base SIAP comparativa del diciembre 2018 con el 15 de mayo 2026.</a:t>
            </a:r>
          </a:p>
        </p:txBody>
      </p:sp>
      <p:sp>
        <p:nvSpPr>
          <p:cNvPr id="322" name="TextBox 321"/>
          <p:cNvSpPr txBox="1"/>
          <p:nvPr/>
        </p:nvSpPr>
        <p:spPr>
          <a:xfrm>
            <a:off x="162000" y="7405200"/>
            <a:ext cx="3888000" cy="370800"/>
          </a:xfrm>
          <a:prstGeom prst="rect">
            <a:avLst/>
          </a:prstGeom>
          <a:noFill/>
        </p:spPr>
        <p:txBody>
          <a:bodyPr wrap="square" tIns="0" bIns="0" lIns="0" rIns="0">
            <a:spAutoFit/>
          </a:bodyPr>
          <a:lstStyle/>
          <a:p>
            <a:pPr algn="l">
              <a:defRPr sz="800">
                <a:solidFill>
                  <a:srgbClr val="000000"/>
                </a:solidFill>
                <a:latin typeface="Montserrat"/>
              </a:defRPr>
            </a:pPr>
            <a:r>
              <a:t>Se muestra el total de egresos en la entidad y sólo las cinco especialidades con mayor egresos de cada año. Corte de información marzo 2026.</a:t>
            </a:r>
            <a:br/>
            <a:r>
              <a:t>Fuente: Dirección de Prestaciones Médicas.</a:t>
            </a:r>
          </a:p>
        </p:txBody>
      </p:sp>
      <p:sp>
        <p:nvSpPr>
          <p:cNvPr id="323" name="TextBox 322"/>
          <p:cNvSpPr txBox="1"/>
          <p:nvPr/>
        </p:nvSpPr>
        <p:spPr>
          <a:xfrm>
            <a:off x="5716800" y="8553600"/>
            <a:ext cx="2048400" cy="554400"/>
          </a:xfrm>
          <a:prstGeom prst="rect">
            <a:avLst/>
          </a:prstGeom>
          <a:noFill/>
        </p:spPr>
        <p:txBody>
          <a:bodyPr wrap="square" tIns="0" bIns="0" lIns="0" rIns="0">
            <a:spAutoFit/>
          </a:bodyPr>
          <a:lstStyle/>
          <a:p>
            <a:pPr algn="l">
              <a:defRPr sz="800">
                <a:solidFill>
                  <a:srgbClr val="000000"/>
                </a:solidFill>
                <a:latin typeface="Montserrat"/>
              </a:defRPr>
            </a:pPr>
            <a:r>
              <a:t>Fuente: Sistema de Información Operativa. Personal de base. Corte de información: abril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689650"/>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dirty="0">
                <a:solidFill>
                  <a:srgbClr val="980000"/>
                </a:solidFill>
                <a:latin typeface="Montserrat"/>
                <a:ea typeface="Montserrat"/>
                <a:cs typeface="Montserrat"/>
                <a:sym typeface="Montserrat"/>
              </a:rPr>
              <a:t>consultas diarias</a:t>
            </a:r>
            <a:endParaRPr sz="2000" b="0" i="0" u="none" strike="noStrike" cap="none" dirty="0">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077789532"/>
              </p:ext>
            </p:extLst>
          </p:nvPr>
        </p:nvGraphicFramePr>
        <p:xfrm>
          <a:off x="218088" y="6048653"/>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Día típico</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546918"/>
            <a:ext cx="911525" cy="799891"/>
          </a:xfrm>
          <a:prstGeom prst="rect">
            <a:avLst/>
          </a:prstGeom>
          <a:noFill/>
          <a:ln>
            <a:noFill/>
          </a:ln>
        </p:spPr>
      </p:pic>
      <p:sp>
        <p:nvSpPr>
          <p:cNvPr id="314" name="Google Shape;314;p9"/>
          <p:cNvSpPr txBox="1"/>
          <p:nvPr/>
        </p:nvSpPr>
        <p:spPr>
          <a:xfrm>
            <a:off x="4850850" y="6852664"/>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861911"/>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615925"/>
            <a:ext cx="911524" cy="758100"/>
          </a:xfrm>
          <a:prstGeom prst="rect">
            <a:avLst/>
          </a:prstGeom>
          <a:noFill/>
          <a:ln>
            <a:noFill/>
          </a:ln>
        </p:spPr>
      </p:pic>
      <p:sp>
        <p:nvSpPr>
          <p:cNvPr id="319" name="Google Shape;319;p9"/>
          <p:cNvSpPr txBox="1"/>
          <p:nvPr/>
        </p:nvSpPr>
        <p:spPr>
          <a:xfrm>
            <a:off x="6651731"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546918"/>
            <a:ext cx="911525" cy="799891"/>
          </a:xfrm>
          <a:prstGeom prst="rect">
            <a:avLst/>
          </a:prstGeom>
          <a:noFill/>
          <a:ln>
            <a:noFill/>
          </a:ln>
        </p:spPr>
      </p:pic>
      <p:sp>
        <p:nvSpPr>
          <p:cNvPr id="322" name="Google Shape;322;p9"/>
          <p:cNvSpPr txBox="1"/>
          <p:nvPr/>
        </p:nvSpPr>
        <p:spPr>
          <a:xfrm>
            <a:off x="1096893" y="6679864"/>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546918"/>
            <a:ext cx="911525" cy="799891"/>
          </a:xfrm>
          <a:prstGeom prst="rect">
            <a:avLst/>
          </a:prstGeom>
          <a:noFill/>
          <a:ln>
            <a:noFill/>
          </a:ln>
        </p:spPr>
      </p:pic>
      <p:sp>
        <p:nvSpPr>
          <p:cNvPr id="325" name="Google Shape;325;p9"/>
          <p:cNvSpPr txBox="1"/>
          <p:nvPr/>
        </p:nvSpPr>
        <p:spPr>
          <a:xfrm>
            <a:off x="5737325" y="7930718"/>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615925"/>
            <a:ext cx="911524" cy="758100"/>
          </a:xfrm>
          <a:prstGeom prst="rect">
            <a:avLst/>
          </a:prstGeom>
          <a:noFill/>
          <a:ln>
            <a:noFill/>
          </a:ln>
        </p:spPr>
      </p:pic>
      <p:sp>
        <p:nvSpPr>
          <p:cNvPr id="328" name="Google Shape;328;p9"/>
          <p:cNvSpPr txBox="1"/>
          <p:nvPr/>
        </p:nvSpPr>
        <p:spPr>
          <a:xfrm>
            <a:off x="2011304" y="7802771"/>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615925"/>
            <a:ext cx="911524" cy="758100"/>
          </a:xfrm>
          <a:prstGeom prst="rect">
            <a:avLst/>
          </a:prstGeom>
          <a:noFill/>
          <a:ln>
            <a:noFill/>
          </a:ln>
        </p:spPr>
      </p:pic>
      <p:sp>
        <p:nvSpPr>
          <p:cNvPr id="331" name="Google Shape;331;p9"/>
          <p:cNvSpPr txBox="1"/>
          <p:nvPr/>
        </p:nvSpPr>
        <p:spPr>
          <a:xfrm>
            <a:off x="2955330"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546918"/>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336" name="TextBox 335"/>
          <p:cNvSpPr txBox="1"/>
          <p:nvPr/>
        </p:nvSpPr>
        <p:spPr>
          <a:xfrm>
            <a:off x="324000" y="6825600"/>
            <a:ext cx="763200" cy="241200"/>
          </a:xfrm>
          <a:prstGeom prst="rect">
            <a:avLst/>
          </a:prstGeom>
          <a:noFill/>
        </p:spPr>
        <p:txBody>
          <a:bodyPr wrap="none">
            <a:spAutoFit/>
          </a:bodyPr>
          <a:lstStyle/>
          <a:p>
            <a:pPr algn="ctr">
              <a:defRPr sz="1300">
                <a:solidFill>
                  <a:srgbClr val="006455"/>
                </a:solidFill>
                <a:latin typeface="Montserrat ExtraBold"/>
              </a:defRPr>
            </a:pPr>
            <a:r>
              <a:t>17,726</a:t>
            </a:r>
          </a:p>
        </p:txBody>
      </p:sp>
      <p:sp>
        <p:nvSpPr>
          <p:cNvPr id="337" name="TextBox 336"/>
          <p:cNvSpPr txBox="1"/>
          <p:nvPr/>
        </p:nvSpPr>
        <p:spPr>
          <a:xfrm>
            <a:off x="2224800" y="6825600"/>
            <a:ext cx="676800" cy="241200"/>
          </a:xfrm>
          <a:prstGeom prst="rect">
            <a:avLst/>
          </a:prstGeom>
          <a:noFill/>
        </p:spPr>
        <p:txBody>
          <a:bodyPr wrap="none">
            <a:spAutoFit/>
          </a:bodyPr>
          <a:lstStyle/>
          <a:p>
            <a:pPr algn="ctr">
              <a:defRPr sz="1300">
                <a:solidFill>
                  <a:srgbClr val="006455"/>
                </a:solidFill>
                <a:latin typeface="Montserrat ExtraBold"/>
              </a:defRPr>
            </a:pPr>
            <a:r>
              <a:t>768</a:t>
            </a:r>
          </a:p>
        </p:txBody>
      </p:sp>
      <p:sp>
        <p:nvSpPr>
          <p:cNvPr id="338" name="TextBox 337"/>
          <p:cNvSpPr txBox="1"/>
          <p:nvPr/>
        </p:nvSpPr>
        <p:spPr>
          <a:xfrm>
            <a:off x="4064399" y="6825600"/>
            <a:ext cx="676800" cy="241200"/>
          </a:xfrm>
          <a:prstGeom prst="rect">
            <a:avLst/>
          </a:prstGeom>
          <a:noFill/>
        </p:spPr>
        <p:txBody>
          <a:bodyPr wrap="none">
            <a:spAutoFit/>
          </a:bodyPr>
          <a:lstStyle/>
          <a:p>
            <a:pPr algn="ctr">
              <a:defRPr sz="1300">
                <a:solidFill>
                  <a:srgbClr val="006455"/>
                </a:solidFill>
                <a:latin typeface="Montserrat ExtraBold"/>
              </a:defRPr>
            </a:pPr>
            <a:r>
              <a:t>146</a:t>
            </a:r>
          </a:p>
        </p:txBody>
      </p:sp>
      <p:sp>
        <p:nvSpPr>
          <p:cNvPr id="339" name="TextBox 338"/>
          <p:cNvSpPr txBox="1"/>
          <p:nvPr/>
        </p:nvSpPr>
        <p:spPr>
          <a:xfrm>
            <a:off x="5929200" y="6825600"/>
            <a:ext cx="676800" cy="241200"/>
          </a:xfrm>
          <a:prstGeom prst="rect">
            <a:avLst/>
          </a:prstGeom>
          <a:noFill/>
        </p:spPr>
        <p:txBody>
          <a:bodyPr wrap="none">
            <a:spAutoFit/>
          </a:bodyPr>
          <a:lstStyle/>
          <a:p>
            <a:pPr algn="ctr">
              <a:defRPr sz="1300">
                <a:solidFill>
                  <a:srgbClr val="006455"/>
                </a:solidFill>
                <a:latin typeface="Montserrat ExtraBold"/>
              </a:defRPr>
            </a:pPr>
            <a:r>
              <a:t>157</a:t>
            </a:r>
          </a:p>
        </p:txBody>
      </p:sp>
      <p:sp>
        <p:nvSpPr>
          <p:cNvPr id="340" name="TextBox 339"/>
          <p:cNvSpPr txBox="1"/>
          <p:nvPr/>
        </p:nvSpPr>
        <p:spPr>
          <a:xfrm>
            <a:off x="1242000" y="7880400"/>
            <a:ext cx="763200" cy="226800"/>
          </a:xfrm>
          <a:prstGeom prst="rect">
            <a:avLst/>
          </a:prstGeom>
          <a:noFill/>
        </p:spPr>
        <p:txBody>
          <a:bodyPr wrap="none">
            <a:spAutoFit/>
          </a:bodyPr>
          <a:lstStyle/>
          <a:p>
            <a:pPr algn="ctr">
              <a:defRPr sz="1300">
                <a:solidFill>
                  <a:srgbClr val="006455"/>
                </a:solidFill>
                <a:latin typeface="Montserrat ExtraBold"/>
              </a:defRPr>
            </a:pPr>
            <a:r>
              <a:t>3,558</a:t>
            </a:r>
          </a:p>
        </p:txBody>
      </p:sp>
      <p:sp>
        <p:nvSpPr>
          <p:cNvPr id="341" name="TextBox 340"/>
          <p:cNvSpPr txBox="1"/>
          <p:nvPr/>
        </p:nvSpPr>
        <p:spPr>
          <a:xfrm>
            <a:off x="3114000" y="7880400"/>
            <a:ext cx="752400" cy="241200"/>
          </a:xfrm>
          <a:prstGeom prst="rect">
            <a:avLst/>
          </a:prstGeom>
          <a:noFill/>
        </p:spPr>
        <p:txBody>
          <a:bodyPr wrap="none">
            <a:spAutoFit/>
          </a:bodyPr>
          <a:lstStyle/>
          <a:p>
            <a:pPr algn="ctr">
              <a:defRPr sz="1300">
                <a:solidFill>
                  <a:srgbClr val="006455"/>
                </a:solidFill>
                <a:latin typeface="Montserrat ExtraBold"/>
              </a:defRPr>
            </a:pPr>
            <a:r>
              <a:t>1,144</a:t>
            </a:r>
          </a:p>
        </p:txBody>
      </p:sp>
      <p:sp>
        <p:nvSpPr>
          <p:cNvPr id="342" name="TextBox 341"/>
          <p:cNvSpPr txBox="1"/>
          <p:nvPr/>
        </p:nvSpPr>
        <p:spPr>
          <a:xfrm>
            <a:off x="5014800" y="7880400"/>
            <a:ext cx="676800" cy="226800"/>
          </a:xfrm>
          <a:prstGeom prst="rect">
            <a:avLst/>
          </a:prstGeom>
          <a:noFill/>
        </p:spPr>
        <p:txBody>
          <a:bodyPr wrap="none">
            <a:spAutoFit/>
          </a:bodyPr>
          <a:lstStyle/>
          <a:p>
            <a:pPr algn="ctr">
              <a:defRPr sz="1300">
                <a:solidFill>
                  <a:srgbClr val="006455"/>
                </a:solidFill>
                <a:latin typeface="Montserrat ExtraBold"/>
              </a:defRPr>
            </a:pPr>
            <a:r>
              <a:t>23</a:t>
            </a:r>
          </a:p>
        </p:txBody>
      </p:sp>
      <p:sp>
        <p:nvSpPr>
          <p:cNvPr id="343" name="TextBox 342"/>
          <p:cNvSpPr txBox="1"/>
          <p:nvPr/>
        </p:nvSpPr>
        <p:spPr>
          <a:xfrm>
            <a:off x="2152800" y="8690400"/>
            <a:ext cx="3427200" cy="385200"/>
          </a:xfrm>
          <a:prstGeom prst="rect">
            <a:avLst/>
          </a:prstGeom>
          <a:noFill/>
        </p:spPr>
        <p:txBody>
          <a:bodyPr wrap="none">
            <a:spAutoFit/>
          </a:bodyPr>
          <a:lstStyle/>
          <a:p>
            <a:pPr algn="ctr">
              <a:defRPr sz="3200" b="1">
                <a:solidFill>
                  <a:srgbClr val="980000"/>
                </a:solidFill>
                <a:latin typeface="Montserrat"/>
              </a:defRPr>
            </a:pPr>
            <a:r>
              <a:t>23,196</a:t>
            </a:r>
          </a:p>
        </p:txBody>
      </p:sp>
      <p:graphicFrame>
        <p:nvGraphicFramePr>
          <p:cNvPr id="344" name="Table 343"/>
          <p:cNvGraphicFramePr>
            <a:graphicFrameLocks noGrp="1"/>
          </p:cNvGraphicFramePr>
          <p:nvPr/>
        </p:nvGraphicFramePr>
        <p:xfrm>
          <a:off x="219600" y="1548000"/>
          <a:ext cx="7567200" cy="2937600"/>
        </p:xfrm>
        <a:graphic>
          <a:graphicData uri="http://schemas.openxmlformats.org/drawingml/2006/table">
            <a:tbl>
              <a:tblPr firstRow="1" bandRow="1">
                <a:tableStyleId>{5C22544A-7EE6-4342-B048-85BDC9FD1C3A}</a:tableStyleId>
              </a:tblPr>
              <a:tblGrid>
                <a:gridCol w="1472400"/>
                <a:gridCol w="1468800"/>
                <a:gridCol w="1479600"/>
                <a:gridCol w="1602000"/>
                <a:gridCol w="1544400"/>
              </a:tblGrid>
              <a:tr h="489600">
                <a:tc>
                  <a:txBody>
                    <a:bodyPr/>
                    <a:lstStyle/>
                    <a:p>
                      <a:pPr algn="ctr">
                        <a:defRPr b="1" sz="1000">
                          <a:solidFill>
                            <a:srgbClr val="FFFFFF"/>
                          </a:solidFill>
                          <a:latin typeface="Montserrat"/>
                        </a:defRPr>
                      </a:pPr>
                      <a:r>
                        <a:t>Medicina Familiar</a:t>
                      </a:r>
                    </a:p>
                  </a:txBody>
                  <a:tcPr anchor="ctr">
                    <a:solidFill>
                      <a:srgbClr val="006455"/>
                    </a:solidFill>
                  </a:tcPr>
                </a:tc>
                <a:tc>
                  <a:txBody>
                    <a:bodyPr/>
                    <a:lstStyle/>
                    <a:p>
                      <a:pPr algn="ctr">
                        <a:defRPr b="1" sz="1000">
                          <a:solidFill>
                            <a:srgbClr val="FFFFFF"/>
                          </a:solidFill>
                          <a:latin typeface="Montserrat"/>
                        </a:defRPr>
                      </a:pPr>
                      <a:r>
                        <a:t>Especialidades</a:t>
                      </a:r>
                    </a:p>
                  </a:txBody>
                  <a:tcPr anchor="ctr">
                    <a:solidFill>
                      <a:srgbClr val="006455"/>
                    </a:solidFill>
                  </a:tcPr>
                </a:tc>
                <a:tc>
                  <a:txBody>
                    <a:bodyPr/>
                    <a:lstStyle/>
                    <a:p>
                      <a:pPr algn="ctr">
                        <a:defRPr b="1" sz="1000">
                          <a:solidFill>
                            <a:srgbClr val="FFFFFF"/>
                          </a:solidFill>
                          <a:latin typeface="Montserrat"/>
                        </a:defRPr>
                      </a:pPr>
                      <a:r>
                        <a:t>Cirugías</a:t>
                      </a:r>
                    </a:p>
                  </a:txBody>
                  <a:tcPr anchor="ctr">
                    <a:solidFill>
                      <a:srgbClr val="006455"/>
                    </a:solidFill>
                  </a:tcPr>
                </a:tc>
                <a:tc>
                  <a:txBody>
                    <a:bodyPr/>
                    <a:lstStyle/>
                    <a:p>
                      <a:pPr algn="ctr">
                        <a:defRPr b="1" sz="1000">
                          <a:solidFill>
                            <a:srgbClr val="FFFFFF"/>
                          </a:solidFill>
                          <a:latin typeface="Montserrat"/>
                        </a:defRPr>
                      </a:pPr>
                      <a:r>
                        <a:t>Egresos</a:t>
                      </a:r>
                    </a:p>
                  </a:txBody>
                  <a:tcPr anchor="ctr">
                    <a:solidFill>
                      <a:srgbClr val="006455"/>
                    </a:solidFill>
                  </a:tcPr>
                </a:tc>
                <a:tc>
                  <a:txBody>
                    <a:bodyPr/>
                    <a:lstStyle/>
                    <a:p>
                      <a:pPr algn="ctr">
                        <a:defRPr b="1" sz="1000">
                          <a:solidFill>
                            <a:srgbClr val="FFFFFF"/>
                          </a:solidFill>
                          <a:latin typeface="Montserrat"/>
                        </a:defRPr>
                      </a:pPr>
                      <a:r>
                        <a:t>Defunciones</a:t>
                      </a:r>
                    </a:p>
                  </a:txBody>
                  <a:tcPr anchor="ctr">
                    <a:solidFill>
                      <a:srgbClr val="006455"/>
                    </a:solidFill>
                  </a:tcPr>
                </a:tc>
              </a:tr>
              <a:tr h="489600">
                <a:tc>
                  <a:txBody>
                    <a:bodyPr/>
                    <a:lstStyle/>
                    <a:p>
                      <a:pPr algn="ctr"/>
                      <a:r>
                        <a:rPr sz="900" b="0">
                          <a:latin typeface="Montserrat"/>
                        </a:rPr>
                        <a:t>Enfermedades del corazón
(214,767)</a:t>
                      </a:r>
                    </a:p>
                  </a:txBody>
                  <a:tcPr>
                    <a:solidFill>
                      <a:srgbClr val="FFFFFF"/>
                    </a:solidFill>
                  </a:tcPr>
                </a:tc>
                <a:tc>
                  <a:txBody>
                    <a:bodyPr/>
                    <a:lstStyle/>
                    <a:p>
                      <a:pPr algn="ctr"/>
                      <a:r>
                        <a:rPr sz="900" b="0">
                          <a:latin typeface="Montserrat"/>
                        </a:rPr>
                        <a:t>Traumatismos e intoxicaciones
(18,385)</a:t>
                      </a:r>
                    </a:p>
                  </a:txBody>
                  <a:tcPr>
                    <a:solidFill>
                      <a:srgbClr val="FFFFFF"/>
                    </a:solidFill>
                  </a:tcPr>
                </a:tc>
                <a:tc>
                  <a:txBody>
                    <a:bodyPr/>
                    <a:lstStyle/>
                    <a:p>
                      <a:pPr algn="ctr"/>
                      <a:r>
                        <a:rPr sz="900" b="0">
                          <a:latin typeface="Montserrat"/>
                        </a:rPr>
                        <a:t>Traumatismos y envenenamientos
(2,704)</a:t>
                      </a:r>
                    </a:p>
                  </a:txBody>
                  <a:tcPr>
                    <a:solidFill>
                      <a:srgbClr val="FFFFFF"/>
                    </a:solidFill>
                  </a:tcPr>
                </a:tc>
                <a:tc>
                  <a:txBody>
                    <a:bodyPr/>
                    <a:lstStyle/>
                    <a:p>
                      <a:pPr algn="ctr"/>
                      <a:r>
                        <a:rPr sz="900" b="0">
                          <a:latin typeface="Montserrat"/>
                        </a:rPr>
                        <a:t>Embarazo, parto y puerperio
(4,004)</a:t>
                      </a:r>
                    </a:p>
                  </a:txBody>
                  <a:tcPr>
                    <a:solidFill>
                      <a:srgbClr val="FFFFFF"/>
                    </a:solidFill>
                  </a:tcPr>
                </a:tc>
                <a:tc>
                  <a:txBody>
                    <a:bodyPr/>
                    <a:lstStyle/>
                    <a:p>
                      <a:pPr algn="ctr"/>
                      <a:r>
                        <a:rPr sz="900" b="0">
                          <a:latin typeface="Montserrat"/>
                        </a:rPr>
                        <a:t>Enfermedades del corazón
(359)</a:t>
                      </a:r>
                    </a:p>
                  </a:txBody>
                  <a:tcPr>
                    <a:solidFill>
                      <a:srgbClr val="FFFFFF"/>
                    </a:solidFill>
                  </a:tcPr>
                </a:tc>
              </a:tr>
              <a:tr h="489600">
                <a:tc>
                  <a:txBody>
                    <a:bodyPr/>
                    <a:lstStyle/>
                    <a:p>
                      <a:pPr algn="ctr"/>
                      <a:r>
                        <a:rPr sz="900" b="0">
                          <a:latin typeface="Montserrat"/>
                        </a:rPr>
                        <a:t>Diabetes mellitus
(201,130)</a:t>
                      </a:r>
                    </a:p>
                  </a:txBody>
                  <a:tcPr>
                    <a:solidFill>
                      <a:srgbClr val="EFEFEF"/>
                    </a:solidFill>
                  </a:tcPr>
                </a:tc>
                <a:tc>
                  <a:txBody>
                    <a:bodyPr/>
                    <a:lstStyle/>
                    <a:p>
                      <a:pPr algn="ctr"/>
                      <a:r>
                        <a:rPr sz="900" b="0">
                          <a:latin typeface="Montserrat"/>
                        </a:rPr>
                        <a:t>Insuficiencia renal
(17,639)</a:t>
                      </a:r>
                    </a:p>
                  </a:txBody>
                  <a:tcPr>
                    <a:solidFill>
                      <a:srgbClr val="EFEFEF"/>
                    </a:solidFill>
                  </a:tcPr>
                </a:tc>
                <a:tc>
                  <a:txBody>
                    <a:bodyPr/>
                    <a:lstStyle/>
                    <a:p>
                      <a:pPr algn="ctr"/>
                      <a:r>
                        <a:rPr sz="900" b="0">
                          <a:latin typeface="Montserrat"/>
                        </a:rPr>
                        <a:t>Cesárea
(2,013)</a:t>
                      </a:r>
                    </a:p>
                  </a:txBody>
                  <a:tcPr>
                    <a:solidFill>
                      <a:srgbClr val="EFEFEF"/>
                    </a:solidFill>
                  </a:tcPr>
                </a:tc>
                <a:tc>
                  <a:txBody>
                    <a:bodyPr/>
                    <a:lstStyle/>
                    <a:p>
                      <a:pPr algn="ctr"/>
                      <a:r>
                        <a:rPr sz="900" b="0">
                          <a:latin typeface="Montserrat"/>
                        </a:rPr>
                        <a:t>Traumatismos e intoxicaciones
(2,794)</a:t>
                      </a:r>
                    </a:p>
                  </a:txBody>
                  <a:tcPr>
                    <a:solidFill>
                      <a:srgbClr val="EFEFEF"/>
                    </a:solidFill>
                  </a:tcPr>
                </a:tc>
                <a:tc>
                  <a:txBody>
                    <a:bodyPr/>
                    <a:lstStyle/>
                    <a:p>
                      <a:pPr algn="ctr"/>
                      <a:r>
                        <a:rPr sz="900" b="0">
                          <a:latin typeface="Montserrat"/>
                        </a:rPr>
                        <a:t>Diabetes mellitus
(304)</a:t>
                      </a:r>
                    </a:p>
                  </a:txBody>
                  <a:tcPr>
                    <a:solidFill>
                      <a:srgbClr val="EFEFEF"/>
                    </a:solidFill>
                  </a:tcPr>
                </a:tc>
              </a:tr>
              <a:tr h="489600">
                <a:tc>
                  <a:txBody>
                    <a:bodyPr/>
                    <a:lstStyle/>
                    <a:p>
                      <a:pPr algn="ctr"/>
                      <a:r>
                        <a:rPr sz="900" b="0">
                          <a:latin typeface="Montserrat"/>
                        </a:rPr>
                        <a:t>Infecciones respiratorias agudas
(54,113)</a:t>
                      </a:r>
                    </a:p>
                  </a:txBody>
                  <a:tcPr>
                    <a:solidFill>
                      <a:srgbClr val="FFFFFF"/>
                    </a:solidFill>
                  </a:tcPr>
                </a:tc>
                <a:tc>
                  <a:txBody>
                    <a:bodyPr/>
                    <a:lstStyle/>
                    <a:p>
                      <a:pPr algn="ctr"/>
                      <a:r>
                        <a:rPr sz="900" b="0">
                          <a:latin typeface="Montserrat"/>
                        </a:rPr>
                        <a:t>Tumores malignos
(17,345)</a:t>
                      </a:r>
                    </a:p>
                  </a:txBody>
                  <a:tcPr>
                    <a:solidFill>
                      <a:srgbClr val="FFFFFF"/>
                    </a:solidFill>
                  </a:tcPr>
                </a:tc>
                <a:tc>
                  <a:txBody>
                    <a:bodyPr/>
                    <a:lstStyle/>
                    <a:p>
                      <a:pPr algn="ctr"/>
                      <a:r>
                        <a:rPr sz="900" b="0">
                          <a:latin typeface="Montserrat"/>
                        </a:rPr>
                        <a:t>Artropatias
(1,808)</a:t>
                      </a:r>
                    </a:p>
                  </a:txBody>
                  <a:tcPr>
                    <a:solidFill>
                      <a:srgbClr val="FFFFFF"/>
                    </a:solidFill>
                  </a:tcPr>
                </a:tc>
                <a:tc>
                  <a:txBody>
                    <a:bodyPr/>
                    <a:lstStyle/>
                    <a:p>
                      <a:pPr algn="ctr"/>
                      <a:r>
                        <a:rPr sz="900" b="0">
                          <a:latin typeface="Montserrat"/>
                        </a:rPr>
                        <a:t>Enfermedades y trastornos de las articulaciones
(2,001)</a:t>
                      </a:r>
                    </a:p>
                  </a:txBody>
                  <a:tcPr>
                    <a:solidFill>
                      <a:srgbClr val="FFFFFF"/>
                    </a:solidFill>
                  </a:tcPr>
                </a:tc>
                <a:tc>
                  <a:txBody>
                    <a:bodyPr/>
                    <a:lstStyle/>
                    <a:p>
                      <a:pPr algn="ctr"/>
                      <a:r>
                        <a:rPr sz="900" b="0">
                          <a:latin typeface="Montserrat"/>
                        </a:rPr>
                        <a:t>Tumores malignos
(281)</a:t>
                      </a:r>
                    </a:p>
                  </a:txBody>
                  <a:tcPr>
                    <a:solidFill>
                      <a:srgbClr val="FFFFFF"/>
                    </a:solidFill>
                  </a:tcPr>
                </a:tc>
              </a:tr>
              <a:tr h="489600">
                <a:tc>
                  <a:txBody>
                    <a:bodyPr/>
                    <a:lstStyle/>
                    <a:p>
                      <a:pPr algn="ctr"/>
                      <a:r>
                        <a:rPr sz="900" b="0">
                          <a:latin typeface="Montserrat"/>
                        </a:rPr>
                        <a:t>Trastornos de la piel y tejidos superficiales
(42,571)</a:t>
                      </a:r>
                    </a:p>
                  </a:txBody>
                  <a:tcPr>
                    <a:solidFill>
                      <a:srgbClr val="EFEFEF"/>
                    </a:solidFill>
                  </a:tcPr>
                </a:tc>
                <a:tc>
                  <a:txBody>
                    <a:bodyPr/>
                    <a:lstStyle/>
                    <a:p>
                      <a:pPr algn="ctr"/>
                      <a:r>
                        <a:rPr sz="900" b="0">
                          <a:latin typeface="Montserrat"/>
                        </a:rPr>
                        <a:t>Problemas y enfermedades de la columna vertebral
(9,209)</a:t>
                      </a:r>
                    </a:p>
                  </a:txBody>
                  <a:tcPr>
                    <a:solidFill>
                      <a:srgbClr val="EFEFEF"/>
                    </a:solidFill>
                  </a:tcPr>
                </a:tc>
                <a:tc>
                  <a:txBody>
                    <a:bodyPr/>
                    <a:lstStyle/>
                    <a:p>
                      <a:pPr algn="ctr"/>
                      <a:r>
                        <a:rPr sz="900" b="0">
                          <a:latin typeface="Montserrat"/>
                        </a:rPr>
                        <a:t>Diabetes mellitus
(925)</a:t>
                      </a:r>
                    </a:p>
                  </a:txBody>
                  <a:tcPr>
                    <a:solidFill>
                      <a:srgbClr val="EFEFEF"/>
                    </a:solidFill>
                  </a:tcPr>
                </a:tc>
                <a:tc>
                  <a:txBody>
                    <a:bodyPr/>
                    <a:lstStyle/>
                    <a:p>
                      <a:pPr algn="ctr"/>
                      <a:r>
                        <a:rPr sz="900" b="0">
                          <a:latin typeface="Montserrat"/>
                        </a:rPr>
                        <a:t>Tumores malignos
(1,035)</a:t>
                      </a:r>
                    </a:p>
                  </a:txBody>
                  <a:tcPr>
                    <a:solidFill>
                      <a:srgbClr val="EFEFEF"/>
                    </a:solidFill>
                  </a:tcPr>
                </a:tc>
                <a:tc>
                  <a:txBody>
                    <a:bodyPr/>
                    <a:lstStyle/>
                    <a:p>
                      <a:pPr algn="ctr"/>
                      <a:r>
                        <a:rPr sz="900" b="0">
                          <a:latin typeface="Montserrat"/>
                        </a:rPr>
                        <a:t>Enfermedades cerebrovasculares
(161)</a:t>
                      </a:r>
                    </a:p>
                  </a:txBody>
                  <a:tcPr>
                    <a:solidFill>
                      <a:srgbClr val="EFEFEF"/>
                    </a:solidFill>
                  </a:tcPr>
                </a:tc>
              </a:tr>
              <a:tr h="489600">
                <a:tc>
                  <a:txBody>
                    <a:bodyPr/>
                    <a:lstStyle/>
                    <a:p>
                      <a:pPr algn="ctr"/>
                      <a:r>
                        <a:rPr sz="900" b="0">
                          <a:latin typeface="Montserrat"/>
                        </a:rPr>
                        <a:t>traumatismos e intoxicaciones
(40,559)</a:t>
                      </a:r>
                    </a:p>
                  </a:txBody>
                  <a:tcPr>
                    <a:solidFill>
                      <a:srgbClr val="FFFFFF"/>
                    </a:solidFill>
                  </a:tcPr>
                </a:tc>
                <a:tc>
                  <a:txBody>
                    <a:bodyPr/>
                    <a:lstStyle/>
                    <a:p>
                      <a:pPr algn="ctr"/>
                      <a:r>
                        <a:rPr sz="900" b="0">
                          <a:latin typeface="Montserrat"/>
                        </a:rPr>
                        <a:t>Enfermedades y trastornos de las articulaciones
(8,916)</a:t>
                      </a:r>
                    </a:p>
                  </a:txBody>
                  <a:tcPr>
                    <a:solidFill>
                      <a:srgbClr val="FFFFFF"/>
                    </a:solidFill>
                  </a:tcPr>
                </a:tc>
                <a:tc>
                  <a:txBody>
                    <a:bodyPr/>
                    <a:lstStyle/>
                    <a:p>
                      <a:pPr algn="ctr"/>
                      <a:r>
                        <a:rPr sz="900" b="0">
                          <a:latin typeface="Montserrat"/>
                        </a:rPr>
                        <a:t>Cirugía de vesicula biliar (Colecistectomía)
(861)</a:t>
                      </a:r>
                    </a:p>
                  </a:txBody>
                  <a:tcPr>
                    <a:solidFill>
                      <a:srgbClr val="FFFFFF"/>
                    </a:solidFill>
                  </a:tcPr>
                </a:tc>
                <a:tc>
                  <a:txBody>
                    <a:bodyPr/>
                    <a:lstStyle/>
                    <a:p>
                      <a:pPr algn="ctr"/>
                      <a:r>
                        <a:rPr sz="900" b="0">
                          <a:latin typeface="Montserrat"/>
                        </a:rPr>
                        <a:t>Enfermedades de la vesicula biliar
(1,031)</a:t>
                      </a:r>
                    </a:p>
                  </a:txBody>
                  <a:tcPr>
                    <a:solidFill>
                      <a:srgbClr val="FFFFFF"/>
                    </a:solidFill>
                  </a:tcPr>
                </a:tc>
                <a:tc>
                  <a:txBody>
                    <a:bodyPr/>
                    <a:lstStyle/>
                    <a:p>
                      <a:pPr algn="ctr"/>
                      <a:r>
                        <a:rPr sz="900" b="0">
                          <a:latin typeface="Montserrat"/>
                        </a:rPr>
                        <a:t>Neumonía e influenza
(154)</a:t>
                      </a:r>
                    </a:p>
                  </a:txBody>
                  <a:tcPr>
                    <a:solidFill>
                      <a:srgbClr val="FFFFFF"/>
                    </a:solidFill>
                  </a:tcPr>
                </a:tc>
              </a:tr>
            </a:tbl>
          </a:graphicData>
        </a:graphic>
      </p:graphicFrame>
      <p:sp>
        <p:nvSpPr>
          <p:cNvPr id="345" name="TextBox 344"/>
          <p:cNvSpPr txBox="1"/>
          <p:nvPr/>
        </p:nvSpPr>
        <p:spPr>
          <a:xfrm>
            <a:off x="219600" y="5608800"/>
            <a:ext cx="5331600" cy="432000"/>
          </a:xfrm>
          <a:prstGeom prst="rect">
            <a:avLst/>
          </a:prstGeom>
          <a:noFill/>
        </p:spPr>
        <p:txBody>
          <a:bodyPr wrap="square" tIns="0" bIns="0" lIns="0" rIns="0">
            <a:spAutoFit/>
          </a:bodyPr>
          <a:lstStyle/>
          <a:p>
            <a:pPr algn="l">
              <a:defRPr sz="700">
                <a:solidFill>
                  <a:srgbClr val="000000"/>
                </a:solidFill>
                <a:latin typeface="Montserrat"/>
              </a:defRPr>
            </a:pPr>
            <a:r>
              <a:t>El número de casos se presentan entre paréntesis.</a:t>
            </a:r>
            <a:br/>
            <a:r>
              <a:t>Fuente: IMSS/DPM/División de Información en Salud/Motivos de Consulta Externa (SUI27).</a:t>
            </a:r>
            <a:br/>
            <a:r>
              <a:t>Sistema de información Médico Operativo Central (SIMOC).</a:t>
            </a:r>
            <a:br/>
            <a:r>
              <a:t>Periodo: enero-diciembre 2025</a:t>
            </a:r>
          </a:p>
        </p:txBody>
      </p:sp>
      <p:sp>
        <p:nvSpPr>
          <p:cNvPr id="346" name="TextBox 345"/>
          <p:cNvSpPr txBox="1"/>
          <p:nvPr/>
        </p:nvSpPr>
        <p:spPr>
          <a:xfrm>
            <a:off x="230400" y="9093600"/>
            <a:ext cx="4244400" cy="2556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TAMAULIPAS</a:t>
            </a:r>
          </a:p>
        </p:txBody>
      </p:sp>
      <p:cxnSp>
        <p:nvCxnSpPr>
          <p:cNvPr id="3" name="Connector 2"/>
          <p:cNvCxnSpPr/>
          <p:nvPr/>
        </p:nvCxnSpPr>
        <p:spPr>
          <a:xfrm>
            <a:off x="274320" y="109728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 y="731520"/>
            <a:ext cx="4572000" cy="365760"/>
          </a:xfrm>
          <a:prstGeom prst="rect">
            <a:avLst/>
          </a:prstGeom>
          <a:noFill/>
        </p:spPr>
        <p:txBody>
          <a:bodyPr wrap="none">
            <a:spAutoFit/>
          </a:bodyPr>
          <a:lstStyle/>
          <a:p>
            <a:pPr algn="l">
              <a:defRPr sz="1800" b="1">
                <a:solidFill>
                  <a:srgbClr val="BC955C"/>
                </a:solidFill>
                <a:latin typeface="Montserrat"/>
              </a:defRPr>
            </a:pPr>
            <a:r>
              <a:t>Recetas surtidas y negadas</a:t>
            </a:r>
          </a:p>
        </p:txBody>
      </p:sp>
      <p:sp>
        <p:nvSpPr>
          <p:cNvPr id="5" name="TextBox 4"/>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abril de cada año</a:t>
            </a:r>
          </a:p>
        </p:txBody>
      </p:sp>
      <p:pic>
        <p:nvPicPr>
          <p:cNvPr id="6" name="Picture 5" descr="image.png"/>
          <p:cNvPicPr>
            <a:picLocks noChangeAspect="1"/>
          </p:cNvPicPr>
          <p:nvPr/>
        </p:nvPicPr>
        <p:blipFill>
          <a:blip r:embed="rId4"/>
          <a:stretch>
            <a:fillRect/>
          </a:stretch>
        </p:blipFill>
        <p:spPr>
          <a:xfrm>
            <a:off x="122400" y="1717199"/>
            <a:ext cx="7347600" cy="3927962"/>
          </a:xfrm>
          <a:prstGeom prst="rect">
            <a:avLst/>
          </a:prstGeom>
        </p:spPr>
      </p:pic>
      <p:sp>
        <p:nvSpPr>
          <p:cNvPr id="7" name="TextBox 6"/>
          <p:cNvSpPr txBox="1"/>
          <p:nvPr/>
        </p:nvSpPr>
        <p:spPr>
          <a:xfrm>
            <a:off x="457200" y="5623560"/>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
        <p:nvSpPr>
          <p:cNvPr id="8" name="TextBox 7"/>
          <p:cNvSpPr txBox="1"/>
          <p:nvPr/>
        </p:nvSpPr>
        <p:spPr>
          <a:xfrm>
            <a:off x="274320" y="5943600"/>
            <a:ext cx="4572000" cy="365760"/>
          </a:xfrm>
          <a:prstGeom prst="rect">
            <a:avLst/>
          </a:prstGeom>
          <a:noFill/>
        </p:spPr>
        <p:txBody>
          <a:bodyPr wrap="none">
            <a:spAutoFit/>
          </a:bodyPr>
          <a:lstStyle/>
          <a:p>
            <a:pPr algn="l">
              <a:defRPr sz="2000" b="0">
                <a:solidFill>
                  <a:srgbClr val="BC955C"/>
                </a:solidFill>
                <a:latin typeface="Montserrat"/>
              </a:defRPr>
            </a:pPr>
            <a:r>
              <a:t>Recetas manuales y electrónicas</a:t>
            </a:r>
          </a:p>
        </p:txBody>
      </p:sp>
      <p:cxnSp>
        <p:nvCxnSpPr>
          <p:cNvPr id="9" name="Connector 8"/>
          <p:cNvCxnSpPr/>
          <p:nvPr/>
        </p:nvCxnSpPr>
        <p:spPr>
          <a:xfrm>
            <a:off x="274320" y="630936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457200" y="6583680"/>
          <a:ext cx="6858000" cy="914400"/>
        </p:xfrm>
        <a:graphic>
          <a:graphicData uri="http://schemas.openxmlformats.org/drawingml/2006/table">
            <a:tbl>
              <a:tblPr firstRow="1" bandRow="1">
                <a:tableStyleId>{5C22544A-7EE6-4342-B048-85BDC9FD1C3A}</a:tableStyleId>
              </a:tblPr>
              <a:tblGrid>
                <a:gridCol w="1714500"/>
                <a:gridCol w="1714500"/>
                <a:gridCol w="1714500"/>
                <a:gridCol w="1714500"/>
              </a:tblGrid>
              <a:tr h="304800">
                <a:tc>
                  <a:txBody>
                    <a:bodyPr/>
                    <a:lstStyle/>
                    <a:p>
                      <a:pPr algn="ctr"/>
                      <a:r>
                        <a:rPr sz="1100" b="1">
                          <a:solidFill>
                            <a:srgbClr val="FFFFFF"/>
                          </a:solidFill>
                          <a:latin typeface="Montserrat"/>
                        </a:rPr>
                        <a:t>Año</a:t>
                      </a:r>
                    </a:p>
                  </a:txBody>
                  <a:tcPr anchor="ctr">
                    <a:solidFill>
                      <a:srgbClr val="006455"/>
                    </a:solidFill>
                  </a:tcPr>
                </a:tc>
                <a:tc>
                  <a:txBody>
                    <a:bodyPr/>
                    <a:lstStyle/>
                    <a:p>
                      <a:pPr algn="ctr"/>
                      <a:r>
                        <a:rPr sz="1100" b="1">
                          <a:solidFill>
                            <a:srgbClr val="FFFFFF"/>
                          </a:solidFill>
                          <a:latin typeface="Montserrat"/>
                        </a:rPr>
                        <a:t>Manuales</a:t>
                      </a:r>
                    </a:p>
                  </a:txBody>
                  <a:tcPr anchor="ctr">
                    <a:solidFill>
                      <a:srgbClr val="006455"/>
                    </a:solidFill>
                  </a:tcPr>
                </a:tc>
                <a:tc>
                  <a:txBody>
                    <a:bodyPr/>
                    <a:lstStyle/>
                    <a:p>
                      <a:pPr algn="ctr"/>
                      <a:r>
                        <a:rPr sz="1100" b="1">
                          <a:solidFill>
                            <a:srgbClr val="FFFFFF"/>
                          </a:solidFill>
                          <a:latin typeface="Montserrat"/>
                        </a:rPr>
                        <a:t>Electrónicas</a:t>
                      </a:r>
                    </a:p>
                  </a:txBody>
                  <a:tcPr anchor="ctr">
                    <a:solidFill>
                      <a:srgbClr val="006455"/>
                    </a:solidFill>
                  </a:tcPr>
                </a:tc>
                <a:tc>
                  <a:txBody>
                    <a:bodyPr/>
                    <a:lstStyle/>
                    <a:p>
                      <a:pPr algn="ctr"/>
                      <a:r>
                        <a:rPr sz="1100" b="1">
                          <a:solidFill>
                            <a:srgbClr val="FFFFFF"/>
                          </a:solidFill>
                          <a:latin typeface="Montserrat"/>
                        </a:rPr>
                        <a:t>Porcentaje de electrónicas</a:t>
                      </a:r>
                    </a:p>
                  </a:txBody>
                  <a:tcPr anchor="ctr">
                    <a:solidFill>
                      <a:srgbClr val="006455"/>
                    </a:solidFill>
                  </a:tcPr>
                </a:tc>
              </a:tr>
              <a:tr h="304800">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376,909</a:t>
                      </a:r>
                    </a:p>
                  </a:txBody>
                  <a:tcPr>
                    <a:solidFill>
                      <a:srgbClr val="FFFFFF"/>
                    </a:solidFill>
                  </a:tcPr>
                </a:tc>
                <a:tc>
                  <a:txBody>
                    <a:bodyPr/>
                    <a:lstStyle/>
                    <a:p>
                      <a:pPr algn="ctr"/>
                      <a:r>
                        <a:rPr sz="1100" b="0">
                          <a:solidFill>
                            <a:srgbClr val="434343"/>
                          </a:solidFill>
                          <a:latin typeface="Montserrat"/>
                        </a:rPr>
                        <a:t>2,039,065</a:t>
                      </a:r>
                    </a:p>
                  </a:txBody>
                  <a:tcPr>
                    <a:solidFill>
                      <a:srgbClr val="FFFFFF"/>
                    </a:solidFill>
                  </a:tcPr>
                </a:tc>
                <a:tc>
                  <a:txBody>
                    <a:bodyPr/>
                    <a:lstStyle/>
                    <a:p>
                      <a:pPr algn="ctr"/>
                      <a:r>
                        <a:rPr sz="1100" b="0">
                          <a:solidFill>
                            <a:srgbClr val="434343"/>
                          </a:solidFill>
                          <a:latin typeface="Montserrat"/>
                        </a:rPr>
                        <a:t>84.4%</a:t>
                      </a:r>
                    </a:p>
                  </a:txBody>
                  <a:tcPr>
                    <a:solidFill>
                      <a:srgbClr val="FFFFFF"/>
                    </a:solidFill>
                  </a:tcPr>
                </a:tc>
              </a:tr>
              <a:tr h="304800">
                <a:tc>
                  <a:txBody>
                    <a:bodyPr/>
                    <a:lstStyle/>
                    <a:p>
                      <a:pPr algn="ctr"/>
                      <a:r>
                        <a:rPr sz="1100" b="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210,329</a:t>
                      </a:r>
                    </a:p>
                  </a:txBody>
                  <a:tcPr>
                    <a:solidFill>
                      <a:srgbClr val="D9D9D9"/>
                    </a:solidFill>
                  </a:tcPr>
                </a:tc>
                <a:tc>
                  <a:txBody>
                    <a:bodyPr/>
                    <a:lstStyle/>
                    <a:p>
                      <a:pPr algn="ctr"/>
                      <a:r>
                        <a:rPr sz="1100" b="1">
                          <a:solidFill>
                            <a:srgbClr val="006455"/>
                          </a:solidFill>
                          <a:latin typeface="Montserrat"/>
                        </a:rPr>
                        <a:t>2,153,802</a:t>
                      </a:r>
                    </a:p>
                  </a:txBody>
                  <a:tcPr>
                    <a:solidFill>
                      <a:srgbClr val="D9D9D9"/>
                    </a:solidFill>
                  </a:tcPr>
                </a:tc>
                <a:tc>
                  <a:txBody>
                    <a:bodyPr/>
                    <a:lstStyle/>
                    <a:p>
                      <a:pPr algn="ctr"/>
                      <a:r>
                        <a:rPr sz="1100" b="1">
                          <a:solidFill>
                            <a:srgbClr val="006455"/>
                          </a:solidFill>
                          <a:latin typeface="Montserrat"/>
                        </a:rPr>
                        <a:t>91.1%</a:t>
                      </a:r>
                    </a:p>
                  </a:txBody>
                  <a:tcPr>
                    <a:solidFill>
                      <a:srgbClr val="D9D9D9"/>
                    </a:solidFill>
                  </a:tcPr>
                </a:tc>
              </a:tr>
            </a:tbl>
          </a:graphicData>
        </a:graphic>
      </p:graphicFrame>
      <p:sp>
        <p:nvSpPr>
          <p:cNvPr id="11" name="TextBox 10"/>
          <p:cNvSpPr txBox="1"/>
          <p:nvPr/>
        </p:nvSpPr>
        <p:spPr>
          <a:xfrm>
            <a:off x="457200" y="7955279"/>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D5696-382B-76E6-3253-44E8DB985714}"/>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TAMAULIPAS</a:t>
            </a:r>
          </a:p>
        </p:txBody>
      </p:sp>
      <p:sp>
        <p:nvSpPr>
          <p:cNvPr id="3" name="TextBox 2"/>
          <p:cNvSpPr txBox="1"/>
          <p:nvPr/>
        </p:nvSpPr>
        <p:spPr>
          <a:xfrm>
            <a:off x="180000" y="612000"/>
            <a:ext cx="5400000" cy="324000"/>
          </a:xfrm>
          <a:prstGeom prst="rect">
            <a:avLst/>
          </a:prstGeom>
          <a:noFill/>
        </p:spPr>
        <p:txBody>
          <a:bodyPr wrap="none" lIns="0" rIns="0" tIns="0" bIns="0">
            <a:spAutoFit/>
          </a:bodyPr>
          <a:lstStyle/>
          <a:p>
            <a:pPr algn="l">
              <a:defRPr sz="2000" b="1">
                <a:solidFill>
                  <a:srgbClr val="BC955C"/>
                </a:solidFill>
                <a:latin typeface="Montserrat"/>
              </a:defRPr>
            </a:pPr>
            <a:r>
              <a:t>Abasto de Medicamentos</a:t>
            </a:r>
          </a:p>
        </p:txBody>
      </p:sp>
      <p:sp>
        <p:nvSpPr>
          <p:cNvPr id="4" name="TextBox 3"/>
          <p:cNvSpPr txBox="1"/>
          <p:nvPr/>
        </p:nvSpPr>
        <p:spPr>
          <a:xfrm>
            <a:off x="180000" y="917999"/>
            <a:ext cx="5400000" cy="251999"/>
          </a:xfrm>
          <a:prstGeom prst="rect">
            <a:avLst/>
          </a:prstGeom>
          <a:noFill/>
        </p:spPr>
        <p:txBody>
          <a:bodyPr wrap="none" lIns="0" rIns="0" tIns="0" bIns="0">
            <a:spAutoFit/>
          </a:bodyPr>
          <a:lstStyle/>
          <a:p>
            <a:pPr algn="l">
              <a:defRPr sz="1500" b="0">
                <a:solidFill>
                  <a:srgbClr val="BC955C"/>
                </a:solidFill>
                <a:latin typeface="Montserrat"/>
              </a:defRPr>
            </a:pPr>
            <a:r>
              <a:t>Piezas consumidas</a:t>
            </a:r>
          </a:p>
        </p:txBody>
      </p:sp>
      <p:cxnSp>
        <p:nvCxnSpPr>
          <p:cNvPr id="5" name="Connector 4"/>
          <p:cNvCxnSpPr/>
          <p:nvPr/>
        </p:nvCxnSpPr>
        <p:spPr>
          <a:xfrm>
            <a:off x="180000" y="1188000"/>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6" name="Picture 5" descr="grafica_piezas_28.png"/>
          <p:cNvPicPr>
            <a:picLocks noChangeAspect="1"/>
          </p:cNvPicPr>
          <p:nvPr/>
        </p:nvPicPr>
        <p:blipFill>
          <a:blip r:embed="rId2"/>
          <a:stretch>
            <a:fillRect/>
          </a:stretch>
        </p:blipFill>
        <p:spPr>
          <a:xfrm>
            <a:off x="129600" y="1360800"/>
            <a:ext cx="7441200" cy="2178000"/>
          </a:xfrm>
          <a:prstGeom prst="rect">
            <a:avLst/>
          </a:prstGeom>
        </p:spPr>
      </p:pic>
      <p:sp>
        <p:nvSpPr>
          <p:cNvPr id="7" name="TextBox 6"/>
          <p:cNvSpPr txBox="1"/>
          <p:nvPr/>
        </p:nvSpPr>
        <p:spPr>
          <a:xfrm>
            <a:off x="180000" y="3671999"/>
            <a:ext cx="6840000" cy="288000"/>
          </a:xfrm>
          <a:prstGeom prst="rect">
            <a:avLst/>
          </a:prstGeom>
          <a:noFill/>
        </p:spPr>
        <p:txBody>
          <a:bodyPr wrap="none" lIns="0" rIns="0" tIns="0" bIns="0">
            <a:spAutoFit/>
          </a:bodyPr>
          <a:lstStyle/>
          <a:p>
            <a:pPr algn="l">
              <a:defRPr sz="1800" b="0">
                <a:solidFill>
                  <a:srgbClr val="BC955C"/>
                </a:solidFill>
                <a:latin typeface="Montserrat"/>
              </a:defRPr>
            </a:pPr>
            <a:r>
              <a:t>Medicamentos con mayor demanda</a:t>
            </a:r>
          </a:p>
        </p:txBody>
      </p:sp>
      <p:cxnSp>
        <p:nvCxnSpPr>
          <p:cNvPr id="8" name="Connector 7"/>
          <p:cNvCxnSpPr/>
          <p:nvPr/>
        </p:nvCxnSpPr>
        <p:spPr>
          <a:xfrm>
            <a:off x="180000" y="3941999"/>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180000" y="4121999"/>
          <a:ext cx="7200000" cy="2034000"/>
        </p:xfrm>
        <a:graphic>
          <a:graphicData uri="http://schemas.openxmlformats.org/drawingml/2006/table">
            <a:tbl>
              <a:tblPr firstRow="1" bandRow="1">
                <a:tableStyleId>{5C22544A-7EE6-4342-B048-85BDC9FD1C3A}</a:tableStyleId>
              </a:tblPr>
              <a:tblGrid>
                <a:gridCol w="5400000"/>
                <a:gridCol w="1800000"/>
              </a:tblGrid>
              <a:tr h="198000">
                <a:tc gridSpan="2">
                  <a:txBody>
                    <a:bodyPr/>
                    <a:lstStyle/>
                    <a:p>
                      <a:pPr algn="ctr">
                        <a:defRPr sz="1000" b="1">
                          <a:solidFill>
                            <a:srgbClr val="FFFFFF"/>
                          </a:solidFill>
                          <a:latin typeface="Montserrat"/>
                        </a:defRPr>
                      </a:pPr>
                      <a:r>
                        <a:t>Con mayor demanda de enero a abril de 2026</a:t>
                      </a:r>
                    </a:p>
                  </a:txBody>
                  <a:tcPr marL="18000" marR="18000" marT="18000" marB="18000" anchor="ctr">
                    <a:solidFill>
                      <a:srgbClr val="006455"/>
                    </a:solidFill>
                  </a:tcPr>
                </a:tc>
                <a:tc hMerge="1">
                  <a:txBody>
                    <a:bodyPr/>
                    <a:lstStyle/>
                    <a:p/>
                  </a:txBody>
                  <a:tcPr/>
                </a:tc>
              </a:tr>
              <a:tr h="216000">
                <a:tc>
                  <a:txBody>
                    <a:bodyPr/>
                    <a:lstStyle/>
                    <a:p>
                      <a:pPr algn="ctr">
                        <a:defRPr sz="900" b="1">
                          <a:solidFill>
                            <a:srgbClr val="FFFFFF"/>
                          </a:solidFill>
                          <a:latin typeface="Montserrat"/>
                        </a:defRPr>
                      </a:pPr>
                      <a:r>
                        <a:t>Nombre</a:t>
                      </a:r>
                    </a:p>
                  </a:txBody>
                  <a:tcPr marL="18000" marR="18000" marT="18000" marB="18000" anchor="ctr">
                    <a:solidFill>
                      <a:srgbClr val="006455"/>
                    </a:solidFill>
                  </a:tcPr>
                </a:tc>
                <a:tc>
                  <a:txBody>
                    <a:bodyPr/>
                    <a:lstStyle/>
                    <a:p>
                      <a:pPr algn="ctr">
                        <a:defRPr sz="900" b="1">
                          <a:solidFill>
                            <a:srgbClr val="FFFFFF"/>
                          </a:solidFill>
                          <a:latin typeface="Montserrat"/>
                        </a:defRPr>
                      </a:pPr>
                      <a:r>
                        <a:t>Consumo</a:t>
                      </a:r>
                    </a:p>
                  </a:txBody>
                  <a:tcPr marL="18000" marR="18000" marT="18000" marB="18000" anchor="ctr">
                    <a:solidFill>
                      <a:srgbClr val="006455"/>
                    </a:solidFill>
                  </a:tcPr>
                </a:tc>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t>655,890</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Losartán, gragea o comprimido recubierto (hipertensión)</a:t>
                      </a:r>
                    </a:p>
                  </a:txBody>
                  <a:tcPr marL="18000" marR="18000" marT="18000" marB="18000" anchor="ctr">
                    <a:solidFill>
                      <a:srgbClr val="FFFFFF"/>
                    </a:solidFill>
                  </a:tcPr>
                </a:tc>
                <a:tc>
                  <a:txBody>
                    <a:bodyPr/>
                    <a:lstStyle/>
                    <a:p>
                      <a:pPr algn="ctr">
                        <a:defRPr sz="900" b="0">
                          <a:solidFill>
                            <a:srgbClr val="333333"/>
                          </a:solidFill>
                          <a:latin typeface="Montserrat"/>
                        </a:defRPr>
                      </a:pPr>
                      <a:r>
                        <a:t>402,138</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Telmisartán, tableta (antihipertensivo)</a:t>
                      </a:r>
                    </a:p>
                  </a:txBody>
                  <a:tcPr marL="18000" marR="18000" marT="18000" marB="18000" anchor="ctr">
                    <a:solidFill>
                      <a:srgbClr val="F2F2F2"/>
                    </a:solidFill>
                  </a:tcPr>
                </a:tc>
                <a:tc>
                  <a:txBody>
                    <a:bodyPr/>
                    <a:lstStyle/>
                    <a:p>
                      <a:pPr algn="ctr">
                        <a:defRPr sz="900" b="0">
                          <a:solidFill>
                            <a:srgbClr val="333333"/>
                          </a:solidFill>
                          <a:latin typeface="Montserrat"/>
                        </a:defRPr>
                      </a:pPr>
                      <a:r>
                        <a:t>265,500</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t>250,022</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Pantoprazol o Rabeprazol u Omeprazol, tableta o gragea o cápsula (antiácido)                       </a:t>
                      </a:r>
                    </a:p>
                  </a:txBody>
                  <a:tcPr marL="18000" marR="18000" marT="18000" marB="18000" anchor="ctr">
                    <a:solidFill>
                      <a:srgbClr val="F2F2F2"/>
                    </a:solidFill>
                  </a:tcPr>
                </a:tc>
                <a:tc>
                  <a:txBody>
                    <a:bodyPr/>
                    <a:lstStyle/>
                    <a:p>
                      <a:pPr algn="ctr">
                        <a:defRPr sz="900" b="0">
                          <a:solidFill>
                            <a:srgbClr val="333333"/>
                          </a:solidFill>
                          <a:latin typeface="Montserrat"/>
                        </a:defRPr>
                      </a:pPr>
                      <a:r>
                        <a:t>231,138</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Dapagliflozina,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t>220,872</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Atorvastatina, tableta (reducir colesterol y triglicéridos)                          </a:t>
                      </a:r>
                    </a:p>
                  </a:txBody>
                  <a:tcPr marL="18000" marR="18000" marT="18000" marB="18000" anchor="ctr">
                    <a:solidFill>
                      <a:srgbClr val="F2F2F2"/>
                    </a:solidFill>
                  </a:tcPr>
                </a:tc>
                <a:tc>
                  <a:txBody>
                    <a:bodyPr/>
                    <a:lstStyle/>
                    <a:p>
                      <a:pPr algn="ctr">
                        <a:defRPr sz="900" b="0">
                          <a:solidFill>
                            <a:srgbClr val="333333"/>
                          </a:solidFill>
                          <a:latin typeface="Montserrat"/>
                        </a:defRPr>
                      </a:pPr>
                      <a:r>
                        <a:t>220,737</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Hidroclorotiazida, tableta (diurético)</a:t>
                      </a:r>
                    </a:p>
                  </a:txBody>
                  <a:tcPr marL="18000" marR="18000" marT="18000" marB="18000" anchor="ctr">
                    <a:solidFill>
                      <a:srgbClr val="FFFFFF"/>
                    </a:solidFill>
                  </a:tcPr>
                </a:tc>
                <a:tc>
                  <a:txBody>
                    <a:bodyPr/>
                    <a:lstStyle/>
                    <a:p>
                      <a:pPr algn="ctr">
                        <a:defRPr sz="900" b="0">
                          <a:solidFill>
                            <a:srgbClr val="333333"/>
                          </a:solidFill>
                          <a:latin typeface="Montserrat"/>
                        </a:defRPr>
                      </a:pPr>
                      <a:r>
                        <a:t>212,447</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Celecoxib, cápsula (antiinflamatorio)</a:t>
                      </a:r>
                    </a:p>
                  </a:txBody>
                  <a:tcPr marL="18000" marR="18000" marT="18000" marB="18000" anchor="ctr">
                    <a:solidFill>
                      <a:srgbClr val="F2F2F2"/>
                    </a:solidFill>
                  </a:tcPr>
                </a:tc>
                <a:tc>
                  <a:txBody>
                    <a:bodyPr/>
                    <a:lstStyle/>
                    <a:p>
                      <a:pPr algn="ctr">
                        <a:defRPr sz="900" b="0">
                          <a:solidFill>
                            <a:srgbClr val="333333"/>
                          </a:solidFill>
                          <a:latin typeface="Montserrat"/>
                        </a:defRPr>
                      </a:pPr>
                      <a:r>
                        <a:t>202,095</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Metoprolol, tableta (hipertensión)</a:t>
                      </a:r>
                    </a:p>
                  </a:txBody>
                  <a:tcPr marL="18000" marR="18000" marT="18000" marB="18000" anchor="ctr">
                    <a:solidFill>
                      <a:srgbClr val="FFFFFF"/>
                    </a:solidFill>
                  </a:tcPr>
                </a:tc>
                <a:tc>
                  <a:txBody>
                    <a:bodyPr/>
                    <a:lstStyle/>
                    <a:p>
                      <a:pPr algn="ctr">
                        <a:defRPr sz="900" b="0">
                          <a:solidFill>
                            <a:srgbClr val="333333"/>
                          </a:solidFill>
                          <a:latin typeface="Montserrat"/>
                        </a:defRPr>
                      </a:pPr>
                      <a:r>
                        <a:t>181,312</a:t>
                      </a:r>
                    </a:p>
                  </a:txBody>
                  <a:tcPr marL="18000" marR="18000" marT="18000" marB="18000" anchor="ctr">
                    <a:solidFill>
                      <a:srgbClr val="FFFFFF"/>
                    </a:solidFill>
                  </a:tcPr>
                </a:tc>
              </a:tr>
            </a:tbl>
          </a:graphicData>
        </a:graphic>
      </p:graphicFrame>
    </p:spTree>
    <p:extLst>
      <p:ext uri="{BB962C8B-B14F-4D97-AF65-F5344CB8AC3E}">
        <p14:creationId xmlns:p14="http://schemas.microsoft.com/office/powerpoint/2010/main" val="1109686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13DF9A8B-BC84-B53F-A860-42396A28CE90}"/>
            </a:ext>
          </a:extLst>
        </p:cNvPr>
        <p:cNvGrpSpPr/>
        <p:nvPr/>
      </p:nvGrpSpPr>
      <p:grpSpPr>
        <a:xfrm>
          <a:off x="0" y="0"/>
          <a:ext cx="0" cy="0"/>
          <a:chOff x="0" y="0"/>
          <a:chExt cx="0" cy="0"/>
        </a:xfrm>
      </p:grpSpPr>
      <p:graphicFrame>
        <p:nvGraphicFramePr>
          <p:cNvPr id="2" name="Google Shape;394;p15">
            <a:extLst>
              <a:ext uri="{FF2B5EF4-FFF2-40B4-BE49-F238E27FC236}">
                <a16:creationId xmlns:a16="http://schemas.microsoft.com/office/drawing/2014/main" id="{434C3138-4D0E-D6F5-1979-61C724288F50}"/>
              </a:ext>
            </a:extLst>
          </p:cNvPr>
          <p:cNvGraphicFramePr/>
          <p:nvPr/>
        </p:nvGraphicFramePr>
        <p:xfrm>
          <a:off x="287700" y="1106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BC955C"/>
                          </a:solidFill>
                          <a:latin typeface="Montserrat"/>
                          <a:ea typeface="Montserrat"/>
                          <a:cs typeface="Montserrat"/>
                          <a:sym typeface="Montserrat"/>
                        </a:rPr>
                        <a:t>Acciones 2025</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 name="Google Shape;395;p15">
            <a:extLst>
              <a:ext uri="{FF2B5EF4-FFF2-40B4-BE49-F238E27FC236}">
                <a16:creationId xmlns:a16="http://schemas.microsoft.com/office/drawing/2014/main" id="{4689FF38-8CFA-FB37-4E7B-B5603B7FC116}"/>
              </a:ext>
            </a:extLst>
          </p:cNvPr>
          <p:cNvPicPr preferRelativeResize="0"/>
          <p:nvPr/>
        </p:nvPicPr>
        <p:blipFill rotWithShape="1">
          <a:blip r:embed="rId4">
            <a:alphaModFix/>
          </a:blip>
          <a:srcRect/>
          <a:stretch/>
        </p:blipFill>
        <p:spPr>
          <a:xfrm>
            <a:off x="5590550" y="742122"/>
            <a:ext cx="1599000" cy="745078"/>
          </a:xfrm>
          <a:prstGeom prst="rect">
            <a:avLst/>
          </a:prstGeom>
          <a:noFill/>
          <a:ln>
            <a:noFill/>
          </a:ln>
        </p:spPr>
      </p:pic>
      <p:sp>
        <p:nvSpPr>
          <p:cNvPr id="6" name="Google Shape;396;p15">
            <a:extLst>
              <a:ext uri="{FF2B5EF4-FFF2-40B4-BE49-F238E27FC236}">
                <a16:creationId xmlns:a16="http://schemas.microsoft.com/office/drawing/2014/main" id="{3C879FA3-8153-8C4E-8B9C-4DF691C41AD2}"/>
              </a:ext>
            </a:extLst>
          </p:cNvPr>
          <p:cNvSpPr txBox="1"/>
          <p:nvPr/>
        </p:nvSpPr>
        <p:spPr>
          <a:xfrm>
            <a:off x="4051800" y="1055450"/>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 ¿Qué se hizo? </a:t>
            </a:r>
            <a:endParaRPr kumimoji="0" sz="1200" b="1" i="0" u="none" strike="noStrike" kern="0" cap="none" spc="0" normalizeH="0" baseline="0" noProof="0" dirty="0">
              <a:ln>
                <a:noFill/>
              </a:ln>
              <a:solidFill>
                <a:srgbClr val="BC955C"/>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2025</a:t>
            </a:r>
            <a:endParaRPr kumimoji="0" sz="1200" b="0" i="0" u="none" strike="noStrike" kern="0" cap="none" spc="0" normalizeH="0" baseline="0" noProof="0" dirty="0">
              <a:ln>
                <a:noFill/>
              </a:ln>
              <a:solidFill>
                <a:srgbClr val="BC955C"/>
              </a:solidFill>
              <a:effectLst/>
              <a:uLnTx/>
              <a:uFillTx/>
              <a:latin typeface="Arial"/>
              <a:ea typeface="Arial"/>
              <a:cs typeface="Arial"/>
              <a:sym typeface="Arial"/>
            </a:endParaRPr>
          </a:p>
        </p:txBody>
      </p:sp>
      <p:sp>
        <p:nvSpPr>
          <p:cNvPr id="10" name="CuadroTexto 10">
            <a:extLst>
              <a:ext uri="{FF2B5EF4-FFF2-40B4-BE49-F238E27FC236}">
                <a16:creationId xmlns:a16="http://schemas.microsoft.com/office/drawing/2014/main" id="{991C7EE4-1170-AC4C-597D-3383D8E8A8F9}"/>
              </a:ext>
            </a:extLst>
          </p:cNvPr>
          <p:cNvSpPr txBox="1"/>
          <p:nvPr/>
        </p:nvSpPr>
        <p:spPr>
          <a:xfrm>
            <a:off x="-1199068" y="2911249"/>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Adquisición</a:t>
            </a:r>
            <a:r>
              <a:rPr lang="en-US" sz="1200" b="1" i="0" u="none" strike="noStrike" dirty="0">
                <a:solidFill>
                  <a:srgbClr val="BC955C"/>
                </a:solidFill>
                <a:latin typeface="Montserrat"/>
                <a:ea typeface="Montserrat"/>
                <a:cs typeface="Montserrat"/>
              </a:rPr>
              <a:t>: </a:t>
            </a:r>
          </a:p>
        </p:txBody>
      </p:sp>
      <p:pic>
        <p:nvPicPr>
          <p:cNvPr id="11" name="Imagen 10" descr="Forma, Círculo&#10;&#10;El contenido generado por IA puede ser incorrecto.">
            <a:extLst>
              <a:ext uri="{FF2B5EF4-FFF2-40B4-BE49-F238E27FC236}">
                <a16:creationId xmlns:a16="http://schemas.microsoft.com/office/drawing/2014/main" id="{F7B31A16-FD1A-331A-6F76-259EB810FD76}"/>
              </a:ext>
            </a:extLst>
          </p:cNvPr>
          <p:cNvPicPr>
            <a:picLocks noChangeAspect="1"/>
          </p:cNvPicPr>
          <p:nvPr/>
        </p:nvPicPr>
        <p:blipFill>
          <a:blip r:embed="rId5"/>
          <a:srcRect b="-847"/>
          <a:stretch>
            <a:fillRect/>
          </a:stretch>
        </p:blipFill>
        <p:spPr>
          <a:xfrm>
            <a:off x="241559" y="3254836"/>
            <a:ext cx="875508" cy="854908"/>
          </a:xfrm>
          <a:prstGeom prst="rect">
            <a:avLst/>
          </a:prstGeom>
        </p:spPr>
      </p:pic>
      <p:sp>
        <p:nvSpPr>
          <p:cNvPr id="12" name="CuadroTexto 12">
            <a:extLst>
              <a:ext uri="{FF2B5EF4-FFF2-40B4-BE49-F238E27FC236}">
                <a16:creationId xmlns:a16="http://schemas.microsoft.com/office/drawing/2014/main" id="{CA535D92-E281-11D7-D7CB-F8BAB9F176B8}"/>
              </a:ext>
            </a:extLst>
          </p:cNvPr>
          <p:cNvSpPr txBox="1"/>
          <p:nvPr/>
        </p:nvSpPr>
        <p:spPr>
          <a:xfrm>
            <a:off x="-1259833" y="3381168"/>
            <a:ext cx="3886200" cy="5078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2</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Tomógrafo</a:t>
            </a:r>
            <a:endParaRPr lang="en-US" sz="700" b="1">
              <a:solidFill>
                <a:srgbClr val="BC955C"/>
              </a:solidFill>
              <a:latin typeface="Montserrat"/>
            </a:endParaRPr>
          </a:p>
        </p:txBody>
      </p:sp>
      <p:sp>
        <p:nvSpPr>
          <p:cNvPr id="13" name="CuadroTexto 10">
            <a:extLst>
              <a:ext uri="{FF2B5EF4-FFF2-40B4-BE49-F238E27FC236}">
                <a16:creationId xmlns:a16="http://schemas.microsoft.com/office/drawing/2014/main" id="{B9C2E918-974F-A566-8C8B-5DDE4ED4290B}"/>
              </a:ext>
            </a:extLst>
          </p:cNvPr>
          <p:cNvSpPr txBox="1"/>
          <p:nvPr/>
        </p:nvSpPr>
        <p:spPr>
          <a:xfrm>
            <a:off x="-1156903" y="1673292"/>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Construcción</a:t>
            </a:r>
            <a:r>
              <a:rPr lang="en-US" sz="1200" b="1" i="0" u="none" strike="noStrike" dirty="0">
                <a:solidFill>
                  <a:srgbClr val="BC955C"/>
                </a:solidFill>
                <a:latin typeface="Montserrat"/>
                <a:ea typeface="Montserrat"/>
                <a:cs typeface="Montserrat"/>
              </a:rPr>
              <a:t>: </a:t>
            </a:r>
          </a:p>
        </p:txBody>
      </p:sp>
      <p:pic>
        <p:nvPicPr>
          <p:cNvPr id="14" name="Imagen 13" descr="Forma, Círculo&#10;&#10;El contenido generado por IA puede ser incorrecto.">
            <a:extLst>
              <a:ext uri="{FF2B5EF4-FFF2-40B4-BE49-F238E27FC236}">
                <a16:creationId xmlns:a16="http://schemas.microsoft.com/office/drawing/2014/main" id="{C365C7D6-999E-5396-FE1A-9AF265B06DAC}"/>
              </a:ext>
            </a:extLst>
          </p:cNvPr>
          <p:cNvPicPr>
            <a:picLocks noChangeAspect="1"/>
          </p:cNvPicPr>
          <p:nvPr/>
        </p:nvPicPr>
        <p:blipFill>
          <a:blip r:embed="rId5"/>
          <a:srcRect b="-847"/>
          <a:stretch>
            <a:fillRect/>
          </a:stretch>
        </p:blipFill>
        <p:spPr>
          <a:xfrm>
            <a:off x="283328" y="2016881"/>
            <a:ext cx="875508" cy="854908"/>
          </a:xfrm>
          <a:prstGeom prst="rect">
            <a:avLst/>
          </a:prstGeom>
        </p:spPr>
      </p:pic>
      <p:sp>
        <p:nvSpPr>
          <p:cNvPr id="15" name="CuadroTexto 12">
            <a:extLst>
              <a:ext uri="{FF2B5EF4-FFF2-40B4-BE49-F238E27FC236}">
                <a16:creationId xmlns:a16="http://schemas.microsoft.com/office/drawing/2014/main" id="{A0083CC0-370A-999A-F425-0B0E05DEB5CF}"/>
              </a:ext>
            </a:extLst>
          </p:cNvPr>
          <p:cNvSpPr txBox="1"/>
          <p:nvPr/>
        </p:nvSpPr>
        <p:spPr>
          <a:xfrm>
            <a:off x="-1216707" y="2030671"/>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a:solidFill>
                  <a:srgbClr val="BC955C"/>
                </a:solidFill>
                <a:latin typeface="Montserrat"/>
              </a:rPr>
              <a:t>Sala de </a:t>
            </a:r>
          </a:p>
          <a:p>
            <a:pPr algn="ctr"/>
            <a:r>
              <a:rPr lang="en-US" sz="700" b="1" dirty="0" err="1">
                <a:solidFill>
                  <a:srgbClr val="BC955C"/>
                </a:solidFill>
                <a:latin typeface="Montserrat"/>
              </a:rPr>
              <a:t>Hemodinamia</a:t>
            </a:r>
            <a:endParaRPr lang="en-US" sz="700" b="1">
              <a:solidFill>
                <a:srgbClr val="BC955C"/>
              </a:solidFill>
              <a:latin typeface="Montserrat"/>
            </a:endParaRPr>
          </a:p>
        </p:txBody>
      </p:sp>
      <p:sp>
        <p:nvSpPr>
          <p:cNvPr id="16" name="TextBox 15"/>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graphicFrame>
        <p:nvGraphicFramePr>
          <p:cNvPr id="17" name="Table 16"/>
          <p:cNvGraphicFramePr>
            <a:graphicFrameLocks noGrp="1"/>
          </p:cNvGraphicFramePr>
          <p:nvPr/>
        </p:nvGraphicFramePr>
        <p:xfrm>
          <a:off x="1785600" y="1584000"/>
          <a:ext cx="5295600" cy="2340000"/>
        </p:xfrm>
        <a:graphic>
          <a:graphicData uri="http://schemas.openxmlformats.org/drawingml/2006/table">
            <a:tbl>
              <a:tblPr firstRow="1" bandRow="1">
                <a:tableStyleId>{5C22544A-7EE6-4342-B048-85BDC9FD1C3A}</a:tableStyleId>
              </a:tblPr>
              <a:tblGrid>
                <a:gridCol w="4176000"/>
                <a:gridCol w="1119600"/>
              </a:tblGrid>
              <a:tr h="390000">
                <a:tc>
                  <a:txBody>
                    <a:bodyPr/>
                    <a:lstStyle/>
                    <a:p>
                      <a:pPr algn="ctr">
                        <a:defRPr b="1" sz="1000">
                          <a:solidFill>
                            <a:srgbClr val="FFFFFF"/>
                          </a:solidFill>
                          <a:latin typeface="Montserrat"/>
                        </a:defRPr>
                      </a:pPr>
                      <a:r>
                        <a:t>Obras de Infraestructura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390000">
                <a:tc>
                  <a:txBody>
                    <a:bodyPr/>
                    <a:lstStyle/>
                    <a:p>
                      <a:pPr algn="l">
                        <a:lnSpc>
                          <a:spcPct val="100000"/>
                        </a:lnSpc>
                      </a:pPr>
                      <a:r>
                        <a:rPr sz="1000">
                          <a:latin typeface="Montserrat"/>
                        </a:rPr>
                        <a:t>Ampliación y Remodelación de la UMF 17, Río Bravo</a:t>
                      </a:r>
                    </a:p>
                  </a:txBody>
                  <a:tcPr marL="3600" marR="3600" marT="3600" marB="3600">
                    <a:solidFill>
                      <a:srgbClr val="FFFFFF"/>
                    </a:solidFill>
                  </a:tcPr>
                </a:tc>
                <a:tc>
                  <a:txBody>
                    <a:bodyPr/>
                    <a:lstStyle/>
                    <a:p>
                      <a:pPr algn="ctr">
                        <a:lnSpc>
                          <a:spcPct val="100000"/>
                        </a:lnSpc>
                      </a:pPr>
                      <a:r>
                        <a:rPr sz="1000">
                          <a:latin typeface="Montserrat"/>
                        </a:rPr>
                        <a:t>$163.7</a:t>
                      </a:r>
                    </a:p>
                  </a:txBody>
                  <a:tcPr marL="3600" marR="3600" marT="3600" marB="3600">
                    <a:solidFill>
                      <a:srgbClr val="FFFFFF"/>
                    </a:solidFill>
                  </a:tcPr>
                </a:tc>
              </a:tr>
              <a:tr h="390000">
                <a:tc>
                  <a:txBody>
                    <a:bodyPr/>
                    <a:lstStyle/>
                    <a:p>
                      <a:pPr algn="l">
                        <a:lnSpc>
                          <a:spcPct val="100000"/>
                        </a:lnSpc>
                      </a:pPr>
                      <a:r>
                        <a:rPr sz="1000">
                          <a:latin typeface="Montserrat"/>
                        </a:rPr>
                        <a:t>Remodelación integral de zona de alberca y techado de 2 canchas en el Centro de Seguridad Social, Cd. Mante.</a:t>
                      </a:r>
                    </a:p>
                  </a:txBody>
                  <a:tcPr marL="3600" marR="3600" marT="3600" marB="3600">
                    <a:solidFill>
                      <a:srgbClr val="D9D9D9"/>
                    </a:solidFill>
                  </a:tcPr>
                </a:tc>
                <a:tc>
                  <a:txBody>
                    <a:bodyPr/>
                    <a:lstStyle/>
                    <a:p>
                      <a:pPr algn="ctr">
                        <a:lnSpc>
                          <a:spcPct val="100000"/>
                        </a:lnSpc>
                      </a:pPr>
                      <a:r>
                        <a:rPr sz="1000">
                          <a:latin typeface="Montserrat"/>
                        </a:rPr>
                        <a:t>$65.6</a:t>
                      </a:r>
                    </a:p>
                  </a:txBody>
                  <a:tcPr marL="3600" marR="3600" marT="3600" marB="3600">
                    <a:solidFill>
                      <a:srgbClr val="D9D9D9"/>
                    </a:solidFill>
                  </a:tcPr>
                </a:tc>
              </a:tr>
              <a:tr h="390000">
                <a:tc>
                  <a:txBody>
                    <a:bodyPr/>
                    <a:lstStyle/>
                    <a:p>
                      <a:pPr algn="l">
                        <a:lnSpc>
                          <a:spcPct val="100000"/>
                        </a:lnSpc>
                      </a:pPr>
                      <a:r>
                        <a:rPr sz="1000">
                          <a:latin typeface="Montserrat"/>
                        </a:rPr>
                        <a:t>Nueva Sala de Hemodinamia en el HGR 6 Cd. Madero</a:t>
                      </a:r>
                    </a:p>
                  </a:txBody>
                  <a:tcPr marL="3600" marR="3600" marT="3600" marB="3600">
                    <a:solidFill>
                      <a:srgbClr val="FFFFFF"/>
                    </a:solidFill>
                  </a:tcPr>
                </a:tc>
                <a:tc>
                  <a:txBody>
                    <a:bodyPr/>
                    <a:lstStyle/>
                    <a:p>
                      <a:pPr algn="ctr">
                        <a:lnSpc>
                          <a:spcPct val="100000"/>
                        </a:lnSpc>
                      </a:pPr>
                      <a:r>
                        <a:rPr sz="1000">
                          <a:latin typeface="Montserrat"/>
                        </a:rPr>
                        <a:t>$32.0</a:t>
                      </a:r>
                    </a:p>
                  </a:txBody>
                  <a:tcPr marL="3600" marR="3600" marT="3600" marB="3600">
                    <a:solidFill>
                      <a:srgbClr val="FFFFFF"/>
                    </a:solidFill>
                  </a:tcPr>
                </a:tc>
              </a:tr>
              <a:tr h="390000">
                <a:tc>
                  <a:txBody>
                    <a:bodyPr/>
                    <a:lstStyle/>
                    <a:p>
                      <a:pPr algn="l">
                        <a:lnSpc>
                          <a:spcPct val="100000"/>
                        </a:lnSpc>
                      </a:pPr>
                      <a:r>
                        <a:rPr sz="1000">
                          <a:latin typeface="Montserrat"/>
                        </a:rPr>
                        <a:t>Ampliación y remodelación de áreas deportivas y construcción de escaleras de emergencia del Centro de Seguridad Social, Nuevo Laredo.</a:t>
                      </a:r>
                    </a:p>
                  </a:txBody>
                  <a:tcPr marL="3600" marR="3600" marT="3600" marB="3600">
                    <a:solidFill>
                      <a:srgbClr val="D9D9D9"/>
                    </a:solidFill>
                  </a:tcPr>
                </a:tc>
                <a:tc>
                  <a:txBody>
                    <a:bodyPr/>
                    <a:lstStyle/>
                    <a:p>
                      <a:pPr algn="ctr">
                        <a:lnSpc>
                          <a:spcPct val="100000"/>
                        </a:lnSpc>
                      </a:pPr>
                      <a:r>
                        <a:rPr sz="1000">
                          <a:latin typeface="Montserrat"/>
                        </a:rPr>
                        <a:t>$13.0</a:t>
                      </a:r>
                    </a:p>
                  </a:txBody>
                  <a:tcPr marL="3600" marR="3600" marT="3600" marB="3600">
                    <a:solidFill>
                      <a:srgbClr val="D9D9D9"/>
                    </a:solidFill>
                  </a:tcPr>
                </a:tc>
              </a:tr>
              <a:tr h="39000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$274.3</a:t>
                      </a:r>
                    </a:p>
                  </a:txBody>
                  <a:tcPr marL="3600" marR="3600" marT="3600" marB="3600">
                    <a:solidFill>
                      <a:srgbClr val="ECE1D2"/>
                    </a:solidFill>
                  </a:tcPr>
                </a:tc>
              </a:tr>
            </a:tbl>
          </a:graphicData>
        </a:graphic>
      </p:graphicFrame>
      <p:graphicFrame>
        <p:nvGraphicFramePr>
          <p:cNvPr id="18" name="Table 17"/>
          <p:cNvGraphicFramePr>
            <a:graphicFrameLocks noGrp="1"/>
          </p:cNvGraphicFramePr>
          <p:nvPr/>
        </p:nvGraphicFramePr>
        <p:xfrm>
          <a:off x="1785600" y="4104000"/>
          <a:ext cx="5295600" cy="3060000"/>
        </p:xfrm>
        <a:graphic>
          <a:graphicData uri="http://schemas.openxmlformats.org/drawingml/2006/table">
            <a:tbl>
              <a:tblPr firstRow="1" bandRow="1">
                <a:tableStyleId>{5C22544A-7EE6-4342-B048-85BDC9FD1C3A}</a:tableStyleId>
              </a:tblPr>
              <a:tblGrid>
                <a:gridCol w="4176000"/>
                <a:gridCol w="1119600"/>
              </a:tblGrid>
              <a:tr h="510000">
                <a:tc>
                  <a:txBody>
                    <a:bodyPr/>
                    <a:lstStyle/>
                    <a:p>
                      <a:pPr algn="ctr">
                        <a:defRPr b="1" sz="1000">
                          <a:solidFill>
                            <a:srgbClr val="FFFFFF"/>
                          </a:solidFill>
                          <a:latin typeface="Montserrat"/>
                        </a:defRPr>
                      </a:pPr>
                      <a:r>
                        <a:t>Obras de Conservación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510000">
                <a:tc>
                  <a:txBody>
                    <a:bodyPr/>
                    <a:lstStyle/>
                    <a:p>
                      <a:pPr algn="l">
                        <a:lnSpc>
                          <a:spcPct val="100000"/>
                        </a:lnSpc>
                      </a:pPr>
                      <a:r>
                        <a:rPr sz="1000">
                          <a:latin typeface="Montserrat"/>
                        </a:rPr>
                        <a:t>Mantenimiento de Infraestructura (PAO 2025)</a:t>
                      </a:r>
                    </a:p>
                  </a:txBody>
                  <a:tcPr marL="3600" marR="3600" marT="3600" marB="3600">
                    <a:solidFill>
                      <a:srgbClr val="FFFFFF"/>
                    </a:solidFill>
                  </a:tcPr>
                </a:tc>
                <a:tc>
                  <a:txBody>
                    <a:bodyPr/>
                    <a:lstStyle/>
                    <a:p>
                      <a:pPr algn="ctr">
                        <a:lnSpc>
                          <a:spcPct val="100000"/>
                        </a:lnSpc>
                      </a:pPr>
                      <a:r>
                        <a:rPr sz="1000">
                          <a:latin typeface="Montserrat"/>
                        </a:rPr>
                        <a:t>$490.2</a:t>
                      </a:r>
                    </a:p>
                  </a:txBody>
                  <a:tcPr marL="3600" marR="3600" marT="3600" marB="3600">
                    <a:solidFill>
                      <a:srgbClr val="FFFFFF"/>
                    </a:solidFill>
                  </a:tcPr>
                </a:tc>
              </a:tr>
              <a:tr h="510000">
                <a:tc>
                  <a:txBody>
                    <a:bodyPr/>
                    <a:lstStyle/>
                    <a:p>
                      <a:pPr algn="l">
                        <a:lnSpc>
                          <a:spcPct val="100000"/>
                        </a:lnSpc>
                      </a:pPr>
                      <a:r>
                        <a:rPr sz="1000">
                          <a:latin typeface="Montserrat"/>
                        </a:rPr>
                        <a:t>Intervención en áreas de residencias médicas en 8 unidades (HGR No. 270 Reynosa, HGR No. 6 Cd. Madero, HGZ No.11 Nuevo Laredo, HGZ No. 13 Matamoros, HGZ No.15 Reynosa, HGZMF No.1 Cd. Victoria, HGZMF No.2 Reynosa, HGZMF No.3 Cd. Mante)</a:t>
                      </a:r>
                    </a:p>
                  </a:txBody>
                  <a:tcPr marL="3600" marR="3600" marT="3600" marB="3600">
                    <a:solidFill>
                      <a:srgbClr val="D9D9D9"/>
                    </a:solidFill>
                  </a:tcPr>
                </a:tc>
                <a:tc>
                  <a:txBody>
                    <a:bodyPr/>
                    <a:lstStyle/>
                    <a:p>
                      <a:pPr algn="ctr">
                        <a:lnSpc>
                          <a:spcPct val="100000"/>
                        </a:lnSpc>
                      </a:pPr>
                      <a:r>
                        <a:rPr sz="1000">
                          <a:latin typeface="Montserrat"/>
                        </a:rPr>
                        <a:t>$25.8</a:t>
                      </a:r>
                    </a:p>
                  </a:txBody>
                  <a:tcPr marL="3600" marR="3600" marT="3600" marB="3600">
                    <a:solidFill>
                      <a:srgbClr val="D9D9D9"/>
                    </a:solidFill>
                  </a:tcPr>
                </a:tc>
              </a:tr>
              <a:tr h="510000">
                <a:tc>
                  <a:txBody>
                    <a:bodyPr/>
                    <a:lstStyle/>
                    <a:p>
                      <a:pPr algn="l">
                        <a:lnSpc>
                          <a:spcPct val="100000"/>
                        </a:lnSpc>
                      </a:pPr>
                      <a:r>
                        <a:rPr sz="1000">
                          <a:latin typeface="Montserrat"/>
                        </a:rPr>
                        <a:t>Intervención en áreas de urgencias en 6 unidades (UMF No.18 Valle Hermoso, UMF No.36 Matamoros, UMF No.77 Cd. Madero, UMF No 78 Nuevo Laredo, UMF No.16 Cd. Altamira, UMF No. 17 Río Bravo)</a:t>
                      </a:r>
                    </a:p>
                  </a:txBody>
                  <a:tcPr marL="3600" marR="3600" marT="3600" marB="3600">
                    <a:solidFill>
                      <a:srgbClr val="FFFFFF"/>
                    </a:solidFill>
                  </a:tcPr>
                </a:tc>
                <a:tc>
                  <a:txBody>
                    <a:bodyPr/>
                    <a:lstStyle/>
                    <a:p>
                      <a:pPr algn="ctr">
                        <a:lnSpc>
                          <a:spcPct val="100000"/>
                        </a:lnSpc>
                      </a:pPr>
                      <a:r>
                        <a:rPr sz="1000">
                          <a:latin typeface="Montserrat"/>
                        </a:rPr>
                        <a:t>$11.8</a:t>
                      </a:r>
                    </a:p>
                  </a:txBody>
                  <a:tcPr marL="3600" marR="3600" marT="3600" marB="3600">
                    <a:solidFill>
                      <a:srgbClr val="FFFFFF"/>
                    </a:solidFill>
                  </a:tcPr>
                </a:tc>
              </a:tr>
              <a:tr h="510000">
                <a:tc>
                  <a:txBody>
                    <a:bodyPr/>
                    <a:lstStyle/>
                    <a:p>
                      <a:pPr algn="l">
                        <a:lnSpc>
                          <a:spcPct val="100000"/>
                        </a:lnSpc>
                      </a:pPr>
                      <a:r>
                        <a:rPr sz="1000">
                          <a:latin typeface="Montserrat"/>
                        </a:rPr>
                        <a:t>Intervención en áreas de accesibilidad (rampas) en 49 unidades, Tamaulipas</a:t>
                      </a:r>
                    </a:p>
                  </a:txBody>
                  <a:tcPr marL="3600" marR="3600" marT="3600" marB="3600">
                    <a:solidFill>
                      <a:srgbClr val="D9D9D9"/>
                    </a:solidFill>
                  </a:tcPr>
                </a:tc>
                <a:tc>
                  <a:txBody>
                    <a:bodyPr/>
                    <a:lstStyle/>
                    <a:p>
                      <a:pPr algn="ctr">
                        <a:lnSpc>
                          <a:spcPct val="100000"/>
                        </a:lnSpc>
                      </a:pPr>
                      <a:r>
                        <a:rPr sz="1000">
                          <a:latin typeface="Montserrat"/>
                        </a:rPr>
                        <a:t>$11.6</a:t>
                      </a:r>
                    </a:p>
                  </a:txBody>
                  <a:tcPr marL="3600" marR="3600" marT="3600" marB="3600">
                    <a:solidFill>
                      <a:srgbClr val="D9D9D9"/>
                    </a:solidFill>
                  </a:tcPr>
                </a:tc>
              </a:tr>
              <a:tr h="51000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$539.4</a:t>
                      </a:r>
                    </a:p>
                  </a:txBody>
                  <a:tcPr marL="3600" marR="3600" marT="3600" marB="3600">
                    <a:solidFill>
                      <a:srgbClr val="ECE1D2"/>
                    </a:solidFill>
                  </a:tcPr>
                </a:tc>
              </a:tr>
            </a:tbl>
          </a:graphicData>
        </a:graphic>
      </p:graphicFrame>
      <p:graphicFrame>
        <p:nvGraphicFramePr>
          <p:cNvPr id="19" name="Table 18"/>
          <p:cNvGraphicFramePr>
            <a:graphicFrameLocks noGrp="1"/>
          </p:cNvGraphicFramePr>
          <p:nvPr/>
        </p:nvGraphicFramePr>
        <p:xfrm>
          <a:off x="1785600" y="7344000"/>
          <a:ext cx="5295600" cy="1260000"/>
        </p:xfrm>
        <a:graphic>
          <a:graphicData uri="http://schemas.openxmlformats.org/drawingml/2006/table">
            <a:tbl>
              <a:tblPr firstRow="1" bandRow="1">
                <a:tableStyleId>{5C22544A-7EE6-4342-B048-85BDC9FD1C3A}</a:tableStyleId>
              </a:tblPr>
              <a:tblGrid>
                <a:gridCol w="4176000"/>
                <a:gridCol w="1119600"/>
              </a:tblGrid>
              <a:tr h="630000">
                <a:tc>
                  <a:txBody>
                    <a:bodyPr/>
                    <a:lstStyle/>
                    <a:p>
                      <a:pPr algn="ctr">
                        <a:defRPr b="1" sz="1000">
                          <a:solidFill>
                            <a:srgbClr val="FFFFFF"/>
                          </a:solidFill>
                          <a:latin typeface="Montserrat"/>
                        </a:defRPr>
                      </a:pPr>
                      <a:r>
                        <a:t>Equipo Médico 2025, Instalación 2026</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630000">
                <a:tc>
                  <a:txBody>
                    <a:bodyPr/>
                    <a:lstStyle/>
                    <a:p>
                      <a:pPr algn="l">
                        <a:lnSpc>
                          <a:spcPct val="100000"/>
                        </a:lnSpc>
                      </a:pPr>
                      <a:r>
                        <a:rPr sz="1000">
                          <a:latin typeface="Montserrat"/>
                        </a:rPr>
                        <a:t>Adquisición de 14 piezas de equipo médico:  3 congeladores horizontales de refrigerantes para vacunas, 4 refrigeradores para vacunas, 4 refrigeradores con congelador de 5.4 pies cúbicos, 1 resonador magnético de 3.0 teslas, 2 tomógrafos axiales computarizados de alta resolución</a:t>
                      </a:r>
                    </a:p>
                  </a:txBody>
                  <a:tcPr marL="3600" marR="3600" marT="3600" marB="3600">
                    <a:solidFill>
                      <a:srgbClr val="FFFFFF"/>
                    </a:solidFill>
                  </a:tcPr>
                </a:tc>
                <a:tc>
                  <a:txBody>
                    <a:bodyPr/>
                    <a:lstStyle/>
                    <a:p>
                      <a:pPr algn="ctr">
                        <a:lnSpc>
                          <a:spcPct val="100000"/>
                        </a:lnSpc>
                      </a:pPr>
                      <a:r>
                        <a:rPr sz="1000">
                          <a:latin typeface="Montserrat"/>
                        </a:rPr>
                        <a:t>$100.5</a:t>
                      </a:r>
                    </a:p>
                  </a:txBody>
                  <a:tcPr marL="3600" marR="3600" marT="3600" marB="3600">
                    <a:solidFill>
                      <a:srgbClr val="FFFFFF"/>
                    </a:solidFill>
                  </a:tcPr>
                </a:tc>
              </a:tr>
            </a:tbl>
          </a:graphicData>
        </a:graphic>
      </p:graphicFrame>
      <p:graphicFrame>
        <p:nvGraphicFramePr>
          <p:cNvPr id="20" name="Table 19"/>
          <p:cNvGraphicFramePr>
            <a:graphicFrameLocks noGrp="1"/>
          </p:cNvGraphicFramePr>
          <p:nvPr/>
        </p:nvGraphicFramePr>
        <p:xfrm>
          <a:off x="1785600" y="8784000"/>
          <a:ext cx="5295600" cy="540000"/>
        </p:xfrm>
        <a:graphic>
          <a:graphicData uri="http://schemas.openxmlformats.org/drawingml/2006/table">
            <a:tbl>
              <a:tblPr firstRow="1" bandRow="1">
                <a:tableStyleId>{5C22544A-7EE6-4342-B048-85BDC9FD1C3A}</a:tableStyleId>
              </a:tblPr>
              <a:tblGrid>
                <a:gridCol w="4176000"/>
                <a:gridCol w="1119600"/>
              </a:tblGrid>
              <a:tr h="270000">
                <a:tc>
                  <a:txBody>
                    <a:bodyPr/>
                    <a:lstStyle/>
                    <a:p>
                      <a:pPr algn="ctr">
                        <a:defRPr b="1" sz="1000">
                          <a:solidFill>
                            <a:srgbClr val="FFFFFF"/>
                          </a:solidFill>
                          <a:latin typeface="Montserrat"/>
                        </a:defRPr>
                      </a:pPr>
                      <a:r>
                        <a:t>Equipamiento Electromecánico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270000">
                <a:tc>
                  <a:txBody>
                    <a:bodyPr/>
                    <a:lstStyle/>
                    <a:p>
                      <a:pPr algn="l">
                        <a:lnSpc>
                          <a:spcPct val="100000"/>
                        </a:lnSpc>
                      </a:pPr>
                      <a:r>
                        <a:rPr sz="1000">
                          <a:latin typeface="Montserrat"/>
                        </a:rPr>
                        <a:t>Adquisición de elevadores</a:t>
                      </a:r>
                    </a:p>
                  </a:txBody>
                  <a:tcPr marL="3600" marR="3600" marT="3600" marB="3600">
                    <a:solidFill>
                      <a:srgbClr val="FFFFFF"/>
                    </a:solidFill>
                  </a:tcPr>
                </a:tc>
                <a:tc>
                  <a:txBody>
                    <a:bodyPr/>
                    <a:lstStyle/>
                    <a:p>
                      <a:pPr algn="ctr">
                        <a:lnSpc>
                          <a:spcPct val="100000"/>
                        </a:lnSpc>
                      </a:pPr>
                      <a:r>
                        <a:rPr sz="1000">
                          <a:latin typeface="Montserrat"/>
                        </a:rPr>
                        <a:t>$9.7</a:t>
                      </a:r>
                    </a:p>
                  </a:txBody>
                  <a:tcPr marL="3600" marR="3600" marT="3600" marB="3600">
                    <a:solidFill>
                      <a:srgbClr val="FFFFFF"/>
                    </a:solidFill>
                  </a:tcPr>
                </a:tc>
              </a:tr>
            </a:tbl>
          </a:graphicData>
        </a:graphic>
      </p:graphicFrame>
      <p:sp>
        <p:nvSpPr>
          <p:cNvPr id="21" name="TextBox 20"/>
          <p:cNvSpPr txBox="1"/>
          <p:nvPr/>
        </p:nvSpPr>
        <p:spPr>
          <a:xfrm>
            <a:off x="5774400" y="878400"/>
            <a:ext cx="1306800" cy="338400"/>
          </a:xfrm>
          <a:prstGeom prst="rect">
            <a:avLst/>
          </a:prstGeom>
          <a:noFill/>
        </p:spPr>
        <p:txBody>
          <a:bodyPr wrap="none">
            <a:spAutoFit/>
          </a:bodyPr>
          <a:lstStyle/>
          <a:p>
            <a:pPr algn="ctr">
              <a:defRPr sz="1400" b="1">
                <a:solidFill>
                  <a:srgbClr val="FFFFFF"/>
                </a:solidFill>
                <a:latin typeface="Montserrat"/>
              </a:defRPr>
            </a:pPr>
            <a:r>
              <a:t>923.9</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240565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E90BEC93-CBF6-4FFC-F412-1E04A89853A3}"/>
            </a:ext>
          </a:extLst>
        </p:cNvPr>
        <p:cNvGrpSpPr/>
        <p:nvPr/>
      </p:nvGrpSpPr>
      <p:grpSpPr>
        <a:xfrm>
          <a:off x="0" y="0"/>
          <a:ext cx="0" cy="0"/>
          <a:chOff x="0" y="0"/>
          <a:chExt cx="0" cy="0"/>
        </a:xfrm>
      </p:grpSpPr>
      <p:graphicFrame>
        <p:nvGraphicFramePr>
          <p:cNvPr id="5" name="Google Shape;394;p15">
            <a:extLst>
              <a:ext uri="{FF2B5EF4-FFF2-40B4-BE49-F238E27FC236}">
                <a16:creationId xmlns:a16="http://schemas.microsoft.com/office/drawing/2014/main" id="{B762DBC9-2C5F-4219-04BA-4A2BF2F57E2F}"/>
              </a:ext>
            </a:extLst>
          </p:cNvPr>
          <p:cNvGraphicFramePr/>
          <p:nvPr/>
        </p:nvGraphicFramePr>
        <p:xfrm>
          <a:off x="287700" y="110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2026</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7" name="Google Shape;396;p15">
            <a:extLst>
              <a:ext uri="{FF2B5EF4-FFF2-40B4-BE49-F238E27FC236}">
                <a16:creationId xmlns:a16="http://schemas.microsoft.com/office/drawing/2014/main" id="{8E24F6E5-E3CB-0C93-0587-E21A33C953B7}"/>
              </a:ext>
            </a:extLst>
          </p:cNvPr>
          <p:cNvSpPr txBox="1"/>
          <p:nvPr/>
        </p:nvSpPr>
        <p:spPr>
          <a:xfrm>
            <a:off x="4031556" y="1055457"/>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 ¿Qué se hará? </a:t>
            </a:r>
            <a:endParaRPr kumimoji="0" sz="1200" b="1" i="0" u="none" strike="noStrike" kern="0" cap="none" spc="0" normalizeH="0" baseline="0" noProof="0" dirty="0">
              <a:ln>
                <a:noFill/>
              </a:ln>
              <a:solidFill>
                <a:srgbClr val="9F2241"/>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2026</a:t>
            </a:r>
            <a:endParaRPr kumimoji="0" sz="1200" b="0" i="0" u="none" strike="noStrike" kern="0" cap="none" spc="0" normalizeH="0" baseline="0" noProof="0" dirty="0">
              <a:ln>
                <a:noFill/>
              </a:ln>
              <a:solidFill>
                <a:srgbClr val="9F2241"/>
              </a:solidFill>
              <a:effectLst/>
              <a:uLnTx/>
              <a:uFillTx/>
              <a:latin typeface="Arial"/>
              <a:ea typeface="Arial"/>
              <a:cs typeface="Arial"/>
              <a:sym typeface="Arial"/>
            </a:endParaRPr>
          </a:p>
        </p:txBody>
      </p:sp>
      <p:pic>
        <p:nvPicPr>
          <p:cNvPr id="2" name="Google Shape;395;p15">
            <a:extLst>
              <a:ext uri="{FF2B5EF4-FFF2-40B4-BE49-F238E27FC236}">
                <a16:creationId xmlns:a16="http://schemas.microsoft.com/office/drawing/2014/main" id="{1B5687F4-45A0-92B4-9653-1598AF1BC42E}"/>
              </a:ext>
            </a:extLst>
          </p:cNvPr>
          <p:cNvPicPr preferRelativeResize="0"/>
          <p:nvPr/>
        </p:nvPicPr>
        <p:blipFill rotWithShape="1">
          <a:blip r:embed="rId4">
            <a:clrChange>
              <a:clrFrom>
                <a:srgbClr val="FFFFFF"/>
              </a:clrFrom>
              <a:clrTo>
                <a:srgbClr val="FFFFFF">
                  <a:alpha val="0"/>
                </a:srgbClr>
              </a:clrTo>
            </a:clrChange>
            <a:alphaModFix/>
            <a:duotone>
              <a:prstClr val="black"/>
              <a:srgbClr val="FF0000">
                <a:tint val="45000"/>
                <a:satMod val="400000"/>
              </a:srgbClr>
            </a:duotone>
          </a:blip>
          <a:srcRect/>
          <a:stretch/>
        </p:blipFill>
        <p:spPr>
          <a:xfrm>
            <a:off x="5590800" y="742122"/>
            <a:ext cx="1599000" cy="746684"/>
          </a:xfrm>
          <a:prstGeom prst="rect">
            <a:avLst/>
          </a:prstGeom>
          <a:noFill/>
          <a:ln>
            <a:noFill/>
          </a:ln>
        </p:spPr>
      </p:pic>
      <p:sp>
        <p:nvSpPr>
          <p:cNvPr id="3" name="CuadroTexto 9">
            <a:extLst>
              <a:ext uri="{FF2B5EF4-FFF2-40B4-BE49-F238E27FC236}">
                <a16:creationId xmlns:a16="http://schemas.microsoft.com/office/drawing/2014/main" id="{ABCC6279-D2EB-1F1F-D811-3FFF80887FF1}"/>
              </a:ext>
            </a:extLst>
          </p:cNvPr>
          <p:cNvSpPr txBox="1"/>
          <p:nvPr/>
        </p:nvSpPr>
        <p:spPr>
          <a:xfrm>
            <a:off x="-1184094" y="1715497"/>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A42145"/>
                </a:solidFill>
                <a:latin typeface="Montserrat"/>
                <a:ea typeface="Montserrat"/>
                <a:cs typeface="Montserrat"/>
              </a:rPr>
              <a:t>Adquisición</a:t>
            </a:r>
            <a:r>
              <a:rPr lang="en-US" sz="1200" b="1" i="0" u="none" strike="noStrike" dirty="0">
                <a:solidFill>
                  <a:srgbClr val="A42145"/>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488C755F-8E2D-8CE1-6C1B-6DBB55EE2CD3}"/>
              </a:ext>
            </a:extLst>
          </p:cNvPr>
          <p:cNvPicPr>
            <a:picLocks noChangeAspect="1"/>
          </p:cNvPicPr>
          <p:nvPr/>
        </p:nvPicPr>
        <p:blipFill>
          <a:blip r:embed="rId5"/>
          <a:stretch>
            <a:fillRect/>
          </a:stretch>
        </p:blipFill>
        <p:spPr>
          <a:xfrm>
            <a:off x="260870" y="2027418"/>
            <a:ext cx="872667" cy="849944"/>
          </a:xfrm>
          <a:prstGeom prst="rect">
            <a:avLst/>
          </a:prstGeom>
        </p:spPr>
      </p:pic>
      <p:sp>
        <p:nvSpPr>
          <p:cNvPr id="6" name="CuadroTexto 11">
            <a:extLst>
              <a:ext uri="{FF2B5EF4-FFF2-40B4-BE49-F238E27FC236}">
                <a16:creationId xmlns:a16="http://schemas.microsoft.com/office/drawing/2014/main" id="{4578A0AA-9DC1-3453-263A-76BE5A8BE282}"/>
              </a:ext>
            </a:extLst>
          </p:cNvPr>
          <p:cNvSpPr txBox="1"/>
          <p:nvPr/>
        </p:nvSpPr>
        <p:spPr>
          <a:xfrm>
            <a:off x="-1241589" y="2046602"/>
            <a:ext cx="3886200" cy="76944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13</a:t>
            </a:r>
            <a:endParaRPr lang="en-US" sz="2000" b="1" i="0" u="none" strike="noStrike" dirty="0">
              <a:solidFill>
                <a:srgbClr val="A42145"/>
              </a:solidFill>
              <a:latin typeface="Montserrat"/>
              <a:ea typeface="Montserrat"/>
              <a:cs typeface="Montserrat"/>
            </a:endParaRPr>
          </a:p>
          <a:p>
            <a:pPr algn="ctr"/>
            <a:r>
              <a:rPr lang="en-US" sz="800" b="1" dirty="0" err="1">
                <a:solidFill>
                  <a:srgbClr val="A42145"/>
                </a:solidFill>
                <a:latin typeface="Montserrat"/>
                <a:ea typeface="Montserrat"/>
                <a:cs typeface="Montserrat"/>
              </a:rPr>
              <a:t>Equipos</a:t>
            </a:r>
            <a:r>
              <a:rPr lang="en-US" sz="800" b="1" dirty="0">
                <a:solidFill>
                  <a:srgbClr val="A42145"/>
                </a:solidFill>
                <a:latin typeface="Montserrat"/>
                <a:ea typeface="Montserrat"/>
                <a:cs typeface="Montserrat"/>
              </a:rPr>
              <a:t> </a:t>
            </a:r>
          </a:p>
          <a:p>
            <a:pPr algn="ctr"/>
            <a:r>
              <a:rPr lang="en-US" sz="800" b="1" dirty="0" err="1">
                <a:solidFill>
                  <a:srgbClr val="A42145"/>
                </a:solidFill>
                <a:latin typeface="Montserrat"/>
                <a:ea typeface="Montserrat"/>
                <a:cs typeface="Montserrat"/>
              </a:rPr>
              <a:t>Electrome</a:t>
            </a:r>
            <a:r>
              <a:rPr lang="en-US" sz="800" b="1" dirty="0">
                <a:solidFill>
                  <a:srgbClr val="A42145"/>
                </a:solidFill>
                <a:latin typeface="Montserrat"/>
                <a:ea typeface="Montserrat"/>
                <a:cs typeface="Montserrat"/>
              </a:rPr>
              <a:t>-</a:t>
            </a:r>
            <a:endParaRPr lang="en-US" dirty="0"/>
          </a:p>
          <a:p>
            <a:pPr algn="ctr"/>
            <a:r>
              <a:rPr lang="en-US" sz="800" b="1" dirty="0" err="1">
                <a:solidFill>
                  <a:srgbClr val="A42145"/>
                </a:solidFill>
                <a:latin typeface="Montserrat"/>
                <a:ea typeface="Montserrat"/>
                <a:cs typeface="Montserrat"/>
              </a:rPr>
              <a:t>cánicos</a:t>
            </a:r>
            <a:endParaRPr lang="en-US" dirty="0" err="1"/>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graphicFrame>
        <p:nvGraphicFramePr>
          <p:cNvPr id="9" name="Table 8"/>
          <p:cNvGraphicFramePr>
            <a:graphicFrameLocks noGrp="1"/>
          </p:cNvGraphicFramePr>
          <p:nvPr/>
        </p:nvGraphicFramePr>
        <p:xfrm>
          <a:off x="1785600" y="1584000"/>
          <a:ext cx="5396400" cy="503998"/>
        </p:xfrm>
        <a:graphic>
          <a:graphicData uri="http://schemas.openxmlformats.org/drawingml/2006/table">
            <a:tbl>
              <a:tblPr firstRow="1" bandRow="1">
                <a:tableStyleId>{5C22544A-7EE6-4342-B048-85BDC9FD1C3A}</a:tableStyleId>
              </a:tblPr>
              <a:tblGrid>
                <a:gridCol w="4255200"/>
                <a:gridCol w="1141200"/>
              </a:tblGrid>
              <a:tr h="251999">
                <a:tc>
                  <a:txBody>
                    <a:bodyPr/>
                    <a:lstStyle/>
                    <a:p>
                      <a:pPr algn="ctr">
                        <a:defRPr b="1" sz="1000">
                          <a:solidFill>
                            <a:srgbClr val="FFFFFF"/>
                          </a:solidFill>
                          <a:latin typeface="Montserrat"/>
                        </a:defRPr>
                      </a:pPr>
                      <a:r>
                        <a:t>Obras de Conservación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251999">
                <a:tc>
                  <a:txBody>
                    <a:bodyPr/>
                    <a:lstStyle/>
                    <a:p>
                      <a:pPr algn="l">
                        <a:lnSpc>
                          <a:spcPct val="100000"/>
                        </a:lnSpc>
                      </a:pPr>
                      <a:r>
                        <a:rPr sz="1000">
                          <a:latin typeface="Montserrat"/>
                        </a:rPr>
                        <a:t>Mantenimiento de infraestructura (PAO 2026)</a:t>
                      </a:r>
                    </a:p>
                  </a:txBody>
                  <a:tcPr marL="3600" marR="3600" marT="3600" marB="3600">
                    <a:solidFill>
                      <a:srgbClr val="FFFFFF"/>
                    </a:solidFill>
                  </a:tcPr>
                </a:tc>
                <a:tc>
                  <a:txBody>
                    <a:bodyPr/>
                    <a:lstStyle/>
                    <a:p>
                      <a:pPr algn="ctr">
                        <a:lnSpc>
                          <a:spcPct val="100000"/>
                        </a:lnSpc>
                      </a:pPr>
                      <a:r>
                        <a:rPr sz="1000">
                          <a:latin typeface="Montserrat"/>
                        </a:rPr>
                        <a:t>$265.3</a:t>
                      </a:r>
                    </a:p>
                  </a:txBody>
                  <a:tcPr marL="3600" marR="3600" marT="3600" marB="3600">
                    <a:solidFill>
                      <a:srgbClr val="FFFFFF"/>
                    </a:solidFill>
                  </a:tcPr>
                </a:tc>
              </a:tr>
            </a:tbl>
          </a:graphicData>
        </a:graphic>
      </p:graphicFrame>
      <p:graphicFrame>
        <p:nvGraphicFramePr>
          <p:cNvPr id="10" name="Table 9"/>
          <p:cNvGraphicFramePr>
            <a:graphicFrameLocks noGrp="1"/>
          </p:cNvGraphicFramePr>
          <p:nvPr/>
        </p:nvGraphicFramePr>
        <p:xfrm>
          <a:off x="1785600" y="2267998"/>
          <a:ext cx="5396400" cy="1007996"/>
        </p:xfrm>
        <a:graphic>
          <a:graphicData uri="http://schemas.openxmlformats.org/drawingml/2006/table">
            <a:tbl>
              <a:tblPr firstRow="1" bandRow="1">
                <a:tableStyleId>{5C22544A-7EE6-4342-B048-85BDC9FD1C3A}</a:tableStyleId>
              </a:tblPr>
              <a:tblGrid>
                <a:gridCol w="4255200"/>
                <a:gridCol w="1141200"/>
              </a:tblGrid>
              <a:tr h="503998">
                <a:tc>
                  <a:txBody>
                    <a:bodyPr/>
                    <a:lstStyle/>
                    <a:p>
                      <a:pPr algn="ctr">
                        <a:defRPr b="1" sz="1000">
                          <a:solidFill>
                            <a:srgbClr val="FFFFFF"/>
                          </a:solidFill>
                          <a:latin typeface="Montserrat"/>
                        </a:defRPr>
                      </a:pPr>
                      <a:r>
                        <a:t>Equipamiento Electromecánico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503998">
                <a:tc>
                  <a:txBody>
                    <a:bodyPr/>
                    <a:lstStyle/>
                    <a:p>
                      <a:pPr algn="l">
                        <a:lnSpc>
                          <a:spcPct val="100000"/>
                        </a:lnSpc>
                      </a:pPr>
                      <a:r>
                        <a:rPr sz="1000">
                          <a:latin typeface="Montserrat"/>
                        </a:rPr>
                        <a:t>13 Equipos electromecánicos para 6 unidades; 4 elevadores, 9 equipos para casa de máquinas. Tamauliapas</a:t>
                      </a:r>
                    </a:p>
                  </a:txBody>
                  <a:tcPr marL="3600" marR="3600" marT="3600" marB="3600">
                    <a:solidFill>
                      <a:srgbClr val="FFFFFF"/>
                    </a:solidFill>
                  </a:tcPr>
                </a:tc>
                <a:tc>
                  <a:txBody>
                    <a:bodyPr/>
                    <a:lstStyle/>
                    <a:p>
                      <a:pPr algn="ctr">
                        <a:lnSpc>
                          <a:spcPct val="100000"/>
                        </a:lnSpc>
                      </a:pPr>
                      <a:r>
                        <a:rPr sz="1000">
                          <a:latin typeface="Montserrat"/>
                        </a:rPr>
                        <a:t>$30.0</a:t>
                      </a:r>
                    </a:p>
                  </a:txBody>
                  <a:tcPr marL="3600" marR="3600" marT="3600" marB="3600">
                    <a:solidFill>
                      <a:srgbClr val="FFFFFF"/>
                    </a:solidFill>
                  </a:tcPr>
                </a:tc>
              </a:tr>
            </a:tbl>
          </a:graphicData>
        </a:graphic>
      </p:graphicFrame>
      <p:sp>
        <p:nvSpPr>
          <p:cNvPr id="11" name="TextBox 10"/>
          <p:cNvSpPr txBox="1"/>
          <p:nvPr/>
        </p:nvSpPr>
        <p:spPr>
          <a:xfrm>
            <a:off x="5781600" y="878400"/>
            <a:ext cx="1306800" cy="338400"/>
          </a:xfrm>
          <a:prstGeom prst="rect">
            <a:avLst/>
          </a:prstGeom>
          <a:noFill/>
        </p:spPr>
        <p:txBody>
          <a:bodyPr wrap="none">
            <a:spAutoFit/>
          </a:bodyPr>
          <a:lstStyle/>
          <a:p>
            <a:pPr algn="ctr">
              <a:defRPr sz="1400" b="1">
                <a:solidFill>
                  <a:srgbClr val="FFFFFF"/>
                </a:solidFill>
                <a:latin typeface="Montserrat"/>
              </a:defRPr>
            </a:pPr>
            <a:r>
              <a:t>295.3</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64733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FE744575-7751-A208-3347-5F7CBAC2C786}"/>
            </a:ext>
          </a:extLst>
        </p:cNvPr>
        <p:cNvGrpSpPr/>
        <p:nvPr/>
      </p:nvGrpSpPr>
      <p:grpSpPr>
        <a:xfrm>
          <a:off x="0" y="0"/>
          <a:ext cx="0" cy="0"/>
          <a:chOff x="0" y="0"/>
          <a:chExt cx="0" cy="0"/>
        </a:xfrm>
      </p:grpSpPr>
      <p:pic>
        <p:nvPicPr>
          <p:cNvPr id="7" name="Google Shape;551;g3d0ffe769cd_0_0">
            <a:extLst>
              <a:ext uri="{FF2B5EF4-FFF2-40B4-BE49-F238E27FC236}">
                <a16:creationId xmlns:a16="http://schemas.microsoft.com/office/drawing/2014/main" id="{5BD5C9B2-AB8A-FA14-D2D6-EBEB470169FF}"/>
              </a:ext>
            </a:extLst>
          </p:cNvPr>
          <p:cNvPicPr preferRelativeResize="0"/>
          <p:nvPr/>
        </p:nvPicPr>
        <p:blipFill rotWithShape="1">
          <a:blip r:embed="rId4">
            <a:alphaModFix/>
          </a:blip>
          <a:srcRect l="382" t="14684" r="1598" b="17771"/>
          <a:stretch/>
        </p:blipFill>
        <p:spPr>
          <a:xfrm>
            <a:off x="230902" y="5977920"/>
            <a:ext cx="7368300" cy="2862900"/>
          </a:xfrm>
          <a:prstGeom prst="rect">
            <a:avLst/>
          </a:prstGeom>
          <a:noFill/>
          <a:ln>
            <a:noFill/>
          </a:ln>
        </p:spPr>
      </p:pic>
      <p:graphicFrame>
        <p:nvGraphicFramePr>
          <p:cNvPr id="2" name="Google Shape;394;p15">
            <a:extLst>
              <a:ext uri="{FF2B5EF4-FFF2-40B4-BE49-F238E27FC236}">
                <a16:creationId xmlns:a16="http://schemas.microsoft.com/office/drawing/2014/main" id="{57BAAA0D-10FB-75CD-3071-B491398A053A}"/>
              </a:ext>
            </a:extLst>
          </p:cNvPr>
          <p:cNvGraphicFramePr/>
          <p:nvPr/>
        </p:nvGraphicFramePr>
        <p:xfrm>
          <a:off x="287700" y="11592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en planeación</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4" name="Google Shape;559;g3d0ffe769cd_0_0">
            <a:extLst>
              <a:ext uri="{FF2B5EF4-FFF2-40B4-BE49-F238E27FC236}">
                <a16:creationId xmlns:a16="http://schemas.microsoft.com/office/drawing/2014/main" id="{74EA239F-AD11-6BB6-2B07-15FDA93930A1}"/>
              </a:ext>
            </a:extLst>
          </p:cNvPr>
          <p:cNvGraphicFramePr/>
          <p:nvPr/>
        </p:nvGraphicFramePr>
        <p:xfrm>
          <a:off x="147600" y="5029200"/>
          <a:ext cx="7474250" cy="381000"/>
        </p:xfrm>
        <a:graphic>
          <a:graphicData uri="http://schemas.openxmlformats.org/drawingml/2006/table">
            <a:tbl>
              <a:tblPr>
                <a:noFill/>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A42145"/>
                          </a:solidFill>
                          <a:latin typeface="Montserrat"/>
                          <a:ea typeface="Montserrat"/>
                          <a:cs typeface="Montserrat"/>
                          <a:sym typeface="Montserrat"/>
                        </a:rPr>
                        <a:t>Propuestas </a:t>
                      </a:r>
                      <a:r>
                        <a:rPr lang="es" sz="2100" b="1" dirty="0">
                          <a:solidFill>
                            <a:srgbClr val="A42145"/>
                          </a:solidFill>
                          <a:latin typeface="Montserrat"/>
                          <a:ea typeface="Montserrat"/>
                          <a:cs typeface="Montserrat"/>
                          <a:sym typeface="Montserrat"/>
                        </a:rPr>
                        <a:t>en</a:t>
                      </a:r>
                      <a:r>
                        <a:rPr lang="es" sz="2100" b="1" u="none" strike="noStrike" cap="none" dirty="0">
                          <a:solidFill>
                            <a:srgbClr val="A42145"/>
                          </a:solidFill>
                          <a:latin typeface="Montserrat"/>
                          <a:ea typeface="Montserrat"/>
                          <a:cs typeface="Montserrat"/>
                          <a:sym typeface="Montserrat"/>
                        </a:rPr>
                        <a:t> valoración</a:t>
                      </a:r>
                      <a:endParaRPr sz="2100" b="1" u="none" strike="noStrike" cap="none" dirty="0">
                        <a:solidFill>
                          <a:srgbClr val="A42145"/>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A4214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 name="Google Shape;552;g3d0ffe769cd_0_0">
            <a:extLst>
              <a:ext uri="{FF2B5EF4-FFF2-40B4-BE49-F238E27FC236}">
                <a16:creationId xmlns:a16="http://schemas.microsoft.com/office/drawing/2014/main" id="{1CFCE444-12DD-D109-A796-7924C33A5D14}"/>
              </a:ext>
            </a:extLst>
          </p:cNvPr>
          <p:cNvSpPr/>
          <p:nvPr/>
        </p:nvSpPr>
        <p:spPr>
          <a:xfrm>
            <a:off x="234692" y="6000034"/>
            <a:ext cx="7338300" cy="2862900"/>
          </a:xfrm>
          <a:prstGeom prst="rect">
            <a:avLst/>
          </a:prstGeom>
          <a:solidFill>
            <a:srgbClr val="000000">
              <a:alpha val="498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 name="Google Shape;556;g3d0ffe769cd_0_0">
            <a:extLst>
              <a:ext uri="{FF2B5EF4-FFF2-40B4-BE49-F238E27FC236}">
                <a16:creationId xmlns:a16="http://schemas.microsoft.com/office/drawing/2014/main" id="{7A6658D4-29D8-8663-D2C5-74863CD96596}"/>
              </a:ext>
            </a:extLst>
          </p:cNvPr>
          <p:cNvSpPr/>
          <p:nvPr/>
        </p:nvSpPr>
        <p:spPr>
          <a:xfrm>
            <a:off x="852084" y="6140331"/>
            <a:ext cx="893727" cy="769171"/>
          </a:xfrm>
          <a:prstGeom prst="ellipse">
            <a:avLst/>
          </a:prstGeom>
          <a:gradFill>
            <a:gsLst>
              <a:gs pos="0">
                <a:srgbClr val="714B8D"/>
              </a:gs>
              <a:gs pos="100000">
                <a:srgbClr val="B395BA"/>
              </a:gs>
            </a:gsLst>
            <a:lin ang="108014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1" name="Google Shape;553;g3d0ffe769cd_0_0">
            <a:extLst>
              <a:ext uri="{FF2B5EF4-FFF2-40B4-BE49-F238E27FC236}">
                <a16:creationId xmlns:a16="http://schemas.microsoft.com/office/drawing/2014/main" id="{C2E1F9A0-4911-B1FF-D485-66518A66B9A6}"/>
              </a:ext>
            </a:extLst>
          </p:cNvPr>
          <p:cNvSpPr/>
          <p:nvPr/>
        </p:nvSpPr>
        <p:spPr>
          <a:xfrm>
            <a:off x="290798" y="6906978"/>
            <a:ext cx="2016300" cy="585600"/>
          </a:xfrm>
          <a:prstGeom prst="roundRect">
            <a:avLst>
              <a:gd name="adj" fmla="val 16667"/>
            </a:avLst>
          </a:prstGeom>
          <a:gradFill>
            <a:gsLst>
              <a:gs pos="0">
                <a:srgbClr val="714B8D"/>
              </a:gs>
              <a:gs pos="100000">
                <a:srgbClr val="B395BA"/>
              </a:gs>
            </a:gsLst>
            <a:lin ang="10800025" scaled="0"/>
          </a:gradFill>
          <a:ln>
            <a:noFill/>
          </a:ln>
        </p:spPr>
        <p:txBody>
          <a:bodyPr spcFirstLastPara="1" wrap="square" lIns="0" tIns="0" rIns="0" bIns="0" anchor="ctr" anchorCtr="0">
            <a:noAutofit/>
          </a:bodyPr>
          <a:lstStyle/>
          <a:p>
            <a:pPr marL="482600" marR="0" lvl="0" indent="-482600" algn="ctr" defTabSz="914400" rtl="0" eaLnBrk="1" fontAlgn="auto" latinLnBrk="0" hangingPunct="1">
              <a:lnSpc>
                <a:spcPct val="102000"/>
              </a:lnSpc>
              <a:spcBef>
                <a:spcPts val="0"/>
              </a:spcBef>
              <a:spcAft>
                <a:spcPts val="0"/>
              </a:spcAft>
              <a:buClr>
                <a:srgbClr val="000000"/>
              </a:buClr>
              <a:buSzPts val="1100"/>
              <a:buFont typeface="Arial"/>
              <a:buNone/>
              <a:tabLst/>
              <a:defRPr/>
            </a:pPr>
            <a:endParaRPr kumimoji="0" sz="15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2" name="Google Shape;554;g3d0ffe769cd_0_0">
            <a:extLst>
              <a:ext uri="{FF2B5EF4-FFF2-40B4-BE49-F238E27FC236}">
                <a16:creationId xmlns:a16="http://schemas.microsoft.com/office/drawing/2014/main" id="{6C0AF4EA-FBE1-4238-8146-A4C96C7D760B}"/>
              </a:ext>
            </a:extLst>
          </p:cNvPr>
          <p:cNvSpPr txBox="1"/>
          <p:nvPr/>
        </p:nvSpPr>
        <p:spPr>
          <a:xfrm>
            <a:off x="276701" y="7497965"/>
            <a:ext cx="19650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2025-2030</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8" name="Google Shape;562;g3d0ffe769cd_0_0">
            <a:extLst>
              <a:ext uri="{FF2B5EF4-FFF2-40B4-BE49-F238E27FC236}">
                <a16:creationId xmlns:a16="http://schemas.microsoft.com/office/drawing/2014/main" id="{D407F8E2-D0BB-FA42-30DC-AD7126C10878}"/>
              </a:ext>
            </a:extLst>
          </p:cNvPr>
          <p:cNvSpPr txBox="1"/>
          <p:nvPr/>
        </p:nvSpPr>
        <p:spPr>
          <a:xfrm rot="16200000">
            <a:off x="1958850" y="7286400"/>
            <a:ext cx="16596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2026</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9" name="TextBox 1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graphicFrame>
        <p:nvGraphicFramePr>
          <p:cNvPr id="20" name="Table 19"/>
          <p:cNvGraphicFramePr>
            <a:graphicFrameLocks noGrp="1"/>
          </p:cNvGraphicFramePr>
          <p:nvPr/>
        </p:nvGraphicFramePr>
        <p:xfrm>
          <a:off x="691200" y="1584000"/>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Infraestructura</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1" name="Table 20"/>
          <p:cNvGraphicFramePr>
            <a:graphicFrameLocks noGrp="1"/>
          </p:cNvGraphicFramePr>
          <p:nvPr/>
        </p:nvGraphicFramePr>
        <p:xfrm>
          <a:off x="691200" y="2267998"/>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Conservación</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2" name="Table 21"/>
          <p:cNvGraphicFramePr>
            <a:graphicFrameLocks noGrp="1"/>
          </p:cNvGraphicFramePr>
          <p:nvPr/>
        </p:nvGraphicFramePr>
        <p:xfrm>
          <a:off x="691200" y="2951996"/>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Equipo Médico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3" name="Table 22"/>
          <p:cNvGraphicFramePr>
            <a:graphicFrameLocks noGrp="1"/>
          </p:cNvGraphicFramePr>
          <p:nvPr/>
        </p:nvGraphicFramePr>
        <p:xfrm>
          <a:off x="691200" y="3635994"/>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Equipamiento Electromecánico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4" name="Table 23"/>
          <p:cNvGraphicFramePr>
            <a:graphicFrameLocks noGrp="1"/>
          </p:cNvGraphicFramePr>
          <p:nvPr/>
        </p:nvGraphicFramePr>
        <p:xfrm>
          <a:off x="2552400" y="6141600"/>
          <a:ext cx="4928400" cy="1861200"/>
        </p:xfrm>
        <a:graphic>
          <a:graphicData uri="http://schemas.openxmlformats.org/drawingml/2006/table">
            <a:tbl>
              <a:tblPr firstRow="1" bandRow="1">
                <a:tableStyleId>{5C22544A-7EE6-4342-B048-85BDC9FD1C3A}</a:tableStyleId>
              </a:tblPr>
              <a:tblGrid>
                <a:gridCol w="471600"/>
                <a:gridCol w="1828800"/>
                <a:gridCol w="2628000"/>
              </a:tblGrid>
              <a:tr h="465300">
                <a:tc gridSpan="3">
                  <a:txBody>
                    <a:bodyPr/>
                    <a:lstStyle/>
                    <a:p>
                      <a:pPr algn="ctr">
                        <a:defRPr sz="1400" b="1">
                          <a:solidFill>
                            <a:srgbClr val="FFFFFF"/>
                          </a:solidFill>
                          <a:latin typeface="Montserrat"/>
                        </a:defRPr>
                      </a:pPr>
                      <a:r>
                        <a:t>15 Predios en ruta 2026</a:t>
                      </a:r>
                    </a:p>
                  </a:txBody>
                  <a:tcPr marL="72000" marR="72000" anchor="ctr">
                    <a:solidFill>
                      <a:srgbClr val="705085"/>
                    </a:solidFill>
                  </a:tcPr>
                </a:tc>
                <a:tc hMerge="1">
                  <a:txBody>
                    <a:bodyPr/>
                    <a:lstStyle/>
                    <a:p/>
                  </a:txBody>
                  <a:tcPr marL="72000" marR="72000" anchor="ctr"/>
                </a:tc>
                <a:tc hMerge="1">
                  <a:txBody>
                    <a:bodyPr/>
                    <a:lstStyle/>
                    <a:p/>
                  </a:txBody>
                  <a:tcPr marL="72000" marR="72000" anchor="ctr"/>
                </a:tc>
              </a:tr>
              <a:tr h="465300">
                <a:tc gridSpan="2">
                  <a:txBody>
                    <a:bodyPr/>
                    <a:lstStyle/>
                    <a:p>
                      <a:pPr algn="ctr">
                        <a:defRPr sz="1200" b="1">
                          <a:solidFill>
                            <a:srgbClr val="FFFFFF"/>
                          </a:solidFill>
                          <a:latin typeface="Montserrat"/>
                        </a:defRPr>
                      </a:pPr>
                      <a:r>
                        <a:t>Estatus terrenos ¹</a:t>
                      </a:r>
                    </a:p>
                  </a:txBody>
                  <a:tcPr marL="72000" marR="72000" anchor="ctr">
                    <a:solidFill>
                      <a:srgbClr val="705085"/>
                    </a:solidFill>
                  </a:tcPr>
                </a:tc>
                <a:tc hMerge="1">
                  <a:txBody>
                    <a:bodyPr/>
                    <a:lstStyle/>
                    <a:p/>
                  </a:txBody>
                  <a:tcPr marL="72000" marR="72000" anchor="ctr"/>
                </a:tc>
                <a:tc>
                  <a:txBody>
                    <a:bodyPr/>
                    <a:lstStyle/>
                    <a:p>
                      <a:pPr algn="ctr">
                        <a:defRPr sz="1200" b="1">
                          <a:solidFill>
                            <a:srgbClr val="FFFFFF"/>
                          </a:solidFill>
                          <a:latin typeface="Montserrat"/>
                        </a:defRPr>
                      </a:pPr>
                      <a:r>
                        <a:t>Municipios</a:t>
                      </a:r>
                    </a:p>
                  </a:txBody>
                  <a:tcPr marL="72000" marR="72000" anchor="ctr">
                    <a:solidFill>
                      <a:srgbClr val="705085"/>
                    </a:solidFill>
                  </a:tcPr>
                </a:tc>
              </a:tr>
              <a:tr h="465300">
                <a:tc rowSpan="2">
                  <a:txBody>
                    <a:bodyPr/>
                    <a:lstStyle/>
                    <a:p/>
                  </a:txBody>
                  <a:tcPr marL="72000" marR="72000" anchor="ctr">
                    <a:noFill/>
                  </a:tcPr>
                </a:tc>
                <a:tc>
                  <a:txBody>
                    <a:bodyPr/>
                    <a:lstStyle/>
                    <a:p>
                      <a:pPr algn="ctr">
                        <a:defRPr sz="1200" b="1">
                          <a:solidFill>
                            <a:srgbClr val="FFFFFF"/>
                          </a:solidFill>
                          <a:latin typeface="Montserrat"/>
                        </a:defRPr>
                      </a:pPr>
                      <a:r>
                        <a:t>0 Reserva IMSS</a:t>
                      </a:r>
                    </a:p>
                  </a:txBody>
                  <a:tcPr marL="72000" marR="72000" anchor="ctr">
                    <a:noFill/>
                  </a:tcPr>
                </a:tc>
                <a:tc>
                  <a:txBody>
                    <a:bodyPr/>
                    <a:lstStyle/>
                    <a:p>
                      <a:pPr algn="ctr">
                        <a:defRPr sz="1200" b="0">
                          <a:solidFill>
                            <a:srgbClr val="FFFFFF"/>
                          </a:solidFill>
                          <a:latin typeface="Montserrat"/>
                        </a:defRPr>
                      </a:pPr>
                      <a:r>
                        <a:t>-</a:t>
                      </a:r>
                    </a:p>
                  </a:txBody>
                  <a:tcPr marL="72000" marR="72000" anchor="ctr">
                    <a:noFill/>
                  </a:tcPr>
                </a:tc>
              </a:tr>
              <a:tr h="465300">
                <a:tc vMerge="1">
                  <a:txBody>
                    <a:bodyPr/>
                    <a:lstStyle/>
                    <a:p/>
                  </a:txBody>
                  <a:tcPr marL="72000" marR="72000" anchor="ctr"/>
                </a:tc>
                <a:tc>
                  <a:txBody>
                    <a:bodyPr/>
                    <a:lstStyle/>
                    <a:p>
                      <a:pPr algn="ctr">
                        <a:defRPr sz="1200" b="1">
                          <a:solidFill>
                            <a:srgbClr val="FFFFFF"/>
                          </a:solidFill>
                          <a:latin typeface="Montserrat"/>
                        </a:defRPr>
                      </a:pPr>
                      <a:r>
                        <a:t>15 Donación</a:t>
                      </a:r>
                    </a:p>
                  </a:txBody>
                  <a:tcPr marL="72000" marR="72000" anchor="ctr">
                    <a:noFill/>
                  </a:tcPr>
                </a:tc>
                <a:tc>
                  <a:txBody>
                    <a:bodyPr/>
                    <a:lstStyle/>
                    <a:p>
                      <a:pPr algn="ctr">
                        <a:defRPr sz="1200" b="0">
                          <a:solidFill>
                            <a:srgbClr val="FFFFFF"/>
                          </a:solidFill>
                          <a:latin typeface="Montserrat"/>
                        </a:defRPr>
                      </a:pPr>
                      <a:r>
                        <a:t>Altamira, El Mante, González, Llera, Matamoros, Nuevo Laredo, Ocampo, Tampico, Victoria</a:t>
                      </a:r>
                    </a:p>
                  </a:txBody>
                  <a:tcPr marL="72000" marR="72000" anchor="ctr">
                    <a:noFill/>
                  </a:tcPr>
                </a:tc>
              </a:tr>
            </a:tbl>
          </a:graphicData>
        </a:graphic>
      </p:graphicFrame>
      <p:sp>
        <p:nvSpPr>
          <p:cNvPr id="25" name="Oval 24"/>
          <p:cNvSpPr/>
          <p:nvPr/>
        </p:nvSpPr>
        <p:spPr>
          <a:xfrm>
            <a:off x="885600" y="6163200"/>
            <a:ext cx="810000" cy="70920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705085"/>
                </a:solidFill>
                <a:latin typeface="Montserrat"/>
              </a:defRPr>
            </a:pPr>
            <a:r>
              <a:t>40</a:t>
            </a:r>
          </a:p>
        </p:txBody>
      </p:sp>
      <p:sp>
        <p:nvSpPr>
          <p:cNvPr id="26" name="Rectangle 25"/>
          <p:cNvSpPr/>
          <p:nvPr/>
        </p:nvSpPr>
        <p:spPr>
          <a:xfrm>
            <a:off x="363600" y="6948000"/>
            <a:ext cx="1760400" cy="503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000" rIns="36000" tIns="36000" bIns="36000"/>
          <a:lstStyle/>
          <a:p>
            <a:pPr algn="ctr">
              <a:defRPr sz="1500" b="1">
                <a:solidFill>
                  <a:srgbClr val="FFFFFF"/>
                </a:solidFill>
                <a:latin typeface="Montserrat"/>
              </a:defRPr>
            </a:pPr>
            <a:r>
              <a:t>31 CECI IMSS</a:t>
            </a:r>
          </a:p>
          <a:p>
            <a:pPr algn="ctr">
              <a:defRPr sz="1500" b="1">
                <a:solidFill>
                  <a:srgbClr val="FFFFFF"/>
                </a:solidFill>
                <a:latin typeface="Montserrat"/>
              </a:defRPr>
            </a:pPr>
            <a:r>
              <a:t>9 CECI CAMPO</a:t>
            </a:r>
          </a:p>
        </p:txBody>
      </p:sp>
      <p:sp>
        <p:nvSpPr>
          <p:cNvPr id="27" name="TextBox 26"/>
          <p:cNvSpPr txBox="1"/>
          <p:nvPr/>
        </p:nvSpPr>
        <p:spPr>
          <a:xfrm>
            <a:off x="0" y="9273600"/>
            <a:ext cx="7574400" cy="230400"/>
          </a:xfrm>
          <a:prstGeom prst="rect">
            <a:avLst/>
          </a:prstGeom>
          <a:noFill/>
        </p:spPr>
        <p:txBody>
          <a:bodyPr wrap="square" tIns="0" bIns="0" lIns="0" rIns="0">
            <a:spAutoFit/>
          </a:bodyPr>
          <a:lstStyle/>
          <a:p>
            <a:pPr algn="l">
              <a:defRPr sz="900">
                <a:solidFill>
                  <a:srgbClr val="000000"/>
                </a:solidFill>
                <a:latin typeface="Montserrat"/>
              </a:defRPr>
            </a:pPr>
            <a:r>
              <a:t>¹ 1/Terrenos validados. En integración de expediente para donación: 15 en Matamoros, Nuevo Laredo, Victoria, Altamira, Nuevo Laredo, Matamoros, Reynosa y Tampico.</a:t>
            </a:r>
          </a:p>
        </p:txBody>
      </p:sp>
    </p:spTree>
    <p:extLst>
      <p:ext uri="{BB962C8B-B14F-4D97-AF65-F5344CB8AC3E}">
        <p14:creationId xmlns:p14="http://schemas.microsoft.com/office/powerpoint/2010/main" val="30077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576200" y="3011565"/>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15540" y="4913783"/>
            <a:ext cx="926657" cy="813175"/>
          </a:xfrm>
          <a:prstGeom prst="rect">
            <a:avLst/>
          </a:prstGeom>
          <a:noFill/>
          <a:ln>
            <a:noFill/>
          </a:ln>
        </p:spPr>
      </p:pic>
      <p:sp>
        <p:nvSpPr>
          <p:cNvPr id="460" name="Google Shape;460;p16"/>
          <p:cNvSpPr/>
          <p:nvPr/>
        </p:nvSpPr>
        <p:spPr>
          <a:xfrm>
            <a:off x="866642" y="1681836"/>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6618257"/>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TAMAULIPAS</a:t>
            </a:r>
          </a:p>
        </p:txBody>
      </p:sp>
      <p:graphicFrame>
        <p:nvGraphicFramePr>
          <p:cNvPr id="467" name="Table 466"/>
          <p:cNvGraphicFramePr>
            <a:graphicFrameLocks noGrp="1"/>
          </p:cNvGraphicFramePr>
          <p:nvPr/>
        </p:nvGraphicFramePr>
        <p:xfrm>
          <a:off x="2311200" y="1670400"/>
          <a:ext cx="5032800" cy="666000"/>
        </p:xfrm>
        <a:graphic>
          <a:graphicData uri="http://schemas.openxmlformats.org/drawingml/2006/table">
            <a:tbl>
              <a:tblPr firstRow="1" bandRow="1">
                <a:tableStyleId>{5C22544A-7EE6-4342-B048-85BDC9FD1C3A}</a:tableStyleId>
              </a:tblPr>
              <a:tblGrid>
                <a:gridCol w="1576800"/>
                <a:gridCol w="3456000"/>
              </a:tblGrid>
              <a:tr h="333000">
                <a:tc gridSpan="2">
                  <a:txBody>
                    <a:bodyPr/>
                    <a:lstStyle/>
                    <a:p>
                      <a:pPr algn="ctr"/>
                      <a:r>
                        <a:rPr b="1" sz="1000">
                          <a:solidFill>
                            <a:srgbClr val="FFFFFF"/>
                          </a:solidFill>
                          <a:latin typeface="Montserrat"/>
                        </a:rPr>
                        <a:t>GUARDERÍAS</a:t>
                      </a:r>
                    </a:p>
                  </a:txBody>
                  <a:tcPr marT="0" marB="0" marL="0" marR="0" anchor="ctr">
                    <a:solidFill>
                      <a:srgbClr val="006455"/>
                    </a:solidFill>
                  </a:tcPr>
                </a:tc>
                <a:tc hMerge="1">
                  <a:txBody>
                    <a:bodyPr/>
                    <a:lstStyle/>
                    <a:p/>
                  </a:txBody>
                  <a:tcPr/>
                </a:tc>
              </a:tr>
              <a:tr h="333000">
                <a:tc>
                  <a:txBody>
                    <a:bodyPr/>
                    <a:lstStyle/>
                    <a:p>
                      <a:pPr algn="ctr"/>
                      <a:r>
                        <a:rPr b="1" sz="1000">
                          <a:latin typeface="Montserrat"/>
                        </a:rPr>
                        <a:t>68 </a:t>
                      </a:r>
                      <a:r>
                        <a:rPr b="1" sz="1000">
                          <a:latin typeface="Montserrat"/>
                        </a:rPr>
                        <a:t>unidades</a:t>
                      </a:r>
                    </a:p>
                    <a:p>
                      <a:pPr algn="ctr">
                        <a:defRPr sz="1000">
                          <a:solidFill>
                            <a:srgbClr val="505050"/>
                          </a:solidFill>
                          <a:latin typeface="Montserrat"/>
                        </a:defRPr>
                      </a:pPr>
                      <a:r>
                        <a:t>5 directas</a:t>
                      </a:r>
                    </a:p>
                    <a:p>
                      <a:pPr algn="ctr">
                        <a:defRPr sz="1000">
                          <a:solidFill>
                            <a:srgbClr val="505050"/>
                          </a:solidFill>
                          <a:latin typeface="Montserrat"/>
                        </a:defRPr>
                      </a:pPr>
                      <a:r>
                        <a:t>63 indirectas</a:t>
                      </a:r>
                    </a:p>
                  </a:txBody>
                  <a:tcPr anchor="ctr">
                    <a:solidFill>
                      <a:srgbClr val="FFFFFF"/>
                    </a:solidFill>
                  </a:tcPr>
                </a:tc>
                <a:tc>
                  <a:txBody>
                    <a:bodyPr/>
                    <a:lstStyle/>
                    <a:p>
                      <a:pPr algn="ctr"/>
                      <a:r>
                        <a:rPr b="1" sz="1000">
                          <a:latin typeface="Montserrat"/>
                        </a:rPr>
                        <a:t>9,301 </a:t>
                      </a:r>
                      <a:r>
                        <a:rPr b="1" sz="1000">
                          <a:latin typeface="Montserrat"/>
                        </a:rPr>
                        <a:t>inscritos</a:t>
                      </a:r>
                    </a:p>
                    <a:p>
                      <a:pPr algn="ctr">
                        <a:defRPr sz="1000">
                          <a:solidFill>
                            <a:srgbClr val="505050"/>
                          </a:solidFill>
                          <a:latin typeface="Montserrat"/>
                        </a:defRPr>
                      </a:pPr>
                      <a:r>
                        <a:t>683 en espera</a:t>
                      </a:r>
                    </a:p>
                  </a:txBody>
                  <a:tcPr anchor="ctr">
                    <a:solidFill>
                      <a:srgbClr val="FFFFFF"/>
                    </a:solidFill>
                  </a:tcPr>
                </a:tc>
              </a:tr>
            </a:tbl>
          </a:graphicData>
        </a:graphic>
      </p:graphicFrame>
      <p:graphicFrame>
        <p:nvGraphicFramePr>
          <p:cNvPr id="468" name="Table 467"/>
          <p:cNvGraphicFramePr>
            <a:graphicFrameLocks noGrp="1"/>
          </p:cNvGraphicFramePr>
          <p:nvPr/>
        </p:nvGraphicFramePr>
        <p:xfrm>
          <a:off x="2311200" y="2570400"/>
          <a:ext cx="5032800" cy="2091599"/>
        </p:xfrm>
        <a:graphic>
          <a:graphicData uri="http://schemas.openxmlformats.org/drawingml/2006/table">
            <a:tbl>
              <a:tblPr firstRow="1" bandRow="1">
                <a:tableStyleId>{5C22544A-7EE6-4342-B048-85BDC9FD1C3A}</a:tableStyleId>
              </a:tblPr>
              <a:tblGrid>
                <a:gridCol w="1576800"/>
                <a:gridCol w="3456000"/>
              </a:tblGrid>
              <a:tr h="522899">
                <a:tc gridSpan="2">
                  <a:txBody>
                    <a:bodyPr/>
                    <a:lstStyle/>
                    <a:p>
                      <a:pPr algn="ctr">
                        <a:defRPr b="1" sz="1000">
                          <a:solidFill>
                            <a:srgbClr val="FFFFFF"/>
                          </a:solidFill>
                          <a:latin typeface="Montserrat"/>
                        </a:defRPr>
                      </a:pPr>
                      <a:r>
                        <a:t>BIENESTAR SOCIAL</a:t>
                      </a:r>
                    </a:p>
                  </a:txBody>
                  <a:tcPr anchor="ctr">
                    <a:solidFill>
                      <a:srgbClr val="006455"/>
                    </a:solidFill>
                  </a:tcPr>
                </a:tc>
                <a:tc hMerge="1">
                  <a:txBody>
                    <a:bodyPr/>
                    <a:lstStyle/>
                    <a:p/>
                  </a:txBody>
                  <a:tcPr/>
                </a:tc>
              </a:tr>
              <a:tr h="522899">
                <a:tc>
                  <a:txBody>
                    <a:bodyPr/>
                    <a:lstStyle/>
                    <a:p>
                      <a:pPr algn="ctr">
                        <a:defRPr sz="800" b="1">
                          <a:latin typeface="Montserrat"/>
                        </a:defRPr>
                      </a:pPr>
                      <a:r>
                        <a:t>1 CEBIS</a:t>
                      </a:r>
                    </a:p>
                  </a:txBody>
                  <a:tcPr anchor="ctr" marL="28800" marR="28800" marT="0" marB="0">
                    <a:solidFill>
                      <a:srgbClr val="FFFFFF"/>
                    </a:solidFill>
                  </a:tcPr>
                </a:tc>
                <a:tc>
                  <a:txBody>
                    <a:bodyPr/>
                    <a:lstStyle/>
                    <a:p>
                      <a:pPr algn="ctr">
                        <a:defRPr sz="800">
                          <a:latin typeface="Montserrat"/>
                        </a:defRPr>
                      </a:pPr>
                      <a:r>
                        <a:t>Pánuco</a:t>
                      </a:r>
                    </a:p>
                  </a:txBody>
                  <a:tcPr anchor="ctr" marL="28800" marR="28800" marT="0" marB="0">
                    <a:solidFill>
                      <a:srgbClr val="FFFFFF"/>
                    </a:solidFill>
                  </a:tcPr>
                </a:tc>
              </a:tr>
              <a:tr h="522899">
                <a:tc>
                  <a:txBody>
                    <a:bodyPr/>
                    <a:lstStyle/>
                    <a:p>
                      <a:pPr algn="ctr">
                        <a:defRPr sz="800" b="1">
                          <a:latin typeface="Montserrat"/>
                        </a:defRPr>
                      </a:pPr>
                      <a:r>
                        <a:t>4 Centros de Seguridad Social</a:t>
                      </a:r>
                    </a:p>
                  </a:txBody>
                  <a:tcPr anchor="ctr" marL="28800" marR="28800" marT="0" marB="0">
                    <a:solidFill>
                      <a:srgbClr val="EFEFEF"/>
                    </a:solidFill>
                  </a:tcPr>
                </a:tc>
                <a:tc>
                  <a:txBody>
                    <a:bodyPr/>
                    <a:lstStyle/>
                    <a:p>
                      <a:pPr algn="ctr">
                        <a:defRPr sz="800">
                          <a:latin typeface="Montserrat"/>
                        </a:defRPr>
                      </a:pPr>
                      <a:r>
                        <a:t>Ciudad Mante y Nuevo Laredo</a:t>
                      </a:r>
                    </a:p>
                  </a:txBody>
                  <a:tcPr anchor="ctr" marL="28800" marR="28800" marT="0" marB="0">
                    <a:solidFill>
                      <a:srgbClr val="EFEFEF"/>
                    </a:solidFill>
                  </a:tcPr>
                </a:tc>
              </a:tr>
              <a:tr h="522902">
                <a:tc>
                  <a:txBody>
                    <a:bodyPr/>
                    <a:lstStyle/>
                    <a:p>
                      <a:pPr algn="ctr">
                        <a:defRPr sz="800" b="1">
                          <a:latin typeface="Montserrat"/>
                        </a:defRPr>
                      </a:pPr>
                      <a:r>
                        <a:t>2 Teatro</a:t>
                      </a:r>
                    </a:p>
                  </a:txBody>
                  <a:tcPr anchor="ctr" marL="28800" marR="28800" marT="0" marB="0">
                    <a:solidFill>
                      <a:srgbClr val="FFFFFF"/>
                    </a:solidFill>
                  </a:tcPr>
                </a:tc>
                <a:tc>
                  <a:txBody>
                    <a:bodyPr/>
                    <a:lstStyle/>
                    <a:p>
                      <a:pPr algn="ctr">
                        <a:defRPr sz="800">
                          <a:latin typeface="Montserrat"/>
                        </a:defRPr>
                      </a:pPr>
                      <a:r>
                        <a:t>Cd. Mante, Nuevo Laredo</a:t>
                      </a:r>
                    </a:p>
                  </a:txBody>
                  <a:tcPr anchor="ctr" marL="28800" marR="28800" marT="0" marB="0">
                    <a:solidFill>
                      <a:srgbClr val="FFFFFF"/>
                    </a:solidFill>
                  </a:tcPr>
                </a:tc>
              </a:tr>
            </a:tbl>
          </a:graphicData>
        </a:graphic>
      </p:graphicFrame>
      <p:graphicFrame>
        <p:nvGraphicFramePr>
          <p:cNvPr id="469" name="Table 468"/>
          <p:cNvGraphicFramePr>
            <a:graphicFrameLocks noGrp="1"/>
          </p:cNvGraphicFramePr>
          <p:nvPr/>
        </p:nvGraphicFramePr>
        <p:xfrm>
          <a:off x="2311200" y="4910400"/>
          <a:ext cx="5032800" cy="817200"/>
        </p:xfrm>
        <a:graphic>
          <a:graphicData uri="http://schemas.openxmlformats.org/drawingml/2006/table">
            <a:tbl>
              <a:tblPr firstRow="1" bandRow="1">
                <a:tableStyleId>{5C22544A-7EE6-4342-B048-85BDC9FD1C3A}</a:tableStyleId>
              </a:tblPr>
              <a:tblGrid>
                <a:gridCol w="1576800"/>
                <a:gridCol w="3456000"/>
              </a:tblGrid>
              <a:tr h="272400">
                <a:tc gridSpan="2">
                  <a:txBody>
                    <a:bodyPr/>
                    <a:lstStyle/>
                    <a:p>
                      <a:pPr algn="ctr">
                        <a:defRPr b="1" sz="1000">
                          <a:solidFill>
                            <a:srgbClr val="FFFFFF"/>
                          </a:solidFill>
                          <a:latin typeface="Montserrat"/>
                        </a:defRPr>
                      </a:pPr>
                      <a:r>
                        <a:t>CENTROS VACACIONALES, VELATORIOS Y TIENDAS</a:t>
                      </a:r>
                    </a:p>
                  </a:txBody>
                  <a:tcPr anchor="ctr">
                    <a:solidFill>
                      <a:srgbClr val="006455"/>
                    </a:solidFill>
                  </a:tcPr>
                </a:tc>
                <a:tc hMerge="1">
                  <a:txBody>
                    <a:bodyPr/>
                    <a:lstStyle/>
                    <a:p/>
                  </a:txBody>
                  <a:tcPr/>
                </a:tc>
              </a:tr>
              <a:tr h="272400">
                <a:tc>
                  <a:txBody>
                    <a:bodyPr/>
                    <a:lstStyle/>
                    <a:p>
                      <a:pPr algn="ctr">
                        <a:defRPr sz="800" b="1">
                          <a:latin typeface="Montserrat"/>
                        </a:defRPr>
                      </a:pPr>
                      <a:r>
                        <a:t>1 Tienda IMSS-SNTSS</a:t>
                      </a:r>
                    </a:p>
                  </a:txBody>
                  <a:tcPr anchor="ctr" marL="28800" marR="28800" marT="0" marB="0">
                    <a:solidFill>
                      <a:srgbClr val="FFFFFF"/>
                    </a:solidFill>
                  </a:tcPr>
                </a:tc>
                <a:tc>
                  <a:txBody>
                    <a:bodyPr/>
                    <a:lstStyle/>
                    <a:p>
                      <a:pPr algn="ctr">
                        <a:defRPr sz="800">
                          <a:latin typeface="Montserrat"/>
                        </a:defRPr>
                      </a:pPr>
                      <a:r>
                        <a:t>No. 47 Tampico</a:t>
                      </a:r>
                    </a:p>
                  </a:txBody>
                  <a:tcPr anchor="ctr" marL="28800" marR="28800" marT="0" marB="0">
                    <a:solidFill>
                      <a:srgbClr val="FFFFFF"/>
                    </a:solidFill>
                  </a:tcPr>
                </a:tc>
              </a:tr>
              <a:tr h="272400">
                <a:tc>
                  <a:txBody>
                    <a:bodyPr/>
                    <a:lstStyle/>
                    <a:p>
                      <a:pPr algn="ctr">
                        <a:defRPr sz="800" b="1">
                          <a:latin typeface="Montserrat"/>
                        </a:defRPr>
                      </a:pPr>
                      <a:r>
                        <a:t>1 Velatorio</a:t>
                      </a:r>
                    </a:p>
                  </a:txBody>
                  <a:tcPr anchor="ctr" marL="28800" marR="28800" marT="0" marB="0">
                    <a:solidFill>
                      <a:srgbClr val="EFEFEF"/>
                    </a:solidFill>
                  </a:tcPr>
                </a:tc>
                <a:tc>
                  <a:txBody>
                    <a:bodyPr/>
                    <a:lstStyle/>
                    <a:p>
                      <a:pPr algn="ctr">
                        <a:defRPr sz="800">
                          <a:latin typeface="Montserrat"/>
                        </a:defRPr>
                      </a:pPr>
                      <a:r>
                        <a:t>Tampico</a:t>
                      </a:r>
                    </a:p>
                  </a:txBody>
                  <a:tcPr anchor="ctr" marL="28800" marR="28800" marT="0" marB="0">
                    <a:solidFill>
                      <a:srgbClr val="EFEFEF"/>
                    </a:solidFill>
                  </a:tcPr>
                </a:tc>
              </a:tr>
            </a:tbl>
          </a:graphicData>
        </a:graphic>
      </p:graphicFrame>
      <p:pic>
        <p:nvPicPr>
          <p:cNvPr id="470" name="Picture 469" descr="map_tipo2_28_tamps.png"/>
          <p:cNvPicPr>
            <a:picLocks noChangeAspect="1"/>
          </p:cNvPicPr>
          <p:nvPr/>
        </p:nvPicPr>
        <p:blipFill>
          <a:blip r:embed="rId6"/>
          <a:stretch>
            <a:fillRect/>
          </a:stretch>
        </p:blipFill>
        <p:spPr>
          <a:xfrm>
            <a:off x="2822400" y="5929200"/>
            <a:ext cx="2656800" cy="5239594"/>
          </a:xfrm>
          <a:prstGeom prst="rect">
            <a:avLst/>
          </a:prstGeom>
        </p:spPr>
      </p:pic>
      <p:sp>
        <p:nvSpPr>
          <p:cNvPr id="471" name="TextBox 470"/>
          <p:cNvSpPr txBox="1"/>
          <p:nvPr/>
        </p:nvSpPr>
        <p:spPr>
          <a:xfrm>
            <a:off x="928800" y="6598799"/>
            <a:ext cx="1364400" cy="244800"/>
          </a:xfrm>
          <a:prstGeom prst="rect">
            <a:avLst/>
          </a:prstGeom>
          <a:noFill/>
        </p:spPr>
        <p:txBody>
          <a:bodyPr wrap="none">
            <a:spAutoFit/>
          </a:bodyPr>
          <a:lstStyle/>
          <a:p>
            <a:pPr algn="ctr">
              <a:defRPr b="0" sz="1000">
                <a:solidFill>
                  <a:srgbClr val="000000"/>
                </a:solidFill>
                <a:latin typeface="Montserrat"/>
              </a:defRPr>
            </a:pPr>
            <a:r>
              <a:t>Guarderías    68</a:t>
            </a:r>
          </a:p>
        </p:txBody>
      </p:sp>
      <p:sp>
        <p:nvSpPr>
          <p:cNvPr id="472" name="TextBox 471"/>
          <p:cNvSpPr txBox="1"/>
          <p:nvPr/>
        </p:nvSpPr>
        <p:spPr>
          <a:xfrm>
            <a:off x="0" y="9273600"/>
            <a:ext cx="4258800" cy="230400"/>
          </a:xfrm>
          <a:prstGeom prst="rect">
            <a:avLst/>
          </a:prstGeom>
          <a:noFill/>
        </p:spPr>
        <p:txBody>
          <a:bodyPr wrap="square" tIns="0" bIns="0" lIns="0" rIns="0">
            <a:spAutoFit/>
          </a:bodyPr>
          <a:lstStyle/>
          <a:p>
            <a:pPr algn="l">
              <a:defRPr sz="900">
                <a:solidFill>
                  <a:srgbClr val="000000"/>
                </a:solidFill>
                <a:latin typeface="Montserrat"/>
              </a:defRPr>
            </a:pPr>
            <a:r>
              <a:t>Fuente: Dirección de Prestaciones Económicas y Sociales, abril de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dirty="0">
                          <a:solidFill>
                            <a:srgbClr val="BC955C"/>
                          </a:solidFill>
                          <a:latin typeface="Montserrat"/>
                          <a:ea typeface="Montserrat"/>
                          <a:cs typeface="Montserrat"/>
                          <a:sym typeface="Montserrat"/>
                        </a:rPr>
                        <a:t>Actividad económica</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1516890549"/>
              </p:ext>
            </p:extLst>
          </p:nvPr>
        </p:nvGraphicFramePr>
        <p:xfrm>
          <a:off x="282450" y="341803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dirty="0">
                          <a:solidFill>
                            <a:srgbClr val="BC955C"/>
                          </a:solidFill>
                          <a:latin typeface="Montserrat"/>
                          <a:ea typeface="Montserrat"/>
                          <a:cs typeface="Montserrat"/>
                          <a:sym typeface="Montserrat"/>
                        </a:rPr>
                        <a:t>Puestos de trabajo, </a:t>
                      </a:r>
                      <a:r>
                        <a:rPr lang="es" sz="1500" b="1" u="none" strike="noStrike" cap="none" dirty="0">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4"/>
                            </a:ext>
                          </a:extLst>
                        </a:rPr>
                        <a:t>por </a:t>
                      </a:r>
                      <a:r>
                        <a:rPr lang="es" sz="1500" b="1" u="none" strike="noStrike" cap="none" dirty="0">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5"/>
                            </a:ext>
                          </a:extLst>
                        </a:rPr>
                        <a:t>tipo de sector</a:t>
                      </a:r>
                      <a:endParaRPr sz="1500" u="none" strike="noStrike" cap="none" dirty="0">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nvGraphicFramePr>
        <p:xfrm>
          <a:off x="231775" y="737650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graphicFrame>
        <p:nvGraphicFramePr>
          <p:cNvPr id="479" name="Table 478"/>
          <p:cNvGraphicFramePr>
            <a:graphicFrameLocks noGrp="1"/>
          </p:cNvGraphicFramePr>
          <p:nvPr/>
        </p:nvGraphicFramePr>
        <p:xfrm>
          <a:off x="284400" y="1087200"/>
          <a:ext cx="6984000" cy="1880639"/>
        </p:xfrm>
        <a:graphic>
          <a:graphicData uri="http://schemas.openxmlformats.org/drawingml/2006/table">
            <a:tbl>
              <a:tblPr firstRow="1" bandRow="1">
                <a:tableStyleId>{5C22544A-7EE6-4342-B048-85BDC9FD1C3A}</a:tableStyleId>
              </a:tblPr>
              <a:tblGrid>
                <a:gridCol w="1260000"/>
                <a:gridCol w="720000"/>
                <a:gridCol w="720000"/>
                <a:gridCol w="792000"/>
                <a:gridCol w="1260000"/>
                <a:gridCol w="720000"/>
                <a:gridCol w="720000"/>
                <a:gridCol w="792000"/>
              </a:tblGrid>
              <a:tr h="251999">
                <a:tc gridSpan="8">
                  <a:txBody>
                    <a:bodyPr/>
                    <a:lstStyle/>
                    <a:p>
                      <a:pPr algn="ctr">
                        <a:defRPr b="1" sz="1000">
                          <a:solidFill>
                            <a:srgbClr val="FFFFFF"/>
                          </a:solidFill>
                          <a:latin typeface="Montserrat"/>
                        </a:defRPr>
                      </a:pPr>
                      <a:r>
                        <a:t>PRINCIPALES EMPLEADORES</a:t>
                      </a:r>
                    </a:p>
                  </a:txBody>
                  <a:tcPr anchor="ctr">
                    <a:solidFill>
                      <a:srgbClr val="BC955C"/>
                    </a:solid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360000">
                <a:tc>
                  <a:txBody>
                    <a:bodyPr/>
                    <a:lstStyle/>
                    <a:p>
                      <a:pPr algn="ctr">
                        <a:defRPr b="1" sz="850">
                          <a:solidFill>
                            <a:srgbClr val="FFFFFF"/>
                          </a:solidFill>
                          <a:latin typeface="Montserrat"/>
                        </a:defRPr>
                      </a:pPr>
                      <a:r>
                        <a:t>Empleador público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c>
                  <a:txBody>
                    <a:bodyPr/>
                    <a:lstStyle/>
                    <a:p>
                      <a:pPr algn="ctr">
                        <a:defRPr b="1" sz="850">
                          <a:solidFill>
                            <a:srgbClr val="FFFFFF"/>
                          </a:solidFill>
                          <a:latin typeface="Montserrat"/>
                        </a:defRPr>
                      </a:pPr>
                      <a:r>
                        <a:t>Empleador Privado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r>
              <a:tr h="288000">
                <a:tc>
                  <a:txBody>
                    <a:bodyPr/>
                    <a:lstStyle/>
                    <a:p>
                      <a:pPr algn="ctr">
                        <a:defRPr sz="850">
                          <a:latin typeface="Montserrat"/>
                        </a:defRPr>
                      </a:pPr>
                      <a:r>
                        <a:t>Instituto Mexicano del Seguro Social</a:t>
                      </a:r>
                    </a:p>
                  </a:txBody>
                  <a:tcPr anchor="ctr">
                    <a:solidFill>
                      <a:srgbClr val="FFFFFF"/>
                    </a:solidFill>
                  </a:tcPr>
                </a:tc>
                <a:tc>
                  <a:txBody>
                    <a:bodyPr/>
                    <a:lstStyle/>
                    <a:p>
                      <a:pPr algn="ctr">
                        <a:defRPr sz="850">
                          <a:latin typeface="Montserrat"/>
                        </a:defRPr>
                      </a:pPr>
                      <a:r>
                        <a:t>16,350</a:t>
                      </a:r>
                    </a:p>
                  </a:txBody>
                  <a:tcPr anchor="ctr">
                    <a:solidFill>
                      <a:srgbClr val="FFFFFF"/>
                    </a:solidFill>
                  </a:tcPr>
                </a:tc>
                <a:tc>
                  <a:txBody>
                    <a:bodyPr/>
                    <a:lstStyle/>
                    <a:p>
                      <a:pPr algn="ctr">
                        <a:defRPr sz="850">
                          <a:latin typeface="Montserrat"/>
                        </a:defRPr>
                      </a:pPr>
                      <a:r>
                        <a:t>16,290</a:t>
                      </a:r>
                    </a:p>
                  </a:txBody>
                  <a:tcPr anchor="ctr">
                    <a:solidFill>
                      <a:srgbClr val="FFFFFF"/>
                    </a:solidFill>
                  </a:tcPr>
                </a:tc>
                <a:tc>
                  <a:txBody>
                    <a:bodyPr/>
                    <a:lstStyle/>
                    <a:p>
                      <a:pPr algn="ctr">
                        <a:defRPr sz="850" b="1">
                          <a:solidFill>
                            <a:srgbClr val="691C32"/>
                          </a:solidFill>
                          <a:latin typeface="Montserrat"/>
                        </a:defRPr>
                      </a:pPr>
                      <a:r>
                        <a:t>-0.4%</a:t>
                      </a:r>
                    </a:p>
                  </a:txBody>
                  <a:tcPr anchor="ctr">
                    <a:solidFill>
                      <a:srgbClr val="FFFFFF"/>
                    </a:solidFill>
                  </a:tcPr>
                </a:tc>
                <a:tc>
                  <a:txBody>
                    <a:bodyPr/>
                    <a:lstStyle/>
                    <a:p>
                      <a:pPr algn="ctr">
                        <a:defRPr sz="850">
                          <a:latin typeface="Montserrat"/>
                        </a:defRPr>
                      </a:pPr>
                      <a:r>
                        <a:t>Corning Optical Communications S. de R.L. de C.V.</a:t>
                      </a:r>
                    </a:p>
                  </a:txBody>
                  <a:tcPr anchor="ctr">
                    <a:solidFill>
                      <a:srgbClr val="FFFFFF"/>
                    </a:solidFill>
                  </a:tcPr>
                </a:tc>
                <a:tc>
                  <a:txBody>
                    <a:bodyPr/>
                    <a:lstStyle/>
                    <a:p>
                      <a:pPr algn="ctr">
                        <a:defRPr sz="850">
                          <a:latin typeface="Montserrat"/>
                        </a:defRPr>
                      </a:pPr>
                      <a:r>
                        <a:t>27,239</a:t>
                      </a:r>
                    </a:p>
                  </a:txBody>
                  <a:tcPr anchor="ctr">
                    <a:solidFill>
                      <a:srgbClr val="FFFFFF"/>
                    </a:solidFill>
                  </a:tcPr>
                </a:tc>
                <a:tc>
                  <a:txBody>
                    <a:bodyPr/>
                    <a:lstStyle/>
                    <a:p>
                      <a:pPr algn="ctr">
                        <a:defRPr sz="850">
                          <a:latin typeface="Montserrat"/>
                        </a:defRPr>
                      </a:pPr>
                      <a:r>
                        <a:t>27,478</a:t>
                      </a:r>
                    </a:p>
                  </a:txBody>
                  <a:tcPr anchor="ctr">
                    <a:solidFill>
                      <a:srgbClr val="FFFFFF"/>
                    </a:solidFill>
                  </a:tcPr>
                </a:tc>
                <a:tc>
                  <a:txBody>
                    <a:bodyPr/>
                    <a:lstStyle/>
                    <a:p>
                      <a:pPr algn="ctr">
                        <a:defRPr sz="850" b="1">
                          <a:solidFill>
                            <a:srgbClr val="006455"/>
                          </a:solidFill>
                          <a:latin typeface="Montserrat"/>
                        </a:defRPr>
                      </a:pPr>
                      <a:r>
                        <a:t>0.9%</a:t>
                      </a:r>
                    </a:p>
                  </a:txBody>
                  <a:tcPr anchor="ctr">
                    <a:solidFill>
                      <a:srgbClr val="FFFFFF"/>
                    </a:solidFill>
                  </a:tcPr>
                </a:tc>
              </a:tr>
              <a:tr h="490320">
                <a:tc>
                  <a:txBody>
                    <a:bodyPr/>
                    <a:lstStyle/>
                    <a:p>
                      <a:pPr algn="ctr">
                        <a:defRPr sz="850">
                          <a:latin typeface="Montserrat"/>
                        </a:defRPr>
                      </a:pPr>
                      <a:r>
                        <a:t>Universidad Autónoma de Tamaulipas</a:t>
                      </a:r>
                    </a:p>
                  </a:txBody>
                  <a:tcPr anchor="ctr">
                    <a:solidFill>
                      <a:srgbClr val="D9D9D9"/>
                    </a:solidFill>
                  </a:tcPr>
                </a:tc>
                <a:tc>
                  <a:txBody>
                    <a:bodyPr/>
                    <a:lstStyle/>
                    <a:p>
                      <a:pPr algn="ctr">
                        <a:defRPr sz="850">
                          <a:latin typeface="Montserrat"/>
                        </a:defRPr>
                      </a:pPr>
                      <a:r>
                        <a:t>8,152</a:t>
                      </a:r>
                    </a:p>
                  </a:txBody>
                  <a:tcPr anchor="ctr">
                    <a:solidFill>
                      <a:srgbClr val="D9D9D9"/>
                    </a:solidFill>
                  </a:tcPr>
                </a:tc>
                <a:tc>
                  <a:txBody>
                    <a:bodyPr/>
                    <a:lstStyle/>
                    <a:p>
                      <a:pPr algn="ctr">
                        <a:defRPr sz="850">
                          <a:latin typeface="Montserrat"/>
                        </a:defRPr>
                      </a:pPr>
                      <a:r>
                        <a:t>8,137</a:t>
                      </a:r>
                    </a:p>
                  </a:txBody>
                  <a:tcPr anchor="ctr">
                    <a:solidFill>
                      <a:srgbClr val="D9D9D9"/>
                    </a:solidFill>
                  </a:tcPr>
                </a:tc>
                <a:tc>
                  <a:txBody>
                    <a:bodyPr/>
                    <a:lstStyle/>
                    <a:p>
                      <a:pPr algn="ctr">
                        <a:defRPr sz="850" b="1">
                          <a:solidFill>
                            <a:srgbClr val="691C32"/>
                          </a:solidFill>
                          <a:latin typeface="Montserrat"/>
                        </a:defRPr>
                      </a:pPr>
                      <a:r>
                        <a:t>-0.2%</a:t>
                      </a:r>
                    </a:p>
                  </a:txBody>
                  <a:tcPr anchor="ctr">
                    <a:solidFill>
                      <a:srgbClr val="D9D9D9"/>
                    </a:solidFill>
                  </a:tcPr>
                </a:tc>
                <a:tc>
                  <a:txBody>
                    <a:bodyPr/>
                    <a:lstStyle/>
                    <a:p>
                      <a:pPr algn="ctr">
                        <a:defRPr sz="850">
                          <a:latin typeface="Montserrat"/>
                        </a:defRPr>
                      </a:pPr>
                      <a:r>
                        <a:t>Cadena Comercial OXXO S.A. de C.V.</a:t>
                      </a:r>
                    </a:p>
                  </a:txBody>
                  <a:tcPr anchor="ctr">
                    <a:solidFill>
                      <a:srgbClr val="D9D9D9"/>
                    </a:solidFill>
                  </a:tcPr>
                </a:tc>
                <a:tc>
                  <a:txBody>
                    <a:bodyPr/>
                    <a:lstStyle/>
                    <a:p>
                      <a:pPr algn="ctr">
                        <a:defRPr sz="850">
                          <a:latin typeface="Montserrat"/>
                        </a:defRPr>
                      </a:pPr>
                      <a:r>
                        <a:t>8,228</a:t>
                      </a:r>
                    </a:p>
                  </a:txBody>
                  <a:tcPr anchor="ctr">
                    <a:solidFill>
                      <a:srgbClr val="D9D9D9"/>
                    </a:solidFill>
                  </a:tcPr>
                </a:tc>
                <a:tc>
                  <a:txBody>
                    <a:bodyPr/>
                    <a:lstStyle/>
                    <a:p>
                      <a:pPr algn="ctr">
                        <a:defRPr sz="850">
                          <a:latin typeface="Montserrat"/>
                        </a:defRPr>
                      </a:pPr>
                      <a:r>
                        <a:t>8,189</a:t>
                      </a:r>
                    </a:p>
                  </a:txBody>
                  <a:tcPr anchor="ctr">
                    <a:solidFill>
                      <a:srgbClr val="D9D9D9"/>
                    </a:solidFill>
                  </a:tcPr>
                </a:tc>
                <a:tc>
                  <a:txBody>
                    <a:bodyPr/>
                    <a:lstStyle/>
                    <a:p>
                      <a:pPr algn="ctr">
                        <a:defRPr sz="850" b="1">
                          <a:solidFill>
                            <a:srgbClr val="691C32"/>
                          </a:solidFill>
                          <a:latin typeface="Montserrat"/>
                        </a:defRPr>
                      </a:pPr>
                      <a:r>
                        <a:t>-0.5%</a:t>
                      </a:r>
                    </a:p>
                  </a:txBody>
                  <a:tcPr anchor="ctr">
                    <a:solidFill>
                      <a:srgbClr val="D9D9D9"/>
                    </a:solidFill>
                  </a:tcPr>
                </a:tc>
              </a:tr>
              <a:tr h="490320">
                <a:tc>
                  <a:txBody>
                    <a:bodyPr/>
                    <a:lstStyle/>
                    <a:p>
                      <a:pPr algn="ctr">
                        <a:defRPr sz="850">
                          <a:latin typeface="Montserrat"/>
                        </a:defRPr>
                      </a:pPr>
                      <a:r>
                        <a:t>Comisión Federal de Electricidad Epe</a:t>
                      </a:r>
                    </a:p>
                  </a:txBody>
                  <a:tcPr anchor="ctr">
                    <a:solidFill>
                      <a:srgbClr val="FFFFFF"/>
                    </a:solidFill>
                  </a:tcPr>
                </a:tc>
                <a:tc>
                  <a:txBody>
                    <a:bodyPr/>
                    <a:lstStyle/>
                    <a:p>
                      <a:pPr algn="ctr">
                        <a:defRPr sz="850">
                          <a:latin typeface="Montserrat"/>
                        </a:defRPr>
                      </a:pPr>
                      <a:r>
                        <a:t>3,434</a:t>
                      </a:r>
                    </a:p>
                  </a:txBody>
                  <a:tcPr anchor="ctr">
                    <a:solidFill>
                      <a:srgbClr val="FFFFFF"/>
                    </a:solidFill>
                  </a:tcPr>
                </a:tc>
                <a:tc>
                  <a:txBody>
                    <a:bodyPr/>
                    <a:lstStyle/>
                    <a:p>
                      <a:pPr algn="ctr">
                        <a:defRPr sz="850">
                          <a:latin typeface="Montserrat"/>
                        </a:defRPr>
                      </a:pPr>
                      <a:r>
                        <a:t>3,355</a:t>
                      </a:r>
                    </a:p>
                  </a:txBody>
                  <a:tcPr anchor="ctr">
                    <a:solidFill>
                      <a:srgbClr val="FFFFFF"/>
                    </a:solidFill>
                  </a:tcPr>
                </a:tc>
                <a:tc>
                  <a:txBody>
                    <a:bodyPr/>
                    <a:lstStyle/>
                    <a:p>
                      <a:pPr algn="ctr">
                        <a:defRPr sz="850" b="1">
                          <a:solidFill>
                            <a:srgbClr val="691C32"/>
                          </a:solidFill>
                          <a:latin typeface="Montserrat"/>
                        </a:defRPr>
                      </a:pPr>
                      <a:r>
                        <a:t>-2.3%</a:t>
                      </a:r>
                    </a:p>
                  </a:txBody>
                  <a:tcPr anchor="ctr">
                    <a:solidFill>
                      <a:srgbClr val="FFFFFF"/>
                    </a:solidFill>
                  </a:tcPr>
                </a:tc>
                <a:tc>
                  <a:txBody>
                    <a:bodyPr/>
                    <a:lstStyle/>
                    <a:p>
                      <a:pPr algn="ctr">
                        <a:defRPr sz="850">
                          <a:latin typeface="Montserrat"/>
                        </a:defRPr>
                      </a:pPr>
                      <a:r>
                        <a:t>Aptiv Contract Services Nuevo Laredo S. de R.L. de C.V.</a:t>
                      </a:r>
                    </a:p>
                  </a:txBody>
                  <a:tcPr anchor="ctr">
                    <a:solidFill>
                      <a:srgbClr val="FFFFFF"/>
                    </a:solidFill>
                  </a:tcPr>
                </a:tc>
                <a:tc>
                  <a:txBody>
                    <a:bodyPr/>
                    <a:lstStyle/>
                    <a:p>
                      <a:pPr algn="ctr">
                        <a:defRPr sz="850">
                          <a:latin typeface="Montserrat"/>
                        </a:defRPr>
                      </a:pPr>
                      <a:r>
                        <a:t>7,389</a:t>
                      </a:r>
                    </a:p>
                  </a:txBody>
                  <a:tcPr anchor="ctr">
                    <a:solidFill>
                      <a:srgbClr val="FFFFFF"/>
                    </a:solidFill>
                  </a:tcPr>
                </a:tc>
                <a:tc>
                  <a:txBody>
                    <a:bodyPr/>
                    <a:lstStyle/>
                    <a:p>
                      <a:pPr algn="ctr">
                        <a:defRPr sz="850">
                          <a:latin typeface="Montserrat"/>
                        </a:defRPr>
                      </a:pPr>
                      <a:r>
                        <a:t>7,518</a:t>
                      </a:r>
                    </a:p>
                  </a:txBody>
                  <a:tcPr anchor="ctr">
                    <a:solidFill>
                      <a:srgbClr val="FFFFFF"/>
                    </a:solidFill>
                  </a:tcPr>
                </a:tc>
                <a:tc>
                  <a:txBody>
                    <a:bodyPr/>
                    <a:lstStyle/>
                    <a:p>
                      <a:pPr algn="ctr">
                        <a:defRPr sz="850" b="1">
                          <a:solidFill>
                            <a:srgbClr val="006455"/>
                          </a:solidFill>
                          <a:latin typeface="Montserrat"/>
                        </a:defRPr>
                      </a:pPr>
                      <a:r>
                        <a:t>1.8%</a:t>
                      </a:r>
                    </a:p>
                  </a:txBody>
                  <a:tcPr anchor="ctr">
                    <a:solidFill>
                      <a:srgbClr val="FFFFFF"/>
                    </a:solidFill>
                  </a:tcPr>
                </a:tc>
              </a:tr>
            </a:tbl>
          </a:graphicData>
        </a:graphic>
      </p:graphicFrame>
      <p:graphicFrame>
        <p:nvGraphicFramePr>
          <p:cNvPr id="480" name="Chart 479"/>
          <p:cNvGraphicFramePr>
            <a:graphicFrameLocks noGrp="1"/>
          </p:cNvGraphicFramePr>
          <p:nvPr/>
        </p:nvGraphicFramePr>
        <p:xfrm>
          <a:off x="72000" y="3650400"/>
          <a:ext cx="7016399" cy="3726000"/>
        </p:xfrm>
        <a:graphic>
          <a:graphicData uri="http://schemas.openxmlformats.org/drawingml/2006/chart">
            <c:chart xmlns:c="http://schemas.openxmlformats.org/drawingml/2006/chart" r:id="rId4"/>
          </a:graphicData>
        </a:graphic>
      </p:graphicFrame>
      <p:sp>
        <p:nvSpPr>
          <p:cNvPr id="481" name="Rounded Rectangle 480"/>
          <p:cNvSpPr/>
          <p:nvPr/>
        </p:nvSpPr>
        <p:spPr>
          <a:xfrm>
            <a:off x="7020000" y="378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-6.10%</a:t>
            </a:r>
          </a:p>
        </p:txBody>
      </p:sp>
      <p:sp>
        <p:nvSpPr>
          <p:cNvPr id="482" name="Rounded Rectangle 481"/>
          <p:cNvSpPr/>
          <p:nvPr/>
        </p:nvSpPr>
        <p:spPr>
          <a:xfrm>
            <a:off x="7020000" y="4176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-5.46%</a:t>
            </a:r>
          </a:p>
        </p:txBody>
      </p:sp>
      <p:sp>
        <p:nvSpPr>
          <p:cNvPr id="483" name="Rounded Rectangle 482"/>
          <p:cNvSpPr/>
          <p:nvPr/>
        </p:nvSpPr>
        <p:spPr>
          <a:xfrm>
            <a:off x="7020000" y="4572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-5.44%</a:t>
            </a:r>
          </a:p>
        </p:txBody>
      </p:sp>
      <p:sp>
        <p:nvSpPr>
          <p:cNvPr id="484" name="Rounded Rectangle 483"/>
          <p:cNvSpPr/>
          <p:nvPr/>
        </p:nvSpPr>
        <p:spPr>
          <a:xfrm>
            <a:off x="7020000" y="4968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-3.71%</a:t>
            </a:r>
          </a:p>
        </p:txBody>
      </p:sp>
      <p:sp>
        <p:nvSpPr>
          <p:cNvPr id="485" name="Rounded Rectangle 484"/>
          <p:cNvSpPr/>
          <p:nvPr/>
        </p:nvSpPr>
        <p:spPr>
          <a:xfrm>
            <a:off x="7020000" y="5364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-2.15%</a:t>
            </a:r>
          </a:p>
        </p:txBody>
      </p:sp>
      <p:sp>
        <p:nvSpPr>
          <p:cNvPr id="486" name="Rounded Rectangle 485"/>
          <p:cNvSpPr/>
          <p:nvPr/>
        </p:nvSpPr>
        <p:spPr>
          <a:xfrm>
            <a:off x="7020000" y="5760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+0.53%</a:t>
            </a:r>
          </a:p>
        </p:txBody>
      </p:sp>
      <p:sp>
        <p:nvSpPr>
          <p:cNvPr id="487" name="Rounded Rectangle 486"/>
          <p:cNvSpPr/>
          <p:nvPr/>
        </p:nvSpPr>
        <p:spPr>
          <a:xfrm>
            <a:off x="7020000" y="615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+0.77%</a:t>
            </a:r>
          </a:p>
        </p:txBody>
      </p:sp>
      <p:sp>
        <p:nvSpPr>
          <p:cNvPr id="488" name="Rounded Rectangle 487"/>
          <p:cNvSpPr/>
          <p:nvPr/>
        </p:nvSpPr>
        <p:spPr>
          <a:xfrm>
            <a:off x="7020000" y="655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+2.26%</a:t>
            </a:r>
          </a:p>
        </p:txBody>
      </p:sp>
      <p:sp>
        <p:nvSpPr>
          <p:cNvPr id="489" name="Rounded Rectangle 488"/>
          <p:cNvSpPr/>
          <p:nvPr/>
        </p:nvSpPr>
        <p:spPr>
          <a:xfrm>
            <a:off x="7020000" y="694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+4.75%</a:t>
            </a:r>
          </a:p>
        </p:txBody>
      </p:sp>
      <p:sp>
        <p:nvSpPr>
          <p:cNvPr id="490" name="Rounded Rectangle 489"/>
          <p:cNvSpPr/>
          <p:nvPr/>
        </p:nvSpPr>
        <p:spPr>
          <a:xfrm>
            <a:off x="4525200" y="3491999"/>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2025</a:t>
            </a:r>
          </a:p>
        </p:txBody>
      </p:sp>
      <p:sp>
        <p:nvSpPr>
          <p:cNvPr id="491" name="Rounded Rectangle 490"/>
          <p:cNvSpPr/>
          <p:nvPr/>
        </p:nvSpPr>
        <p:spPr>
          <a:xfrm>
            <a:off x="5425200" y="3491999"/>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2026</a:t>
            </a:r>
          </a:p>
        </p:txBody>
      </p:sp>
      <p:graphicFrame>
        <p:nvGraphicFramePr>
          <p:cNvPr id="492" name="Table 491"/>
          <p:cNvGraphicFramePr>
            <a:graphicFrameLocks noGrp="1"/>
          </p:cNvGraphicFramePr>
          <p:nvPr/>
        </p:nvGraphicFramePr>
        <p:xfrm>
          <a:off x="853200" y="7826399"/>
          <a:ext cx="5875200" cy="1383120"/>
        </p:xfrm>
        <a:graphic>
          <a:graphicData uri="http://schemas.openxmlformats.org/drawingml/2006/table">
            <a:tbl>
              <a:tblPr firstRow="1" bandRow="1">
                <a:tableStyleId>{5C22544A-7EE6-4342-B048-85BDC9FD1C3A}</a:tableStyleId>
              </a:tblPr>
              <a:tblGrid>
                <a:gridCol w="1260000"/>
                <a:gridCol w="838800"/>
                <a:gridCol w="838800"/>
                <a:gridCol w="838800"/>
                <a:gridCol w="838800"/>
                <a:gridCol w="1260000"/>
              </a:tblGrid>
              <a:tr h="286560">
                <a:tc rowSpan="2">
                  <a:txBody>
                    <a:bodyPr/>
                    <a:lstStyle/>
                    <a:p>
                      <a:pPr algn="ctr">
                        <a:defRPr b="1" sz="1000">
                          <a:solidFill>
                            <a:srgbClr val="FFFFFF"/>
                          </a:solidFill>
                          <a:latin typeface="Montserrat"/>
                        </a:defRPr>
                      </a:pPr>
                      <a:r>
                        <a:t>Mes</a:t>
                      </a:r>
                    </a:p>
                  </a:txBody>
                  <a:tcPr anchor="ctr">
                    <a:solidFill>
                      <a:srgbClr val="BC955C"/>
                    </a:solidFill>
                  </a:tcPr>
                </a:tc>
                <a:tc gridSpan="2">
                  <a:txBody>
                    <a:bodyPr/>
                    <a:lstStyle/>
                    <a:p>
                      <a:pPr algn="ctr">
                        <a:defRPr b="1" sz="1000">
                          <a:solidFill>
                            <a:srgbClr val="FFFFFF"/>
                          </a:solidFill>
                          <a:latin typeface="Montserrat"/>
                        </a:defRPr>
                      </a:pPr>
                      <a:r>
                        <a:t>Permanente</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gridSpan="2">
                  <a:txBody>
                    <a:bodyPr/>
                    <a:lstStyle/>
                    <a:p>
                      <a:pPr algn="ctr">
                        <a:defRPr b="1" sz="1000">
                          <a:solidFill>
                            <a:srgbClr val="FFFFFF"/>
                          </a:solidFill>
                          <a:latin typeface="Montserrat"/>
                        </a:defRPr>
                      </a:pPr>
                      <a:r>
                        <a:t>Eventual</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rowSpan="2">
                  <a:txBody>
                    <a:bodyPr/>
                    <a:lstStyle/>
                    <a:p>
                      <a:pPr algn="ctr">
                        <a:defRPr b="1" sz="1000">
                          <a:solidFill>
                            <a:srgbClr val="FFFFFF"/>
                          </a:solidFill>
                          <a:latin typeface="Montserrat"/>
                        </a:defRPr>
                      </a:pPr>
                      <a:r>
                        <a:t>Total</a:t>
                      </a:r>
                    </a:p>
                  </a:txBody>
                  <a:tcPr anchor="ctr">
                    <a:solidFill>
                      <a:srgbClr val="BC955C"/>
                    </a:solidFill>
                  </a:tcPr>
                </a:tc>
              </a:tr>
              <a:tr h="286560">
                <a:tc vMerge="1">
                  <a:txBody>
                    <a:bodyPr/>
                    <a:lstStyle/>
                    <a:p>
                      <a:pPr algn="ctr">
                        <a:defRPr b="1" sz="1000">
                          <a:solidFill>
                            <a:srgbClr val="FFFFFF"/>
                          </a:solidFill>
                          <a:latin typeface="Montserrat"/>
                        </a:defRPr>
                      </a:pP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vMerge="1">
                  <a:txBody>
                    <a:bodyPr/>
                    <a:lstStyle/>
                    <a:p>
                      <a:pPr algn="ctr">
                        <a:defRPr b="1" sz="1000">
                          <a:solidFill>
                            <a:srgbClr val="FFFFFF"/>
                          </a:solidFill>
                          <a:latin typeface="Montserrat"/>
                        </a:defRPr>
                      </a:pPr>
                    </a:p>
                  </a:txBody>
                  <a:tcPr anchor="ctr">
                    <a:solidFill>
                      <a:srgbClr val="BC955C"/>
                    </a:solidFill>
                  </a:tcPr>
                </a:tc>
              </a:tr>
              <a:tr h="270000">
                <a:tc>
                  <a:txBody>
                    <a:bodyPr/>
                    <a:lstStyle/>
                    <a:p>
                      <a:pPr algn="ctr">
                        <a:defRPr sz="900">
                          <a:latin typeface="Montserrat"/>
                        </a:defRPr>
                      </a:pPr>
                      <a:r>
                        <a:t>Abr 2025</a:t>
                      </a:r>
                    </a:p>
                  </a:txBody>
                  <a:tcPr>
                    <a:solidFill>
                      <a:srgbClr val="FFFFFF"/>
                    </a:solidFill>
                  </a:tcPr>
                </a:tc>
                <a:tc>
                  <a:txBody>
                    <a:bodyPr/>
                    <a:lstStyle/>
                    <a:p>
                      <a:pPr algn="ctr">
                        <a:defRPr sz="900">
                          <a:latin typeface="Montserrat"/>
                        </a:defRPr>
                      </a:pPr>
                      <a:r>
                        <a:t>625,246</a:t>
                      </a:r>
                    </a:p>
                  </a:txBody>
                  <a:tcPr>
                    <a:solidFill>
                      <a:srgbClr val="FFFFFF"/>
                    </a:solidFill>
                  </a:tcPr>
                </a:tc>
                <a:tc>
                  <a:txBody>
                    <a:bodyPr/>
                    <a:lstStyle/>
                    <a:p>
                      <a:pPr algn="ctr">
                        <a:defRPr sz="900">
                          <a:latin typeface="Montserrat"/>
                        </a:defRPr>
                      </a:pPr>
                      <a:r>
                        <a:t>5,626</a:t>
                      </a:r>
                    </a:p>
                  </a:txBody>
                  <a:tcPr>
                    <a:solidFill>
                      <a:srgbClr val="FFFFFF"/>
                    </a:solidFill>
                  </a:tcPr>
                </a:tc>
                <a:tc>
                  <a:txBody>
                    <a:bodyPr/>
                    <a:lstStyle/>
                    <a:p>
                      <a:pPr algn="ctr">
                        <a:defRPr sz="900">
                          <a:latin typeface="Montserrat"/>
                        </a:defRPr>
                      </a:pPr>
                      <a:r>
                        <a:t>63,516</a:t>
                      </a:r>
                    </a:p>
                  </a:txBody>
                  <a:tcPr>
                    <a:solidFill>
                      <a:srgbClr val="FFFFFF"/>
                    </a:solidFill>
                  </a:tcPr>
                </a:tc>
                <a:tc>
                  <a:txBody>
                    <a:bodyPr/>
                    <a:lstStyle/>
                    <a:p>
                      <a:pPr algn="ctr">
                        <a:defRPr sz="900">
                          <a:latin typeface="Montserrat"/>
                        </a:defRPr>
                      </a:pPr>
                      <a:r>
                        <a:t>1,596</a:t>
                      </a:r>
                    </a:p>
                  </a:txBody>
                  <a:tcPr>
                    <a:solidFill>
                      <a:srgbClr val="FFFFFF"/>
                    </a:solidFill>
                  </a:tcPr>
                </a:tc>
                <a:tc>
                  <a:txBody>
                    <a:bodyPr/>
                    <a:lstStyle/>
                    <a:p>
                      <a:pPr algn="ctr">
                        <a:defRPr sz="900">
                          <a:latin typeface="Montserrat"/>
                        </a:defRPr>
                      </a:pPr>
                      <a:r>
                        <a:t>695,984</a:t>
                      </a:r>
                    </a:p>
                  </a:txBody>
                  <a:tcPr>
                    <a:solidFill>
                      <a:srgbClr val="FFFFFF"/>
                    </a:solidFill>
                  </a:tcPr>
                </a:tc>
              </a:tr>
              <a:tr h="270000">
                <a:tc>
                  <a:txBody>
                    <a:bodyPr/>
                    <a:lstStyle/>
                    <a:p>
                      <a:pPr algn="ctr">
                        <a:defRPr sz="900">
                          <a:latin typeface="Montserrat"/>
                        </a:defRPr>
                      </a:pPr>
                      <a:r>
                        <a:t>Abr 2026</a:t>
                      </a:r>
                    </a:p>
                  </a:txBody>
                  <a:tcPr>
                    <a:solidFill>
                      <a:srgbClr val="D9D9D9"/>
                    </a:solidFill>
                  </a:tcPr>
                </a:tc>
                <a:tc>
                  <a:txBody>
                    <a:bodyPr/>
                    <a:lstStyle/>
                    <a:p>
                      <a:pPr algn="ctr">
                        <a:defRPr sz="900">
                          <a:latin typeface="Montserrat"/>
                        </a:defRPr>
                      </a:pPr>
                      <a:r>
                        <a:t>615,764</a:t>
                      </a:r>
                    </a:p>
                  </a:txBody>
                  <a:tcPr>
                    <a:solidFill>
                      <a:srgbClr val="D9D9D9"/>
                    </a:solidFill>
                  </a:tcPr>
                </a:tc>
                <a:tc>
                  <a:txBody>
                    <a:bodyPr/>
                    <a:lstStyle/>
                    <a:p>
                      <a:pPr algn="ctr">
                        <a:defRPr sz="900">
                          <a:latin typeface="Montserrat"/>
                        </a:defRPr>
                      </a:pPr>
                      <a:r>
                        <a:t>5,129</a:t>
                      </a:r>
                    </a:p>
                  </a:txBody>
                  <a:tcPr>
                    <a:solidFill>
                      <a:srgbClr val="D9D9D9"/>
                    </a:solidFill>
                  </a:tcPr>
                </a:tc>
                <a:tc>
                  <a:txBody>
                    <a:bodyPr/>
                    <a:lstStyle/>
                    <a:p>
                      <a:pPr algn="ctr">
                        <a:defRPr sz="900">
                          <a:latin typeface="Montserrat"/>
                        </a:defRPr>
                      </a:pPr>
                      <a:r>
                        <a:t>58,184</a:t>
                      </a:r>
                    </a:p>
                  </a:txBody>
                  <a:tcPr>
                    <a:solidFill>
                      <a:srgbClr val="D9D9D9"/>
                    </a:solidFill>
                  </a:tcPr>
                </a:tc>
                <a:tc>
                  <a:txBody>
                    <a:bodyPr/>
                    <a:lstStyle/>
                    <a:p>
                      <a:pPr algn="ctr">
                        <a:defRPr sz="900">
                          <a:latin typeface="Montserrat"/>
                        </a:defRPr>
                      </a:pPr>
                      <a:r>
                        <a:t>2,030</a:t>
                      </a:r>
                    </a:p>
                  </a:txBody>
                  <a:tcPr>
                    <a:solidFill>
                      <a:srgbClr val="D9D9D9"/>
                    </a:solidFill>
                  </a:tcPr>
                </a:tc>
                <a:tc>
                  <a:txBody>
                    <a:bodyPr/>
                    <a:lstStyle/>
                    <a:p>
                      <a:pPr algn="ctr">
                        <a:defRPr sz="900">
                          <a:latin typeface="Montserrat"/>
                        </a:defRPr>
                      </a:pPr>
                      <a:r>
                        <a:t>681,107</a:t>
                      </a:r>
                    </a:p>
                  </a:txBody>
                  <a:tcPr>
                    <a:solidFill>
                      <a:srgbClr val="D9D9D9"/>
                    </a:solidFill>
                  </a:tcPr>
                </a:tc>
              </a:tr>
              <a:tr h="270000">
                <a:tc>
                  <a:txBody>
                    <a:bodyPr/>
                    <a:lstStyle/>
                    <a:p>
                      <a:pPr algn="ctr">
                        <a:defRPr sz="900">
                          <a:latin typeface="Montserrat"/>
                        </a:defRPr>
                      </a:pPr>
                      <a:r>
                        <a:t>Variación %</a:t>
                      </a:r>
                    </a:p>
                  </a:txBody>
                  <a:tcPr>
                    <a:solidFill>
                      <a:srgbClr val="FFFFFF"/>
                    </a:solidFill>
                  </a:tcPr>
                </a:tc>
                <a:tc>
                  <a:txBody>
                    <a:bodyPr/>
                    <a:lstStyle/>
                    <a:p>
                      <a:pPr algn="ctr">
                        <a:defRPr sz="900" b="0">
                          <a:solidFill>
                            <a:srgbClr val="691C32"/>
                          </a:solidFill>
                          <a:latin typeface="Montserrat"/>
                        </a:defRPr>
                      </a:pPr>
                      <a:r>
                        <a:t>-1.5%</a:t>
                      </a:r>
                    </a:p>
                  </a:txBody>
                  <a:tcPr>
                    <a:solidFill>
                      <a:srgbClr val="FFFFFF"/>
                    </a:solidFill>
                  </a:tcPr>
                </a:tc>
                <a:tc>
                  <a:txBody>
                    <a:bodyPr/>
                    <a:lstStyle/>
                    <a:p>
                      <a:pPr algn="ctr">
                        <a:defRPr sz="900" b="0">
                          <a:solidFill>
                            <a:srgbClr val="691C32"/>
                          </a:solidFill>
                          <a:latin typeface="Montserrat"/>
                        </a:defRPr>
                      </a:pPr>
                      <a:r>
                        <a:t>-8.8%</a:t>
                      </a:r>
                    </a:p>
                  </a:txBody>
                  <a:tcPr>
                    <a:solidFill>
                      <a:srgbClr val="FFFFFF"/>
                    </a:solidFill>
                  </a:tcPr>
                </a:tc>
                <a:tc>
                  <a:txBody>
                    <a:bodyPr/>
                    <a:lstStyle/>
                    <a:p>
                      <a:pPr algn="ctr">
                        <a:defRPr sz="900" b="0">
                          <a:solidFill>
                            <a:srgbClr val="691C32"/>
                          </a:solidFill>
                          <a:latin typeface="Montserrat"/>
                        </a:defRPr>
                      </a:pPr>
                      <a:r>
                        <a:t>-8.4%</a:t>
                      </a:r>
                    </a:p>
                  </a:txBody>
                  <a:tcPr>
                    <a:solidFill>
                      <a:srgbClr val="FFFFFF"/>
                    </a:solidFill>
                  </a:tcPr>
                </a:tc>
                <a:tc>
                  <a:txBody>
                    <a:bodyPr/>
                    <a:lstStyle/>
                    <a:p>
                      <a:pPr algn="ctr">
                        <a:defRPr sz="900" b="1">
                          <a:solidFill>
                            <a:srgbClr val="006455"/>
                          </a:solidFill>
                          <a:latin typeface="Montserrat"/>
                        </a:defRPr>
                      </a:pPr>
                      <a:r>
                        <a:t>+27.2%</a:t>
                      </a:r>
                    </a:p>
                  </a:txBody>
                  <a:tcPr>
                    <a:solidFill>
                      <a:srgbClr val="FFFFFF"/>
                    </a:solidFill>
                  </a:tcPr>
                </a:tc>
                <a:tc>
                  <a:txBody>
                    <a:bodyPr/>
                    <a:lstStyle/>
                    <a:p>
                      <a:pPr algn="ctr">
                        <a:defRPr sz="900" b="0">
                          <a:solidFill>
                            <a:srgbClr val="691C32"/>
                          </a:solidFill>
                          <a:latin typeface="Montserrat"/>
                        </a:defRPr>
                      </a:pPr>
                      <a:r>
                        <a:t>-2.1%</a:t>
                      </a:r>
                    </a:p>
                  </a:txBody>
                  <a:tcPr>
                    <a:solidFill>
                      <a:srgbClr val="FFFFFF"/>
                    </a:solidFill>
                  </a:tcPr>
                </a:tc>
              </a:tr>
            </a:tbl>
          </a:graphicData>
        </a:graphic>
      </p:graphicFrame>
      <p:sp>
        <p:nvSpPr>
          <p:cNvPr id="493" name="TextBox 492"/>
          <p:cNvSpPr txBox="1"/>
          <p:nvPr/>
        </p:nvSpPr>
        <p:spPr>
          <a:xfrm>
            <a:off x="208800" y="9313200"/>
            <a:ext cx="4316400" cy="244800"/>
          </a:xfrm>
          <a:prstGeom prst="rect">
            <a:avLst/>
          </a:prstGeom>
          <a:noFill/>
        </p:spPr>
        <p:txBody>
          <a:bodyPr wrap="square" tIns="0" bIns="0" lIns="0" rIns="0">
            <a:spAutoFit/>
          </a:bodyPr>
          <a:lstStyle/>
          <a:p>
            <a:pPr algn="l">
              <a:defRPr sz="800">
                <a:solidFill>
                  <a:srgbClr val="000000"/>
                </a:solidFill>
                <a:latin typeface="Montserrat"/>
              </a:defRPr>
            </a:pPr>
            <a:r>
              <a:t>Fuente: Dirección de Incorporación y Recaudación.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000" b="1" u="none" strike="noStrike" cap="none">
                          <a:solidFill>
                            <a:srgbClr val="BC955C"/>
                          </a:solidFill>
                          <a:latin typeface="Montserrat"/>
                          <a:ea typeface="Montserrat"/>
                          <a:cs typeface="Montserrat"/>
                          <a:sym typeface="Montserrat"/>
                        </a:rPr>
                        <a:t>Puestos de trabajo y salario base de </a:t>
                      </a:r>
                      <a:r>
                        <a:rPr lang="es" sz="2000" b="1" u="none" strike="noStrike" cap="none">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6"/>
                            </a:ext>
                          </a:extLst>
                        </a:rPr>
                        <a:t>cotización</a:t>
                      </a:r>
                      <a:endParaRPr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743437" y="2513375"/>
            <a:ext cx="1017725" cy="965325"/>
          </a:xfrm>
          <a:prstGeom prst="rect">
            <a:avLst/>
          </a:prstGeom>
          <a:noFill/>
          <a:ln>
            <a:noFill/>
          </a:ln>
        </p:spPr>
      </p:pic>
      <p:sp>
        <p:nvSpPr>
          <p:cNvPr id="500" name="Google Shape;500;g370e87ffe7a_2_319"/>
          <p:cNvSpPr txBox="1"/>
          <p:nvPr/>
        </p:nvSpPr>
        <p:spPr>
          <a:xfrm>
            <a:off x="291337" y="26028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dirty="0">
                <a:solidFill>
                  <a:srgbClr val="5B0F00"/>
                </a:solidFill>
                <a:latin typeface="Montserrat"/>
                <a:ea typeface="Montserrat"/>
                <a:cs typeface="Montserrat"/>
                <a:sym typeface="Montserrat"/>
              </a:rPr>
              <a:t> </a:t>
            </a:r>
            <a:r>
              <a:rPr lang="es" sz="1400" b="1" i="0" u="none" strike="noStrike" cap="none" dirty="0">
                <a:solidFill>
                  <a:srgbClr val="5B0F00"/>
                </a:solidFill>
                <a:latin typeface="Montserrat"/>
                <a:ea typeface="Montserrat"/>
                <a:cs typeface="Montserrat"/>
                <a:sym typeface="Montserrat"/>
              </a:rPr>
              <a:t>Puestos de trabajo comparación interanual de cada año</a:t>
            </a:r>
            <a:endParaRPr sz="2000" b="1" i="0" u="none" strike="noStrike" cap="none" dirty="0">
              <a:solidFill>
                <a:srgbClr val="5B0F00"/>
              </a:solidFill>
              <a:latin typeface="Montserrat"/>
              <a:ea typeface="Montserrat"/>
              <a:cs typeface="Montserrat"/>
              <a:sym typeface="Montserrat"/>
            </a:endParaRPr>
          </a:p>
        </p:txBody>
      </p:sp>
      <p:sp>
        <p:nvSpPr>
          <p:cNvPr id="2" name="Google Shape;496;g370e87ffe7a_2_319">
            <a:extLst>
              <a:ext uri="{FF2B5EF4-FFF2-40B4-BE49-F238E27FC236}">
                <a16:creationId xmlns:a16="http://schemas.microsoft.com/office/drawing/2014/main" id="{2CDE77CF-0CB7-B059-0698-44B3FD6C4492}"/>
              </a:ext>
            </a:extLst>
          </p:cNvPr>
          <p:cNvSpPr/>
          <p:nvPr/>
        </p:nvSpPr>
        <p:spPr>
          <a:xfrm>
            <a:off x="839061" y="1101600"/>
            <a:ext cx="497077" cy="381001"/>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502" name="TextBox 501"/>
          <p:cNvSpPr txBox="1"/>
          <p:nvPr/>
        </p:nvSpPr>
        <p:spPr>
          <a:xfrm>
            <a:off x="6717600" y="2721600"/>
            <a:ext cx="961200" cy="630000"/>
          </a:xfrm>
          <a:prstGeom prst="rect">
            <a:avLst/>
          </a:prstGeom>
          <a:noFill/>
        </p:spPr>
        <p:txBody>
          <a:bodyPr wrap="none">
            <a:spAutoFit/>
          </a:bodyPr>
          <a:lstStyle/>
          <a:p>
            <a:pPr algn="ctr">
              <a:defRPr sz="1400" b="1">
                <a:solidFill>
                  <a:srgbClr val="FFFFFF"/>
                </a:solidFill>
                <a:latin typeface="Montserrat"/>
              </a:defRPr>
            </a:pPr>
            <a:r>
              <a:t>$703.30</a:t>
            </a:r>
          </a:p>
          <a:p>
            <a:pPr algn="ctr">
              <a:defRPr sz="800" b="1">
                <a:solidFill>
                  <a:srgbClr val="FFFFFF"/>
                </a:solidFill>
                <a:latin typeface="Montserrat"/>
              </a:defRPr>
            </a:pPr>
            <a:r>
              <a:t>SBC</a:t>
            </a:r>
          </a:p>
          <a:p>
            <a:pPr algn="ctr">
              <a:defRPr sz="800" b="0">
                <a:solidFill>
                  <a:srgbClr val="FFFFFF"/>
                </a:solidFill>
                <a:latin typeface="Montserrat"/>
              </a:defRPr>
            </a:pPr>
            <a:r>
              <a:t>Abril</a:t>
            </a:r>
          </a:p>
        </p:txBody>
      </p:sp>
      <p:graphicFrame>
        <p:nvGraphicFramePr>
          <p:cNvPr id="503" name="Table 502"/>
          <p:cNvGraphicFramePr>
            <a:graphicFrameLocks noGrp="1"/>
          </p:cNvGraphicFramePr>
          <p:nvPr/>
        </p:nvGraphicFramePr>
        <p:xfrm>
          <a:off x="478800" y="1130400"/>
          <a:ext cx="6638400" cy="576000"/>
        </p:xfrm>
        <a:graphic>
          <a:graphicData uri="http://schemas.openxmlformats.org/drawingml/2006/table">
            <a:tbl>
              <a:tblPr firstRow="1" bandRow="1">
                <a:tableStyleId>{5C22544A-7EE6-4342-B048-85BDC9FD1C3A}</a:tableStyleId>
              </a:tblPr>
              <a:tblGrid>
                <a:gridCol w="1106400"/>
                <a:gridCol w="1106400"/>
                <a:gridCol w="1106400"/>
                <a:gridCol w="1106400"/>
                <a:gridCol w="1106400"/>
                <a:gridCol w="1106400"/>
              </a:tblGrid>
              <a:tr h="288000">
                <a:tc>
                  <a:txBody>
                    <a:bodyPr/>
                    <a:lstStyle/>
                    <a:p>
                      <a:pPr algn="ctr">
                        <a:defRPr b="1" sz="1100">
                          <a:solidFill>
                            <a:srgbClr val="FFFFFF"/>
                          </a:solidFill>
                          <a:latin typeface="Montserrat"/>
                        </a:defRPr>
                      </a:pPr>
                    </a:p>
                  </a:txBody>
                  <a:tcPr anchor="ctr">
                    <a:noFill/>
                  </a:tcPr>
                </a:tc>
                <a:tc>
                  <a:txBody>
                    <a:bodyPr/>
                    <a:lstStyle/>
                    <a:p>
                      <a:pPr algn="ctr">
                        <a:defRPr b="1" sz="1100">
                          <a:solidFill>
                            <a:srgbClr val="FFFFFF"/>
                          </a:solidFill>
                          <a:latin typeface="Montserrat"/>
                        </a:defRPr>
                      </a:pPr>
                      <a:r>
                        <a:t>2018 diciembre</a:t>
                      </a:r>
                    </a:p>
                  </a:txBody>
                  <a:tcPr anchor="ctr">
                    <a:solidFill>
                      <a:srgbClr val="A42145"/>
                    </a:solidFill>
                  </a:tcPr>
                </a:tc>
                <a:tc>
                  <a:txBody>
                    <a:bodyPr/>
                    <a:lstStyle/>
                    <a:p>
                      <a:pPr algn="ctr">
                        <a:defRPr b="1" sz="1100">
                          <a:solidFill>
                            <a:srgbClr val="FFFFFF"/>
                          </a:solidFill>
                          <a:latin typeface="Montserrat"/>
                        </a:defRPr>
                      </a:pPr>
                      <a:r>
                        <a:t>2026 Abril</a:t>
                      </a:r>
                    </a:p>
                  </a:txBody>
                  <a:tcPr anchor="ctr">
                    <a:solidFill>
                      <a:srgbClr val="A42145"/>
                    </a:solidFill>
                  </a:tcPr>
                </a:tc>
                <a:tc>
                  <a:txBody>
                    <a:bodyPr/>
                    <a:lstStyle/>
                    <a:p>
                      <a:pPr algn="ctr">
                        <a:defRPr b="1" sz="1100">
                          <a:solidFill>
                            <a:srgbClr val="FFFFFF"/>
                          </a:solidFill>
                          <a:latin typeface="Montserrat"/>
                        </a:defRPr>
                      </a:pPr>
                      <a:r>
                        <a:t>Variación %</a:t>
                      </a:r>
                    </a:p>
                  </a:txBody>
                  <a:tcPr anchor="ctr">
                    <a:solidFill>
                      <a:srgbClr val="A42145"/>
                    </a:solidFill>
                  </a:tcPr>
                </a:tc>
                <a:tc>
                  <a:txBody>
                    <a:bodyPr/>
                    <a:lstStyle/>
                    <a:p>
                      <a:pPr algn="ctr">
                        <a:defRPr b="1" sz="1100">
                          <a:solidFill>
                            <a:srgbClr val="FFFFFF"/>
                          </a:solidFill>
                          <a:latin typeface="Montserrat"/>
                        </a:defRPr>
                      </a:pPr>
                      <a:r>
                        <a:t>Nacional 2026</a:t>
                      </a:r>
                    </a:p>
                  </a:txBody>
                  <a:tcPr anchor="ctr">
                    <a:solidFill>
                      <a:srgbClr val="A42145"/>
                    </a:solidFill>
                  </a:tcPr>
                </a:tc>
                <a:tc>
                  <a:txBody>
                    <a:bodyPr/>
                    <a:lstStyle/>
                    <a:p>
                      <a:pPr algn="ctr">
                        <a:defRPr b="1" sz="1100">
                          <a:solidFill>
                            <a:srgbClr val="FFFFFF"/>
                          </a:solidFill>
                          <a:latin typeface="Montserrat"/>
                        </a:defRPr>
                      </a:pPr>
                      <a:r>
                        <a:t>Salario Mensual</a:t>
                      </a:r>
                    </a:p>
                  </a:txBody>
                  <a:tcPr anchor="ctr">
                    <a:solidFill>
                      <a:srgbClr val="A42145"/>
                    </a:solidFill>
                  </a:tcPr>
                </a:tc>
              </a:tr>
              <a:tr h="288000">
                <a:tc>
                  <a:txBody>
                    <a:bodyPr/>
                    <a:lstStyle/>
                    <a:p>
                      <a:pPr algn="ctr">
                        <a:defRPr sz="1100" b="1">
                          <a:solidFill>
                            <a:srgbClr val="FFFFFF"/>
                          </a:solidFill>
                          <a:latin typeface="Montserrat"/>
                        </a:defRPr>
                      </a:pPr>
                      <a:r>
                        <a:t>Salario Base de Cotización</a:t>
                      </a:r>
                    </a:p>
                  </a:txBody>
                  <a:tcPr anchor="ctr">
                    <a:solidFill>
                      <a:srgbClr val="A42145"/>
                    </a:solidFill>
                  </a:tcPr>
                </a:tc>
                <a:tc>
                  <a:txBody>
                    <a:bodyPr/>
                    <a:lstStyle/>
                    <a:p>
                      <a:pPr algn="ctr">
                        <a:defRPr sz="1100">
                          <a:latin typeface="Montserrat"/>
                        </a:defRPr>
                      </a:pPr>
                      <a:r>
                        <a:t>$337.52</a:t>
                      </a:r>
                    </a:p>
                  </a:txBody>
                  <a:tcPr anchor="ctr">
                    <a:solidFill>
                      <a:srgbClr val="EEEEEE"/>
                    </a:solidFill>
                  </a:tcPr>
                </a:tc>
                <a:tc>
                  <a:txBody>
                    <a:bodyPr/>
                    <a:lstStyle/>
                    <a:p>
                      <a:pPr algn="ctr">
                        <a:defRPr sz="1100" b="1">
                          <a:latin typeface="Montserrat"/>
                        </a:defRPr>
                      </a:pPr>
                      <a:r>
                        <a:t>$703.30</a:t>
                      </a:r>
                    </a:p>
                  </a:txBody>
                  <a:tcPr anchor="ctr">
                    <a:solidFill>
                      <a:srgbClr val="EEEEEE"/>
                    </a:solidFill>
                  </a:tcPr>
                </a:tc>
                <a:tc>
                  <a:txBody>
                    <a:bodyPr/>
                    <a:lstStyle/>
                    <a:p>
                      <a:pPr algn="ctr">
                        <a:defRPr sz="1100">
                          <a:latin typeface="Montserrat"/>
                        </a:defRPr>
                      </a:pPr>
                      <a:r>
                        <a:t>47.2%</a:t>
                      </a:r>
                    </a:p>
                  </a:txBody>
                  <a:tcPr anchor="ctr">
                    <a:solidFill>
                      <a:srgbClr val="EEEEEE"/>
                    </a:solidFill>
                  </a:tcPr>
                </a:tc>
                <a:tc>
                  <a:txBody>
                    <a:bodyPr/>
                    <a:lstStyle/>
                    <a:p>
                      <a:pPr algn="ctr">
                        <a:defRPr sz="1100" b="1">
                          <a:latin typeface="Montserrat"/>
                        </a:defRPr>
                      </a:pPr>
                      <a:r>
                        <a:t>$664.55</a:t>
                      </a:r>
                    </a:p>
                  </a:txBody>
                  <a:tcPr anchor="ctr">
                    <a:solidFill>
                      <a:srgbClr val="EEEEEE"/>
                    </a:solidFill>
                  </a:tcPr>
                </a:tc>
                <a:tc>
                  <a:txBody>
                    <a:bodyPr/>
                    <a:lstStyle/>
                    <a:p>
                      <a:pPr algn="ctr">
                        <a:defRPr sz="1100" b="1">
                          <a:solidFill>
                            <a:srgbClr val="9F2241"/>
                          </a:solidFill>
                          <a:latin typeface="Montserrat"/>
                        </a:defRPr>
                      </a:pPr>
                      <a:r>
                        <a:t>$21,099.0</a:t>
                      </a:r>
                    </a:p>
                  </a:txBody>
                  <a:tcPr anchor="ctr">
                    <a:solidFill>
                      <a:srgbClr val="EEEEEE"/>
                    </a:solidFill>
                  </a:tcPr>
                </a:tc>
              </a:tr>
            </a:tbl>
          </a:graphicData>
        </a:graphic>
      </p:graphicFrame>
      <p:graphicFrame>
        <p:nvGraphicFramePr>
          <p:cNvPr id="504" name="Chart 503"/>
          <p:cNvGraphicFramePr>
            <a:graphicFrameLocks noGrp="1"/>
          </p:cNvGraphicFramePr>
          <p:nvPr/>
        </p:nvGraphicFramePr>
        <p:xfrm>
          <a:off x="745200" y="2851200"/>
          <a:ext cx="6163200" cy="3600000"/>
        </p:xfrm>
        <a:graphic>
          <a:graphicData uri="http://schemas.openxmlformats.org/drawingml/2006/chart">
            <c:chart xmlns:c="http://schemas.openxmlformats.org/drawingml/2006/chart" r:id="rId5"/>
          </a:graphicData>
        </a:graphic>
      </p:graphicFrame>
      <p:sp>
        <p:nvSpPr>
          <p:cNvPr id="505" name="TextBox 504"/>
          <p:cNvSpPr txBox="1"/>
          <p:nvPr/>
        </p:nvSpPr>
        <p:spPr>
          <a:xfrm>
            <a:off x="745200"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430000"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2114800"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799600"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484400"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4169200"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854000"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538800"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6223600"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nvGraphicFramePr>
        <p:xfrm>
          <a:off x="320400" y="6649200"/>
          <a:ext cx="7038000" cy="2339999"/>
        </p:xfrm>
        <a:graphic>
          <a:graphicData uri="http://schemas.openxmlformats.org/drawingml/2006/table">
            <a:tbl>
              <a:tblPr firstRow="1" bandRow="1">
                <a:tableStyleId>{5C22544A-7EE6-4342-B048-85BDC9FD1C3A}</a:tableStyleId>
              </a:tblPr>
              <a:tblGrid>
                <a:gridCol w="2520000"/>
                <a:gridCol w="3240000"/>
                <a:gridCol w="1278000"/>
              </a:tblGrid>
              <a:tr h="251999">
                <a:tc gridSpan="3">
                  <a:txBody>
                    <a:bodyPr/>
                    <a:lstStyle/>
                    <a:p>
                      <a:pPr algn="ctr">
                        <a:defRPr b="1" sz="1100">
                          <a:solidFill>
                            <a:srgbClr val="FFFFFF"/>
                          </a:solidFill>
                          <a:latin typeface="Montserrat"/>
                        </a:defRPr>
                      </a:pPr>
                      <a:r>
                        <a:t>PRINCIPALES DEUDORES</a:t>
                      </a:r>
                    </a:p>
                  </a:txBody>
                  <a:tcPr>
                    <a:solidFill>
                      <a:srgbClr val="006455"/>
                    </a:solidFill>
                  </a:tcPr>
                </a:tc>
                <a:tc hMerge="1">
                  <a:txBody>
                    <a:bodyPr/>
                    <a:lstStyle/>
                    <a:p/>
                  </a:txBody>
                  <a:tcPr/>
                </a:tc>
                <a:tc hMerge="1">
                  <a:txBody>
                    <a:bodyPr/>
                    <a:lstStyle/>
                    <a:p/>
                  </a:txBody>
                  <a:tcPr/>
                </a:tc>
              </a:tr>
              <a:tr h="360000">
                <a:tc>
                  <a:txBody>
                    <a:bodyPr/>
                    <a:lstStyle/>
                    <a:p>
                      <a:pPr algn="ctr">
                        <a:defRPr b="1" sz="1100">
                          <a:solidFill>
                            <a:srgbClr val="FFFFFF"/>
                          </a:solidFill>
                          <a:latin typeface="Montserrat"/>
                        </a:defRPr>
                      </a:pPr>
                      <a:r>
                        <a:t>Categoría</a:t>
                      </a:r>
                    </a:p>
                  </a:txBody>
                  <a:tcPr>
                    <a:solidFill>
                      <a:srgbClr val="006455"/>
                    </a:solidFill>
                  </a:tcPr>
                </a:tc>
                <a:tc>
                  <a:txBody>
                    <a:bodyPr/>
                    <a:lstStyle/>
                    <a:p>
                      <a:pPr algn="ctr">
                        <a:defRPr b="1" sz="1100">
                          <a:solidFill>
                            <a:srgbClr val="FFFFFF"/>
                          </a:solidFill>
                          <a:latin typeface="Montserrat"/>
                        </a:defRPr>
                      </a:pPr>
                      <a:r>
                        <a:t>Deudores</a:t>
                      </a:r>
                    </a:p>
                  </a:txBody>
                  <a:tcPr>
                    <a:solidFill>
                      <a:srgbClr val="006455"/>
                    </a:solidFill>
                  </a:tcPr>
                </a:tc>
                <a:tc>
                  <a:txBody>
                    <a:bodyPr/>
                    <a:lstStyle/>
                    <a:p>
                      <a:pPr algn="ctr">
                        <a:defRPr b="1" sz="1100">
                          <a:solidFill>
                            <a:srgbClr val="FFFFFF"/>
                          </a:solidFill>
                          <a:latin typeface="Montserrat"/>
                        </a:defRPr>
                      </a:pPr>
                      <a:r>
                        <a:t>Monto de deuda (mdp)</a:t>
                      </a:r>
                    </a:p>
                  </a:txBody>
                  <a:tcPr>
                    <a:solidFill>
                      <a:srgbClr val="006455"/>
                    </a:solidFill>
                  </a:tcPr>
                </a:tc>
              </a:tr>
              <a:tr h="288000">
                <a:tc rowSpan="3">
                  <a:txBody>
                    <a:bodyPr/>
                    <a:lstStyle/>
                    <a:p>
                      <a:pPr algn="ctr">
                        <a:defRPr sz="1100">
                          <a:solidFill>
                            <a:srgbClr val="FFFFFF"/>
                          </a:solidFill>
                          <a:latin typeface="Montserrat"/>
                        </a:defRPr>
                      </a:pPr>
                      <a:r>
                        <a:t>Principal deudor público</a:t>
                      </a:r>
                    </a:p>
                  </a:txBody>
                  <a:tcPr anchor="ctr">
                    <a:solidFill>
                      <a:srgbClr val="006455"/>
                    </a:solidFill>
                  </a:tcPr>
                </a:tc>
                <a:tc>
                  <a:txBody>
                    <a:bodyPr/>
                    <a:lstStyle/>
                    <a:p>
                      <a:pPr algn="ctr">
                        <a:defRPr sz="900">
                          <a:latin typeface="Montserrat"/>
                        </a:defRPr>
                      </a:pPr>
                      <a:r>
                        <a:t>Comisión Municipal de Agua Potable y Alcantarillado de Tampico</a:t>
                      </a:r>
                    </a:p>
                  </a:txBody>
                  <a:tcPr>
                    <a:solidFill>
                      <a:srgbClr val="FFFFFF"/>
                    </a:solidFill>
                  </a:tcPr>
                </a:tc>
                <a:tc>
                  <a:txBody>
                    <a:bodyPr/>
                    <a:lstStyle/>
                    <a:p>
                      <a:pPr algn="ctr">
                        <a:defRPr sz="900">
                          <a:latin typeface="Montserrat"/>
                        </a:defRPr>
                      </a:pPr>
                      <a:r>
                        <a:t>$150.81</a:t>
                      </a:r>
                    </a:p>
                  </a:txBody>
                  <a:tcPr>
                    <a:solidFill>
                      <a:srgbClr val="FFFFFF"/>
                    </a:solidFill>
                  </a:tcPr>
                </a:tc>
              </a:tr>
              <a:tr h="288000">
                <a:tc vMerge="1">
                  <a:txBody>
                    <a:bodyPr/>
                    <a:lstStyle/>
                    <a:p/>
                  </a:txBody>
                  <a:tcPr>
                    <a:solidFill>
                      <a:srgbClr val="EEEEEE"/>
                    </a:solidFill>
                  </a:tcPr>
                </a:tc>
                <a:tc>
                  <a:txBody>
                    <a:bodyPr/>
                    <a:lstStyle/>
                    <a:p>
                      <a:pPr algn="ctr">
                        <a:defRPr sz="900">
                          <a:latin typeface="Montserrat"/>
                        </a:defRPr>
                      </a:pPr>
                      <a:r>
                        <a:t>Comisión Municipal de Agua Potable y Alcantarillado de Victoria</a:t>
                      </a:r>
                    </a:p>
                  </a:txBody>
                  <a:tcPr>
                    <a:solidFill>
                      <a:srgbClr val="EEEEEE"/>
                    </a:solidFill>
                  </a:tcPr>
                </a:tc>
                <a:tc>
                  <a:txBody>
                    <a:bodyPr/>
                    <a:lstStyle/>
                    <a:p>
                      <a:pPr algn="ctr">
                        <a:defRPr sz="900">
                          <a:latin typeface="Montserrat"/>
                        </a:defRPr>
                      </a:pPr>
                      <a:r>
                        <a:t>$67.61</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Comisión Municipal de Agua Potable y Alcantarillado de Rio Bravo</a:t>
                      </a:r>
                    </a:p>
                  </a:txBody>
                  <a:tcPr>
                    <a:solidFill>
                      <a:srgbClr val="FFFFFF"/>
                    </a:solidFill>
                  </a:tcPr>
                </a:tc>
                <a:tc>
                  <a:txBody>
                    <a:bodyPr/>
                    <a:lstStyle/>
                    <a:p>
                      <a:pPr algn="ctr">
                        <a:defRPr sz="900">
                          <a:latin typeface="Montserrat"/>
                        </a:defRPr>
                      </a:pPr>
                      <a:r>
                        <a:t>$64.76</a:t>
                      </a:r>
                    </a:p>
                  </a:txBody>
                  <a:tcPr>
                    <a:solidFill>
                      <a:srgbClr val="FFFFFF"/>
                    </a:solidFill>
                  </a:tcPr>
                </a:tc>
              </a:tr>
              <a:tr h="288000">
                <a:tc rowSpan="3">
                  <a:txBody>
                    <a:bodyPr/>
                    <a:lstStyle/>
                    <a:p>
                      <a:pPr algn="ctr">
                        <a:defRPr sz="1100">
                          <a:solidFill>
                            <a:srgbClr val="FFFFFF"/>
                          </a:solidFill>
                          <a:latin typeface="Montserrat"/>
                        </a:defRPr>
                      </a:pPr>
                      <a:r>
                        <a:t>Principal deudor privado</a:t>
                      </a:r>
                    </a:p>
                  </a:txBody>
                  <a:tcPr anchor="ctr">
                    <a:solidFill>
                      <a:srgbClr val="006455"/>
                    </a:solidFill>
                  </a:tcPr>
                </a:tc>
                <a:tc>
                  <a:txBody>
                    <a:bodyPr/>
                    <a:lstStyle/>
                    <a:p>
                      <a:pPr algn="ctr">
                        <a:defRPr sz="900">
                          <a:latin typeface="Montserrat"/>
                        </a:defRPr>
                      </a:pPr>
                      <a:r>
                        <a:t>Gateway Express SA de CV</a:t>
                      </a:r>
                    </a:p>
                  </a:txBody>
                  <a:tcPr>
                    <a:solidFill>
                      <a:srgbClr val="EEEEEE"/>
                    </a:solidFill>
                  </a:tcPr>
                </a:tc>
                <a:tc>
                  <a:txBody>
                    <a:bodyPr/>
                    <a:lstStyle/>
                    <a:p>
                      <a:pPr algn="ctr">
                        <a:defRPr sz="900">
                          <a:latin typeface="Montserrat"/>
                        </a:defRPr>
                      </a:pPr>
                      <a:r>
                        <a:t>$60.04</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Tnl Express SA de CV</a:t>
                      </a:r>
                    </a:p>
                  </a:txBody>
                  <a:tcPr>
                    <a:solidFill>
                      <a:srgbClr val="FFFFFF"/>
                    </a:solidFill>
                  </a:tcPr>
                </a:tc>
                <a:tc>
                  <a:txBody>
                    <a:bodyPr/>
                    <a:lstStyle/>
                    <a:p>
                      <a:pPr algn="ctr">
                        <a:defRPr sz="900">
                          <a:latin typeface="Montserrat"/>
                        </a:defRPr>
                      </a:pPr>
                      <a:r>
                        <a:t>$32.45</a:t>
                      </a:r>
                    </a:p>
                  </a:txBody>
                  <a:tcPr>
                    <a:solidFill>
                      <a:srgbClr val="FFFFFF"/>
                    </a:solidFill>
                  </a:tcPr>
                </a:tc>
              </a:tr>
              <a:tr h="288000">
                <a:tc vMerge="1">
                  <a:txBody>
                    <a:bodyPr/>
                    <a:lstStyle/>
                    <a:p/>
                  </a:txBody>
                  <a:tcPr>
                    <a:solidFill>
                      <a:srgbClr val="006455"/>
                    </a:solidFill>
                  </a:tcPr>
                </a:tc>
                <a:tc>
                  <a:txBody>
                    <a:bodyPr/>
                    <a:lstStyle/>
                    <a:p>
                      <a:pPr algn="ctr">
                        <a:defRPr sz="900">
                          <a:latin typeface="Montserrat"/>
                        </a:defRPr>
                      </a:pPr>
                      <a:r>
                        <a:t>Freightsolmex SA de CV</a:t>
                      </a:r>
                    </a:p>
                  </a:txBody>
                  <a:tcPr>
                    <a:solidFill>
                      <a:srgbClr val="EEEEEE"/>
                    </a:solidFill>
                  </a:tcPr>
                </a:tc>
                <a:tc>
                  <a:txBody>
                    <a:bodyPr/>
                    <a:lstStyle/>
                    <a:p>
                      <a:pPr algn="ctr">
                        <a:defRPr sz="900">
                          <a:latin typeface="Montserrat"/>
                        </a:defRPr>
                      </a:pPr>
                      <a:r>
                        <a:t>$20.15</a:t>
                      </a:r>
                    </a:p>
                  </a:txBody>
                  <a:tcPr>
                    <a:solidFill>
                      <a:srgbClr val="EEEEEE"/>
                    </a:solidFill>
                  </a:tcPr>
                </a:tc>
              </a:tr>
            </a:tbl>
          </a:graphicData>
        </a:graphic>
      </p:graphicFrame>
      <p:sp>
        <p:nvSpPr>
          <p:cNvPr id="515" name="TextBox 514"/>
          <p:cNvSpPr txBox="1"/>
          <p:nvPr/>
        </p:nvSpPr>
        <p:spPr>
          <a:xfrm>
            <a:off x="251999" y="2350800"/>
            <a:ext cx="4316400" cy="244800"/>
          </a:xfrm>
          <a:prstGeom prst="rect">
            <a:avLst/>
          </a:prstGeom>
          <a:noFill/>
        </p:spPr>
        <p:txBody>
          <a:bodyPr wrap="square" tIns="0" bIns="0" lIns="0" rIns="0">
            <a:spAutoFit/>
          </a:bodyPr>
          <a:lstStyle/>
          <a:p>
            <a:pPr algn="l">
              <a:defRPr sz="800">
                <a:solidFill>
                  <a:srgbClr val="000000"/>
                </a:solidFill>
                <a:latin typeface="Montserrat"/>
              </a:defRPr>
            </a:pPr>
            <a:r>
              <a:t>Salario Base de Cotización: tado: Se utilizó como deflactor del salario el cociente del INPC entre diciembre 2018 (103.02) y abril 2026 (145.831) de 0.706434.</a:t>
            </a:r>
          </a:p>
        </p:txBody>
      </p:sp>
      <p:sp>
        <p:nvSpPr>
          <p:cNvPr id="516" name="TextBox 515"/>
          <p:cNvSpPr txBox="1"/>
          <p:nvPr/>
        </p:nvSpPr>
        <p:spPr>
          <a:xfrm>
            <a:off x="251999" y="9561600"/>
            <a:ext cx="4316400" cy="244800"/>
          </a:xfrm>
          <a:prstGeom prst="rect">
            <a:avLst/>
          </a:prstGeom>
          <a:noFill/>
        </p:spPr>
        <p:txBody>
          <a:bodyPr wrap="square" tIns="0" bIns="0" lIns="0" rIns="0">
            <a:spAutoFit/>
          </a:bodyPr>
          <a:lstStyle/>
          <a:p>
            <a:pPr algn="l">
              <a:defRPr sz="800">
                <a:solidFill>
                  <a:srgbClr val="FFFFFF"/>
                </a:solidFill>
                <a:latin typeface="Montserrat"/>
              </a:defRPr>
            </a:pPr>
            <a:r>
              <a:t>Fuente: Dirección de Incorporación y Recaudación. Corte de información abril 2026.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505"/>
        <p:cNvGrpSpPr/>
        <p:nvPr/>
      </p:nvGrpSpPr>
      <p:grpSpPr>
        <a:xfrm>
          <a:off x="0" y="0"/>
          <a:ext cx="0" cy="0"/>
          <a:chOff x="0" y="0"/>
          <a:chExt cx="0" cy="0"/>
        </a:xfrm>
      </p:grpSpPr>
      <p:graphicFrame>
        <p:nvGraphicFramePr>
          <p:cNvPr id="512" name="Google Shape;512;g370e87ffe7a_0_0"/>
          <p:cNvGraphicFramePr/>
          <p:nvPr/>
        </p:nvGraphicFramePr>
        <p:xfrm>
          <a:off x="-126" y="2788487"/>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3. Productividad</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18" name="Google Shape;518;g370e87ffe7a_0_0"/>
          <p:cNvGraphicFramePr/>
          <p:nvPr/>
        </p:nvGraphicFramePr>
        <p:xfrm>
          <a:off x="0" y="5391789"/>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dirty="0">
                          <a:solidFill>
                            <a:srgbClr val="006455"/>
                          </a:solidFill>
                          <a:latin typeface="Montserrat"/>
                          <a:ea typeface="Montserrat"/>
                          <a:cs typeface="Montserrat"/>
                          <a:sym typeface="Montserrat"/>
                        </a:rPr>
                        <a:t>4. Personal</a:t>
                      </a:r>
                      <a:endParaRPr sz="1700" b="1" u="none" strike="noStrike" cap="none" dirty="0">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0" name="Google Shape;520;g370e87ffe7a_0_0"/>
          <p:cNvGraphicFramePr/>
          <p:nvPr/>
        </p:nvGraphicFramePr>
        <p:xfrm>
          <a:off x="-2134" y="811308"/>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635000" marR="0" lvl="0" indent="-336550" algn="l" rtl="0">
                        <a:lnSpc>
                          <a:spcPct val="100000"/>
                        </a:lnSpc>
                        <a:spcBef>
                          <a:spcPts val="0"/>
                        </a:spcBef>
                        <a:spcAft>
                          <a:spcPts val="0"/>
                        </a:spcAft>
                        <a:buClr>
                          <a:srgbClr val="006455"/>
                        </a:buClr>
                        <a:buSzPts val="1700"/>
                        <a:buFont typeface="Montserrat"/>
                        <a:buAutoNum type="arabicPeriod"/>
                      </a:pPr>
                      <a:r>
                        <a:rPr lang="es" sz="1600" b="1" u="none" strike="noStrike" cap="none">
                          <a:solidFill>
                            <a:srgbClr val="006455"/>
                          </a:solidFill>
                          <a:latin typeface="Montserrat"/>
                          <a:ea typeface="Montserrat"/>
                          <a:cs typeface="Montserrat"/>
                          <a:sym typeface="Montserrat"/>
                        </a:rPr>
                        <a:t>Infraestructura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1" name="Google Shape;521;g370e87ffe7a_0_0"/>
          <p:cNvGraphicFramePr/>
          <p:nvPr/>
        </p:nvGraphicFramePr>
        <p:xfrm>
          <a:off x="-126" y="7519253"/>
          <a:ext cx="7772400" cy="39605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3960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5. Organización comunitaria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3" name="Google Shape;523;g370e87ffe7a_0_0"/>
          <p:cNvGraphicFramePr/>
          <p:nvPr/>
        </p:nvGraphicFramePr>
        <p:xfrm>
          <a:off x="3884217" y="826580"/>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2.  Población beneficiada </a:t>
                      </a:r>
                      <a:endParaRPr sz="16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cxnSp>
        <p:nvCxnSpPr>
          <p:cNvPr id="524" name="Google Shape;524;g370e87ffe7a_0_0"/>
          <p:cNvCxnSpPr/>
          <p:nvPr/>
        </p:nvCxnSpPr>
        <p:spPr>
          <a:xfrm>
            <a:off x="6214233" y="1355079"/>
            <a:ext cx="0" cy="524700"/>
          </a:xfrm>
          <a:prstGeom prst="straightConnector1">
            <a:avLst/>
          </a:prstGeom>
          <a:noFill/>
          <a:ln w="19050" cap="flat" cmpd="sng">
            <a:solidFill>
              <a:srgbClr val="A48250"/>
            </a:solidFill>
            <a:prstDash val="solid"/>
            <a:round/>
            <a:headEnd type="none" w="sm" len="sm"/>
            <a:tailEnd type="none" w="sm" len="sm"/>
          </a:ln>
        </p:spPr>
      </p:cxnSp>
      <p:cxnSp>
        <p:nvCxnSpPr>
          <p:cNvPr id="529" name="Google Shape;529;g370e87ffe7a_0_0"/>
          <p:cNvCxnSpPr/>
          <p:nvPr/>
        </p:nvCxnSpPr>
        <p:spPr>
          <a:xfrm>
            <a:off x="6214233" y="2225029"/>
            <a:ext cx="0" cy="524700"/>
          </a:xfrm>
          <a:prstGeom prst="straightConnector1">
            <a:avLst/>
          </a:prstGeom>
          <a:noFill/>
          <a:ln w="19050" cap="flat" cmpd="sng">
            <a:solidFill>
              <a:srgbClr val="A48250"/>
            </a:solidFill>
            <a:prstDash val="solid"/>
            <a:round/>
            <a:headEnd type="none" w="sm" len="sm"/>
            <a:tailEnd type="none" w="sm" len="sm"/>
          </a:ln>
        </p:spPr>
      </p:cxnSp>
      <p:sp>
        <p:nvSpPr>
          <p:cNvPr id="530" name="TextBox 529"/>
          <p:cNvSpPr txBox="1"/>
          <p:nvPr/>
        </p:nvSpPr>
        <p:spPr>
          <a:xfrm>
            <a:off x="0" y="27432"/>
            <a:ext cx="7772400" cy="548640"/>
          </a:xfrm>
          <a:prstGeom prst="rect">
            <a:avLst/>
          </a:prstGeom>
          <a:noFill/>
        </p:spPr>
        <p:txBody>
          <a:bodyPr wrap="none">
            <a:spAutoFit/>
          </a:bodyPr>
          <a:lstStyle/>
          <a:p>
            <a:pPr algn="l">
              <a:defRPr sz="2000">
                <a:solidFill>
                  <a:srgbClr val="FFFFFF"/>
                </a:solidFill>
                <a:latin typeface="Montserrat"/>
              </a:defRPr>
            </a:pPr>
            <a:r>
              <a:t>TAMAULIPAS PROGRAMA IMSS-COPLAMAR</a:t>
            </a:r>
          </a:p>
        </p:txBody>
      </p:sp>
      <p:sp>
        <p:nvSpPr>
          <p:cNvPr id="531" name="TextBox 530"/>
          <p:cNvSpPr txBox="1"/>
          <p:nvPr/>
        </p:nvSpPr>
        <p:spPr>
          <a:xfrm>
            <a:off x="309600" y="5119200"/>
            <a:ext cx="1958400" cy="270000"/>
          </a:xfrm>
          <a:prstGeom prst="rect">
            <a:avLst/>
          </a:prstGeom>
          <a:noFill/>
        </p:spPr>
        <p:txBody>
          <a:bodyPr wrap="square" tIns="0" bIns="0" lIns="0" rIns="0">
            <a:spAutoFit/>
          </a:bodyPr>
          <a:lstStyle/>
          <a:p>
            <a:pPr algn="l">
              <a:defRPr sz="800">
                <a:solidFill>
                  <a:srgbClr val="000000"/>
                </a:solidFill>
                <a:latin typeface="Montserrat"/>
              </a:defRPr>
            </a:pPr>
            <a:r>
              <a:t>enero-diciembre 2025</a:t>
            </a:r>
          </a:p>
        </p:txBody>
      </p:sp>
      <p:sp>
        <p:nvSpPr>
          <p:cNvPr id="532" name="TextBox 531"/>
          <p:cNvSpPr txBox="1"/>
          <p:nvPr/>
        </p:nvSpPr>
        <p:spPr>
          <a:xfrm>
            <a:off x="309600" y="9190800"/>
            <a:ext cx="1958400" cy="270000"/>
          </a:xfrm>
          <a:prstGeom prst="rect">
            <a:avLst/>
          </a:prstGeom>
          <a:noFill/>
        </p:spPr>
        <p:txBody>
          <a:bodyPr wrap="square" tIns="0" bIns="0" lIns="0" rIns="0">
            <a:spAutoFit/>
          </a:bodyPr>
          <a:lstStyle/>
          <a:p>
            <a:pPr algn="l">
              <a:defRPr sz="800">
                <a:solidFill>
                  <a:srgbClr val="000000"/>
                </a:solidFill>
                <a:latin typeface="Montserrat"/>
              </a:defRPr>
            </a:pPr>
            <a:r>
              <a:t>enero-diciembre 2025</a:t>
            </a:r>
          </a:p>
        </p:txBody>
      </p:sp>
      <p:graphicFrame>
        <p:nvGraphicFramePr>
          <p:cNvPr id="533" name="Table 532"/>
          <p:cNvGraphicFramePr>
            <a:graphicFrameLocks noGrp="1"/>
          </p:cNvGraphicFramePr>
          <p:nvPr/>
        </p:nvGraphicFramePr>
        <p:xfrm>
          <a:off x="310896" y="1335024"/>
          <a:ext cx="3575304" cy="1243584"/>
        </p:xfrm>
        <a:graphic>
          <a:graphicData uri="http://schemas.openxmlformats.org/drawingml/2006/table">
            <a:tbl>
              <a:tblPr firstRow="1" bandRow="1">
                <a:tableStyleId>{5C22544A-7EE6-4342-B048-85BDC9FD1C3A}</a:tableStyleId>
              </a:tblPr>
              <a:tblGrid>
                <a:gridCol w="2551176"/>
                <a:gridCol w="1024128"/>
              </a:tblGrid>
              <a:tr h="177654">
                <a:tc>
                  <a:txBody>
                    <a:bodyPr/>
                    <a:lstStyle/>
                    <a:p>
                      <a:pPr algn="ctr">
                        <a:defRPr b="1" sz="1100">
                          <a:solidFill>
                            <a:srgbClr val="FFFFFF"/>
                          </a:solidFill>
                          <a:latin typeface="Montserrat"/>
                        </a:defRPr>
                      </a:pPr>
                      <a:r>
                        <a:t>Unidades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177654">
                <a:tc>
                  <a:txBody>
                    <a:bodyPr/>
                    <a:lstStyle/>
                    <a:p>
                      <a:pPr algn="l">
                        <a:defRPr b="0" sz="1100">
                          <a:solidFill>
                            <a:srgbClr val="000000"/>
                          </a:solidFill>
                          <a:latin typeface="Montserrat"/>
                        </a:defRPr>
                      </a:pPr>
                      <a:r>
                        <a:t>Hospital Rural</a:t>
                      </a:r>
                    </a:p>
                  </a:txBody>
                  <a:tcPr anchor="ctr" marL="73152" marR="73152" marT="0" marB="0">
                    <a:solidFill>
                      <a:srgbClr val="FFFFFF"/>
                    </a:solidFill>
                  </a:tcPr>
                </a:tc>
                <a:tc>
                  <a:txBody>
                    <a:bodyPr/>
                    <a:lstStyle/>
                    <a:p>
                      <a:pPr algn="ctr">
                        <a:defRPr b="1" sz="1000">
                          <a:solidFill>
                            <a:srgbClr val="006455"/>
                          </a:solidFill>
                          <a:latin typeface="Montserrat"/>
                        </a:defRPr>
                      </a:pPr>
                      <a:r>
                        <a:t>4</a:t>
                      </a:r>
                    </a:p>
                  </a:txBody>
                  <a:tcPr anchor="ctr" marL="73152" marR="73152" marT="0" marB="0">
                    <a:solidFill>
                      <a:srgbClr val="D3E9E7"/>
                    </a:solidFill>
                  </a:tcPr>
                </a:tc>
              </a:tr>
              <a:tr h="177654">
                <a:tc>
                  <a:txBody>
                    <a:bodyPr/>
                    <a:lstStyle/>
                    <a:p>
                      <a:pPr algn="l">
                        <a:defRPr b="0" sz="1100">
                          <a:solidFill>
                            <a:srgbClr val="000000"/>
                          </a:solidFill>
                          <a:latin typeface="Montserrat"/>
                        </a:defRPr>
                      </a:pPr>
                      <a:r>
                        <a:t>Unidad Médica Rural</a:t>
                      </a:r>
                    </a:p>
                  </a:txBody>
                  <a:tcPr anchor="ctr" marL="73152" marR="73152" marT="0" marB="0">
                    <a:solidFill>
                      <a:srgbClr val="EFEFEF"/>
                    </a:solidFill>
                  </a:tcPr>
                </a:tc>
                <a:tc>
                  <a:txBody>
                    <a:bodyPr/>
                    <a:lstStyle/>
                    <a:p>
                      <a:pPr algn="ctr">
                        <a:defRPr b="1" sz="1000">
                          <a:solidFill>
                            <a:srgbClr val="006455"/>
                          </a:solidFill>
                          <a:latin typeface="Montserrat"/>
                        </a:defRPr>
                      </a:pPr>
                      <a:r>
                        <a:t>102</a:t>
                      </a:r>
                    </a:p>
                  </a:txBody>
                  <a:tcPr anchor="ctr" marL="73152" marR="73152" marT="0" marB="0">
                    <a:solidFill>
                      <a:srgbClr val="D3E9E7"/>
                    </a:solidFill>
                  </a:tcPr>
                </a:tc>
              </a:tr>
              <a:tr h="177654">
                <a:tc>
                  <a:txBody>
                    <a:bodyPr/>
                    <a:lstStyle/>
                    <a:p>
                      <a:pPr algn="l">
                        <a:defRPr b="0" sz="1100">
                          <a:solidFill>
                            <a:srgbClr val="000000"/>
                          </a:solidFill>
                          <a:latin typeface="Montserrat"/>
                        </a:defRPr>
                      </a:pPr>
                      <a:r>
                        <a:t>Brigada Salud</a:t>
                      </a:r>
                    </a:p>
                  </a:txBody>
                  <a:tcPr anchor="ctr" marL="73152" marR="73152" marT="0" marB="0">
                    <a:solidFill>
                      <a:srgbClr val="FFFFFF"/>
                    </a:solidFill>
                  </a:tcPr>
                </a:tc>
                <a:tc>
                  <a:txBody>
                    <a:bodyPr/>
                    <a:lstStyle/>
                    <a:p>
                      <a:pPr algn="ctr">
                        <a:defRPr b="1" sz="1000">
                          <a:solidFill>
                            <a:srgbClr val="006455"/>
                          </a:solidFill>
                          <a:latin typeface="Montserrat"/>
                        </a:defRPr>
                      </a:pPr>
                      <a:r>
                        <a:t>10</a:t>
                      </a:r>
                    </a:p>
                  </a:txBody>
                  <a:tcPr anchor="ctr" marL="73152" marR="73152" marT="0" marB="0">
                    <a:solidFill>
                      <a:srgbClr val="D3E9E7"/>
                    </a:solidFill>
                  </a:tcPr>
                </a:tc>
              </a:tr>
              <a:tr h="177654">
                <a:tc>
                  <a:txBody>
                    <a:bodyPr/>
                    <a:lstStyle/>
                    <a:p>
                      <a:pPr algn="l">
                        <a:defRPr b="0" sz="1100">
                          <a:solidFill>
                            <a:srgbClr val="000000"/>
                          </a:solidFill>
                          <a:latin typeface="Montserrat"/>
                        </a:defRPr>
                      </a:pPr>
                      <a:r>
                        <a:t>Unidad Médica Móvil</a:t>
                      </a:r>
                    </a:p>
                  </a:txBody>
                  <a:tcPr anchor="ctr" marL="73152" marR="73152" marT="0" marB="0">
                    <a:solidFill>
                      <a:srgbClr val="EFEFEF"/>
                    </a:solidFill>
                  </a:tcPr>
                </a:tc>
                <a:tc>
                  <a:txBody>
                    <a:bodyPr/>
                    <a:lstStyle/>
                    <a:p>
                      <a:pPr algn="ctr">
                        <a:defRPr b="1" sz="1000">
                          <a:solidFill>
                            <a:srgbClr val="006455"/>
                          </a:solidFill>
                          <a:latin typeface="Montserrat"/>
                        </a:defRPr>
                      </a:pPr>
                      <a:r>
                        <a:t>0</a:t>
                      </a:r>
                    </a:p>
                  </a:txBody>
                  <a:tcPr anchor="ctr" marL="73152" marR="73152" marT="0" marB="0">
                    <a:solidFill>
                      <a:srgbClr val="D3E9E7"/>
                    </a:solidFill>
                  </a:tcPr>
                </a:tc>
              </a:tr>
              <a:tr h="177654">
                <a:tc>
                  <a:txBody>
                    <a:bodyPr/>
                    <a:lstStyle/>
                    <a:p>
                      <a:pPr algn="l">
                        <a:defRPr b="0" sz="1100">
                          <a:solidFill>
                            <a:srgbClr val="000000"/>
                          </a:solidFill>
                          <a:latin typeface="Montserrat"/>
                        </a:defRPr>
                      </a:pPr>
                      <a:r>
                        <a:t>Centros de Atención Rural Obstétrica</a:t>
                      </a:r>
                    </a:p>
                  </a:txBody>
                  <a:tcPr anchor="ctr" marL="73152" marR="73152" marT="0" marB="0">
                    <a:solidFill>
                      <a:srgbClr val="FFFFFF"/>
                    </a:solidFill>
                  </a:tcPr>
                </a:tc>
                <a:tc>
                  <a:txBody>
                    <a:bodyPr/>
                    <a:lstStyle/>
                    <a:p>
                      <a:pPr algn="ctr">
                        <a:defRPr b="1" sz="1000">
                          <a:solidFill>
                            <a:srgbClr val="006455"/>
                          </a:solidFill>
                          <a:latin typeface="Montserrat"/>
                        </a:defRPr>
                      </a:pPr>
                      <a:r>
                        <a:t>0</a:t>
                      </a:r>
                    </a:p>
                  </a:txBody>
                  <a:tcPr anchor="ctr" marL="73152" marR="73152" marT="0" marB="0">
                    <a:solidFill>
                      <a:srgbClr val="D3E9E7"/>
                    </a:solidFill>
                  </a:tcPr>
                </a:tc>
              </a:tr>
              <a:tr h="177660">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116</a:t>
                      </a:r>
                    </a:p>
                  </a:txBody>
                  <a:tcPr anchor="ctr" marL="73152" marR="73152" marT="0" marB="0">
                    <a:solidFill>
                      <a:srgbClr val="D3E9E7"/>
                    </a:solidFill>
                  </a:tcPr>
                </a:tc>
              </a:tr>
            </a:tbl>
          </a:graphicData>
        </a:graphic>
      </p:graphicFrame>
      <p:graphicFrame>
        <p:nvGraphicFramePr>
          <p:cNvPr id="534" name="Table 533"/>
          <p:cNvGraphicFramePr>
            <a:graphicFrameLocks noGrp="1"/>
          </p:cNvGraphicFramePr>
          <p:nvPr/>
        </p:nvGraphicFramePr>
        <p:xfrm>
          <a:off x="310896" y="3209544"/>
          <a:ext cx="4965192" cy="1691640"/>
        </p:xfrm>
        <a:graphic>
          <a:graphicData uri="http://schemas.openxmlformats.org/drawingml/2006/table">
            <a:tbl>
              <a:tblPr firstRow="1" bandRow="1">
                <a:tableStyleId>{5C22544A-7EE6-4342-B048-85BDC9FD1C3A}</a:tableStyleId>
              </a:tblPr>
              <a:tblGrid>
                <a:gridCol w="1655064"/>
                <a:gridCol w="1655064"/>
                <a:gridCol w="1655064"/>
              </a:tblGrid>
              <a:tr h="187960">
                <a:tc>
                  <a:txBody>
                    <a:bodyPr/>
                    <a:lstStyle/>
                    <a:p>
                      <a:pPr algn="ctr">
                        <a:defRPr b="1" sz="1100">
                          <a:solidFill>
                            <a:srgbClr val="FFFFFF"/>
                          </a:solidFill>
                          <a:latin typeface="Montserrat"/>
                        </a:defRPr>
                      </a:pPr>
                      <a:r>
                        <a:t>Concepto</a:t>
                      </a:r>
                    </a:p>
                  </a:txBody>
                  <a:tcPr marL="36576" marR="36576" marT="36576" marB="36576">
                    <a:solidFill>
                      <a:srgbClr val="006455"/>
                    </a:solidFill>
                  </a:tcPr>
                </a:tc>
                <a:tc>
                  <a:txBody>
                    <a:bodyPr/>
                    <a:lstStyle/>
                    <a:p>
                      <a:pPr algn="ctr">
                        <a:defRPr b="1" sz="1100">
                          <a:solidFill>
                            <a:srgbClr val="FFFFFF"/>
                          </a:solidFill>
                          <a:latin typeface="Montserrat"/>
                        </a:defRPr>
                      </a:pPr>
                      <a:r>
                        <a:t>Productividad</a:t>
                      </a:r>
                    </a:p>
                  </a:txBody>
                  <a:tcPr marL="36576" marR="36576" marT="36576" marB="36576">
                    <a:solidFill>
                      <a:srgbClr val="006455"/>
                    </a:solidFill>
                  </a:tcPr>
                </a:tc>
                <a:tc>
                  <a:txBody>
                    <a:bodyPr/>
                    <a:lstStyle/>
                    <a:p>
                      <a:pPr algn="ctr">
                        <a:defRPr b="1" sz="1100">
                          <a:solidFill>
                            <a:srgbClr val="FFFFFF"/>
                          </a:solidFill>
                          <a:latin typeface="Montserrat"/>
                        </a:defRPr>
                      </a:pPr>
                      <a:r>
                        <a:t>Día Típico</a:t>
                      </a:r>
                    </a:p>
                  </a:txBody>
                  <a:tcPr marL="36576" marR="36576" marT="36576" marB="36576">
                    <a:solidFill>
                      <a:srgbClr val="006455"/>
                    </a:solidFill>
                  </a:tcPr>
                </a:tc>
              </a:tr>
              <a:tr h="187960">
                <a:tc>
                  <a:txBody>
                    <a:bodyPr/>
                    <a:lstStyle/>
                    <a:p>
                      <a:pPr algn="l">
                        <a:defRPr b="1" sz="1100">
                          <a:solidFill>
                            <a:srgbClr val="006455"/>
                          </a:solidFill>
                          <a:latin typeface="Montserrat"/>
                        </a:defRPr>
                      </a:pPr>
                      <a:r>
                        <a:t>Total consultas</a:t>
                      </a:r>
                    </a:p>
                  </a:txBody>
                  <a:tcPr anchor="ctr" marL="73152" marR="73152" marT="0" marB="0">
                    <a:solidFill>
                      <a:srgbClr val="D3E9E7"/>
                    </a:solidFill>
                  </a:tcPr>
                </a:tc>
                <a:tc>
                  <a:txBody>
                    <a:bodyPr/>
                    <a:lstStyle/>
                    <a:p>
                      <a:pPr algn="ctr">
                        <a:defRPr b="1" sz="1000">
                          <a:solidFill>
                            <a:srgbClr val="006455"/>
                          </a:solidFill>
                          <a:latin typeface="Montserrat"/>
                        </a:defRPr>
                      </a:pPr>
                      <a:r>
                        <a:t>255,125</a:t>
                      </a:r>
                    </a:p>
                  </a:txBody>
                  <a:tcPr anchor="ctr" marL="73152" marR="73152" marT="0" marB="0">
                    <a:solidFill>
                      <a:srgbClr val="D3E9E7"/>
                    </a:solidFill>
                  </a:tcPr>
                </a:tc>
                <a:tc>
                  <a:txBody>
                    <a:bodyPr/>
                    <a:lstStyle/>
                    <a:p>
                      <a:pPr algn="ctr">
                        <a:defRPr b="1" sz="1000">
                          <a:solidFill>
                            <a:srgbClr val="006455"/>
                          </a:solidFill>
                          <a:latin typeface="Montserrat"/>
                        </a:defRPr>
                      </a:pPr>
                      <a:r>
                        <a:t>960</a:t>
                      </a:r>
                    </a:p>
                  </a:txBody>
                  <a:tcPr anchor="ctr" marL="73152" marR="73152" marT="0" marB="0">
                    <a:solidFill>
                      <a:srgbClr val="D3E9E7"/>
                    </a:solidFill>
                  </a:tcPr>
                </a:tc>
              </a:tr>
              <a:tr h="187960">
                <a:tc>
                  <a:txBody>
                    <a:bodyPr/>
                    <a:lstStyle/>
                    <a:p>
                      <a:pPr algn="ctr">
                        <a:defRPr b="0" sz="1100">
                          <a:solidFill>
                            <a:srgbClr val="000000"/>
                          </a:solidFill>
                          <a:latin typeface="Montserrat"/>
                        </a:defRPr>
                      </a:pPr>
                      <a:r>
                        <a:t>Familiar</a:t>
                      </a:r>
                    </a:p>
                  </a:txBody>
                  <a:tcPr anchor="ctr" marL="73152" marR="73152" marT="0" marB="0">
                    <a:solidFill>
                      <a:srgbClr val="FFFFFF"/>
                    </a:solidFill>
                  </a:tcPr>
                </a:tc>
                <a:tc>
                  <a:txBody>
                    <a:bodyPr/>
                    <a:lstStyle/>
                    <a:p>
                      <a:pPr algn="ctr">
                        <a:defRPr b="0" sz="1000">
                          <a:solidFill>
                            <a:srgbClr val="000000"/>
                          </a:solidFill>
                          <a:latin typeface="Montserrat"/>
                        </a:defRPr>
                      </a:pPr>
                      <a:r>
                        <a:t>220,477</a:t>
                      </a:r>
                    </a:p>
                  </a:txBody>
                  <a:tcPr anchor="ctr" marL="73152" marR="73152" marT="0" marB="0">
                    <a:solidFill>
                      <a:srgbClr val="FFFFFF"/>
                    </a:solidFill>
                  </a:tcPr>
                </a:tc>
                <a:tc>
                  <a:txBody>
                    <a:bodyPr/>
                    <a:lstStyle/>
                    <a:p>
                      <a:pPr algn="ctr">
                        <a:defRPr b="0" sz="1000">
                          <a:solidFill>
                            <a:srgbClr val="000000"/>
                          </a:solidFill>
                          <a:latin typeface="Montserrat"/>
                        </a:defRPr>
                      </a:pPr>
                      <a:r>
                        <a:t>845</a:t>
                      </a:r>
                    </a:p>
                  </a:txBody>
                  <a:tcPr anchor="ctr" marL="73152" marR="73152" marT="0" marB="0">
                    <a:solidFill>
                      <a:srgbClr val="FFFFFF"/>
                    </a:solidFill>
                  </a:tcPr>
                </a:tc>
              </a:tr>
              <a:tr h="187960">
                <a:tc>
                  <a:txBody>
                    <a:bodyPr/>
                    <a:lstStyle/>
                    <a:p>
                      <a:pPr algn="ctr">
                        <a:defRPr b="0" sz="1100">
                          <a:solidFill>
                            <a:srgbClr val="000000"/>
                          </a:solidFill>
                          <a:latin typeface="Montserrat"/>
                        </a:defRPr>
                      </a:pPr>
                      <a:r>
                        <a:t>Estomatología</a:t>
                      </a:r>
                    </a:p>
                  </a:txBody>
                  <a:tcPr anchor="ctr" marL="73152" marR="73152" marT="0" marB="0">
                    <a:solidFill>
                      <a:srgbClr val="EFEFEF"/>
                    </a:solidFill>
                  </a:tcPr>
                </a:tc>
                <a:tc>
                  <a:txBody>
                    <a:bodyPr/>
                    <a:lstStyle/>
                    <a:p>
                      <a:pPr algn="ctr">
                        <a:defRPr b="0" sz="1000">
                          <a:solidFill>
                            <a:srgbClr val="000000"/>
                          </a:solidFill>
                          <a:latin typeface="Montserrat"/>
                        </a:defRPr>
                      </a:pPr>
                      <a:r>
                        <a:t>6,885</a:t>
                      </a:r>
                    </a:p>
                  </a:txBody>
                  <a:tcPr anchor="ctr" marL="73152" marR="73152" marT="0" marB="0">
                    <a:solidFill>
                      <a:srgbClr val="EFEFEF"/>
                    </a:solidFill>
                  </a:tcPr>
                </a:tc>
                <a:tc>
                  <a:txBody>
                    <a:bodyPr/>
                    <a:lstStyle/>
                    <a:p>
                      <a:pPr algn="ctr">
                        <a:defRPr b="0" sz="1000">
                          <a:solidFill>
                            <a:srgbClr val="000000"/>
                          </a:solidFill>
                          <a:latin typeface="Montserrat"/>
                        </a:defRPr>
                      </a:pPr>
                      <a:r>
                        <a:t>26</a:t>
                      </a:r>
                    </a:p>
                  </a:txBody>
                  <a:tcPr anchor="ctr" marL="73152" marR="73152" marT="0" marB="0">
                    <a:solidFill>
                      <a:srgbClr val="EFEFEF"/>
                    </a:solidFill>
                  </a:tcPr>
                </a:tc>
              </a:tr>
              <a:tr h="187960">
                <a:tc>
                  <a:txBody>
                    <a:bodyPr/>
                    <a:lstStyle/>
                    <a:p>
                      <a:pPr algn="ctr">
                        <a:defRPr b="0" sz="1100">
                          <a:solidFill>
                            <a:srgbClr val="000000"/>
                          </a:solidFill>
                          <a:latin typeface="Montserrat"/>
                        </a:defRPr>
                      </a:pPr>
                      <a:r>
                        <a:t>Urgencias</a:t>
                      </a:r>
                    </a:p>
                  </a:txBody>
                  <a:tcPr anchor="ctr" marL="73152" marR="73152" marT="0" marB="0">
                    <a:solidFill>
                      <a:srgbClr val="FFFFFF"/>
                    </a:solidFill>
                  </a:tcPr>
                </a:tc>
                <a:tc>
                  <a:txBody>
                    <a:bodyPr/>
                    <a:lstStyle/>
                    <a:p>
                      <a:pPr algn="ctr">
                        <a:defRPr b="0" sz="1000">
                          <a:solidFill>
                            <a:srgbClr val="000000"/>
                          </a:solidFill>
                          <a:latin typeface="Montserrat"/>
                        </a:defRPr>
                      </a:pPr>
                      <a:r>
                        <a:t>15,674</a:t>
                      </a:r>
                    </a:p>
                  </a:txBody>
                  <a:tcPr anchor="ctr" marL="73152" marR="73152" marT="0" marB="0">
                    <a:solidFill>
                      <a:srgbClr val="FFFFFF"/>
                    </a:solidFill>
                  </a:tcPr>
                </a:tc>
                <a:tc>
                  <a:txBody>
                    <a:bodyPr/>
                    <a:lstStyle/>
                    <a:p>
                      <a:pPr algn="ctr">
                        <a:defRPr b="0" sz="1000">
                          <a:solidFill>
                            <a:srgbClr val="000000"/>
                          </a:solidFill>
                          <a:latin typeface="Montserrat"/>
                        </a:defRPr>
                      </a:pPr>
                      <a:r>
                        <a:t>43</a:t>
                      </a:r>
                    </a:p>
                  </a:txBody>
                  <a:tcPr anchor="ctr" marL="73152" marR="73152" marT="0" marB="0">
                    <a:solidFill>
                      <a:srgbClr val="FFFFFF"/>
                    </a:solidFill>
                  </a:tcPr>
                </a:tc>
              </a:tr>
              <a:tr h="187960">
                <a:tc>
                  <a:txBody>
                    <a:bodyPr/>
                    <a:lstStyle/>
                    <a:p>
                      <a:pPr algn="ctr">
                        <a:defRPr b="0" sz="1100">
                          <a:solidFill>
                            <a:srgbClr val="000000"/>
                          </a:solidFill>
                          <a:latin typeface="Montserrat"/>
                        </a:defRPr>
                      </a:pPr>
                      <a:r>
                        <a:t>Especialidades</a:t>
                      </a:r>
                    </a:p>
                  </a:txBody>
                  <a:tcPr anchor="ctr" marL="73152" marR="73152" marT="0" marB="0">
                    <a:solidFill>
                      <a:srgbClr val="EFEFEF"/>
                    </a:solidFill>
                  </a:tcPr>
                </a:tc>
                <a:tc>
                  <a:txBody>
                    <a:bodyPr/>
                    <a:lstStyle/>
                    <a:p>
                      <a:pPr algn="ctr">
                        <a:defRPr b="0" sz="1000">
                          <a:solidFill>
                            <a:srgbClr val="000000"/>
                          </a:solidFill>
                          <a:latin typeface="Montserrat"/>
                        </a:defRPr>
                      </a:pPr>
                      <a:r>
                        <a:t>12,089</a:t>
                      </a:r>
                    </a:p>
                  </a:txBody>
                  <a:tcPr anchor="ctr" marL="73152" marR="73152" marT="0" marB="0">
                    <a:solidFill>
                      <a:srgbClr val="EFEFEF"/>
                    </a:solidFill>
                  </a:tcPr>
                </a:tc>
                <a:tc>
                  <a:txBody>
                    <a:bodyPr/>
                    <a:lstStyle/>
                    <a:p>
                      <a:pPr algn="ctr">
                        <a:defRPr b="0" sz="1000">
                          <a:solidFill>
                            <a:srgbClr val="000000"/>
                          </a:solidFill>
                          <a:latin typeface="Montserrat"/>
                        </a:defRPr>
                      </a:pPr>
                      <a:r>
                        <a:t>46</a:t>
                      </a:r>
                    </a:p>
                  </a:txBody>
                  <a:tcPr anchor="ctr" marL="73152" marR="73152" marT="0" marB="0">
                    <a:solidFill>
                      <a:srgbClr val="EFEFEF"/>
                    </a:solidFill>
                  </a:tcPr>
                </a:tc>
              </a:tr>
              <a:tr h="187960">
                <a:tc>
                  <a:txBody>
                    <a:bodyPr/>
                    <a:lstStyle/>
                    <a:p>
                      <a:pPr algn="l">
                        <a:defRPr b="1" sz="1100">
                          <a:solidFill>
                            <a:srgbClr val="000000"/>
                          </a:solidFill>
                          <a:latin typeface="Montserrat"/>
                        </a:defRPr>
                      </a:pPr>
                      <a:r>
                        <a:t>Cirugías</a:t>
                      </a:r>
                    </a:p>
                  </a:txBody>
                  <a:tcPr anchor="ctr" marL="73152" marR="73152" marT="0" marB="0">
                    <a:solidFill>
                      <a:srgbClr val="FFFFFF"/>
                    </a:solidFill>
                  </a:tcPr>
                </a:tc>
                <a:tc>
                  <a:txBody>
                    <a:bodyPr/>
                    <a:lstStyle/>
                    <a:p>
                      <a:pPr algn="ctr">
                        <a:defRPr b="0" sz="1000">
                          <a:solidFill>
                            <a:srgbClr val="000000"/>
                          </a:solidFill>
                          <a:latin typeface="Montserrat"/>
                        </a:defRPr>
                      </a:pPr>
                      <a:r>
                        <a:t>1,601</a:t>
                      </a:r>
                    </a:p>
                  </a:txBody>
                  <a:tcPr anchor="ctr" marL="73152" marR="73152" marT="0" marB="0">
                    <a:solidFill>
                      <a:srgbClr val="FFFFFF"/>
                    </a:solidFill>
                  </a:tcPr>
                </a:tc>
                <a:tc>
                  <a:txBody>
                    <a:bodyPr/>
                    <a:lstStyle/>
                    <a:p>
                      <a:pPr algn="ctr">
                        <a:defRPr b="0" sz="1000">
                          <a:solidFill>
                            <a:srgbClr val="000000"/>
                          </a:solidFill>
                          <a:latin typeface="Montserrat"/>
                        </a:defRPr>
                      </a:pPr>
                      <a:r>
                        <a:t>4</a:t>
                      </a:r>
                    </a:p>
                  </a:txBody>
                  <a:tcPr anchor="ctr" marL="73152" marR="73152" marT="0" marB="0">
                    <a:solidFill>
                      <a:srgbClr val="FFFFFF"/>
                    </a:solidFill>
                  </a:tcPr>
                </a:tc>
              </a:tr>
              <a:tr h="187960">
                <a:tc>
                  <a:txBody>
                    <a:bodyPr/>
                    <a:lstStyle/>
                    <a:p>
                      <a:pPr algn="l">
                        <a:defRPr b="1" sz="1100">
                          <a:solidFill>
                            <a:srgbClr val="000000"/>
                          </a:solidFill>
                          <a:latin typeface="Montserrat"/>
                        </a:defRPr>
                      </a:pPr>
                      <a:r>
                        <a:t>Partos</a:t>
                      </a:r>
                    </a:p>
                  </a:txBody>
                  <a:tcPr anchor="ctr" marL="73152" marR="73152" marT="0" marB="0">
                    <a:solidFill>
                      <a:srgbClr val="EFEFEF"/>
                    </a:solidFill>
                  </a:tcPr>
                </a:tc>
                <a:tc>
                  <a:txBody>
                    <a:bodyPr/>
                    <a:lstStyle/>
                    <a:p>
                      <a:pPr algn="ctr">
                        <a:defRPr b="0" sz="1000">
                          <a:solidFill>
                            <a:srgbClr val="000000"/>
                          </a:solidFill>
                          <a:latin typeface="Montserrat"/>
                        </a:defRPr>
                      </a:pPr>
                      <a:r>
                        <a:t>848</a:t>
                      </a:r>
                    </a:p>
                  </a:txBody>
                  <a:tcPr anchor="ctr" marL="73152" marR="73152" marT="0" marB="0">
                    <a:solidFill>
                      <a:srgbClr val="EFEFEF"/>
                    </a:solidFill>
                  </a:tcPr>
                </a:tc>
                <a:tc>
                  <a:txBody>
                    <a:bodyPr/>
                    <a:lstStyle/>
                    <a:p>
                      <a:pPr algn="ctr">
                        <a:defRPr b="0" sz="1000">
                          <a:solidFill>
                            <a:srgbClr val="000000"/>
                          </a:solidFill>
                          <a:latin typeface="Montserrat"/>
                        </a:defRPr>
                      </a:pPr>
                      <a:r>
                        <a:t>2</a:t>
                      </a:r>
                    </a:p>
                  </a:txBody>
                  <a:tcPr anchor="ctr" marL="73152" marR="73152" marT="0" marB="0">
                    <a:solidFill>
                      <a:srgbClr val="EFEFEF"/>
                    </a:solidFill>
                  </a:tcPr>
                </a:tc>
              </a:tr>
              <a:tr h="187960">
                <a:tc>
                  <a:txBody>
                    <a:bodyPr/>
                    <a:lstStyle/>
                    <a:p>
                      <a:pPr algn="l">
                        <a:defRPr b="1" sz="1100">
                          <a:solidFill>
                            <a:srgbClr val="000000"/>
                          </a:solidFill>
                          <a:latin typeface="Montserrat"/>
                        </a:defRPr>
                      </a:pPr>
                      <a:r>
                        <a:t>Egresos Hosp.</a:t>
                      </a:r>
                    </a:p>
                  </a:txBody>
                  <a:tcPr anchor="ctr" marL="73152" marR="73152" marT="0" marB="0">
                    <a:solidFill>
                      <a:srgbClr val="FFFFFF"/>
                    </a:solidFill>
                  </a:tcPr>
                </a:tc>
                <a:tc>
                  <a:txBody>
                    <a:bodyPr/>
                    <a:lstStyle/>
                    <a:p>
                      <a:pPr algn="ctr">
                        <a:defRPr b="0" sz="1000">
                          <a:solidFill>
                            <a:srgbClr val="000000"/>
                          </a:solidFill>
                          <a:latin typeface="Montserrat"/>
                        </a:defRPr>
                      </a:pPr>
                      <a:r>
                        <a:t>2,578</a:t>
                      </a:r>
                    </a:p>
                  </a:txBody>
                  <a:tcPr anchor="ctr" marL="73152" marR="73152" marT="0" marB="0">
                    <a:solidFill>
                      <a:srgbClr val="FFFFFF"/>
                    </a:solidFill>
                  </a:tcPr>
                </a:tc>
                <a:tc>
                  <a:txBody>
                    <a:bodyPr/>
                    <a:lstStyle/>
                    <a:p>
                      <a:pPr algn="ctr">
                        <a:defRPr b="0" sz="1000">
                          <a:solidFill>
                            <a:srgbClr val="000000"/>
                          </a:solidFill>
                          <a:latin typeface="Montserrat"/>
                        </a:defRPr>
                      </a:pPr>
                      <a:r>
                        <a:t>7</a:t>
                      </a:r>
                    </a:p>
                  </a:txBody>
                  <a:tcPr anchor="ctr" marL="73152" marR="73152" marT="0" marB="0">
                    <a:solidFill>
                      <a:srgbClr val="FFFFFF"/>
                    </a:solidFill>
                  </a:tcPr>
                </a:tc>
              </a:tr>
            </a:tbl>
          </a:graphicData>
        </a:graphic>
      </p:graphicFrame>
      <p:graphicFrame>
        <p:nvGraphicFramePr>
          <p:cNvPr id="535" name="Table 534"/>
          <p:cNvGraphicFramePr>
            <a:graphicFrameLocks noGrp="1"/>
          </p:cNvGraphicFramePr>
          <p:nvPr/>
        </p:nvGraphicFramePr>
        <p:xfrm>
          <a:off x="310896" y="5815584"/>
          <a:ext cx="7022592" cy="1609344"/>
        </p:xfrm>
        <a:graphic>
          <a:graphicData uri="http://schemas.openxmlformats.org/drawingml/2006/table">
            <a:tbl>
              <a:tblPr firstRow="1" bandRow="1">
                <a:tableStyleId>{5C22544A-7EE6-4342-B048-85BDC9FD1C3A}</a:tableStyleId>
              </a:tblPr>
              <a:tblGrid>
                <a:gridCol w="1664208"/>
                <a:gridCol w="923544"/>
                <a:gridCol w="1179576"/>
                <a:gridCol w="1179576"/>
                <a:gridCol w="1179576"/>
                <a:gridCol w="896112"/>
              </a:tblGrid>
              <a:tr h="201168">
                <a:tc>
                  <a:txBody>
                    <a:bodyPr/>
                    <a:lstStyle/>
                    <a:p>
                      <a:pPr algn="ctr">
                        <a:defRPr b="1" sz="1100">
                          <a:solidFill>
                            <a:srgbClr val="FFFFFF"/>
                          </a:solidFill>
                          <a:latin typeface="Montserrat"/>
                        </a:defRPr>
                      </a:pPr>
                      <a:r>
                        <a:t>Disciplina</a:t>
                      </a:r>
                    </a:p>
                  </a:txBody>
                  <a:tcPr marL="36576" marR="36576" marT="36576" marB="36576">
                    <a:solidFill>
                      <a:srgbClr val="006455"/>
                    </a:solidFill>
                  </a:tcPr>
                </a:tc>
                <a:tc>
                  <a:txBody>
                    <a:bodyPr/>
                    <a:lstStyle/>
                    <a:p>
                      <a:pPr algn="ctr">
                        <a:defRPr b="1" sz="1100">
                          <a:solidFill>
                            <a:srgbClr val="FFFFFF"/>
                          </a:solidFill>
                          <a:latin typeface="Montserrat"/>
                        </a:defRPr>
                      </a:pPr>
                      <a:r>
                        <a:t>Base</a:t>
                      </a:r>
                    </a:p>
                  </a:txBody>
                  <a:tcPr marL="36576" marR="36576" marT="36576" marB="36576">
                    <a:solidFill>
                      <a:srgbClr val="006455"/>
                    </a:solidFill>
                  </a:tcPr>
                </a:tc>
                <a:tc>
                  <a:txBody>
                    <a:bodyPr/>
                    <a:lstStyle/>
                    <a:p>
                      <a:pPr algn="ctr">
                        <a:defRPr b="1" sz="1100">
                          <a:solidFill>
                            <a:srgbClr val="FFFFFF"/>
                          </a:solidFill>
                          <a:latin typeface="Montserrat"/>
                        </a:defRPr>
                      </a:pPr>
                      <a:r>
                        <a:t>Confianza</a:t>
                      </a:r>
                    </a:p>
                  </a:txBody>
                  <a:tcPr marL="36576" marR="36576" marT="36576" marB="36576">
                    <a:solidFill>
                      <a:srgbClr val="006455"/>
                    </a:solidFill>
                  </a:tcPr>
                </a:tc>
                <a:tc>
                  <a:txBody>
                    <a:bodyPr/>
                    <a:lstStyle/>
                    <a:p>
                      <a:pPr algn="ctr">
                        <a:defRPr b="1" sz="1100">
                          <a:solidFill>
                            <a:srgbClr val="FFFFFF"/>
                          </a:solidFill>
                          <a:latin typeface="Montserrat"/>
                        </a:defRPr>
                      </a:pPr>
                      <a:r>
                        <a:t>Estatuto A</a:t>
                      </a:r>
                    </a:p>
                  </a:txBody>
                  <a:tcPr marL="36576" marR="36576" marT="36576" marB="36576">
                    <a:solidFill>
                      <a:srgbClr val="006455"/>
                    </a:solidFill>
                  </a:tcPr>
                </a:tc>
                <a:tc>
                  <a:txBody>
                    <a:bodyPr/>
                    <a:lstStyle/>
                    <a:p>
                      <a:pPr algn="ctr">
                        <a:defRPr b="1" sz="1100">
                          <a:solidFill>
                            <a:srgbClr val="FFFFFF"/>
                          </a:solidFill>
                          <a:latin typeface="Montserrat"/>
                        </a:defRPr>
                      </a:pPr>
                      <a:r>
                        <a:t>Sustitutos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201168">
                <a:tc>
                  <a:txBody>
                    <a:bodyPr/>
                    <a:lstStyle/>
                    <a:p>
                      <a:pPr algn="l">
                        <a:defRPr b="0" sz="1100">
                          <a:solidFill>
                            <a:srgbClr val="000000"/>
                          </a:solidFill>
                          <a:latin typeface="Montserrat"/>
                        </a:defRPr>
                      </a:pPr>
                      <a:r>
                        <a:t>Médicos</a:t>
                      </a:r>
                    </a:p>
                  </a:txBody>
                  <a:tcPr anchor="ctr" marL="73152" marR="73152" marT="0" marB="0">
                    <a:solidFill>
                      <a:srgbClr val="FFFFFF"/>
                    </a:solidFill>
                  </a:tcPr>
                </a:tc>
                <a:tc>
                  <a:txBody>
                    <a:bodyPr/>
                    <a:lstStyle/>
                    <a:p>
                      <a:pPr algn="ctr">
                        <a:defRPr b="0" sz="1000">
                          <a:solidFill>
                            <a:srgbClr val="000000"/>
                          </a:solidFill>
                          <a:latin typeface="Montserrat"/>
                        </a:defRPr>
                      </a:pPr>
                      <a:r>
                        <a:t>65</a:t>
                      </a:r>
                    </a:p>
                  </a:txBody>
                  <a:tcPr anchor="ctr" marL="73152" marR="73152" marT="0" marB="0">
                    <a:solidFill>
                      <a:srgbClr val="FFFFFF"/>
                    </a:solidFill>
                  </a:tcPr>
                </a:tc>
                <a:tc>
                  <a:txBody>
                    <a:bodyPr/>
                    <a:lstStyle/>
                    <a:p>
                      <a:pPr algn="ctr">
                        <a:defRPr b="0" sz="1000">
                          <a:solidFill>
                            <a:srgbClr val="000000"/>
                          </a:solidFill>
                          <a:latin typeface="Montserrat"/>
                        </a:defRPr>
                      </a:pPr>
                      <a:r>
                        <a:t>16</a:t>
                      </a:r>
                    </a:p>
                  </a:txBody>
                  <a:tcPr anchor="ctr" marL="73152" marR="73152" marT="0" marB="0">
                    <a:solidFill>
                      <a:srgbClr val="FFFFFF"/>
                    </a:solidFill>
                  </a:tcPr>
                </a:tc>
                <a:tc>
                  <a:txBody>
                    <a:bodyPr/>
                    <a:lstStyle/>
                    <a:p>
                      <a:pPr algn="ctr">
                        <a:defRPr b="0" sz="1000">
                          <a:solidFill>
                            <a:srgbClr val="000000"/>
                          </a:solidFill>
                          <a:latin typeface="Montserrat"/>
                        </a:defRPr>
                      </a:pPr>
                      <a:r>
                        <a:t>4</a:t>
                      </a:r>
                    </a:p>
                  </a:txBody>
                  <a:tcPr anchor="ctr" marL="73152" marR="73152" marT="0" marB="0">
                    <a:solidFill>
                      <a:srgbClr val="FFFFFF"/>
                    </a:solidFill>
                  </a:tcPr>
                </a:tc>
                <a:tc>
                  <a:txBody>
                    <a:bodyPr/>
                    <a:lstStyle/>
                    <a:p>
                      <a:pPr algn="ctr">
                        <a:defRPr b="0" sz="1000">
                          <a:solidFill>
                            <a:srgbClr val="000000"/>
                          </a:solidFill>
                          <a:latin typeface="Montserrat"/>
                        </a:defRPr>
                      </a:pPr>
                      <a:r>
                        <a:t>73</a:t>
                      </a:r>
                    </a:p>
                  </a:txBody>
                  <a:tcPr anchor="ctr" marL="73152" marR="73152" marT="0" marB="0">
                    <a:solidFill>
                      <a:srgbClr val="FFFFFF"/>
                    </a:solidFill>
                  </a:tcPr>
                </a:tc>
                <a:tc>
                  <a:txBody>
                    <a:bodyPr/>
                    <a:lstStyle/>
                    <a:p>
                      <a:pPr algn="ctr">
                        <a:defRPr b="1" sz="1000">
                          <a:solidFill>
                            <a:srgbClr val="006455"/>
                          </a:solidFill>
                          <a:latin typeface="Montserrat"/>
                        </a:defRPr>
                      </a:pPr>
                      <a:r>
                        <a:t>158</a:t>
                      </a:r>
                    </a:p>
                  </a:txBody>
                  <a:tcPr anchor="ctr" marL="73152" marR="73152" marT="0" marB="0">
                    <a:solidFill>
                      <a:srgbClr val="D3E9E7"/>
                    </a:solidFill>
                  </a:tcPr>
                </a:tc>
              </a:tr>
              <a:tr h="201168">
                <a:tc>
                  <a:txBody>
                    <a:bodyPr/>
                    <a:lstStyle/>
                    <a:p>
                      <a:pPr algn="l">
                        <a:defRPr b="0" sz="1100">
                          <a:solidFill>
                            <a:srgbClr val="000000"/>
                          </a:solidFill>
                          <a:latin typeface="Montserrat"/>
                        </a:defRPr>
                      </a:pPr>
                      <a:r>
                        <a:t>Enfermeras</a:t>
                      </a:r>
                    </a:p>
                  </a:txBody>
                  <a:tcPr anchor="ctr" marL="73152" marR="73152" marT="0" marB="0">
                    <a:solidFill>
                      <a:srgbClr val="EFEFEF"/>
                    </a:solidFill>
                  </a:tcPr>
                </a:tc>
                <a:tc>
                  <a:txBody>
                    <a:bodyPr/>
                    <a:lstStyle/>
                    <a:p>
                      <a:pPr algn="ctr">
                        <a:defRPr b="0" sz="1000">
                          <a:solidFill>
                            <a:srgbClr val="000000"/>
                          </a:solidFill>
                          <a:latin typeface="Montserrat"/>
                        </a:defRPr>
                      </a:pPr>
                      <a:r>
                        <a:t>233</a:t>
                      </a:r>
                    </a:p>
                  </a:txBody>
                  <a:tcPr anchor="ctr" marL="73152" marR="73152" marT="0" marB="0">
                    <a:solidFill>
                      <a:srgbClr val="EFEFEF"/>
                    </a:solidFill>
                  </a:tcPr>
                </a:tc>
                <a:tc>
                  <a:txBody>
                    <a:bodyPr/>
                    <a:lstStyle/>
                    <a:p>
                      <a:pPr algn="ctr">
                        <a:defRPr b="0" sz="1000">
                          <a:solidFill>
                            <a:srgbClr val="000000"/>
                          </a:solidFill>
                          <a:latin typeface="Montserrat"/>
                        </a:defRPr>
                      </a:pPr>
                      <a:r>
                        <a:t>4</a:t>
                      </a:r>
                    </a:p>
                  </a:txBody>
                  <a:tcPr anchor="ctr" marL="73152" marR="73152" marT="0" marB="0">
                    <a:solidFill>
                      <a:srgbClr val="EFEFEF"/>
                    </a:solidFill>
                  </a:tcPr>
                </a:tc>
                <a:tc>
                  <a:txBody>
                    <a:bodyPr/>
                    <a:lstStyle/>
                    <a:p>
                      <a:pPr algn="ctr">
                        <a:defRPr b="0" sz="1000">
                          <a:solidFill>
                            <a:srgbClr val="000000"/>
                          </a:solidFill>
                          <a:latin typeface="Montserrat"/>
                        </a:defRPr>
                      </a:pPr>
                      <a:r>
                        <a:t>2</a:t>
                      </a:r>
                    </a:p>
                  </a:txBody>
                  <a:tcPr anchor="ctr" marL="73152" marR="73152" marT="0" marB="0">
                    <a:solidFill>
                      <a:srgbClr val="EFEFEF"/>
                    </a:solidFill>
                  </a:tcPr>
                </a:tc>
                <a:tc>
                  <a:txBody>
                    <a:bodyPr/>
                    <a:lstStyle/>
                    <a:p>
                      <a:pPr algn="ctr">
                        <a:defRPr b="0" sz="1000">
                          <a:solidFill>
                            <a:srgbClr val="000000"/>
                          </a:solidFill>
                          <a:latin typeface="Montserrat"/>
                        </a:defRPr>
                      </a:pPr>
                      <a:r>
                        <a:t>134</a:t>
                      </a:r>
                    </a:p>
                  </a:txBody>
                  <a:tcPr anchor="ctr" marL="73152" marR="73152" marT="0" marB="0">
                    <a:solidFill>
                      <a:srgbClr val="EFEFEF"/>
                    </a:solidFill>
                  </a:tcPr>
                </a:tc>
                <a:tc>
                  <a:txBody>
                    <a:bodyPr/>
                    <a:lstStyle/>
                    <a:p>
                      <a:pPr algn="ctr">
                        <a:defRPr b="1" sz="1000">
                          <a:solidFill>
                            <a:srgbClr val="006455"/>
                          </a:solidFill>
                          <a:latin typeface="Montserrat"/>
                        </a:defRPr>
                      </a:pPr>
                      <a:r>
                        <a:t>373</a:t>
                      </a:r>
                    </a:p>
                  </a:txBody>
                  <a:tcPr anchor="ctr" marL="73152" marR="73152" marT="0" marB="0">
                    <a:solidFill>
                      <a:srgbClr val="D3E9E7"/>
                    </a:solidFill>
                  </a:tcPr>
                </a:tc>
              </a:tr>
              <a:tr h="201168">
                <a:tc>
                  <a:txBody>
                    <a:bodyPr/>
                    <a:lstStyle/>
                    <a:p>
                      <a:pPr algn="l">
                        <a:defRPr b="0" sz="1100">
                          <a:solidFill>
                            <a:srgbClr val="000000"/>
                          </a:solidFill>
                          <a:latin typeface="Montserrat"/>
                        </a:defRPr>
                      </a:pPr>
                      <a:r>
                        <a:t>Paramédicos</a:t>
                      </a:r>
                    </a:p>
                  </a:txBody>
                  <a:tcPr anchor="ctr" marL="73152" marR="73152" marT="0" marB="0">
                    <a:solidFill>
                      <a:srgbClr val="FFFFFF"/>
                    </a:solidFill>
                  </a:tcPr>
                </a:tc>
                <a:tc>
                  <a:txBody>
                    <a:bodyPr/>
                    <a:lstStyle/>
                    <a:p>
                      <a:pPr algn="ctr">
                        <a:defRPr b="0" sz="1000">
                          <a:solidFill>
                            <a:srgbClr val="000000"/>
                          </a:solidFill>
                          <a:latin typeface="Montserrat"/>
                        </a:defRPr>
                      </a:pPr>
                      <a:r>
                        <a:t>40</a:t>
                      </a:r>
                    </a:p>
                  </a:txBody>
                  <a:tcPr anchor="ctr" marL="73152" marR="73152" marT="0" marB="0">
                    <a:solidFill>
                      <a:srgbClr val="FFFFFF"/>
                    </a:solidFill>
                  </a:tcPr>
                </a:tc>
                <a:tc>
                  <a:txBody>
                    <a:bodyPr/>
                    <a:lstStyle/>
                    <a:p>
                      <a:pPr algn="ctr">
                        <a:defRPr b="0" sz="1000">
                          <a:solidFill>
                            <a:srgbClr val="000000"/>
                          </a:solidFill>
                          <a:latin typeface="Montserrat"/>
                        </a:defRPr>
                      </a:pPr>
                      <a:r>
                        <a:t>1</a:t>
                      </a:r>
                    </a:p>
                  </a:txBody>
                  <a:tcPr anchor="ctr" marL="73152" marR="73152" marT="0" marB="0">
                    <a:solidFill>
                      <a:srgbClr val="FFFFFF"/>
                    </a:solidFill>
                  </a:tcPr>
                </a:tc>
                <a:tc>
                  <a:txBody>
                    <a:bodyPr/>
                    <a:lstStyle/>
                    <a:p>
                      <a:pPr algn="ctr">
                        <a:defRPr b="0" sz="1000">
                          <a:solidFill>
                            <a:srgbClr val="000000"/>
                          </a:solidFill>
                          <a:latin typeface="Montserrat"/>
                        </a:defRPr>
                      </a:pPr>
                      <a:r>
                        <a:t>3</a:t>
                      </a:r>
                    </a:p>
                  </a:txBody>
                  <a:tcPr anchor="ctr" marL="73152" marR="73152" marT="0" marB="0">
                    <a:solidFill>
                      <a:srgbClr val="FFFFFF"/>
                    </a:solidFill>
                  </a:tcPr>
                </a:tc>
                <a:tc>
                  <a:txBody>
                    <a:bodyPr/>
                    <a:lstStyle/>
                    <a:p>
                      <a:pPr algn="ctr">
                        <a:defRPr b="0" sz="1000">
                          <a:solidFill>
                            <a:srgbClr val="000000"/>
                          </a:solidFill>
                          <a:latin typeface="Montserrat"/>
                        </a:defRPr>
                      </a:pPr>
                      <a:r>
                        <a:t>18</a:t>
                      </a:r>
                    </a:p>
                  </a:txBody>
                  <a:tcPr anchor="ctr" marL="73152" marR="73152" marT="0" marB="0">
                    <a:solidFill>
                      <a:srgbClr val="FFFFFF"/>
                    </a:solidFill>
                  </a:tcPr>
                </a:tc>
                <a:tc>
                  <a:txBody>
                    <a:bodyPr/>
                    <a:lstStyle/>
                    <a:p>
                      <a:pPr algn="ctr">
                        <a:defRPr b="1" sz="1000">
                          <a:solidFill>
                            <a:srgbClr val="006455"/>
                          </a:solidFill>
                          <a:latin typeface="Montserrat"/>
                        </a:defRPr>
                      </a:pPr>
                      <a:r>
                        <a:t>62</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Administrativas</a:t>
                      </a:r>
                    </a:p>
                  </a:txBody>
                  <a:tcPr anchor="ctr" marL="73152" marR="73152" marT="0" marB="0">
                    <a:solidFill>
                      <a:srgbClr val="EFEFEF"/>
                    </a:solidFill>
                  </a:tcPr>
                </a:tc>
                <a:tc>
                  <a:txBody>
                    <a:bodyPr/>
                    <a:lstStyle/>
                    <a:p>
                      <a:pPr algn="ctr">
                        <a:defRPr b="0" sz="1000">
                          <a:solidFill>
                            <a:srgbClr val="000000"/>
                          </a:solidFill>
                          <a:latin typeface="Montserrat"/>
                        </a:defRPr>
                      </a:pPr>
                      <a:r>
                        <a:t>25</a:t>
                      </a:r>
                    </a:p>
                  </a:txBody>
                  <a:tcPr anchor="ctr" marL="73152" marR="73152" marT="0" marB="0">
                    <a:solidFill>
                      <a:srgbClr val="EFEFEF"/>
                    </a:solidFill>
                  </a:tcPr>
                </a:tc>
                <a:tc>
                  <a:txBody>
                    <a:bodyPr/>
                    <a:lstStyle/>
                    <a:p>
                      <a:pPr algn="ctr">
                        <a:defRPr b="0" sz="1000">
                          <a:solidFill>
                            <a:srgbClr val="000000"/>
                          </a:solidFill>
                          <a:latin typeface="Montserrat"/>
                        </a:defRPr>
                      </a:pPr>
                      <a:r>
                        <a:t>15</a:t>
                      </a:r>
                    </a:p>
                  </a:txBody>
                  <a:tcPr anchor="ctr" marL="73152" marR="73152" marT="0" marB="0">
                    <a:solidFill>
                      <a:srgbClr val="EFEFEF"/>
                    </a:solidFill>
                  </a:tcPr>
                </a:tc>
                <a:tc>
                  <a:txBody>
                    <a:bodyPr/>
                    <a:lstStyle/>
                    <a:p>
                      <a:pPr algn="ctr">
                        <a:defRPr b="0" sz="1000">
                          <a:solidFill>
                            <a:srgbClr val="000000"/>
                          </a:solidFill>
                          <a:latin typeface="Montserrat"/>
                        </a:defRPr>
                      </a:pPr>
                      <a:r>
                        <a:t>16</a:t>
                      </a:r>
                    </a:p>
                  </a:txBody>
                  <a:tcPr anchor="ctr" marL="73152" marR="73152" marT="0" marB="0">
                    <a:solidFill>
                      <a:srgbClr val="EFEFEF"/>
                    </a:solidFill>
                  </a:tcPr>
                </a:tc>
                <a:tc>
                  <a:txBody>
                    <a:bodyPr/>
                    <a:lstStyle/>
                    <a:p>
                      <a:pPr algn="ctr">
                        <a:defRPr b="0" sz="1000">
                          <a:solidFill>
                            <a:srgbClr val="000000"/>
                          </a:solidFill>
                          <a:latin typeface="Montserrat"/>
                        </a:defRPr>
                      </a:pPr>
                      <a:r>
                        <a:t>6</a:t>
                      </a:r>
                    </a:p>
                  </a:txBody>
                  <a:tcPr anchor="ctr" marL="73152" marR="73152" marT="0" marB="0">
                    <a:solidFill>
                      <a:srgbClr val="EFEFEF"/>
                    </a:solidFill>
                  </a:tcPr>
                </a:tc>
                <a:tc>
                  <a:txBody>
                    <a:bodyPr/>
                    <a:lstStyle/>
                    <a:p>
                      <a:pPr algn="ctr">
                        <a:defRPr b="1" sz="1000">
                          <a:solidFill>
                            <a:srgbClr val="006455"/>
                          </a:solidFill>
                          <a:latin typeface="Montserrat"/>
                        </a:defRPr>
                      </a:pPr>
                      <a:r>
                        <a:t>62</a:t>
                      </a:r>
                    </a:p>
                  </a:txBody>
                  <a:tcPr anchor="ctr" marL="73152" marR="73152" marT="0" marB="0">
                    <a:solidFill>
                      <a:srgbClr val="D3E9E7"/>
                    </a:solidFill>
                  </a:tcPr>
                </a:tc>
              </a:tr>
              <a:tr h="201168">
                <a:tc>
                  <a:txBody>
                    <a:bodyPr/>
                    <a:lstStyle/>
                    <a:p>
                      <a:pPr algn="l">
                        <a:defRPr b="0" sz="1100">
                          <a:solidFill>
                            <a:srgbClr val="000000"/>
                          </a:solidFill>
                          <a:latin typeface="Montserrat"/>
                        </a:defRPr>
                      </a:pPr>
                      <a:r>
                        <a:t>Servicios Generales</a:t>
                      </a:r>
                    </a:p>
                  </a:txBody>
                  <a:tcPr anchor="ctr" marL="73152" marR="73152" marT="0" marB="0">
                    <a:solidFill>
                      <a:srgbClr val="FFFFFF"/>
                    </a:solidFill>
                  </a:tcPr>
                </a:tc>
                <a:tc>
                  <a:txBody>
                    <a:bodyPr/>
                    <a:lstStyle/>
                    <a:p>
                      <a:pPr algn="ctr">
                        <a:defRPr b="0" sz="1000">
                          <a:solidFill>
                            <a:srgbClr val="000000"/>
                          </a:solidFill>
                          <a:latin typeface="Montserrat"/>
                        </a:defRPr>
                      </a:pPr>
                      <a:r>
                        <a:t>89</a:t>
                      </a:r>
                    </a:p>
                  </a:txBody>
                  <a:tcPr anchor="ctr" marL="73152" marR="73152" marT="0" marB="0">
                    <a:solidFill>
                      <a:srgbClr val="FFFFFF"/>
                    </a:solidFill>
                  </a:tcPr>
                </a:tc>
                <a:tc>
                  <a:txBody>
                    <a:bodyPr/>
                    <a:lstStyle/>
                    <a:p>
                      <a:pPr algn="ctr">
                        <a:defRPr b="0" sz="1000">
                          <a:solidFill>
                            <a:srgbClr val="000000"/>
                          </a:solidFill>
                          <a:latin typeface="Montserrat"/>
                        </a:defRPr>
                      </a:pPr>
                      <a:r>
                        <a:t>7</a:t>
                      </a:r>
                    </a:p>
                  </a:txBody>
                  <a:tcPr anchor="ctr" marL="73152" marR="73152" marT="0" marB="0">
                    <a:solidFill>
                      <a:srgbClr val="FFFFFF"/>
                    </a:solidFill>
                  </a:tcPr>
                </a:tc>
                <a:tc>
                  <a:txBody>
                    <a:bodyPr/>
                    <a:lstStyle/>
                    <a:p>
                      <a:pPr algn="ctr">
                        <a:defRPr b="0" sz="1000">
                          <a:solidFill>
                            <a:srgbClr val="000000"/>
                          </a:solidFill>
                          <a:latin typeface="Montserrat"/>
                        </a:defRPr>
                      </a:pPr>
                      <a:r>
                        <a:t>5</a:t>
                      </a:r>
                    </a:p>
                  </a:txBody>
                  <a:tcPr anchor="ctr" marL="73152" marR="73152" marT="0" marB="0">
                    <a:solidFill>
                      <a:srgbClr val="FFFFFF"/>
                    </a:solidFill>
                  </a:tcPr>
                </a:tc>
                <a:tc>
                  <a:txBody>
                    <a:bodyPr/>
                    <a:lstStyle/>
                    <a:p>
                      <a:pPr algn="ctr">
                        <a:defRPr b="0" sz="1000">
                          <a:solidFill>
                            <a:srgbClr val="000000"/>
                          </a:solidFill>
                          <a:latin typeface="Montserrat"/>
                        </a:defRPr>
                      </a:pPr>
                      <a:r>
                        <a:t>58</a:t>
                      </a:r>
                    </a:p>
                  </a:txBody>
                  <a:tcPr anchor="ctr" marL="73152" marR="73152" marT="0" marB="0">
                    <a:solidFill>
                      <a:srgbClr val="FFFFFF"/>
                    </a:solidFill>
                  </a:tcPr>
                </a:tc>
                <a:tc>
                  <a:txBody>
                    <a:bodyPr/>
                    <a:lstStyle/>
                    <a:p>
                      <a:pPr algn="ctr">
                        <a:defRPr b="1" sz="1000">
                          <a:solidFill>
                            <a:srgbClr val="006455"/>
                          </a:solidFill>
                          <a:latin typeface="Montserrat"/>
                        </a:defRPr>
                      </a:pPr>
                      <a:r>
                        <a:t>159</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Acción Comunitaria</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0" sz="1000">
                          <a:solidFill>
                            <a:srgbClr val="000000"/>
                          </a:solidFill>
                          <a:latin typeface="Montserrat"/>
                        </a:defRPr>
                      </a:pPr>
                      <a:r>
                        <a:t>3</a:t>
                      </a:r>
                    </a:p>
                  </a:txBody>
                  <a:tcPr anchor="ctr" marL="73152" marR="73152" marT="0" marB="0">
                    <a:solidFill>
                      <a:srgbClr val="EFEFEF"/>
                    </a:solidFill>
                  </a:tcPr>
                </a:tc>
                <a:tc>
                  <a:txBody>
                    <a:bodyPr/>
                    <a:lstStyle/>
                    <a:p>
                      <a:pPr algn="ctr">
                        <a:defRPr b="0" sz="1000">
                          <a:solidFill>
                            <a:srgbClr val="000000"/>
                          </a:solidFill>
                          <a:latin typeface="Montserrat"/>
                        </a:defRPr>
                      </a:pPr>
                      <a:r>
                        <a:t>9</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1" sz="1000">
                          <a:solidFill>
                            <a:srgbClr val="006455"/>
                          </a:solidFill>
                          <a:latin typeface="Montserrat"/>
                        </a:defRPr>
                      </a:pPr>
                      <a:r>
                        <a:t>12</a:t>
                      </a:r>
                    </a:p>
                  </a:txBody>
                  <a:tcPr anchor="ctr" marL="73152" marR="73152" marT="0" marB="0">
                    <a:solidFill>
                      <a:srgbClr val="D3E9E7"/>
                    </a:solidFill>
                  </a:tcPr>
                </a:tc>
              </a:tr>
              <a:tr h="201168">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452</a:t>
                      </a:r>
                    </a:p>
                  </a:txBody>
                  <a:tcPr anchor="ctr" marL="73152" marR="73152" marT="0" marB="0">
                    <a:solidFill>
                      <a:srgbClr val="D3E9E7"/>
                    </a:solidFill>
                  </a:tcPr>
                </a:tc>
                <a:tc>
                  <a:txBody>
                    <a:bodyPr/>
                    <a:lstStyle/>
                    <a:p>
                      <a:pPr algn="ctr">
                        <a:defRPr b="1" sz="1000">
                          <a:solidFill>
                            <a:srgbClr val="006455"/>
                          </a:solidFill>
                          <a:latin typeface="Montserrat"/>
                        </a:defRPr>
                      </a:pPr>
                      <a:r>
                        <a:t>46</a:t>
                      </a:r>
                    </a:p>
                  </a:txBody>
                  <a:tcPr anchor="ctr" marL="73152" marR="73152" marT="0" marB="0">
                    <a:solidFill>
                      <a:srgbClr val="D3E9E7"/>
                    </a:solidFill>
                  </a:tcPr>
                </a:tc>
                <a:tc>
                  <a:txBody>
                    <a:bodyPr/>
                    <a:lstStyle/>
                    <a:p>
                      <a:pPr algn="ctr">
                        <a:defRPr b="1" sz="1000">
                          <a:solidFill>
                            <a:srgbClr val="006455"/>
                          </a:solidFill>
                          <a:latin typeface="Montserrat"/>
                        </a:defRPr>
                      </a:pPr>
                      <a:r>
                        <a:t>39</a:t>
                      </a:r>
                    </a:p>
                  </a:txBody>
                  <a:tcPr anchor="ctr" marL="73152" marR="73152" marT="0" marB="0">
                    <a:solidFill>
                      <a:srgbClr val="D3E9E7"/>
                    </a:solidFill>
                  </a:tcPr>
                </a:tc>
                <a:tc>
                  <a:txBody>
                    <a:bodyPr/>
                    <a:lstStyle/>
                    <a:p>
                      <a:pPr algn="ctr">
                        <a:defRPr b="1" sz="1000">
                          <a:solidFill>
                            <a:srgbClr val="006455"/>
                          </a:solidFill>
                          <a:latin typeface="Montserrat"/>
                        </a:defRPr>
                      </a:pPr>
                      <a:r>
                        <a:t>289</a:t>
                      </a:r>
                    </a:p>
                  </a:txBody>
                  <a:tcPr anchor="ctr" marL="73152" marR="73152" marT="0" marB="0">
                    <a:solidFill>
                      <a:srgbClr val="D3E9E7"/>
                    </a:solidFill>
                  </a:tcPr>
                </a:tc>
                <a:tc>
                  <a:txBody>
                    <a:bodyPr/>
                    <a:lstStyle/>
                    <a:p>
                      <a:pPr algn="ctr">
                        <a:defRPr b="1" sz="1000">
                          <a:solidFill>
                            <a:srgbClr val="006455"/>
                          </a:solidFill>
                          <a:latin typeface="Montserrat"/>
                        </a:defRPr>
                      </a:pPr>
                      <a:r>
                        <a:t>826</a:t>
                      </a:r>
                    </a:p>
                  </a:txBody>
                  <a:tcPr anchor="ctr" marL="73152" marR="73152" marT="0" marB="0">
                    <a:solidFill>
                      <a:srgbClr val="D3E9E7"/>
                    </a:solidFill>
                  </a:tcPr>
                </a:tc>
              </a:tr>
            </a:tbl>
          </a:graphicData>
        </a:graphic>
      </p:graphicFrame>
      <p:graphicFrame>
        <p:nvGraphicFramePr>
          <p:cNvPr id="536" name="Table 535"/>
          <p:cNvGraphicFramePr>
            <a:graphicFrameLocks noGrp="1"/>
          </p:cNvGraphicFramePr>
          <p:nvPr/>
        </p:nvGraphicFramePr>
        <p:xfrm>
          <a:off x="310896" y="7991856"/>
          <a:ext cx="7004303" cy="612648"/>
        </p:xfrm>
        <a:graphic>
          <a:graphicData uri="http://schemas.openxmlformats.org/drawingml/2006/table">
            <a:tbl>
              <a:tblPr firstRow="1" bandRow="1">
                <a:tableStyleId>{5C22544A-7EE6-4342-B048-85BDC9FD1C3A}</a:tableStyleId>
              </a:tblPr>
              <a:tblGrid>
                <a:gridCol w="996696"/>
                <a:gridCol w="996696"/>
                <a:gridCol w="832104"/>
                <a:gridCol w="1060704"/>
                <a:gridCol w="969264"/>
                <a:gridCol w="1042415"/>
                <a:gridCol w="1106424"/>
              </a:tblGrid>
              <a:tr h="306324">
                <a:tc>
                  <a:txBody>
                    <a:bodyPr/>
                    <a:lstStyle/>
                    <a:p>
                      <a:pPr algn="ctr">
                        <a:defRPr b="1" sz="1100">
                          <a:solidFill>
                            <a:srgbClr val="FFFFFF"/>
                          </a:solidFill>
                          <a:latin typeface="Montserrat"/>
                        </a:defRPr>
                      </a:pPr>
                      <a:r>
                        <a:t>OOAD</a:t>
                      </a:r>
                    </a:p>
                  </a:txBody>
                  <a:tcPr marL="36576" marR="36576" marT="36576" marB="36576">
                    <a:solidFill>
                      <a:srgbClr val="006455"/>
                    </a:solidFill>
                  </a:tcPr>
                </a:tc>
                <a:tc>
                  <a:txBody>
                    <a:bodyPr/>
                    <a:lstStyle/>
                    <a:p>
                      <a:pPr algn="ctr">
                        <a:defRPr b="1" sz="1100">
                          <a:solidFill>
                            <a:srgbClr val="FFFFFF"/>
                          </a:solidFill>
                          <a:latin typeface="Montserrat"/>
                        </a:defRPr>
                      </a:pPr>
                      <a:r>
                        <a:t>Voluntarios Rurales</a:t>
                      </a:r>
                    </a:p>
                  </a:txBody>
                  <a:tcPr marL="36576" marR="36576" marT="36576" marB="36576">
                    <a:solidFill>
                      <a:srgbClr val="006455"/>
                    </a:solidFill>
                  </a:tcPr>
                </a:tc>
                <a:tc>
                  <a:txBody>
                    <a:bodyPr/>
                    <a:lstStyle/>
                    <a:p>
                      <a:pPr algn="ctr">
                        <a:defRPr b="1" sz="1100">
                          <a:solidFill>
                            <a:srgbClr val="FFFFFF"/>
                          </a:solidFill>
                          <a:latin typeface="Montserrat"/>
                        </a:defRPr>
                      </a:pPr>
                      <a:r>
                        <a:t>Comités de Salud</a:t>
                      </a:r>
                    </a:p>
                  </a:txBody>
                  <a:tcPr marL="36576" marR="36576" marT="36576" marB="36576">
                    <a:solidFill>
                      <a:srgbClr val="006455"/>
                    </a:solidFill>
                  </a:tcPr>
                </a:tc>
                <a:tc>
                  <a:txBody>
                    <a:bodyPr/>
                    <a:lstStyle/>
                    <a:p>
                      <a:pPr algn="ctr">
                        <a:defRPr b="1" sz="1100">
                          <a:solidFill>
                            <a:srgbClr val="FFFFFF"/>
                          </a:solidFill>
                          <a:latin typeface="Montserrat"/>
                        </a:defRPr>
                      </a:pPr>
                      <a:r>
                        <a:t>Integrantes de Comités</a:t>
                      </a:r>
                    </a:p>
                  </a:txBody>
                  <a:tcPr marL="36576" marR="36576" marT="36576" marB="36576">
                    <a:solidFill>
                      <a:srgbClr val="006455"/>
                    </a:solidFill>
                  </a:tcPr>
                </a:tc>
                <a:tc>
                  <a:txBody>
                    <a:bodyPr/>
                    <a:lstStyle/>
                    <a:p>
                      <a:pPr algn="ctr">
                        <a:defRPr b="1" sz="1100">
                          <a:solidFill>
                            <a:srgbClr val="FFFFFF"/>
                          </a:solidFill>
                          <a:latin typeface="Montserrat"/>
                        </a:defRPr>
                      </a:pPr>
                      <a:r>
                        <a:t>Voluntarios</a:t>
                      </a:r>
                    </a:p>
                  </a:txBody>
                  <a:tcPr marL="36576" marR="36576" marT="36576" marB="36576">
                    <a:solidFill>
                      <a:srgbClr val="006455"/>
                    </a:solidFill>
                  </a:tcPr>
                </a:tc>
                <a:tc>
                  <a:txBody>
                    <a:bodyPr/>
                    <a:lstStyle/>
                    <a:p>
                      <a:pPr algn="ctr">
                        <a:defRPr b="1" sz="1100">
                          <a:solidFill>
                            <a:srgbClr val="FFFFFF"/>
                          </a:solidFill>
                          <a:latin typeface="Montserrat"/>
                        </a:defRPr>
                      </a:pPr>
                      <a:r>
                        <a:t>Parteras Voluntarias</a:t>
                      </a:r>
                    </a:p>
                  </a:txBody>
                  <a:tcPr marL="36576" marR="36576" marT="36576" marB="36576">
                    <a:solidFill>
                      <a:srgbClr val="006455"/>
                    </a:solidFill>
                  </a:tcPr>
                </a:tc>
                <a:tc>
                  <a:txBody>
                    <a:bodyPr/>
                    <a:lstStyle/>
                    <a:p>
                      <a:pPr algn="ctr">
                        <a:defRPr b="1" sz="1100">
                          <a:solidFill>
                            <a:srgbClr val="FFFFFF"/>
                          </a:solidFill>
                          <a:latin typeface="Montserrat"/>
                        </a:defRPr>
                      </a:pPr>
                      <a:r>
                        <a:t>Médicos Tradicionales</a:t>
                      </a:r>
                    </a:p>
                  </a:txBody>
                  <a:tcPr marL="36576" marR="36576" marT="36576" marB="36576">
                    <a:solidFill>
                      <a:srgbClr val="006455"/>
                    </a:solidFill>
                  </a:tcPr>
                </a:tc>
              </a:tr>
              <a:tr h="306324">
                <a:tc>
                  <a:txBody>
                    <a:bodyPr/>
                    <a:lstStyle/>
                    <a:p>
                      <a:pPr algn="l">
                        <a:defRPr b="1" sz="1000">
                          <a:solidFill>
                            <a:srgbClr val="006455"/>
                          </a:solidFill>
                          <a:latin typeface="Montserrat"/>
                        </a:defRPr>
                      </a:pPr>
                      <a:r>
                        <a:t>Total Programa</a:t>
                      </a:r>
                    </a:p>
                  </a:txBody>
                  <a:tcPr anchor="ctr" marL="73152" marR="73152" marT="0" marB="0">
                    <a:solidFill>
                      <a:srgbClr val="D3E9E7"/>
                    </a:solidFill>
                  </a:tcPr>
                </a:tc>
                <a:tc>
                  <a:txBody>
                    <a:bodyPr/>
                    <a:lstStyle/>
                    <a:p>
                      <a:pPr algn="ctr">
                        <a:defRPr b="1" sz="1000">
                          <a:solidFill>
                            <a:srgbClr val="006455"/>
                          </a:solidFill>
                          <a:latin typeface="Montserrat"/>
                        </a:defRPr>
                      </a:pPr>
                      <a:r>
                        <a:t>423</a:t>
                      </a:r>
                    </a:p>
                  </a:txBody>
                  <a:tcPr anchor="ctr" marL="73152" marR="73152" marT="0" marB="0">
                    <a:solidFill>
                      <a:srgbClr val="D3E9E7"/>
                    </a:solidFill>
                  </a:tcPr>
                </a:tc>
                <a:tc>
                  <a:txBody>
                    <a:bodyPr/>
                    <a:lstStyle/>
                    <a:p>
                      <a:pPr algn="ctr">
                        <a:defRPr b="1" sz="1000">
                          <a:solidFill>
                            <a:srgbClr val="006455"/>
                          </a:solidFill>
                          <a:latin typeface="Montserrat"/>
                        </a:defRPr>
                      </a:pPr>
                      <a:r>
                        <a:t>541</a:t>
                      </a:r>
                    </a:p>
                  </a:txBody>
                  <a:tcPr anchor="ctr" marL="73152" marR="73152" marT="0" marB="0">
                    <a:solidFill>
                      <a:srgbClr val="D3E9E7"/>
                    </a:solidFill>
                  </a:tcPr>
                </a:tc>
                <a:tc>
                  <a:txBody>
                    <a:bodyPr/>
                    <a:lstStyle/>
                    <a:p>
                      <a:pPr algn="ctr">
                        <a:defRPr b="1" sz="1000">
                          <a:solidFill>
                            <a:srgbClr val="006455"/>
                          </a:solidFill>
                          <a:latin typeface="Montserrat"/>
                        </a:defRPr>
                      </a:pPr>
                      <a:r>
                        <a:t>3,327</a:t>
                      </a:r>
                    </a:p>
                  </a:txBody>
                  <a:tcPr anchor="ctr" marL="73152" marR="73152" marT="0" marB="0">
                    <a:solidFill>
                      <a:srgbClr val="D3E9E7"/>
                    </a:solidFill>
                  </a:tcPr>
                </a:tc>
                <a:tc>
                  <a:txBody>
                    <a:bodyPr/>
                    <a:lstStyle/>
                    <a:p>
                      <a:pPr algn="ctr">
                        <a:defRPr b="1" sz="1000">
                          <a:solidFill>
                            <a:srgbClr val="006455"/>
                          </a:solidFill>
                          <a:latin typeface="Montserrat"/>
                        </a:defRPr>
                      </a:pPr>
                      <a:r>
                        <a:t>1,917</a:t>
                      </a:r>
                    </a:p>
                  </a:txBody>
                  <a:tcPr anchor="ctr" marL="73152" marR="73152" marT="0" marB="0">
                    <a:solidFill>
                      <a:srgbClr val="D3E9E7"/>
                    </a:solidFill>
                  </a:tcPr>
                </a:tc>
                <a:tc>
                  <a:txBody>
                    <a:bodyPr/>
                    <a:lstStyle/>
                    <a:p>
                      <a:pPr algn="ctr">
                        <a:defRPr b="1" sz="1000">
                          <a:solidFill>
                            <a:srgbClr val="006455"/>
                          </a:solidFill>
                          <a:latin typeface="Montserrat"/>
                        </a:defRPr>
                      </a:pPr>
                      <a:r>
                        <a:t>22</a:t>
                      </a:r>
                    </a:p>
                  </a:txBody>
                  <a:tcPr anchor="ctr" marL="73152" marR="73152" marT="0" marB="0">
                    <a:solidFill>
                      <a:srgbClr val="D3E9E7"/>
                    </a:solidFill>
                  </a:tcPr>
                </a:tc>
                <a:tc>
                  <a:txBody>
                    <a:bodyPr/>
                    <a:lstStyle/>
                    <a:p>
                      <a:pPr algn="ctr">
                        <a:defRPr b="1" sz="1000">
                          <a:solidFill>
                            <a:srgbClr val="006455"/>
                          </a:solidFill>
                          <a:latin typeface="Montserrat"/>
                        </a:defRPr>
                      </a:pPr>
                      <a:r>
                        <a:t>22</a:t>
                      </a:r>
                    </a:p>
                  </a:txBody>
                  <a:tcPr anchor="ctr" marL="73152" marR="73152" marT="0" marB="0">
                    <a:solidFill>
                      <a:srgbClr val="D3E9E7"/>
                    </a:solidFill>
                  </a:tcPr>
                </a:tc>
              </a:tr>
            </a:tbl>
          </a:graphicData>
        </a:graphic>
      </p:graphicFrame>
      <p:sp>
        <p:nvSpPr>
          <p:cNvPr id="537" name="Rounded Rectangle 536"/>
          <p:cNvSpPr/>
          <p:nvPr/>
        </p:nvSpPr>
        <p:spPr>
          <a:xfrm rot="16200000">
            <a:off x="5648400" y="-93600"/>
            <a:ext cx="7920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8" name="Connector 537"/>
          <p:cNvCxnSpPr/>
          <p:nvPr/>
        </p:nvCxnSpPr>
        <p:spPr>
          <a:xfrm>
            <a:off x="6213600" y="1353600"/>
            <a:ext cx="0" cy="5760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39" name="TextBox 538"/>
          <p:cNvSpPr txBox="1"/>
          <p:nvPr/>
        </p:nvSpPr>
        <p:spPr>
          <a:xfrm>
            <a:off x="4478400" y="1429200"/>
            <a:ext cx="1645200" cy="500399"/>
          </a:xfrm>
          <a:prstGeom prst="rect">
            <a:avLst/>
          </a:prstGeom>
          <a:noFill/>
        </p:spPr>
        <p:txBody>
          <a:bodyPr wrap="none">
            <a:spAutoFit/>
          </a:bodyPr>
          <a:lstStyle/>
          <a:p>
            <a:pPr algn="ctr">
              <a:defRPr b="1" sz="2000">
                <a:solidFill>
                  <a:srgbClr val="A08250"/>
                </a:solidFill>
                <a:latin typeface="Montserrat"/>
              </a:defRPr>
            </a:pPr>
            <a:r>
              <a:t>244,977</a:t>
            </a:r>
          </a:p>
          <a:p>
            <a:pPr algn="ctr">
              <a:defRPr sz="1000">
                <a:solidFill>
                  <a:srgbClr val="A08250"/>
                </a:solidFill>
                <a:latin typeface="Montserrat"/>
              </a:defRPr>
            </a:pPr>
            <a:r>
              <a:t>Población beneficiaria</a:t>
            </a:r>
          </a:p>
        </p:txBody>
      </p:sp>
      <p:sp>
        <p:nvSpPr>
          <p:cNvPr id="540" name="TextBox 539"/>
          <p:cNvSpPr txBox="1"/>
          <p:nvPr/>
        </p:nvSpPr>
        <p:spPr>
          <a:xfrm>
            <a:off x="6393600" y="1195200"/>
            <a:ext cx="1137600" cy="500399"/>
          </a:xfrm>
          <a:prstGeom prst="rect">
            <a:avLst/>
          </a:prstGeom>
          <a:noFill/>
        </p:spPr>
        <p:txBody>
          <a:bodyPr wrap="none">
            <a:spAutoFit/>
          </a:bodyPr>
          <a:lstStyle/>
          <a:p>
            <a:pPr algn="ctr">
              <a:defRPr b="1" sz="1500">
                <a:solidFill>
                  <a:srgbClr val="A08250"/>
                </a:solidFill>
                <a:latin typeface="Montserrat"/>
              </a:defRPr>
            </a:pPr>
            <a:r>
              <a:t>102,055</a:t>
            </a:r>
          </a:p>
          <a:p>
            <a:pPr algn="ctr">
              <a:defRPr sz="1000">
                <a:solidFill>
                  <a:srgbClr val="A08250"/>
                </a:solidFill>
                <a:latin typeface="Montserrat"/>
              </a:defRPr>
            </a:pPr>
            <a:r>
              <a:t>Derechohabiente</a:t>
            </a:r>
          </a:p>
        </p:txBody>
      </p:sp>
      <p:sp>
        <p:nvSpPr>
          <p:cNvPr id="541" name="TextBox 540"/>
          <p:cNvSpPr txBox="1"/>
          <p:nvPr/>
        </p:nvSpPr>
        <p:spPr>
          <a:xfrm>
            <a:off x="5443200" y="1602000"/>
            <a:ext cx="2998800" cy="370800"/>
          </a:xfrm>
          <a:prstGeom prst="rect">
            <a:avLst/>
          </a:prstGeom>
          <a:noFill/>
        </p:spPr>
        <p:txBody>
          <a:bodyPr wrap="none">
            <a:spAutoFit/>
          </a:bodyPr>
          <a:lstStyle/>
          <a:p>
            <a:pPr algn="ctr">
              <a:defRPr b="1" sz="1500">
                <a:solidFill>
                  <a:srgbClr val="A08250"/>
                </a:solidFill>
                <a:latin typeface="Montserrat"/>
              </a:defRPr>
            </a:pPr>
            <a:r>
              <a:t>142,922</a:t>
            </a:r>
          </a:p>
          <a:p>
            <a:pPr algn="ctr">
              <a:defRPr sz="1000">
                <a:solidFill>
                  <a:srgbClr val="A08250"/>
                </a:solidFill>
                <a:latin typeface="Montserrat"/>
              </a:defRPr>
            </a:pPr>
            <a:r>
              <a:t>Población abierta</a:t>
            </a:r>
          </a:p>
        </p:txBody>
      </p:sp>
      <p:sp>
        <p:nvSpPr>
          <p:cNvPr id="542" name="Rounded Rectangle 541"/>
          <p:cNvSpPr/>
          <p:nvPr/>
        </p:nvSpPr>
        <p:spPr>
          <a:xfrm rot="16200000">
            <a:off x="5652000" y="802800"/>
            <a:ext cx="7632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3" name="Connector 542"/>
          <p:cNvCxnSpPr/>
          <p:nvPr/>
        </p:nvCxnSpPr>
        <p:spPr>
          <a:xfrm>
            <a:off x="6213600" y="2224800"/>
            <a:ext cx="0" cy="5256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44" name="TextBox 543"/>
          <p:cNvSpPr txBox="1"/>
          <p:nvPr/>
        </p:nvSpPr>
        <p:spPr>
          <a:xfrm>
            <a:off x="4672800" y="2289600"/>
            <a:ext cx="1198800" cy="432000"/>
          </a:xfrm>
          <a:prstGeom prst="rect">
            <a:avLst/>
          </a:prstGeom>
          <a:noFill/>
        </p:spPr>
        <p:txBody>
          <a:bodyPr wrap="none">
            <a:spAutoFit/>
          </a:bodyPr>
          <a:lstStyle/>
          <a:p>
            <a:pPr algn="ctr">
              <a:defRPr sz="2000" b="1">
                <a:solidFill>
                  <a:srgbClr val="A08250"/>
                </a:solidFill>
                <a:latin typeface="Montserrat"/>
              </a:defRPr>
            </a:pPr>
            <a:r>
              <a:t>28</a:t>
            </a:r>
          </a:p>
        </p:txBody>
      </p:sp>
      <p:sp>
        <p:nvSpPr>
          <p:cNvPr id="545" name="TextBox 544"/>
          <p:cNvSpPr txBox="1"/>
          <p:nvPr/>
        </p:nvSpPr>
        <p:spPr>
          <a:xfrm>
            <a:off x="6501600" y="2163600"/>
            <a:ext cx="1007999" cy="500399"/>
          </a:xfrm>
          <a:prstGeom prst="rect">
            <a:avLst/>
          </a:prstGeom>
          <a:noFill/>
        </p:spPr>
        <p:txBody>
          <a:bodyPr wrap="square">
            <a:spAutoFit/>
          </a:bodyPr>
          <a:lstStyle/>
          <a:p>
            <a:pPr algn="ctr">
              <a:defRPr sz="1000" b="1">
                <a:solidFill>
                  <a:srgbClr val="A08250"/>
                </a:solidFill>
                <a:latin typeface="Montserrat"/>
              </a:defRPr>
            </a:pPr>
            <a:r>
              <a:t>Población en localidades indígenas</a:t>
            </a:r>
          </a:p>
        </p:txBody>
      </p:sp>
      <p:sp>
        <p:nvSpPr>
          <p:cNvPr id="546" name="Rounded Rectangle 545"/>
          <p:cNvSpPr/>
          <p:nvPr/>
        </p:nvSpPr>
        <p:spPr>
          <a:xfrm>
            <a:off x="5608800" y="32904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TextBox 546"/>
          <p:cNvSpPr txBox="1"/>
          <p:nvPr/>
        </p:nvSpPr>
        <p:spPr>
          <a:xfrm>
            <a:off x="5608800" y="3290400"/>
            <a:ext cx="2163600" cy="684000"/>
          </a:xfrm>
          <a:prstGeom prst="rect">
            <a:avLst/>
          </a:prstGeom>
          <a:noFill/>
        </p:spPr>
        <p:txBody>
          <a:bodyPr wrap="none">
            <a:spAutoFit/>
          </a:bodyPr>
          <a:lstStyle/>
          <a:p>
            <a:pPr algn="ctr">
              <a:defRPr b="1" sz="2600">
                <a:solidFill>
                  <a:srgbClr val="FFFFFF"/>
                </a:solidFill>
                <a:latin typeface="Montserrat"/>
              </a:defRPr>
            </a:pPr>
            <a:r>
              <a:t>255,125</a:t>
            </a:r>
          </a:p>
          <a:p>
            <a:pPr algn="ctr">
              <a:defRPr sz="1600">
                <a:solidFill>
                  <a:srgbClr val="CFC48C"/>
                </a:solidFill>
                <a:latin typeface="Montserrat"/>
              </a:defRPr>
            </a:pPr>
            <a:r>
              <a:t>consultas anuales</a:t>
            </a:r>
          </a:p>
        </p:txBody>
      </p:sp>
      <p:sp>
        <p:nvSpPr>
          <p:cNvPr id="548" name="Rounded Rectangle 547"/>
          <p:cNvSpPr/>
          <p:nvPr/>
        </p:nvSpPr>
        <p:spPr>
          <a:xfrm>
            <a:off x="5608800" y="42120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TextBox 548"/>
          <p:cNvSpPr txBox="1"/>
          <p:nvPr/>
        </p:nvSpPr>
        <p:spPr>
          <a:xfrm>
            <a:off x="5608800" y="4212000"/>
            <a:ext cx="2163600" cy="684000"/>
          </a:xfrm>
          <a:prstGeom prst="rect">
            <a:avLst/>
          </a:prstGeom>
          <a:noFill/>
        </p:spPr>
        <p:txBody>
          <a:bodyPr wrap="none">
            <a:spAutoFit/>
          </a:bodyPr>
          <a:lstStyle/>
          <a:p>
            <a:pPr algn="ctr">
              <a:defRPr b="1" sz="2600">
                <a:solidFill>
                  <a:srgbClr val="FFFFFF"/>
                </a:solidFill>
                <a:latin typeface="Montserrat"/>
              </a:defRPr>
            </a:pPr>
            <a:r>
              <a:t>1,601</a:t>
            </a:r>
          </a:p>
          <a:p>
            <a:pPr algn="ctr">
              <a:defRPr sz="1600">
                <a:solidFill>
                  <a:srgbClr val="CFC48C"/>
                </a:solidFill>
                <a:latin typeface="Montserrat"/>
              </a:defRPr>
            </a:pPr>
            <a:r>
              <a:t>cirugías anuales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3" name="TextBox 2"/>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4" name="Connector 3"/>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75600" y="1234800"/>
          <a:ext cx="7650000" cy="16128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IMSS-Coplamar</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HR Tula</a:t>
                      </a:r>
                    </a:p>
                  </a:txBody>
                  <a:tcPr anchor="ctr">
                    <a:solidFill>
                      <a:srgbClr val="FFFFFF"/>
                    </a:solidFill>
                  </a:tcPr>
                </a:tc>
                <a:tc>
                  <a:txBody>
                    <a:bodyPr/>
                    <a:lstStyle/>
                    <a:p>
                      <a:pPr algn="ctr">
                        <a:defRPr sz="900">
                          <a:latin typeface="Montserrat"/>
                        </a:defRPr>
                      </a:pPr>
                      <a:r>
                        <a:t>Mayo de 1974</a:t>
                      </a:r>
                    </a:p>
                  </a:txBody>
                  <a:tcPr anchor="ctr">
                    <a:solidFill>
                      <a:srgbClr val="FFFFFF"/>
                    </a:solidFill>
                  </a:tcPr>
                </a:tc>
                <a:tc>
                  <a:txBody>
                    <a:bodyPr/>
                    <a:lstStyle/>
                    <a:p>
                      <a:pPr algn="ctr">
                        <a:defRPr sz="900">
                          <a:latin typeface="Montserrat"/>
                        </a:defRPr>
                      </a:pPr>
                      <a:r>
                        <a:t>19</a:t>
                      </a:r>
                    </a:p>
                  </a:txBody>
                  <a:tcPr anchor="ctr">
                    <a:solidFill>
                      <a:srgbClr val="FFFFFF"/>
                    </a:solidFill>
                  </a:tcPr>
                </a:tc>
                <a:tc>
                  <a:txBody>
                    <a:bodyPr/>
                    <a:lstStyle/>
                    <a:p>
                      <a:pPr algn="ctr">
                        <a:defRPr sz="900">
                          <a:latin typeface="Montserrat"/>
                        </a:defRPr>
                      </a:pPr>
                      <a:r>
                        <a:t>16</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6</a:t>
                      </a:r>
                    </a:p>
                  </a:txBody>
                  <a:tcPr anchor="ctr">
                    <a:solidFill>
                      <a:srgbClr val="FFFFFF"/>
                    </a:solidFill>
                  </a:tcPr>
                </a:tc>
              </a:tr>
              <a:tr h="230400">
                <a:tc>
                  <a:txBody>
                    <a:bodyPr/>
                    <a:lstStyle/>
                    <a:p>
                      <a:pPr algn="l">
                        <a:defRPr sz="900">
                          <a:latin typeface="Montserrat"/>
                        </a:defRPr>
                      </a:pPr>
                      <a:r>
                        <a:t>HR Soto La Marina</a:t>
                      </a:r>
                    </a:p>
                  </a:txBody>
                  <a:tcPr anchor="ctr">
                    <a:solidFill>
                      <a:srgbClr val="EFEFEF"/>
                    </a:solidFill>
                  </a:tcPr>
                </a:tc>
                <a:tc>
                  <a:txBody>
                    <a:bodyPr/>
                    <a:lstStyle/>
                    <a:p>
                      <a:pPr algn="ctr">
                        <a:defRPr sz="900">
                          <a:latin typeface="Montserrat"/>
                        </a:defRPr>
                      </a:pPr>
                      <a:r>
                        <a:t>Octubre de 1982</a:t>
                      </a:r>
                    </a:p>
                  </a:txBody>
                  <a:tcPr anchor="ctr">
                    <a:solidFill>
                      <a:srgbClr val="EFEFEF"/>
                    </a:solidFill>
                  </a:tcPr>
                </a:tc>
                <a:tc>
                  <a:txBody>
                    <a:bodyPr/>
                    <a:lstStyle/>
                    <a:p>
                      <a:pPr algn="ctr">
                        <a:defRPr sz="900">
                          <a:latin typeface="Montserrat"/>
                        </a:defRPr>
                      </a:pPr>
                      <a:r>
                        <a:t>25</a:t>
                      </a:r>
                    </a:p>
                  </a:txBody>
                  <a:tcPr anchor="ctr">
                    <a:solidFill>
                      <a:srgbClr val="EFEFEF"/>
                    </a:solidFill>
                  </a:tcPr>
                </a:tc>
                <a:tc>
                  <a:txBody>
                    <a:bodyPr/>
                    <a:lstStyle/>
                    <a:p>
                      <a:pPr algn="ctr">
                        <a:defRPr sz="900">
                          <a:latin typeface="Montserrat"/>
                        </a:defRPr>
                      </a:pPr>
                      <a:r>
                        <a:t>9</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5</a:t>
                      </a:r>
                    </a:p>
                  </a:txBody>
                  <a:tcPr anchor="ctr">
                    <a:solidFill>
                      <a:srgbClr val="EFEFEF"/>
                    </a:solidFill>
                  </a:tcPr>
                </a:tc>
              </a:tr>
              <a:tr h="230400">
                <a:tc>
                  <a:txBody>
                    <a:bodyPr/>
                    <a:lstStyle/>
                    <a:p>
                      <a:pPr algn="l">
                        <a:defRPr sz="900">
                          <a:latin typeface="Montserrat"/>
                        </a:defRPr>
                      </a:pPr>
                      <a:r>
                        <a:t>HR Hidalgo</a:t>
                      </a:r>
                    </a:p>
                  </a:txBody>
                  <a:tcPr anchor="ctr">
                    <a:solidFill>
                      <a:srgbClr val="FFFFFF"/>
                    </a:solidFill>
                  </a:tcPr>
                </a:tc>
                <a:tc>
                  <a:txBody>
                    <a:bodyPr/>
                    <a:lstStyle/>
                    <a:p>
                      <a:pPr algn="ctr">
                        <a:defRPr sz="900">
                          <a:latin typeface="Montserrat"/>
                        </a:defRPr>
                      </a:pPr>
                      <a:r>
                        <a:t>Agosto de 2008</a:t>
                      </a:r>
                    </a:p>
                  </a:txBody>
                  <a:tcPr anchor="ctr">
                    <a:solidFill>
                      <a:srgbClr val="FFFFFF"/>
                    </a:solidFill>
                  </a:tcPr>
                </a:tc>
                <a:tc>
                  <a:txBody>
                    <a:bodyPr/>
                    <a:lstStyle/>
                    <a:p>
                      <a:pPr algn="ctr">
                        <a:defRPr sz="900">
                          <a:latin typeface="Montserrat"/>
                        </a:defRPr>
                      </a:pPr>
                      <a:r>
                        <a:t>34</a:t>
                      </a:r>
                    </a:p>
                  </a:txBody>
                  <a:tcPr anchor="ctr">
                    <a:solidFill>
                      <a:srgbClr val="FFFFFF"/>
                    </a:solidFill>
                  </a:tcPr>
                </a:tc>
                <a:tc>
                  <a:txBody>
                    <a:bodyPr/>
                    <a:lstStyle/>
                    <a:p>
                      <a:pPr algn="ctr">
                        <a:defRPr sz="900">
                          <a:latin typeface="Montserrat"/>
                        </a:defRPr>
                      </a:pPr>
                      <a:r>
                        <a:t>9</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4</a:t>
                      </a:r>
                    </a:p>
                  </a:txBody>
                  <a:tcPr anchor="ctr">
                    <a:solidFill>
                      <a:srgbClr val="FFFFFF"/>
                    </a:solidFill>
                  </a:tcPr>
                </a:tc>
              </a:tr>
              <a:tr h="230400">
                <a:tc>
                  <a:txBody>
                    <a:bodyPr/>
                    <a:lstStyle/>
                    <a:p>
                      <a:pPr algn="l">
                        <a:defRPr sz="900">
                          <a:latin typeface="Montserrat"/>
                        </a:defRPr>
                      </a:pPr>
                      <a:r>
                        <a:t>HR San Carlos</a:t>
                      </a:r>
                    </a:p>
                  </a:txBody>
                  <a:tcPr anchor="ctr">
                    <a:solidFill>
                      <a:srgbClr val="EFEFEF"/>
                    </a:solidFill>
                  </a:tcPr>
                </a:tc>
                <a:tc>
                  <a:txBody>
                    <a:bodyPr/>
                    <a:lstStyle/>
                    <a:p>
                      <a:pPr algn="ctr">
                        <a:defRPr sz="900">
                          <a:latin typeface="Montserrat"/>
                        </a:defRPr>
                      </a:pPr>
                      <a:r>
                        <a:t>Agosto de 2011</a:t>
                      </a:r>
                    </a:p>
                  </a:txBody>
                  <a:tcPr anchor="ctr">
                    <a:solidFill>
                      <a:srgbClr val="EFEFEF"/>
                    </a:solidFill>
                  </a:tcPr>
                </a:tc>
                <a:tc>
                  <a:txBody>
                    <a:bodyPr/>
                    <a:lstStyle/>
                    <a:p>
                      <a:pPr algn="ctr">
                        <a:defRPr sz="900">
                          <a:latin typeface="Montserrat"/>
                        </a:defRPr>
                      </a:pPr>
                      <a:r>
                        <a:t>11</a:t>
                      </a:r>
                    </a:p>
                  </a:txBody>
                  <a:tcPr anchor="ctr">
                    <a:solidFill>
                      <a:srgbClr val="EFEFEF"/>
                    </a:solidFill>
                  </a:tcPr>
                </a:tc>
                <a:tc>
                  <a:txBody>
                    <a:bodyPr/>
                    <a:lstStyle/>
                    <a:p>
                      <a:pPr algn="ctr">
                        <a:defRPr sz="900">
                          <a:latin typeface="Montserrat"/>
                        </a:defRPr>
                      </a:pPr>
                      <a:r>
                        <a:t>9</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4</a:t>
                      </a:r>
                    </a:p>
                  </a:txBody>
                  <a:tcPr anchor="ctr">
                    <a:solidFill>
                      <a:srgbClr val="EFEFE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89</a:t>
                      </a:r>
                    </a:p>
                  </a:txBody>
                  <a:tcPr anchor="ctr">
                    <a:solidFill>
                      <a:srgbClr val="D3E9E7"/>
                    </a:solidFill>
                  </a:tcPr>
                </a:tc>
                <a:tc>
                  <a:txBody>
                    <a:bodyPr/>
                    <a:lstStyle/>
                    <a:p>
                      <a:pPr algn="ctr">
                        <a:defRPr sz="900" b="1">
                          <a:solidFill>
                            <a:srgbClr val="006556"/>
                          </a:solidFill>
                          <a:latin typeface="Montserrat"/>
                        </a:defRPr>
                      </a:pPr>
                      <a:r>
                        <a:t>43</a:t>
                      </a:r>
                    </a:p>
                  </a:txBody>
                  <a:tcPr anchor="ctr">
                    <a:solidFill>
                      <a:srgbClr val="D3E9E7"/>
                    </a:solidFill>
                  </a:tcPr>
                </a:tc>
                <a:tc>
                  <a:txBody>
                    <a:bodyPr/>
                    <a:lstStyle/>
                    <a:p>
                      <a:pPr algn="ctr">
                        <a:defRPr sz="900" b="1">
                          <a:solidFill>
                            <a:srgbClr val="006556"/>
                          </a:solidFill>
                          <a:latin typeface="Montserrat"/>
                        </a:defRPr>
                      </a:pPr>
                      <a:r>
                        <a:t>0</a:t>
                      </a:r>
                    </a:p>
                  </a:txBody>
                  <a:tcPr anchor="ctr">
                    <a:solidFill>
                      <a:srgbClr val="D3E9E7"/>
                    </a:solidFill>
                  </a:tcPr>
                </a:tc>
                <a:tc>
                  <a:txBody>
                    <a:bodyPr/>
                    <a:lstStyle/>
                    <a:p>
                      <a:pPr algn="ctr">
                        <a:defRPr sz="900" b="1">
                          <a:solidFill>
                            <a:srgbClr val="006556"/>
                          </a:solidFill>
                          <a:latin typeface="Montserrat"/>
                        </a:defRPr>
                      </a:pPr>
                      <a:r>
                        <a:t>4</a:t>
                      </a:r>
                    </a:p>
                  </a:txBody>
                  <a:tcPr anchor="ctr">
                    <a:solidFill>
                      <a:srgbClr val="D3E9E7"/>
                    </a:solidFill>
                  </a:tcPr>
                </a:tc>
                <a:tc>
                  <a:txBody>
                    <a:bodyPr/>
                    <a:lstStyle/>
                    <a:p>
                      <a:pPr algn="ctr">
                        <a:defRPr sz="900" b="1">
                          <a:solidFill>
                            <a:srgbClr val="006556"/>
                          </a:solidFill>
                          <a:latin typeface="Montserrat"/>
                        </a:defRPr>
                      </a:pPr>
                      <a:r>
                        <a:t>19</a:t>
                      </a:r>
                    </a:p>
                  </a:txBody>
                  <a:tcPr anchor="ctr">
                    <a:solidFill>
                      <a:srgbClr val="D3E9E7"/>
                    </a:solidFill>
                  </a:tcPr>
                </a:tc>
              </a:tr>
              <a:tr h="230400">
                <a:tc gridSpan="2">
                  <a:txBody>
                    <a:bodyPr/>
                    <a:lstStyle/>
                    <a:p>
                      <a:pPr algn="ctr">
                        <a:defRPr sz="900" b="1">
                          <a:solidFill>
                            <a:srgbClr val="006556"/>
                          </a:solidFill>
                          <a:latin typeface="Montserrat"/>
                        </a:defRPr>
                      </a:pPr>
                      <a:r>
                        <a:t>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1,292</a:t>
                      </a:r>
                    </a:p>
                  </a:txBody>
                  <a:tcPr anchor="ctr">
                    <a:solidFill>
                      <a:srgbClr val="D3E9E7"/>
                    </a:solidFill>
                  </a:tcPr>
                </a:tc>
                <a:tc>
                  <a:txBody>
                    <a:bodyPr/>
                    <a:lstStyle/>
                    <a:p>
                      <a:pPr algn="ctr">
                        <a:defRPr sz="900" b="1">
                          <a:solidFill>
                            <a:srgbClr val="006556"/>
                          </a:solidFill>
                          <a:latin typeface="Montserrat"/>
                        </a:defRPr>
                      </a:pPr>
                      <a:r>
                        <a:t>582</a:t>
                      </a:r>
                    </a:p>
                  </a:txBody>
                  <a:tcPr anchor="ctr">
                    <a:solidFill>
                      <a:srgbClr val="D3E9E7"/>
                    </a:solidFill>
                  </a:tcPr>
                </a:tc>
                <a:tc>
                  <a:txBody>
                    <a:bodyPr/>
                    <a:lstStyle/>
                    <a:p>
                      <a:pPr algn="ctr">
                        <a:defRPr sz="900" b="1">
                          <a:solidFill>
                            <a:srgbClr val="006556"/>
                          </a:solidFill>
                          <a:latin typeface="Montserrat"/>
                        </a:defRPr>
                      </a:pPr>
                      <a:r>
                        <a:t>51</a:t>
                      </a:r>
                    </a:p>
                  </a:txBody>
                  <a:tcPr anchor="ctr">
                    <a:solidFill>
                      <a:srgbClr val="D3E9E7"/>
                    </a:solidFill>
                  </a:tcPr>
                </a:tc>
                <a:tc>
                  <a:txBody>
                    <a:bodyPr/>
                    <a:lstStyle/>
                    <a:p>
                      <a:pPr algn="ctr">
                        <a:defRPr sz="900" b="1">
                          <a:solidFill>
                            <a:srgbClr val="006556"/>
                          </a:solidFill>
                          <a:latin typeface="Montserrat"/>
                        </a:defRPr>
                      </a:pPr>
                      <a:r>
                        <a:t>40</a:t>
                      </a:r>
                    </a:p>
                  </a:txBody>
                  <a:tcPr anchor="ctr">
                    <a:solidFill>
                      <a:srgbClr val="D3E9E7"/>
                    </a:solidFill>
                  </a:tcPr>
                </a:tc>
                <a:tc>
                  <a:txBody>
                    <a:bodyPr/>
                    <a:lstStyle/>
                    <a:p>
                      <a:pPr algn="ctr">
                        <a:defRPr sz="900" b="1">
                          <a:solidFill>
                            <a:srgbClr val="006556"/>
                          </a:solidFill>
                          <a:latin typeface="Montserrat"/>
                        </a:defRPr>
                      </a:pPr>
                      <a:r>
                        <a:t>197</a:t>
                      </a:r>
                    </a:p>
                  </a:txBody>
                  <a:tcPr anchor="ctr">
                    <a:solidFill>
                      <a:srgbClr val="D3E9E7"/>
                    </a:solidFill>
                  </a:tcPr>
                </a:tc>
              </a:tr>
            </a:tbl>
          </a:graphicData>
        </a:graphic>
      </p:graphicFrame>
      <p:sp>
        <p:nvSpPr>
          <p:cNvPr id="6" name="TextBox 5"/>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Corte de Información: marzo de 2026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299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111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Hospital General de Zona 11</a:t>
                      </a:r>
                    </a:p>
                  </a:txBody>
                  <a:tcPr anchor="ctr">
                    <a:no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Otorrinolaringología y Cirugía de Cabeza y Cuello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Psiquiatría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14</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237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0">
                  <a:txBody>
                    <a:bodyPr/>
                    <a:lstStyle/>
                    <a:p>
                      <a:pPr algn="ctr">
                        <a:defRPr sz="800" b="1">
                          <a:solidFill>
                            <a:srgbClr val="000000"/>
                          </a:solidFill>
                          <a:latin typeface="Montserrat"/>
                        </a:defRPr>
                      </a:pPr>
                      <a:r>
                        <a:t>Hospital General de Zona 13</a:t>
                      </a:r>
                    </a:p>
                  </a:txBody>
                  <a:tcPr anchor="ctr">
                    <a:no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Nefrología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Neonatología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11</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4485599"/>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Hospital General de Zona 15</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Gastroenterología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8</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4485599"/>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Hospital General de Zona C/MF 1</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6393598"/>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Hospital General de Zona C/MF 3</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63935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Rural Cd Hidalgo</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3" name="Table 12"/>
          <p:cNvGraphicFramePr>
            <a:graphicFrameLocks noGrp="1"/>
          </p:cNvGraphicFramePr>
          <p:nvPr/>
        </p:nvGraphicFramePr>
        <p:xfrm>
          <a:off x="360000" y="77975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Rural San Carlos</a:t>
                      </a:r>
                    </a:p>
                  </a:txBody>
                  <a:tcPr anchor="ctr">
                    <a:no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4" name="Table 13"/>
          <p:cNvGraphicFramePr>
            <a:graphicFrameLocks noGrp="1"/>
          </p:cNvGraphicFramePr>
          <p:nvPr/>
        </p:nvGraphicFramePr>
        <p:xfrm>
          <a:off x="3960000" y="7797598"/>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Rural Soto la Marina</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10</a:t>
                      </a:r>
                    </a:p>
                  </a:txBody>
                  <a:tcPr>
                    <a:solidFill>
                      <a:srgbClr val="D3E9E7"/>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299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111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Rural Tula</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tr>
            </a:tbl>
          </a:graphicData>
        </a:graphic>
      </p:graphicFrame>
      <p:sp>
        <p:nvSpPr>
          <p:cNvPr id="8" name="TextBox 7"/>
          <p:cNvSpPr txBox="1"/>
          <p:nvPr/>
        </p:nvSpPr>
        <p:spPr>
          <a:xfrm>
            <a:off x="360000" y="2901599"/>
            <a:ext cx="6840000" cy="360000"/>
          </a:xfrm>
          <a:prstGeom prst="rect">
            <a:avLst/>
          </a:prstGeom>
          <a:noFill/>
        </p:spPr>
        <p:txBody>
          <a:bodyPr wrap="none" anchor="ctr">
            <a:spAutoFit/>
          </a:bodyPr>
          <a:lstStyle/>
          <a:p>
            <a:pPr algn="l">
              <a:defRPr sz="2000" b="1">
                <a:solidFill>
                  <a:srgbClr val="BC955C"/>
                </a:solidFill>
                <a:latin typeface="Montserrat"/>
              </a:defRPr>
            </a:pPr>
            <a:r>
              <a:t>3 Sede delegacional</a:t>
            </a:r>
          </a:p>
        </p:txBody>
      </p:sp>
      <p:cxnSp>
        <p:nvCxnSpPr>
          <p:cNvPr id="9" name="Connector 8"/>
          <p:cNvCxnSpPr/>
          <p:nvPr/>
        </p:nvCxnSpPr>
        <p:spPr>
          <a:xfrm>
            <a:off x="360000" y="3297599"/>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360000" y="33695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Sede Delegación</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sp>
        <p:nvSpPr>
          <p:cNvPr id="11" name="TextBox 10"/>
          <p:cNvSpPr txBox="1"/>
          <p:nvPr/>
        </p:nvSpPr>
        <p:spPr>
          <a:xfrm>
            <a:off x="360000" y="4701598"/>
            <a:ext cx="6840000" cy="360000"/>
          </a:xfrm>
          <a:prstGeom prst="rect">
            <a:avLst/>
          </a:prstGeom>
          <a:noFill/>
        </p:spPr>
        <p:txBody>
          <a:bodyPr wrap="none" anchor="ctr">
            <a:spAutoFit/>
          </a:bodyPr>
          <a:lstStyle/>
          <a:p>
            <a:pPr algn="l">
              <a:defRPr sz="2000" b="1">
                <a:solidFill>
                  <a:srgbClr val="BC955C"/>
                </a:solidFill>
                <a:latin typeface="Montserrat"/>
              </a:defRPr>
            </a:pPr>
            <a:r>
              <a:t>26 en Unidades de Medicina Familiar</a:t>
            </a:r>
          </a:p>
        </p:txBody>
      </p:sp>
      <p:cxnSp>
        <p:nvCxnSpPr>
          <p:cNvPr id="12" name="Connector 11"/>
          <p:cNvCxnSpPr/>
          <p:nvPr/>
        </p:nvCxnSpPr>
        <p:spPr>
          <a:xfrm>
            <a:off x="360000" y="5097598"/>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3" name="Table 12"/>
          <p:cNvGraphicFramePr>
            <a:graphicFrameLocks noGrp="1"/>
          </p:cNvGraphicFramePr>
          <p:nvPr/>
        </p:nvGraphicFramePr>
        <p:xfrm>
          <a:off x="360000" y="51695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16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4" name="Table 13"/>
          <p:cNvGraphicFramePr>
            <a:graphicFrameLocks noGrp="1"/>
          </p:cNvGraphicFramePr>
          <p:nvPr/>
        </p:nvGraphicFramePr>
        <p:xfrm>
          <a:off x="3960000" y="5169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5" name="Table 14"/>
          <p:cNvGraphicFramePr>
            <a:graphicFrameLocks noGrp="1"/>
          </p:cNvGraphicFramePr>
          <p:nvPr/>
        </p:nvGraphicFramePr>
        <p:xfrm>
          <a:off x="360000" y="6321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36</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6" name="Table 15"/>
          <p:cNvGraphicFramePr>
            <a:graphicFrameLocks noGrp="1"/>
          </p:cNvGraphicFramePr>
          <p:nvPr/>
        </p:nvGraphicFramePr>
        <p:xfrm>
          <a:off x="3960000" y="6321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7" name="Table 16"/>
          <p:cNvGraphicFramePr>
            <a:graphicFrameLocks noGrp="1"/>
          </p:cNvGraphicFramePr>
          <p:nvPr/>
        </p:nvGraphicFramePr>
        <p:xfrm>
          <a:off x="360000" y="7221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40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8" name="Table 17"/>
          <p:cNvGraphicFramePr>
            <a:graphicFrameLocks noGrp="1"/>
          </p:cNvGraphicFramePr>
          <p:nvPr/>
        </p:nvGraphicFramePr>
        <p:xfrm>
          <a:off x="3960000" y="7221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67</a:t>
                      </a:r>
                    </a:p>
                  </a:txBody>
                  <a:tcPr anchor="ctr">
                    <a:no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9" name="Table 18"/>
          <p:cNvGraphicFramePr>
            <a:graphicFrameLocks noGrp="1"/>
          </p:cNvGraphicFramePr>
          <p:nvPr/>
        </p:nvGraphicFramePr>
        <p:xfrm>
          <a:off x="360000" y="8121595"/>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7</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20" name="Table 19"/>
          <p:cNvGraphicFramePr>
            <a:graphicFrameLocks noGrp="1"/>
          </p:cNvGraphicFramePr>
          <p:nvPr/>
        </p:nvGraphicFramePr>
        <p:xfrm>
          <a:off x="3960000" y="8121595"/>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Unidad de Medicina Familiar 78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10</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12</a:t>
                      </a:r>
                    </a:p>
                  </a:txBody>
                  <a:tcPr>
                    <a:solidFill>
                      <a:srgbClr val="D3E9E7"/>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299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26 en Unidades de Medicina Familiar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C/UMAA 39</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C/UMAA 76</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sp>
        <p:nvSpPr>
          <p:cNvPr id="9" name="TextBox 8"/>
          <p:cNvSpPr txBox="1"/>
          <p:nvPr/>
        </p:nvSpPr>
        <p:spPr>
          <a:xfrm>
            <a:off x="360000" y="2901599"/>
            <a:ext cx="6840000" cy="360000"/>
          </a:xfrm>
          <a:prstGeom prst="rect">
            <a:avLst/>
          </a:prstGeom>
          <a:noFill/>
        </p:spPr>
        <p:txBody>
          <a:bodyPr wrap="none" anchor="ctr">
            <a:spAutoFit/>
          </a:bodyPr>
          <a:lstStyle/>
          <a:p>
            <a:pPr algn="l">
              <a:defRPr sz="2000" b="1">
                <a:solidFill>
                  <a:srgbClr val="BC955C"/>
                </a:solidFill>
                <a:latin typeface="Montserrat"/>
              </a:defRPr>
            </a:pPr>
            <a:r>
              <a:t>159 especialistas (sustitutos)</a:t>
            </a:r>
          </a:p>
        </p:txBody>
      </p:sp>
      <p:cxnSp>
        <p:nvCxnSpPr>
          <p:cNvPr id="10" name="Connector 9"/>
          <p:cNvCxnSpPr/>
          <p:nvPr/>
        </p:nvCxnSpPr>
        <p:spPr>
          <a:xfrm>
            <a:off x="360000" y="3297599"/>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1" name="Table 10"/>
          <p:cNvGraphicFramePr>
            <a:graphicFrameLocks noGrp="1"/>
          </p:cNvGraphicFramePr>
          <p:nvPr/>
        </p:nvGraphicFramePr>
        <p:xfrm>
          <a:off x="360000" y="3369599"/>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Sustitución 8 (Parte 1)</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13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17</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Epidemiología</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16</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Hematología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8</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30</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bl>
          </a:graphicData>
        </a:graphic>
      </p:graphicFrame>
      <p:graphicFrame>
        <p:nvGraphicFramePr>
          <p:cNvPr id="12" name="Table 11"/>
          <p:cNvGraphicFramePr>
            <a:graphicFrameLocks noGrp="1"/>
          </p:cNvGraphicFramePr>
          <p:nvPr/>
        </p:nvGraphicFramePr>
        <p:xfrm>
          <a:off x="3960000" y="3369599"/>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Sustitución 8 (Parte 2)</a:t>
                      </a:r>
                    </a:p>
                  </a:txBody>
                  <a:tcPr anchor="ctr">
                    <a:noFill/>
                  </a:tcPr>
                </a:tc>
                <a:tc>
                  <a:txBody>
                    <a:bodyPr/>
                    <a:lstStyle/>
                    <a:p>
                      <a:pPr algn="ctr">
                        <a:defRPr sz="800" b="0">
                          <a:solidFill>
                            <a:srgbClr val="000000"/>
                          </a:solidFill>
                          <a:latin typeface="Montserrat"/>
                        </a:defRPr>
                      </a:pPr>
                      <a:r>
                        <a:t>Neumología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14</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Psiquiatría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12</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159</a:t>
                      </a:r>
                    </a:p>
                  </a:txBody>
                  <a:tcPr>
                    <a:solidFill>
                      <a:srgbClr val="D3E9E7"/>
                    </a:solidFill>
                  </a:tcPr>
                </a:tc>
              </a:tr>
            </a:tbl>
          </a:graphicData>
        </a:graphic>
      </p:graphicFrame>
      <p:sp>
        <p:nvSpPr>
          <p:cNvPr id="13" name="TextBox 12"/>
          <p:cNvSpPr txBox="1"/>
          <p:nvPr/>
        </p:nvSpPr>
        <p:spPr>
          <a:xfrm>
            <a:off x="270000" y="8445598"/>
            <a:ext cx="7200000" cy="540000"/>
          </a:xfrm>
          <a:prstGeom prst="rect">
            <a:avLst/>
          </a:prstGeom>
          <a:noFill/>
        </p:spPr>
        <p:txBody>
          <a:bodyPr wrap="square">
            <a:spAutoFit/>
          </a:bodyPr>
          <a:lstStyle/>
          <a:p>
            <a:pPr algn="l">
              <a:defRPr sz="1000">
                <a:solidFill>
                  <a:srgbClr val="000000"/>
                </a:solidFill>
                <a:latin typeface="Montserrat"/>
              </a:defRPr>
            </a:pPr>
            <a:r>
              <a:t>Sustitutos se integran a los Listados de Bolsa de Trabajo, para cubrir las futuras vacantes por jubilación, renuncia, fallecimiento, etc., así como ausentismo programado y no programado.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350100">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350100">
                <a:tc>
                  <a:txBody>
                    <a:bodyPr/>
                    <a:lstStyle/>
                    <a:p>
                      <a:pPr algn="l">
                        <a:defRPr sz="1100" b="0">
                          <a:solidFill>
                            <a:srgbClr val="000000"/>
                          </a:solidFill>
                          <a:latin typeface="Montserrat"/>
                        </a:defRPr>
                      </a:pPr>
                      <a:r>
                        <a:t>Endocrinología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96.9%</a:t>
                      </a:r>
                    </a:p>
                  </a:txBody>
                  <a:tcPr anchor="ctr" marL="45720" marR="45720" marT="45720" marB="45720">
                    <a:solidFill>
                      <a:srgbClr val="D9D9D9"/>
                    </a:solidFill>
                  </a:tcPr>
                </a:tc>
              </a:tr>
              <a:tr h="350100">
                <a:tc>
                  <a:txBody>
                    <a:bodyPr/>
                    <a:lstStyle/>
                    <a:p>
                      <a:pPr algn="l">
                        <a:defRPr sz="1100" b="0">
                          <a:solidFill>
                            <a:srgbClr val="000000"/>
                          </a:solidFill>
                          <a:latin typeface="Montserrat"/>
                        </a:defRPr>
                      </a:pPr>
                      <a:r>
                        <a:t>Gastroenterología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97.3%</a:t>
                      </a:r>
                    </a:p>
                  </a:txBody>
                  <a:tcPr anchor="ctr" marL="45720" marR="45720" marT="45720" marB="45720">
                    <a:solidFill>
                      <a:srgbClr val="FFFFFF"/>
                    </a:solidFill>
                  </a:tcPr>
                </a:tc>
              </a:tr>
              <a:tr h="350100">
                <a:tc>
                  <a:txBody>
                    <a:bodyPr/>
                    <a:lstStyle/>
                    <a:p>
                      <a:pPr algn="l">
                        <a:defRPr sz="1100" b="0">
                          <a:solidFill>
                            <a:srgbClr val="000000"/>
                          </a:solidFill>
                          <a:latin typeface="Montserrat"/>
                        </a:defRPr>
                      </a:pPr>
                      <a:r>
                        <a:t>Hemodinamia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97.6%</a:t>
                      </a:r>
                    </a:p>
                  </a:txBody>
                  <a:tcPr anchor="ctr" marL="45720" marR="45720" marT="45720" marB="45720">
                    <a:solidFill>
                      <a:srgbClr val="D9D9D9"/>
                    </a:solidFill>
                  </a:tcPr>
                </a:tc>
              </a:tr>
              <a:tr h="350100">
                <a:tc>
                  <a:txBody>
                    <a:bodyPr/>
                    <a:lstStyle/>
                    <a:p>
                      <a:pPr algn="l">
                        <a:defRPr sz="1100" b="0">
                          <a:solidFill>
                            <a:srgbClr val="000000"/>
                          </a:solidFill>
                          <a:latin typeface="Montserrat"/>
                        </a:defRPr>
                      </a:pPr>
                      <a:r>
                        <a:t>Neumología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97.9%</a:t>
                      </a:r>
                    </a:p>
                  </a:txBody>
                  <a:tcPr anchor="ctr" marL="45720" marR="45720" marT="45720" marB="45720">
                    <a:solidFill>
                      <a:srgbClr val="FFFFFF"/>
                    </a:solidFill>
                  </a:tcPr>
                </a:tc>
              </a:tr>
              <a:tr h="350100">
                <a:tc>
                  <a:txBody>
                    <a:bodyPr/>
                    <a:lstStyle/>
                    <a:p>
                      <a:pPr algn="l">
                        <a:defRPr sz="1100" b="0">
                          <a:solidFill>
                            <a:srgbClr val="000000"/>
                          </a:solidFill>
                          <a:latin typeface="Montserrat"/>
                        </a:defRPr>
                      </a:pPr>
                      <a:r>
                        <a:t>Neonatología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98.3%</a:t>
                      </a:r>
                    </a:p>
                  </a:txBody>
                  <a:tcPr anchor="ctr" marL="45720" marR="45720" marT="45720" marB="45720">
                    <a:solidFill>
                      <a:srgbClr val="D9D9D9"/>
                    </a:solidFill>
                  </a:tcPr>
                </a:tc>
              </a:tr>
              <a:tr h="350100">
                <a:tc>
                  <a:txBody>
                    <a:bodyPr/>
                    <a:lstStyle/>
                    <a:p>
                      <a:pPr algn="l">
                        <a:defRPr sz="1100" b="0">
                          <a:solidFill>
                            <a:srgbClr val="000000"/>
                          </a:solidFill>
                          <a:latin typeface="Montserrat"/>
                        </a:defRPr>
                      </a:pPr>
                      <a:r>
                        <a:t>Nefrología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98.6%</a:t>
                      </a:r>
                    </a:p>
                  </a:txBody>
                  <a:tcPr anchor="ctr" marL="45720" marR="45720" marT="45720" marB="45720">
                    <a:solidFill>
                      <a:srgbClr val="FFFFFF"/>
                    </a:solidFill>
                  </a:tcPr>
                </a:tc>
              </a:tr>
              <a:tr h="350100">
                <a:tc>
                  <a:txBody>
                    <a:bodyPr/>
                    <a:lstStyle/>
                    <a:p>
                      <a:pPr algn="l">
                        <a:defRPr sz="1100" b="0">
                          <a:solidFill>
                            <a:srgbClr val="000000"/>
                          </a:solidFill>
                          <a:latin typeface="Montserrat"/>
                        </a:defRPr>
                      </a:pPr>
                      <a:r>
                        <a:t>Neurología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98.9%</a:t>
                      </a:r>
                    </a:p>
                  </a:txBody>
                  <a:tcPr anchor="ctr" marL="45720" marR="45720" marT="45720" marB="45720">
                    <a:solidFill>
                      <a:srgbClr val="D9D9D9"/>
                    </a:solidFill>
                  </a:tcPr>
                </a:tc>
              </a:tr>
              <a:tr h="350100">
                <a:tc>
                  <a:txBody>
                    <a:bodyPr/>
                    <a:lstStyle/>
                    <a:p>
                      <a:pPr algn="l">
                        <a:defRPr sz="1100" b="0">
                          <a:solidFill>
                            <a:srgbClr val="000000"/>
                          </a:solidFill>
                          <a:latin typeface="Montserrat"/>
                        </a:defRPr>
                      </a:pPr>
                      <a:r>
                        <a:t>Neurología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99.3%</a:t>
                      </a:r>
                    </a:p>
                  </a:txBody>
                  <a:tcPr anchor="ctr" marL="45720" marR="45720" marT="45720" marB="45720">
                    <a:solidFill>
                      <a:srgbClr val="FFFFFF"/>
                    </a:solidFill>
                  </a:tcPr>
                </a:tc>
              </a:tr>
              <a:tr h="350100">
                <a:tc>
                  <a:txBody>
                    <a:bodyPr/>
                    <a:lstStyle/>
                    <a:p>
                      <a:pPr algn="l">
                        <a:defRPr sz="1100" b="0">
                          <a:solidFill>
                            <a:srgbClr val="000000"/>
                          </a:solidFill>
                          <a:latin typeface="Montserrat"/>
                        </a:defRPr>
                      </a:pPr>
                      <a:r>
                        <a:t>Servicios de Sangre</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99.6%</a:t>
                      </a:r>
                    </a:p>
                  </a:txBody>
                  <a:tcPr anchor="ctr" marL="45720" marR="45720" marT="45720" marB="45720">
                    <a:solidFill>
                      <a:srgbClr val="D9D9D9"/>
                    </a:solidFill>
                  </a:tcPr>
                </a:tc>
              </a:tr>
              <a:tr h="350100">
                <a:tc>
                  <a:txBody>
                    <a:bodyPr/>
                    <a:lstStyle/>
                    <a:p>
                      <a:pPr algn="l">
                        <a:defRPr sz="1100" b="0">
                          <a:solidFill>
                            <a:srgbClr val="000000"/>
                          </a:solidFill>
                          <a:latin typeface="Montserrat"/>
                        </a:defRPr>
                      </a:pPr>
                      <a:r>
                        <a:t>Urología Ginecológica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99.9%</a:t>
                      </a:r>
                    </a:p>
                  </a:txBody>
                  <a:tcPr anchor="ctr" marL="45720" marR="45720" marT="45720" marB="45720">
                    <a:solidFill>
                      <a:srgbClr val="FFFFFF"/>
                    </a:solidFill>
                  </a:tcPr>
                </a:tc>
              </a:tr>
              <a:tr h="350100">
                <a:tc>
                  <a:txBody>
                    <a:bodyPr/>
                    <a:lstStyle/>
                    <a:p>
                      <a:pPr algn="l">
                        <a:defRPr sz="1100" b="1">
                          <a:solidFill>
                            <a:srgbClr val="006455"/>
                          </a:solidFill>
                          <a:latin typeface="Montserrat"/>
                        </a:defRPr>
                      </a:pPr>
                      <a:r>
                        <a:t>Total</a:t>
                      </a:r>
                    </a:p>
                  </a:txBody>
                  <a:tcPr anchor="ctr" marL="45720" marR="45720" marT="45720" marB="45720">
                    <a:solidFill>
                      <a:srgbClr val="CBE6E1"/>
                    </a:solidFill>
                  </a:tcPr>
                </a:tc>
                <a:tc>
                  <a:txBody>
                    <a:bodyPr/>
                    <a:lstStyle/>
                    <a:p>
                      <a:pPr algn="ctr">
                        <a:defRPr sz="1100" b="1">
                          <a:solidFill>
                            <a:srgbClr val="006455"/>
                          </a:solidFill>
                          <a:latin typeface="Montserrat"/>
                        </a:defRPr>
                      </a:pPr>
                      <a:r>
                        <a:t>299</a:t>
                      </a:r>
                    </a:p>
                  </a:txBody>
                  <a:tcPr anchor="ctr" marL="45720" marR="45720" marT="45720" marB="45720">
                    <a:solidFill>
                      <a:srgbClr val="CBE6E1"/>
                    </a:solidFill>
                  </a:tcPr>
                </a:tc>
                <a:tc>
                  <a:txBody>
                    <a:bodyPr/>
                    <a:lstStyle/>
                    <a:p>
                      <a:pPr algn="ctr">
                        <a:defRPr sz="1100" b="1">
                          <a:solidFill>
                            <a:srgbClr val="006455"/>
                          </a:solidFill>
                          <a:latin typeface="Montserrat"/>
                        </a:defRPr>
                      </a:pPr>
                      <a:r>
                        <a:t>100.0%</a:t>
                      </a:r>
                    </a:p>
                  </a:txBody>
                  <a:tcPr anchor="ctr" marL="45720" marR="45720" marT="45720" marB="45720">
                    <a:solidFill>
                      <a:srgbClr val="CBE6E1"/>
                    </a:solidFill>
                  </a:tcPr>
                </a:tc>
              </a:tr>
            </a:tbl>
          </a:graphicData>
        </a:graphic>
      </p:graphicFrame>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8e6078-b6a6-4e37-b77a-f467d32c54e5}" enabled="0" method="" siteId="{b08e6078-b6a6-4e37-b77a-f467d32c54e5}" removed="1"/>
</clbl:labelList>
</file>

<file path=docProps/app.xml><?xml version="1.0" encoding="utf-8"?>
<Properties xmlns="http://schemas.openxmlformats.org/officeDocument/2006/extended-properties" xmlns:vt="http://schemas.openxmlformats.org/officeDocument/2006/docPropsVTypes">
  <TotalTime>389</TotalTime>
  <Words>407</Words>
  <Application>Microsoft Office PowerPoint</Application>
  <PresentationFormat>Personalizado</PresentationFormat>
  <Paragraphs>94</Paragraphs>
  <Slides>25</Slides>
  <Notes>22</Notes>
  <HiddenSlides>0</HiddenSlides>
  <MMClips>0</MMClips>
  <ScaleCrop>false</ScaleCrop>
  <HeadingPairs>
    <vt:vector size="4" baseType="variant">
      <vt:variant>
        <vt:lpstr>Tema</vt:lpstr>
      </vt:variant>
      <vt:variant>
        <vt:i4>1</vt:i4>
      </vt:variant>
      <vt:variant>
        <vt:lpstr>Títulos de diapositiva</vt:lpstr>
      </vt:variant>
      <vt:variant>
        <vt:i4>25</vt:i4>
      </vt:variant>
    </vt:vector>
  </HeadingPairs>
  <TitlesOfParts>
    <vt:vector size="26" baseType="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Guillermo Martinez Flores</dc:creator>
  <cp:lastModifiedBy>Carlos Esponda Rosales</cp:lastModifiedBy>
  <cp:revision>111</cp:revision>
  <dcterms:modified xsi:type="dcterms:W3CDTF">2026-05-13T00:00:38Z</dcterms:modified>
</cp:coreProperties>
</file>