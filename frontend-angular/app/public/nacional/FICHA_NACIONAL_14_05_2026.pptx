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3" r:id="rId2"/>
  </p:sldMasterIdLst>
  <p:notesMasterIdLst>
    <p:notesMasterId r:id="rId39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65" r:id="rId12"/>
    <p:sldId id="26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75" r:id="rId22"/>
    <p:sldId id="276" r:id="rId23"/>
    <p:sldId id="277" r:id="rId24"/>
    <p:sldId id="278" r:id="rId25"/>
    <p:sldId id="279" r:id="rId26"/>
    <p:sldId id="280" r:id="rId27"/>
    <p:sldId id="295" r:id="rId28"/>
    <p:sldId id="282" r:id="rId29"/>
    <p:sldId id="283" r:id="rId30"/>
    <p:sldId id="284" r:id="rId31"/>
    <p:sldId id="285" r:id="rId32"/>
    <p:sldId id="286" r:id="rId33"/>
    <p:sldId id="296" r:id="rId34"/>
    <p:sldId id="297" r:id="rId35"/>
    <p:sldId id="298" r:id="rId36"/>
    <p:sldId id="299" r:id="rId37"/>
    <p:sldId id="300" r:id="rId38"/>
  </p:sldIdLst>
  <p:sldSz cx="7772400" cy="10058400"/>
  <p:notesSz cx="6858000" cy="9144000"/>
  <p:embeddedFontLst>
    <p:embeddedFont>
      <p:font typeface="Montserrat" pitchFamily="2" charset="77"/>
      <p:regular r:id="rId40"/>
      <p:bold r:id="rId41"/>
      <p:italic r:id="rId42"/>
      <p:boldItalic r:id="rId43"/>
    </p:embeddedFont>
    <p:embeddedFont>
      <p:font typeface="Montserrat Black" pitchFamily="2" charset="77"/>
      <p:bold r:id="rId44"/>
      <p:boldItalic r:id="rId45"/>
    </p:embeddedFont>
    <p:embeddedFont>
      <p:font typeface="Montserrat ExtraBold" pitchFamily="2" charset="77"/>
      <p:regular r:id="rId46"/>
      <p:bold r:id="rId47"/>
      <p:italic r:id="rId48"/>
      <p:boldItalic r:id="rId49"/>
    </p:embeddedFont>
    <p:embeddedFont>
      <p:font typeface="Montserrat Medium" pitchFamily="2" charset="77"/>
      <p:regular r:id="rId50"/>
      <p:italic r:id="rId51"/>
    </p:embeddedFont>
    <p:embeddedFont>
      <p:font typeface="Noto Sans" panose="020B0502040504020204" pitchFamily="34" charset="0"/>
      <p:regular r:id="rId52"/>
      <p:bold r:id="rId53"/>
      <p:italic r:id="rId54"/>
      <p:boldItalic r:id="rId55"/>
    </p:embeddedFont>
    <p:embeddedFont>
      <p:font typeface="Noto Sans Black" panose="020B0502040504020204" pitchFamily="34" charset="0"/>
      <p:bold r:id="rId56"/>
    </p:embeddedFont>
    <p:embeddedFont>
      <p:font typeface="Noto Sans Light" panose="020B0502040504020204" pitchFamily="34" charset="0"/>
      <p:regular r:id="rId57"/>
    </p:embeddedFont>
    <p:embeddedFont>
      <p:font typeface="Noto Sans Medium" panose="020B0502040504020204" pitchFamily="34" charset="0"/>
      <p:regular r:id="rId58"/>
      <p:bold r:id="rId59"/>
      <p:italic r:id="rId60"/>
    </p:embeddedFont>
    <p:embeddedFont>
      <p:font typeface="Noto Sans Symbols" panose="020B0502040504020204" pitchFamily="34" charset="0"/>
      <p:regular r:id="rId61"/>
      <p:bold r:id="rId62"/>
      <p:italic r:id="rId63"/>
    </p:embeddedFont>
    <p:embeddedFont>
      <p:font typeface="Noto Sans Symbols Black" panose="020B0502040504020204" pitchFamily="34" charset="0"/>
      <p:bold r:id="rId64"/>
      <p: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F094C-2F67-4CEF-B1C1-E63C4DAD48AA}" v="6" dt="2026-05-13T23:53:51.574"/>
    <p1510:client id="{ED6ABDEA-992C-A94F-BCFD-5433A9513826}" v="9" dt="2026-05-14T00:52:37.616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1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notesMaster" Target="notesMasters/notes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font" Target="fonts/font4.fntdata"/><Relationship Id="rId44" Type="http://schemas.openxmlformats.org/officeDocument/2006/relationships/font" Target="fonts/font5.fntdata"/><Relationship Id="rId45" Type="http://schemas.openxmlformats.org/officeDocument/2006/relationships/font" Target="fonts/font6.fntdata"/><Relationship Id="rId46" Type="http://schemas.openxmlformats.org/officeDocument/2006/relationships/font" Target="fonts/font7.fntdata"/><Relationship Id="rId47" Type="http://schemas.openxmlformats.org/officeDocument/2006/relationships/font" Target="fonts/font8.fntdata"/><Relationship Id="rId48" Type="http://schemas.openxmlformats.org/officeDocument/2006/relationships/font" Target="fonts/font9.fntdata"/><Relationship Id="rId49" Type="http://schemas.openxmlformats.org/officeDocument/2006/relationships/font" Target="fonts/font10.fntdata"/><Relationship Id="rId50" Type="http://schemas.openxmlformats.org/officeDocument/2006/relationships/font" Target="fonts/font11.fntdata"/><Relationship Id="rId51" Type="http://schemas.openxmlformats.org/officeDocument/2006/relationships/font" Target="fonts/font12.fntdata"/><Relationship Id="rId52" Type="http://schemas.openxmlformats.org/officeDocument/2006/relationships/font" Target="fonts/font13.fntdata"/><Relationship Id="rId53" Type="http://schemas.openxmlformats.org/officeDocument/2006/relationships/font" Target="fonts/font14.fntdata"/><Relationship Id="rId54" Type="http://schemas.openxmlformats.org/officeDocument/2006/relationships/font" Target="fonts/font15.fntdata"/><Relationship Id="rId55" Type="http://schemas.openxmlformats.org/officeDocument/2006/relationships/font" Target="fonts/font16.fntdata"/><Relationship Id="rId56" Type="http://schemas.openxmlformats.org/officeDocument/2006/relationships/font" Target="fonts/font17.fntdata"/><Relationship Id="rId57" Type="http://schemas.openxmlformats.org/officeDocument/2006/relationships/font" Target="fonts/font18.fntdata"/><Relationship Id="rId58" Type="http://schemas.openxmlformats.org/officeDocument/2006/relationships/font" Target="fonts/font19.fntdata"/><Relationship Id="rId59" Type="http://schemas.openxmlformats.org/officeDocument/2006/relationships/font" Target="fonts/font20.fntdata"/><Relationship Id="rId60" Type="http://schemas.openxmlformats.org/officeDocument/2006/relationships/font" Target="fonts/font21.fntdata"/><Relationship Id="rId61" Type="http://schemas.openxmlformats.org/officeDocument/2006/relationships/font" Target="fonts/font22.fntdata"/><Relationship Id="rId62" Type="http://schemas.openxmlformats.org/officeDocument/2006/relationships/font" Target="fonts/font23.fntdata"/><Relationship Id="rId63" Type="http://schemas.openxmlformats.org/officeDocument/2006/relationships/font" Target="fonts/font24.fntdata"/><Relationship Id="rId64" Type="http://schemas.openxmlformats.org/officeDocument/2006/relationships/font" Target="fonts/font25.fntdata"/><Relationship Id="rId65" Type="http://schemas.openxmlformats.org/officeDocument/2006/relationships/font" Target="fonts/font26.fntdata"/><Relationship Id="rId66" Type="http://customschemas.google.com/relationships/presentationmetadata" Target="metadata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microsoft.com/office/2016/11/relationships/changesInfo" Target="changesInfos/changesInfo1.xml"/><Relationship Id="rId7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5-13T23:53:52.138" v="16" actId="478"/>
      <pc:docMkLst>
        <pc:docMk/>
      </pc:docMkLst>
      <pc:sldChg chg="modSp mod">
        <pc:chgData name="Rohan Myron Oprisko" userId="a7c52ab4-f8b1-4d15-aaf6-6388cc510347" providerId="ADAL" clId="{EEEE6C0E-EB18-4E43-B633-E5F95274828B}" dt="2026-05-13T23:44:44.223" v="1" actId="1076"/>
        <pc:sldMkLst>
          <pc:docMk/>
          <pc:sldMk cId="4169926134" sldId="292"/>
        </pc:sldMkLst>
        <pc:spChg chg="mod">
          <ac:chgData name="Rohan Myron Oprisko" userId="a7c52ab4-f8b1-4d15-aaf6-6388cc510347" providerId="ADAL" clId="{EEEE6C0E-EB18-4E43-B633-E5F95274828B}" dt="2026-05-13T23:44:44.223" v="1" actId="1076"/>
          <ac:spMkLst>
            <pc:docMk/>
            <pc:sldMk cId="4169926134" sldId="292"/>
            <ac:spMk id="2" creationId="{B28EA593-B65B-2AA5-70E2-E05B3BCE1A6B}"/>
          </ac:spMkLst>
        </pc:spChg>
      </pc:sldChg>
      <pc:sldChg chg="addSp delSp modSp mod">
        <pc:chgData name="Rohan Myron Oprisko" userId="a7c52ab4-f8b1-4d15-aaf6-6388cc510347" providerId="ADAL" clId="{EEEE6C0E-EB18-4E43-B633-E5F95274828B}" dt="2026-05-13T23:53:52.138" v="16" actId="478"/>
        <pc:sldMkLst>
          <pc:docMk/>
          <pc:sldMk cId="0" sldId="298"/>
        </pc:sldMkLst>
        <pc:spChg chg="add mod">
          <ac:chgData name="Rohan Myron Oprisko" userId="a7c52ab4-f8b1-4d15-aaf6-6388cc510347" providerId="ADAL" clId="{EEEE6C0E-EB18-4E43-B633-E5F95274828B}" dt="2026-05-13T23:49:33.734" v="3"/>
          <ac:spMkLst>
            <pc:docMk/>
            <pc:sldMk cId="0" sldId="298"/>
            <ac:spMk id="3" creationId="{95FA1BEC-E132-E23D-E289-D0398B7EEA84}"/>
          </ac:spMkLst>
        </pc:spChg>
        <pc:spChg chg="add mod">
          <ac:chgData name="Rohan Myron Oprisko" userId="a7c52ab4-f8b1-4d15-aaf6-6388cc510347" providerId="ADAL" clId="{EEEE6C0E-EB18-4E43-B633-E5F95274828B}" dt="2026-05-13T23:49:41.439" v="5"/>
          <ac:spMkLst>
            <pc:docMk/>
            <pc:sldMk cId="0" sldId="298"/>
            <ac:spMk id="4" creationId="{3BE490FA-C51C-6FF8-5EA2-F74512BADA33}"/>
          </ac:spMkLst>
        </pc:spChg>
        <pc:spChg chg="add del mod">
          <ac:chgData name="Rohan Myron Oprisko" userId="a7c52ab4-f8b1-4d15-aaf6-6388cc510347" providerId="ADAL" clId="{EEEE6C0E-EB18-4E43-B633-E5F95274828B}" dt="2026-05-13T23:53:52.138" v="16" actId="478"/>
          <ac:spMkLst>
            <pc:docMk/>
            <pc:sldMk cId="0" sldId="298"/>
            <ac:spMk id="5" creationId="{DFD05A4D-D996-02F4-A78C-4618EEF8FC3F}"/>
          </ac:spMkLst>
        </pc:spChg>
        <pc:spChg chg="add mod">
          <ac:chgData name="Rohan Myron Oprisko" userId="a7c52ab4-f8b1-4d15-aaf6-6388cc510347" providerId="ADAL" clId="{EEEE6C0E-EB18-4E43-B633-E5F95274828B}" dt="2026-05-13T23:52:57.039" v="9"/>
          <ac:spMkLst>
            <pc:docMk/>
            <pc:sldMk cId="0" sldId="298"/>
            <ac:spMk id="6" creationId="{AF11EDEA-7075-C627-AD2F-341672360DF0}"/>
          </ac:spMkLst>
        </pc:spChg>
        <pc:spChg chg="mod">
          <ac:chgData name="Rohan Myron Oprisko" userId="a7c52ab4-f8b1-4d15-aaf6-6388cc510347" providerId="ADAL" clId="{EEEE6C0E-EB18-4E43-B633-E5F95274828B}" dt="2026-05-13T23:49:37.454" v="4" actId="1076"/>
          <ac:spMkLst>
            <pc:docMk/>
            <pc:sldMk cId="0" sldId="298"/>
            <ac:spMk id="642" creationId="{00000000-0000-0000-0000-000000000000}"/>
          </ac:spMkLst>
        </pc:spChg>
        <pc:spChg chg="del">
          <ac:chgData name="Rohan Myron Oprisko" userId="a7c52ab4-f8b1-4d15-aaf6-6388cc510347" providerId="ADAL" clId="{EEEE6C0E-EB18-4E43-B633-E5F95274828B}" dt="2026-05-13T23:52:40.502" v="7" actId="478"/>
          <ac:spMkLst>
            <pc:docMk/>
            <pc:sldMk cId="0" sldId="298"/>
            <ac:spMk id="645" creationId="{00000000-0000-0000-0000-000000000000}"/>
          </ac:spMkLst>
        </pc:spChg>
        <pc:graphicFrameChg chg="add mod modGraphic">
          <ac:chgData name="Rohan Myron Oprisko" userId="a7c52ab4-f8b1-4d15-aaf6-6388cc510347" providerId="ADAL" clId="{EEEE6C0E-EB18-4E43-B633-E5F95274828B}" dt="2026-05-13T23:53:51.019" v="15" actId="14100"/>
          <ac:graphicFrameMkLst>
            <pc:docMk/>
            <pc:sldMk cId="0" sldId="298"/>
            <ac:graphicFrameMk id="2" creationId="{D4E639B8-118D-7DF8-09DF-4D20F2948D0E}"/>
          </ac:graphicFrameMkLst>
        </pc:graphicFrameChg>
      </pc:sldChg>
    </pc:docChg>
  </pc:docChgLst>
  <pc:docChgLst>
    <pc:chgData name="Carlos Esponda Rosales" userId="08a2b2cc-6d12-4dea-90fe-c484bece8186" providerId="ADAL" clId="{6846A1DD-3EC1-5A12-B3C5-9C410579EE4F}"/>
    <pc:docChg chg="undo custSel addSld delSld modSld">
      <pc:chgData name="Carlos Esponda Rosales" userId="08a2b2cc-6d12-4dea-90fe-c484bece8186" providerId="ADAL" clId="{6846A1DD-3EC1-5A12-B3C5-9C410579EE4F}" dt="2026-05-14T00:52:50.184" v="241" actId="478"/>
      <pc:docMkLst>
        <pc:docMk/>
      </pc:docMkLst>
      <pc:sldChg chg="addSp modSp mod">
        <pc:chgData name="Carlos Esponda Rosales" userId="08a2b2cc-6d12-4dea-90fe-c484bece8186" providerId="ADAL" clId="{6846A1DD-3EC1-5A12-B3C5-9C410579EE4F}" dt="2026-05-14T00:46:12.853" v="201" actId="12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5-14T00:45:26.318" v="164" actId="207"/>
          <ac:spMkLst>
            <pc:docMk/>
            <pc:sldMk cId="0" sldId="256"/>
            <ac:spMk id="2" creationId="{A20CD199-474C-B627-03EC-28BCA277415E}"/>
          </ac:spMkLst>
        </pc:spChg>
        <pc:spChg chg="add mod">
          <ac:chgData name="Carlos Esponda Rosales" userId="08a2b2cc-6d12-4dea-90fe-c484bece8186" providerId="ADAL" clId="{6846A1DD-3EC1-5A12-B3C5-9C410579EE4F}" dt="2026-05-14T00:46:12.853" v="201" actId="122"/>
          <ac:spMkLst>
            <pc:docMk/>
            <pc:sldMk cId="0" sldId="256"/>
            <ac:spMk id="3" creationId="{366B9BBC-416E-6C18-EBA8-2DBAF4652951}"/>
          </ac:spMkLst>
        </pc:spChg>
      </pc:sldChg>
      <pc:sldChg chg="addSp delSp modSp add del mod setBg">
        <pc:chgData name="Carlos Esponda Rosales" userId="08a2b2cc-6d12-4dea-90fe-c484bece8186" providerId="ADAL" clId="{6846A1DD-3EC1-5A12-B3C5-9C410579EE4F}" dt="2026-05-12T19:33:08.623" v="135"/>
        <pc:sldMkLst>
          <pc:docMk/>
          <pc:sldMk cId="0" sldId="257"/>
        </pc:sldMkLst>
        <pc:picChg chg="add mod">
          <ac:chgData name="Carlos Esponda Rosales" userId="08a2b2cc-6d12-4dea-90fe-c484bece8186" providerId="ADAL" clId="{6846A1DD-3EC1-5A12-B3C5-9C410579EE4F}" dt="2026-05-12T19:33:08.623" v="135"/>
          <ac:picMkLst>
            <pc:docMk/>
            <pc:sldMk cId="0" sldId="257"/>
            <ac:picMk id="7" creationId="{4663B1A5-C6EF-E161-231B-22D9CB066EB1}"/>
          </ac:picMkLst>
        </pc:picChg>
      </pc:sldChg>
      <pc:sldChg chg="addSp delSp modSp mod">
        <pc:chgData name="Carlos Esponda Rosales" userId="08a2b2cc-6d12-4dea-90fe-c484bece8186" providerId="ADAL" clId="{6846A1DD-3EC1-5A12-B3C5-9C410579EE4F}" dt="2026-05-12T19:14:17.207" v="91" actId="478"/>
        <pc:sldMkLst>
          <pc:docMk/>
          <pc:sldMk cId="0" sldId="259"/>
        </pc:sldMkLst>
        <pc:spChg chg="add mod">
          <ac:chgData name="Carlos Esponda Rosales" userId="08a2b2cc-6d12-4dea-90fe-c484bece8186" providerId="ADAL" clId="{6846A1DD-3EC1-5A12-B3C5-9C410579EE4F}" dt="2026-05-12T00:36:48.629" v="76"/>
          <ac:spMkLst>
            <pc:docMk/>
            <pc:sldMk cId="0" sldId="259"/>
            <ac:spMk id="3" creationId="{FF94164A-7BA0-6D0A-057D-CC282C80E2EF}"/>
          </ac:spMkLst>
        </pc:spChg>
        <pc:spChg chg="add mod">
          <ac:chgData name="Carlos Esponda Rosales" userId="08a2b2cc-6d12-4dea-90fe-c484bece8186" providerId="ADAL" clId="{6846A1DD-3EC1-5A12-B3C5-9C410579EE4F}" dt="2026-05-12T19:10:51.189" v="90" actId="1076"/>
          <ac:spMkLst>
            <pc:docMk/>
            <pc:sldMk cId="0" sldId="259"/>
            <ac:spMk id="4" creationId="{B963E0E1-D60C-CB8B-D217-FFF29339D944}"/>
          </ac:spMkLst>
        </pc:spChg>
        <pc:graphicFrameChg chg="add mod">
          <ac:chgData name="Carlos Esponda Rosales" userId="08a2b2cc-6d12-4dea-90fe-c484bece8186" providerId="ADAL" clId="{6846A1DD-3EC1-5A12-B3C5-9C410579EE4F}" dt="2026-05-12T00:32:10.144" v="9"/>
          <ac:graphicFrameMkLst>
            <pc:docMk/>
            <pc:sldMk cId="0" sldId="259"/>
            <ac:graphicFrameMk id="2" creationId="{777EF359-8205-D182-44A6-9B8B32011FE1}"/>
          </ac:graphicFrameMkLst>
        </pc:graphicFrameChg>
      </pc:sldChg>
      <pc:sldChg chg="addSp delSp modSp mod">
        <pc:chgData name="Carlos Esponda Rosales" userId="08a2b2cc-6d12-4dea-90fe-c484bece8186" providerId="ADAL" clId="{6846A1DD-3EC1-5A12-B3C5-9C410579EE4F}" dt="2026-05-12T19:14:46.995" v="94" actId="478"/>
        <pc:sldMkLst>
          <pc:docMk/>
          <pc:sldMk cId="0" sldId="260"/>
        </pc:sldMkLst>
        <pc:spChg chg="add mod">
          <ac:chgData name="Carlos Esponda Rosales" userId="08a2b2cc-6d12-4dea-90fe-c484bece8186" providerId="ADAL" clId="{6846A1DD-3EC1-5A12-B3C5-9C410579EE4F}" dt="2026-05-12T00:36:50.337" v="77"/>
          <ac:spMkLst>
            <pc:docMk/>
            <pc:sldMk cId="0" sldId="260"/>
            <ac:spMk id="3" creationId="{F38C0A99-CD7A-5E08-CE12-061BF4399C93}"/>
          </ac:spMkLst>
        </pc:spChg>
        <pc:spChg chg="add mod">
          <ac:chgData name="Carlos Esponda Rosales" userId="08a2b2cc-6d12-4dea-90fe-c484bece8186" providerId="ADAL" clId="{6846A1DD-3EC1-5A12-B3C5-9C410579EE4F}" dt="2026-05-12T19:14:44.623" v="93"/>
          <ac:spMkLst>
            <pc:docMk/>
            <pc:sldMk cId="0" sldId="260"/>
            <ac:spMk id="5" creationId="{D53415B1-6291-7E3A-CEE4-3F61D2A75DE0}"/>
          </ac:spMkLst>
        </pc:spChg>
        <pc:graphicFrameChg chg="add mod">
          <ac:chgData name="Carlos Esponda Rosales" userId="08a2b2cc-6d12-4dea-90fe-c484bece8186" providerId="ADAL" clId="{6846A1DD-3EC1-5A12-B3C5-9C410579EE4F}" dt="2026-05-12T00:32:31.971" v="11"/>
          <ac:graphicFrameMkLst>
            <pc:docMk/>
            <pc:sldMk cId="0" sldId="260"/>
            <ac:graphicFrameMk id="2" creationId="{3EA6B466-8790-B963-895C-26C213F63345}"/>
          </ac:graphicFrameMkLst>
        </pc:graphicFrameChg>
      </pc:sldChg>
      <pc:sldChg chg="addSp delSp modSp mod">
        <pc:chgData name="Carlos Esponda Rosales" userId="08a2b2cc-6d12-4dea-90fe-c484bece8186" providerId="ADAL" clId="{6846A1DD-3EC1-5A12-B3C5-9C410579EE4F}" dt="2026-05-12T19:14:49.263" v="95"/>
        <pc:sldMkLst>
          <pc:docMk/>
          <pc:sldMk cId="0" sldId="261"/>
        </pc:sldMkLst>
        <pc:spChg chg="add mod">
          <ac:chgData name="Carlos Esponda Rosales" userId="08a2b2cc-6d12-4dea-90fe-c484bece8186" providerId="ADAL" clId="{6846A1DD-3EC1-5A12-B3C5-9C410579EE4F}" dt="2026-05-12T00:36:51.927" v="78"/>
          <ac:spMkLst>
            <pc:docMk/>
            <pc:sldMk cId="0" sldId="261"/>
            <ac:spMk id="3" creationId="{AD50F993-2C86-F079-767E-BB145E57ED37}"/>
          </ac:spMkLst>
        </pc:spChg>
        <pc:spChg chg="add mod">
          <ac:chgData name="Carlos Esponda Rosales" userId="08a2b2cc-6d12-4dea-90fe-c484bece8186" providerId="ADAL" clId="{6846A1DD-3EC1-5A12-B3C5-9C410579EE4F}" dt="2026-05-12T19:14:49.263" v="95"/>
          <ac:spMkLst>
            <pc:docMk/>
            <pc:sldMk cId="0" sldId="261"/>
            <ac:spMk id="4" creationId="{F1963BF3-41FF-D71F-6F39-1DBECC8DF644}"/>
          </ac:spMkLst>
        </pc:spChg>
        <pc:graphicFrameChg chg="add mod">
          <ac:chgData name="Carlos Esponda Rosales" userId="08a2b2cc-6d12-4dea-90fe-c484bece8186" providerId="ADAL" clId="{6846A1DD-3EC1-5A12-B3C5-9C410579EE4F}" dt="2026-05-12T00:32:44.683" v="13"/>
          <ac:graphicFrameMkLst>
            <pc:docMk/>
            <pc:sldMk cId="0" sldId="261"/>
            <ac:graphicFrameMk id="2" creationId="{85743B7C-2040-2D41-A952-7FC0D3B1B897}"/>
          </ac:graphicFrameMkLst>
        </pc:graphicFrameChg>
      </pc:sldChg>
      <pc:sldChg chg="addSp delSp modSp mod">
        <pc:chgData name="Carlos Esponda Rosales" userId="08a2b2cc-6d12-4dea-90fe-c484bece8186" providerId="ADAL" clId="{6846A1DD-3EC1-5A12-B3C5-9C410579EE4F}" dt="2026-05-12T19:15:01.560" v="96"/>
        <pc:sldMkLst>
          <pc:docMk/>
          <pc:sldMk cId="0" sldId="262"/>
        </pc:sldMkLst>
        <pc:spChg chg="add mod">
          <ac:chgData name="Carlos Esponda Rosales" userId="08a2b2cc-6d12-4dea-90fe-c484bece8186" providerId="ADAL" clId="{6846A1DD-3EC1-5A12-B3C5-9C410579EE4F}" dt="2026-05-12T19:15:01.560" v="96"/>
          <ac:spMkLst>
            <pc:docMk/>
            <pc:sldMk cId="0" sldId="262"/>
            <ac:spMk id="2" creationId="{1A5AD390-980E-C1F7-07AA-99F441EBC185}"/>
          </ac:spMkLst>
        </pc:spChg>
        <pc:spChg chg="add mod">
          <ac:chgData name="Carlos Esponda Rosales" userId="08a2b2cc-6d12-4dea-90fe-c484bece8186" providerId="ADAL" clId="{6846A1DD-3EC1-5A12-B3C5-9C410579EE4F}" dt="2026-05-12T00:36:53.434" v="79"/>
          <ac:spMkLst>
            <pc:docMk/>
            <pc:sldMk cId="0" sldId="262"/>
            <ac:spMk id="4" creationId="{45C209F9-168B-F9F3-0D3A-67AD80CD70DF}"/>
          </ac:spMkLst>
        </pc:spChg>
        <pc:graphicFrameChg chg="add mod">
          <ac:chgData name="Carlos Esponda Rosales" userId="08a2b2cc-6d12-4dea-90fe-c484bece8186" providerId="ADAL" clId="{6846A1DD-3EC1-5A12-B3C5-9C410579EE4F}" dt="2026-05-12T00:32:55.377" v="15"/>
          <ac:graphicFrameMkLst>
            <pc:docMk/>
            <pc:sldMk cId="0" sldId="262"/>
            <ac:graphicFrameMk id="3" creationId="{94BC01A5-BEDB-F230-FD7B-356286358DB0}"/>
          </ac:graphicFrameMkLst>
        </pc:graphicFrameChg>
      </pc:sldChg>
      <pc:sldChg chg="addSp delSp modSp mod">
        <pc:chgData name="Carlos Esponda Rosales" userId="08a2b2cc-6d12-4dea-90fe-c484bece8186" providerId="ADAL" clId="{6846A1DD-3EC1-5A12-B3C5-9C410579EE4F}" dt="2026-05-12T19:15:14.952" v="100" actId="478"/>
        <pc:sldMkLst>
          <pc:docMk/>
          <pc:sldMk cId="0" sldId="263"/>
        </pc:sldMkLst>
        <pc:spChg chg="add mod">
          <ac:chgData name="Carlos Esponda Rosales" userId="08a2b2cc-6d12-4dea-90fe-c484bece8186" providerId="ADAL" clId="{6846A1DD-3EC1-5A12-B3C5-9C410579EE4F}" dt="2026-05-12T00:36:54.887" v="80"/>
          <ac:spMkLst>
            <pc:docMk/>
            <pc:sldMk cId="0" sldId="263"/>
            <ac:spMk id="3" creationId="{6A0D7C38-0218-88E0-2526-90CE4C55E60D}"/>
          </ac:spMkLst>
        </pc:spChg>
        <pc:graphicFrameChg chg="add mod">
          <ac:chgData name="Carlos Esponda Rosales" userId="08a2b2cc-6d12-4dea-90fe-c484bece8186" providerId="ADAL" clId="{6846A1DD-3EC1-5A12-B3C5-9C410579EE4F}" dt="2026-05-12T00:33:05.273" v="17"/>
          <ac:graphicFrameMkLst>
            <pc:docMk/>
            <pc:sldMk cId="0" sldId="263"/>
            <ac:graphicFrameMk id="2" creationId="{EBFA2AB1-2728-A17E-33A9-721EC07ACEFE}"/>
          </ac:graphicFrameMkLst>
        </pc:graphicFrameChg>
      </pc:sldChg>
      <pc:sldChg chg="addSp delSp modSp add del mod setBg">
        <pc:chgData name="Carlos Esponda Rosales" userId="08a2b2cc-6d12-4dea-90fe-c484bece8186" providerId="ADAL" clId="{6846A1DD-3EC1-5A12-B3C5-9C410579EE4F}" dt="2026-05-12T19:27:28.530" v="134" actId="478"/>
        <pc:sldMkLst>
          <pc:docMk/>
          <pc:sldMk cId="0" sldId="265"/>
        </pc:sldMkLst>
        <pc:spChg chg="mod">
          <ac:chgData name="Carlos Esponda Rosales" userId="08a2b2cc-6d12-4dea-90fe-c484bece8186" providerId="ADAL" clId="{6846A1DD-3EC1-5A12-B3C5-9C410579EE4F}" dt="2026-05-12T19:27:26.728" v="133" actId="1035"/>
          <ac:spMkLst>
            <pc:docMk/>
            <pc:sldMk cId="0" sldId="265"/>
            <ac:spMk id="2" creationId="{4762769E-EE19-D4B0-352B-3FFE681D1F27}"/>
          </ac:spMkLst>
        </pc:spChg>
      </pc:sldChg>
      <pc:sldChg chg="add del setBg">
        <pc:chgData name="Carlos Esponda Rosales" userId="08a2b2cc-6d12-4dea-90fe-c484bece8186" providerId="ADAL" clId="{6846A1DD-3EC1-5A12-B3C5-9C410579EE4F}" dt="2026-05-12T00:33:53.586" v="40"/>
        <pc:sldMkLst>
          <pc:docMk/>
          <pc:sldMk cId="0" sldId="266"/>
        </pc:sldMkLst>
      </pc:sldChg>
      <pc:sldChg chg="addSp delSp modSp mod">
        <pc:chgData name="Carlos Esponda Rosales" userId="08a2b2cc-6d12-4dea-90fe-c484bece8186" providerId="ADAL" clId="{6846A1DD-3EC1-5A12-B3C5-9C410579EE4F}" dt="2026-05-14T00:52:50.184" v="241" actId="478"/>
        <pc:sldMkLst>
          <pc:docMk/>
          <pc:sldMk cId="0" sldId="267"/>
        </pc:sldMkLst>
        <pc:spChg chg="add mod">
          <ac:chgData name="Carlos Esponda Rosales" userId="08a2b2cc-6d12-4dea-90fe-c484bece8186" providerId="ADAL" clId="{6846A1DD-3EC1-5A12-B3C5-9C410579EE4F}" dt="2026-05-12T00:36:57.458" v="82"/>
          <ac:spMkLst>
            <pc:docMk/>
            <pc:sldMk cId="0" sldId="267"/>
            <ac:spMk id="3" creationId="{A5738CA9-9AE5-770D-1B6B-CE0307D9216C}"/>
          </ac:spMkLst>
        </pc:spChg>
        <pc:spChg chg="add del mod">
          <ac:chgData name="Carlos Esponda Rosales" userId="08a2b2cc-6d12-4dea-90fe-c484bece8186" providerId="ADAL" clId="{6846A1DD-3EC1-5A12-B3C5-9C410579EE4F}" dt="2026-05-14T00:52:50.184" v="241" actId="478"/>
          <ac:spMkLst>
            <pc:docMk/>
            <pc:sldMk cId="0" sldId="267"/>
            <ac:spMk id="4" creationId="{B8DEDB1F-8AF7-EFC5-E9D6-94A6C76F2319}"/>
          </ac:spMkLst>
        </pc:spChg>
        <pc:spChg chg="add del mod">
          <ac:chgData name="Carlos Esponda Rosales" userId="08a2b2cc-6d12-4dea-90fe-c484bece8186" providerId="ADAL" clId="{6846A1DD-3EC1-5A12-B3C5-9C410579EE4F}" dt="2026-05-14T00:52:50.184" v="241" actId="478"/>
          <ac:spMkLst>
            <pc:docMk/>
            <pc:sldMk cId="0" sldId="267"/>
            <ac:spMk id="5" creationId="{0E0433DB-F756-FAD0-FA64-CFC5AC1C5F7F}"/>
          </ac:spMkLst>
        </pc:spChg>
        <pc:graphicFrameChg chg="add mod">
          <ac:chgData name="Carlos Esponda Rosales" userId="08a2b2cc-6d12-4dea-90fe-c484bece8186" providerId="ADAL" clId="{6846A1DD-3EC1-5A12-B3C5-9C410579EE4F}" dt="2026-05-12T00:33:32.124" v="34" actId="1035"/>
          <ac:graphicFrameMkLst>
            <pc:docMk/>
            <pc:sldMk cId="0" sldId="267"/>
            <ac:graphicFrameMk id="2" creationId="{200B8F01-B0C1-2A15-7B79-4FB3D7ECFF42}"/>
          </ac:graphicFrameMkLst>
        </pc:graphicFrameChg>
        <pc:picChg chg="add mod">
          <ac:chgData name="Carlos Esponda Rosales" userId="08a2b2cc-6d12-4dea-90fe-c484bece8186" providerId="ADAL" clId="{6846A1DD-3EC1-5A12-B3C5-9C410579EE4F}" dt="2026-05-14T00:52:21.798" v="237" actId="1038"/>
          <ac:picMkLst>
            <pc:docMk/>
            <pc:sldMk cId="0" sldId="267"/>
            <ac:picMk id="6" creationId="{96341DFF-BCEE-4E20-408F-DC655F48172F}"/>
          </ac:picMkLst>
        </pc:picChg>
        <pc:picChg chg="add mod">
          <ac:chgData name="Carlos Esponda Rosales" userId="08a2b2cc-6d12-4dea-90fe-c484bece8186" providerId="ADAL" clId="{6846A1DD-3EC1-5A12-B3C5-9C410579EE4F}" dt="2026-05-14T00:52:43.576" v="240" actId="1076"/>
          <ac:picMkLst>
            <pc:docMk/>
            <pc:sldMk cId="0" sldId="267"/>
            <ac:picMk id="7" creationId="{0B793CA6-F3A0-60F0-84E9-8DF998AAE196}"/>
          </ac:picMkLst>
        </pc:picChg>
      </pc:sldChg>
      <pc:sldChg chg="add del setBg">
        <pc:chgData name="Carlos Esponda Rosales" userId="08a2b2cc-6d12-4dea-90fe-c484bece8186" providerId="ADAL" clId="{6846A1DD-3EC1-5A12-B3C5-9C410579EE4F}" dt="2026-05-12T00:37:13.664" v="86"/>
        <pc:sldMkLst>
          <pc:docMk/>
          <pc:sldMk cId="0" sldId="275"/>
        </pc:sldMkLst>
      </pc:sldChg>
      <pc:sldChg chg="add del setBg">
        <pc:chgData name="Carlos Esponda Rosales" userId="08a2b2cc-6d12-4dea-90fe-c484bece8186" providerId="ADAL" clId="{6846A1DD-3EC1-5A12-B3C5-9C410579EE4F}" dt="2026-05-12T00:35:57.912" v="63"/>
        <pc:sldMkLst>
          <pc:docMk/>
          <pc:sldMk cId="0" sldId="276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77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78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79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80"/>
        </pc:sldMkLst>
      </pc:sldChg>
      <pc:sldChg chg="addSp delSp modSp mod">
        <pc:chgData name="Carlos Esponda Rosales" userId="08a2b2cc-6d12-4dea-90fe-c484bece8186" providerId="ADAL" clId="{6846A1DD-3EC1-5A12-B3C5-9C410579EE4F}" dt="2026-05-14T00:51:45.682" v="221" actId="478"/>
        <pc:sldMkLst>
          <pc:docMk/>
          <pc:sldMk cId="3828482411" sldId="281"/>
        </pc:sldMkLst>
        <pc:spChg chg="add mod">
          <ac:chgData name="Carlos Esponda Rosales" userId="08a2b2cc-6d12-4dea-90fe-c484bece8186" providerId="ADAL" clId="{6846A1DD-3EC1-5A12-B3C5-9C410579EE4F}" dt="2026-05-12T00:36:56.236" v="81"/>
          <ac:spMkLst>
            <pc:docMk/>
            <pc:sldMk cId="3828482411" sldId="281"/>
            <ac:spMk id="3" creationId="{DD45CD77-3043-E33B-0AED-6A054A2EC918}"/>
          </ac:spMkLst>
        </pc:spChg>
        <pc:spChg chg="add del mod">
          <ac:chgData name="Carlos Esponda Rosales" userId="08a2b2cc-6d12-4dea-90fe-c484bece8186" providerId="ADAL" clId="{6846A1DD-3EC1-5A12-B3C5-9C410579EE4F}" dt="2026-05-14T00:51:45.682" v="221" actId="478"/>
          <ac:spMkLst>
            <pc:docMk/>
            <pc:sldMk cId="3828482411" sldId="281"/>
            <ac:spMk id="4" creationId="{BC1E755C-6DAD-E5B1-CD48-829DA5FC4C68}"/>
          </ac:spMkLst>
        </pc:spChg>
        <pc:spChg chg="add del mod">
          <ac:chgData name="Carlos Esponda Rosales" userId="08a2b2cc-6d12-4dea-90fe-c484bece8186" providerId="ADAL" clId="{6846A1DD-3EC1-5A12-B3C5-9C410579EE4F}" dt="2026-05-14T00:51:45.682" v="221" actId="478"/>
          <ac:spMkLst>
            <pc:docMk/>
            <pc:sldMk cId="3828482411" sldId="281"/>
            <ac:spMk id="5" creationId="{7A0B1736-5540-6DA5-A2BF-5BD8760BB238}"/>
          </ac:spMkLst>
        </pc:spChg>
        <pc:spChg chg="add del mod">
          <ac:chgData name="Carlos Esponda Rosales" userId="08a2b2cc-6d12-4dea-90fe-c484bece8186" providerId="ADAL" clId="{6846A1DD-3EC1-5A12-B3C5-9C410579EE4F}" dt="2026-05-14T00:51:45.682" v="221" actId="478"/>
          <ac:spMkLst>
            <pc:docMk/>
            <pc:sldMk cId="3828482411" sldId="281"/>
            <ac:spMk id="6" creationId="{A98FB75B-449F-CD4E-C0FE-396195CA670A}"/>
          </ac:spMkLst>
        </pc:spChg>
        <pc:spChg chg="add del">
          <ac:chgData name="Carlos Esponda Rosales" userId="08a2b2cc-6d12-4dea-90fe-c484bece8186" providerId="ADAL" clId="{6846A1DD-3EC1-5A12-B3C5-9C410579EE4F}" dt="2026-05-14T00:48:17.132" v="204" actId="478"/>
          <ac:spMkLst>
            <pc:docMk/>
            <pc:sldMk cId="3828482411" sldId="281"/>
            <ac:spMk id="8" creationId="{5E792DB9-1611-D200-F388-46A2AFEE7E60}"/>
          </ac:spMkLst>
        </pc:spChg>
        <pc:graphicFrameChg chg="add mod">
          <ac:chgData name="Carlos Esponda Rosales" userId="08a2b2cc-6d12-4dea-90fe-c484bece8186" providerId="ADAL" clId="{6846A1DD-3EC1-5A12-B3C5-9C410579EE4F}" dt="2026-05-12T00:33:18.777" v="25" actId="1035"/>
          <ac:graphicFrameMkLst>
            <pc:docMk/>
            <pc:sldMk cId="3828482411" sldId="281"/>
            <ac:graphicFrameMk id="2" creationId="{2E797D3A-F6C5-47BF-39DC-665F229BC5AC}"/>
          </ac:graphicFrameMkLst>
        </pc:graphicFrameChg>
        <pc:picChg chg="add mod">
          <ac:chgData name="Carlos Esponda Rosales" userId="08a2b2cc-6d12-4dea-90fe-c484bece8186" providerId="ADAL" clId="{6846A1DD-3EC1-5A12-B3C5-9C410579EE4F}" dt="2026-05-14T00:50:07.235" v="206" actId="1076"/>
          <ac:picMkLst>
            <pc:docMk/>
            <pc:sldMk cId="3828482411" sldId="281"/>
            <ac:picMk id="9" creationId="{0C676B9F-6AC5-A789-B610-CA79F2F25812}"/>
          </ac:picMkLst>
        </pc:picChg>
        <pc:picChg chg="add mod">
          <ac:chgData name="Carlos Esponda Rosales" userId="08a2b2cc-6d12-4dea-90fe-c484bece8186" providerId="ADAL" clId="{6846A1DD-3EC1-5A12-B3C5-9C410579EE4F}" dt="2026-05-14T00:50:34.529" v="215" actId="1035"/>
          <ac:picMkLst>
            <pc:docMk/>
            <pc:sldMk cId="3828482411" sldId="281"/>
            <ac:picMk id="10" creationId="{25264B98-9403-EEEF-AC7E-3FF07C740F9D}"/>
          </ac:picMkLst>
        </pc:picChg>
        <pc:picChg chg="add mod">
          <ac:chgData name="Carlos Esponda Rosales" userId="08a2b2cc-6d12-4dea-90fe-c484bece8186" providerId="ADAL" clId="{6846A1DD-3EC1-5A12-B3C5-9C410579EE4F}" dt="2026-05-14T00:50:54.557" v="220" actId="1036"/>
          <ac:picMkLst>
            <pc:docMk/>
            <pc:sldMk cId="3828482411" sldId="281"/>
            <ac:picMk id="11" creationId="{7B0621F4-E11D-5D72-8CD8-0A57310099B7}"/>
          </ac:picMkLst>
        </pc:picChg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82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83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84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85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86"/>
        </pc:sldMkLst>
      </pc:sldChg>
      <pc:sldChg chg="add del setBg">
        <pc:chgData name="Carlos Esponda Rosales" userId="08a2b2cc-6d12-4dea-90fe-c484bece8186" providerId="ADAL" clId="{6846A1DD-3EC1-5A12-B3C5-9C410579EE4F}" dt="2026-05-12T00:33:53.586" v="40"/>
        <pc:sldMkLst>
          <pc:docMk/>
          <pc:sldMk cId="0" sldId="287"/>
        </pc:sldMkLst>
      </pc:sldChg>
      <pc:sldChg chg="addSp delSp modSp add mod">
        <pc:chgData name="Carlos Esponda Rosales" userId="08a2b2cc-6d12-4dea-90fe-c484bece8186" providerId="ADAL" clId="{6846A1DD-3EC1-5A12-B3C5-9C410579EE4F}" dt="2026-05-12T00:34:56.670" v="52"/>
        <pc:sldMkLst>
          <pc:docMk/>
          <pc:sldMk cId="2218485548" sldId="288"/>
        </pc:sldMkLst>
        <pc:graphicFrameChg chg="add mod">
          <ac:chgData name="Carlos Esponda Rosales" userId="08a2b2cc-6d12-4dea-90fe-c484bece8186" providerId="ADAL" clId="{6846A1DD-3EC1-5A12-B3C5-9C410579EE4F}" dt="2026-05-12T00:34:56.670" v="52"/>
          <ac:graphicFrameMkLst>
            <pc:docMk/>
            <pc:sldMk cId="2218485548" sldId="288"/>
            <ac:graphicFrameMk id="2" creationId="{907CDDB0-D177-A682-7FD6-8EB5C7D3F5EC}"/>
          </ac:graphicFrameMkLst>
        </pc:graphicFrameChg>
      </pc:sldChg>
      <pc:sldChg chg="addSp modSp add">
        <pc:chgData name="Carlos Esponda Rosales" userId="08a2b2cc-6d12-4dea-90fe-c484bece8186" providerId="ADAL" clId="{6846A1DD-3EC1-5A12-B3C5-9C410579EE4F}" dt="2026-05-12T00:35:07.167" v="53"/>
        <pc:sldMkLst>
          <pc:docMk/>
          <pc:sldMk cId="1617398452" sldId="289"/>
        </pc:sldMkLst>
        <pc:graphicFrameChg chg="add mod">
          <ac:chgData name="Carlos Esponda Rosales" userId="08a2b2cc-6d12-4dea-90fe-c484bece8186" providerId="ADAL" clId="{6846A1DD-3EC1-5A12-B3C5-9C410579EE4F}" dt="2026-05-12T00:35:07.167" v="53"/>
          <ac:graphicFrameMkLst>
            <pc:docMk/>
            <pc:sldMk cId="1617398452" sldId="289"/>
            <ac:graphicFrameMk id="2" creationId="{A150607E-C8E2-24C0-4FDE-BCD4FF943AB8}"/>
          </ac:graphicFrameMkLst>
        </pc:graphicFrameChg>
      </pc:sldChg>
      <pc:sldChg chg="addSp modSp add">
        <pc:chgData name="Carlos Esponda Rosales" userId="08a2b2cc-6d12-4dea-90fe-c484bece8186" providerId="ADAL" clId="{6846A1DD-3EC1-5A12-B3C5-9C410579EE4F}" dt="2026-05-12T00:35:08.632" v="54"/>
        <pc:sldMkLst>
          <pc:docMk/>
          <pc:sldMk cId="2778406277" sldId="290"/>
        </pc:sldMkLst>
        <pc:graphicFrameChg chg="add mod">
          <ac:chgData name="Carlos Esponda Rosales" userId="08a2b2cc-6d12-4dea-90fe-c484bece8186" providerId="ADAL" clId="{6846A1DD-3EC1-5A12-B3C5-9C410579EE4F}" dt="2026-05-12T00:35:08.632" v="54"/>
          <ac:graphicFrameMkLst>
            <pc:docMk/>
            <pc:sldMk cId="2778406277" sldId="290"/>
            <ac:graphicFrameMk id="2" creationId="{71DDD56D-172C-41F2-4517-3FA6FEEA4779}"/>
          </ac:graphicFrameMkLst>
        </pc:graphicFrameChg>
      </pc:sldChg>
      <pc:sldChg chg="addSp modSp add">
        <pc:chgData name="Carlos Esponda Rosales" userId="08a2b2cc-6d12-4dea-90fe-c484bece8186" providerId="ADAL" clId="{6846A1DD-3EC1-5A12-B3C5-9C410579EE4F}" dt="2026-05-12T00:35:10.528" v="55"/>
        <pc:sldMkLst>
          <pc:docMk/>
          <pc:sldMk cId="2699584251" sldId="291"/>
        </pc:sldMkLst>
        <pc:graphicFrameChg chg="add mod">
          <ac:chgData name="Carlos Esponda Rosales" userId="08a2b2cc-6d12-4dea-90fe-c484bece8186" providerId="ADAL" clId="{6846A1DD-3EC1-5A12-B3C5-9C410579EE4F}" dt="2026-05-12T00:35:10.528" v="55"/>
          <ac:graphicFrameMkLst>
            <pc:docMk/>
            <pc:sldMk cId="2699584251" sldId="291"/>
            <ac:graphicFrameMk id="2" creationId="{F4E6F222-B319-9B0E-B927-453FD52E9894}"/>
          </ac:graphicFrameMkLst>
        </pc:graphicFrameChg>
      </pc:sldChg>
      <pc:sldChg chg="addSp modSp add">
        <pc:chgData name="Carlos Esponda Rosales" userId="08a2b2cc-6d12-4dea-90fe-c484bece8186" providerId="ADAL" clId="{6846A1DD-3EC1-5A12-B3C5-9C410579EE4F}" dt="2026-05-12T00:35:19.614" v="56"/>
        <pc:sldMkLst>
          <pc:docMk/>
          <pc:sldMk cId="4169926134" sldId="292"/>
        </pc:sldMkLst>
        <pc:spChg chg="add mod">
          <ac:chgData name="Carlos Esponda Rosales" userId="08a2b2cc-6d12-4dea-90fe-c484bece8186" providerId="ADAL" clId="{6846A1DD-3EC1-5A12-B3C5-9C410579EE4F}" dt="2026-05-12T00:35:19.614" v="56"/>
          <ac:spMkLst>
            <pc:docMk/>
            <pc:sldMk cId="4169926134" sldId="292"/>
            <ac:spMk id="2" creationId="{B28EA593-B65B-2AA5-70E2-E05B3BCE1A6B}"/>
          </ac:spMkLst>
        </pc:spChg>
        <pc:graphicFrameChg chg="add mod">
          <ac:chgData name="Carlos Esponda Rosales" userId="08a2b2cc-6d12-4dea-90fe-c484bece8186" providerId="ADAL" clId="{6846A1DD-3EC1-5A12-B3C5-9C410579EE4F}" dt="2026-05-12T00:35:19.614" v="56"/>
          <ac:graphicFrameMkLst>
            <pc:docMk/>
            <pc:sldMk cId="4169926134" sldId="292"/>
            <ac:graphicFrameMk id="3" creationId="{6B0D6DA8-64C0-69F5-6D3B-9524410B3EEC}"/>
          </ac:graphicFrameMkLst>
        </pc:graphicFrameChg>
      </pc:sldChg>
      <pc:sldChg chg="addSp modSp add">
        <pc:chgData name="Carlos Esponda Rosales" userId="08a2b2cc-6d12-4dea-90fe-c484bece8186" providerId="ADAL" clId="{6846A1DD-3EC1-5A12-B3C5-9C410579EE4F}" dt="2026-05-12T00:35:26.597" v="57"/>
        <pc:sldMkLst>
          <pc:docMk/>
          <pc:sldMk cId="1069935" sldId="293"/>
        </pc:sldMkLst>
        <pc:graphicFrameChg chg="add mod">
          <ac:chgData name="Carlos Esponda Rosales" userId="08a2b2cc-6d12-4dea-90fe-c484bece8186" providerId="ADAL" clId="{6846A1DD-3EC1-5A12-B3C5-9C410579EE4F}" dt="2026-05-12T00:35:26.597" v="57"/>
          <ac:graphicFrameMkLst>
            <pc:docMk/>
            <pc:sldMk cId="1069935" sldId="293"/>
            <ac:graphicFrameMk id="2" creationId="{AF1D3B59-5832-E697-0B56-F8B21B19A8E4}"/>
          </ac:graphicFrameMkLst>
        </pc:graphicFrameChg>
      </pc:sldChg>
      <pc:sldChg chg="addSp modSp add">
        <pc:chgData name="Carlos Esponda Rosales" userId="08a2b2cc-6d12-4dea-90fe-c484bece8186" providerId="ADAL" clId="{6846A1DD-3EC1-5A12-B3C5-9C410579EE4F}" dt="2026-05-12T00:35:36.813" v="58"/>
        <pc:sldMkLst>
          <pc:docMk/>
          <pc:sldMk cId="3461801839" sldId="294"/>
        </pc:sldMkLst>
        <pc:graphicFrameChg chg="add mod">
          <ac:chgData name="Carlos Esponda Rosales" userId="08a2b2cc-6d12-4dea-90fe-c484bece8186" providerId="ADAL" clId="{6846A1DD-3EC1-5A12-B3C5-9C410579EE4F}" dt="2026-05-12T00:35:36.813" v="58"/>
          <ac:graphicFrameMkLst>
            <pc:docMk/>
            <pc:sldMk cId="3461801839" sldId="294"/>
            <ac:graphicFrameMk id="2" creationId="{6EC88D0B-A1C1-7F05-1FB9-A2ED59563EB3}"/>
          </ac:graphicFrameMkLst>
        </pc:graphicFrameChg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95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96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97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98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299"/>
        </pc:sldMkLst>
      </pc:sldChg>
      <pc:sldChg chg="add del setBg">
        <pc:chgData name="Carlos Esponda Rosales" userId="08a2b2cc-6d12-4dea-90fe-c484bece8186" providerId="ADAL" clId="{6846A1DD-3EC1-5A12-B3C5-9C410579EE4F}" dt="2026-05-12T00:36:39.707" v="75"/>
        <pc:sldMkLst>
          <pc:docMk/>
          <pc:sldMk cId="0" sldId="30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dPt>
            <c:idx val="4"/>
            <c:spPr>
              <a:solidFill>
                <a:srgbClr val="BC955C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Otros</c:v>
                </c:pt>
                <c:pt idx="4">
                  <c:v>IMSS-BIENESTAR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63646900.0</c:v>
                </c:pt>
                <c:pt idx="1">
                  <c:v>10777036.0</c:v>
                </c:pt>
                <c:pt idx="2">
                  <c:v>14139469.0</c:v>
                </c:pt>
                <c:pt idx="3">
                  <c:v>1200692.0</c:v>
                </c:pt>
                <c:pt idx="4">
                  <c:v>44643161.0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31575bb9d_3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3731575bb9d_3_105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0" name="Google Shape;200;g3731575bb9d_3_105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31575bb9d_3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731575bb9d_3_1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5" name="Google Shape;215;g3731575bb9d_3_1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31575bb9d_3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731575bb9d_3_12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g3731575bb9d_3_12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4B1C5750-91CD-14B5-DB69-29CB9EEC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31575bb9d_3_128:notes">
            <a:extLst>
              <a:ext uri="{FF2B5EF4-FFF2-40B4-BE49-F238E27FC236}">
                <a16:creationId xmlns:a16="http://schemas.microsoft.com/office/drawing/2014/main" id="{04656347-3512-FF4E-C4C6-E92A8FBB2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731575bb9d_3_128:notes">
            <a:extLst>
              <a:ext uri="{FF2B5EF4-FFF2-40B4-BE49-F238E27FC236}">
                <a16:creationId xmlns:a16="http://schemas.microsoft.com/office/drawing/2014/main" id="{17714271-D11E-1A02-3444-D62E5CA29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g3731575bb9d_3_128:notes">
            <a:extLst>
              <a:ext uri="{FF2B5EF4-FFF2-40B4-BE49-F238E27FC236}">
                <a16:creationId xmlns:a16="http://schemas.microsoft.com/office/drawing/2014/main" id="{FC54793C-46E1-A124-E029-3846C45715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4054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B9FFCD46-B494-B60F-5777-A1F968DEB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31575bb9d_3_128:notes">
            <a:extLst>
              <a:ext uri="{FF2B5EF4-FFF2-40B4-BE49-F238E27FC236}">
                <a16:creationId xmlns:a16="http://schemas.microsoft.com/office/drawing/2014/main" id="{FDCC96CC-84BB-F324-9C9A-CFB422BDBA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731575bb9d_3_128:notes">
            <a:extLst>
              <a:ext uri="{FF2B5EF4-FFF2-40B4-BE49-F238E27FC236}">
                <a16:creationId xmlns:a16="http://schemas.microsoft.com/office/drawing/2014/main" id="{74872335-94C9-501C-F570-5E9B0912D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g3731575bb9d_3_128:notes">
            <a:extLst>
              <a:ext uri="{FF2B5EF4-FFF2-40B4-BE49-F238E27FC236}">
                <a16:creationId xmlns:a16="http://schemas.microsoft.com/office/drawing/2014/main" id="{F6D42B28-5B92-1714-6EAD-674EF8F096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7952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367A6A07-5272-F11E-20CC-916A14BE3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31575bb9d_3_128:notes">
            <a:extLst>
              <a:ext uri="{FF2B5EF4-FFF2-40B4-BE49-F238E27FC236}">
                <a16:creationId xmlns:a16="http://schemas.microsoft.com/office/drawing/2014/main" id="{977391C3-33B8-B1ED-4FDD-6F2646A86F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731575bb9d_3_128:notes">
            <a:extLst>
              <a:ext uri="{FF2B5EF4-FFF2-40B4-BE49-F238E27FC236}">
                <a16:creationId xmlns:a16="http://schemas.microsoft.com/office/drawing/2014/main" id="{6448847C-5BFF-0258-1ED4-32595C9713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g3731575bb9d_3_128:notes">
            <a:extLst>
              <a:ext uri="{FF2B5EF4-FFF2-40B4-BE49-F238E27FC236}">
                <a16:creationId xmlns:a16="http://schemas.microsoft.com/office/drawing/2014/main" id="{4C4955C3-5FD8-0E44-FDBC-55F21F3C4D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0085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2B1AD321-7701-B9BB-B874-D9C35C5B9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31575bb9d_3_128:notes">
            <a:extLst>
              <a:ext uri="{FF2B5EF4-FFF2-40B4-BE49-F238E27FC236}">
                <a16:creationId xmlns:a16="http://schemas.microsoft.com/office/drawing/2014/main" id="{D49D9A19-90DD-C26F-830C-D7AE4ABB5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731575bb9d_3_128:notes">
            <a:extLst>
              <a:ext uri="{FF2B5EF4-FFF2-40B4-BE49-F238E27FC236}">
                <a16:creationId xmlns:a16="http://schemas.microsoft.com/office/drawing/2014/main" id="{5188A4A4-7164-B315-2868-6547AA2A3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g3731575bb9d_3_128:notes">
            <a:extLst>
              <a:ext uri="{FF2B5EF4-FFF2-40B4-BE49-F238E27FC236}">
                <a16:creationId xmlns:a16="http://schemas.microsoft.com/office/drawing/2014/main" id="{978E0E24-6FF4-CB6F-B941-94C46AA611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4040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0F08D59A-6A14-E41F-2785-391C0392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31575bb9d_3_128:notes">
            <a:extLst>
              <a:ext uri="{FF2B5EF4-FFF2-40B4-BE49-F238E27FC236}">
                <a16:creationId xmlns:a16="http://schemas.microsoft.com/office/drawing/2014/main" id="{15EC6548-A693-0374-8165-4940C35E2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731575bb9d_3_128:notes">
            <a:extLst>
              <a:ext uri="{FF2B5EF4-FFF2-40B4-BE49-F238E27FC236}">
                <a16:creationId xmlns:a16="http://schemas.microsoft.com/office/drawing/2014/main" id="{CA51033A-27C3-B231-7683-6CCE114D03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g3731575bb9d_3_128:notes">
            <a:extLst>
              <a:ext uri="{FF2B5EF4-FFF2-40B4-BE49-F238E27FC236}">
                <a16:creationId xmlns:a16="http://schemas.microsoft.com/office/drawing/2014/main" id="{01300855-BE7F-B1CE-887D-AAEDED02CB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8675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1D7AC40E-E869-96EA-9716-58A090A88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31575bb9d_3_128:notes">
            <a:extLst>
              <a:ext uri="{FF2B5EF4-FFF2-40B4-BE49-F238E27FC236}">
                <a16:creationId xmlns:a16="http://schemas.microsoft.com/office/drawing/2014/main" id="{2FE665C2-2F3D-7AC8-E963-3648F491B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731575bb9d_3_128:notes">
            <a:extLst>
              <a:ext uri="{FF2B5EF4-FFF2-40B4-BE49-F238E27FC236}">
                <a16:creationId xmlns:a16="http://schemas.microsoft.com/office/drawing/2014/main" id="{0E6CDF60-72D5-D59D-4315-2C27F5A60C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g3731575bb9d_3_128:notes">
            <a:extLst>
              <a:ext uri="{FF2B5EF4-FFF2-40B4-BE49-F238E27FC236}">
                <a16:creationId xmlns:a16="http://schemas.microsoft.com/office/drawing/2014/main" id="{FF2FA21E-2C99-B75D-12FC-DC6F1BA95D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5787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FEB62F23-D592-1B4C-E40D-BFEEE62C3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31575bb9d_3_128:notes">
            <a:extLst>
              <a:ext uri="{FF2B5EF4-FFF2-40B4-BE49-F238E27FC236}">
                <a16:creationId xmlns:a16="http://schemas.microsoft.com/office/drawing/2014/main" id="{DE8C37F9-16C8-2F7A-5DE8-19B69BD00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731575bb9d_3_128:notes">
            <a:extLst>
              <a:ext uri="{FF2B5EF4-FFF2-40B4-BE49-F238E27FC236}">
                <a16:creationId xmlns:a16="http://schemas.microsoft.com/office/drawing/2014/main" id="{B7B18D1B-BADD-1473-F257-3D75291A41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g3731575bb9d_3_128:notes">
            <a:extLst>
              <a:ext uri="{FF2B5EF4-FFF2-40B4-BE49-F238E27FC236}">
                <a16:creationId xmlns:a16="http://schemas.microsoft.com/office/drawing/2014/main" id="{5A6BA519-301B-EBBC-9F01-8BC200C7E9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69617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5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p15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3" name="Google Shape;353;p1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5" name="Google Shape;365;p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2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7" name="Google Shape;387;p2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2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3" name="Google Shape;423;p2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2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p2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p24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p24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604e88bc46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1" name="Google Shape;531;g3604e88bc46_1_25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2" name="Google Shape;532;g3604e88bc46_1_25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2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8" name="Google Shape;578;p2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1" name="Google Shape;591;p2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2" name="Google Shape;592;p2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604e88bc4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0" name="Google Shape;610;g3604e88bc46_0_5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1" name="Google Shape;611;g3604e88bc46_0_5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1" name="Google Shape;621;p2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2" name="Google Shape;622;p2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p2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5" name="Google Shape;635;p2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8" name="Google Shape;648;p3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9" name="Google Shape;649;p3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8" name="Google Shape;658;p31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9" name="Google Shape;659;p31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4534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5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5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45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93027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4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4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34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4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2803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1114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6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597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7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7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3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7335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53857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39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3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9327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0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6" name="Google Shape;46;p4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38118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1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1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" name="Google Shape;50;p41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41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4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7426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2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5" name="Google Shape;55;p4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90148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3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" name="Google Shape;58;p43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4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7158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934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2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92417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20CD199-474C-B627-03EC-28BCA277415E}"/>
              </a:ext>
            </a:extLst>
          </p:cNvPr>
          <p:cNvSpPr txBox="1"/>
          <p:nvPr/>
        </p:nvSpPr>
        <p:spPr>
          <a:xfrm>
            <a:off x="1485900" y="4457701"/>
            <a:ext cx="48846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X" sz="5400" dirty="0">
                <a:solidFill>
                  <a:srgbClr val="9F224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Ficha Nacional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B9BBC-416E-6C18-EBA8-2DBAF4652951}"/>
              </a:ext>
            </a:extLst>
          </p:cNvPr>
          <p:cNvSpPr txBox="1"/>
          <p:nvPr/>
        </p:nvSpPr>
        <p:spPr>
          <a:xfrm>
            <a:off x="1518558" y="5344888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</a:t>
            </a:r>
            <a:r>
              <a:rPr lang="en-MX" sz="2400" dirty="0">
                <a:solidFill>
                  <a:schemeClr val="bg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" name="Google Shape;93;p2">
            <a:extLst>
              <a:ext uri="{FF2B5EF4-FFF2-40B4-BE49-F238E27FC236}">
                <a16:creationId xmlns:a16="http://schemas.microsoft.com/office/drawing/2014/main" id="{360D8860-91E8-7C13-1984-354A721F79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75726" y="1375320"/>
            <a:ext cx="521017" cy="64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6;p2">
            <a:extLst>
              <a:ext uri="{FF2B5EF4-FFF2-40B4-BE49-F238E27FC236}">
                <a16:creationId xmlns:a16="http://schemas.microsoft.com/office/drawing/2014/main" id="{A9747473-10A3-27C2-7C7C-F1CB49D4278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2763188"/>
            <a:ext cx="1503600" cy="56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2;p2">
            <a:extLst>
              <a:ext uri="{FF2B5EF4-FFF2-40B4-BE49-F238E27FC236}">
                <a16:creationId xmlns:a16="http://schemas.microsoft.com/office/drawing/2014/main" id="{8F5A0687-1504-0F2B-FDDF-3DEB0B1DCE8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99568" y="3785145"/>
            <a:ext cx="1223400" cy="45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7;p2">
            <a:extLst>
              <a:ext uri="{FF2B5EF4-FFF2-40B4-BE49-F238E27FC236}">
                <a16:creationId xmlns:a16="http://schemas.microsoft.com/office/drawing/2014/main" id="{8717B746-7FFF-297B-70AE-EC1E8AB9B5B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6826" y="1861936"/>
            <a:ext cx="642531" cy="56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imss_coplamar.png">
            <a:extLst>
              <a:ext uri="{FF2B5EF4-FFF2-40B4-BE49-F238E27FC236}">
                <a16:creationId xmlns:a16="http://schemas.microsoft.com/office/drawing/2014/main" id="{4663B1A5-C6EF-E161-231B-22D9CB066E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55% de la población (incluye COPLAMAR)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88" name="Chart 87"/>
          <p:cNvGraphicFramePr>
            <a:graphicFrameLocks noGrp="1"/>
          </p:cNvGraphicFramePr>
          <p:nvPr/>
        </p:nvGraphicFramePr>
        <p:xfrm>
          <a:off x="1764000" y="1429200"/>
          <a:ext cx="4154399" cy="314280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63,646,900</a:t>
            </a:r>
            <a:br/>
            <a:r>
              <a:t>47%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10,777,036</a:t>
            </a:r>
            <a:br/>
            <a:r>
              <a:t>8%</a:t>
            </a: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93" name="Rectangle 9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14,139,469</a:t>
            </a:r>
            <a:br/>
            <a:r>
              <a:t>11%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1,200,692</a:t>
            </a:r>
            <a:br/>
            <a:r>
              <a:t>0.89%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44,643,161</a:t>
            </a:r>
            <a:br/>
            <a:r>
              <a:t>33%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988000" y="265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nacional</a:t>
            </a:r>
            <a:br/>
            <a:r>
              <a:t>134,407,258</a:t>
            </a:r>
          </a:p>
        </p:txBody>
      </p:sp>
      <p:graphicFrame>
        <p:nvGraphicFramePr>
          <p:cNvPr id="101" name="Table 100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57,221,796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63,646,900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32,414,694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38,214,939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20,079,365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22,724,680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4,333,052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6,171,926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655,386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676,076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7,346,891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8,637,042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6,911,859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8,240,676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268,771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141,619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-47%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166,261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254,747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24,807,102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25,431,961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8,464,382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9,211,015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11,900,106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10,327,222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4,442,614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5,893,724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Recaudación, IMSS, datos abiertos con información mensual del número de personas derechohabientes adscritas a clínicas del IMSS. Corte marzo de 2026.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marzo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63,411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56,540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" name="Table 103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marzo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303,371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415,717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" name="Table 104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marzo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155,520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06" name="TextBox 105"/>
          <p:cNvSpPr txBox="1"/>
          <p:nvPr/>
        </p:nvSpPr>
        <p:spPr>
          <a:xfrm>
            <a:off x="82800" y="91872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652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17;p3">
            <a:extLst>
              <a:ext uri="{FF2B5EF4-FFF2-40B4-BE49-F238E27FC236}">
                <a16:creationId xmlns:a16="http://schemas.microsoft.com/office/drawing/2014/main" id="{777EF359-8205-D182-44A6-9B8B32011FE1}"/>
              </a:ext>
            </a:extLst>
          </p:cNvPr>
          <p:cNvGraphicFramePr/>
          <p:nvPr/>
        </p:nvGraphicFramePr>
        <p:xfrm>
          <a:off x="149075" y="645524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          </a:ext>
                          </a:extLst>
                        </a:rPr>
                        <a:t>2. </a:t>
                      </a: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          </a:ext>
                          </a:extLst>
                        </a:rPr>
                        <a:t>Población derechohabiente adscrita</a:t>
                      </a: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"/>
                            </a:ext>
                          </a:extLst>
                        </a:rPr>
                        <a:t> </a:t>
                      </a: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                </a:t>
                      </a:r>
                      <a:endParaRPr lang="es-MX" sz="23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Google Shape;84;p2">
            <a:extLst>
              <a:ext uri="{FF2B5EF4-FFF2-40B4-BE49-F238E27FC236}">
                <a16:creationId xmlns:a16="http://schemas.microsoft.com/office/drawing/2014/main" id="{FF94164A-7BA0-6D0A-057D-CC282C80E2EF}"/>
              </a:ext>
            </a:extLst>
          </p:cNvPr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Google Shape;208;g3731575bb9d_3_105">
            <a:extLst>
              <a:ext uri="{FF2B5EF4-FFF2-40B4-BE49-F238E27FC236}">
                <a16:creationId xmlns:a16="http://schemas.microsoft.com/office/drawing/2014/main" id="{B963E0E1-D60C-CB8B-D217-FFF29339D944}"/>
              </a:ext>
            </a:extLst>
          </p:cNvPr>
          <p:cNvSpPr/>
          <p:nvPr/>
        </p:nvSpPr>
        <p:spPr>
          <a:xfrm rot="-5400000">
            <a:off x="6360596" y="3834043"/>
            <a:ext cx="877750" cy="1349032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rgbClr val="9F2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5200" y="1332000"/>
          <a:ext cx="5356800" cy="763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1054800"/>
                <a:gridCol w="1054800"/>
                <a:gridCol w="1054800"/>
              </a:tblGrid>
              <a:tr h="224576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Entidad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2018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Variación %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Hidalgo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834,539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1,115,656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Estado de México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5,902,344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7,813,922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Chiapas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803,426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1,062,345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Tlaxcala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409,814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527,140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+29%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Nayarit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512,403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641,294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+25%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Tabasco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639,196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793,320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+24%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Yucatán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1,090,589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1,312,573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Colima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412,460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492,568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+19%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Querétaro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1,371,919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1,635,531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+19%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Baja California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2,082,530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2,464,335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Quintana Roo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972,330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1,149,409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+18%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Baja California Sur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486,036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570,499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+17%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Morelos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749,643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875,422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+17%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Oaxaca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746,140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860,435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+15%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Zacatecas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606,471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692,206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Puebla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1,954,798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2,225,021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+14%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Jalisco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4,758,012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5,401,473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Aguascalientes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897,442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999,072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Guerrero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696,285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772,094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+11%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Sonora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1,839,183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2,038,961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Michoacán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1,502,653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1,657,353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San Luis Potosí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1,261,206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1,390,394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+10%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Sinaloa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1,839,188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2,020,319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Guanajuato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2,697,616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2,923,634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Chihuahua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2,410,625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2,602,534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+8%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Durango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841,093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905,890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Nuevo León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4,122,799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4,430,739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+7%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Veracruz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2,742,560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2,925,651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+7%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Coahuila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2,331,199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2,486,261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+7%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Tamaulipas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1,928,671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2,054,000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Campeche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363,191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386,695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+6%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Ciudad de México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7,415,435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6,420,154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-13%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Nacional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57,221,796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63,646,900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+11%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1200" y="4942800"/>
            <a:ext cx="1411200" cy="83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9F2241"/>
                </a:solidFill>
                <a:latin typeface="Noto Sans"/>
              </a:defRPr>
            </a:pPr>
            <a:r>
              <a:t>Var</a:t>
            </a:r>
          </a:p>
          <a:p>
            <a:pPr algn="ctr">
              <a:defRPr sz="2600" b="1">
                <a:solidFill>
                  <a:srgbClr val="9F2241"/>
                </a:solidFill>
                <a:latin typeface="Noto Sans"/>
              </a:defRPr>
            </a:pPr>
            <a:r>
              <a:t>+11%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200" y="9165600"/>
            <a:ext cx="5432400" cy="4967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Adscripciones plenamente identificadas a UMF de titulares y de sus personas beneficiarias. Fuente: Datos DIR IMSS. Diciembre 2018 frente a marzo de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Google Shape;128;p4">
            <a:extLst>
              <a:ext uri="{FF2B5EF4-FFF2-40B4-BE49-F238E27FC236}">
                <a16:creationId xmlns:a16="http://schemas.microsoft.com/office/drawing/2014/main" id="{3EA6B466-8790-B963-895C-26C213F63345}"/>
              </a:ext>
            </a:extLst>
          </p:cNvPr>
          <p:cNvGraphicFramePr/>
          <p:nvPr/>
        </p:nvGraphicFramePr>
        <p:xfrm>
          <a:off x="143183" y="707472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 3. Puestos de trabajo asegurados</a:t>
                      </a:r>
                      <a:endParaRPr lang="es-MX" sz="23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Google Shape;84;p2">
            <a:extLst>
              <a:ext uri="{FF2B5EF4-FFF2-40B4-BE49-F238E27FC236}">
                <a16:creationId xmlns:a16="http://schemas.microsoft.com/office/drawing/2014/main" id="{F38C0A99-CD7A-5E08-CE12-061BF4399C93}"/>
              </a:ext>
            </a:extLst>
          </p:cNvPr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Google Shape;208;g3731575bb9d_3_105">
            <a:extLst>
              <a:ext uri="{FF2B5EF4-FFF2-40B4-BE49-F238E27FC236}">
                <a16:creationId xmlns:a16="http://schemas.microsoft.com/office/drawing/2014/main" id="{D53415B1-6291-7E3A-CEE4-3F61D2A75DE0}"/>
              </a:ext>
            </a:extLst>
          </p:cNvPr>
          <p:cNvSpPr/>
          <p:nvPr/>
        </p:nvSpPr>
        <p:spPr>
          <a:xfrm rot="-5400000">
            <a:off x="6360596" y="3834043"/>
            <a:ext cx="877750" cy="1349032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rgbClr val="9F2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385200" y="1332000"/>
          <a:ext cx="5356800" cy="763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1054800"/>
                <a:gridCol w="1054800"/>
                <a:gridCol w="1054800"/>
              </a:tblGrid>
              <a:tr h="224576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Entidad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2018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Variación %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Nayarit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138,808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186,135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Hidalgo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226,929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290,880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Querétaro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576,858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726,766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+26%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Baja California Sur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181,598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226,276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+25%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Tabasco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165,576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204,245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Estado de México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1,627,196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2,005,563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Nuevo León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1,608,191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1,964,088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Baja California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877,445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1,049,556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+20%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Colima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134,121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158,529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+18%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Quintana Roo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447,348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527,238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Tlaxcala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100,979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118,650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+17%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Jalisco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1,761,000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2,061,532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+17%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Yucatán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374,432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434,758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+16%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Chiapas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225,667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261,010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Aguascalientes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321,298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365,354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Guanajuato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994,870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1,127,415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Michoacán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447,924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501,480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Oaxaca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215,491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239,496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San Luis Potosí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439,816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484,725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Sonora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607,140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667,771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+10%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Chihuahua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882,868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963,465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+9%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Coahuila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779,580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845,532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Durango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243,651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263,599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+8%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Ciudad de México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3,410,841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3,636,987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+7%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Puebla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620,188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659,282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+6%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Sinaloa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562,199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594,944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Morelos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212,112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220,575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Veracruz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752,659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779,054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+4%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Zacatecas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185,244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190,369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Campeche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125,280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127,951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Guerrero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157,793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160,980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Tamaulipas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674,263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680,475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Nacional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20,079,365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22,724,680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+13%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>
            <a:off x="6091200" y="4942800"/>
            <a:ext cx="1411200" cy="83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9F2241"/>
                </a:solidFill>
                <a:latin typeface="Noto Sans"/>
              </a:defRPr>
            </a:pPr>
            <a:r>
              <a:t>Var</a:t>
            </a:r>
          </a:p>
          <a:p>
            <a:pPr algn="ctr">
              <a:defRPr sz="2600" b="1">
                <a:solidFill>
                  <a:srgbClr val="9F2241"/>
                </a:solidFill>
                <a:latin typeface="Noto Sans"/>
              </a:defRPr>
            </a:pPr>
            <a:r>
              <a:t>+13%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5200" y="9165600"/>
            <a:ext cx="5432400" cy="4967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Adscripciones plenamente identificadas a UMF de titulares y de sus personas beneficiarias. Fuente: Datos DIR IMSS. Diciembre 2018 frente a marzo de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39;p5">
            <a:extLst>
              <a:ext uri="{FF2B5EF4-FFF2-40B4-BE49-F238E27FC236}">
                <a16:creationId xmlns:a16="http://schemas.microsoft.com/office/drawing/2014/main" id="{85743B7C-2040-2D41-A952-7FC0D3B1B897}"/>
              </a:ext>
            </a:extLst>
          </p:cNvPr>
          <p:cNvGraphicFramePr/>
          <p:nvPr/>
        </p:nvGraphicFramePr>
        <p:xfrm>
          <a:off x="149075" y="588599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</a:t>
                      </a: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Registros patronales</a:t>
                      </a:r>
                      <a:r>
                        <a:rPr lang="es-MX" sz="2100" b="1" u="none" strike="noStrike" cap="none" dirty="0">
                          <a:solidFill>
                            <a:srgbClr val="00655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 </a:t>
                      </a: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7"/>
                            </a:ext>
                          </a:extLst>
                        </a:rPr>
                        <a:t> </a:t>
                      </a: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                                   </a:t>
                      </a:r>
                      <a:endParaRPr lang="es-MX" sz="2300" u="none" strike="noStrike" cap="none" dirty="0">
                        <a:solidFill>
                          <a:srgbClr val="9F224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Google Shape;84;p2">
            <a:extLst>
              <a:ext uri="{FF2B5EF4-FFF2-40B4-BE49-F238E27FC236}">
                <a16:creationId xmlns:a16="http://schemas.microsoft.com/office/drawing/2014/main" id="{AD50F993-2C86-F079-767E-BB145E57ED37}"/>
              </a:ext>
            </a:extLst>
          </p:cNvPr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Google Shape;208;g3731575bb9d_3_105">
            <a:extLst>
              <a:ext uri="{FF2B5EF4-FFF2-40B4-BE49-F238E27FC236}">
                <a16:creationId xmlns:a16="http://schemas.microsoft.com/office/drawing/2014/main" id="{F1963BF3-41FF-D71F-6F39-1DBECC8DF644}"/>
              </a:ext>
            </a:extLst>
          </p:cNvPr>
          <p:cNvSpPr/>
          <p:nvPr/>
        </p:nvSpPr>
        <p:spPr>
          <a:xfrm rot="-5400000">
            <a:off x="6360596" y="3834043"/>
            <a:ext cx="877750" cy="1349032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rgbClr val="9F2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5200" y="1332000"/>
          <a:ext cx="5356800" cy="763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1054800"/>
                <a:gridCol w="1054800"/>
                <a:gridCol w="1054800"/>
              </a:tblGrid>
              <a:tr h="224576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Entidad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2018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Variación %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Quintana Roo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16,176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21,536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Querétaro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24,451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30,246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+24%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Baja California Sur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12,216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14,883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Colima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10,098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11,607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+15%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Nuevo León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67,183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76,253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Tabasco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10,426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11,590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Jalisco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93,370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103,555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+11%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Tlaxcala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4,979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5,509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Yucatán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19,239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21,213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Hidalgo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15,233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16,790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+10%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Estado de México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70,722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77,011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+9%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Oaxaca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13,672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14,770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Ciudad de México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115,460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122,963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+6%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Puebla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32,165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34,210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Nayarit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12,202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12,688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Chihuahua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39,080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40,218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Coahuila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33,815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34,508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San Luis Potosí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22,356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22,781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Aguascalientes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15,705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15,956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Chiapas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14,238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14,344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Sinaloa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39,084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39,009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Campeche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6,016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5,997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-0%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Baja California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37,963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37,510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-1%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Guanajuato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48,513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47,495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-2%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Michoacán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34,834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33,973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Durango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14,074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13,680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Morelos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12,152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11,413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-6%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Sonora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39,887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37,354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Zacatecas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11,707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10,925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-7%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Veracruz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44,349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40,206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-9%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Tamaulipas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33,119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29,813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-10%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Guerrero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13,793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11,990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-13%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Nacional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978,277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1,021,996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+4%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1200" y="4942800"/>
            <a:ext cx="1411200" cy="83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9F2241"/>
                </a:solidFill>
                <a:latin typeface="Noto Sans"/>
              </a:defRPr>
            </a:pPr>
            <a:r>
              <a:t>Var</a:t>
            </a:r>
          </a:p>
          <a:p>
            <a:pPr algn="ctr">
              <a:defRPr sz="2600" b="1">
                <a:solidFill>
                  <a:srgbClr val="9F2241"/>
                </a:solidFill>
                <a:latin typeface="Noto Sans"/>
              </a:defRPr>
            </a:pPr>
            <a:r>
              <a:t>+4%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200" y="9165600"/>
            <a:ext cx="5432400" cy="4967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Adscripciones plenamente identificadas a UMF de titulares y de sus personas beneficiarias. Fuente: Datos DIR IMSS. Diciembre 2018 frente a febrero de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150;g3731575bb9d_3_0">
            <a:extLst>
              <a:ext uri="{FF2B5EF4-FFF2-40B4-BE49-F238E27FC236}">
                <a16:creationId xmlns:a16="http://schemas.microsoft.com/office/drawing/2014/main" id="{94BC01A5-BEDB-F230-FD7B-356286358DB0}"/>
              </a:ext>
            </a:extLst>
          </p:cNvPr>
          <p:cNvGraphicFramePr/>
          <p:nvPr/>
        </p:nvGraphicFramePr>
        <p:xfrm>
          <a:off x="287700" y="722126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</a:t>
                      </a: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8"/>
                            </a:ext>
                          </a:extLst>
                        </a:rPr>
                        <a:t>Salario base de cotización</a:t>
                      </a: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9"/>
                            </a:ext>
                          </a:extLst>
                        </a:rPr>
                        <a:t> </a:t>
                      </a: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-MX" sz="2100" b="1" u="none" strike="noStrike" cap="none" dirty="0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                                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84;p2">
            <a:extLst>
              <a:ext uri="{FF2B5EF4-FFF2-40B4-BE49-F238E27FC236}">
                <a16:creationId xmlns:a16="http://schemas.microsoft.com/office/drawing/2014/main" id="{45C209F9-168B-F9F3-0D3A-67AD80CD70DF}"/>
              </a:ext>
            </a:extLst>
          </p:cNvPr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Google Shape;208;g3731575bb9d_3_105">
            <a:extLst>
              <a:ext uri="{FF2B5EF4-FFF2-40B4-BE49-F238E27FC236}">
                <a16:creationId xmlns:a16="http://schemas.microsoft.com/office/drawing/2014/main" id="{1A5AD390-980E-C1F7-07AA-99F441EBC185}"/>
              </a:ext>
            </a:extLst>
          </p:cNvPr>
          <p:cNvSpPr/>
          <p:nvPr/>
        </p:nvSpPr>
        <p:spPr>
          <a:xfrm rot="-5400000">
            <a:off x="6360596" y="3834043"/>
            <a:ext cx="877750" cy="1349032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rgbClr val="9F2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5200" y="1332000"/>
          <a:ext cx="5356800" cy="763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1054800"/>
                <a:gridCol w="1054800"/>
                <a:gridCol w="1054800"/>
              </a:tblGrid>
              <a:tr h="224576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Entidad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2018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Variación %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Quintana Roo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263.11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591.33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+60%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Baja California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355.44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744.32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+49%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Tamaulipas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337.52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701.15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+48%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Sinaloa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257.11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533.59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+48%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Nayarit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265.29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537.45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+45%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Baja California Sur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319.02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645.79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+45%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Chihuahua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343.59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691.59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+44%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Sonora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309.68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620.28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+43%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Colima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296.55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588.76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+42%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Tabasco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301.56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587.99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+39%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Durango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278.19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540.20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+39%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Oaxaca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281.96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543.42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Guerrero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285.91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550.52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+37%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Guanajuato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304.33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580.16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Aguascalientes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334.06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627.76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Chiapas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302.98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569.16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Jalisco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347.36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650.24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Tlaxcala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297.28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550.90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San Luis Potosí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359.30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664.90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Michoacán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296.37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546.73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Coahuila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358.27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659.68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Zacatecas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326.91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599.09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Yucatán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304.05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554.84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Puebla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319.46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581.86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Ciudad de México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444.27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809.18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Hidalgo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305.99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556.71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Nuevo León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397.12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721.72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Querétaro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402.99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715.72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+27%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Veracruz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350.25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619.43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+26%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Estado de México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341.64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602.56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Morelos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338.43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592.16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+25%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24576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Noto Sans"/>
                        </a:defRPr>
                      </a:pPr>
                      <a:r>
                        <a:t>Campeche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402.34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702.78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latin typeface="Noto Sans"/>
                        </a:defRPr>
                      </a:pPr>
                      <a:r>
                        <a:t>+25%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245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Nacional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354.35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663.45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1200" y="4942800"/>
            <a:ext cx="1411200" cy="83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9F2241"/>
                </a:solidFill>
                <a:latin typeface="Noto Sans"/>
              </a:defRPr>
            </a:pPr>
            <a:r>
              <a:t>Var</a:t>
            </a:r>
          </a:p>
          <a:p>
            <a:pPr algn="ctr">
              <a:defRPr sz="2600" b="1">
                <a:solidFill>
                  <a:srgbClr val="9F2241"/>
                </a:solidFill>
                <a:latin typeface="Noto Sans"/>
              </a:defRPr>
            </a:pPr>
            <a:r>
              <a:t>+34%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200" y="9086400"/>
            <a:ext cx="5432400" cy="4967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Adscripciones plenamente identificadas a UMF de titulares y de sus personas beneficiarias. Fuente: Datos DIR IMSS. Diciembre 2018 frente a marzo de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1;g3731575bb9d_3_10">
            <a:extLst>
              <a:ext uri="{FF2B5EF4-FFF2-40B4-BE49-F238E27FC236}">
                <a16:creationId xmlns:a16="http://schemas.microsoft.com/office/drawing/2014/main" id="{EBFA2AB1-2728-A17E-33A9-721EC07ACEFE}"/>
              </a:ext>
            </a:extLst>
          </p:cNvPr>
          <p:cNvGraphicFramePr/>
          <p:nvPr/>
        </p:nvGraphicFramePr>
        <p:xfrm>
          <a:off x="287700" y="6490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 Infraestructura médica y social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Google Shape;84;p2">
            <a:extLst>
              <a:ext uri="{FF2B5EF4-FFF2-40B4-BE49-F238E27FC236}">
                <a16:creationId xmlns:a16="http://schemas.microsoft.com/office/drawing/2014/main" id="{6A0D7C38-0218-88E0-2526-90CE4C55E60D}"/>
              </a:ext>
            </a:extLst>
          </p:cNvPr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55200" y="1497600"/>
          <a:ext cx="4665600" cy="16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400"/>
                <a:gridCol w="1094400"/>
                <a:gridCol w="1094400"/>
                <a:gridCol w="1094400"/>
              </a:tblGrid>
              <a:tr h="33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Concepto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2018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Variación %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</a:tr>
              <a:tr h="333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b="0"/>
                        <a:t>Consultorios de Medicina Familiar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t>7,566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t>8,019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b="1"/>
                        <a:t>+6.0%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333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b="0"/>
                        <a:t>Consultorios de especialidad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t>6,077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t>7,488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b="1"/>
                        <a:t>+23.2%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333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b="0"/>
                        <a:t>Camas censables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t>33,752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t>39,008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b="1"/>
                        <a:t>+15.6%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333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b="0"/>
                        <a:t>Quirófanos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t>1,292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t>1,298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b="1"/>
                        <a:t>+0.5%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5200" y="8892000"/>
            <a:ext cx="5432400" cy="4967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Adscripciones plenamente identificadas a UMF de titulares y de sus personas beneficiarias. Fuente: Datos DIR IMSS. Diciembre 2018 frente a enero de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70;g3731575bb9d_3_75">
            <a:extLst>
              <a:ext uri="{FF2B5EF4-FFF2-40B4-BE49-F238E27FC236}">
                <a16:creationId xmlns:a16="http://schemas.microsoft.com/office/drawing/2014/main" id="{2E797D3A-F6C5-47BF-39DC-665F229BC5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8872085"/>
              </p:ext>
            </p:extLst>
          </p:nvPr>
        </p:nvGraphicFramePr>
        <p:xfrm>
          <a:off x="246600" y="782072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 Capacidad instalada por nivel de atención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Google Shape;84;p2">
            <a:extLst>
              <a:ext uri="{FF2B5EF4-FFF2-40B4-BE49-F238E27FC236}">
                <a16:creationId xmlns:a16="http://schemas.microsoft.com/office/drawing/2014/main" id="{DD45CD77-3043-E33B-0AED-6A054A2EC918}"/>
              </a:ext>
            </a:extLst>
          </p:cNvPr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676B9F-6AC5-A789-B610-CA79F2F25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" y="8713107"/>
            <a:ext cx="6223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264B98-9403-EEEF-AC7E-3FF07C740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3842" y="8637812"/>
            <a:ext cx="766174" cy="5606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0621F4-E11D-5D72-8CD8-0A5731009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4282" y="8621486"/>
            <a:ext cx="436418" cy="5334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47600" y="1386000"/>
          <a:ext cx="7477199" cy="598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800"/>
                <a:gridCol w="936000"/>
                <a:gridCol w="1069200"/>
                <a:gridCol w="943200"/>
                <a:gridCol w="846000"/>
                <a:gridCol w="813599"/>
                <a:gridCol w="889200"/>
                <a:gridCol w="745200"/>
              </a:tblGrid>
              <a:tr h="1759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Entidad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Unidades de primer nivel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Unidades de segundo nivel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Unidades de tercer nivel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Camas censables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Camas no censables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Consultorios de MF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Quirofanos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Aguascalientes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564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351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Baja California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1,446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602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274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Baja California Sur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342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Campeche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304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Chiapas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737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456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Chihuahua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1,945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812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333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Ciudad de México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5,749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2,667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904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191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Coahuila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1,806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786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325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Colima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309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198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Durango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664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326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Estado de México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3,644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1,698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927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Guanajuato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1,535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743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Guerrero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548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263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Hidalgo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728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397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Jalisco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3,583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1,858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644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Michoacán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1,208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616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225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Morelos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511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Nayarit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463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338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Nuevo León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2,606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1,082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560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Oaxaca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644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315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Puebla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1,348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738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Querétaro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701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416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Quintana Roo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516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296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San Luis Potosí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985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446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Sinaloa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1,224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551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261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Sonora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1,480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913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Tabasco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355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Tamaulipas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1,292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656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289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Tlaxcala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207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Veracruz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2,078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1,074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429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Yucatán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908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412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176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Zacatecas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35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526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284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Total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1,164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342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25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40,956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20,267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8,019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1,230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26800" y="8683200"/>
            <a:ext cx="1565999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515E"/>
                </a:solidFill>
                <a:latin typeface="Noto Sans Black"/>
              </a:defRPr>
            </a:pPr>
            <a:r>
              <a:t>40,956</a:t>
            </a:r>
          </a:p>
          <a:p>
            <a:pPr algn="ctr">
              <a:defRPr sz="1400">
                <a:solidFill>
                  <a:srgbClr val="00515E"/>
                </a:solidFill>
                <a:latin typeface="Noto Sans"/>
              </a:defRPr>
            </a:pPr>
            <a:r>
              <a:t>camas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4399" y="8683200"/>
            <a:ext cx="1512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515E"/>
                </a:solidFill>
                <a:latin typeface="Noto Sans Black"/>
              </a:defRPr>
            </a:pPr>
            <a:r>
              <a:t>1,230</a:t>
            </a:r>
          </a:p>
          <a:p>
            <a:pPr algn="ctr">
              <a:defRPr sz="1400">
                <a:solidFill>
                  <a:srgbClr val="00515E"/>
                </a:solidFill>
                <a:latin typeface="Noto Sans"/>
              </a:defRPr>
            </a:pPr>
            <a:r>
              <a:t>quirófanos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8683200"/>
            <a:ext cx="19476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515E"/>
                </a:solidFill>
                <a:latin typeface="Noto Sans Black"/>
              </a:defRPr>
            </a:pPr>
            <a:r>
              <a:t>8,019</a:t>
            </a:r>
          </a:p>
          <a:p>
            <a:pPr algn="ctr">
              <a:defRPr sz="1400">
                <a:solidFill>
                  <a:srgbClr val="00515E"/>
                </a:solidFill>
                <a:latin typeface="Noto Sans"/>
              </a:defRPr>
            </a:pPr>
            <a:r>
              <a:t>consultorios de MF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200" y="8035200"/>
            <a:ext cx="3427200" cy="46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*Incluye 379 Unidades Auxiliares de Medicina Familiar.</a:t>
            </a:r>
            <a:br/>
            <a:r>
              <a:t>Fuente: IFU y CUUMSP, enero 2026.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95;g3731575bb9d_3_90">
            <a:extLst>
              <a:ext uri="{FF2B5EF4-FFF2-40B4-BE49-F238E27FC236}">
                <a16:creationId xmlns:a16="http://schemas.microsoft.com/office/drawing/2014/main" id="{200B8F01-B0C1-2A15-7B79-4FB3D7ECFF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7324093"/>
              </p:ext>
            </p:extLst>
          </p:nvPr>
        </p:nvGraphicFramePr>
        <p:xfrm>
          <a:off x="228150" y="817171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8.Unidades Médicas de Tiempo Completo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Google Shape;84;p2">
            <a:extLst>
              <a:ext uri="{FF2B5EF4-FFF2-40B4-BE49-F238E27FC236}">
                <a16:creationId xmlns:a16="http://schemas.microsoft.com/office/drawing/2014/main" id="{A5738CA9-9AE5-770D-1B6B-CE0307D9216C}"/>
              </a:ext>
            </a:extLst>
          </p:cNvPr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341DFF-BCEE-4E20-408F-DC655F481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681" y="8138889"/>
            <a:ext cx="690711" cy="564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793CA6-F3A0-60F0-84E9-8DF998AAE1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2793" y="8082334"/>
            <a:ext cx="499836" cy="65073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7600" y="1386000"/>
          <a:ext cx="7300800" cy="598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00"/>
                <a:gridCol w="964800"/>
                <a:gridCol w="964800"/>
                <a:gridCol w="964800"/>
                <a:gridCol w="964800"/>
                <a:gridCol w="964800"/>
                <a:gridCol w="964800"/>
              </a:tblGrid>
              <a:tr h="1759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OOAD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No. Unidades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Unidades de tiempo completo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Total consultorios MF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Total consultorios de Tiempo completo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Porcentaje de consultorios UMTC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Productividad acumulada enero a abril 2026</a:t>
                      </a:r>
                    </a:p>
                  </a:txBody>
                  <a:tcPr marL="3600" marR="3600" marT="3600" marB="3600">
                    <a:solidFill>
                      <a:srgbClr val="006455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Aguascalientes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3020.0%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630,901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Baja California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2570.0%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1,051,449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Baja California Sur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1360.0%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273,488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Campeche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2620.0%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186,246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Chiapas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1300.0%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481,271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Chihuahua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301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1790.0%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1,190,449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Ciudad de México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857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1120.0%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3,700,965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Coahuila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1220.0%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1,027,747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Colima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3200.0%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240,663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Durango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1690.0%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600,261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Estado de México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895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2040.0%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3,830,120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Guanajuato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1290.0%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1,010,481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Guerrero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1430.0%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370,305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Hidalgo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2860.0%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361,430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Jalisco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606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1630.0%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2,475,049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Michoacán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198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2580.0%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839,928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Morelos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2660.0%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340,538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Nayarit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2920.0%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317,955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Nuevo León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499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2260.0%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2,283,243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Oaxaca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1860.0%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377,930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Puebla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3490.0%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1,074,368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Querétaro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3630.0%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791,163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Quintana Roo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50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7140.0%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406,595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San Luis Potosí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1990.0%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637,899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Sinaloa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1660.0%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805,089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Sonora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1740.0%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1,019,947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Tabasco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2400.0%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442,932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Tamaulipas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42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273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1470.0%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1,361,680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Tlaxcala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19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4040.0%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217,522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Veracruz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104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371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1810.0%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1,612,086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Yucatán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27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1930.0%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729,315</a:t>
                      </a:r>
                    </a:p>
                  </a:txBody>
                  <a:tcPr marT="3600" marB="3600" marL="3600" marR="3600">
                    <a:solidFill>
                      <a:srgbClr val="FFFFFF"/>
                    </a:solidFill>
                  </a:tcPr>
                </a:tc>
              </a:tr>
              <a:tr h="175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Zacatecas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35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107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930.0%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424,478</a:t>
                      </a:r>
                    </a:p>
                  </a:txBody>
                  <a:tcPr marT="3600" marB="3600" marL="3600" marR="3600">
                    <a:solidFill>
                      <a:srgbClr val="EFEFEF"/>
                    </a:solidFill>
                  </a:tcPr>
                </a:tc>
              </a:tr>
              <a:tr h="1759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Total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1,164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346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7,126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1,413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16.5%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31,113,493</a:t>
                      </a:r>
                    </a:p>
                  </a:txBody>
                  <a:tcPr marT="3600" marB="3600" marL="3600" marR="360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544400" y="8146800"/>
            <a:ext cx="21960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515E"/>
                </a:solidFill>
                <a:latin typeface="Noto Sans Black"/>
              </a:defRPr>
            </a:pPr>
            <a:r>
              <a:t>346</a:t>
            </a:r>
          </a:p>
          <a:p>
            <a:pPr algn="ctr">
              <a:defRPr sz="1400">
                <a:solidFill>
                  <a:srgbClr val="00515E"/>
                </a:solidFill>
                <a:latin typeface="Noto Sans"/>
              </a:defRPr>
            </a:pPr>
            <a:r>
              <a:t>Unidades de 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1200" y="8146800"/>
            <a:ext cx="21960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515E"/>
                </a:solidFill>
                <a:latin typeface="Noto Sans Black"/>
              </a:defRPr>
            </a:pPr>
            <a:r>
              <a:t>1,413</a:t>
            </a:r>
          </a:p>
          <a:p>
            <a:pPr algn="ctr">
              <a:defRPr sz="1400">
                <a:solidFill>
                  <a:srgbClr val="00515E"/>
                </a:solidFill>
                <a:latin typeface="Noto Sans"/>
              </a:defRPr>
            </a:pPr>
            <a:r>
              <a:t>consultorios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31575bb9d_3_105"/>
          <p:cNvSpPr txBox="1"/>
          <p:nvPr/>
        </p:nvSpPr>
        <p:spPr>
          <a:xfrm>
            <a:off x="607588" y="1572850"/>
            <a:ext cx="5043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675" tIns="0" rIns="201675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s" sz="2100" b="0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Crecimiento en consultas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g3731575bb9d_3_105"/>
          <p:cNvSpPr txBox="1"/>
          <p:nvPr/>
        </p:nvSpPr>
        <p:spPr>
          <a:xfrm>
            <a:off x="373275" y="6075600"/>
            <a:ext cx="682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675" tIns="0" rIns="201675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s" sz="2100" b="0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Crecimiento de consultas de Especialidades y MF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10" name="Google Shape;210;g3731575bb9d_3_105"/>
          <p:cNvGraphicFramePr/>
          <p:nvPr/>
        </p:nvGraphicFramePr>
        <p:xfrm>
          <a:off x="287700" y="9538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 Día Típico</a:t>
                      </a:r>
                      <a:endParaRPr sz="2100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1" name="Google Shape;211;g3731575bb9d_3_105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Google Shape;208;g3731575bb9d_3_105">
            <a:extLst>
              <a:ext uri="{FF2B5EF4-FFF2-40B4-BE49-F238E27FC236}">
                <a16:creationId xmlns:a16="http://schemas.microsoft.com/office/drawing/2014/main" id="{4762769E-EE19-D4B0-352B-3FFE681D1F27}"/>
              </a:ext>
            </a:extLst>
          </p:cNvPr>
          <p:cNvSpPr/>
          <p:nvPr/>
        </p:nvSpPr>
        <p:spPr>
          <a:xfrm rot="-5400000">
            <a:off x="6311613" y="1939925"/>
            <a:ext cx="877750" cy="1349032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rgbClr val="9F2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2" name="Table 211"/>
          <p:cNvGraphicFramePr>
            <a:graphicFrameLocks noGrp="1"/>
          </p:cNvGraphicFramePr>
          <p:nvPr/>
        </p:nvGraphicFramePr>
        <p:xfrm>
          <a:off x="374400" y="2055600"/>
          <a:ext cx="53676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400"/>
                <a:gridCol w="964800"/>
                <a:gridCol w="964800"/>
                <a:gridCol w="964800"/>
                <a:gridCol w="964800"/>
              </a:tblGrid>
              <a:tr h="504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Consultas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2018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2025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2026*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Variación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Medicina Familiar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343,693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394,888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435,659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+26.8%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Especialidades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70,171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103,748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127,174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+81.2%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Urgencias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52,730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49,091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47,762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-9.4%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Dentales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18,167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25,104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25,270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+39.1%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Total*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484,761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572,831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635,865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+31.2%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3" name="Table 212"/>
          <p:cNvGraphicFramePr>
            <a:graphicFrameLocks noGrp="1"/>
          </p:cNvGraphicFramePr>
          <p:nvPr/>
        </p:nvGraphicFramePr>
        <p:xfrm>
          <a:off x="374400" y="6858000"/>
          <a:ext cx="5367600" cy="21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400"/>
                <a:gridCol w="964800"/>
                <a:gridCol w="964800"/>
                <a:gridCol w="964800"/>
                <a:gridCol w="964800"/>
              </a:tblGrid>
              <a:tr h="53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Servicio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2018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2025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2026*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Variación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</a:tr>
              <a:tr h="531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Egresos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5,486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6,074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6,491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+18.3%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531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Intervenciones quirúrgicas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3,831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3,771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5,060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+32.1%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531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Partos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1,083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694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707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-34.7%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4" name="TextBox 213"/>
          <p:cNvSpPr txBox="1"/>
          <p:nvPr/>
        </p:nvSpPr>
        <p:spPr>
          <a:xfrm>
            <a:off x="6091200" y="2793600"/>
            <a:ext cx="1375200" cy="83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9F2241"/>
                </a:solidFill>
                <a:latin typeface="Noto Sans"/>
              </a:defRPr>
            </a:pPr>
            <a:r>
              <a:t>Var +31.2%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74400" y="5284800"/>
            <a:ext cx="3506400" cy="37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 Corte información: marzo de 2026.</a:t>
            </a:r>
            <a:br/>
            <a:r>
              <a:t>Incluye: medicina familiar, especialidades, dental y urgencias.</a:t>
            </a:r>
            <a:br/>
            <a:r>
              <a:t>Fuente: División de Información en Salud/DataMart Estadísticas Médicas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31575bb9d_3_119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21" name="Google Shape;221;g3731575bb9d_3_119"/>
          <p:cNvGraphicFramePr/>
          <p:nvPr/>
        </p:nvGraphicFramePr>
        <p:xfrm>
          <a:off x="298150" y="729487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 Principales motivos de atención,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2" name="Table 221"/>
          <p:cNvGraphicFramePr>
            <a:graphicFrameLocks noGrp="1"/>
          </p:cNvGraphicFramePr>
          <p:nvPr/>
        </p:nvGraphicFramePr>
        <p:xfrm>
          <a:off x="1242000" y="1188000"/>
          <a:ext cx="5270399" cy="260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399"/>
                <a:gridCol w="1497600"/>
                <a:gridCol w="788400"/>
              </a:tblGrid>
              <a:tr h="200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Medicina Familiar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Consultas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Porcentaje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</a:tr>
              <a:tr h="2002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Enfermedades del corazón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20,563,977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34.7%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002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Diabetes mellitus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19,816,086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33.4%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002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traumatismos e intoxicaciones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4,536,971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7.6%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002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Infecciones respiratorias agudas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4,008,710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6.8%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002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Enfermedades y trastornos de las articulaciones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2,720,317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4.6%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002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Enfermedades mentales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2,652,203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4.5%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002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Embarazo, parto y puerperio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2,403,011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4.0%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002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Problemas y enfermedades de la columna vertebral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1,836,621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3.1%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002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Obesidad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513,314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0.9%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002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Trastornos de la piel y tejidos superficiales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103,432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0.2%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0021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Otras enfermedades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183,302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0.3%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00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 b="1"/>
                        <a:t>TOTAL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 b="1"/>
                        <a:t>59,337,944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 b="1"/>
                        <a:t>100.0%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3" name="Table 222"/>
          <p:cNvGraphicFramePr>
            <a:graphicFrameLocks noGrp="1"/>
          </p:cNvGraphicFramePr>
          <p:nvPr/>
        </p:nvGraphicFramePr>
        <p:xfrm>
          <a:off x="1242000" y="4010400"/>
          <a:ext cx="5270399" cy="242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399"/>
                <a:gridCol w="1497600"/>
                <a:gridCol w="788400"/>
              </a:tblGrid>
              <a:tr h="1863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Especialidades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Consultas 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Porcentaje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</a:tr>
              <a:tr h="186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Tumores malignos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2,250,781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19.3%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86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Traumatismos e intoxicaciones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2,102,608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18.0%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86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Enfermedades y trastornos de las articulaciones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1,550,891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13.3%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86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Enfermedades del corazón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1,197,710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10.3%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86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Insuficiencia renal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1,023,813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8.8%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86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Problemas y enfermedades de la columna vertebral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891,353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7.6%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86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Enfermedades mentales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836,583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7.2%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86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Trastornos de la piel y tejidos superficiales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514,586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4.4%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86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Embarazo, parto y puerperio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511,157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4.4%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86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Diabetes mellitus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462,155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4.0%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86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Otras enfermedades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314,214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2.7%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863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 b="1"/>
                        <a:t>TOTAL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 b="1"/>
                        <a:t>11,655,851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 b="1"/>
                        <a:t>100.0%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4" name="Table 223"/>
          <p:cNvGraphicFramePr>
            <a:graphicFrameLocks noGrp="1"/>
          </p:cNvGraphicFramePr>
          <p:nvPr/>
        </p:nvGraphicFramePr>
        <p:xfrm>
          <a:off x="1242000" y="6739200"/>
          <a:ext cx="5270399" cy="23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399"/>
                <a:gridCol w="1497600"/>
                <a:gridCol w="788400"/>
              </a:tblGrid>
              <a:tr h="1830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Cirugías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cirugías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Porcentaje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</a:tr>
              <a:tr h="1830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Traumatismos y envenenamientos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221,084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19.9%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830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Cesárea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196,555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17.7%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830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Cirugía de cataratas (Facoemulsificación con implante de lente intraocular)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138,071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12.4%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830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Cirugía de Hernias (Hernioplastía)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112,231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10.1%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830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Tumores malignos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93,809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8.4%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830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Cirugía de vesicula biliar (Colecistectomía)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90,497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8.1%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830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Artropatias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63,753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5.7%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830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Tumores de comportamiento incierto o desconocido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59,525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5.4%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830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Insuficiencia renal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24,876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2.2%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830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Enfermedades del corazón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17,764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1.6%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830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 b="0"/>
                        <a:t>Otras cirugías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93,421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 b="0"/>
                        <a:t>8.4%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83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 b="1"/>
                        <a:t>TOTAL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 b="1"/>
                        <a:t>1,111,586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 b="1"/>
                        <a:t>100.0%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31575bb9d_3_128"/>
          <p:cNvSpPr txBox="1"/>
          <p:nvPr/>
        </p:nvSpPr>
        <p:spPr>
          <a:xfrm>
            <a:off x="0" y="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28" name="Google Shape;228;g3731575bb9d_3_128"/>
          <p:cNvGraphicFramePr/>
          <p:nvPr/>
        </p:nvGraphicFramePr>
        <p:xfrm>
          <a:off x="143513" y="843962"/>
          <a:ext cx="74853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11. Estrategia 2-30-100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0" name="TextBox 229"/>
          <p:cNvSpPr txBox="1"/>
          <p:nvPr/>
        </p:nvSpPr>
        <p:spPr>
          <a:xfrm>
            <a:off x="194400" y="9046800"/>
            <a:ext cx="1641599" cy="23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Noto Sans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/>
                <a:cs typeface="Arial"/>
                <a:sym typeface="Arial"/>
              </a:rPr>
              <a:t>Fuente: Información acumulada a la semana 17 de 2026, IMSS/DPTI</a:t>
            </a:r>
          </a:p>
        </p:txBody>
      </p:sp>
      <p:graphicFrame>
        <p:nvGraphicFramePr>
          <p:cNvPr id="231" name="Table 230"/>
          <p:cNvGraphicFramePr>
            <a:graphicFrameLocks noGrp="1"/>
          </p:cNvGraphicFramePr>
          <p:nvPr/>
        </p:nvGraphicFramePr>
        <p:xfrm>
          <a:off x="849600" y="1825200"/>
          <a:ext cx="6066000" cy="252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400"/>
                <a:gridCol w="928800"/>
                <a:gridCol w="928800"/>
                <a:gridCol w="928800"/>
                <a:gridCol w="928800"/>
                <a:gridCol w="1058400"/>
              </a:tblGrid>
              <a:tr h="420600"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abril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Meta abril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Meta anual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 abril</a:t>
                      </a:r>
                    </a:p>
                  </a:txBody>
                  <a:tcPr marL="7200" marR="7200">
                    <a:solidFill>
                      <a:srgbClr val="9F22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anual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</a:tr>
              <a:tr h="42060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Cirugías OOAD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450,978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512,190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1,525,085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+88%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42060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Cirugías UMAE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126,411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164,112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489,467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+77%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42060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Consulta de Especialidad OOAD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7,877,830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8,383,596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25,082,070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+94%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42060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Consulta de Especialidad UMAE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1,886,010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2,054,418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6,146,330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42060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Consulta Medicina Familiar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35,168,349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35,480,724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106,111,604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2" name="TextBox 231"/>
          <p:cNvSpPr txBox="1"/>
          <p:nvPr/>
        </p:nvSpPr>
        <p:spPr>
          <a:xfrm>
            <a:off x="194400" y="9046800"/>
            <a:ext cx="1641599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Información acumulada a la semana 17 de 2026, IMSS/DPTI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6">
          <a:extLst>
            <a:ext uri="{FF2B5EF4-FFF2-40B4-BE49-F238E27FC236}">
              <a16:creationId xmlns:a16="http://schemas.microsoft.com/office/drawing/2014/main" id="{ED84D157-E9CF-6B3E-8024-682052A6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31575bb9d_3_128">
            <a:extLst>
              <a:ext uri="{FF2B5EF4-FFF2-40B4-BE49-F238E27FC236}">
                <a16:creationId xmlns:a16="http://schemas.microsoft.com/office/drawing/2014/main" id="{6AF2685D-920F-246C-1FF8-944054C0D446}"/>
              </a:ext>
            </a:extLst>
          </p:cNvPr>
          <p:cNvSpPr txBox="1"/>
          <p:nvPr/>
        </p:nvSpPr>
        <p:spPr>
          <a:xfrm>
            <a:off x="0" y="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Google Shape;236;g3731575bb9d_3_135">
            <a:extLst>
              <a:ext uri="{FF2B5EF4-FFF2-40B4-BE49-F238E27FC236}">
                <a16:creationId xmlns:a16="http://schemas.microsoft.com/office/drawing/2014/main" id="{907CDDB0-D177-A682-7FD6-8EB5C7D3F5EC}"/>
              </a:ext>
            </a:extLst>
          </p:cNvPr>
          <p:cNvGraphicFramePr/>
          <p:nvPr/>
        </p:nvGraphicFramePr>
        <p:xfrm>
          <a:off x="193138" y="802050"/>
          <a:ext cx="74853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11. Estrategia 2-30-100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8" name="Table 227"/>
          <p:cNvGraphicFramePr>
            <a:graphicFrameLocks noGrp="1"/>
          </p:cNvGraphicFramePr>
          <p:nvPr/>
        </p:nvGraphicFramePr>
        <p:xfrm>
          <a:off x="788400" y="1281600"/>
          <a:ext cx="6058799" cy="748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000"/>
                <a:gridCol w="1044000"/>
                <a:gridCol w="827999"/>
                <a:gridCol w="885600"/>
                <a:gridCol w="860400"/>
                <a:gridCol w="766800"/>
              </a:tblGrid>
              <a:tr h="251999">
                <a:tc gridSpan="6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Entidad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abril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Meta abril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Meta anual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 abril</a:t>
                      </a:r>
                    </a:p>
                  </a:txBody>
                  <a:tcPr marL="7200" marR="7200">
                    <a:solidFill>
                      <a:srgbClr val="9F22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anual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Aguascalientes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630,901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630,705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1,886,360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+100%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Baja California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1,210,420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1,250,408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3,739,192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Baja California Sur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336,415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348,200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1,040,792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Campeche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263,958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262,131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783,716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+101%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Chiapas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515,069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536,402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1,603,424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+96%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Chihuahua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1,337,943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1,420,533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4,246,960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+94%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Ciudad de México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3,925,445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4,047,793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12,132,348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Coahuila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1,395,293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1,402,528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4,193,748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Colima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274,693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272,919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815,924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+101%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Durango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620,343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627,059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1,874,524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Estado de México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3,956,024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4,060,626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12,143,816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Guanajuato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1,399,111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1,406,771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4,207,008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Guerrero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534,822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529,874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1,584,224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+101%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Hidalgo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574,446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580,996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1,737,132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Jalisco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2,644,687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2,727,022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8,152,360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Michoacán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969,179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959,675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2,868,528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+101%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Morelos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555,418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556,620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1,664,152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+100%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Nayarit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377,586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379,755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1,134,800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Nuevo León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2,549,817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2,495,863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7,464,504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Oaxaca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422,468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405,098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1,210,480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+104%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+35%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Puebla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1,074,368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1,057,052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3,160,196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Querétaro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791,163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793,169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2,371,808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+100%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Quintana Roo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491,403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476,888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1,426,224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+103%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San Luis Potosí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751,918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771,896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2,307,428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Sinaloa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1,138,975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1,140,615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3,410,252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+100%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Sonora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1,113,707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1,115,178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3,333,200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+100%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Tabasco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452,821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436,076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1,303,008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+104%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+35%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Tamaulipas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1,441,402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1,375,226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4,112,256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+105%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+35%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Tlaxcala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300,780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294,079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879,192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Veracruz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1,885,481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1,873,435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5,599,356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+101%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Yucatán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807,815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816,738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2,442,072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Zacatecas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424,478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429,394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1,282,620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21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Nacional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35,168,349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35,480,724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106,111,604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sp>
        <p:nvSpPr>
          <p:cNvPr id="229" name="TextBox 228"/>
          <p:cNvSpPr txBox="1"/>
          <p:nvPr/>
        </p:nvSpPr>
        <p:spPr>
          <a:xfrm>
            <a:off x="788400" y="9021600"/>
            <a:ext cx="1641599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Corte: Semana 17 IMSS/DPTI Incluye primer y segundo nivel.</a:t>
            </a:r>
          </a:p>
        </p:txBody>
      </p:sp>
    </p:spTree>
    <p:extLst>
      <p:ext uri="{BB962C8B-B14F-4D97-AF65-F5344CB8AC3E}">
        <p14:creationId xmlns:p14="http://schemas.microsoft.com/office/powerpoint/2010/main" val="2218485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6">
          <a:extLst>
            <a:ext uri="{FF2B5EF4-FFF2-40B4-BE49-F238E27FC236}">
              <a16:creationId xmlns:a16="http://schemas.microsoft.com/office/drawing/2014/main" id="{3C94AA01-7A32-68CD-3875-582515C36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31575bb9d_3_128">
            <a:extLst>
              <a:ext uri="{FF2B5EF4-FFF2-40B4-BE49-F238E27FC236}">
                <a16:creationId xmlns:a16="http://schemas.microsoft.com/office/drawing/2014/main" id="{3AF83680-E0D3-CC18-A289-3EBA8C2796C1}"/>
              </a:ext>
            </a:extLst>
          </p:cNvPr>
          <p:cNvSpPr txBox="1"/>
          <p:nvPr/>
        </p:nvSpPr>
        <p:spPr>
          <a:xfrm>
            <a:off x="0" y="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Google Shape;236;g3731575bb9d_3_135">
            <a:extLst>
              <a:ext uri="{FF2B5EF4-FFF2-40B4-BE49-F238E27FC236}">
                <a16:creationId xmlns:a16="http://schemas.microsoft.com/office/drawing/2014/main" id="{A150607E-C8E2-24C0-4FDE-BCD4FF943AB8}"/>
              </a:ext>
            </a:extLst>
          </p:cNvPr>
          <p:cNvGraphicFramePr/>
          <p:nvPr/>
        </p:nvGraphicFramePr>
        <p:xfrm>
          <a:off x="193138" y="802050"/>
          <a:ext cx="74853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11. Estrategia 2-30-100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8" name="Table 227"/>
          <p:cNvGraphicFramePr>
            <a:graphicFrameLocks noGrp="1"/>
          </p:cNvGraphicFramePr>
          <p:nvPr/>
        </p:nvGraphicFramePr>
        <p:xfrm>
          <a:off x="788400" y="1281600"/>
          <a:ext cx="6058799" cy="748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000"/>
                <a:gridCol w="1044000"/>
                <a:gridCol w="827999"/>
                <a:gridCol w="885600"/>
                <a:gridCol w="860400"/>
                <a:gridCol w="766800"/>
              </a:tblGrid>
              <a:tr h="251999">
                <a:tc gridSpan="6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CONSULTA DE 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Entidad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abril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Meta abril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Meta anual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 abril</a:t>
                      </a:r>
                    </a:p>
                  </a:txBody>
                  <a:tcPr marL="7200" marR="7200">
                    <a:solidFill>
                      <a:srgbClr val="9F22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anual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Aguascalientes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199,859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199,836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597,870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+100%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Baja California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342,174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315,004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942,430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Baja California Sur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105,110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103,700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310,250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+101%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Campeche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71,053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85,644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256,230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+83%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Chiapas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117,641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162,626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486,545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+72%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Chihuahua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314,769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383,690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1,147,925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+27%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Ciudad de México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824,453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917,928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2,746,260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+90%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Coahuila de Zaragoza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313,383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347,090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1,038,425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+90%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Colima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92,273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100,772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301,490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Durango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139,268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131,760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394,200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+106%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+35%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Estado de México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713,136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785,558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2,350,235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+91%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Guanajuato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299,834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301,462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901,915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Guerrero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134,894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141,642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423,765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+95%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Hidalgo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174,061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188,612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564,290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Jalisco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630,502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632,326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1,891,795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+100%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Michoacán de Ocampo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273,645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286,578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857,385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+95%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Morelos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131,955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159,332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476,690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+83%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+28%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Nayarit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142,666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161,406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482,895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+88%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Nuevo León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404,331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385,276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1,152,670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+105%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+35%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Oaxaca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45,495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59,292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177,390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+77%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Puebla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174,152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167,872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502,240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+104%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+35%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Querétaro de Arteaga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225,130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211,548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632,910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+106%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Quintana Roo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134,629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151,524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453,330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San Luis Potosí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150,622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177,266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530,345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+85%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Sinaloa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265,140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269,132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805,190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Sonora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309,877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361,852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1,082,590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+86%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+29%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Tabasco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136,820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123,220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368,650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+111%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+37%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Tamaulipas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251,213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264,862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792,415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+95%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Tlaxcala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74,985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76,860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229,950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+98%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Veracruz de Ignacio de la Llave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411,177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443,836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1,327,870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+93%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Yucatán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182,025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191,296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572,320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+95%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Zacatecas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91,558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94,794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283,605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21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Nacional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7,877,830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8,383,596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25,082,070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+94%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sp>
        <p:nvSpPr>
          <p:cNvPr id="229" name="TextBox 228"/>
          <p:cNvSpPr txBox="1"/>
          <p:nvPr/>
        </p:nvSpPr>
        <p:spPr>
          <a:xfrm>
            <a:off x="788400" y="9025200"/>
            <a:ext cx="1706400" cy="46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Corte: Semana 17 Incluye solo segundo nivel.</a:t>
            </a:r>
          </a:p>
        </p:txBody>
      </p:sp>
    </p:spTree>
    <p:extLst>
      <p:ext uri="{BB962C8B-B14F-4D97-AF65-F5344CB8AC3E}">
        <p14:creationId xmlns:p14="http://schemas.microsoft.com/office/powerpoint/2010/main" val="1617398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6">
          <a:extLst>
            <a:ext uri="{FF2B5EF4-FFF2-40B4-BE49-F238E27FC236}">
              <a16:creationId xmlns:a16="http://schemas.microsoft.com/office/drawing/2014/main" id="{2BB994DC-D58D-FFE4-09CA-A83202DEB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31575bb9d_3_128">
            <a:extLst>
              <a:ext uri="{FF2B5EF4-FFF2-40B4-BE49-F238E27FC236}">
                <a16:creationId xmlns:a16="http://schemas.microsoft.com/office/drawing/2014/main" id="{7D3BC8D3-D5D2-6ED6-09A6-D30FB997A616}"/>
              </a:ext>
            </a:extLst>
          </p:cNvPr>
          <p:cNvSpPr txBox="1"/>
          <p:nvPr/>
        </p:nvSpPr>
        <p:spPr>
          <a:xfrm>
            <a:off x="0" y="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Google Shape;236;g3731575bb9d_3_135">
            <a:extLst>
              <a:ext uri="{FF2B5EF4-FFF2-40B4-BE49-F238E27FC236}">
                <a16:creationId xmlns:a16="http://schemas.microsoft.com/office/drawing/2014/main" id="{71DDD56D-172C-41F2-4517-3FA6FEEA4779}"/>
              </a:ext>
            </a:extLst>
          </p:cNvPr>
          <p:cNvGraphicFramePr/>
          <p:nvPr/>
        </p:nvGraphicFramePr>
        <p:xfrm>
          <a:off x="193138" y="802050"/>
          <a:ext cx="74853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11. Estrategia 2-30-100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8" name="Table 227"/>
          <p:cNvGraphicFramePr>
            <a:graphicFrameLocks noGrp="1"/>
          </p:cNvGraphicFramePr>
          <p:nvPr/>
        </p:nvGraphicFramePr>
        <p:xfrm>
          <a:off x="788400" y="1281600"/>
          <a:ext cx="6058799" cy="748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000"/>
                <a:gridCol w="1044000"/>
                <a:gridCol w="827999"/>
                <a:gridCol w="885600"/>
                <a:gridCol w="860400"/>
                <a:gridCol w="766800"/>
              </a:tblGrid>
              <a:tr h="251999">
                <a:tc gridSpan="6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INTERVENCIONES QUIRÚRGICAS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Entidad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abril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Meta abril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Meta anual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 abril</a:t>
                      </a:r>
                    </a:p>
                  </a:txBody>
                  <a:tcPr marL="7200" marR="7200">
                    <a:solidFill>
                      <a:srgbClr val="9F22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anual</a:t>
                      </a:r>
                    </a:p>
                  </a:txBody>
                  <a:tcPr marL="7200" marR="7200">
                    <a:solidFill>
                      <a:srgbClr val="006455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Aguascalientes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9,927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10,585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31,517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+94%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Baja California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18,279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19,649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58,530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+93%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Baja California Sur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5,137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6,092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18,137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+84%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+28%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Campeche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3,541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4,683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13,952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+76%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+25%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Chiapas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5,440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6,670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19,860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+27%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Chihuahua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17,508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25,106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74,750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+70%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Ciudad de México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38,670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42,216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125,672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Coahuila de Zaragoza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21,868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26,190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77,984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+83%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Colima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3,895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4,813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14,324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+81%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+27%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Durango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9,259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9,170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27,291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+101%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Estado de México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44,556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51,521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153,412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+86%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+29%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Guanajuato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19,496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20,127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59,943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Guerrero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10,341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10,393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30,944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Hidalgo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7,251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9,409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28,016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+77%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Jalisco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37,395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41,386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123,209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+90%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Michoacán de Ocampo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14,861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16,843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50,132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+88%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Morelos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8,524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8,857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26,457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+96%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Nayarit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7,320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9,564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28,481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+77%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Nuevo León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20,174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22,311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66,435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+90%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Oaxaca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2,706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3,354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9,984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+81%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+27%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Puebla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10,348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11,781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35,073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+88%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Querétaro de Arteaga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13,142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13,248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39,458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+33%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Quintana Roo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8,256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8,619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25,664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+96%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+32%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San Luis Potosí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10,356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12,627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37,586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+28%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Sinaloa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13,791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15,766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46,939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+29%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Sonora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18,231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23,722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70,619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+77%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+26%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Tabasco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9,340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8,955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26,660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+104%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+35%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Tamaulipas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15,434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16,822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50,078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Tlaxcala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5,177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5,144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15,315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+101%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Veracruz de Ignacio de la Llave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25,682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29,527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87,916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+29%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Yucatán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10,699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11,998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35,742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+89%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7200" marB="0">
                    <a:solidFill>
                      <a:srgbClr val="FFFFFF"/>
                    </a:solidFill>
                  </a:tcPr>
                </a:tc>
              </a:tr>
              <a:tr h="20818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Zacatecas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4,374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5,042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15,005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+87%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+29%</a:t>
                      </a:r>
                    </a:p>
                  </a:txBody>
                  <a:tcPr marT="7200" marB="0">
                    <a:solidFill>
                      <a:srgbClr val="EFEFEF"/>
                    </a:solidFill>
                  </a:tcPr>
                </a:tc>
              </a:tr>
              <a:tr h="20821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Nacional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450,978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512,190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1,525,085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-12%</a:t>
                      </a:r>
                    </a:p>
                  </a:txBody>
                  <a:tcPr marT="720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-70%</a:t>
                      </a:r>
                    </a:p>
                  </a:txBody>
                  <a:tcPr marT="7200" marB="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sp>
        <p:nvSpPr>
          <p:cNvPr id="229" name="TextBox 228"/>
          <p:cNvSpPr txBox="1"/>
          <p:nvPr/>
        </p:nvSpPr>
        <p:spPr>
          <a:xfrm>
            <a:off x="788400" y="9025200"/>
            <a:ext cx="1706400" cy="46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Corte: Semana 17 Incluye solo segundo nivel.</a:t>
            </a:r>
          </a:p>
        </p:txBody>
      </p:sp>
    </p:spTree>
    <p:extLst>
      <p:ext uri="{BB962C8B-B14F-4D97-AF65-F5344CB8AC3E}">
        <p14:creationId xmlns:p14="http://schemas.microsoft.com/office/powerpoint/2010/main" val="2778406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6">
          <a:extLst>
            <a:ext uri="{FF2B5EF4-FFF2-40B4-BE49-F238E27FC236}">
              <a16:creationId xmlns:a16="http://schemas.microsoft.com/office/drawing/2014/main" id="{585B2D92-99C0-7FAC-AD66-DD5BDDDD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31575bb9d_3_128">
            <a:extLst>
              <a:ext uri="{FF2B5EF4-FFF2-40B4-BE49-F238E27FC236}">
                <a16:creationId xmlns:a16="http://schemas.microsoft.com/office/drawing/2014/main" id="{86D217D4-ECF0-4490-9567-DC2079AE7632}"/>
              </a:ext>
            </a:extLst>
          </p:cNvPr>
          <p:cNvSpPr txBox="1"/>
          <p:nvPr/>
        </p:nvSpPr>
        <p:spPr>
          <a:xfrm>
            <a:off x="0" y="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Google Shape;236;g3731575bb9d_3_135">
            <a:extLst>
              <a:ext uri="{FF2B5EF4-FFF2-40B4-BE49-F238E27FC236}">
                <a16:creationId xmlns:a16="http://schemas.microsoft.com/office/drawing/2014/main" id="{F4E6F222-B319-9B0E-B927-453FD52E9894}"/>
              </a:ext>
            </a:extLst>
          </p:cNvPr>
          <p:cNvGraphicFramePr/>
          <p:nvPr/>
        </p:nvGraphicFramePr>
        <p:xfrm>
          <a:off x="193138" y="802050"/>
          <a:ext cx="74853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11. Estrategia 2-30-100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8" name="Table 227"/>
          <p:cNvGraphicFramePr>
            <a:graphicFrameLocks noGrp="1"/>
          </p:cNvGraphicFramePr>
          <p:nvPr/>
        </p:nvGraphicFramePr>
        <p:xfrm>
          <a:off x="435600" y="1062000"/>
          <a:ext cx="6901199" cy="8397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000"/>
                <a:gridCol w="792000"/>
                <a:gridCol w="943200"/>
                <a:gridCol w="1007999"/>
                <a:gridCol w="979200"/>
                <a:gridCol w="874800"/>
              </a:tblGrid>
              <a:tr h="251999">
                <a:tc gridSpan="6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INTERVENCIONES QUIRÚRGICAS 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Nombre</a:t>
                      </a:r>
                    </a:p>
                  </a:txBody>
                  <a:tcPr marL="0" marR="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abril</a:t>
                      </a:r>
                    </a:p>
                  </a:txBody>
                  <a:tcPr marL="0" marR="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Meta abril</a:t>
                      </a:r>
                    </a:p>
                  </a:txBody>
                  <a:tcPr marL="0" marR="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Meta anual</a:t>
                      </a:r>
                    </a:p>
                  </a:txBody>
                  <a:tcPr marL="0" marR="0">
                    <a:solidFill>
                      <a:srgbClr val="0064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 abril</a:t>
                      </a:r>
                    </a:p>
                  </a:txBody>
                  <a:tcPr marL="0" marR="0">
                    <a:solidFill>
                      <a:srgbClr val="9F22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Avance anual</a:t>
                      </a:r>
                    </a:p>
                  </a:txBody>
                  <a:tcPr marL="0" marR="0">
                    <a:solidFill>
                      <a:srgbClr val="006455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01 HES CMN La Raza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2,857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6,952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20,700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+41%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+14%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02 HES CMN Siglo XXI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8,952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10,974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32,775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+82%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+27%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03 HES CMN Occidente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8,493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9,815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29,325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+87%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+29%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04 HES Monterrey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5,829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6,373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18,975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+91%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05 HES Torreón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6,677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5,793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17,250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+115%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+39%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06 HES Puebla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3,071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5,793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17,250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+53%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+18%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07 HES CMN del Bajío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5,844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6,373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18,975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+92%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08 HES Obregón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3,588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5,793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17,250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+62%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+21%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09 HES Veracruz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4,318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6,952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20,700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+62%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+21%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10 HES 1 Mérida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1,323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2,318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6,900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+57%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+19%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11 HGO CMN La Raza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3,684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4,056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12,075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+91%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+31%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12 HGO San Angel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4,647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6,952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20,700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+67%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+22%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13 HGO CMN Occidente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3,634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4,056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12,075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+90%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+30%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14 HGO Monterrey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5,376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5,214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15,525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+103%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+35%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15 HTO Magdalena Salinas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10,925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17,776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53,150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+61%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+21%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16 HTO Lomas Verdes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6,103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9,236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27,600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+66%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+22%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17 HTO Puebla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2,986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4,056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12,075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+74%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+25%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18 HTO Monterrey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9,661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8,578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25,623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+113%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+38%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19 HP CMN Siglo XXI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1,705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4,635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13,800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+37%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+12%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20 HP CMN Occidente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4,146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3,980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11,826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+104%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+35%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21 HC CMN Siglo XXI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2,382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2,359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7,045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+101%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+34%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22 HC Monterrey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4,765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3,180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9,498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+150%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+50%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23 HGP CMN del Bajío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3,352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4,635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13,800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+72%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+24%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24 HG CMN La Raza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8,342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12,163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36,325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+69%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+23%</a:t>
                      </a:r>
                    </a:p>
                  </a:txBody>
                  <a:tcPr marT="0" marB="0">
                    <a:solidFill>
                      <a:srgbClr val="EFEFEF"/>
                    </a:solidFill>
                  </a:tcPr>
                </a:tc>
              </a:tr>
              <a:tr h="299442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Noto Sans"/>
                        </a:defRPr>
                      </a:pPr>
                      <a:r>
                        <a:t>UMAE 25 HOnco CMN Siglo XXI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3,751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6,100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18,250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+61%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+21%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29946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Nacional</a:t>
                      </a:r>
                    </a:p>
                  </a:txBody>
                  <a:tcPr marT="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126,411</a:t>
                      </a:r>
                    </a:p>
                  </a:txBody>
                  <a:tcPr marT="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164,112</a:t>
                      </a:r>
                    </a:p>
                  </a:txBody>
                  <a:tcPr marT="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489,467</a:t>
                      </a:r>
                    </a:p>
                  </a:txBody>
                  <a:tcPr marT="0" marB="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latin typeface="Noto Sans"/>
                        </a:defRPr>
                      </a:pPr>
                      <a:r>
                        <a:t>+77%</a:t>
                      </a:r>
                    </a:p>
                  </a:txBody>
                  <a:tcPr marT="0" marB="0">
                    <a:solidFill>
                      <a:srgbClr val="E9CD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t>+26%</a:t>
                      </a:r>
                    </a:p>
                  </a:txBody>
                  <a:tcPr marT="0" marB="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sp>
        <p:nvSpPr>
          <p:cNvPr id="229" name="TextBox 228"/>
          <p:cNvSpPr txBox="1"/>
          <p:nvPr/>
        </p:nvSpPr>
        <p:spPr>
          <a:xfrm>
            <a:off x="194400" y="9597600"/>
            <a:ext cx="1706400" cy="46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Corte: Semana 17 Incluye solo segundo nivel.</a:t>
            </a:r>
          </a:p>
        </p:txBody>
      </p:sp>
    </p:spTree>
    <p:extLst>
      <p:ext uri="{BB962C8B-B14F-4D97-AF65-F5344CB8AC3E}">
        <p14:creationId xmlns:p14="http://schemas.microsoft.com/office/powerpoint/2010/main" val="2699584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6">
          <a:extLst>
            <a:ext uri="{FF2B5EF4-FFF2-40B4-BE49-F238E27FC236}">
              <a16:creationId xmlns:a16="http://schemas.microsoft.com/office/drawing/2014/main" id="{D45EBFF3-8106-EB66-497D-933623EF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31575bb9d_3_128">
            <a:extLst>
              <a:ext uri="{FF2B5EF4-FFF2-40B4-BE49-F238E27FC236}">
                <a16:creationId xmlns:a16="http://schemas.microsoft.com/office/drawing/2014/main" id="{631FD1E1-BEA5-160C-B770-05BBD5A80368}"/>
              </a:ext>
            </a:extLst>
          </p:cNvPr>
          <p:cNvSpPr txBox="1"/>
          <p:nvPr/>
        </p:nvSpPr>
        <p:spPr>
          <a:xfrm>
            <a:off x="0" y="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273;g3731575bb9d_3_171">
            <a:extLst>
              <a:ext uri="{FF2B5EF4-FFF2-40B4-BE49-F238E27FC236}">
                <a16:creationId xmlns:a16="http://schemas.microsoft.com/office/drawing/2014/main" id="{B28EA593-B65B-2AA5-70E2-E05B3BCE1A6B}"/>
              </a:ext>
            </a:extLst>
          </p:cNvPr>
          <p:cNvSpPr txBox="1"/>
          <p:nvPr/>
        </p:nvSpPr>
        <p:spPr>
          <a:xfrm>
            <a:off x="248400" y="1184400"/>
            <a:ext cx="68172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675" tIns="100825" rIns="201675" bIns="1008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 dirty="0">
                <a:solidFill>
                  <a:srgbClr val="9F2241"/>
                </a:solidFill>
                <a:latin typeface="Montserrat"/>
                <a:ea typeface="Montserrat"/>
                <a:cs typeface="Montserrat"/>
                <a:sym typeface="Montserrat"/>
              </a:rPr>
              <a:t>Receta electrónica vs. receta manual (millones de recetas)</a:t>
            </a:r>
            <a:endParaRPr sz="1600" b="0" i="0" u="none" strike="noStrike" cap="none" dirty="0">
              <a:solidFill>
                <a:srgbClr val="9F224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" name="Google Shape;275;g3731575bb9d_3_171">
            <a:extLst>
              <a:ext uri="{FF2B5EF4-FFF2-40B4-BE49-F238E27FC236}">
                <a16:creationId xmlns:a16="http://schemas.microsoft.com/office/drawing/2014/main" id="{6B0D6DA8-64C0-69F5-6D3B-9524410B3EEC}"/>
              </a:ext>
            </a:extLst>
          </p:cNvPr>
          <p:cNvGraphicFramePr/>
          <p:nvPr/>
        </p:nvGraphicFramePr>
        <p:xfrm>
          <a:off x="48850" y="725813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12. Abasto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8" name="Picture 227" descr="graf_recetas_manual_el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00" y="1443600"/>
            <a:ext cx="7315200" cy="3765600"/>
          </a:xfrm>
          <a:prstGeom prst="rect">
            <a:avLst/>
          </a:prstGeom>
        </p:spPr>
      </p:pic>
      <p:sp>
        <p:nvSpPr>
          <p:cNvPr id="229" name="TextBox 228"/>
          <p:cNvSpPr txBox="1"/>
          <p:nvPr/>
        </p:nvSpPr>
        <p:spPr>
          <a:xfrm>
            <a:off x="475200" y="5320800"/>
            <a:ext cx="68184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F2241"/>
                </a:solidFill>
                <a:latin typeface="Montserrat"/>
              </a:defRPr>
            </a:pPr>
            <a:r>
              <a:t>Recetas surtidas vs. recetas negadas</a:t>
            </a:r>
          </a:p>
        </p:txBody>
      </p:sp>
      <p:pic>
        <p:nvPicPr>
          <p:cNvPr id="230" name="Picture 229" descr="graf_recetas_surt_ne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800" y="5547600"/>
            <a:ext cx="7315200" cy="36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926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6">
          <a:extLst>
            <a:ext uri="{FF2B5EF4-FFF2-40B4-BE49-F238E27FC236}">
              <a16:creationId xmlns:a16="http://schemas.microsoft.com/office/drawing/2014/main" id="{F4F14729-084D-D76B-48DF-CFA3F008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31575bb9d_3_128">
            <a:extLst>
              <a:ext uri="{FF2B5EF4-FFF2-40B4-BE49-F238E27FC236}">
                <a16:creationId xmlns:a16="http://schemas.microsoft.com/office/drawing/2014/main" id="{BDA72483-6A18-606E-58F5-4D64D696E695}"/>
              </a:ext>
            </a:extLst>
          </p:cNvPr>
          <p:cNvSpPr txBox="1"/>
          <p:nvPr/>
        </p:nvSpPr>
        <p:spPr>
          <a:xfrm>
            <a:off x="0" y="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Google Shape;284;g3731575bb9d_3_181">
            <a:extLst>
              <a:ext uri="{FF2B5EF4-FFF2-40B4-BE49-F238E27FC236}">
                <a16:creationId xmlns:a16="http://schemas.microsoft.com/office/drawing/2014/main" id="{AF1D3B59-5832-E697-0B56-F8B21B19A8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8023351"/>
              </p:ext>
            </p:extLst>
          </p:nvPr>
        </p:nvGraphicFramePr>
        <p:xfrm>
          <a:off x="149075" y="895925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2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13. Uso de recetas electrónicas 2026</a:t>
                      </a:r>
                      <a:endParaRPr sz="22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8" name="Table 227"/>
          <p:cNvGraphicFramePr>
            <a:graphicFrameLocks noGrp="1"/>
          </p:cNvGraphicFramePr>
          <p:nvPr/>
        </p:nvGraphicFramePr>
        <p:xfrm>
          <a:off x="309600" y="1501200"/>
          <a:ext cx="7174800" cy="70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600"/>
                <a:gridCol w="1062000"/>
                <a:gridCol w="1062000"/>
                <a:gridCol w="943200"/>
                <a:gridCol w="1062000"/>
                <a:gridCol w="1188000"/>
              </a:tblGrid>
              <a:tr h="2086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Entidad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Recetas presentadas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Recetas manuales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Receta manual (%)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Recetas electrónicas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Receta electrónica (%)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Durango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10,899,234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280,746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2.6%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10,618,488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97.4%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Sinaloa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23,171,940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1,003,688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4.3%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22,168,252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95.7%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Zacatecas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7,376,084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362,092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4.9%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7,013,992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95.1%</a:t>
                      </a:r>
                    </a:p>
                  </a:txBody>
                  <a:tcPr marT="3600" marB="3600" marL="3600" marR="3600" anchor="ctr">
                    <a:solidFill>
                      <a:srgbClr val="D5E8D4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Hidalgo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8,260,929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418,950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5.1%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7,841,979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94.9%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Colima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4,712,323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251,212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5.3%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4,461,111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94.7%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Aguascalientes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11,601,855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638,760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5.5%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10,963,095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94.5%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Nuevo León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35,733,303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1,988,572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5.6%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33,744,731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94.4%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Tlaxcala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4,160,749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238,233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5.7%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3,922,516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94.3%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Tabasco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5,932,845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346,109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5.8%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5,586,736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94.2%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Jalisco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47,249,120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2,946,263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6.2%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44,302,857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93.8%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Quintana Roo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6,735,165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431,975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6.4%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6,303,190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93.6%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Baja California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19,333,896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1,248,468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6.5%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18,085,428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93.5%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Baja California Sur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4,881,040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326,236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6.7%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4,554,804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93.3%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Yucatán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13,477,712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915,509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6.8%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12,562,203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93.2%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Puebla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18,579,936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1,312,278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7.1%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17,267,658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92.9%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Querétaro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11,081,490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784,097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7.1%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10,297,393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92.9%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San Luis Potosí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13,234,540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976,334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7.4%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12,258,206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92.6%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Ciudad de México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71,166,489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5,303,164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7.5%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65,863,325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92.5%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Campeche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3,719,628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279,700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7.5%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3,439,928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92.5%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Veracruz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30,752,527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2,342,669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7.6%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28,409,858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92.4%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Morelos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9,836,501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750,475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7.6%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9,086,026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92.4%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Michoacán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18,152,073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1,441,292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7.9%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16,710,781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92.1%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Nayarit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7,097,362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587,177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8.3%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6,510,185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91.7%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Coahuila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23,243,061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1,937,464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8.3%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21,305,597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91.7%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Estado de México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65,831,307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5,982,516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9.1%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59,848,791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90.9%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Sonora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21,748,389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2,028,444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9.3%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19,719,945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90.7%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Chiapas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8,281,489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824,250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10.0%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7,457,239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90.0%</a:t>
                      </a:r>
                    </a:p>
                  </a:txBody>
                  <a:tcPr marT="3600" marB="3600" marL="3600" marR="3600" anchor="ctr">
                    <a:solidFill>
                      <a:srgbClr val="FFF2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Chihuahua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25,563,173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2,617,435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10.2%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22,945,738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89.8%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Oaxaca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6,257,804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655,300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10.5%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5,602,504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89.5%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Guanajuato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26,193,459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3,064,832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11.7%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23,128,627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88.3%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Guerrero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8,976,566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1,052,414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11.7%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7,924,152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88.3%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</a:tr>
              <a:tr h="2086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Tamaulipas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17,046,675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2,130,498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12.5%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14,916,177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87.5%</a:t>
                      </a:r>
                    </a:p>
                  </a:txBody>
                  <a:tcPr marT="3600" marB="3600" marL="3600" marR="3600" anchor="ctr">
                    <a:solidFill>
                      <a:srgbClr val="F4CCCC"/>
                    </a:solidFill>
                  </a:tcPr>
                </a:tc>
              </a:tr>
              <a:tr h="2086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Nacional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590,288,664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45,467,152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7.7%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544,821,512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92.3%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sp>
        <p:nvSpPr>
          <p:cNvPr id="229" name="TextBox 228"/>
          <p:cNvSpPr txBox="1"/>
          <p:nvPr/>
        </p:nvSpPr>
        <p:spPr>
          <a:xfrm>
            <a:off x="349200" y="9018000"/>
            <a:ext cx="576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Aplicativo Portal de Abasto. Periodo 01 de enero al 31 de octubre de 2025.</a:t>
            </a:r>
          </a:p>
        </p:txBody>
      </p:sp>
    </p:spTree>
    <p:extLst>
      <p:ext uri="{BB962C8B-B14F-4D97-AF65-F5344CB8AC3E}">
        <p14:creationId xmlns:p14="http://schemas.microsoft.com/office/powerpoint/2010/main" val="1069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6">
          <a:extLst>
            <a:ext uri="{FF2B5EF4-FFF2-40B4-BE49-F238E27FC236}">
              <a16:creationId xmlns:a16="http://schemas.microsoft.com/office/drawing/2014/main" id="{414F05D0-428B-7A88-FEF3-3037DAF6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31575bb9d_3_128">
            <a:extLst>
              <a:ext uri="{FF2B5EF4-FFF2-40B4-BE49-F238E27FC236}">
                <a16:creationId xmlns:a16="http://schemas.microsoft.com/office/drawing/2014/main" id="{5CDC82B4-AEAB-6D02-5E47-60B6ADA4B651}"/>
              </a:ext>
            </a:extLst>
          </p:cNvPr>
          <p:cNvSpPr txBox="1"/>
          <p:nvPr/>
        </p:nvSpPr>
        <p:spPr>
          <a:xfrm>
            <a:off x="0" y="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Google Shape;293;g34a8f59b381_1_0">
            <a:extLst>
              <a:ext uri="{FF2B5EF4-FFF2-40B4-BE49-F238E27FC236}">
                <a16:creationId xmlns:a16="http://schemas.microsoft.com/office/drawing/2014/main" id="{6EC88D0B-A1C1-7F05-1FB9-A2ED59563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751742"/>
              </p:ext>
            </p:extLst>
          </p:nvPr>
        </p:nvGraphicFramePr>
        <p:xfrm>
          <a:off x="135300" y="868075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14. Draft, especialistas 2026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8" name="Table 227"/>
          <p:cNvGraphicFramePr>
            <a:graphicFrameLocks noGrp="1"/>
          </p:cNvGraphicFramePr>
          <p:nvPr/>
        </p:nvGraphicFramePr>
        <p:xfrm>
          <a:off x="835200" y="1522800"/>
          <a:ext cx="6044400" cy="58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000"/>
                <a:gridCol w="1378800"/>
                <a:gridCol w="1378800"/>
                <a:gridCol w="1378800"/>
              </a:tblGrid>
              <a:tr h="1731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Entidad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Sustitución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Plazas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Total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Aguascalientes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207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Baja California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322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Baja California Sur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32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Campeche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142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Chiapas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261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371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Chihuahua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389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Ciudad de México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1,274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535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1,809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Coahuila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323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437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Colima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Durango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Guanajuato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204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309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Guerrero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66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Hidalgo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188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Jalisco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531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700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Michoacán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326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407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Morelos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136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México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550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573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1,123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Nayarit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Nuevo León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248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399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Oaxaca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209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Puebla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162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379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Querétaro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205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Quintana Roo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82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San Luis Potosí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170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Sinaloa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Sonora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345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498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Tabasco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Tamaulipas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299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Tlaxcala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Veracruz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355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516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Yucatán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278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173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Zacatecas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1731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Total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5,582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5,203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10,785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801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301" name="Google Shape;301;p15"/>
          <p:cNvGraphicFramePr/>
          <p:nvPr/>
        </p:nvGraphicFramePr>
        <p:xfrm>
          <a:off x="254473" y="884132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3"/>
                            </a:ext>
                          </a:extLst>
                        </a:rPr>
                        <a:t>15. Personal médico y de Enfermería</a:t>
                      </a:r>
                      <a:endParaRPr lang="es-MX"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2" name="Google Shape;302;p15"/>
          <p:cNvSpPr txBox="1"/>
          <p:nvPr/>
        </p:nvSpPr>
        <p:spPr>
          <a:xfrm>
            <a:off x="254473" y="5171397"/>
            <a:ext cx="66963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Fuente: Dirección de Administración, Base SIAP comparativa.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3" name="Google Shape;30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774" y="1858003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948" y="2868229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3998" y="1712953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7948" y="3964154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53998" y="2933129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04122" y="4000929"/>
            <a:ext cx="1165250" cy="102255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5"/>
          <p:cNvSpPr/>
          <p:nvPr/>
        </p:nvSpPr>
        <p:spPr>
          <a:xfrm>
            <a:off x="1493023" y="2068104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1482848" y="1818904"/>
            <a:ext cx="1981800" cy="523200"/>
          </a:xfrm>
          <a:prstGeom prst="roundRect">
            <a:avLst>
              <a:gd name="adj" fmla="val 16667"/>
            </a:avLst>
          </a:prstGeom>
          <a:solidFill>
            <a:srgbClr val="006455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Medium"/>
                <a:ea typeface="Montserrat Medium"/>
                <a:cs typeface="Montserrat Medium"/>
                <a:sym typeface="Montserrat Medium"/>
              </a:rPr>
              <a:t>Médicos generales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1" name="Google Shape;311;p15"/>
          <p:cNvSpPr txBox="1"/>
          <p:nvPr/>
        </p:nvSpPr>
        <p:spPr>
          <a:xfrm>
            <a:off x="2522943" y="2312200"/>
            <a:ext cx="9315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1" i="0" u="none" strike="noStrike" kern="0" cap="none" spc="0" normalizeH="0" baseline="0" noProof="0" dirty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id="312" name="Google Shape;312;p15"/>
          <p:cNvSpPr txBox="1"/>
          <p:nvPr/>
        </p:nvSpPr>
        <p:spPr>
          <a:xfrm>
            <a:off x="1493023" y="2312200"/>
            <a:ext cx="9315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1" i="0" u="none" strike="noStrike" kern="0" cap="none" spc="0" normalizeH="0" baseline="0" noProof="0" dirty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2018</a:t>
            </a:r>
          </a:p>
        </p:txBody>
      </p:sp>
      <p:cxnSp>
        <p:nvCxnSpPr>
          <p:cNvPr id="313" name="Google Shape;313;p15"/>
          <p:cNvCxnSpPr/>
          <p:nvPr/>
        </p:nvCxnSpPr>
        <p:spPr>
          <a:xfrm rot="10800000">
            <a:off x="2473794" y="2424529"/>
            <a:ext cx="0" cy="331200"/>
          </a:xfrm>
          <a:prstGeom prst="straightConnector1">
            <a:avLst/>
          </a:prstGeom>
          <a:noFill/>
          <a:ln w="19050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4" name="Google Shape;314;p15"/>
          <p:cNvSpPr/>
          <p:nvPr/>
        </p:nvSpPr>
        <p:spPr>
          <a:xfrm>
            <a:off x="5468973" y="2068104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5458798" y="1818904"/>
            <a:ext cx="1981800" cy="523200"/>
          </a:xfrm>
          <a:prstGeom prst="roundRect">
            <a:avLst>
              <a:gd name="adj" fmla="val 16667"/>
            </a:avLst>
          </a:prstGeom>
          <a:solidFill>
            <a:srgbClr val="006455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Medium"/>
                <a:cs typeface="Arial"/>
                <a:sym typeface="Montserrat Medium"/>
              </a:rPr>
              <a:t>Médicos especialistas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Medium"/>
              <a:cs typeface="Arial"/>
              <a:sym typeface="Montserrat Medium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6499018" y="2340400"/>
            <a:ext cx="9315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1" i="0" u="none" strike="noStrike" kern="0" cap="none" spc="0" normalizeH="0" baseline="0" noProof="0" dirty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5468973" y="2340400"/>
            <a:ext cx="9315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s" sz="1300" b="1" i="0" u="none" strike="noStrike" kern="0" cap="none" spc="0" normalizeH="0" baseline="0" noProof="0" dirty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2018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A4214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8" name="Google Shape;318;p15"/>
          <p:cNvCxnSpPr/>
          <p:nvPr/>
        </p:nvCxnSpPr>
        <p:spPr>
          <a:xfrm rot="10800000">
            <a:off x="6449744" y="2528929"/>
            <a:ext cx="0" cy="331200"/>
          </a:xfrm>
          <a:prstGeom prst="straightConnector1">
            <a:avLst/>
          </a:prstGeom>
          <a:noFill/>
          <a:ln w="19050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9" name="Google Shape;319;p15"/>
          <p:cNvSpPr/>
          <p:nvPr/>
        </p:nvSpPr>
        <p:spPr>
          <a:xfrm>
            <a:off x="1493023" y="3216929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1482848" y="2967729"/>
            <a:ext cx="1981800" cy="523200"/>
          </a:xfrm>
          <a:prstGeom prst="roundRect">
            <a:avLst>
              <a:gd name="adj" fmla="val 16667"/>
            </a:avLst>
          </a:prstGeom>
          <a:solidFill>
            <a:srgbClr val="006455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Medium"/>
                <a:cs typeface="Arial"/>
                <a:sym typeface="Montserrat Medium"/>
              </a:rPr>
              <a:t>Enfermeras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Medium"/>
              <a:cs typeface="Arial"/>
              <a:sym typeface="Montserrat Medium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2522943" y="3461025"/>
            <a:ext cx="9315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1" i="0" u="none" strike="noStrike" kern="0" cap="none" spc="0" normalizeH="0" baseline="0" noProof="0" dirty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1493023" y="3461025"/>
            <a:ext cx="9315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1" i="0" u="none" strike="noStrike" kern="0" cap="none" spc="0" normalizeH="0" baseline="0" noProof="0" dirty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2018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3" name="Google Shape;323;p15"/>
          <p:cNvCxnSpPr/>
          <p:nvPr/>
        </p:nvCxnSpPr>
        <p:spPr>
          <a:xfrm rot="10800000">
            <a:off x="2473794" y="3573354"/>
            <a:ext cx="0" cy="331200"/>
          </a:xfrm>
          <a:prstGeom prst="straightConnector1">
            <a:avLst/>
          </a:prstGeom>
          <a:noFill/>
          <a:ln w="19050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4" name="Google Shape;324;p15"/>
          <p:cNvSpPr/>
          <p:nvPr/>
        </p:nvSpPr>
        <p:spPr>
          <a:xfrm>
            <a:off x="5468973" y="3216929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5458798" y="2967729"/>
            <a:ext cx="1981800" cy="523200"/>
          </a:xfrm>
          <a:prstGeom prst="roundRect">
            <a:avLst>
              <a:gd name="adj" fmla="val 16667"/>
            </a:avLst>
          </a:prstGeom>
          <a:solidFill>
            <a:srgbClr val="006455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Medium"/>
                <a:cs typeface="Arial"/>
                <a:sym typeface="Montserrat Medium"/>
              </a:rPr>
              <a:t>Paramédicos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Medium"/>
              <a:cs typeface="Arial"/>
              <a:sym typeface="Montserrat Medium"/>
            </a:endParaRPr>
          </a:p>
        </p:txBody>
      </p:sp>
      <p:sp>
        <p:nvSpPr>
          <p:cNvPr id="326" name="Google Shape;326;p15"/>
          <p:cNvSpPr txBox="1"/>
          <p:nvPr/>
        </p:nvSpPr>
        <p:spPr>
          <a:xfrm>
            <a:off x="6499018" y="3489225"/>
            <a:ext cx="9315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1" i="0" u="none" strike="noStrike" kern="0" cap="none" spc="0" normalizeH="0" baseline="0" noProof="0" dirty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5468973" y="3489225"/>
            <a:ext cx="9315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1" i="0" u="none" strike="noStrike" kern="0" cap="none" spc="0" normalizeH="0" baseline="0" noProof="0" dirty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2018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8" name="Google Shape;328;p15"/>
          <p:cNvCxnSpPr/>
          <p:nvPr/>
        </p:nvCxnSpPr>
        <p:spPr>
          <a:xfrm rot="10800000">
            <a:off x="6449744" y="3677754"/>
            <a:ext cx="0" cy="331200"/>
          </a:xfrm>
          <a:prstGeom prst="straightConnector1">
            <a:avLst/>
          </a:prstGeom>
          <a:noFill/>
          <a:ln w="19050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9" name="Google Shape;329;p15"/>
          <p:cNvSpPr/>
          <p:nvPr/>
        </p:nvSpPr>
        <p:spPr>
          <a:xfrm>
            <a:off x="1493023" y="4374629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1482848" y="4125429"/>
            <a:ext cx="1981800" cy="523200"/>
          </a:xfrm>
          <a:prstGeom prst="roundRect">
            <a:avLst>
              <a:gd name="adj" fmla="val 16667"/>
            </a:avLst>
          </a:prstGeom>
          <a:solidFill>
            <a:srgbClr val="006455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Medium"/>
                <a:cs typeface="Arial"/>
                <a:sym typeface="Montserrat Medium"/>
              </a:rPr>
              <a:t>Residentes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Medium"/>
              <a:cs typeface="Arial"/>
              <a:sym typeface="Montserrat Medium"/>
            </a:endParaRPr>
          </a:p>
        </p:txBody>
      </p:sp>
      <p:sp>
        <p:nvSpPr>
          <p:cNvPr id="331" name="Google Shape;331;p15"/>
          <p:cNvSpPr txBox="1"/>
          <p:nvPr/>
        </p:nvSpPr>
        <p:spPr>
          <a:xfrm>
            <a:off x="2522943" y="4618725"/>
            <a:ext cx="9315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1" i="0" u="none" strike="noStrike" kern="0" cap="none" spc="0" normalizeH="0" baseline="0" noProof="0" dirty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15"/>
          <p:cNvSpPr txBox="1"/>
          <p:nvPr/>
        </p:nvSpPr>
        <p:spPr>
          <a:xfrm>
            <a:off x="1493023" y="4618725"/>
            <a:ext cx="9315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1" i="0" u="none" strike="noStrike" kern="0" cap="none" spc="0" normalizeH="0" baseline="0" noProof="0" dirty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2018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3" name="Google Shape;333;p15"/>
          <p:cNvCxnSpPr/>
          <p:nvPr/>
        </p:nvCxnSpPr>
        <p:spPr>
          <a:xfrm rot="10800000">
            <a:off x="2473794" y="4748095"/>
            <a:ext cx="0" cy="331200"/>
          </a:xfrm>
          <a:prstGeom prst="straightConnector1">
            <a:avLst/>
          </a:prstGeom>
          <a:noFill/>
          <a:ln w="19050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4" name="Google Shape;334;p15"/>
          <p:cNvSpPr/>
          <p:nvPr/>
        </p:nvSpPr>
        <p:spPr>
          <a:xfrm>
            <a:off x="5468973" y="4374629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5458798" y="4125429"/>
            <a:ext cx="1981800" cy="523200"/>
          </a:xfrm>
          <a:prstGeom prst="roundRect">
            <a:avLst>
              <a:gd name="adj" fmla="val 16667"/>
            </a:avLst>
          </a:prstGeom>
          <a:solidFill>
            <a:srgbClr val="006455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Medium"/>
                <a:cs typeface="Arial"/>
                <a:sym typeface="Montserrat Medium"/>
              </a:rPr>
              <a:t>Técnicos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Medium"/>
              <a:cs typeface="Arial"/>
              <a:sym typeface="Montserrat Medium"/>
            </a:endParaRPr>
          </a:p>
        </p:txBody>
      </p:sp>
      <p:sp>
        <p:nvSpPr>
          <p:cNvPr id="336" name="Google Shape;336;p15"/>
          <p:cNvSpPr txBox="1"/>
          <p:nvPr/>
        </p:nvSpPr>
        <p:spPr>
          <a:xfrm>
            <a:off x="6498893" y="4618725"/>
            <a:ext cx="9315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1" i="0" u="none" strike="noStrike" kern="0" cap="none" spc="0" normalizeH="0" baseline="0" noProof="0" dirty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15"/>
          <p:cNvSpPr txBox="1"/>
          <p:nvPr/>
        </p:nvSpPr>
        <p:spPr>
          <a:xfrm>
            <a:off x="5468973" y="4618725"/>
            <a:ext cx="9315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1" i="0" u="none" strike="noStrike" kern="0" cap="none" spc="0" normalizeH="0" baseline="0" noProof="0" dirty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2018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8" name="Google Shape;338;p15"/>
          <p:cNvCxnSpPr/>
          <p:nvPr/>
        </p:nvCxnSpPr>
        <p:spPr>
          <a:xfrm rot="10800000">
            <a:off x="6449744" y="4748095"/>
            <a:ext cx="0" cy="331200"/>
          </a:xfrm>
          <a:prstGeom prst="straightConnector1">
            <a:avLst/>
          </a:prstGeom>
          <a:noFill/>
          <a:ln w="19050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39" name="Google Shape;339;p15"/>
          <p:cNvGraphicFramePr/>
          <p:nvPr/>
        </p:nvGraphicFramePr>
        <p:xfrm>
          <a:off x="227825" y="6162238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0" name="TextBox 339"/>
          <p:cNvSpPr txBox="1"/>
          <p:nvPr/>
        </p:nvSpPr>
        <p:spPr>
          <a:xfrm>
            <a:off x="1494000" y="2005200"/>
            <a:ext cx="19620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+84.7%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576800" y="2541600"/>
            <a:ext cx="7524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Montserrat"/>
              </a:defRPr>
            </a:pPr>
            <a:r>
              <a:t>2,702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2570400" y="2541600"/>
            <a:ext cx="7524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BC955C"/>
                </a:solidFill>
                <a:latin typeface="Montserrat"/>
              </a:defRPr>
            </a:pPr>
            <a:r>
              <a:t>4,991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5464800" y="2005200"/>
            <a:ext cx="19620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+38.8%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5569200" y="2541600"/>
            <a:ext cx="7524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Montserrat"/>
              </a:defRPr>
            </a:pPr>
            <a:r>
              <a:t>55,995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6591600" y="2541600"/>
            <a:ext cx="7524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BC955C"/>
                </a:solidFill>
                <a:latin typeface="Montserrat"/>
              </a:defRPr>
            </a:pPr>
            <a:r>
              <a:t>77,733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1494000" y="3150000"/>
            <a:ext cx="19620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+17.4%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576800" y="3690000"/>
            <a:ext cx="7524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Montserrat"/>
              </a:defRPr>
            </a:pPr>
            <a:r>
              <a:t>108,208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2570400" y="3690000"/>
            <a:ext cx="7524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BC955C"/>
                </a:solidFill>
                <a:latin typeface="Montserrat"/>
              </a:defRPr>
            </a:pPr>
            <a:r>
              <a:t>127,074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464800" y="3150000"/>
            <a:ext cx="19620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+18.0%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5569200" y="3690000"/>
            <a:ext cx="7524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Montserrat"/>
              </a:defRPr>
            </a:pPr>
            <a:r>
              <a:t>76,580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6591600" y="3690000"/>
            <a:ext cx="7524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BC955C"/>
                </a:solidFill>
                <a:latin typeface="Montserrat"/>
              </a:defRPr>
            </a:pPr>
            <a:r>
              <a:t>90,396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1494000" y="4298400"/>
            <a:ext cx="19620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+82.5%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576800" y="4838400"/>
            <a:ext cx="7524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Montserrat"/>
              </a:defRPr>
            </a:pPr>
            <a:r>
              <a:t>13,476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2570400" y="4838400"/>
            <a:ext cx="7524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BC955C"/>
                </a:solidFill>
                <a:latin typeface="Montserrat"/>
              </a:defRPr>
            </a:pPr>
            <a:r>
              <a:t>24,589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5464800" y="4298400"/>
            <a:ext cx="19620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-5.0%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5569200" y="4838400"/>
            <a:ext cx="7524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Montserrat"/>
              </a:defRPr>
            </a:pPr>
            <a:r>
              <a:t>22,213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6591600" y="4838400"/>
            <a:ext cx="752400" cy="306000"/>
          </a:xfrm>
          <a:prstGeom prst="rect">
            <a:avLst/>
          </a:prstGeom>
          <a:noFill/>
        </p:spPr>
        <p:txBody>
          <a:bodyPr wrap="none" lIns="18000" rIns="18000" tIns="0" bIns="0" anchor="ctr">
            <a:spAutoFit/>
          </a:bodyPr>
          <a:lstStyle/>
          <a:p>
            <a:pPr algn="ctr">
              <a:defRPr sz="1400" b="1">
                <a:solidFill>
                  <a:srgbClr val="BC955C"/>
                </a:solidFill>
                <a:latin typeface="Montserrat"/>
              </a:defRPr>
            </a:pPr>
            <a:r>
              <a:t>21,098</a:t>
            </a:r>
          </a:p>
        </p:txBody>
      </p:sp>
      <p:graphicFrame>
        <p:nvGraphicFramePr>
          <p:cNvPr id="358" name="Table 357"/>
          <p:cNvGraphicFramePr>
            <a:graphicFrameLocks noGrp="1"/>
          </p:cNvGraphicFramePr>
          <p:nvPr/>
        </p:nvGraphicFramePr>
        <p:xfrm>
          <a:off x="1166400" y="6822000"/>
          <a:ext cx="5644800" cy="179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000"/>
                <a:gridCol w="1864800"/>
              </a:tblGrid>
              <a:tr h="359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54000" marR="540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7,954</a:t>
                      </a:r>
                    </a:p>
                  </a:txBody>
                  <a:tcPr anchor="ctr" marL="54000" marR="54000" marT="3600" marB="3600">
                    <a:solidFill>
                      <a:srgbClr val="FFFFFF"/>
                    </a:solidFill>
                  </a:tcPr>
                </a:tc>
              </a:tr>
              <a:tr h="359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54000" marR="540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5,290</a:t>
                      </a:r>
                    </a:p>
                  </a:txBody>
                  <a:tcPr anchor="ctr" marL="54000" marR="54000" marT="3600" marB="3600">
                    <a:solidFill>
                      <a:srgbClr val="EFEFEF"/>
                    </a:solidFill>
                  </a:tcPr>
                </a:tc>
              </a:tr>
              <a:tr h="359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54000" marR="540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4,157</a:t>
                      </a:r>
                    </a:p>
                  </a:txBody>
                  <a:tcPr anchor="ctr" marL="54000" marR="54000" marT="3600" marB="3600">
                    <a:solidFill>
                      <a:srgbClr val="FFFFFF"/>
                    </a:solidFill>
                  </a:tcPr>
                </a:tc>
              </a:tr>
              <a:tr h="359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54000" marR="540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5,757</a:t>
                      </a:r>
                    </a:p>
                  </a:txBody>
                  <a:tcPr anchor="ctr" marL="54000" marR="54000" marT="3600" marB="3600">
                    <a:solidFill>
                      <a:srgbClr val="EFEFEF"/>
                    </a:solidFill>
                  </a:tcPr>
                </a:tc>
              </a:tr>
              <a:tr h="359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54000" marR="540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23,158</a:t>
                      </a:r>
                    </a:p>
                  </a:txBody>
                  <a:tcPr anchor="ctr" marL="54000" marR="54000" marT="3600" marB="36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359" name="TextBox 358"/>
          <p:cNvSpPr txBox="1"/>
          <p:nvPr/>
        </p:nvSpPr>
        <p:spPr>
          <a:xfrm>
            <a:off x="1166400" y="8640000"/>
            <a:ext cx="56448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47" name="Google Shape;347;p16"/>
          <p:cNvGraphicFramePr/>
          <p:nvPr/>
        </p:nvGraphicFramePr>
        <p:xfrm>
          <a:off x="149075" y="8020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16. </a:t>
                      </a: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4"/>
                            </a:ext>
                          </a:extLst>
                        </a:rPr>
                        <a:t>Ocupación de personal médico  y de Enfermería</a:t>
                      </a:r>
                      <a:endParaRPr lang="es-MX"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8" name="Table 347"/>
          <p:cNvGraphicFramePr>
            <a:graphicFrameLocks noGrp="1"/>
          </p:cNvGraphicFramePr>
          <p:nvPr/>
        </p:nvGraphicFramePr>
        <p:xfrm>
          <a:off x="363600" y="1440000"/>
          <a:ext cx="6976800" cy="758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800"/>
                <a:gridCol w="961200"/>
                <a:gridCol w="961200"/>
                <a:gridCol w="961200"/>
                <a:gridCol w="961200"/>
                <a:gridCol w="961200"/>
                <a:gridCol w="954000"/>
              </a:tblGrid>
              <a:tr h="2230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Entidad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Especialidad 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Medicina General 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Enfermería 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Especialidad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Medicina General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b="1" sz="1200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sz="1000"/>
                        <a:t>Enfermería</a:t>
                      </a:r>
                    </a:p>
                  </a:txBody>
                  <a:tcPr marL="3600" marR="3600" marT="3600" marB="3600" anchor="ctr">
                    <a:solidFill>
                      <a:srgbClr val="006455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Aguascalientes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1,107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22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1,829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1,535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2,270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Baja California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1,921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3,398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2,663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4,204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Baja California Sur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572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933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808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1,228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Campeche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408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755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707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52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1,076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Chiapas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765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1,317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1,473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2,116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Chihuahua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1,867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4,236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2,841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364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5,802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Ciudad de México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9,324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20,461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11,942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403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21,842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Coahuila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1,875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4,395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2,822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5,012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Colima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551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1,039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749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1,156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Durango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906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1,564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1,169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1,771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Guanajuato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2,458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82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4,233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3,129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4,818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Guerrero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826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1,440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1,077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1,629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Hidalgo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801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1,209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1,486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1,957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Jalisco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4,563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228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9,308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5,970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373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10,411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Michoacán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1,450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2,645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2,195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145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3,290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Morelos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825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1,310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1,128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1,557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México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5,780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169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9,847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7,589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326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11,436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Nayarit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550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42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973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1,145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1,734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Nuevo León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3,464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127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7,203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4,691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7,960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Oaxaca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638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1,099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899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1,290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Puebla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1,703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3,444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2,330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3,769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Querétaro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1,058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1,665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1,575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67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2,455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Quintana Roo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805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17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1,380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1,150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1,740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San Luis Potosí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1,057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2,001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1,383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118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2,345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Sinaloa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1,514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2,973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1,971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3,405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Sonora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1,920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150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4,151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3,083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256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4,914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Tabasco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566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991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882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1,398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Tamaulipas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1,677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3,277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2,246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225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4,117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Tlaxcala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434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21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710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584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46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810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Veracruz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2,797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241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5,250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3,923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391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5,793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Yucatán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1,304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104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2,374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1,829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130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2,690</a:t>
                      </a:r>
                    </a:p>
                  </a:txBody>
                  <a:tcPr marT="3600" marB="3600" marL="3600" marR="3600" anchor="ctr">
                    <a:solidFill>
                      <a:srgbClr val="FFFFFF"/>
                    </a:solidFill>
                  </a:tcPr>
                </a:tc>
              </a:tr>
              <a:tr h="2230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latin typeface="Noto Sans"/>
                        </a:defRPr>
                      </a:pPr>
                      <a:r>
                        <a:rPr sz="1000"/>
                        <a:t>Zacatecas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509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23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798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759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44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latin typeface="Noto Sans"/>
                        </a:defRPr>
                      </a:pPr>
                      <a:r>
                        <a:rPr sz="1000"/>
                        <a:t>1,079</a:t>
                      </a:r>
                    </a:p>
                  </a:txBody>
                  <a:tcPr marT="3600" marB="3600" marL="3600" marR="3600" anchor="ctr">
                    <a:solidFill>
                      <a:srgbClr val="EFEFEF"/>
                    </a:solidFill>
                  </a:tcPr>
                </a:tc>
              </a:tr>
              <a:tr h="2230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Total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55,995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2,702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108,208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77,733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4,991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00515E"/>
                          </a:solidFill>
                          <a:latin typeface="Noto Sans"/>
                        </a:defRPr>
                      </a:pPr>
                      <a:r>
                        <a:rPr sz="1000"/>
                        <a:t>127,074</a:t>
                      </a:r>
                    </a:p>
                  </a:txBody>
                  <a:tcPr marT="3600" marB="3600" marL="3600" marR="3600" anchor="ctr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sp>
        <p:nvSpPr>
          <p:cNvPr id="349" name="TextBox 348"/>
          <p:cNvSpPr txBox="1"/>
          <p:nvPr/>
        </p:nvSpPr>
        <p:spPr>
          <a:xfrm>
            <a:off x="349200" y="9360000"/>
            <a:ext cx="68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Administración, Base SIAP con corte en 2018 al 31 de diciembre y al 15 de noviembre de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"/>
          <p:cNvSpPr txBox="1"/>
          <p:nvPr/>
        </p:nvSpPr>
        <p:spPr>
          <a:xfrm>
            <a:off x="8397581" y="7324457"/>
            <a:ext cx="7371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675" tIns="0" rIns="201675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r>
              <a:rPr kumimoji="0" lang="es" sz="17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1,344 camas, 327 consultorios y 47 quirófanos</a:t>
            </a:r>
            <a:endParaRPr kumimoji="0" sz="17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56" name="Google Shape;356;p17"/>
          <p:cNvGraphicFramePr/>
          <p:nvPr/>
        </p:nvGraphicFramePr>
        <p:xfrm>
          <a:off x="362781" y="5550169"/>
          <a:ext cx="7025925" cy="3860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9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9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4200">
                <a:tc grid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HOSPITALES EN PROCESO</a:t>
                      </a:r>
                      <a:endParaRPr sz="15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Proyecto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Entidad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Camas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Consultorios 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Quirófanos 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Apertura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Avance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Zaragoza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Ciudad de México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Ago, 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618.4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Tuxtla Gutiérrez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Chiapas 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Nov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202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3,321.4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San Alejandro 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Puebla 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Dic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2,368.2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HGO Cd. del Carmen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Campeche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38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Nov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202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.0%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900.3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Navojoa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Sonora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39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Dic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202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93.8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579.7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Guanajuato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Guanajuato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Dic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202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97.9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598.71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Tula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Hidalgo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2026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77.2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,200.5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Hermosillo, Ramos Bours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Sonora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Dic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20</a:t>
                      </a: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93.0%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$992.2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Ticul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Yucatán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,2026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73.5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917.5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Ensenada etapa 2 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ontserrat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aja California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ontserrat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ontserrat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ontserrat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ontserrat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May,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2027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ontserrat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</a:t>
                      </a: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ontserrat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$1,958.3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San Luis Río Colorado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Sonora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33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Jun, 2027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14.8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$2,957.6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Yecapixtla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Morelos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Ago, 2027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7.8%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$3,073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Sta. Catarina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Nuevo León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Abr,2028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3.7%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$3,766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475" marR="6475" marT="59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3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1000" b="1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</a:t>
                      </a: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694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418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58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0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8075" marR="8075" marT="735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1000" b="1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8,251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950" marR="6950" marT="630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57" name="Google Shape;357;p17"/>
          <p:cNvGraphicFramePr/>
          <p:nvPr/>
        </p:nvGraphicFramePr>
        <p:xfrm>
          <a:off x="359134" y="1056740"/>
          <a:ext cx="7025925" cy="40654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8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9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5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075">
                <a:tc grid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HOSPITALES HABILITADOS (2019-2025)</a:t>
                      </a:r>
                      <a:endParaRPr sz="15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Entidad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Camas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Consultorios 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Quirófanos 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8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Apertura</a:t>
                      </a:r>
                      <a:endParaRPr sz="8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32 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Villa Coapa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*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Ciudad de México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201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332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92 Ciudad Acuña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Coahuila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$1,303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252 Atlacomulco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México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$1,2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57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HGZ/MF No.7 Cuautla* 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Morelos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908.5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33 Bahía de Banderas 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Nayarit 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$1,892.7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1 Tapachula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Chiapas 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$2,627.6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2021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36 Pachuca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Hidalgo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87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$2,1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25.5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2021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HGZ/MF No. 5 Atlixco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Puebla 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2021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HGSZ No. 185 Arandas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Jalisco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$127.6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o. 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35 Cuautlancingo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Puebla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$607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ospital de Expansión, 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Tláhuac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Ciudad de México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$774.3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ospital de Expansión,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Uruapan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Michoacán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059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UEH </a:t>
                      </a: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2A Cárdenas 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Tabasco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87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$878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325">
                <a:tc grid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EAE7">
                        <a:alpha val="48627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No. 2 Ciudad Juárez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Chihuahua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$2,918.4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N0. 23 Ensenada 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 California 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$1,446.1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2025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2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</a:t>
                      </a: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694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380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63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</a:t>
                      </a: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8,650.7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358" name="Google Shape;358;p17"/>
          <p:cNvSpPr txBox="1"/>
          <p:nvPr/>
        </p:nvSpPr>
        <p:spPr>
          <a:xfrm>
            <a:off x="362775" y="5279311"/>
            <a:ext cx="702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675" tIns="0" rIns="201675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s" sz="15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1,694 camas, 380 consultorios y 63 quirófanos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356950" y="5045780"/>
            <a:ext cx="1766700" cy="1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675" tIns="100825" rIns="201675" bIns="1008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r>
              <a:rPr kumimoji="0" lang="e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* Sustitución.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361" name="Google Shape;361;p17"/>
          <p:cNvGraphicFramePr/>
          <p:nvPr/>
        </p:nvGraphicFramePr>
        <p:xfrm>
          <a:off x="211500" y="6490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s" sz="22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17. Hospitales concluidos y en proceso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8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368" name="Google Shape;368;p18"/>
          <p:cNvGraphicFramePr/>
          <p:nvPr/>
        </p:nvGraphicFramePr>
        <p:xfrm>
          <a:off x="901125" y="1480860"/>
          <a:ext cx="6122550" cy="20196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9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9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Proyecto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Entidad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Camas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Consultorios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Quirófanos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 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</a:t>
                      </a: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mdp)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Los Cabos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 California Sur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4,163.1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Saltillo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Coahuila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68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3,936.2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Oncológico Ecatepec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Estado de México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27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$1,049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Yecapixtla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Morelos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2,400.0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Santa Catarina 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Nuevo León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39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$4,368.8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Culiacán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Sinaloa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$3,645.5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Guadalupe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Zacatecas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</a:t>
                      </a: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570.4</a:t>
                      </a:r>
                      <a:endParaRPr sz="9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87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9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1,342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307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44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$23,133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69" name="Google Shape;369;p18"/>
          <p:cNvSpPr txBox="1"/>
          <p:nvPr/>
        </p:nvSpPr>
        <p:spPr>
          <a:xfrm>
            <a:off x="366175" y="3646100"/>
            <a:ext cx="6886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675" tIns="0" rIns="201675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r>
              <a:rPr kumimoji="0" lang="es" sz="17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1,342 camas, 307 consultorios y 44 quirófanos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70" name="Google Shape;370;p18"/>
          <p:cNvGraphicFramePr/>
          <p:nvPr/>
        </p:nvGraphicFramePr>
        <p:xfrm>
          <a:off x="287700" y="725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18. Hospitales en planeación 2025</a:t>
                      </a:r>
                      <a:endParaRPr sz="22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1" name="Google Shape;371;p18"/>
          <p:cNvGraphicFramePr/>
          <p:nvPr/>
        </p:nvGraphicFramePr>
        <p:xfrm>
          <a:off x="301525" y="398915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19. Hospitales en planeación 2026-2030</a:t>
                      </a:r>
                      <a:endParaRPr sz="22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2" name="Google Shape;372;p18"/>
          <p:cNvGraphicFramePr/>
          <p:nvPr/>
        </p:nvGraphicFramePr>
        <p:xfrm>
          <a:off x="901125" y="4605060"/>
          <a:ext cx="6122550" cy="4111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9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9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Proyecto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Entidad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Camas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Consultorios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Quirófanos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 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</a:t>
                      </a:r>
                      <a:r>
                        <a:rPr lang="es" sz="9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mdp)</a:t>
                      </a:r>
                      <a:endParaRPr sz="9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Pabellón de Arteaga 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Aguascalientes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$801.7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Aguascalientes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Aguascalientes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$3,016.4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Manzanillo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Colima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$2,562.6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Comitán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Chiapas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$1,561.2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Cd.Neza</a:t>
                      </a:r>
                      <a:endParaRPr sz="9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Estado de México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$2,829.0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Chimalhuacán 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Estado de México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$2,829.0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Salamanca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Guanajuato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$2,800.4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Irapuato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Guanajuato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216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$3,298.4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Zapopan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Jalisco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$3,360.4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Morelia 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Michoacán 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53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$3,487.5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Oaxaca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Oaxaca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$2,822.2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Amozoc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Puebla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$4,067.1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HGOP Las Margaritas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Puebla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$3,156.9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Guaymas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Sonora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$3,294.8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Villahermosa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Tabasco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260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$3,843.9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Cárdenas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Tabasco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$2,988.2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Minatitlán 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Veracruz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144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$3,008.6</a:t>
                      </a:r>
                      <a:endParaRPr sz="9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28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9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2,958</a:t>
                      </a:r>
                      <a:endParaRPr sz="9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775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90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$49,728.3</a:t>
                      </a:r>
                      <a:endParaRPr sz="900" b="1" i="0" u="none" strike="noStrike" cap="none" dirty="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373" name="Google Shape;373;p18"/>
          <p:cNvSpPr txBox="1"/>
          <p:nvPr/>
        </p:nvSpPr>
        <p:spPr>
          <a:xfrm>
            <a:off x="518575" y="8980100"/>
            <a:ext cx="6886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675" tIns="0" rIns="201675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r>
              <a:rPr kumimoji="0" lang="es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2,958 camas, 775 consultorios y 90 quirófanos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" name="Google Shape;379;p19"/>
          <p:cNvGraphicFramePr/>
          <p:nvPr/>
        </p:nvGraphicFramePr>
        <p:xfrm>
          <a:off x="298559" y="1029991"/>
          <a:ext cx="7107400" cy="5957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5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80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 UMF CON 312 CONSULTORIOS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Núm.</a:t>
                      </a:r>
                      <a:endParaRPr sz="7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UMF</a:t>
                      </a:r>
                      <a:endParaRPr sz="7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Estado</a:t>
                      </a:r>
                      <a:endParaRPr sz="7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Consultorios </a:t>
                      </a:r>
                      <a:endParaRPr sz="7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 (mdp) </a:t>
                      </a:r>
                      <a:endParaRPr sz="7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Apertura </a:t>
                      </a:r>
                      <a:endParaRPr sz="700" b="1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68 Coatzacoalcos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Veracruz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$189.8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Ene, 19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1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Zona Industrial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Aguascalientes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$59.2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39 Cabo San Lucas 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 California Sur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$72.7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20 Delicias*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Chihuahua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$65.9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Ago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21 Rosarito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 California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$126.3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Ene, 20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71 Apodaca 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Nuevo León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$101.3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Jul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31 Mezcala 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Guerrero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$11.6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Sep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85 Tarímbaro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Michoacán 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$119.9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Oct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19 Agua Prieta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Sonora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$29.2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Dic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1 Durango*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Durango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$50.2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72 El Carmen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Nuevo León 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$68.4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9 Cruz Azul* 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Hidalgo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$29.9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Sep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58 Ciudad Modelo**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Puebla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$1.16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Sep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50 Durango*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Durango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$116.4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Dic, 21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19 Benito Juárez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uintana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Roo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$315.5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26 Mixquiahuala* 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Hidalgo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$89.8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Nov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17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18 Tizayuca*</a:t>
                      </a:r>
                      <a:endParaRPr sz="7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Hidalgo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$105.5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15 Lindavista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Ciudad de México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$87.3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66 Cajeme*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Sonora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$101.9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Jun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7 Reynosa 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Tamaulipas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$66.6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Ago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37 Tlaxcoapan* 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Hidalgo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$153.6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Sep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60 Los Naranjos 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Guanajuato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$136.3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61 Mérida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Yucatán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$149.5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40 La Fuente, La Paz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 California Sur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202.6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Sept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21 Troncoso*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Ciudad de México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32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$577.2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Sept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87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ADMINISTRACIÓN CLAUDIA SHEINBAUM PARDO </a:t>
                      </a:r>
                      <a:endParaRPr sz="7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EAE7">
                        <a:alpha val="48627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58 Villa Fontana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Zacatecas 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$78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Nov, 24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27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73 San Nicolás de los Garza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Nuevo León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$169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ontserrat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Nov,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28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93 La Joya****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Coahuila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$220.8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Ene, 25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29.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93 Cerro Gordo*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Estado de México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$537.7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Jul,25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68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endParaRPr sz="7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7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312</a:t>
                      </a:r>
                      <a:endParaRPr sz="7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7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4,033.3</a:t>
                      </a:r>
                      <a:endParaRPr sz="7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endParaRPr sz="700" b="1" i="0" u="none" strike="noStrike" cap="none" dirty="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  <p:graphicFrame>
        <p:nvGraphicFramePr>
          <p:cNvPr id="380" name="Google Shape;380;p19"/>
          <p:cNvGraphicFramePr/>
          <p:nvPr/>
        </p:nvGraphicFramePr>
        <p:xfrm>
          <a:off x="287709" y="7226378"/>
          <a:ext cx="7107400" cy="205935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3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8925">
                <a:tc gridSpan="7">
                  <a:txBody>
                    <a:bodyPr/>
                    <a:lstStyle/>
                    <a:p>
                      <a:pPr marL="25400" marR="12700" lvl="0" indent="0" algn="ctr" rtl="0">
                        <a:lnSpc>
                          <a:spcPct val="10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 UMF EN PROCESO, 2025-2026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Núm.</a:t>
                      </a:r>
                      <a:endParaRPr sz="700" b="1" i="0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i="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Proyecto</a:t>
                      </a:r>
                      <a:endParaRPr sz="7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i="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Estado</a:t>
                      </a:r>
                      <a:endParaRPr sz="7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i="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Consultorios </a:t>
                      </a:r>
                      <a:endParaRPr sz="7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i="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 (mdp) </a:t>
                      </a:r>
                      <a:endParaRPr sz="7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i="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Avance</a:t>
                      </a:r>
                      <a:endParaRPr sz="7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i="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Conclusión </a:t>
                      </a:r>
                      <a:endParaRPr sz="7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51 P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uerto Libertad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*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Sonora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120.4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95.8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6 Jesús María***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Aguascalientes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$74.5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93.6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2025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15, Monterrey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Nuevo León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$411.3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26.8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 2026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Francisco de Montejo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Yucatán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28.9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76.7%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Feb, 26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Santa Bárbara, Saltillo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Coahuila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214.4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48.2%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Abr, </a:t>
                      </a: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Juárez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Nuevo León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212.1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98.2%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Mar,26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 Cortijo, Saltillo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Coahuila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</a:t>
                      </a: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90.2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26.9%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Mar,26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No. 2 Benito Juárez , Mexicali*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 California 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$122.4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56%</a:t>
                      </a:r>
                      <a:endParaRPr sz="7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Mar, 26</a:t>
                      </a:r>
                      <a:endParaRPr sz="70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endParaRPr sz="7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</a:t>
                      </a:r>
                      <a:endParaRPr sz="7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120</a:t>
                      </a:r>
                      <a:endParaRPr sz="7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s" sz="700" b="1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</a:t>
                      </a:r>
                      <a:r>
                        <a:rPr lang="es" sz="7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,574.2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endParaRPr sz="700" b="1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81" name="Google Shape;381;p19"/>
          <p:cNvGraphicFramePr/>
          <p:nvPr/>
        </p:nvGraphicFramePr>
        <p:xfrm>
          <a:off x="287700" y="596083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20. UMF habilitadas, 2019-2025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2" name="Google Shape;382;p19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3" name="Google Shape;383;p19"/>
          <p:cNvSpPr txBox="1"/>
          <p:nvPr/>
        </p:nvSpPr>
        <p:spPr>
          <a:xfrm>
            <a:off x="220035" y="9574190"/>
            <a:ext cx="28341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r>
              <a:rPr kumimoji="0" lang="e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Medium"/>
                <a:ea typeface="Montserrat Medium"/>
                <a:cs typeface="Montserrat Medium"/>
                <a:sym typeface="Montserrat Medium"/>
              </a:rPr>
              <a:t>* Sustitución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r>
              <a:rPr kumimoji="0" lang="e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Medium"/>
                <a:ea typeface="Montserrat Medium"/>
                <a:cs typeface="Montserrat Medium"/>
                <a:sym typeface="Montserrat Medium"/>
              </a:rPr>
              <a:t>** Donación 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r>
              <a:rPr kumimoji="0" lang="e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Medium"/>
                <a:ea typeface="Montserrat Medium"/>
                <a:cs typeface="Montserrat Medium"/>
                <a:sym typeface="Montserrat Medium"/>
              </a:rPr>
              <a:t>*** Ampliación y remodelación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Medium"/>
              <a:ea typeface="Noto Sans Medium"/>
              <a:cs typeface="Noto Sans Medium"/>
              <a:sym typeface="Noto Sans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0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390" name="Google Shape;390;p20"/>
          <p:cNvGraphicFramePr/>
          <p:nvPr/>
        </p:nvGraphicFramePr>
        <p:xfrm>
          <a:off x="287689" y="6558758"/>
          <a:ext cx="5042250" cy="26733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12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SALAS DE HEMODINAMIA PARA 2025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Núm.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Unidad 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Estatus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Entidad 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91B31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85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4 C</a:t>
                      </a: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d.</a:t>
                      </a: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del Carmen</a:t>
                      </a:r>
                      <a:endParaRPr sz="85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 proceso</a:t>
                      </a:r>
                      <a:endParaRPr sz="85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Campeche </a:t>
                      </a:r>
                      <a:endParaRPr sz="85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91B31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85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No. 1 Chihuahua</a:t>
                      </a:r>
                      <a:r>
                        <a:rPr lang="es" sz="850" i="0" u="none" strike="noStrike" cap="none" baseline="30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850" u="none" strike="noStrike" cap="none" baseline="30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 proceso</a:t>
                      </a:r>
                      <a:endParaRPr sz="85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Chihuahua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91B31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85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No. 1 McGregor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 proceso</a:t>
                      </a:r>
                      <a:endParaRPr sz="85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Ciudad de México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91B31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85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HGZMF No.2 Irapuato</a:t>
                      </a:r>
                      <a:r>
                        <a:rPr lang="es" sz="850" i="0" u="none" strike="noStrike" cap="none" baseline="30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850" u="none" strike="noStrike" cap="none" baseline="30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 proceso</a:t>
                      </a:r>
                      <a:endParaRPr sz="850" i="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Guanajuato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91B31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85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HGZMF No. 3 Mazatlán</a:t>
                      </a:r>
                      <a:r>
                        <a:rPr lang="es" sz="850" u="none" strike="noStrike" cap="none" baseline="30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850" u="none" strike="noStrike" cap="none" baseline="30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 proceso</a:t>
                      </a:r>
                      <a:endParaRPr sz="850" i="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Sinaloa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850" u="none" strike="noStrike" cap="none">
                        <a:solidFill>
                          <a:srgbClr val="691B3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11 Xalapa</a:t>
                      </a:r>
                      <a:r>
                        <a:rPr lang="es" sz="850" i="0" u="none" strike="noStrike" cap="none" baseline="30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850" u="none" strike="noStrike" cap="none" baseline="30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 proceso</a:t>
                      </a:r>
                      <a:endParaRPr sz="850" i="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Veracruz-Norte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7**</a:t>
                      </a:r>
                      <a:endParaRPr sz="850" u="none" strike="noStrike" cap="none">
                        <a:solidFill>
                          <a:srgbClr val="691B3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Tuxtla Gutiérrez</a:t>
                      </a:r>
                      <a:endParaRPr sz="85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 proceso</a:t>
                      </a:r>
                      <a:endParaRPr sz="85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Chiapas</a:t>
                      </a:r>
                      <a:endParaRPr sz="85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91B31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85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8**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Los Cabos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Planeación</a:t>
                      </a:r>
                      <a:endParaRPr sz="85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 California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91B31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85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r>
                        <a:rPr lang="es" sz="850" i="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**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Saltillo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Planeación</a:t>
                      </a:r>
                      <a:endParaRPr sz="85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Coahuila 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91B31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850" i="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es" sz="85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r>
                        <a:rPr lang="es" sz="850" i="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**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Santa Catarina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Planeación</a:t>
                      </a:r>
                      <a:endParaRPr sz="85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Nuevo León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91B31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850" i="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es" sz="85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es" sz="850" i="0" u="none" strike="noStrike" cap="none">
                          <a:solidFill>
                            <a:srgbClr val="691B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**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</a:t>
                      </a: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Guadalupe</a:t>
                      </a: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b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Planeación</a:t>
                      </a:r>
                      <a:endParaRPr sz="85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Zacatecas</a:t>
                      </a:r>
                      <a:endParaRPr sz="850" i="0" u="none" strike="noStrike" cap="none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391" name="Google Shape;391;p20"/>
          <p:cNvGraphicFramePr/>
          <p:nvPr/>
        </p:nvGraphicFramePr>
        <p:xfrm>
          <a:off x="326775" y="1129298"/>
          <a:ext cx="5042225" cy="53209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9125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NUEVAS SALAS DE HEMODINAMIA EN SEGUNDO NIVEL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Núm.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Unidad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Entidad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No. 17 Cancún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Quintana Roo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Abr, 2021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No. 1 Charo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Michoacán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Oct, 2022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1 Tepic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Nayarit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Feb, 2023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No. 2 El Marqués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Querétaro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Jun, 2023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HGZMF No. 7 Monclova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Coahuila 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Jul, 2023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No. 251 Metepec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México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Ago, 2023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3 Jesús María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Aguascalientes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Ago, 2023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HGZ/MF No. 1, La Paz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 California Sur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Sep, 2023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HGR/MF No.1 Cuernavaca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Morelos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Sep, 2023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No. 197 Texcoco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México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Dic, 2023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No. 46 Guadalajara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Jalisco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Ene, 2024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1, Zacatecas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Zacatecas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Ene, 2024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14 Hermosillo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Sonora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Feb, 2024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6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No. 6 Cd. Madero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Tamaulipas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Feb, 2024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36 Pachuca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Hidalgo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Feb, 2024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HGZ/MF No. 1 Campeche 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Campeche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Mar, 2024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17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50 Tangamanga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San Luis Potosí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Jul, 2024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1 Durango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Durango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Dic, 2024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No. 1 Orizaba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Veracruz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Ene, 2025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No. 2 Ciudad Juárez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Chihuahua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Dic, 2024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1 Oaxaca 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Oaxaca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Ene, 2025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HGR No. 30 Mexicali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 California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Ene, 2025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HGZ No. 1 Acapulco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Guerrero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Abril, 2025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No. 1 Villa de Álvarez 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Colima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85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Abril, 2025</a:t>
                      </a:r>
                      <a:endParaRPr sz="85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392" name="Google Shape;392;p20"/>
          <p:cNvSpPr txBox="1"/>
          <p:nvPr/>
        </p:nvSpPr>
        <p:spPr>
          <a:xfrm>
            <a:off x="5401775" y="4756775"/>
            <a:ext cx="23601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400" tIns="75675" rIns="151400" bIns="756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200"/>
              <a:buFont typeface="Montserrat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Productividad segundo </a:t>
            </a:r>
            <a:b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</a:b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y tercer nivel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200"/>
              <a:buFont typeface="Montserrat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2018 vs. 2024</a:t>
            </a:r>
            <a:endParaRPr kumimoji="0" sz="31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20"/>
          <p:cNvSpPr txBox="1"/>
          <p:nvPr/>
        </p:nvSpPr>
        <p:spPr>
          <a:xfrm>
            <a:off x="5558641" y="8694033"/>
            <a:ext cx="2253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675" tIns="100825" rIns="201675" bIns="1008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r>
              <a:rPr kumimoji="0" lang="e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** Ubicadas en unidades médicas en planeación 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394" name="Google Shape;394;p20"/>
          <p:cNvGraphicFramePr/>
          <p:nvPr/>
        </p:nvGraphicFramePr>
        <p:xfrm>
          <a:off x="149075" y="65555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21. Salas de hemodinamia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95" name="Google Shape;395;p20"/>
          <p:cNvGrpSpPr/>
          <p:nvPr/>
        </p:nvGrpSpPr>
        <p:grpSpPr>
          <a:xfrm>
            <a:off x="5884176" y="1357905"/>
            <a:ext cx="1395300" cy="1012971"/>
            <a:chOff x="8485750" y="3180205"/>
            <a:chExt cx="1395300" cy="1012971"/>
          </a:xfrm>
        </p:grpSpPr>
        <p:sp>
          <p:nvSpPr>
            <p:cNvPr id="396" name="Google Shape;396;p20"/>
            <p:cNvSpPr txBox="1"/>
            <p:nvPr/>
          </p:nvSpPr>
          <p:spPr>
            <a:xfrm>
              <a:off x="8485750" y="3965476"/>
              <a:ext cx="1395300" cy="2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r>
                <a:rPr kumimoji="0" lang="es" sz="1200" b="1" i="0" u="none" strike="noStrike" kern="0" cap="none" spc="0" normalizeH="0" baseline="0" noProof="0">
                  <a:ln>
                    <a:noFill/>
                  </a:ln>
                  <a:solidFill>
                    <a:srgbClr val="006455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nuevas salas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7" name="Google Shape;397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91947" y="3180205"/>
              <a:ext cx="946974" cy="83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20"/>
            <p:cNvSpPr txBox="1"/>
            <p:nvPr/>
          </p:nvSpPr>
          <p:spPr>
            <a:xfrm>
              <a:off x="8774826" y="3409199"/>
              <a:ext cx="781200" cy="35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455"/>
                </a:buClr>
                <a:buSzPts val="1500"/>
                <a:buFont typeface="Montserrat ExtraBold"/>
                <a:buNone/>
                <a:tabLst/>
                <a:defRPr/>
              </a:pPr>
              <a:r>
                <a:rPr kumimoji="0" lang="es" sz="3100" b="0" i="0" u="none" strike="noStrike" kern="0" cap="none" spc="0" normalizeH="0" baseline="0" noProof="0">
                  <a:ln>
                    <a:noFill/>
                  </a:ln>
                  <a:solidFill>
                    <a:srgbClr val="006455"/>
                  </a:solidFill>
                  <a:effectLst/>
                  <a:uLnTx/>
                  <a:uFillTx/>
                  <a:latin typeface="Montserrat Black"/>
                  <a:ea typeface="Montserrat Black"/>
                  <a:cs typeface="Montserrat Black"/>
                  <a:sym typeface="Montserrat Black"/>
                </a:rPr>
                <a:t>24</a:t>
              </a:r>
              <a:endParaRPr kumimoji="0" sz="3100" b="0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grpSp>
        <p:nvGrpSpPr>
          <p:cNvPr id="399" name="Google Shape;399;p20"/>
          <p:cNvGrpSpPr/>
          <p:nvPr/>
        </p:nvGrpSpPr>
        <p:grpSpPr>
          <a:xfrm>
            <a:off x="5761626" y="3257376"/>
            <a:ext cx="1640400" cy="1067570"/>
            <a:chOff x="8363200" y="5823405"/>
            <a:chExt cx="1640400" cy="1067570"/>
          </a:xfrm>
        </p:grpSpPr>
        <p:sp>
          <p:nvSpPr>
            <p:cNvPr id="400" name="Google Shape;400;p20"/>
            <p:cNvSpPr txBox="1"/>
            <p:nvPr/>
          </p:nvSpPr>
          <p:spPr>
            <a:xfrm>
              <a:off x="8363200" y="6608675"/>
              <a:ext cx="16404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r>
                <a:rPr kumimoji="0" lang="es" sz="1200" b="1" i="0" u="none" strike="noStrike" kern="0" cap="none" spc="0" normalizeH="0" baseline="0" noProof="0">
                  <a:ln>
                    <a:noFill/>
                  </a:ln>
                  <a:solidFill>
                    <a:srgbClr val="006455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salas en proceso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01" name="Google Shape;401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91947" y="5823405"/>
              <a:ext cx="946974" cy="83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2" name="Google Shape;402;p20"/>
            <p:cNvSpPr txBox="1"/>
            <p:nvPr/>
          </p:nvSpPr>
          <p:spPr>
            <a:xfrm>
              <a:off x="8774826" y="6052399"/>
              <a:ext cx="781200" cy="35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455"/>
                </a:buClr>
                <a:buSzPts val="1500"/>
                <a:buFont typeface="Montserrat ExtraBold"/>
                <a:buNone/>
                <a:tabLst/>
                <a:defRPr/>
              </a:pPr>
              <a:r>
                <a:rPr kumimoji="0" lang="es" sz="3100" b="0" i="0" u="none" strike="noStrike" kern="0" cap="none" spc="0" normalizeH="0" baseline="0" noProof="0">
                  <a:ln>
                    <a:noFill/>
                  </a:ln>
                  <a:solidFill>
                    <a:srgbClr val="006455"/>
                  </a:solidFill>
                  <a:effectLst/>
                  <a:uLnTx/>
                  <a:uFillTx/>
                  <a:latin typeface="Noto Sans Black"/>
                  <a:ea typeface="Noto Sans Black"/>
                  <a:cs typeface="Noto Sans Black"/>
                  <a:sym typeface="Noto Sans Black"/>
                </a:rPr>
                <a:t>11</a:t>
              </a:r>
              <a:endParaRPr kumimoji="0" sz="3100" b="0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</p:grpSp>
      <p:grpSp>
        <p:nvGrpSpPr>
          <p:cNvPr id="403" name="Google Shape;403;p20"/>
          <p:cNvGrpSpPr/>
          <p:nvPr/>
        </p:nvGrpSpPr>
        <p:grpSpPr>
          <a:xfrm>
            <a:off x="5611013" y="2532599"/>
            <a:ext cx="1941625" cy="728120"/>
            <a:chOff x="5638125" y="3504928"/>
            <a:chExt cx="1941625" cy="728120"/>
          </a:xfrm>
        </p:grpSpPr>
        <p:pic>
          <p:nvPicPr>
            <p:cNvPr id="404" name="Google Shape;404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38125" y="3504928"/>
              <a:ext cx="1941625" cy="728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20"/>
            <p:cNvSpPr txBox="1"/>
            <p:nvPr/>
          </p:nvSpPr>
          <p:spPr>
            <a:xfrm>
              <a:off x="6120166" y="3596565"/>
              <a:ext cx="1333200" cy="5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500"/>
                <a:buFont typeface="Montserrat Black"/>
                <a:buNone/>
                <a:tabLst/>
                <a:defRPr/>
              </a:pPr>
              <a:r>
                <a:rPr kumimoji="0" lang="es" sz="2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Black"/>
                  <a:ea typeface="Montserrat Black"/>
                  <a:cs typeface="Montserrat Black"/>
                  <a:sym typeface="Montserrat Black"/>
                </a:rPr>
                <a:t>813.4 </a:t>
              </a:r>
              <a:br>
                <a:rPr kumimoji="0" lang="es" sz="2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Black"/>
                  <a:ea typeface="Montserrat Black"/>
                  <a:cs typeface="Montserrat Black"/>
                  <a:sym typeface="Montserrat Black"/>
                </a:rPr>
              </a:br>
              <a:r>
                <a:rPr kumimoji="0" lang="es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Black"/>
                  <a:ea typeface="Montserrat Black"/>
                  <a:cs typeface="Montserrat Black"/>
                  <a:sym typeface="Montserrat Black"/>
                </a:rPr>
                <a:t>mdp</a:t>
              </a:r>
              <a:endParaRPr kumimoji="0" sz="100" b="0" i="0" u="none" strike="noStrike" kern="0" cap="none" spc="0" normalizeH="0" baseline="0" noProof="0">
                <a:ln>
                  <a:noFill/>
                </a:ln>
                <a:solidFill>
                  <a:srgbClr val="DDC9A3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grpSp>
        <p:nvGrpSpPr>
          <p:cNvPr id="406" name="Google Shape;406;p20"/>
          <p:cNvGrpSpPr/>
          <p:nvPr/>
        </p:nvGrpSpPr>
        <p:grpSpPr>
          <a:xfrm>
            <a:off x="5611026" y="5428948"/>
            <a:ext cx="1941600" cy="619107"/>
            <a:chOff x="8622913" y="5157625"/>
            <a:chExt cx="1941600" cy="619107"/>
          </a:xfrm>
        </p:grpSpPr>
        <p:sp>
          <p:nvSpPr>
            <p:cNvPr id="407" name="Google Shape;407;p20"/>
            <p:cNvSpPr txBox="1"/>
            <p:nvPr/>
          </p:nvSpPr>
          <p:spPr>
            <a:xfrm>
              <a:off x="8791550" y="5494432"/>
              <a:ext cx="16404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r>
                <a:rPr kumimoji="0" lang="es" sz="1200" b="1" i="0" u="none" strike="noStrike" kern="0" cap="none" spc="0" normalizeH="0" baseline="0" noProof="0">
                  <a:ln>
                    <a:noFill/>
                  </a:ln>
                  <a:solidFill>
                    <a:srgbClr val="9F2241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procedimientos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8" name="Google Shape;408;p20"/>
            <p:cNvSpPr txBox="1"/>
            <p:nvPr/>
          </p:nvSpPr>
          <p:spPr>
            <a:xfrm>
              <a:off x="8622913" y="5157625"/>
              <a:ext cx="1941600" cy="35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455"/>
                </a:buClr>
                <a:buSzPts val="1500"/>
                <a:buFont typeface="Montserrat ExtraBold"/>
                <a:buNone/>
                <a:tabLst/>
                <a:defRPr/>
              </a:pPr>
              <a:r>
                <a:rPr kumimoji="0" lang="es" sz="3100" b="0" i="0" u="none" strike="noStrike" kern="0" cap="none" spc="0" normalizeH="0" baseline="0" noProof="0">
                  <a:ln>
                    <a:noFill/>
                  </a:ln>
                  <a:solidFill>
                    <a:srgbClr val="9F2241"/>
                  </a:solidFill>
                  <a:effectLst/>
                  <a:uLnTx/>
                  <a:uFillTx/>
                  <a:latin typeface="Montserrat Black"/>
                  <a:ea typeface="Montserrat Black"/>
                  <a:cs typeface="Montserrat Black"/>
                  <a:sym typeface="Montserrat Black"/>
                </a:rPr>
                <a:t>+49.4%</a:t>
              </a:r>
              <a:endParaRPr kumimoji="0" sz="31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grpSp>
        <p:nvGrpSpPr>
          <p:cNvPr id="409" name="Google Shape;409;p20"/>
          <p:cNvGrpSpPr/>
          <p:nvPr/>
        </p:nvGrpSpPr>
        <p:grpSpPr>
          <a:xfrm>
            <a:off x="5387488" y="6383768"/>
            <a:ext cx="2502454" cy="2450796"/>
            <a:chOff x="5406538" y="6298043"/>
            <a:chExt cx="2502454" cy="2450796"/>
          </a:xfrm>
        </p:grpSpPr>
        <p:pic>
          <p:nvPicPr>
            <p:cNvPr id="410" name="Google Shape;410;p2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0407" y="6298043"/>
              <a:ext cx="2098585" cy="24507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1" name="Google Shape;411;p20"/>
            <p:cNvGrpSpPr/>
            <p:nvPr/>
          </p:nvGrpSpPr>
          <p:grpSpPr>
            <a:xfrm>
              <a:off x="5406538" y="6391275"/>
              <a:ext cx="519300" cy="2264350"/>
              <a:chOff x="5401775" y="6391275"/>
              <a:chExt cx="519300" cy="2264350"/>
            </a:xfrm>
          </p:grpSpPr>
          <p:sp>
            <p:nvSpPr>
              <p:cNvPr id="412" name="Google Shape;412;p20"/>
              <p:cNvSpPr txBox="1"/>
              <p:nvPr/>
            </p:nvSpPr>
            <p:spPr>
              <a:xfrm>
                <a:off x="5401775" y="6391275"/>
                <a:ext cx="519300" cy="2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  <a:tabLst/>
                  <a:defRPr/>
                </a:pPr>
                <a:r>
                  <a:rPr kumimoji="0" lang="e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2018</a:t>
                </a:r>
                <a:endParaRPr kumimoji="0" sz="9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  <p:sp>
            <p:nvSpPr>
              <p:cNvPr id="413" name="Google Shape;413;p20"/>
              <p:cNvSpPr txBox="1"/>
              <p:nvPr/>
            </p:nvSpPr>
            <p:spPr>
              <a:xfrm>
                <a:off x="5401775" y="6734175"/>
                <a:ext cx="519300" cy="2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  <a:tabLst/>
                  <a:defRPr/>
                </a:pPr>
                <a:r>
                  <a:rPr kumimoji="0" lang="e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2019</a:t>
                </a:r>
                <a:endParaRPr kumimoji="0" sz="9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  <p:sp>
            <p:nvSpPr>
              <p:cNvPr id="414" name="Google Shape;414;p20"/>
              <p:cNvSpPr txBox="1"/>
              <p:nvPr/>
            </p:nvSpPr>
            <p:spPr>
              <a:xfrm>
                <a:off x="5401775" y="7077075"/>
                <a:ext cx="519300" cy="2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  <a:tabLst/>
                  <a:defRPr/>
                </a:pPr>
                <a:r>
                  <a:rPr kumimoji="0" lang="e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2020</a:t>
                </a:r>
                <a:endParaRPr kumimoji="0" sz="9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  <p:sp>
            <p:nvSpPr>
              <p:cNvPr id="415" name="Google Shape;415;p20"/>
              <p:cNvSpPr txBox="1"/>
              <p:nvPr/>
            </p:nvSpPr>
            <p:spPr>
              <a:xfrm>
                <a:off x="5401775" y="7401050"/>
                <a:ext cx="519300" cy="2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  <a:tabLst/>
                  <a:defRPr/>
                </a:pPr>
                <a:r>
                  <a:rPr kumimoji="0" lang="e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2021</a:t>
                </a:r>
                <a:endParaRPr kumimoji="0" sz="9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  <p:sp>
            <p:nvSpPr>
              <p:cNvPr id="416" name="Google Shape;416;p20"/>
              <p:cNvSpPr txBox="1"/>
              <p:nvPr/>
            </p:nvSpPr>
            <p:spPr>
              <a:xfrm>
                <a:off x="5401775" y="7725025"/>
                <a:ext cx="519300" cy="2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  <a:tabLst/>
                  <a:defRPr/>
                </a:pPr>
                <a:r>
                  <a:rPr kumimoji="0" lang="e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2022</a:t>
                </a:r>
                <a:endParaRPr kumimoji="0" sz="9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  <p:sp>
            <p:nvSpPr>
              <p:cNvPr id="417" name="Google Shape;417;p20"/>
              <p:cNvSpPr txBox="1"/>
              <p:nvPr/>
            </p:nvSpPr>
            <p:spPr>
              <a:xfrm>
                <a:off x="5401775" y="8067925"/>
                <a:ext cx="519300" cy="2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  <a:tabLst/>
                  <a:defRPr/>
                </a:pPr>
                <a:r>
                  <a:rPr kumimoji="0" lang="e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2023</a:t>
                </a:r>
                <a:endParaRPr kumimoji="0" sz="9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  <p:sp>
            <p:nvSpPr>
              <p:cNvPr id="418" name="Google Shape;418;p20"/>
              <p:cNvSpPr txBox="1"/>
              <p:nvPr/>
            </p:nvSpPr>
            <p:spPr>
              <a:xfrm>
                <a:off x="5401775" y="8410825"/>
                <a:ext cx="519300" cy="2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  <a:tabLst/>
                  <a:defRPr/>
                </a:pPr>
                <a:r>
                  <a:rPr kumimoji="0" lang="e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Noto Sans Medium"/>
                    <a:ea typeface="Noto Sans Medium"/>
                    <a:cs typeface="Noto Sans Medium"/>
                    <a:sym typeface="Noto Sans Medium"/>
                  </a:rPr>
                  <a:t>2024</a:t>
                </a:r>
                <a:endParaRPr kumimoji="0" sz="9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Medium"/>
                  <a:ea typeface="Noto Sans Medium"/>
                  <a:cs typeface="Noto Sans Medium"/>
                  <a:sym typeface="Noto Sans Medium"/>
                </a:endParaRPr>
              </a:p>
            </p:txBody>
          </p:sp>
        </p:grpSp>
      </p:grpSp>
      <p:sp>
        <p:nvSpPr>
          <p:cNvPr id="419" name="Google Shape;419;p20"/>
          <p:cNvSpPr txBox="1"/>
          <p:nvPr/>
        </p:nvSpPr>
        <p:spPr>
          <a:xfrm>
            <a:off x="208325" y="9188375"/>
            <a:ext cx="6930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r>
              <a:rPr kumimoji="0" lang="e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Fechas de conclusión</a:t>
            </a:r>
            <a:r>
              <a:rPr kumimoji="0" lang="es" sz="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: 1/ </a:t>
            </a:r>
            <a:r>
              <a:rPr kumimoji="0" lang="e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30 agosto. </a:t>
            </a:r>
            <a:r>
              <a:rPr kumimoji="0" lang="es" sz="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2/ </a:t>
            </a:r>
            <a:r>
              <a:rPr kumimoji="0" lang="e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15 agosto. </a:t>
            </a:r>
            <a:r>
              <a:rPr kumimoji="0" lang="es" sz="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3/ </a:t>
            </a:r>
            <a:r>
              <a:rPr kumimoji="0" lang="e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15 septiembre.</a:t>
            </a:r>
            <a:r>
              <a:rPr kumimoji="0" lang="es" sz="8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4/ </a:t>
            </a:r>
            <a:r>
              <a:rPr kumimoji="0" lang="e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13 septiembre. 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26" name="Google Shape;426;p22"/>
          <p:cNvGraphicFramePr/>
          <p:nvPr/>
        </p:nvGraphicFramePr>
        <p:xfrm>
          <a:off x="149063" y="788525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22. Proyectos Estratégicos de Conservación 2022-2024</a:t>
                      </a:r>
                      <a:endParaRPr sz="20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27" name="Google Shape;42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5675" y="1321325"/>
            <a:ext cx="3502950" cy="10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2"/>
          <p:cNvSpPr txBox="1"/>
          <p:nvPr/>
        </p:nvSpPr>
        <p:spPr>
          <a:xfrm>
            <a:off x="4738825" y="1462500"/>
            <a:ext cx="2667600" cy="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Black"/>
              <a:buNone/>
              <a:tabLst/>
              <a:defRPr/>
            </a:pPr>
            <a:r>
              <a:rPr kumimoji="0" lang="es" sz="3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17,799.4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Black"/>
              <a:buNone/>
              <a:tabLst/>
              <a:defRPr/>
            </a:pPr>
            <a:r>
              <a:rPr kumimoji="0" lang="es" sz="1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100" b="0" i="0" u="none" strike="noStrike" kern="0" cap="none" spc="0" normalizeH="0" baseline="0" noProof="0">
              <a:ln>
                <a:noFill/>
              </a:ln>
              <a:solidFill>
                <a:srgbClr val="DDC9A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294738" y="143115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Total de Inversión </a:t>
            </a:r>
            <a:b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</a:br>
            <a: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2022-2025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0" name="Google Shape;430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2649" y="2293050"/>
            <a:ext cx="5927100" cy="354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9550" y="5691230"/>
            <a:ext cx="6213300" cy="3719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38" name="Google Shape;438;p23"/>
          <p:cNvGraphicFramePr/>
          <p:nvPr/>
        </p:nvGraphicFramePr>
        <p:xfrm>
          <a:off x="135300" y="8014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23. Acciones de Conservación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9" name="Google Shape;439;p23"/>
          <p:cNvSpPr txBox="1"/>
          <p:nvPr/>
        </p:nvSpPr>
        <p:spPr>
          <a:xfrm>
            <a:off x="0" y="1294288"/>
            <a:ext cx="7772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675" tIns="0" rIns="201675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s" sz="2100" b="0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9 Programas, total de unidades y montos avalados 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574300" y="2168950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1564125" y="1919750"/>
            <a:ext cx="19818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83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42" name="Google Shape;442;p23"/>
          <p:cNvSpPr txBox="1"/>
          <p:nvPr/>
        </p:nvSpPr>
        <p:spPr>
          <a:xfrm>
            <a:off x="1574300" y="2317678"/>
            <a:ext cx="1961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Unidades de Terapia Intensiva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r>
              <a:rPr kumimoji="0" lang="es" sz="17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$1,757.1 </a:t>
            </a: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1574300" y="3583969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1564125" y="3334769"/>
            <a:ext cx="19818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93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45" name="Google Shape;445;p23"/>
          <p:cNvSpPr txBox="1"/>
          <p:nvPr/>
        </p:nvSpPr>
        <p:spPr>
          <a:xfrm>
            <a:off x="1574300" y="3732695"/>
            <a:ext cx="1961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Áreas de Hemodiálisis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7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$737.7 </a:t>
            </a: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1574300" y="4998989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23"/>
          <p:cNvSpPr/>
          <p:nvPr/>
        </p:nvSpPr>
        <p:spPr>
          <a:xfrm>
            <a:off x="1564125" y="4749789"/>
            <a:ext cx="19818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383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1574300" y="5147717"/>
            <a:ext cx="1961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Rampas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7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$325.9 </a:t>
            </a: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1574300" y="6414008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1564125" y="6164808"/>
            <a:ext cx="19818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89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51" name="Google Shape;451;p23"/>
          <p:cNvSpPr txBox="1"/>
          <p:nvPr/>
        </p:nvSpPr>
        <p:spPr>
          <a:xfrm>
            <a:off x="1574300" y="6562736"/>
            <a:ext cx="1961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Áreas para Salud Mental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7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$187.6 </a:t>
            </a: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5283725" y="2168950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5273550" y="1919750"/>
            <a:ext cx="19818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24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54" name="Google Shape;454;p23"/>
          <p:cNvSpPr txBox="1"/>
          <p:nvPr/>
        </p:nvSpPr>
        <p:spPr>
          <a:xfrm>
            <a:off x="5283725" y="2317678"/>
            <a:ext cx="1961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Hospitales prioritarios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7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$1,765.6 </a:t>
            </a: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5283725" y="3583975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5283725" y="3656500"/>
            <a:ext cx="19614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Noto Sans Black"/>
                <a:ea typeface="Noto Sans Black"/>
                <a:cs typeface="Noto Sans Black"/>
                <a:sym typeface="Noto Sans Black"/>
              </a:rPr>
              <a:t>M</a:t>
            </a: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ejora en Subdelegaciones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7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$716.8 </a:t>
            </a: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5273550" y="3334769"/>
            <a:ext cx="19818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53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5283725" y="4998989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5273550" y="4749789"/>
            <a:ext cx="19818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285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60" name="Google Shape;460;p23"/>
          <p:cNvSpPr txBox="1"/>
          <p:nvPr/>
        </p:nvSpPr>
        <p:spPr>
          <a:xfrm>
            <a:off x="5283725" y="5147717"/>
            <a:ext cx="1961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Áreas para residentes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7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$1,466.3 </a:t>
            </a: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461" name="Google Shape;461;p23"/>
          <p:cNvGrpSpPr/>
          <p:nvPr/>
        </p:nvGrpSpPr>
        <p:grpSpPr>
          <a:xfrm>
            <a:off x="548674" y="1919758"/>
            <a:ext cx="1006358" cy="1006947"/>
            <a:chOff x="325949" y="1306908"/>
            <a:chExt cx="1006358" cy="1006947"/>
          </a:xfrm>
        </p:grpSpPr>
        <p:sp>
          <p:nvSpPr>
            <p:cNvPr id="462" name="Google Shape;462;p23"/>
            <p:cNvSpPr/>
            <p:nvPr/>
          </p:nvSpPr>
          <p:spPr>
            <a:xfrm>
              <a:off x="325949" y="1609011"/>
              <a:ext cx="1006358" cy="704844"/>
            </a:xfrm>
            <a:custGeom>
              <a:avLst/>
              <a:gdLst/>
              <a:ahLst/>
              <a:cxnLst/>
              <a:rect l="l" t="t" r="r" b="b"/>
              <a:pathLst>
                <a:path w="1006358" h="704844" extrusionOk="0">
                  <a:moveTo>
                    <a:pt x="254559" y="537371"/>
                  </a:moveTo>
                  <a:cubicBezTo>
                    <a:pt x="285185" y="537371"/>
                    <a:pt x="313608" y="537371"/>
                    <a:pt x="342913" y="537371"/>
                  </a:cubicBezTo>
                  <a:cubicBezTo>
                    <a:pt x="342032" y="534727"/>
                    <a:pt x="341371" y="532523"/>
                    <a:pt x="340930" y="530540"/>
                  </a:cubicBezTo>
                  <a:cubicBezTo>
                    <a:pt x="338947" y="521947"/>
                    <a:pt x="335862" y="513134"/>
                    <a:pt x="335642" y="504541"/>
                  </a:cubicBezTo>
                  <a:cubicBezTo>
                    <a:pt x="335201" y="488016"/>
                    <a:pt x="334761" y="471271"/>
                    <a:pt x="337184" y="454966"/>
                  </a:cubicBezTo>
                  <a:cubicBezTo>
                    <a:pt x="344896" y="402967"/>
                    <a:pt x="374200" y="367053"/>
                    <a:pt x="422453" y="346782"/>
                  </a:cubicBezTo>
                  <a:cubicBezTo>
                    <a:pt x="432368" y="342596"/>
                    <a:pt x="432368" y="342816"/>
                    <a:pt x="424877" y="335325"/>
                  </a:cubicBezTo>
                  <a:cubicBezTo>
                    <a:pt x="396234" y="306681"/>
                    <a:pt x="367370" y="278038"/>
                    <a:pt x="338727" y="249174"/>
                  </a:cubicBezTo>
                  <a:cubicBezTo>
                    <a:pt x="322422" y="232649"/>
                    <a:pt x="316693" y="213039"/>
                    <a:pt x="319558" y="189684"/>
                  </a:cubicBezTo>
                  <a:cubicBezTo>
                    <a:pt x="321320" y="176023"/>
                    <a:pt x="329473" y="165668"/>
                    <a:pt x="334320" y="153549"/>
                  </a:cubicBezTo>
                  <a:cubicBezTo>
                    <a:pt x="340930" y="137024"/>
                    <a:pt x="348421" y="120940"/>
                    <a:pt x="356133" y="104635"/>
                  </a:cubicBezTo>
                  <a:cubicBezTo>
                    <a:pt x="363184" y="89652"/>
                    <a:pt x="370234" y="74670"/>
                    <a:pt x="378607" y="60568"/>
                  </a:cubicBezTo>
                  <a:cubicBezTo>
                    <a:pt x="402403" y="21129"/>
                    <a:pt x="437877" y="1078"/>
                    <a:pt x="483706" y="417"/>
                  </a:cubicBezTo>
                  <a:cubicBezTo>
                    <a:pt x="540552" y="-244"/>
                    <a:pt x="597399" y="-24"/>
                    <a:pt x="654024" y="417"/>
                  </a:cubicBezTo>
                  <a:cubicBezTo>
                    <a:pt x="705582" y="858"/>
                    <a:pt x="743259" y="24434"/>
                    <a:pt x="766615" y="70483"/>
                  </a:cubicBezTo>
                  <a:cubicBezTo>
                    <a:pt x="774988" y="87008"/>
                    <a:pt x="783140" y="103533"/>
                    <a:pt x="790852" y="120058"/>
                  </a:cubicBezTo>
                  <a:cubicBezTo>
                    <a:pt x="799885" y="139227"/>
                    <a:pt x="808478" y="158617"/>
                    <a:pt x="816851" y="178227"/>
                  </a:cubicBezTo>
                  <a:cubicBezTo>
                    <a:pt x="826325" y="200260"/>
                    <a:pt x="819936" y="230005"/>
                    <a:pt x="802529" y="247411"/>
                  </a:cubicBezTo>
                  <a:cubicBezTo>
                    <a:pt x="775869" y="274072"/>
                    <a:pt x="749429" y="300732"/>
                    <a:pt x="722768" y="327393"/>
                  </a:cubicBezTo>
                  <a:cubicBezTo>
                    <a:pt x="720565" y="329596"/>
                    <a:pt x="718582" y="331799"/>
                    <a:pt x="715277" y="335545"/>
                  </a:cubicBezTo>
                  <a:cubicBezTo>
                    <a:pt x="720565" y="335765"/>
                    <a:pt x="723870" y="336206"/>
                    <a:pt x="727175" y="336206"/>
                  </a:cubicBezTo>
                  <a:cubicBezTo>
                    <a:pt x="816851" y="336206"/>
                    <a:pt x="906747" y="336206"/>
                    <a:pt x="996423" y="336206"/>
                  </a:cubicBezTo>
                  <a:cubicBezTo>
                    <a:pt x="1005897" y="336206"/>
                    <a:pt x="1005897" y="336206"/>
                    <a:pt x="1005897" y="345460"/>
                  </a:cubicBezTo>
                  <a:cubicBezTo>
                    <a:pt x="1005897" y="351409"/>
                    <a:pt x="1005677" y="357358"/>
                    <a:pt x="1005897" y="363307"/>
                  </a:cubicBezTo>
                  <a:cubicBezTo>
                    <a:pt x="1006118" y="367493"/>
                    <a:pt x="1004355" y="369036"/>
                    <a:pt x="1000389" y="368815"/>
                  </a:cubicBezTo>
                  <a:cubicBezTo>
                    <a:pt x="998626" y="368595"/>
                    <a:pt x="997084" y="368815"/>
                    <a:pt x="995321" y="368815"/>
                  </a:cubicBezTo>
                  <a:cubicBezTo>
                    <a:pt x="923933" y="368815"/>
                    <a:pt x="852325" y="368815"/>
                    <a:pt x="780937" y="368815"/>
                  </a:cubicBezTo>
                  <a:cubicBezTo>
                    <a:pt x="770801" y="368815"/>
                    <a:pt x="770801" y="368815"/>
                    <a:pt x="770801" y="378510"/>
                  </a:cubicBezTo>
                  <a:cubicBezTo>
                    <a:pt x="770801" y="395696"/>
                    <a:pt x="771022" y="412882"/>
                    <a:pt x="770801" y="430289"/>
                  </a:cubicBezTo>
                  <a:cubicBezTo>
                    <a:pt x="770801" y="435577"/>
                    <a:pt x="772564" y="437559"/>
                    <a:pt x="777852" y="437559"/>
                  </a:cubicBezTo>
                  <a:cubicBezTo>
                    <a:pt x="787106" y="437339"/>
                    <a:pt x="796580" y="437559"/>
                    <a:pt x="805834" y="437559"/>
                  </a:cubicBezTo>
                  <a:cubicBezTo>
                    <a:pt x="841969" y="437780"/>
                    <a:pt x="871273" y="466864"/>
                    <a:pt x="871494" y="502778"/>
                  </a:cubicBezTo>
                  <a:cubicBezTo>
                    <a:pt x="871714" y="539794"/>
                    <a:pt x="843511" y="569540"/>
                    <a:pt x="806936" y="570421"/>
                  </a:cubicBezTo>
                  <a:cubicBezTo>
                    <a:pt x="797241" y="570641"/>
                    <a:pt x="787326" y="570641"/>
                    <a:pt x="777632" y="570421"/>
                  </a:cubicBezTo>
                  <a:cubicBezTo>
                    <a:pt x="772784" y="570201"/>
                    <a:pt x="770801" y="571743"/>
                    <a:pt x="770801" y="577031"/>
                  </a:cubicBezTo>
                  <a:cubicBezTo>
                    <a:pt x="771022" y="596200"/>
                    <a:pt x="770801" y="615369"/>
                    <a:pt x="771022" y="634538"/>
                  </a:cubicBezTo>
                  <a:cubicBezTo>
                    <a:pt x="771242" y="656131"/>
                    <a:pt x="786886" y="671774"/>
                    <a:pt x="808699" y="672215"/>
                  </a:cubicBezTo>
                  <a:cubicBezTo>
                    <a:pt x="823902" y="672435"/>
                    <a:pt x="838884" y="672215"/>
                    <a:pt x="854087" y="672215"/>
                  </a:cubicBezTo>
                  <a:cubicBezTo>
                    <a:pt x="901900" y="672215"/>
                    <a:pt x="949933" y="672215"/>
                    <a:pt x="997745" y="672215"/>
                  </a:cubicBezTo>
                  <a:cubicBezTo>
                    <a:pt x="1006338" y="672215"/>
                    <a:pt x="1006338" y="672215"/>
                    <a:pt x="1006338" y="681028"/>
                  </a:cubicBezTo>
                  <a:cubicBezTo>
                    <a:pt x="1006338" y="687198"/>
                    <a:pt x="1006118" y="693367"/>
                    <a:pt x="1006338" y="699536"/>
                  </a:cubicBezTo>
                  <a:cubicBezTo>
                    <a:pt x="1006558" y="703502"/>
                    <a:pt x="1005016" y="705045"/>
                    <a:pt x="1001050" y="704825"/>
                  </a:cubicBezTo>
                  <a:cubicBezTo>
                    <a:pt x="997525" y="704604"/>
                    <a:pt x="993779" y="704825"/>
                    <a:pt x="990254" y="704825"/>
                  </a:cubicBezTo>
                  <a:cubicBezTo>
                    <a:pt x="930984" y="704825"/>
                    <a:pt x="871494" y="704604"/>
                    <a:pt x="812224" y="704825"/>
                  </a:cubicBezTo>
                  <a:cubicBezTo>
                    <a:pt x="785123" y="704825"/>
                    <a:pt x="763530" y="694689"/>
                    <a:pt x="749649" y="671334"/>
                  </a:cubicBezTo>
                  <a:cubicBezTo>
                    <a:pt x="744582" y="662741"/>
                    <a:pt x="742378" y="652385"/>
                    <a:pt x="739514" y="642690"/>
                  </a:cubicBezTo>
                  <a:cubicBezTo>
                    <a:pt x="738412" y="639165"/>
                    <a:pt x="737310" y="637402"/>
                    <a:pt x="733565" y="637623"/>
                  </a:cubicBezTo>
                  <a:cubicBezTo>
                    <a:pt x="731582" y="637843"/>
                    <a:pt x="729819" y="637623"/>
                    <a:pt x="727836" y="637623"/>
                  </a:cubicBezTo>
                  <a:cubicBezTo>
                    <a:pt x="502875" y="637623"/>
                    <a:pt x="278135" y="637623"/>
                    <a:pt x="53174" y="637623"/>
                  </a:cubicBezTo>
                  <a:cubicBezTo>
                    <a:pt x="21446" y="637623"/>
                    <a:pt x="-1469" y="614708"/>
                    <a:pt x="73" y="584522"/>
                  </a:cubicBezTo>
                  <a:cubicBezTo>
                    <a:pt x="1395" y="559624"/>
                    <a:pt x="22548" y="538693"/>
                    <a:pt x="47445" y="538032"/>
                  </a:cubicBezTo>
                  <a:cubicBezTo>
                    <a:pt x="57360" y="537811"/>
                    <a:pt x="67275" y="538032"/>
                    <a:pt x="78072" y="537150"/>
                  </a:cubicBezTo>
                  <a:cubicBezTo>
                    <a:pt x="37971" y="496609"/>
                    <a:pt x="24090" y="449458"/>
                    <a:pt x="40395" y="395035"/>
                  </a:cubicBezTo>
                  <a:cubicBezTo>
                    <a:pt x="48988" y="366392"/>
                    <a:pt x="66614" y="343697"/>
                    <a:pt x="91071" y="326511"/>
                  </a:cubicBezTo>
                  <a:cubicBezTo>
                    <a:pt x="139985" y="292360"/>
                    <a:pt x="205865" y="294783"/>
                    <a:pt x="251915" y="332460"/>
                  </a:cubicBezTo>
                  <a:cubicBezTo>
                    <a:pt x="283643" y="358460"/>
                    <a:pt x="300168" y="392391"/>
                    <a:pt x="301049" y="433593"/>
                  </a:cubicBezTo>
                  <a:cubicBezTo>
                    <a:pt x="301490" y="474355"/>
                    <a:pt x="285185" y="508066"/>
                    <a:pt x="254559" y="537371"/>
                  </a:cubicBezTo>
                  <a:close/>
                  <a:moveTo>
                    <a:pt x="569857" y="32586"/>
                  </a:moveTo>
                  <a:cubicBezTo>
                    <a:pt x="569857" y="32586"/>
                    <a:pt x="569857" y="32586"/>
                    <a:pt x="569857" y="32586"/>
                  </a:cubicBezTo>
                  <a:cubicBezTo>
                    <a:pt x="541434" y="32586"/>
                    <a:pt x="512790" y="32145"/>
                    <a:pt x="484367" y="32806"/>
                  </a:cubicBezTo>
                  <a:cubicBezTo>
                    <a:pt x="474673" y="33027"/>
                    <a:pt x="464758" y="34349"/>
                    <a:pt x="455503" y="37433"/>
                  </a:cubicBezTo>
                  <a:cubicBezTo>
                    <a:pt x="430165" y="46026"/>
                    <a:pt x="411877" y="62331"/>
                    <a:pt x="401522" y="87890"/>
                  </a:cubicBezTo>
                  <a:cubicBezTo>
                    <a:pt x="393810" y="106618"/>
                    <a:pt x="383675" y="124465"/>
                    <a:pt x="375082" y="142973"/>
                  </a:cubicBezTo>
                  <a:cubicBezTo>
                    <a:pt x="368692" y="156414"/>
                    <a:pt x="363624" y="170515"/>
                    <a:pt x="356574" y="183515"/>
                  </a:cubicBezTo>
                  <a:cubicBezTo>
                    <a:pt x="348642" y="198057"/>
                    <a:pt x="349082" y="213039"/>
                    <a:pt x="360980" y="224937"/>
                  </a:cubicBezTo>
                  <a:cubicBezTo>
                    <a:pt x="396674" y="261072"/>
                    <a:pt x="432589" y="296987"/>
                    <a:pt x="468724" y="332681"/>
                  </a:cubicBezTo>
                  <a:cubicBezTo>
                    <a:pt x="470486" y="334443"/>
                    <a:pt x="473351" y="335986"/>
                    <a:pt x="475774" y="335986"/>
                  </a:cubicBezTo>
                  <a:cubicBezTo>
                    <a:pt x="499570" y="336206"/>
                    <a:pt x="523366" y="335986"/>
                    <a:pt x="547162" y="336206"/>
                  </a:cubicBezTo>
                  <a:cubicBezTo>
                    <a:pt x="551569" y="336206"/>
                    <a:pt x="552891" y="334223"/>
                    <a:pt x="552010" y="330257"/>
                  </a:cubicBezTo>
                  <a:cubicBezTo>
                    <a:pt x="550467" y="321444"/>
                    <a:pt x="546061" y="313952"/>
                    <a:pt x="539671" y="307783"/>
                  </a:cubicBezTo>
                  <a:cubicBezTo>
                    <a:pt x="522044" y="290156"/>
                    <a:pt x="504418" y="272529"/>
                    <a:pt x="486791" y="255123"/>
                  </a:cubicBezTo>
                  <a:cubicBezTo>
                    <a:pt x="468944" y="237276"/>
                    <a:pt x="451317" y="219649"/>
                    <a:pt x="433470" y="201802"/>
                  </a:cubicBezTo>
                  <a:cubicBezTo>
                    <a:pt x="429504" y="197836"/>
                    <a:pt x="426419" y="193650"/>
                    <a:pt x="429063" y="187701"/>
                  </a:cubicBezTo>
                  <a:cubicBezTo>
                    <a:pt x="433029" y="178667"/>
                    <a:pt x="436995" y="169413"/>
                    <a:pt x="441182" y="160380"/>
                  </a:cubicBezTo>
                  <a:cubicBezTo>
                    <a:pt x="447572" y="146719"/>
                    <a:pt x="453961" y="133278"/>
                    <a:pt x="460351" y="119618"/>
                  </a:cubicBezTo>
                  <a:cubicBezTo>
                    <a:pt x="463215" y="113669"/>
                    <a:pt x="467402" y="109482"/>
                    <a:pt x="474452" y="109482"/>
                  </a:cubicBezTo>
                  <a:cubicBezTo>
                    <a:pt x="488774" y="109262"/>
                    <a:pt x="496926" y="121601"/>
                    <a:pt x="490977" y="134821"/>
                  </a:cubicBezTo>
                  <a:cubicBezTo>
                    <a:pt x="483927" y="150244"/>
                    <a:pt x="476876" y="165668"/>
                    <a:pt x="469164" y="180650"/>
                  </a:cubicBezTo>
                  <a:cubicBezTo>
                    <a:pt x="466080" y="186820"/>
                    <a:pt x="467842" y="190565"/>
                    <a:pt x="472029" y="194752"/>
                  </a:cubicBezTo>
                  <a:cubicBezTo>
                    <a:pt x="503316" y="226039"/>
                    <a:pt x="534603" y="257326"/>
                    <a:pt x="565891" y="288614"/>
                  </a:cubicBezTo>
                  <a:cubicBezTo>
                    <a:pt x="568975" y="291699"/>
                    <a:pt x="570738" y="291258"/>
                    <a:pt x="573602" y="288394"/>
                  </a:cubicBezTo>
                  <a:cubicBezTo>
                    <a:pt x="579992" y="281563"/>
                    <a:pt x="586602" y="274953"/>
                    <a:pt x="593212" y="268343"/>
                  </a:cubicBezTo>
                  <a:cubicBezTo>
                    <a:pt x="618551" y="243005"/>
                    <a:pt x="643669" y="217666"/>
                    <a:pt x="669007" y="192548"/>
                  </a:cubicBezTo>
                  <a:cubicBezTo>
                    <a:pt x="672532" y="189023"/>
                    <a:pt x="673414" y="186379"/>
                    <a:pt x="671210" y="181532"/>
                  </a:cubicBezTo>
                  <a:cubicBezTo>
                    <a:pt x="663058" y="165227"/>
                    <a:pt x="655567" y="148482"/>
                    <a:pt x="647855" y="131957"/>
                  </a:cubicBezTo>
                  <a:cubicBezTo>
                    <a:pt x="644109" y="124024"/>
                    <a:pt x="646092" y="115652"/>
                    <a:pt x="652702" y="112126"/>
                  </a:cubicBezTo>
                  <a:cubicBezTo>
                    <a:pt x="660634" y="107720"/>
                    <a:pt x="671871" y="109923"/>
                    <a:pt x="676058" y="116974"/>
                  </a:cubicBezTo>
                  <a:cubicBezTo>
                    <a:pt x="679363" y="122482"/>
                    <a:pt x="682447" y="127991"/>
                    <a:pt x="685091" y="133719"/>
                  </a:cubicBezTo>
                  <a:cubicBezTo>
                    <a:pt x="692362" y="148702"/>
                    <a:pt x="699193" y="164125"/>
                    <a:pt x="706684" y="179108"/>
                  </a:cubicBezTo>
                  <a:cubicBezTo>
                    <a:pt x="712853" y="191226"/>
                    <a:pt x="711531" y="196294"/>
                    <a:pt x="702277" y="205328"/>
                  </a:cubicBezTo>
                  <a:cubicBezTo>
                    <a:pt x="668126" y="239039"/>
                    <a:pt x="634194" y="273190"/>
                    <a:pt x="600263" y="307122"/>
                  </a:cubicBezTo>
                  <a:cubicBezTo>
                    <a:pt x="594093" y="313291"/>
                    <a:pt x="589246" y="320122"/>
                    <a:pt x="587483" y="328715"/>
                  </a:cubicBezTo>
                  <a:cubicBezTo>
                    <a:pt x="586162" y="335545"/>
                    <a:pt x="586602" y="336206"/>
                    <a:pt x="593432" y="336206"/>
                  </a:cubicBezTo>
                  <a:cubicBezTo>
                    <a:pt x="609737" y="336206"/>
                    <a:pt x="626262" y="335104"/>
                    <a:pt x="642567" y="336426"/>
                  </a:cubicBezTo>
                  <a:cubicBezTo>
                    <a:pt x="659973" y="337969"/>
                    <a:pt x="672532" y="332460"/>
                    <a:pt x="684651" y="319461"/>
                  </a:cubicBezTo>
                  <a:cubicBezTo>
                    <a:pt x="714616" y="287512"/>
                    <a:pt x="746344" y="257106"/>
                    <a:pt x="777191" y="226039"/>
                  </a:cubicBezTo>
                  <a:cubicBezTo>
                    <a:pt x="786445" y="216785"/>
                    <a:pt x="790411" y="205548"/>
                    <a:pt x="786665" y="192769"/>
                  </a:cubicBezTo>
                  <a:cubicBezTo>
                    <a:pt x="784242" y="184616"/>
                    <a:pt x="780055" y="176684"/>
                    <a:pt x="776310" y="168973"/>
                  </a:cubicBezTo>
                  <a:cubicBezTo>
                    <a:pt x="771242" y="158397"/>
                    <a:pt x="765734" y="148261"/>
                    <a:pt x="760886" y="137685"/>
                  </a:cubicBezTo>
                  <a:cubicBezTo>
                    <a:pt x="752954" y="120499"/>
                    <a:pt x="745683" y="103093"/>
                    <a:pt x="737531" y="86127"/>
                  </a:cubicBezTo>
                  <a:cubicBezTo>
                    <a:pt x="720785" y="51314"/>
                    <a:pt x="692803" y="33027"/>
                    <a:pt x="653804" y="32806"/>
                  </a:cubicBezTo>
                  <a:cubicBezTo>
                    <a:pt x="626262" y="32366"/>
                    <a:pt x="598059" y="32586"/>
                    <a:pt x="569857" y="32586"/>
                  </a:cubicBezTo>
                  <a:close/>
                  <a:moveTo>
                    <a:pt x="602687" y="537811"/>
                  </a:moveTo>
                  <a:cubicBezTo>
                    <a:pt x="667685" y="537811"/>
                    <a:pt x="732904" y="537811"/>
                    <a:pt x="797902" y="537811"/>
                  </a:cubicBezTo>
                  <a:cubicBezTo>
                    <a:pt x="800987" y="537811"/>
                    <a:pt x="803851" y="537811"/>
                    <a:pt x="806936" y="537591"/>
                  </a:cubicBezTo>
                  <a:cubicBezTo>
                    <a:pt x="832715" y="535828"/>
                    <a:pt x="847698" y="507405"/>
                    <a:pt x="834257" y="485813"/>
                  </a:cubicBezTo>
                  <a:cubicBezTo>
                    <a:pt x="826986" y="474135"/>
                    <a:pt x="816190" y="469288"/>
                    <a:pt x="802529" y="469288"/>
                  </a:cubicBezTo>
                  <a:cubicBezTo>
                    <a:pt x="688396" y="469508"/>
                    <a:pt x="574043" y="469288"/>
                    <a:pt x="459910" y="469288"/>
                  </a:cubicBezTo>
                  <a:cubicBezTo>
                    <a:pt x="456825" y="469288"/>
                    <a:pt x="453961" y="469508"/>
                    <a:pt x="450877" y="469067"/>
                  </a:cubicBezTo>
                  <a:cubicBezTo>
                    <a:pt x="442283" y="467966"/>
                    <a:pt x="436114" y="460915"/>
                    <a:pt x="436334" y="452322"/>
                  </a:cubicBezTo>
                  <a:cubicBezTo>
                    <a:pt x="436555" y="443729"/>
                    <a:pt x="442724" y="437339"/>
                    <a:pt x="451758" y="436898"/>
                  </a:cubicBezTo>
                  <a:cubicBezTo>
                    <a:pt x="458588" y="436678"/>
                    <a:pt x="465419" y="436678"/>
                    <a:pt x="472249" y="436678"/>
                  </a:cubicBezTo>
                  <a:cubicBezTo>
                    <a:pt x="558399" y="436678"/>
                    <a:pt x="644550" y="436678"/>
                    <a:pt x="730700" y="436898"/>
                  </a:cubicBezTo>
                  <a:cubicBezTo>
                    <a:pt x="736870" y="436898"/>
                    <a:pt x="738853" y="434695"/>
                    <a:pt x="738632" y="428746"/>
                  </a:cubicBezTo>
                  <a:cubicBezTo>
                    <a:pt x="738412" y="411560"/>
                    <a:pt x="738632" y="394374"/>
                    <a:pt x="738412" y="376968"/>
                  </a:cubicBezTo>
                  <a:cubicBezTo>
                    <a:pt x="738412" y="368375"/>
                    <a:pt x="738412" y="368154"/>
                    <a:pt x="729379" y="368154"/>
                  </a:cubicBezTo>
                  <a:cubicBezTo>
                    <a:pt x="675837" y="368154"/>
                    <a:pt x="622076" y="368154"/>
                    <a:pt x="568535" y="368154"/>
                  </a:cubicBezTo>
                  <a:cubicBezTo>
                    <a:pt x="536807" y="368154"/>
                    <a:pt x="505079" y="367934"/>
                    <a:pt x="473351" y="368154"/>
                  </a:cubicBezTo>
                  <a:cubicBezTo>
                    <a:pt x="423335" y="368375"/>
                    <a:pt x="381471" y="400764"/>
                    <a:pt x="370675" y="449237"/>
                  </a:cubicBezTo>
                  <a:cubicBezTo>
                    <a:pt x="367150" y="465322"/>
                    <a:pt x="367811" y="482508"/>
                    <a:pt x="367370" y="499253"/>
                  </a:cubicBezTo>
                  <a:cubicBezTo>
                    <a:pt x="366929" y="523930"/>
                    <a:pt x="380590" y="537150"/>
                    <a:pt x="405047" y="537150"/>
                  </a:cubicBezTo>
                  <a:cubicBezTo>
                    <a:pt x="471147" y="537811"/>
                    <a:pt x="537027" y="537811"/>
                    <a:pt x="602687" y="537811"/>
                  </a:cubicBezTo>
                  <a:close/>
                  <a:moveTo>
                    <a:pt x="65733" y="436017"/>
                  </a:moveTo>
                  <a:cubicBezTo>
                    <a:pt x="65513" y="491982"/>
                    <a:pt x="111122" y="537811"/>
                    <a:pt x="166866" y="537811"/>
                  </a:cubicBezTo>
                  <a:cubicBezTo>
                    <a:pt x="222390" y="537811"/>
                    <a:pt x="267999" y="492202"/>
                    <a:pt x="267999" y="436678"/>
                  </a:cubicBezTo>
                  <a:cubicBezTo>
                    <a:pt x="267999" y="380713"/>
                    <a:pt x="222831" y="335104"/>
                    <a:pt x="167527" y="334884"/>
                  </a:cubicBezTo>
                  <a:cubicBezTo>
                    <a:pt x="111562" y="334664"/>
                    <a:pt x="65953" y="380052"/>
                    <a:pt x="65733" y="436017"/>
                  </a:cubicBezTo>
                  <a:close/>
                  <a:moveTo>
                    <a:pt x="390946" y="570201"/>
                  </a:moveTo>
                  <a:cubicBezTo>
                    <a:pt x="281660" y="570201"/>
                    <a:pt x="172154" y="570201"/>
                    <a:pt x="62869" y="570201"/>
                  </a:cubicBezTo>
                  <a:cubicBezTo>
                    <a:pt x="58242" y="570201"/>
                    <a:pt x="53394" y="570201"/>
                    <a:pt x="48767" y="570421"/>
                  </a:cubicBezTo>
                  <a:cubicBezTo>
                    <a:pt x="39954" y="570862"/>
                    <a:pt x="32903" y="577472"/>
                    <a:pt x="32022" y="586065"/>
                  </a:cubicBezTo>
                  <a:cubicBezTo>
                    <a:pt x="31141" y="593997"/>
                    <a:pt x="37090" y="602590"/>
                    <a:pt x="45683" y="604352"/>
                  </a:cubicBezTo>
                  <a:cubicBezTo>
                    <a:pt x="50089" y="605234"/>
                    <a:pt x="54496" y="605234"/>
                    <a:pt x="58903" y="605234"/>
                  </a:cubicBezTo>
                  <a:cubicBezTo>
                    <a:pt x="282101" y="605234"/>
                    <a:pt x="505299" y="605234"/>
                    <a:pt x="728497" y="605234"/>
                  </a:cubicBezTo>
                  <a:cubicBezTo>
                    <a:pt x="729819" y="605234"/>
                    <a:pt x="731141" y="605234"/>
                    <a:pt x="732243" y="605234"/>
                  </a:cubicBezTo>
                  <a:cubicBezTo>
                    <a:pt x="736429" y="605454"/>
                    <a:pt x="738412" y="603691"/>
                    <a:pt x="738412" y="599285"/>
                  </a:cubicBezTo>
                  <a:cubicBezTo>
                    <a:pt x="738192" y="592895"/>
                    <a:pt x="738412" y="586505"/>
                    <a:pt x="738412" y="580115"/>
                  </a:cubicBezTo>
                  <a:cubicBezTo>
                    <a:pt x="738412" y="570421"/>
                    <a:pt x="738412" y="570421"/>
                    <a:pt x="728497" y="570421"/>
                  </a:cubicBezTo>
                  <a:cubicBezTo>
                    <a:pt x="616127" y="570201"/>
                    <a:pt x="503536" y="570201"/>
                    <a:pt x="390946" y="570201"/>
                  </a:cubicBezTo>
                  <a:close/>
                </a:path>
              </a:pathLst>
            </a:custGeom>
            <a:solidFill>
              <a:srgbClr val="DDC9A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23"/>
            <p:cNvSpPr/>
            <p:nvPr/>
          </p:nvSpPr>
          <p:spPr>
            <a:xfrm>
              <a:off x="762278" y="1306908"/>
              <a:ext cx="267272" cy="267488"/>
            </a:xfrm>
            <a:custGeom>
              <a:avLst/>
              <a:gdLst/>
              <a:ahLst/>
              <a:cxnLst/>
              <a:rect l="l" t="t" r="r" b="b"/>
              <a:pathLst>
                <a:path w="267272" h="267488" extrusionOk="0">
                  <a:moveTo>
                    <a:pt x="133528" y="2"/>
                  </a:moveTo>
                  <a:cubicBezTo>
                    <a:pt x="207119" y="-438"/>
                    <a:pt x="266830" y="58832"/>
                    <a:pt x="267270" y="132423"/>
                  </a:cubicBezTo>
                  <a:cubicBezTo>
                    <a:pt x="267711" y="206676"/>
                    <a:pt x="208882" y="267267"/>
                    <a:pt x="136172" y="267488"/>
                  </a:cubicBezTo>
                  <a:cubicBezTo>
                    <a:pt x="61258" y="267708"/>
                    <a:pt x="446" y="209099"/>
                    <a:pt x="6" y="135948"/>
                  </a:cubicBezTo>
                  <a:cubicBezTo>
                    <a:pt x="-656" y="60154"/>
                    <a:pt x="58174" y="443"/>
                    <a:pt x="133528" y="2"/>
                  </a:cubicBezTo>
                  <a:close/>
                  <a:moveTo>
                    <a:pt x="133308" y="151151"/>
                  </a:moveTo>
                  <a:cubicBezTo>
                    <a:pt x="133308" y="151151"/>
                    <a:pt x="133308" y="151151"/>
                    <a:pt x="133308" y="151151"/>
                  </a:cubicBezTo>
                  <a:cubicBezTo>
                    <a:pt x="146748" y="151151"/>
                    <a:pt x="160188" y="151372"/>
                    <a:pt x="173408" y="151151"/>
                  </a:cubicBezTo>
                  <a:cubicBezTo>
                    <a:pt x="176713" y="151151"/>
                    <a:pt x="180679" y="150050"/>
                    <a:pt x="183544" y="148067"/>
                  </a:cubicBezTo>
                  <a:cubicBezTo>
                    <a:pt x="198306" y="138813"/>
                    <a:pt x="212628" y="128898"/>
                    <a:pt x="227610" y="119864"/>
                  </a:cubicBezTo>
                  <a:cubicBezTo>
                    <a:pt x="232678" y="116779"/>
                    <a:pt x="233119" y="113034"/>
                    <a:pt x="231576" y="108186"/>
                  </a:cubicBezTo>
                  <a:cubicBezTo>
                    <a:pt x="219458" y="68526"/>
                    <a:pt x="193679" y="43188"/>
                    <a:pt x="152697" y="34374"/>
                  </a:cubicBezTo>
                  <a:cubicBezTo>
                    <a:pt x="101139" y="23137"/>
                    <a:pt x="46496" y="58832"/>
                    <a:pt x="35479" y="110169"/>
                  </a:cubicBezTo>
                  <a:cubicBezTo>
                    <a:pt x="34598" y="114796"/>
                    <a:pt x="35700" y="117220"/>
                    <a:pt x="39445" y="119644"/>
                  </a:cubicBezTo>
                  <a:cubicBezTo>
                    <a:pt x="54428" y="129118"/>
                    <a:pt x="69411" y="139033"/>
                    <a:pt x="84393" y="148507"/>
                  </a:cubicBezTo>
                  <a:cubicBezTo>
                    <a:pt x="87037" y="150270"/>
                    <a:pt x="90783" y="151151"/>
                    <a:pt x="93868" y="151151"/>
                  </a:cubicBezTo>
                  <a:cubicBezTo>
                    <a:pt x="106867" y="151372"/>
                    <a:pt x="120087" y="151151"/>
                    <a:pt x="133308" y="151151"/>
                  </a:cubicBezTo>
                  <a:close/>
                  <a:moveTo>
                    <a:pt x="167680" y="206896"/>
                  </a:moveTo>
                  <a:cubicBezTo>
                    <a:pt x="167680" y="200947"/>
                    <a:pt x="167680" y="194998"/>
                    <a:pt x="167680" y="189049"/>
                  </a:cubicBezTo>
                  <a:cubicBezTo>
                    <a:pt x="167680" y="185303"/>
                    <a:pt x="166358" y="183540"/>
                    <a:pt x="162612" y="183540"/>
                  </a:cubicBezTo>
                  <a:cubicBezTo>
                    <a:pt x="143443" y="183540"/>
                    <a:pt x="124494" y="183540"/>
                    <a:pt x="105325" y="183540"/>
                  </a:cubicBezTo>
                  <a:cubicBezTo>
                    <a:pt x="100918" y="183540"/>
                    <a:pt x="99376" y="185303"/>
                    <a:pt x="99376" y="189710"/>
                  </a:cubicBezTo>
                  <a:cubicBezTo>
                    <a:pt x="99596" y="200726"/>
                    <a:pt x="99596" y="211743"/>
                    <a:pt x="99376" y="222760"/>
                  </a:cubicBezTo>
                  <a:cubicBezTo>
                    <a:pt x="99376" y="227167"/>
                    <a:pt x="101359" y="229370"/>
                    <a:pt x="105325" y="230472"/>
                  </a:cubicBezTo>
                  <a:cubicBezTo>
                    <a:pt x="124274" y="236421"/>
                    <a:pt x="143222" y="236421"/>
                    <a:pt x="162392" y="230472"/>
                  </a:cubicBezTo>
                  <a:cubicBezTo>
                    <a:pt x="166578" y="229150"/>
                    <a:pt x="168120" y="226946"/>
                    <a:pt x="167900" y="222540"/>
                  </a:cubicBezTo>
                  <a:cubicBezTo>
                    <a:pt x="167459" y="217472"/>
                    <a:pt x="167680" y="212184"/>
                    <a:pt x="167680" y="206896"/>
                  </a:cubicBezTo>
                  <a:close/>
                  <a:moveTo>
                    <a:pt x="200509" y="207337"/>
                  </a:moveTo>
                  <a:cubicBezTo>
                    <a:pt x="212407" y="201828"/>
                    <a:pt x="233339" y="168117"/>
                    <a:pt x="231576" y="153355"/>
                  </a:cubicBezTo>
                  <a:cubicBezTo>
                    <a:pt x="230695" y="153575"/>
                    <a:pt x="229814" y="153355"/>
                    <a:pt x="229153" y="153795"/>
                  </a:cubicBezTo>
                  <a:cubicBezTo>
                    <a:pt x="220560" y="159304"/>
                    <a:pt x="211967" y="164812"/>
                    <a:pt x="203594" y="170320"/>
                  </a:cubicBezTo>
                  <a:cubicBezTo>
                    <a:pt x="202272" y="171202"/>
                    <a:pt x="200730" y="172964"/>
                    <a:pt x="200730" y="174287"/>
                  </a:cubicBezTo>
                  <a:cubicBezTo>
                    <a:pt x="200289" y="184862"/>
                    <a:pt x="200509" y="195659"/>
                    <a:pt x="200509" y="207337"/>
                  </a:cubicBezTo>
                  <a:close/>
                  <a:moveTo>
                    <a:pt x="64563" y="206896"/>
                  </a:moveTo>
                  <a:cubicBezTo>
                    <a:pt x="65445" y="206676"/>
                    <a:pt x="66106" y="206455"/>
                    <a:pt x="66987" y="206235"/>
                  </a:cubicBezTo>
                  <a:cubicBezTo>
                    <a:pt x="66987" y="198523"/>
                    <a:pt x="66546" y="190591"/>
                    <a:pt x="67207" y="182880"/>
                  </a:cubicBezTo>
                  <a:cubicBezTo>
                    <a:pt x="67868" y="175388"/>
                    <a:pt x="65885" y="170100"/>
                    <a:pt x="58614" y="166575"/>
                  </a:cubicBezTo>
                  <a:cubicBezTo>
                    <a:pt x="52445" y="163490"/>
                    <a:pt x="46937" y="159083"/>
                    <a:pt x="40988" y="155338"/>
                  </a:cubicBezTo>
                  <a:cubicBezTo>
                    <a:pt x="39445" y="154456"/>
                    <a:pt x="37903" y="153795"/>
                    <a:pt x="34818" y="152253"/>
                  </a:cubicBezTo>
                  <a:cubicBezTo>
                    <a:pt x="38784" y="175168"/>
                    <a:pt x="49140" y="192354"/>
                    <a:pt x="64563" y="206896"/>
                  </a:cubicBezTo>
                  <a:close/>
                </a:path>
              </a:pathLst>
            </a:custGeom>
            <a:solidFill>
              <a:srgbClr val="DDC9A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23"/>
          <p:cNvGrpSpPr/>
          <p:nvPr/>
        </p:nvGrpSpPr>
        <p:grpSpPr>
          <a:xfrm>
            <a:off x="576691" y="6252053"/>
            <a:ext cx="950324" cy="834722"/>
            <a:chOff x="8079110" y="1526583"/>
            <a:chExt cx="950324" cy="834722"/>
          </a:xfrm>
        </p:grpSpPr>
        <p:sp>
          <p:nvSpPr>
            <p:cNvPr id="465" name="Google Shape;465;p23"/>
            <p:cNvSpPr/>
            <p:nvPr/>
          </p:nvSpPr>
          <p:spPr>
            <a:xfrm>
              <a:off x="8079110" y="1600958"/>
              <a:ext cx="950324" cy="760347"/>
            </a:xfrm>
            <a:custGeom>
              <a:avLst/>
              <a:gdLst/>
              <a:ahLst/>
              <a:cxnLst/>
              <a:rect l="l" t="t" r="r" b="b"/>
              <a:pathLst>
                <a:path w="950324" h="760347" extrusionOk="0">
                  <a:moveTo>
                    <a:pt x="54662" y="726979"/>
                  </a:moveTo>
                  <a:cubicBezTo>
                    <a:pt x="54662" y="717725"/>
                    <a:pt x="54662" y="711336"/>
                    <a:pt x="54662" y="704946"/>
                  </a:cubicBezTo>
                  <a:cubicBezTo>
                    <a:pt x="54662" y="531543"/>
                    <a:pt x="54662" y="358361"/>
                    <a:pt x="54662" y="184958"/>
                  </a:cubicBezTo>
                  <a:cubicBezTo>
                    <a:pt x="54662" y="161162"/>
                    <a:pt x="54662" y="161162"/>
                    <a:pt x="31307" y="160942"/>
                  </a:cubicBezTo>
                  <a:cubicBezTo>
                    <a:pt x="19" y="160501"/>
                    <a:pt x="19" y="160501"/>
                    <a:pt x="19" y="130315"/>
                  </a:cubicBezTo>
                  <a:cubicBezTo>
                    <a:pt x="19" y="93960"/>
                    <a:pt x="240" y="57605"/>
                    <a:pt x="19" y="21250"/>
                  </a:cubicBezTo>
                  <a:cubicBezTo>
                    <a:pt x="19" y="7589"/>
                    <a:pt x="4866" y="98"/>
                    <a:pt x="19629" y="98"/>
                  </a:cubicBezTo>
                  <a:cubicBezTo>
                    <a:pt x="91678" y="318"/>
                    <a:pt x="163728" y="318"/>
                    <a:pt x="235776" y="318"/>
                  </a:cubicBezTo>
                  <a:cubicBezTo>
                    <a:pt x="237539" y="318"/>
                    <a:pt x="239081" y="979"/>
                    <a:pt x="240844" y="1420"/>
                  </a:cubicBezTo>
                  <a:cubicBezTo>
                    <a:pt x="242607" y="30284"/>
                    <a:pt x="241064" y="31826"/>
                    <a:pt x="213082" y="31826"/>
                  </a:cubicBezTo>
                  <a:cubicBezTo>
                    <a:pt x="159541" y="31826"/>
                    <a:pt x="105780" y="32267"/>
                    <a:pt x="52239" y="31606"/>
                  </a:cubicBezTo>
                  <a:cubicBezTo>
                    <a:pt x="36815" y="31385"/>
                    <a:pt x="30646" y="36453"/>
                    <a:pt x="31527" y="52097"/>
                  </a:cubicBezTo>
                  <a:cubicBezTo>
                    <a:pt x="32629" y="71045"/>
                    <a:pt x="32629" y="90214"/>
                    <a:pt x="31527" y="109163"/>
                  </a:cubicBezTo>
                  <a:cubicBezTo>
                    <a:pt x="30646" y="125247"/>
                    <a:pt x="37476" y="129434"/>
                    <a:pt x="52459" y="129213"/>
                  </a:cubicBezTo>
                  <a:cubicBezTo>
                    <a:pt x="107763" y="128552"/>
                    <a:pt x="163286" y="128993"/>
                    <a:pt x="218590" y="128993"/>
                  </a:cubicBezTo>
                  <a:cubicBezTo>
                    <a:pt x="247234" y="128993"/>
                    <a:pt x="247234" y="128993"/>
                    <a:pt x="254065" y="159840"/>
                  </a:cubicBezTo>
                  <a:cubicBezTo>
                    <a:pt x="247454" y="160060"/>
                    <a:pt x="241285" y="160721"/>
                    <a:pt x="235115" y="160721"/>
                  </a:cubicBezTo>
                  <a:cubicBezTo>
                    <a:pt x="192150" y="160721"/>
                    <a:pt x="149406" y="161162"/>
                    <a:pt x="106441" y="160721"/>
                  </a:cubicBezTo>
                  <a:cubicBezTo>
                    <a:pt x="93000" y="160501"/>
                    <a:pt x="87933" y="164908"/>
                    <a:pt x="87933" y="179450"/>
                  </a:cubicBezTo>
                  <a:cubicBezTo>
                    <a:pt x="88594" y="355717"/>
                    <a:pt x="88594" y="531984"/>
                    <a:pt x="88373" y="708251"/>
                  </a:cubicBezTo>
                  <a:cubicBezTo>
                    <a:pt x="88373" y="722132"/>
                    <a:pt x="92559" y="726759"/>
                    <a:pt x="106661" y="726759"/>
                  </a:cubicBezTo>
                  <a:cubicBezTo>
                    <a:pt x="182896" y="726098"/>
                    <a:pt x="259132" y="726098"/>
                    <a:pt x="335367" y="726759"/>
                  </a:cubicBezTo>
                  <a:cubicBezTo>
                    <a:pt x="350791" y="726979"/>
                    <a:pt x="354316" y="721251"/>
                    <a:pt x="354096" y="707149"/>
                  </a:cubicBezTo>
                  <a:cubicBezTo>
                    <a:pt x="353876" y="602270"/>
                    <a:pt x="354096" y="497612"/>
                    <a:pt x="354316" y="392733"/>
                  </a:cubicBezTo>
                  <a:cubicBezTo>
                    <a:pt x="354316" y="370259"/>
                    <a:pt x="358723" y="365852"/>
                    <a:pt x="381417" y="365632"/>
                  </a:cubicBezTo>
                  <a:cubicBezTo>
                    <a:pt x="443992" y="365632"/>
                    <a:pt x="506567" y="365632"/>
                    <a:pt x="568921" y="365632"/>
                  </a:cubicBezTo>
                  <a:cubicBezTo>
                    <a:pt x="591175" y="365632"/>
                    <a:pt x="595582" y="370259"/>
                    <a:pt x="595582" y="393173"/>
                  </a:cubicBezTo>
                  <a:cubicBezTo>
                    <a:pt x="595802" y="496730"/>
                    <a:pt x="596463" y="600508"/>
                    <a:pt x="595802" y="704065"/>
                  </a:cubicBezTo>
                  <a:cubicBezTo>
                    <a:pt x="595582" y="722132"/>
                    <a:pt x="600649" y="727200"/>
                    <a:pt x="618717" y="726979"/>
                  </a:cubicBezTo>
                  <a:cubicBezTo>
                    <a:pt x="692529" y="725878"/>
                    <a:pt x="766341" y="726098"/>
                    <a:pt x="840152" y="726759"/>
                  </a:cubicBezTo>
                  <a:cubicBezTo>
                    <a:pt x="855796" y="726979"/>
                    <a:pt x="861745" y="723454"/>
                    <a:pt x="861745" y="706268"/>
                  </a:cubicBezTo>
                  <a:cubicBezTo>
                    <a:pt x="861305" y="531102"/>
                    <a:pt x="861305" y="356157"/>
                    <a:pt x="862185" y="180992"/>
                  </a:cubicBezTo>
                  <a:cubicBezTo>
                    <a:pt x="862185" y="164687"/>
                    <a:pt x="856237" y="160721"/>
                    <a:pt x="841474" y="160942"/>
                  </a:cubicBezTo>
                  <a:cubicBezTo>
                    <a:pt x="800492" y="161603"/>
                    <a:pt x="759290" y="161162"/>
                    <a:pt x="718307" y="161162"/>
                  </a:cubicBezTo>
                  <a:cubicBezTo>
                    <a:pt x="711257" y="161162"/>
                    <a:pt x="704206" y="161162"/>
                    <a:pt x="696935" y="161162"/>
                  </a:cubicBezTo>
                  <a:cubicBezTo>
                    <a:pt x="699579" y="131417"/>
                    <a:pt x="701782" y="128993"/>
                    <a:pt x="728002" y="128993"/>
                  </a:cubicBezTo>
                  <a:cubicBezTo>
                    <a:pt x="783967" y="128993"/>
                    <a:pt x="839932" y="128552"/>
                    <a:pt x="895896" y="129213"/>
                  </a:cubicBezTo>
                  <a:cubicBezTo>
                    <a:pt x="912421" y="129434"/>
                    <a:pt x="919913" y="125247"/>
                    <a:pt x="918811" y="107400"/>
                  </a:cubicBezTo>
                  <a:cubicBezTo>
                    <a:pt x="917489" y="88452"/>
                    <a:pt x="917930" y="69283"/>
                    <a:pt x="918811" y="50334"/>
                  </a:cubicBezTo>
                  <a:cubicBezTo>
                    <a:pt x="919472" y="36012"/>
                    <a:pt x="913524" y="31606"/>
                    <a:pt x="899863" y="31826"/>
                  </a:cubicBezTo>
                  <a:cubicBezTo>
                    <a:pt x="845660" y="32267"/>
                    <a:pt x="791458" y="32046"/>
                    <a:pt x="737256" y="31826"/>
                  </a:cubicBezTo>
                  <a:cubicBezTo>
                    <a:pt x="709935" y="31826"/>
                    <a:pt x="709935" y="31826"/>
                    <a:pt x="708172" y="1420"/>
                  </a:cubicBezTo>
                  <a:cubicBezTo>
                    <a:pt x="713240" y="979"/>
                    <a:pt x="718307" y="98"/>
                    <a:pt x="723375" y="98"/>
                  </a:cubicBezTo>
                  <a:cubicBezTo>
                    <a:pt x="790136" y="98"/>
                    <a:pt x="856677" y="-122"/>
                    <a:pt x="923438" y="98"/>
                  </a:cubicBezTo>
                  <a:cubicBezTo>
                    <a:pt x="948336" y="98"/>
                    <a:pt x="950099" y="2081"/>
                    <a:pt x="950099" y="26538"/>
                  </a:cubicBezTo>
                  <a:cubicBezTo>
                    <a:pt x="950099" y="63554"/>
                    <a:pt x="949658" y="100350"/>
                    <a:pt x="950319" y="137366"/>
                  </a:cubicBezTo>
                  <a:cubicBezTo>
                    <a:pt x="950539" y="154111"/>
                    <a:pt x="944591" y="161162"/>
                    <a:pt x="927625" y="160942"/>
                  </a:cubicBezTo>
                  <a:cubicBezTo>
                    <a:pt x="889066" y="160501"/>
                    <a:pt x="895677" y="160060"/>
                    <a:pt x="895677" y="193992"/>
                  </a:cubicBezTo>
                  <a:cubicBezTo>
                    <a:pt x="895456" y="363208"/>
                    <a:pt x="895677" y="532204"/>
                    <a:pt x="895677" y="701420"/>
                  </a:cubicBezTo>
                  <a:cubicBezTo>
                    <a:pt x="895677" y="709132"/>
                    <a:pt x="895677" y="716624"/>
                    <a:pt x="895677" y="726979"/>
                  </a:cubicBezTo>
                  <a:cubicBezTo>
                    <a:pt x="909117" y="726979"/>
                    <a:pt x="920794" y="726759"/>
                    <a:pt x="932472" y="726979"/>
                  </a:cubicBezTo>
                  <a:cubicBezTo>
                    <a:pt x="943489" y="727420"/>
                    <a:pt x="950539" y="732267"/>
                    <a:pt x="949878" y="744606"/>
                  </a:cubicBezTo>
                  <a:cubicBezTo>
                    <a:pt x="949438" y="756063"/>
                    <a:pt x="942387" y="760029"/>
                    <a:pt x="932252" y="760250"/>
                  </a:cubicBezTo>
                  <a:cubicBezTo>
                    <a:pt x="926964" y="760470"/>
                    <a:pt x="921455" y="760250"/>
                    <a:pt x="916167" y="760250"/>
                  </a:cubicBezTo>
                  <a:cubicBezTo>
                    <a:pt x="620700" y="760250"/>
                    <a:pt x="325452" y="760250"/>
                    <a:pt x="29985" y="760250"/>
                  </a:cubicBezTo>
                  <a:cubicBezTo>
                    <a:pt x="25798" y="760250"/>
                    <a:pt x="21612" y="760250"/>
                    <a:pt x="17426" y="760250"/>
                  </a:cubicBezTo>
                  <a:cubicBezTo>
                    <a:pt x="7070" y="760029"/>
                    <a:pt x="460" y="755623"/>
                    <a:pt x="19" y="744386"/>
                  </a:cubicBezTo>
                  <a:cubicBezTo>
                    <a:pt x="-421" y="732047"/>
                    <a:pt x="6850" y="727420"/>
                    <a:pt x="17867" y="726979"/>
                  </a:cubicBezTo>
                  <a:cubicBezTo>
                    <a:pt x="29324" y="726538"/>
                    <a:pt x="40561" y="726979"/>
                    <a:pt x="54662" y="726979"/>
                  </a:cubicBezTo>
                  <a:close/>
                  <a:moveTo>
                    <a:pt x="560769" y="725878"/>
                  </a:moveTo>
                  <a:cubicBezTo>
                    <a:pt x="561650" y="721911"/>
                    <a:pt x="562091" y="720369"/>
                    <a:pt x="562091" y="718606"/>
                  </a:cubicBezTo>
                  <a:cubicBezTo>
                    <a:pt x="562091" y="616812"/>
                    <a:pt x="562091" y="515018"/>
                    <a:pt x="562532" y="413224"/>
                  </a:cubicBezTo>
                  <a:cubicBezTo>
                    <a:pt x="562532" y="401546"/>
                    <a:pt x="557024" y="399563"/>
                    <a:pt x="547108" y="399563"/>
                  </a:cubicBezTo>
                  <a:cubicBezTo>
                    <a:pt x="500617" y="399784"/>
                    <a:pt x="454127" y="400224"/>
                    <a:pt x="407857" y="399343"/>
                  </a:cubicBezTo>
                  <a:cubicBezTo>
                    <a:pt x="392434" y="399122"/>
                    <a:pt x="387366" y="402648"/>
                    <a:pt x="387587" y="418952"/>
                  </a:cubicBezTo>
                  <a:cubicBezTo>
                    <a:pt x="388468" y="514798"/>
                    <a:pt x="388027" y="610643"/>
                    <a:pt x="388027" y="706488"/>
                  </a:cubicBezTo>
                  <a:cubicBezTo>
                    <a:pt x="388027" y="712878"/>
                    <a:pt x="388688" y="719047"/>
                    <a:pt x="389129" y="726759"/>
                  </a:cubicBezTo>
                  <a:cubicBezTo>
                    <a:pt x="442009" y="726759"/>
                    <a:pt x="493126" y="726759"/>
                    <a:pt x="544244" y="726759"/>
                  </a:cubicBezTo>
                  <a:cubicBezTo>
                    <a:pt x="549312" y="726759"/>
                    <a:pt x="554600" y="726098"/>
                    <a:pt x="560769" y="725878"/>
                  </a:cubicBezTo>
                  <a:close/>
                </a:path>
              </a:pathLst>
            </a:custGeom>
            <a:solidFill>
              <a:srgbClr val="DDC9A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8415855" y="1526583"/>
              <a:ext cx="276561" cy="275141"/>
            </a:xfrm>
            <a:custGeom>
              <a:avLst/>
              <a:gdLst/>
              <a:ahLst/>
              <a:cxnLst/>
              <a:rect l="l" t="t" r="r" b="b"/>
              <a:pathLst>
                <a:path w="276561" h="275141" extrusionOk="0">
                  <a:moveTo>
                    <a:pt x="276464" y="138810"/>
                  </a:moveTo>
                  <a:cubicBezTo>
                    <a:pt x="276464" y="153793"/>
                    <a:pt x="276464" y="168555"/>
                    <a:pt x="276464" y="183538"/>
                  </a:cubicBezTo>
                  <a:cubicBezTo>
                    <a:pt x="276464" y="197419"/>
                    <a:pt x="268972" y="204470"/>
                    <a:pt x="255532" y="205131"/>
                  </a:cubicBezTo>
                  <a:cubicBezTo>
                    <a:pt x="243634" y="205572"/>
                    <a:pt x="231736" y="205792"/>
                    <a:pt x="219838" y="205351"/>
                  </a:cubicBezTo>
                  <a:cubicBezTo>
                    <a:pt x="208821" y="204911"/>
                    <a:pt x="204855" y="209538"/>
                    <a:pt x="205516" y="220334"/>
                  </a:cubicBezTo>
                  <a:cubicBezTo>
                    <a:pt x="205957" y="232232"/>
                    <a:pt x="205516" y="244130"/>
                    <a:pt x="205516" y="256028"/>
                  </a:cubicBezTo>
                  <a:cubicBezTo>
                    <a:pt x="205516" y="268367"/>
                    <a:pt x="199126" y="274977"/>
                    <a:pt x="186788" y="274977"/>
                  </a:cubicBezTo>
                  <a:cubicBezTo>
                    <a:pt x="154619" y="275197"/>
                    <a:pt x="122451" y="275197"/>
                    <a:pt x="90281" y="274977"/>
                  </a:cubicBezTo>
                  <a:cubicBezTo>
                    <a:pt x="77943" y="274977"/>
                    <a:pt x="71554" y="268367"/>
                    <a:pt x="71333" y="256028"/>
                  </a:cubicBezTo>
                  <a:cubicBezTo>
                    <a:pt x="71112" y="244791"/>
                    <a:pt x="70672" y="233334"/>
                    <a:pt x="71333" y="222097"/>
                  </a:cubicBezTo>
                  <a:cubicBezTo>
                    <a:pt x="71994" y="209978"/>
                    <a:pt x="67808" y="204470"/>
                    <a:pt x="55028" y="205351"/>
                  </a:cubicBezTo>
                  <a:cubicBezTo>
                    <a:pt x="43791" y="206012"/>
                    <a:pt x="32333" y="205792"/>
                    <a:pt x="21097" y="205351"/>
                  </a:cubicBezTo>
                  <a:cubicBezTo>
                    <a:pt x="7656" y="204911"/>
                    <a:pt x="165" y="197639"/>
                    <a:pt x="165" y="183759"/>
                  </a:cubicBezTo>
                  <a:cubicBezTo>
                    <a:pt x="-55" y="152691"/>
                    <a:pt x="-55" y="121845"/>
                    <a:pt x="165" y="90778"/>
                  </a:cubicBezTo>
                  <a:cubicBezTo>
                    <a:pt x="165" y="77998"/>
                    <a:pt x="6995" y="70948"/>
                    <a:pt x="20215" y="71168"/>
                  </a:cubicBezTo>
                  <a:cubicBezTo>
                    <a:pt x="32114" y="71168"/>
                    <a:pt x="44012" y="70727"/>
                    <a:pt x="55909" y="71168"/>
                  </a:cubicBezTo>
                  <a:cubicBezTo>
                    <a:pt x="67587" y="71608"/>
                    <a:pt x="71994" y="66541"/>
                    <a:pt x="71333" y="55083"/>
                  </a:cubicBezTo>
                  <a:cubicBezTo>
                    <a:pt x="70672" y="43846"/>
                    <a:pt x="71333" y="32389"/>
                    <a:pt x="71333" y="21152"/>
                  </a:cubicBezTo>
                  <a:cubicBezTo>
                    <a:pt x="71333" y="7271"/>
                    <a:pt x="77723" y="0"/>
                    <a:pt x="91824" y="0"/>
                  </a:cubicBezTo>
                  <a:cubicBezTo>
                    <a:pt x="122891" y="0"/>
                    <a:pt x="153738" y="0"/>
                    <a:pt x="184805" y="0"/>
                  </a:cubicBezTo>
                  <a:cubicBezTo>
                    <a:pt x="198906" y="0"/>
                    <a:pt x="205516" y="6830"/>
                    <a:pt x="205516" y="20932"/>
                  </a:cubicBezTo>
                  <a:cubicBezTo>
                    <a:pt x="205516" y="31067"/>
                    <a:pt x="206398" y="41202"/>
                    <a:pt x="205296" y="51338"/>
                  </a:cubicBezTo>
                  <a:cubicBezTo>
                    <a:pt x="203754" y="67642"/>
                    <a:pt x="210804" y="72710"/>
                    <a:pt x="226007" y="71388"/>
                  </a:cubicBezTo>
                  <a:cubicBezTo>
                    <a:pt x="236142" y="70507"/>
                    <a:pt x="246278" y="71388"/>
                    <a:pt x="256413" y="71168"/>
                  </a:cubicBezTo>
                  <a:cubicBezTo>
                    <a:pt x="269854" y="70948"/>
                    <a:pt x="276243" y="77998"/>
                    <a:pt x="276464" y="90778"/>
                  </a:cubicBezTo>
                  <a:cubicBezTo>
                    <a:pt x="276684" y="106642"/>
                    <a:pt x="276464" y="122726"/>
                    <a:pt x="276464" y="138810"/>
                  </a:cubicBezTo>
                  <a:close/>
                  <a:moveTo>
                    <a:pt x="242532" y="135946"/>
                  </a:moveTo>
                  <a:cubicBezTo>
                    <a:pt x="242532" y="132861"/>
                    <a:pt x="242092" y="129997"/>
                    <a:pt x="242532" y="127133"/>
                  </a:cubicBezTo>
                  <a:cubicBezTo>
                    <a:pt x="244956" y="110608"/>
                    <a:pt x="239448" y="102676"/>
                    <a:pt x="221380" y="105099"/>
                  </a:cubicBezTo>
                  <a:cubicBezTo>
                    <a:pt x="212126" y="106421"/>
                    <a:pt x="202431" y="105540"/>
                    <a:pt x="192957" y="105099"/>
                  </a:cubicBezTo>
                  <a:cubicBezTo>
                    <a:pt x="178856" y="104659"/>
                    <a:pt x="170924" y="98049"/>
                    <a:pt x="171365" y="82846"/>
                  </a:cubicBezTo>
                  <a:cubicBezTo>
                    <a:pt x="171805" y="71608"/>
                    <a:pt x="170924" y="60151"/>
                    <a:pt x="171585" y="48914"/>
                  </a:cubicBezTo>
                  <a:cubicBezTo>
                    <a:pt x="172026" y="38558"/>
                    <a:pt x="168280" y="33491"/>
                    <a:pt x="157263" y="33931"/>
                  </a:cubicBezTo>
                  <a:cubicBezTo>
                    <a:pt x="144704" y="34592"/>
                    <a:pt x="132365" y="34592"/>
                    <a:pt x="119806" y="33931"/>
                  </a:cubicBezTo>
                  <a:cubicBezTo>
                    <a:pt x="108789" y="33491"/>
                    <a:pt x="105044" y="38338"/>
                    <a:pt x="105484" y="48914"/>
                  </a:cubicBezTo>
                  <a:cubicBezTo>
                    <a:pt x="105926" y="60151"/>
                    <a:pt x="105265" y="71608"/>
                    <a:pt x="105705" y="82846"/>
                  </a:cubicBezTo>
                  <a:cubicBezTo>
                    <a:pt x="106145" y="98049"/>
                    <a:pt x="98434" y="104659"/>
                    <a:pt x="84112" y="104879"/>
                  </a:cubicBezTo>
                  <a:cubicBezTo>
                    <a:pt x="72215" y="105099"/>
                    <a:pt x="60316" y="105320"/>
                    <a:pt x="48418" y="104879"/>
                  </a:cubicBezTo>
                  <a:cubicBezTo>
                    <a:pt x="38283" y="104659"/>
                    <a:pt x="35198" y="109065"/>
                    <a:pt x="34537" y="118760"/>
                  </a:cubicBezTo>
                  <a:cubicBezTo>
                    <a:pt x="31012" y="169657"/>
                    <a:pt x="30792" y="169657"/>
                    <a:pt x="80146" y="170759"/>
                  </a:cubicBezTo>
                  <a:cubicBezTo>
                    <a:pt x="81248" y="170759"/>
                    <a:pt x="82570" y="170979"/>
                    <a:pt x="83672" y="170759"/>
                  </a:cubicBezTo>
                  <a:cubicBezTo>
                    <a:pt x="99756" y="170098"/>
                    <a:pt x="105484" y="178030"/>
                    <a:pt x="105705" y="193673"/>
                  </a:cubicBezTo>
                  <a:cubicBezTo>
                    <a:pt x="106366" y="243910"/>
                    <a:pt x="106806" y="243689"/>
                    <a:pt x="157484" y="240384"/>
                  </a:cubicBezTo>
                  <a:cubicBezTo>
                    <a:pt x="167178" y="239723"/>
                    <a:pt x="171585" y="236638"/>
                    <a:pt x="171144" y="226724"/>
                  </a:cubicBezTo>
                  <a:cubicBezTo>
                    <a:pt x="170704" y="215927"/>
                    <a:pt x="171585" y="205351"/>
                    <a:pt x="171144" y="194555"/>
                  </a:cubicBezTo>
                  <a:cubicBezTo>
                    <a:pt x="170263" y="178250"/>
                    <a:pt x="176873" y="169657"/>
                    <a:pt x="193839" y="170538"/>
                  </a:cubicBezTo>
                  <a:cubicBezTo>
                    <a:pt x="198025" y="170759"/>
                    <a:pt x="202211" y="170538"/>
                    <a:pt x="206398" y="170538"/>
                  </a:cubicBezTo>
                  <a:cubicBezTo>
                    <a:pt x="247159" y="170759"/>
                    <a:pt x="241871" y="173843"/>
                    <a:pt x="242532" y="135946"/>
                  </a:cubicBezTo>
                  <a:close/>
                </a:path>
              </a:pathLst>
            </a:custGeom>
            <a:solidFill>
              <a:srgbClr val="DDC9A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8215957" y="1966805"/>
              <a:ext cx="168995" cy="169001"/>
            </a:xfrm>
            <a:custGeom>
              <a:avLst/>
              <a:gdLst/>
              <a:ahLst/>
              <a:cxnLst/>
              <a:rect l="l" t="t" r="r" b="b"/>
              <a:pathLst>
                <a:path w="168995" h="169001" extrusionOk="0">
                  <a:moveTo>
                    <a:pt x="85269" y="5"/>
                  </a:moveTo>
                  <a:cubicBezTo>
                    <a:pt x="105539" y="5"/>
                    <a:pt x="125810" y="5"/>
                    <a:pt x="145861" y="5"/>
                  </a:cubicBezTo>
                  <a:cubicBezTo>
                    <a:pt x="161285" y="5"/>
                    <a:pt x="168996" y="7276"/>
                    <a:pt x="168996" y="22700"/>
                  </a:cubicBezTo>
                  <a:cubicBezTo>
                    <a:pt x="168996" y="63682"/>
                    <a:pt x="168776" y="104664"/>
                    <a:pt x="168996" y="145866"/>
                  </a:cubicBezTo>
                  <a:cubicBezTo>
                    <a:pt x="168996" y="161510"/>
                    <a:pt x="161504" y="169001"/>
                    <a:pt x="146301" y="169001"/>
                  </a:cubicBezTo>
                  <a:cubicBezTo>
                    <a:pt x="105320" y="169001"/>
                    <a:pt x="64337" y="169001"/>
                    <a:pt x="23135" y="169001"/>
                  </a:cubicBezTo>
                  <a:cubicBezTo>
                    <a:pt x="7932" y="169001"/>
                    <a:pt x="0" y="161951"/>
                    <a:pt x="0" y="146307"/>
                  </a:cubicBezTo>
                  <a:cubicBezTo>
                    <a:pt x="220" y="105325"/>
                    <a:pt x="220" y="64343"/>
                    <a:pt x="0" y="23140"/>
                  </a:cubicBezTo>
                  <a:cubicBezTo>
                    <a:pt x="0" y="6395"/>
                    <a:pt x="8373" y="-215"/>
                    <a:pt x="24457" y="5"/>
                  </a:cubicBezTo>
                  <a:cubicBezTo>
                    <a:pt x="44728" y="226"/>
                    <a:pt x="64998" y="5"/>
                    <a:pt x="85269" y="5"/>
                  </a:cubicBezTo>
                  <a:close/>
                  <a:moveTo>
                    <a:pt x="86151" y="32835"/>
                  </a:moveTo>
                  <a:cubicBezTo>
                    <a:pt x="69626" y="33716"/>
                    <a:pt x="46270" y="28649"/>
                    <a:pt x="38558" y="37462"/>
                  </a:cubicBezTo>
                  <a:cubicBezTo>
                    <a:pt x="29745" y="47377"/>
                    <a:pt x="33931" y="69631"/>
                    <a:pt x="33931" y="86597"/>
                  </a:cubicBezTo>
                  <a:cubicBezTo>
                    <a:pt x="33491" y="135511"/>
                    <a:pt x="33711" y="135731"/>
                    <a:pt x="83066" y="135511"/>
                  </a:cubicBezTo>
                  <a:cubicBezTo>
                    <a:pt x="99591" y="135511"/>
                    <a:pt x="122946" y="140578"/>
                    <a:pt x="130658" y="131985"/>
                  </a:cubicBezTo>
                  <a:cubicBezTo>
                    <a:pt x="139471" y="122070"/>
                    <a:pt x="135285" y="99817"/>
                    <a:pt x="135505" y="82851"/>
                  </a:cubicBezTo>
                  <a:cubicBezTo>
                    <a:pt x="135726" y="33496"/>
                    <a:pt x="135505" y="33496"/>
                    <a:pt x="86151" y="32835"/>
                  </a:cubicBezTo>
                  <a:close/>
                </a:path>
              </a:pathLst>
            </a:custGeom>
            <a:solidFill>
              <a:srgbClr val="DDC9A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8723606" y="1966589"/>
              <a:ext cx="168780" cy="168996"/>
            </a:xfrm>
            <a:custGeom>
              <a:avLst/>
              <a:gdLst/>
              <a:ahLst/>
              <a:cxnLst/>
              <a:rect l="l" t="t" r="r" b="b"/>
              <a:pathLst>
                <a:path w="168780" h="168996" extrusionOk="0">
                  <a:moveTo>
                    <a:pt x="168776" y="84388"/>
                  </a:moveTo>
                  <a:cubicBezTo>
                    <a:pt x="168776" y="105099"/>
                    <a:pt x="168776" y="126031"/>
                    <a:pt x="168776" y="146742"/>
                  </a:cubicBezTo>
                  <a:cubicBezTo>
                    <a:pt x="168776" y="161284"/>
                    <a:pt x="161505" y="168776"/>
                    <a:pt x="146963" y="168996"/>
                  </a:cubicBezTo>
                  <a:cubicBezTo>
                    <a:pt x="105320" y="168996"/>
                    <a:pt x="63677" y="168996"/>
                    <a:pt x="22033" y="168996"/>
                  </a:cubicBezTo>
                  <a:cubicBezTo>
                    <a:pt x="7712" y="168996"/>
                    <a:pt x="0" y="162166"/>
                    <a:pt x="0" y="147183"/>
                  </a:cubicBezTo>
                  <a:cubicBezTo>
                    <a:pt x="0" y="105540"/>
                    <a:pt x="0" y="63897"/>
                    <a:pt x="0" y="22254"/>
                  </a:cubicBezTo>
                  <a:cubicBezTo>
                    <a:pt x="0" y="6610"/>
                    <a:pt x="8373" y="0"/>
                    <a:pt x="23576" y="0"/>
                  </a:cubicBezTo>
                  <a:cubicBezTo>
                    <a:pt x="64117" y="220"/>
                    <a:pt x="104439" y="220"/>
                    <a:pt x="144980" y="0"/>
                  </a:cubicBezTo>
                  <a:cubicBezTo>
                    <a:pt x="161285" y="0"/>
                    <a:pt x="168996" y="7051"/>
                    <a:pt x="168776" y="23796"/>
                  </a:cubicBezTo>
                  <a:cubicBezTo>
                    <a:pt x="168556" y="44067"/>
                    <a:pt x="168776" y="64337"/>
                    <a:pt x="168776" y="84388"/>
                  </a:cubicBezTo>
                  <a:cubicBezTo>
                    <a:pt x="168776" y="84388"/>
                    <a:pt x="168776" y="84388"/>
                    <a:pt x="168776" y="84388"/>
                  </a:cubicBezTo>
                  <a:close/>
                  <a:moveTo>
                    <a:pt x="83066" y="136607"/>
                  </a:moveTo>
                  <a:cubicBezTo>
                    <a:pt x="99591" y="135505"/>
                    <a:pt x="122947" y="140573"/>
                    <a:pt x="130658" y="131980"/>
                  </a:cubicBezTo>
                  <a:cubicBezTo>
                    <a:pt x="139472" y="122065"/>
                    <a:pt x="135285" y="99811"/>
                    <a:pt x="135285" y="82846"/>
                  </a:cubicBezTo>
                  <a:cubicBezTo>
                    <a:pt x="135726" y="33931"/>
                    <a:pt x="135506" y="33931"/>
                    <a:pt x="86151" y="34152"/>
                  </a:cubicBezTo>
                  <a:cubicBezTo>
                    <a:pt x="69626" y="34152"/>
                    <a:pt x="46270" y="29304"/>
                    <a:pt x="38558" y="37897"/>
                  </a:cubicBezTo>
                  <a:cubicBezTo>
                    <a:pt x="29745" y="47812"/>
                    <a:pt x="33932" y="70066"/>
                    <a:pt x="33712" y="87032"/>
                  </a:cubicBezTo>
                  <a:cubicBezTo>
                    <a:pt x="33271" y="135505"/>
                    <a:pt x="33491" y="135505"/>
                    <a:pt x="83066" y="136607"/>
                  </a:cubicBezTo>
                  <a:close/>
                </a:path>
              </a:pathLst>
            </a:custGeom>
            <a:solidFill>
              <a:srgbClr val="DDC9A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9" name="Google Shape;469;p23"/>
          <p:cNvGrpSpPr/>
          <p:nvPr/>
        </p:nvGrpSpPr>
        <p:grpSpPr>
          <a:xfrm>
            <a:off x="4187107" y="1970611"/>
            <a:ext cx="1006343" cy="1008983"/>
            <a:chOff x="-23615075" y="3148525"/>
            <a:chExt cx="295375" cy="296150"/>
          </a:xfrm>
        </p:grpSpPr>
        <p:sp>
          <p:nvSpPr>
            <p:cNvPr id="470" name="Google Shape;470;p23"/>
            <p:cNvSpPr/>
            <p:nvPr/>
          </p:nvSpPr>
          <p:spPr>
            <a:xfrm>
              <a:off x="-23493775" y="3183950"/>
              <a:ext cx="52775" cy="53600"/>
            </a:xfrm>
            <a:custGeom>
              <a:avLst/>
              <a:gdLst/>
              <a:ahLst/>
              <a:cxnLst/>
              <a:rect l="l" t="t" r="r" b="b"/>
              <a:pathLst>
                <a:path w="2111" h="2144" extrusionOk="0">
                  <a:moveTo>
                    <a:pt x="1040" y="1"/>
                  </a:moveTo>
                  <a:cubicBezTo>
                    <a:pt x="851" y="1"/>
                    <a:pt x="693" y="158"/>
                    <a:pt x="693" y="347"/>
                  </a:cubicBezTo>
                  <a:lnTo>
                    <a:pt x="693" y="725"/>
                  </a:lnTo>
                  <a:lnTo>
                    <a:pt x="347" y="725"/>
                  </a:lnTo>
                  <a:cubicBezTo>
                    <a:pt x="158" y="725"/>
                    <a:pt x="0" y="883"/>
                    <a:pt x="0" y="1072"/>
                  </a:cubicBezTo>
                  <a:cubicBezTo>
                    <a:pt x="0" y="1261"/>
                    <a:pt x="158" y="1418"/>
                    <a:pt x="347" y="1418"/>
                  </a:cubicBezTo>
                  <a:lnTo>
                    <a:pt x="693" y="1418"/>
                  </a:lnTo>
                  <a:lnTo>
                    <a:pt x="693" y="1765"/>
                  </a:lnTo>
                  <a:cubicBezTo>
                    <a:pt x="693" y="1986"/>
                    <a:pt x="851" y="2143"/>
                    <a:pt x="1040" y="2143"/>
                  </a:cubicBezTo>
                  <a:cubicBezTo>
                    <a:pt x="1260" y="2143"/>
                    <a:pt x="1418" y="1986"/>
                    <a:pt x="1418" y="1765"/>
                  </a:cubicBezTo>
                  <a:lnTo>
                    <a:pt x="1418" y="1418"/>
                  </a:lnTo>
                  <a:lnTo>
                    <a:pt x="1764" y="1418"/>
                  </a:lnTo>
                  <a:cubicBezTo>
                    <a:pt x="1953" y="1418"/>
                    <a:pt x="2111" y="1261"/>
                    <a:pt x="2111" y="1072"/>
                  </a:cubicBezTo>
                  <a:cubicBezTo>
                    <a:pt x="2111" y="883"/>
                    <a:pt x="1953" y="725"/>
                    <a:pt x="1764" y="725"/>
                  </a:cubicBezTo>
                  <a:lnTo>
                    <a:pt x="1418" y="725"/>
                  </a:lnTo>
                  <a:lnTo>
                    <a:pt x="1418" y="347"/>
                  </a:ln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DDC9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-23615075" y="3268225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1008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6585"/>
                  </a:lnTo>
                  <a:cubicBezTo>
                    <a:pt x="0" y="6774"/>
                    <a:pt x="158" y="6932"/>
                    <a:pt x="347" y="6932"/>
                  </a:cubicBezTo>
                  <a:lnTo>
                    <a:pt x="1386" y="6932"/>
                  </a:lnTo>
                  <a:lnTo>
                    <a:pt x="1386" y="4285"/>
                  </a:lnTo>
                  <a:lnTo>
                    <a:pt x="662" y="4285"/>
                  </a:lnTo>
                  <a:lnTo>
                    <a:pt x="662" y="3561"/>
                  </a:lnTo>
                  <a:lnTo>
                    <a:pt x="1386" y="3561"/>
                  </a:lnTo>
                  <a:lnTo>
                    <a:pt x="1386" y="2868"/>
                  </a:lnTo>
                  <a:lnTo>
                    <a:pt x="662" y="2868"/>
                  </a:lnTo>
                  <a:lnTo>
                    <a:pt x="662" y="2143"/>
                  </a:lnTo>
                  <a:lnTo>
                    <a:pt x="1386" y="2143"/>
                  </a:lnTo>
                  <a:lnTo>
                    <a:pt x="1386" y="1418"/>
                  </a:lnTo>
                  <a:lnTo>
                    <a:pt x="662" y="1418"/>
                  </a:lnTo>
                  <a:lnTo>
                    <a:pt x="662" y="1072"/>
                  </a:lnTo>
                  <a:cubicBezTo>
                    <a:pt x="662" y="883"/>
                    <a:pt x="819" y="725"/>
                    <a:pt x="1008" y="725"/>
                  </a:cubicBezTo>
                  <a:lnTo>
                    <a:pt x="1386" y="725"/>
                  </a:lnTo>
                  <a:lnTo>
                    <a:pt x="1386" y="1"/>
                  </a:lnTo>
                  <a:close/>
                </a:path>
              </a:pathLst>
            </a:custGeom>
            <a:noFill/>
            <a:ln w="28575" cap="flat" cmpd="sng">
              <a:solidFill>
                <a:srgbClr val="DDC9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-23354375" y="3270600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0" y="0"/>
                  </a:moveTo>
                  <a:lnTo>
                    <a:pt x="0" y="725"/>
                  </a:lnTo>
                  <a:lnTo>
                    <a:pt x="347" y="725"/>
                  </a:lnTo>
                  <a:cubicBezTo>
                    <a:pt x="568" y="725"/>
                    <a:pt x="725" y="882"/>
                    <a:pt x="725" y="1071"/>
                  </a:cubicBezTo>
                  <a:lnTo>
                    <a:pt x="725" y="1418"/>
                  </a:lnTo>
                  <a:lnTo>
                    <a:pt x="0" y="1418"/>
                  </a:lnTo>
                  <a:lnTo>
                    <a:pt x="0" y="2143"/>
                  </a:lnTo>
                  <a:lnTo>
                    <a:pt x="725" y="2143"/>
                  </a:lnTo>
                  <a:lnTo>
                    <a:pt x="725" y="2836"/>
                  </a:lnTo>
                  <a:lnTo>
                    <a:pt x="0" y="2836"/>
                  </a:lnTo>
                  <a:lnTo>
                    <a:pt x="0" y="3560"/>
                  </a:lnTo>
                  <a:lnTo>
                    <a:pt x="725" y="3560"/>
                  </a:lnTo>
                  <a:lnTo>
                    <a:pt x="725" y="4253"/>
                  </a:lnTo>
                  <a:lnTo>
                    <a:pt x="0" y="4253"/>
                  </a:lnTo>
                  <a:lnTo>
                    <a:pt x="0" y="6931"/>
                  </a:lnTo>
                  <a:lnTo>
                    <a:pt x="1040" y="6931"/>
                  </a:lnTo>
                  <a:cubicBezTo>
                    <a:pt x="1229" y="6931"/>
                    <a:pt x="1387" y="6774"/>
                    <a:pt x="1387" y="6585"/>
                  </a:cubicBezTo>
                  <a:lnTo>
                    <a:pt x="1387" y="1040"/>
                  </a:lnTo>
                  <a:cubicBezTo>
                    <a:pt x="1387" y="441"/>
                    <a:pt x="914" y="0"/>
                    <a:pt x="347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DDC9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-23562300" y="3148525"/>
              <a:ext cx="191400" cy="296150"/>
            </a:xfrm>
            <a:custGeom>
              <a:avLst/>
              <a:gdLst/>
              <a:ahLst/>
              <a:cxnLst/>
              <a:rect l="l" t="t" r="r" b="b"/>
              <a:pathLst>
                <a:path w="7656" h="11846" extrusionOk="0">
                  <a:moveTo>
                    <a:pt x="5545" y="662"/>
                  </a:moveTo>
                  <a:lnTo>
                    <a:pt x="5545" y="1764"/>
                  </a:lnTo>
                  <a:lnTo>
                    <a:pt x="5545" y="4222"/>
                  </a:lnTo>
                  <a:lnTo>
                    <a:pt x="2079" y="4222"/>
                  </a:lnTo>
                  <a:lnTo>
                    <a:pt x="2079" y="1764"/>
                  </a:lnTo>
                  <a:lnTo>
                    <a:pt x="2079" y="662"/>
                  </a:lnTo>
                  <a:close/>
                  <a:moveTo>
                    <a:pt x="3434" y="4883"/>
                  </a:moveTo>
                  <a:lnTo>
                    <a:pt x="3434" y="5608"/>
                  </a:lnTo>
                  <a:lnTo>
                    <a:pt x="2079" y="5608"/>
                  </a:lnTo>
                  <a:lnTo>
                    <a:pt x="2079" y="4883"/>
                  </a:lnTo>
                  <a:close/>
                  <a:moveTo>
                    <a:pt x="5513" y="4883"/>
                  </a:moveTo>
                  <a:lnTo>
                    <a:pt x="5513" y="5608"/>
                  </a:lnTo>
                  <a:lnTo>
                    <a:pt x="4159" y="5608"/>
                  </a:lnTo>
                  <a:lnTo>
                    <a:pt x="4159" y="4883"/>
                  </a:lnTo>
                  <a:close/>
                  <a:moveTo>
                    <a:pt x="3434" y="6301"/>
                  </a:moveTo>
                  <a:lnTo>
                    <a:pt x="3434" y="7026"/>
                  </a:lnTo>
                  <a:lnTo>
                    <a:pt x="2079" y="7026"/>
                  </a:lnTo>
                  <a:lnTo>
                    <a:pt x="2079" y="6301"/>
                  </a:lnTo>
                  <a:close/>
                  <a:moveTo>
                    <a:pt x="5513" y="6301"/>
                  </a:moveTo>
                  <a:lnTo>
                    <a:pt x="5513" y="7026"/>
                  </a:lnTo>
                  <a:lnTo>
                    <a:pt x="4159" y="7026"/>
                  </a:lnTo>
                  <a:lnTo>
                    <a:pt x="4159" y="6301"/>
                  </a:lnTo>
                  <a:close/>
                  <a:moveTo>
                    <a:pt x="3434" y="7687"/>
                  </a:moveTo>
                  <a:lnTo>
                    <a:pt x="3434" y="8380"/>
                  </a:lnTo>
                  <a:lnTo>
                    <a:pt x="2079" y="8380"/>
                  </a:lnTo>
                  <a:lnTo>
                    <a:pt x="2079" y="7687"/>
                  </a:lnTo>
                  <a:close/>
                  <a:moveTo>
                    <a:pt x="5513" y="7687"/>
                  </a:moveTo>
                  <a:lnTo>
                    <a:pt x="5513" y="8380"/>
                  </a:lnTo>
                  <a:lnTo>
                    <a:pt x="4159" y="8380"/>
                  </a:lnTo>
                  <a:lnTo>
                    <a:pt x="4159" y="7687"/>
                  </a:lnTo>
                  <a:close/>
                  <a:moveTo>
                    <a:pt x="1733" y="0"/>
                  </a:moveTo>
                  <a:cubicBezTo>
                    <a:pt x="1544" y="0"/>
                    <a:pt x="1386" y="158"/>
                    <a:pt x="1386" y="347"/>
                  </a:cubicBezTo>
                  <a:lnTo>
                    <a:pt x="1386" y="1449"/>
                  </a:lnTo>
                  <a:lnTo>
                    <a:pt x="1040" y="1449"/>
                  </a:lnTo>
                  <a:cubicBezTo>
                    <a:pt x="441" y="1449"/>
                    <a:pt x="0" y="1922"/>
                    <a:pt x="0" y="2489"/>
                  </a:cubicBezTo>
                  <a:lnTo>
                    <a:pt x="0" y="11846"/>
                  </a:lnTo>
                  <a:lnTo>
                    <a:pt x="2804" y="11846"/>
                  </a:lnTo>
                  <a:lnTo>
                    <a:pt x="2804" y="10491"/>
                  </a:lnTo>
                  <a:lnTo>
                    <a:pt x="4883" y="10491"/>
                  </a:lnTo>
                  <a:cubicBezTo>
                    <a:pt x="4852" y="10586"/>
                    <a:pt x="4852" y="11688"/>
                    <a:pt x="4852" y="11846"/>
                  </a:cubicBezTo>
                  <a:lnTo>
                    <a:pt x="7656" y="11846"/>
                  </a:lnTo>
                  <a:lnTo>
                    <a:pt x="7656" y="2489"/>
                  </a:lnTo>
                  <a:cubicBezTo>
                    <a:pt x="7656" y="1890"/>
                    <a:pt x="7183" y="1449"/>
                    <a:pt x="6616" y="1449"/>
                  </a:cubicBezTo>
                  <a:lnTo>
                    <a:pt x="6270" y="1449"/>
                  </a:lnTo>
                  <a:lnTo>
                    <a:pt x="6270" y="347"/>
                  </a:lnTo>
                  <a:cubicBezTo>
                    <a:pt x="6270" y="158"/>
                    <a:pt x="6112" y="0"/>
                    <a:pt x="5923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DDC9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23"/>
          <p:cNvGrpSpPr/>
          <p:nvPr/>
        </p:nvGrpSpPr>
        <p:grpSpPr>
          <a:xfrm>
            <a:off x="614342" y="3396720"/>
            <a:ext cx="874995" cy="870304"/>
            <a:chOff x="-24353075" y="3891250"/>
            <a:chExt cx="293800" cy="292225"/>
          </a:xfrm>
        </p:grpSpPr>
        <p:sp>
          <p:nvSpPr>
            <p:cNvPr id="475" name="Google Shape;475;p23"/>
            <p:cNvSpPr/>
            <p:nvPr/>
          </p:nvSpPr>
          <p:spPr>
            <a:xfrm>
              <a:off x="-24251475" y="4012525"/>
              <a:ext cx="88225" cy="65400"/>
            </a:xfrm>
            <a:custGeom>
              <a:avLst/>
              <a:gdLst/>
              <a:ahLst/>
              <a:cxnLst/>
              <a:rect l="l" t="t" r="r" b="b"/>
              <a:pathLst>
                <a:path w="3529" h="2616" extrusionOk="0">
                  <a:moveTo>
                    <a:pt x="725" y="1"/>
                  </a:moveTo>
                  <a:cubicBezTo>
                    <a:pt x="315" y="1"/>
                    <a:pt x="0" y="347"/>
                    <a:pt x="0" y="725"/>
                  </a:cubicBezTo>
                  <a:cubicBezTo>
                    <a:pt x="0" y="1356"/>
                    <a:pt x="1040" y="2049"/>
                    <a:pt x="1733" y="2616"/>
                  </a:cubicBezTo>
                  <a:cubicBezTo>
                    <a:pt x="2458" y="2017"/>
                    <a:pt x="3466" y="1356"/>
                    <a:pt x="3466" y="725"/>
                  </a:cubicBezTo>
                  <a:cubicBezTo>
                    <a:pt x="3529" y="410"/>
                    <a:pt x="3277" y="1"/>
                    <a:pt x="2804" y="1"/>
                  </a:cubicBezTo>
                  <a:cubicBezTo>
                    <a:pt x="2300" y="1"/>
                    <a:pt x="2111" y="599"/>
                    <a:pt x="2111" y="599"/>
                  </a:cubicBezTo>
                  <a:cubicBezTo>
                    <a:pt x="2063" y="745"/>
                    <a:pt x="1906" y="824"/>
                    <a:pt x="1753" y="824"/>
                  </a:cubicBezTo>
                  <a:cubicBezTo>
                    <a:pt x="1607" y="824"/>
                    <a:pt x="1464" y="753"/>
                    <a:pt x="1418" y="599"/>
                  </a:cubicBezTo>
                  <a:cubicBezTo>
                    <a:pt x="1418" y="568"/>
                    <a:pt x="1229" y="1"/>
                    <a:pt x="725" y="1"/>
                  </a:cubicBezTo>
                  <a:close/>
                </a:path>
              </a:pathLst>
            </a:custGeom>
            <a:solidFill>
              <a:srgbClr val="DDC9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-24353075" y="3891250"/>
              <a:ext cx="293800" cy="292225"/>
            </a:xfrm>
            <a:custGeom>
              <a:avLst/>
              <a:gdLst/>
              <a:ahLst/>
              <a:cxnLst/>
              <a:rect l="l" t="t" r="r" b="b"/>
              <a:pathLst>
                <a:path w="11752" h="11689" extrusionOk="0">
                  <a:moveTo>
                    <a:pt x="6837" y="4159"/>
                  </a:moveTo>
                  <a:cubicBezTo>
                    <a:pt x="7624" y="4159"/>
                    <a:pt x="8223" y="4789"/>
                    <a:pt x="8223" y="5576"/>
                  </a:cubicBezTo>
                  <a:cubicBezTo>
                    <a:pt x="8254" y="6616"/>
                    <a:pt x="7309" y="7183"/>
                    <a:pt x="6049" y="8223"/>
                  </a:cubicBezTo>
                  <a:cubicBezTo>
                    <a:pt x="5986" y="8286"/>
                    <a:pt x="5907" y="8317"/>
                    <a:pt x="5829" y="8317"/>
                  </a:cubicBezTo>
                  <a:cubicBezTo>
                    <a:pt x="5750" y="8317"/>
                    <a:pt x="5671" y="8286"/>
                    <a:pt x="5608" y="8223"/>
                  </a:cubicBezTo>
                  <a:cubicBezTo>
                    <a:pt x="4348" y="7183"/>
                    <a:pt x="3403" y="6585"/>
                    <a:pt x="3403" y="5576"/>
                  </a:cubicBezTo>
                  <a:cubicBezTo>
                    <a:pt x="3403" y="4789"/>
                    <a:pt x="4033" y="4159"/>
                    <a:pt x="4789" y="4159"/>
                  </a:cubicBezTo>
                  <a:cubicBezTo>
                    <a:pt x="5293" y="4159"/>
                    <a:pt x="5608" y="4411"/>
                    <a:pt x="5797" y="4663"/>
                  </a:cubicBezTo>
                  <a:cubicBezTo>
                    <a:pt x="6018" y="4411"/>
                    <a:pt x="6364" y="4159"/>
                    <a:pt x="6837" y="4159"/>
                  </a:cubicBezTo>
                  <a:close/>
                  <a:moveTo>
                    <a:pt x="4474" y="0"/>
                  </a:moveTo>
                  <a:cubicBezTo>
                    <a:pt x="3875" y="0"/>
                    <a:pt x="3466" y="473"/>
                    <a:pt x="3466" y="1008"/>
                  </a:cubicBezTo>
                  <a:lnTo>
                    <a:pt x="3466" y="3466"/>
                  </a:lnTo>
                  <a:lnTo>
                    <a:pt x="1008" y="3466"/>
                  </a:lnTo>
                  <a:cubicBezTo>
                    <a:pt x="410" y="3466"/>
                    <a:pt x="0" y="3938"/>
                    <a:pt x="0" y="4474"/>
                  </a:cubicBezTo>
                  <a:lnTo>
                    <a:pt x="0" y="7246"/>
                  </a:lnTo>
                  <a:cubicBezTo>
                    <a:pt x="0" y="7813"/>
                    <a:pt x="473" y="8254"/>
                    <a:pt x="1008" y="8254"/>
                  </a:cubicBezTo>
                  <a:lnTo>
                    <a:pt x="3466" y="8254"/>
                  </a:lnTo>
                  <a:lnTo>
                    <a:pt x="3466" y="10649"/>
                  </a:lnTo>
                  <a:cubicBezTo>
                    <a:pt x="3466" y="11247"/>
                    <a:pt x="3938" y="11688"/>
                    <a:pt x="4474" y="11688"/>
                  </a:cubicBezTo>
                  <a:lnTo>
                    <a:pt x="7246" y="11688"/>
                  </a:lnTo>
                  <a:cubicBezTo>
                    <a:pt x="7813" y="11688"/>
                    <a:pt x="8254" y="11216"/>
                    <a:pt x="8254" y="10649"/>
                  </a:cubicBezTo>
                  <a:lnTo>
                    <a:pt x="8254" y="8254"/>
                  </a:lnTo>
                  <a:lnTo>
                    <a:pt x="10680" y="8254"/>
                  </a:lnTo>
                  <a:cubicBezTo>
                    <a:pt x="11279" y="8254"/>
                    <a:pt x="11720" y="7782"/>
                    <a:pt x="11720" y="7246"/>
                  </a:cubicBezTo>
                  <a:lnTo>
                    <a:pt x="11720" y="4474"/>
                  </a:lnTo>
                  <a:cubicBezTo>
                    <a:pt x="11751" y="3938"/>
                    <a:pt x="11279" y="3466"/>
                    <a:pt x="10680" y="3466"/>
                  </a:cubicBezTo>
                  <a:lnTo>
                    <a:pt x="8254" y="3466"/>
                  </a:lnTo>
                  <a:lnTo>
                    <a:pt x="8254" y="1008"/>
                  </a:lnTo>
                  <a:cubicBezTo>
                    <a:pt x="8254" y="410"/>
                    <a:pt x="7782" y="0"/>
                    <a:pt x="7246" y="0"/>
                  </a:cubicBezTo>
                  <a:close/>
                </a:path>
              </a:pathLst>
            </a:custGeom>
            <a:solidFill>
              <a:srgbClr val="DDC9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7" name="Google Shape;477;p23"/>
          <p:cNvSpPr/>
          <p:nvPr/>
        </p:nvSpPr>
        <p:spPr>
          <a:xfrm>
            <a:off x="652430" y="4810510"/>
            <a:ext cx="836916" cy="834720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6616" y="3434"/>
                </a:moveTo>
                <a:cubicBezTo>
                  <a:pt x="7215" y="3434"/>
                  <a:pt x="7625" y="3907"/>
                  <a:pt x="7625" y="4474"/>
                </a:cubicBezTo>
                <a:lnTo>
                  <a:pt x="7625" y="5514"/>
                </a:lnTo>
                <a:lnTo>
                  <a:pt x="6742" y="5514"/>
                </a:lnTo>
                <a:cubicBezTo>
                  <a:pt x="6648" y="5451"/>
                  <a:pt x="6585" y="5325"/>
                  <a:pt x="6490" y="5262"/>
                </a:cubicBezTo>
                <a:cubicBezTo>
                  <a:pt x="5986" y="4789"/>
                  <a:pt x="5388" y="4411"/>
                  <a:pt x="4695" y="4222"/>
                </a:cubicBezTo>
                <a:lnTo>
                  <a:pt x="4569" y="3434"/>
                </a:lnTo>
                <a:close/>
                <a:moveTo>
                  <a:pt x="3466" y="4884"/>
                </a:moveTo>
                <a:lnTo>
                  <a:pt x="3466" y="5577"/>
                </a:lnTo>
                <a:cubicBezTo>
                  <a:pt x="3056" y="5640"/>
                  <a:pt x="2678" y="5797"/>
                  <a:pt x="2363" y="6018"/>
                </a:cubicBezTo>
                <a:lnTo>
                  <a:pt x="1891" y="5577"/>
                </a:lnTo>
                <a:cubicBezTo>
                  <a:pt x="2332" y="5199"/>
                  <a:pt x="2867" y="4978"/>
                  <a:pt x="3466" y="4884"/>
                </a:cubicBezTo>
                <a:close/>
                <a:moveTo>
                  <a:pt x="4128" y="4852"/>
                </a:moveTo>
                <a:cubicBezTo>
                  <a:pt x="4726" y="4947"/>
                  <a:pt x="5262" y="5167"/>
                  <a:pt x="5703" y="5514"/>
                </a:cubicBezTo>
                <a:lnTo>
                  <a:pt x="5230" y="6049"/>
                </a:lnTo>
                <a:cubicBezTo>
                  <a:pt x="4915" y="5797"/>
                  <a:pt x="4537" y="5640"/>
                  <a:pt x="4128" y="5577"/>
                </a:cubicBezTo>
                <a:lnTo>
                  <a:pt x="4128" y="4852"/>
                </a:lnTo>
                <a:close/>
                <a:moveTo>
                  <a:pt x="1387" y="6049"/>
                </a:moveTo>
                <a:lnTo>
                  <a:pt x="1859" y="6522"/>
                </a:lnTo>
                <a:cubicBezTo>
                  <a:pt x="1607" y="6837"/>
                  <a:pt x="1450" y="7215"/>
                  <a:pt x="1387" y="7625"/>
                </a:cubicBezTo>
                <a:lnTo>
                  <a:pt x="662" y="7625"/>
                </a:lnTo>
                <a:cubicBezTo>
                  <a:pt x="788" y="7026"/>
                  <a:pt x="1009" y="6459"/>
                  <a:pt x="1387" y="6049"/>
                </a:cubicBezTo>
                <a:close/>
                <a:moveTo>
                  <a:pt x="6175" y="6049"/>
                </a:moveTo>
                <a:cubicBezTo>
                  <a:pt x="6553" y="6459"/>
                  <a:pt x="6774" y="7026"/>
                  <a:pt x="6837" y="7625"/>
                </a:cubicBezTo>
                <a:lnTo>
                  <a:pt x="6175" y="7625"/>
                </a:lnTo>
                <a:cubicBezTo>
                  <a:pt x="6112" y="7215"/>
                  <a:pt x="5955" y="6837"/>
                  <a:pt x="5703" y="6522"/>
                </a:cubicBezTo>
                <a:lnTo>
                  <a:pt x="6175" y="6049"/>
                </a:lnTo>
                <a:close/>
                <a:moveTo>
                  <a:pt x="1418" y="8318"/>
                </a:moveTo>
                <a:cubicBezTo>
                  <a:pt x="1481" y="8727"/>
                  <a:pt x="1670" y="9105"/>
                  <a:pt x="1891" y="9420"/>
                </a:cubicBezTo>
                <a:lnTo>
                  <a:pt x="1418" y="9893"/>
                </a:lnTo>
                <a:cubicBezTo>
                  <a:pt x="1009" y="9452"/>
                  <a:pt x="788" y="8916"/>
                  <a:pt x="693" y="8318"/>
                </a:cubicBezTo>
                <a:close/>
                <a:moveTo>
                  <a:pt x="6931" y="8318"/>
                </a:moveTo>
                <a:cubicBezTo>
                  <a:pt x="6805" y="8916"/>
                  <a:pt x="6585" y="9452"/>
                  <a:pt x="6207" y="9893"/>
                </a:cubicBezTo>
                <a:lnTo>
                  <a:pt x="5766" y="9420"/>
                </a:lnTo>
                <a:cubicBezTo>
                  <a:pt x="5986" y="9105"/>
                  <a:pt x="6144" y="8727"/>
                  <a:pt x="6207" y="8318"/>
                </a:cubicBezTo>
                <a:close/>
                <a:moveTo>
                  <a:pt x="2363" y="9893"/>
                </a:moveTo>
                <a:cubicBezTo>
                  <a:pt x="2678" y="10145"/>
                  <a:pt x="3056" y="10303"/>
                  <a:pt x="3466" y="10366"/>
                </a:cubicBezTo>
                <a:lnTo>
                  <a:pt x="3466" y="11027"/>
                </a:lnTo>
                <a:cubicBezTo>
                  <a:pt x="2867" y="10964"/>
                  <a:pt x="2332" y="10712"/>
                  <a:pt x="1891" y="10366"/>
                </a:cubicBezTo>
                <a:lnTo>
                  <a:pt x="2363" y="9893"/>
                </a:lnTo>
                <a:close/>
                <a:moveTo>
                  <a:pt x="5230" y="9861"/>
                </a:moveTo>
                <a:lnTo>
                  <a:pt x="5703" y="10334"/>
                </a:lnTo>
                <a:cubicBezTo>
                  <a:pt x="5262" y="10744"/>
                  <a:pt x="4726" y="10996"/>
                  <a:pt x="4128" y="11027"/>
                </a:cubicBezTo>
                <a:lnTo>
                  <a:pt x="4128" y="10334"/>
                </a:lnTo>
                <a:cubicBezTo>
                  <a:pt x="4537" y="10240"/>
                  <a:pt x="4915" y="10082"/>
                  <a:pt x="5230" y="9861"/>
                </a:cubicBezTo>
                <a:close/>
                <a:moveTo>
                  <a:pt x="9326" y="10366"/>
                </a:moveTo>
                <a:cubicBezTo>
                  <a:pt x="9546" y="10366"/>
                  <a:pt x="9704" y="10523"/>
                  <a:pt x="9704" y="10712"/>
                </a:cubicBezTo>
                <a:cubicBezTo>
                  <a:pt x="9672" y="10933"/>
                  <a:pt x="9546" y="11090"/>
                  <a:pt x="9326" y="11090"/>
                </a:cubicBezTo>
                <a:cubicBezTo>
                  <a:pt x="9137" y="11090"/>
                  <a:pt x="8979" y="10933"/>
                  <a:pt x="8979" y="10712"/>
                </a:cubicBezTo>
                <a:cubicBezTo>
                  <a:pt x="8979" y="10523"/>
                  <a:pt x="9137" y="10366"/>
                  <a:pt x="9326" y="10366"/>
                </a:cubicBezTo>
                <a:close/>
                <a:moveTo>
                  <a:pt x="1103" y="0"/>
                </a:moveTo>
                <a:cubicBezTo>
                  <a:pt x="504" y="0"/>
                  <a:pt x="63" y="473"/>
                  <a:pt x="63" y="1040"/>
                </a:cubicBezTo>
                <a:cubicBezTo>
                  <a:pt x="63" y="1576"/>
                  <a:pt x="536" y="2048"/>
                  <a:pt x="1103" y="2048"/>
                </a:cubicBezTo>
                <a:cubicBezTo>
                  <a:pt x="2048" y="2048"/>
                  <a:pt x="2363" y="2836"/>
                  <a:pt x="2489" y="3497"/>
                </a:cubicBezTo>
                <a:lnTo>
                  <a:pt x="2584" y="4348"/>
                </a:lnTo>
                <a:cubicBezTo>
                  <a:pt x="1072" y="4852"/>
                  <a:pt x="0" y="6301"/>
                  <a:pt x="0" y="7971"/>
                </a:cubicBezTo>
                <a:cubicBezTo>
                  <a:pt x="0" y="10050"/>
                  <a:pt x="1702" y="11783"/>
                  <a:pt x="3812" y="11783"/>
                </a:cubicBezTo>
                <a:cubicBezTo>
                  <a:pt x="5797" y="11783"/>
                  <a:pt x="7436" y="10240"/>
                  <a:pt x="7593" y="8318"/>
                </a:cubicBezTo>
                <a:lnTo>
                  <a:pt x="9011" y="8318"/>
                </a:lnTo>
                <a:lnTo>
                  <a:pt x="9011" y="9767"/>
                </a:lnTo>
                <a:cubicBezTo>
                  <a:pt x="8633" y="9924"/>
                  <a:pt x="8318" y="10271"/>
                  <a:pt x="8318" y="10744"/>
                </a:cubicBezTo>
                <a:cubicBezTo>
                  <a:pt x="8318" y="11342"/>
                  <a:pt x="8790" y="11783"/>
                  <a:pt x="9326" y="11783"/>
                </a:cubicBezTo>
                <a:cubicBezTo>
                  <a:pt x="9767" y="11783"/>
                  <a:pt x="10145" y="11500"/>
                  <a:pt x="10302" y="11059"/>
                </a:cubicBezTo>
                <a:lnTo>
                  <a:pt x="11468" y="11059"/>
                </a:lnTo>
                <a:cubicBezTo>
                  <a:pt x="11657" y="11059"/>
                  <a:pt x="11815" y="10901"/>
                  <a:pt x="11815" y="10712"/>
                </a:cubicBezTo>
                <a:cubicBezTo>
                  <a:pt x="11815" y="10555"/>
                  <a:pt x="11657" y="10397"/>
                  <a:pt x="11468" y="10397"/>
                </a:cubicBezTo>
                <a:lnTo>
                  <a:pt x="10302" y="10397"/>
                </a:lnTo>
                <a:cubicBezTo>
                  <a:pt x="10208" y="10145"/>
                  <a:pt x="9956" y="9893"/>
                  <a:pt x="9672" y="9767"/>
                </a:cubicBezTo>
                <a:lnTo>
                  <a:pt x="9672" y="8318"/>
                </a:lnTo>
                <a:lnTo>
                  <a:pt x="10744" y="8318"/>
                </a:lnTo>
                <a:cubicBezTo>
                  <a:pt x="10933" y="8318"/>
                  <a:pt x="11122" y="8160"/>
                  <a:pt x="11122" y="7971"/>
                </a:cubicBezTo>
                <a:cubicBezTo>
                  <a:pt x="11122" y="7782"/>
                  <a:pt x="10933" y="7593"/>
                  <a:pt x="10744" y="7593"/>
                </a:cubicBezTo>
                <a:lnTo>
                  <a:pt x="10397" y="7593"/>
                </a:lnTo>
                <a:lnTo>
                  <a:pt x="10397" y="7247"/>
                </a:lnTo>
                <a:cubicBezTo>
                  <a:pt x="10397" y="6301"/>
                  <a:pt x="9609" y="5514"/>
                  <a:pt x="8664" y="5514"/>
                </a:cubicBezTo>
                <a:lnTo>
                  <a:pt x="8318" y="5514"/>
                </a:lnTo>
                <a:lnTo>
                  <a:pt x="8318" y="4506"/>
                </a:lnTo>
                <a:cubicBezTo>
                  <a:pt x="8318" y="3560"/>
                  <a:pt x="7530" y="2773"/>
                  <a:pt x="6585" y="2773"/>
                </a:cubicBezTo>
                <a:lnTo>
                  <a:pt x="4411" y="2773"/>
                </a:lnTo>
                <a:cubicBezTo>
                  <a:pt x="3970" y="1040"/>
                  <a:pt x="2741" y="0"/>
                  <a:pt x="1103" y="0"/>
                </a:cubicBezTo>
                <a:close/>
              </a:path>
            </a:pathLst>
          </a:custGeom>
          <a:noFill/>
          <a:ln w="28575" cap="flat" cmpd="sng">
            <a:solidFill>
              <a:srgbClr val="DDC9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201981" y="3396735"/>
            <a:ext cx="950318" cy="952731"/>
          </a:xfrm>
          <a:custGeom>
            <a:avLst/>
            <a:gdLst/>
            <a:ahLst/>
            <a:cxnLst/>
            <a:rect l="l" t="t" r="r" b="b"/>
            <a:pathLst>
              <a:path w="12665" h="12698" extrusionOk="0">
                <a:moveTo>
                  <a:pt x="9200" y="883"/>
                </a:moveTo>
                <a:lnTo>
                  <a:pt x="9200" y="1702"/>
                </a:lnTo>
                <a:lnTo>
                  <a:pt x="3403" y="1702"/>
                </a:lnTo>
                <a:lnTo>
                  <a:pt x="3403" y="883"/>
                </a:lnTo>
                <a:close/>
                <a:moveTo>
                  <a:pt x="4222" y="3340"/>
                </a:moveTo>
                <a:lnTo>
                  <a:pt x="4222" y="4191"/>
                </a:lnTo>
                <a:lnTo>
                  <a:pt x="3403" y="4191"/>
                </a:lnTo>
                <a:lnTo>
                  <a:pt x="3403" y="3340"/>
                </a:lnTo>
                <a:close/>
                <a:moveTo>
                  <a:pt x="6711" y="3340"/>
                </a:moveTo>
                <a:lnTo>
                  <a:pt x="6711" y="4191"/>
                </a:lnTo>
                <a:lnTo>
                  <a:pt x="5892" y="4191"/>
                </a:lnTo>
                <a:lnTo>
                  <a:pt x="5892" y="3340"/>
                </a:lnTo>
                <a:close/>
                <a:moveTo>
                  <a:pt x="9200" y="3340"/>
                </a:moveTo>
                <a:lnTo>
                  <a:pt x="9200" y="4191"/>
                </a:lnTo>
                <a:lnTo>
                  <a:pt x="8349" y="4191"/>
                </a:lnTo>
                <a:lnTo>
                  <a:pt x="8349" y="3340"/>
                </a:lnTo>
                <a:close/>
                <a:moveTo>
                  <a:pt x="4222" y="5010"/>
                </a:moveTo>
                <a:lnTo>
                  <a:pt x="4222" y="5829"/>
                </a:lnTo>
                <a:lnTo>
                  <a:pt x="3403" y="5829"/>
                </a:lnTo>
                <a:lnTo>
                  <a:pt x="3403" y="5010"/>
                </a:lnTo>
                <a:close/>
                <a:moveTo>
                  <a:pt x="6711" y="5010"/>
                </a:moveTo>
                <a:lnTo>
                  <a:pt x="6711" y="5829"/>
                </a:lnTo>
                <a:lnTo>
                  <a:pt x="5892" y="5829"/>
                </a:lnTo>
                <a:lnTo>
                  <a:pt x="5892" y="5010"/>
                </a:lnTo>
                <a:close/>
                <a:moveTo>
                  <a:pt x="9200" y="5010"/>
                </a:moveTo>
                <a:lnTo>
                  <a:pt x="9200" y="5829"/>
                </a:lnTo>
                <a:lnTo>
                  <a:pt x="8349" y="5829"/>
                </a:lnTo>
                <a:lnTo>
                  <a:pt x="8349" y="5010"/>
                </a:lnTo>
                <a:close/>
                <a:moveTo>
                  <a:pt x="4222" y="6648"/>
                </a:moveTo>
                <a:lnTo>
                  <a:pt x="4222" y="7499"/>
                </a:lnTo>
                <a:lnTo>
                  <a:pt x="3403" y="7499"/>
                </a:lnTo>
                <a:lnTo>
                  <a:pt x="3403" y="6648"/>
                </a:lnTo>
                <a:close/>
                <a:moveTo>
                  <a:pt x="6711" y="6648"/>
                </a:moveTo>
                <a:lnTo>
                  <a:pt x="6711" y="7499"/>
                </a:lnTo>
                <a:lnTo>
                  <a:pt x="5892" y="7499"/>
                </a:lnTo>
                <a:lnTo>
                  <a:pt x="5892" y="6648"/>
                </a:lnTo>
                <a:close/>
                <a:moveTo>
                  <a:pt x="9200" y="6648"/>
                </a:moveTo>
                <a:lnTo>
                  <a:pt x="9200" y="7499"/>
                </a:lnTo>
                <a:lnTo>
                  <a:pt x="8349" y="7499"/>
                </a:lnTo>
                <a:lnTo>
                  <a:pt x="8349" y="6648"/>
                </a:lnTo>
                <a:close/>
                <a:moveTo>
                  <a:pt x="1733" y="9137"/>
                </a:moveTo>
                <a:lnTo>
                  <a:pt x="1733" y="11909"/>
                </a:lnTo>
                <a:lnTo>
                  <a:pt x="819" y="11909"/>
                </a:lnTo>
                <a:lnTo>
                  <a:pt x="819" y="9137"/>
                </a:lnTo>
                <a:close/>
                <a:moveTo>
                  <a:pt x="5892" y="9137"/>
                </a:moveTo>
                <a:lnTo>
                  <a:pt x="5892" y="11909"/>
                </a:lnTo>
                <a:lnTo>
                  <a:pt x="4222" y="11909"/>
                </a:lnTo>
                <a:lnTo>
                  <a:pt x="4222" y="9137"/>
                </a:lnTo>
                <a:close/>
                <a:moveTo>
                  <a:pt x="8349" y="9137"/>
                </a:moveTo>
                <a:lnTo>
                  <a:pt x="8349" y="11909"/>
                </a:lnTo>
                <a:lnTo>
                  <a:pt x="6711" y="11909"/>
                </a:lnTo>
                <a:lnTo>
                  <a:pt x="6711" y="9137"/>
                </a:lnTo>
                <a:close/>
                <a:moveTo>
                  <a:pt x="11783" y="9137"/>
                </a:moveTo>
                <a:lnTo>
                  <a:pt x="11783" y="11909"/>
                </a:lnTo>
                <a:lnTo>
                  <a:pt x="10806" y="11909"/>
                </a:lnTo>
                <a:lnTo>
                  <a:pt x="10806" y="9137"/>
                </a:lnTo>
                <a:close/>
                <a:moveTo>
                  <a:pt x="2993" y="1"/>
                </a:moveTo>
                <a:cubicBezTo>
                  <a:pt x="2773" y="1"/>
                  <a:pt x="2615" y="190"/>
                  <a:pt x="2615" y="410"/>
                </a:cubicBezTo>
                <a:lnTo>
                  <a:pt x="2615" y="1670"/>
                </a:lnTo>
                <a:lnTo>
                  <a:pt x="2206" y="1670"/>
                </a:lnTo>
                <a:cubicBezTo>
                  <a:pt x="1985" y="1670"/>
                  <a:pt x="1796" y="1859"/>
                  <a:pt x="1796" y="2080"/>
                </a:cubicBezTo>
                <a:lnTo>
                  <a:pt x="1796" y="8318"/>
                </a:lnTo>
                <a:lnTo>
                  <a:pt x="410" y="8318"/>
                </a:lnTo>
                <a:cubicBezTo>
                  <a:pt x="158" y="8318"/>
                  <a:pt x="0" y="8507"/>
                  <a:pt x="0" y="8696"/>
                </a:cubicBezTo>
                <a:lnTo>
                  <a:pt x="0" y="12287"/>
                </a:lnTo>
                <a:cubicBezTo>
                  <a:pt x="0" y="12540"/>
                  <a:pt x="221" y="12697"/>
                  <a:pt x="410" y="12697"/>
                </a:cubicBezTo>
                <a:lnTo>
                  <a:pt x="12256" y="12697"/>
                </a:lnTo>
                <a:cubicBezTo>
                  <a:pt x="12508" y="12697"/>
                  <a:pt x="12665" y="12477"/>
                  <a:pt x="12665" y="12287"/>
                </a:cubicBezTo>
                <a:lnTo>
                  <a:pt x="12665" y="8696"/>
                </a:lnTo>
                <a:cubicBezTo>
                  <a:pt x="12602" y="8475"/>
                  <a:pt x="12445" y="8318"/>
                  <a:pt x="12224" y="8318"/>
                </a:cubicBezTo>
                <a:lnTo>
                  <a:pt x="10838" y="8318"/>
                </a:lnTo>
                <a:lnTo>
                  <a:pt x="10838" y="2080"/>
                </a:lnTo>
                <a:cubicBezTo>
                  <a:pt x="10838" y="1859"/>
                  <a:pt x="10649" y="1670"/>
                  <a:pt x="10460" y="1670"/>
                </a:cubicBezTo>
                <a:lnTo>
                  <a:pt x="10019" y="1670"/>
                </a:lnTo>
                <a:lnTo>
                  <a:pt x="10019" y="410"/>
                </a:lnTo>
                <a:cubicBezTo>
                  <a:pt x="10019" y="158"/>
                  <a:pt x="9830" y="1"/>
                  <a:pt x="9609" y="1"/>
                </a:cubicBezTo>
                <a:close/>
              </a:path>
            </a:pathLst>
          </a:custGeom>
          <a:noFill/>
          <a:ln w="28575" cap="flat" cmpd="sng">
            <a:solidFill>
              <a:srgbClr val="DDC9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3"/>
          <p:cNvSpPr/>
          <p:nvPr/>
        </p:nvSpPr>
        <p:spPr>
          <a:xfrm>
            <a:off x="4372431" y="4757888"/>
            <a:ext cx="635636" cy="939954"/>
          </a:xfrm>
          <a:custGeom>
            <a:avLst/>
            <a:gdLst/>
            <a:ahLst/>
            <a:cxnLst/>
            <a:rect l="l" t="t" r="r" b="b"/>
            <a:pathLst>
              <a:path w="635636" h="939954" extrusionOk="0">
                <a:moveTo>
                  <a:pt x="119366" y="93642"/>
                </a:moveTo>
                <a:cubicBezTo>
                  <a:pt x="118044" y="96066"/>
                  <a:pt x="114739" y="98269"/>
                  <a:pt x="112095" y="99150"/>
                </a:cubicBezTo>
                <a:cubicBezTo>
                  <a:pt x="79045" y="108625"/>
                  <a:pt x="59215" y="134404"/>
                  <a:pt x="59215" y="168776"/>
                </a:cubicBezTo>
                <a:cubicBezTo>
                  <a:pt x="59215" y="230910"/>
                  <a:pt x="59215" y="293044"/>
                  <a:pt x="59215" y="355178"/>
                </a:cubicBezTo>
                <a:cubicBezTo>
                  <a:pt x="59215" y="359144"/>
                  <a:pt x="59435" y="363110"/>
                  <a:pt x="60096" y="367076"/>
                </a:cubicBezTo>
                <a:cubicBezTo>
                  <a:pt x="65164" y="394398"/>
                  <a:pt x="81909" y="411364"/>
                  <a:pt x="107908" y="419516"/>
                </a:cubicBezTo>
                <a:cubicBezTo>
                  <a:pt x="109010" y="428990"/>
                  <a:pt x="109671" y="438685"/>
                  <a:pt x="111434" y="447719"/>
                </a:cubicBezTo>
                <a:cubicBezTo>
                  <a:pt x="124654" y="514920"/>
                  <a:pt x="161229" y="564936"/>
                  <a:pt x="221601" y="597325"/>
                </a:cubicBezTo>
                <a:cubicBezTo>
                  <a:pt x="226889" y="600190"/>
                  <a:pt x="228211" y="603274"/>
                  <a:pt x="227770" y="608783"/>
                </a:cubicBezTo>
                <a:cubicBezTo>
                  <a:pt x="224245" y="644476"/>
                  <a:pt x="196703" y="669154"/>
                  <a:pt x="160789" y="670256"/>
                </a:cubicBezTo>
                <a:cubicBezTo>
                  <a:pt x="92705" y="672239"/>
                  <a:pt x="43791" y="705068"/>
                  <a:pt x="14267" y="766101"/>
                </a:cubicBezTo>
                <a:cubicBezTo>
                  <a:pt x="4572" y="786151"/>
                  <a:pt x="386" y="807744"/>
                  <a:pt x="165" y="829998"/>
                </a:cubicBezTo>
                <a:cubicBezTo>
                  <a:pt x="-55" y="860624"/>
                  <a:pt x="-55" y="891251"/>
                  <a:pt x="165" y="921877"/>
                </a:cubicBezTo>
                <a:cubicBezTo>
                  <a:pt x="165" y="932894"/>
                  <a:pt x="6114" y="939724"/>
                  <a:pt x="15589" y="939944"/>
                </a:cubicBezTo>
                <a:cubicBezTo>
                  <a:pt x="25504" y="940165"/>
                  <a:pt x="31453" y="933775"/>
                  <a:pt x="31893" y="922097"/>
                </a:cubicBezTo>
                <a:cubicBezTo>
                  <a:pt x="31893" y="919674"/>
                  <a:pt x="31893" y="917250"/>
                  <a:pt x="31893" y="914826"/>
                </a:cubicBezTo>
                <a:cubicBezTo>
                  <a:pt x="31893" y="887505"/>
                  <a:pt x="31673" y="860404"/>
                  <a:pt x="31893" y="833083"/>
                </a:cubicBezTo>
                <a:cubicBezTo>
                  <a:pt x="32554" y="771609"/>
                  <a:pt x="71113" y="720932"/>
                  <a:pt x="129281" y="706170"/>
                </a:cubicBezTo>
                <a:cubicBezTo>
                  <a:pt x="146247" y="701984"/>
                  <a:pt x="164314" y="701543"/>
                  <a:pt x="181941" y="699120"/>
                </a:cubicBezTo>
                <a:cubicBezTo>
                  <a:pt x="182822" y="701763"/>
                  <a:pt x="183483" y="703306"/>
                  <a:pt x="183924" y="705068"/>
                </a:cubicBezTo>
                <a:cubicBezTo>
                  <a:pt x="190534" y="735254"/>
                  <a:pt x="197364" y="765220"/>
                  <a:pt x="203974" y="795405"/>
                </a:cubicBezTo>
                <a:cubicBezTo>
                  <a:pt x="205516" y="802897"/>
                  <a:pt x="208821" y="808405"/>
                  <a:pt x="216753" y="810388"/>
                </a:cubicBezTo>
                <a:cubicBezTo>
                  <a:pt x="224465" y="812371"/>
                  <a:pt x="229533" y="808405"/>
                  <a:pt x="234160" y="802897"/>
                </a:cubicBezTo>
                <a:cubicBezTo>
                  <a:pt x="242973" y="792761"/>
                  <a:pt x="251787" y="782846"/>
                  <a:pt x="262362" y="770728"/>
                </a:cubicBezTo>
                <a:cubicBezTo>
                  <a:pt x="260820" y="783507"/>
                  <a:pt x="259719" y="793422"/>
                  <a:pt x="258396" y="803117"/>
                </a:cubicBezTo>
                <a:cubicBezTo>
                  <a:pt x="253329" y="842777"/>
                  <a:pt x="248261" y="882658"/>
                  <a:pt x="243414" y="922317"/>
                </a:cubicBezTo>
                <a:cubicBezTo>
                  <a:pt x="242312" y="930690"/>
                  <a:pt x="248481" y="938402"/>
                  <a:pt x="256414" y="939724"/>
                </a:cubicBezTo>
                <a:cubicBezTo>
                  <a:pt x="264786" y="941046"/>
                  <a:pt x="271837" y="936639"/>
                  <a:pt x="274481" y="927826"/>
                </a:cubicBezTo>
                <a:cubicBezTo>
                  <a:pt x="275142" y="925402"/>
                  <a:pt x="275362" y="922978"/>
                  <a:pt x="275803" y="920555"/>
                </a:cubicBezTo>
                <a:cubicBezTo>
                  <a:pt x="282193" y="869658"/>
                  <a:pt x="288362" y="818540"/>
                  <a:pt x="294752" y="767643"/>
                </a:cubicBezTo>
                <a:cubicBezTo>
                  <a:pt x="295413" y="762355"/>
                  <a:pt x="296294" y="757288"/>
                  <a:pt x="296955" y="753542"/>
                </a:cubicBezTo>
                <a:cubicBezTo>
                  <a:pt x="304446" y="757728"/>
                  <a:pt x="311497" y="764559"/>
                  <a:pt x="318327" y="764338"/>
                </a:cubicBezTo>
                <a:cubicBezTo>
                  <a:pt x="325378" y="764118"/>
                  <a:pt x="332429" y="757067"/>
                  <a:pt x="339479" y="753101"/>
                </a:cubicBezTo>
                <a:cubicBezTo>
                  <a:pt x="344547" y="793643"/>
                  <a:pt x="349835" y="834845"/>
                  <a:pt x="354903" y="876048"/>
                </a:cubicBezTo>
                <a:cubicBezTo>
                  <a:pt x="356886" y="892132"/>
                  <a:pt x="358648" y="908216"/>
                  <a:pt x="360852" y="924301"/>
                </a:cubicBezTo>
                <a:cubicBezTo>
                  <a:pt x="362174" y="934877"/>
                  <a:pt x="369665" y="940826"/>
                  <a:pt x="378919" y="939724"/>
                </a:cubicBezTo>
                <a:cubicBezTo>
                  <a:pt x="387292" y="938622"/>
                  <a:pt x="393681" y="930910"/>
                  <a:pt x="392580" y="922097"/>
                </a:cubicBezTo>
                <a:cubicBezTo>
                  <a:pt x="389054" y="892132"/>
                  <a:pt x="385088" y="861946"/>
                  <a:pt x="381343" y="831981"/>
                </a:cubicBezTo>
                <a:cubicBezTo>
                  <a:pt x="378919" y="812371"/>
                  <a:pt x="376495" y="792761"/>
                  <a:pt x="374072" y="773152"/>
                </a:cubicBezTo>
                <a:cubicBezTo>
                  <a:pt x="384868" y="783067"/>
                  <a:pt x="393461" y="794083"/>
                  <a:pt x="403376" y="803778"/>
                </a:cubicBezTo>
                <a:cubicBezTo>
                  <a:pt x="407122" y="807524"/>
                  <a:pt x="413952" y="809727"/>
                  <a:pt x="419240" y="809507"/>
                </a:cubicBezTo>
                <a:cubicBezTo>
                  <a:pt x="426291" y="809507"/>
                  <a:pt x="430037" y="803558"/>
                  <a:pt x="431579" y="796727"/>
                </a:cubicBezTo>
                <a:cubicBezTo>
                  <a:pt x="434003" y="785490"/>
                  <a:pt x="436426" y="774033"/>
                  <a:pt x="439070" y="762796"/>
                </a:cubicBezTo>
                <a:cubicBezTo>
                  <a:pt x="443697" y="741644"/>
                  <a:pt x="448545" y="720712"/>
                  <a:pt x="453172" y="699340"/>
                </a:cubicBezTo>
                <a:cubicBezTo>
                  <a:pt x="457799" y="700001"/>
                  <a:pt x="461765" y="700441"/>
                  <a:pt x="465731" y="700882"/>
                </a:cubicBezTo>
                <a:cubicBezTo>
                  <a:pt x="469697" y="701102"/>
                  <a:pt x="473663" y="700882"/>
                  <a:pt x="477629" y="701102"/>
                </a:cubicBezTo>
                <a:cubicBezTo>
                  <a:pt x="523458" y="703967"/>
                  <a:pt x="559373" y="724238"/>
                  <a:pt x="584270" y="763016"/>
                </a:cubicBezTo>
                <a:cubicBezTo>
                  <a:pt x="598372" y="785050"/>
                  <a:pt x="603880" y="809507"/>
                  <a:pt x="603880" y="835506"/>
                </a:cubicBezTo>
                <a:cubicBezTo>
                  <a:pt x="603880" y="864810"/>
                  <a:pt x="603660" y="894335"/>
                  <a:pt x="604100" y="923640"/>
                </a:cubicBezTo>
                <a:cubicBezTo>
                  <a:pt x="604100" y="933555"/>
                  <a:pt x="610490" y="939503"/>
                  <a:pt x="619303" y="939724"/>
                </a:cubicBezTo>
                <a:cubicBezTo>
                  <a:pt x="628117" y="939944"/>
                  <a:pt x="635388" y="933555"/>
                  <a:pt x="635388" y="924301"/>
                </a:cubicBezTo>
                <a:cubicBezTo>
                  <a:pt x="635167" y="886403"/>
                  <a:pt x="636930" y="848285"/>
                  <a:pt x="633405" y="810608"/>
                </a:cubicBezTo>
                <a:cubicBezTo>
                  <a:pt x="626134" y="732390"/>
                  <a:pt x="556068" y="670476"/>
                  <a:pt x="477629" y="669815"/>
                </a:cubicBezTo>
                <a:cubicBezTo>
                  <a:pt x="452731" y="669595"/>
                  <a:pt x="432681" y="660341"/>
                  <a:pt x="418359" y="639409"/>
                </a:cubicBezTo>
                <a:cubicBezTo>
                  <a:pt x="412190" y="630375"/>
                  <a:pt x="402936" y="628172"/>
                  <a:pt x="395444" y="633240"/>
                </a:cubicBezTo>
                <a:cubicBezTo>
                  <a:pt x="387512" y="638528"/>
                  <a:pt x="385529" y="648443"/>
                  <a:pt x="392580" y="657256"/>
                </a:cubicBezTo>
                <a:cubicBezTo>
                  <a:pt x="400291" y="666951"/>
                  <a:pt x="409766" y="675103"/>
                  <a:pt x="418359" y="684357"/>
                </a:cubicBezTo>
                <a:cubicBezTo>
                  <a:pt x="420122" y="686340"/>
                  <a:pt x="422545" y="689425"/>
                  <a:pt x="422104" y="691408"/>
                </a:cubicBezTo>
                <a:cubicBezTo>
                  <a:pt x="417478" y="713882"/>
                  <a:pt x="412190" y="736356"/>
                  <a:pt x="406901" y="760372"/>
                </a:cubicBezTo>
                <a:cubicBezTo>
                  <a:pt x="396105" y="748034"/>
                  <a:pt x="386411" y="736576"/>
                  <a:pt x="376275" y="725560"/>
                </a:cubicBezTo>
                <a:cubicBezTo>
                  <a:pt x="371428" y="720271"/>
                  <a:pt x="413071" y="655273"/>
                  <a:pt x="418579" y="647341"/>
                </a:cubicBezTo>
                <a:cubicBezTo>
                  <a:pt x="419681" y="645578"/>
                  <a:pt x="419020" y="641833"/>
                  <a:pt x="418138" y="639409"/>
                </a:cubicBezTo>
                <a:cubicBezTo>
                  <a:pt x="414393" y="627951"/>
                  <a:pt x="400291" y="624867"/>
                  <a:pt x="391478" y="634121"/>
                </a:cubicBezTo>
                <a:cubicBezTo>
                  <a:pt x="382004" y="644036"/>
                  <a:pt x="326920" y="714763"/>
                  <a:pt x="317226" y="725780"/>
                </a:cubicBezTo>
                <a:cubicBezTo>
                  <a:pt x="294531" y="700662"/>
                  <a:pt x="272498" y="675984"/>
                  <a:pt x="250464" y="651527"/>
                </a:cubicBezTo>
                <a:cubicBezTo>
                  <a:pt x="249583" y="650426"/>
                  <a:pt x="248922" y="648222"/>
                  <a:pt x="249363" y="646680"/>
                </a:cubicBezTo>
                <a:cubicBezTo>
                  <a:pt x="252888" y="635443"/>
                  <a:pt x="256414" y="624206"/>
                  <a:pt x="260159" y="613189"/>
                </a:cubicBezTo>
                <a:cubicBezTo>
                  <a:pt x="299819" y="622443"/>
                  <a:pt x="327802" y="623325"/>
                  <a:pt x="360852" y="616494"/>
                </a:cubicBezTo>
                <a:cubicBezTo>
                  <a:pt x="449867" y="598207"/>
                  <a:pt x="520594" y="520208"/>
                  <a:pt x="526102" y="430092"/>
                </a:cubicBezTo>
                <a:cubicBezTo>
                  <a:pt x="529187" y="380737"/>
                  <a:pt x="526983" y="330942"/>
                  <a:pt x="526983" y="281366"/>
                </a:cubicBezTo>
                <a:cubicBezTo>
                  <a:pt x="526983" y="271892"/>
                  <a:pt x="520153" y="265723"/>
                  <a:pt x="511119" y="265943"/>
                </a:cubicBezTo>
                <a:cubicBezTo>
                  <a:pt x="502526" y="266163"/>
                  <a:pt x="495916" y="272553"/>
                  <a:pt x="495696" y="282027"/>
                </a:cubicBezTo>
                <a:cubicBezTo>
                  <a:pt x="495476" y="293926"/>
                  <a:pt x="495696" y="305823"/>
                  <a:pt x="495696" y="317942"/>
                </a:cubicBezTo>
                <a:cubicBezTo>
                  <a:pt x="495255" y="355839"/>
                  <a:pt x="497018" y="393957"/>
                  <a:pt x="493713" y="431634"/>
                </a:cubicBezTo>
                <a:cubicBezTo>
                  <a:pt x="486442" y="516242"/>
                  <a:pt x="413952" y="584325"/>
                  <a:pt x="329124" y="589173"/>
                </a:cubicBezTo>
                <a:cubicBezTo>
                  <a:pt x="225346" y="595122"/>
                  <a:pt x="139416" y="514039"/>
                  <a:pt x="139196" y="410262"/>
                </a:cubicBezTo>
                <a:cubicBezTo>
                  <a:pt x="139196" y="371042"/>
                  <a:pt x="139196" y="331823"/>
                  <a:pt x="139196" y="292604"/>
                </a:cubicBezTo>
                <a:cubicBezTo>
                  <a:pt x="139196" y="287976"/>
                  <a:pt x="139196" y="283570"/>
                  <a:pt x="139196" y="278723"/>
                </a:cubicBezTo>
                <a:cubicBezTo>
                  <a:pt x="182822" y="274095"/>
                  <a:pt x="209262" y="249859"/>
                  <a:pt x="220940" y="211741"/>
                </a:cubicBezTo>
                <a:cubicBezTo>
                  <a:pt x="253549" y="227164"/>
                  <a:pt x="285277" y="243469"/>
                  <a:pt x="317666" y="257350"/>
                </a:cubicBezTo>
                <a:cubicBezTo>
                  <a:pt x="354682" y="272994"/>
                  <a:pt x="393681" y="282468"/>
                  <a:pt x="433342" y="287976"/>
                </a:cubicBezTo>
                <a:cubicBezTo>
                  <a:pt x="445460" y="289739"/>
                  <a:pt x="453172" y="284231"/>
                  <a:pt x="454494" y="274536"/>
                </a:cubicBezTo>
                <a:cubicBezTo>
                  <a:pt x="455595" y="265502"/>
                  <a:pt x="449206" y="258672"/>
                  <a:pt x="437528" y="256909"/>
                </a:cubicBezTo>
                <a:cubicBezTo>
                  <a:pt x="385529" y="248757"/>
                  <a:pt x="335513" y="234435"/>
                  <a:pt x="288582" y="210199"/>
                </a:cubicBezTo>
                <a:cubicBezTo>
                  <a:pt x="265007" y="198080"/>
                  <a:pt x="242532" y="183538"/>
                  <a:pt x="219838" y="169878"/>
                </a:cubicBezTo>
                <a:cubicBezTo>
                  <a:pt x="207279" y="162386"/>
                  <a:pt x="195601" y="167454"/>
                  <a:pt x="193618" y="181775"/>
                </a:cubicBezTo>
                <a:cubicBezTo>
                  <a:pt x="193178" y="185521"/>
                  <a:pt x="192737" y="189046"/>
                  <a:pt x="192296" y="192792"/>
                </a:cubicBezTo>
                <a:cubicBezTo>
                  <a:pt x="187449" y="228046"/>
                  <a:pt x="162331" y="248757"/>
                  <a:pt x="126857" y="246554"/>
                </a:cubicBezTo>
                <a:cubicBezTo>
                  <a:pt x="114298" y="245893"/>
                  <a:pt x="107688" y="252062"/>
                  <a:pt x="107468" y="265062"/>
                </a:cubicBezTo>
                <a:cubicBezTo>
                  <a:pt x="107468" y="301417"/>
                  <a:pt x="107468" y="337992"/>
                  <a:pt x="107468" y="374347"/>
                </a:cubicBezTo>
                <a:cubicBezTo>
                  <a:pt x="107468" y="377652"/>
                  <a:pt x="107247" y="380737"/>
                  <a:pt x="107027" y="385144"/>
                </a:cubicBezTo>
                <a:cubicBezTo>
                  <a:pt x="93807" y="377652"/>
                  <a:pt x="89841" y="366856"/>
                  <a:pt x="89841" y="353856"/>
                </a:cubicBezTo>
                <a:cubicBezTo>
                  <a:pt x="89841" y="292383"/>
                  <a:pt x="89621" y="230690"/>
                  <a:pt x="89841" y="169217"/>
                </a:cubicBezTo>
                <a:cubicBezTo>
                  <a:pt x="89841" y="145861"/>
                  <a:pt x="102180" y="132421"/>
                  <a:pt x="125535" y="129556"/>
                </a:cubicBezTo>
                <a:cubicBezTo>
                  <a:pt x="133908" y="128455"/>
                  <a:pt x="139196" y="124709"/>
                  <a:pt x="142942" y="116777"/>
                </a:cubicBezTo>
                <a:cubicBezTo>
                  <a:pt x="169161" y="59931"/>
                  <a:pt x="214330" y="31728"/>
                  <a:pt x="276684" y="31067"/>
                </a:cubicBezTo>
                <a:cubicBezTo>
                  <a:pt x="318988" y="30626"/>
                  <a:pt x="361292" y="30626"/>
                  <a:pt x="403376" y="31288"/>
                </a:cubicBezTo>
                <a:cubicBezTo>
                  <a:pt x="415715" y="31508"/>
                  <a:pt x="428494" y="32830"/>
                  <a:pt x="440613" y="35915"/>
                </a:cubicBezTo>
                <a:cubicBezTo>
                  <a:pt x="504289" y="51999"/>
                  <a:pt x="546153" y="107082"/>
                  <a:pt x="546593" y="174284"/>
                </a:cubicBezTo>
                <a:cubicBezTo>
                  <a:pt x="546814" y="232673"/>
                  <a:pt x="546593" y="291281"/>
                  <a:pt x="546593" y="349670"/>
                </a:cubicBezTo>
                <a:cubicBezTo>
                  <a:pt x="546593" y="352975"/>
                  <a:pt x="546593" y="356500"/>
                  <a:pt x="546814" y="359805"/>
                </a:cubicBezTo>
                <a:cubicBezTo>
                  <a:pt x="547915" y="367737"/>
                  <a:pt x="553864" y="372805"/>
                  <a:pt x="561796" y="373025"/>
                </a:cubicBezTo>
                <a:cubicBezTo>
                  <a:pt x="571932" y="373246"/>
                  <a:pt x="577881" y="366415"/>
                  <a:pt x="577881" y="354077"/>
                </a:cubicBezTo>
                <a:cubicBezTo>
                  <a:pt x="577881" y="292824"/>
                  <a:pt x="578101" y="231571"/>
                  <a:pt x="577881" y="170318"/>
                </a:cubicBezTo>
                <a:cubicBezTo>
                  <a:pt x="577660" y="95184"/>
                  <a:pt x="527644" y="28864"/>
                  <a:pt x="455595" y="7271"/>
                </a:cubicBezTo>
                <a:cubicBezTo>
                  <a:pt x="445680" y="4407"/>
                  <a:pt x="435545" y="2424"/>
                  <a:pt x="425410" y="0"/>
                </a:cubicBezTo>
                <a:cubicBezTo>
                  <a:pt x="367902" y="0"/>
                  <a:pt x="310175" y="0"/>
                  <a:pt x="252668" y="0"/>
                </a:cubicBezTo>
                <a:cubicBezTo>
                  <a:pt x="251566" y="441"/>
                  <a:pt x="250464" y="1322"/>
                  <a:pt x="249363" y="1322"/>
                </a:cubicBezTo>
                <a:cubicBezTo>
                  <a:pt x="190974" y="9695"/>
                  <a:pt x="147569" y="40762"/>
                  <a:pt x="119366" y="93642"/>
                </a:cubicBezTo>
                <a:close/>
                <a:moveTo>
                  <a:pt x="266769" y="716967"/>
                </a:moveTo>
                <a:cubicBezTo>
                  <a:pt x="254210" y="731509"/>
                  <a:pt x="242092" y="745389"/>
                  <a:pt x="228651" y="760813"/>
                </a:cubicBezTo>
                <a:cubicBezTo>
                  <a:pt x="223363" y="736796"/>
                  <a:pt x="218075" y="714323"/>
                  <a:pt x="213448" y="691848"/>
                </a:cubicBezTo>
                <a:cubicBezTo>
                  <a:pt x="213008" y="689866"/>
                  <a:pt x="214550" y="686781"/>
                  <a:pt x="216313" y="685238"/>
                </a:cubicBezTo>
                <a:cubicBezTo>
                  <a:pt x="220058" y="681713"/>
                  <a:pt x="224465" y="678849"/>
                  <a:pt x="229312" y="675323"/>
                </a:cubicBezTo>
                <a:cubicBezTo>
                  <a:pt x="241651" y="689205"/>
                  <a:pt x="253990" y="703085"/>
                  <a:pt x="266769" y="716967"/>
                </a:cubicBezTo>
                <a:close/>
              </a:path>
            </a:pathLst>
          </a:custGeom>
          <a:solidFill>
            <a:srgbClr val="DDC9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0" name="Google Shape;480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4176" y="7829060"/>
            <a:ext cx="2884033" cy="10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3"/>
          <p:cNvSpPr txBox="1"/>
          <p:nvPr/>
        </p:nvSpPr>
        <p:spPr>
          <a:xfrm>
            <a:off x="3226629" y="7966529"/>
            <a:ext cx="1980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Black"/>
              <a:buNone/>
              <a:tabLst/>
              <a:defRPr/>
            </a:pPr>
            <a:r>
              <a:rPr kumimoji="0" lang="es" sz="3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7,454.4</a:t>
            </a:r>
            <a:br>
              <a:rPr kumimoji="0" lang="es" sz="3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kumimoji="0" lang="es" sz="1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mdp</a:t>
            </a:r>
            <a:endParaRPr kumimoji="0" sz="100" b="0" i="0" u="none" strike="noStrike" kern="0" cap="none" spc="0" normalizeH="0" baseline="0" noProof="0">
              <a:ln>
                <a:noFill/>
              </a:ln>
              <a:solidFill>
                <a:srgbClr val="DDC9A3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82" name="Google Shape;482;p23"/>
          <p:cNvSpPr/>
          <p:nvPr/>
        </p:nvSpPr>
        <p:spPr>
          <a:xfrm>
            <a:off x="5283725" y="6414014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23"/>
          <p:cNvSpPr/>
          <p:nvPr/>
        </p:nvSpPr>
        <p:spPr>
          <a:xfrm>
            <a:off x="5273550" y="6164814"/>
            <a:ext cx="19818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71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84" name="Google Shape;484;p23"/>
          <p:cNvSpPr txBox="1"/>
          <p:nvPr/>
        </p:nvSpPr>
        <p:spPr>
          <a:xfrm>
            <a:off x="5283725" y="6562742"/>
            <a:ext cx="1961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Atención Médica Continua y Urgencias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7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$497 </a:t>
            </a: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485" name="Google Shape;485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9842" y="6110525"/>
            <a:ext cx="1143633" cy="11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4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492" name="Google Shape;492;p24"/>
          <p:cNvGraphicFramePr/>
          <p:nvPr/>
        </p:nvGraphicFramePr>
        <p:xfrm>
          <a:off x="135300" y="8014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24. Inversión equipo médico 2019-2025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3" name="Google Shape;493;p24"/>
          <p:cNvSpPr txBox="1"/>
          <p:nvPr/>
        </p:nvSpPr>
        <p:spPr>
          <a:xfrm>
            <a:off x="0" y="4216875"/>
            <a:ext cx="7772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675" tIns="0" rIns="201675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s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Equipos médico 2025</a:t>
            </a:r>
            <a:endParaRPr kumimoji="0" sz="21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4" name="Google Shape;49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573" y="2702250"/>
            <a:ext cx="2482100" cy="10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4"/>
          <p:cNvSpPr txBox="1"/>
          <p:nvPr/>
        </p:nvSpPr>
        <p:spPr>
          <a:xfrm>
            <a:off x="694200" y="2887138"/>
            <a:ext cx="17124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Black"/>
              <a:buNone/>
              <a:tabLst/>
              <a:defRPr/>
            </a:pPr>
            <a:r>
              <a:rPr kumimoji="0" lang="es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21,342</a:t>
            </a:r>
            <a:endParaRPr kumimoji="0" sz="100" b="0" i="0" u="none" strike="noStrike" kern="0" cap="none" spc="0" normalizeH="0" baseline="0" noProof="0">
              <a:ln>
                <a:noFill/>
              </a:ln>
              <a:solidFill>
                <a:srgbClr val="DDC9A3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96" name="Google Shape;496;p24"/>
          <p:cNvSpPr txBox="1"/>
          <p:nvPr/>
        </p:nvSpPr>
        <p:spPr>
          <a:xfrm>
            <a:off x="64925" y="1707575"/>
            <a:ext cx="2537400" cy="11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400" tIns="75675" rIns="151400" bIns="7567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Monto </a:t>
            </a:r>
            <a:b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</a:br>
            <a: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de Inversión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2019 - 2024</a:t>
            </a:r>
            <a: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kumimoji="0" sz="3100" b="0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7" name="Google Shape;497;p24"/>
          <p:cNvSpPr/>
          <p:nvPr/>
        </p:nvSpPr>
        <p:spPr>
          <a:xfrm>
            <a:off x="416055" y="5120116"/>
            <a:ext cx="21189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405063" y="4870863"/>
            <a:ext cx="2140800" cy="3813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$2,419.1 </a:t>
            </a: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24"/>
          <p:cNvSpPr txBox="1"/>
          <p:nvPr/>
        </p:nvSpPr>
        <p:spPr>
          <a:xfrm>
            <a:off x="416055" y="5268876"/>
            <a:ext cx="21189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12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Aceleradores lineales</a:t>
            </a: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7F6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24"/>
          <p:cNvSpPr/>
          <p:nvPr/>
        </p:nvSpPr>
        <p:spPr>
          <a:xfrm>
            <a:off x="2814043" y="5096028"/>
            <a:ext cx="21189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01" name="Google Shape;501;p24"/>
          <p:cNvSpPr/>
          <p:nvPr/>
        </p:nvSpPr>
        <p:spPr>
          <a:xfrm>
            <a:off x="2802930" y="4846788"/>
            <a:ext cx="2118900" cy="3813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$1,178.1 </a:t>
            </a: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24"/>
          <p:cNvSpPr txBox="1"/>
          <p:nvPr/>
        </p:nvSpPr>
        <p:spPr>
          <a:xfrm>
            <a:off x="2814043" y="5244788"/>
            <a:ext cx="21189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42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Tomógrafos</a:t>
            </a: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7F6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416080" y="6239285"/>
            <a:ext cx="21189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04" name="Google Shape;504;p24"/>
          <p:cNvSpPr/>
          <p:nvPr/>
        </p:nvSpPr>
        <p:spPr>
          <a:xfrm>
            <a:off x="405088" y="5990032"/>
            <a:ext cx="2140800" cy="3813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-MX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$917.8</a:t>
            </a:r>
            <a:r>
              <a:rPr kumimoji="0" lang="es-MX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5"/>
                  </a:ext>
                </a:extLst>
              </a:rPr>
              <a:t> </a:t>
            </a:r>
            <a:r>
              <a:rPr kumimoji="0" lang="es-MX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lang="es-MX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24"/>
          <p:cNvSpPr txBox="1"/>
          <p:nvPr/>
        </p:nvSpPr>
        <p:spPr>
          <a:xfrm>
            <a:off x="416080" y="6388044"/>
            <a:ext cx="21189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7,912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Camillas, sillas de ruedas y carro camilla</a:t>
            </a: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7F6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416080" y="7399082"/>
            <a:ext cx="21189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405088" y="7149829"/>
            <a:ext cx="2140800" cy="3813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-MX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</a:t>
            </a:r>
            <a:r>
              <a:rPr kumimoji="0" lang="es-MX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6"/>
                  </a:ext>
                </a:extLst>
              </a:rPr>
              <a:t>548.5</a:t>
            </a:r>
            <a:r>
              <a:rPr kumimoji="0" lang="es-MX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kumimoji="0" lang="es-MX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lang="es-MX" sz="1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24"/>
          <p:cNvSpPr txBox="1"/>
          <p:nvPr/>
        </p:nvSpPr>
        <p:spPr>
          <a:xfrm>
            <a:off x="416080" y="7547842"/>
            <a:ext cx="21189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17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Angiógrafos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09" name="Google Shape;509;p24"/>
          <p:cNvSpPr/>
          <p:nvPr/>
        </p:nvSpPr>
        <p:spPr>
          <a:xfrm>
            <a:off x="2814043" y="6239272"/>
            <a:ext cx="21189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2803052" y="5990019"/>
            <a:ext cx="2140800" cy="3813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$657.1 </a:t>
            </a: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p24"/>
          <p:cNvSpPr txBox="1"/>
          <p:nvPr/>
        </p:nvSpPr>
        <p:spPr>
          <a:xfrm>
            <a:off x="2814043" y="6388031"/>
            <a:ext cx="21189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12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Resonancias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12" name="Google Shape;512;p24"/>
          <p:cNvSpPr/>
          <p:nvPr/>
        </p:nvSpPr>
        <p:spPr>
          <a:xfrm>
            <a:off x="2814043" y="7399069"/>
            <a:ext cx="21189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13" name="Google Shape;513;p24"/>
          <p:cNvSpPr/>
          <p:nvPr/>
        </p:nvSpPr>
        <p:spPr>
          <a:xfrm>
            <a:off x="2803052" y="7149816"/>
            <a:ext cx="2140800" cy="3813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-MX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</a:t>
            </a:r>
            <a:r>
              <a:rPr kumimoji="0" lang="es-MX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7"/>
                  </a:ext>
                </a:extLst>
              </a:rPr>
              <a:t>427.3 </a:t>
            </a:r>
            <a:r>
              <a:rPr kumimoji="0" lang="es-MX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8"/>
                  </a:ext>
                </a:extLst>
              </a:rPr>
              <a:t>mdp</a:t>
            </a:r>
            <a:endParaRPr kumimoji="0" lang="es-MX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24"/>
          <p:cNvSpPr txBox="1"/>
          <p:nvPr/>
        </p:nvSpPr>
        <p:spPr>
          <a:xfrm>
            <a:off x="2814043" y="7547829"/>
            <a:ext cx="21189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67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Mastógrafos</a:t>
            </a: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7F6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5" name="Google Shape;51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5151" y="8341847"/>
            <a:ext cx="2884034" cy="10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4"/>
          <p:cNvSpPr txBox="1"/>
          <p:nvPr/>
        </p:nvSpPr>
        <p:spPr>
          <a:xfrm>
            <a:off x="2926951" y="8429600"/>
            <a:ext cx="20169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Black"/>
              <a:buNone/>
              <a:tabLst/>
              <a:defRPr/>
            </a:pPr>
            <a:r>
              <a:rPr kumimoji="0" lang="e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ymbols Black"/>
                <a:ea typeface="Noto Sans Symbols Black"/>
                <a:cs typeface="Noto Sans Symbols Black"/>
                <a:sym typeface="Noto Sans Symbols Black"/>
              </a:rPr>
              <a:t>  </a:t>
            </a:r>
            <a:r>
              <a:rPr kumimoji="0" lang="es" sz="3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6,323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Black"/>
              <a:buNone/>
              <a:tabLst/>
              <a:defRPr/>
            </a:pP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mdp  </a:t>
            </a:r>
            <a:endParaRPr kumimoji="0" sz="100" b="0" i="0" u="none" strike="noStrike" kern="0" cap="none" spc="0" normalizeH="0" baseline="0" noProof="0">
              <a:ln>
                <a:noFill/>
              </a:ln>
              <a:solidFill>
                <a:srgbClr val="DDC9A3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17" name="Google Shape;517;p24"/>
          <p:cNvSpPr txBox="1"/>
          <p:nvPr/>
        </p:nvSpPr>
        <p:spPr>
          <a:xfrm>
            <a:off x="287700" y="8409575"/>
            <a:ext cx="2118900" cy="1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400" tIns="75675" rIns="151400" bIns="7567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17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Monto de</a:t>
            </a:r>
            <a:endParaRPr kumimoji="0" sz="1700" b="1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17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Inversión</a:t>
            </a:r>
            <a:endParaRPr kumimoji="0" sz="1700" b="1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7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 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24"/>
          <p:cNvSpPr txBox="1"/>
          <p:nvPr/>
        </p:nvSpPr>
        <p:spPr>
          <a:xfrm>
            <a:off x="5403800" y="8233426"/>
            <a:ext cx="1968600" cy="11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s-MX" sz="3000" b="0" i="0" u="none" strike="noStrike" kern="0" cap="none" spc="0" normalizeH="0" baseline="0" noProof="0">
                <a:ln>
                  <a:noFill/>
                </a:ln>
                <a:solidFill>
                  <a:srgbClr val="A7802D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9"/>
                  </a:ext>
                </a:extLst>
              </a:rPr>
              <a:t>8,4</a:t>
            </a:r>
            <a:r>
              <a:rPr kumimoji="0" lang="es-MX" sz="3000" b="0" i="0" u="none" strike="noStrike" kern="0" cap="none" spc="0" normalizeH="0" baseline="0" noProof="0">
                <a:ln>
                  <a:noFill/>
                </a:ln>
                <a:solidFill>
                  <a:srgbClr val="A7802D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81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s-MX" sz="1900" b="1" i="0" u="none" strike="noStrike" kern="0" cap="none" spc="0" normalizeH="0" baseline="0" noProof="0">
                <a:ln>
                  <a:noFill/>
                </a:ln>
                <a:solidFill>
                  <a:srgbClr val="A7802D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bienes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s-MX" sz="2500" b="1" i="0" u="none" strike="noStrike" kern="0" cap="none" spc="0" normalizeH="0" baseline="0" noProof="0">
                <a:ln>
                  <a:noFill/>
                </a:ln>
                <a:solidFill>
                  <a:srgbClr val="A7802D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sp>
        <p:nvSpPr>
          <p:cNvPr id="519" name="Google Shape;519;p24"/>
          <p:cNvSpPr/>
          <p:nvPr/>
        </p:nvSpPr>
        <p:spPr>
          <a:xfrm>
            <a:off x="5223043" y="5120135"/>
            <a:ext cx="21189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20" name="Google Shape;520;p24"/>
          <p:cNvSpPr/>
          <p:nvPr/>
        </p:nvSpPr>
        <p:spPr>
          <a:xfrm>
            <a:off x="5212052" y="4870882"/>
            <a:ext cx="2140800" cy="3813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$39.2 </a:t>
            </a: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24"/>
          <p:cNvSpPr txBox="1"/>
          <p:nvPr/>
        </p:nvSpPr>
        <p:spPr>
          <a:xfrm>
            <a:off x="5223043" y="5268895"/>
            <a:ext cx="21189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20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Unidades de anestesia y otros equipos médicos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22" name="Google Shape;522;p24"/>
          <p:cNvSpPr/>
          <p:nvPr/>
        </p:nvSpPr>
        <p:spPr>
          <a:xfrm>
            <a:off x="5234030" y="6272866"/>
            <a:ext cx="21189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23" name="Google Shape;523;p24"/>
          <p:cNvSpPr/>
          <p:nvPr/>
        </p:nvSpPr>
        <p:spPr>
          <a:xfrm>
            <a:off x="5223038" y="6023613"/>
            <a:ext cx="2140800" cy="3813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$84.7 </a:t>
            </a: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24"/>
          <p:cNvSpPr txBox="1"/>
          <p:nvPr/>
        </p:nvSpPr>
        <p:spPr>
          <a:xfrm>
            <a:off x="5234030" y="6421626"/>
            <a:ext cx="21189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326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Monitores y radiación y equipos refrigerantes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25" name="Google Shape;525;p24"/>
          <p:cNvSpPr/>
          <p:nvPr/>
        </p:nvSpPr>
        <p:spPr>
          <a:xfrm>
            <a:off x="5252443" y="7415866"/>
            <a:ext cx="21189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26" name="Google Shape;526;p24"/>
          <p:cNvSpPr/>
          <p:nvPr/>
        </p:nvSpPr>
        <p:spPr>
          <a:xfrm>
            <a:off x="5241452" y="7166613"/>
            <a:ext cx="2140800" cy="3813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$51.2 </a:t>
            </a: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p24"/>
          <p:cNvSpPr txBox="1"/>
          <p:nvPr/>
        </p:nvSpPr>
        <p:spPr>
          <a:xfrm>
            <a:off x="5252443" y="7564626"/>
            <a:ext cx="21189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73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Otros equipos médicos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528" name="Google Shape;52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02325" y="1339121"/>
            <a:ext cx="4779924" cy="2829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604e88bc46_1_25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535" name="Google Shape;535;g3604e88bc46_1_25"/>
          <p:cNvGraphicFramePr/>
          <p:nvPr/>
        </p:nvGraphicFramePr>
        <p:xfrm>
          <a:off x="135300" y="8014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25. Inversión equipo </a:t>
                      </a: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0"/>
                            </a:ext>
                          </a:extLst>
                        </a:rPr>
                        <a:t>electromecánico</a:t>
                      </a: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2020-2025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6" name="Google Shape;536;g3604e88bc46_1_25"/>
          <p:cNvSpPr txBox="1"/>
          <p:nvPr/>
        </p:nvSpPr>
        <p:spPr>
          <a:xfrm>
            <a:off x="0" y="4232850"/>
            <a:ext cx="7772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675" tIns="0" rIns="201675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s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Equipos electromecánicos 2025</a:t>
            </a:r>
            <a:endParaRPr kumimoji="0" sz="21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7" name="Google Shape;537;g3604e88bc46_1_25"/>
          <p:cNvSpPr/>
          <p:nvPr/>
        </p:nvSpPr>
        <p:spPr>
          <a:xfrm>
            <a:off x="5321475" y="6280325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g3604e88bc46_1_25"/>
          <p:cNvSpPr/>
          <p:nvPr/>
        </p:nvSpPr>
        <p:spPr>
          <a:xfrm>
            <a:off x="5311300" y="6031125"/>
            <a:ext cx="19818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$983.5 </a:t>
            </a: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g3604e88bc46_1_25"/>
          <p:cNvSpPr txBox="1"/>
          <p:nvPr/>
        </p:nvSpPr>
        <p:spPr>
          <a:xfrm>
            <a:off x="5321475" y="6429053"/>
            <a:ext cx="1961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213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Lavadoras/secadoras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7F6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g3604e88bc46_1_25"/>
          <p:cNvSpPr/>
          <p:nvPr/>
        </p:nvSpPr>
        <p:spPr>
          <a:xfrm>
            <a:off x="1627650" y="6226563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1" name="Google Shape;541;g3604e88bc46_1_25"/>
          <p:cNvSpPr/>
          <p:nvPr/>
        </p:nvSpPr>
        <p:spPr>
          <a:xfrm>
            <a:off x="1617475" y="5977363"/>
            <a:ext cx="19818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$875.6 </a:t>
            </a: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g3604e88bc46_1_25"/>
          <p:cNvSpPr txBox="1"/>
          <p:nvPr/>
        </p:nvSpPr>
        <p:spPr>
          <a:xfrm>
            <a:off x="1627650" y="6375291"/>
            <a:ext cx="1961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179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Elevadores</a:t>
            </a:r>
            <a:endParaRPr kumimoji="0" sz="1700" b="1" i="0" u="none" strike="noStrike" kern="0" cap="none" spc="0" normalizeH="0" baseline="0" noProof="0">
              <a:ln>
                <a:noFill/>
              </a:ln>
              <a:solidFill>
                <a:srgbClr val="7F6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g3604e88bc46_1_25"/>
          <p:cNvSpPr/>
          <p:nvPr/>
        </p:nvSpPr>
        <p:spPr>
          <a:xfrm>
            <a:off x="1585625" y="7411275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g3604e88bc46_1_25"/>
          <p:cNvSpPr/>
          <p:nvPr/>
        </p:nvSpPr>
        <p:spPr>
          <a:xfrm>
            <a:off x="1575450" y="7162075"/>
            <a:ext cx="19818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-MX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</a:t>
            </a:r>
            <a:r>
              <a:rPr kumimoji="0" lang="es-MX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1"/>
                  </a:ext>
                </a:extLst>
              </a:rPr>
              <a:t>5</a:t>
            </a:r>
            <a:r>
              <a:rPr kumimoji="0" lang="es-MX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86.8 </a:t>
            </a:r>
            <a:r>
              <a:rPr kumimoji="0" lang="es-MX" sz="2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lang="es-MX" sz="1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5" name="Google Shape;545;g3604e88bc46_1_25"/>
          <p:cNvSpPr txBox="1"/>
          <p:nvPr/>
        </p:nvSpPr>
        <p:spPr>
          <a:xfrm>
            <a:off x="1585625" y="7560003"/>
            <a:ext cx="1961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Sistemas 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de Supresión de incendio 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46" name="Google Shape;546;g3604e88bc46_1_25"/>
          <p:cNvSpPr/>
          <p:nvPr/>
        </p:nvSpPr>
        <p:spPr>
          <a:xfrm>
            <a:off x="5336100" y="5048038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g3604e88bc46_1_25"/>
          <p:cNvSpPr/>
          <p:nvPr/>
        </p:nvSpPr>
        <p:spPr>
          <a:xfrm>
            <a:off x="5325925" y="4798850"/>
            <a:ext cx="19614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$1,109.2 </a:t>
            </a: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g3604e88bc46_1_25"/>
          <p:cNvSpPr txBox="1"/>
          <p:nvPr/>
        </p:nvSpPr>
        <p:spPr>
          <a:xfrm>
            <a:off x="5336100" y="5196766"/>
            <a:ext cx="1961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144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3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Equipos de casas </a:t>
            </a:r>
            <a:br>
              <a:rPr kumimoji="0" lang="es" sz="13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kumimoji="0" lang="es" sz="13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de Máquinas </a:t>
            </a:r>
            <a:endParaRPr kumimoji="0" sz="1300" b="1" i="0" u="none" strike="noStrike" kern="0" cap="none" spc="0" normalizeH="0" baseline="0" noProof="0">
              <a:ln>
                <a:noFill/>
              </a:ln>
              <a:solidFill>
                <a:srgbClr val="7F6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g3604e88bc46_1_25"/>
          <p:cNvSpPr/>
          <p:nvPr/>
        </p:nvSpPr>
        <p:spPr>
          <a:xfrm>
            <a:off x="1614650" y="5060775"/>
            <a:ext cx="1961400" cy="78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0" name="Google Shape;550;g3604e88bc46_1_25"/>
          <p:cNvSpPr/>
          <p:nvPr/>
        </p:nvSpPr>
        <p:spPr>
          <a:xfrm>
            <a:off x="1604475" y="4811575"/>
            <a:ext cx="1981800" cy="381000"/>
          </a:xfrm>
          <a:prstGeom prst="roundRect">
            <a:avLst>
              <a:gd name="adj" fmla="val 16667"/>
            </a:avLst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$6,324</a:t>
            </a: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mdp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g3604e88bc46_1_25"/>
          <p:cNvSpPr txBox="1"/>
          <p:nvPr/>
        </p:nvSpPr>
        <p:spPr>
          <a:xfrm>
            <a:off x="1819875" y="5129300"/>
            <a:ext cx="1551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Noto Sans Black"/>
              <a:ea typeface="Noto Sans Black"/>
              <a:cs typeface="Noto Sans Black"/>
              <a:sym typeface="Noto Sans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938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>
                <a:ln>
                  <a:noFill/>
                </a:ln>
                <a:solidFill>
                  <a:srgbClr val="005C4C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Aires acondicionados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5C4C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52" name="Google Shape;552;g3604e88bc46_1_25"/>
          <p:cNvSpPr/>
          <p:nvPr/>
        </p:nvSpPr>
        <p:spPr>
          <a:xfrm>
            <a:off x="413090" y="5995043"/>
            <a:ext cx="1089932" cy="970285"/>
          </a:xfrm>
          <a:custGeom>
            <a:avLst/>
            <a:gdLst/>
            <a:ahLst/>
            <a:cxnLst/>
            <a:rect l="l" t="t" r="r" b="b"/>
            <a:pathLst>
              <a:path w="1089932" h="970285" extrusionOk="0">
                <a:moveTo>
                  <a:pt x="630134" y="76343"/>
                </a:moveTo>
                <a:lnTo>
                  <a:pt x="460010" y="76343"/>
                </a:lnTo>
                <a:cubicBezTo>
                  <a:pt x="450277" y="76343"/>
                  <a:pt x="442236" y="84447"/>
                  <a:pt x="442236" y="94256"/>
                </a:cubicBezTo>
                <a:lnTo>
                  <a:pt x="442236" y="166121"/>
                </a:lnTo>
                <a:cubicBezTo>
                  <a:pt x="442236" y="175931"/>
                  <a:pt x="450277" y="184034"/>
                  <a:pt x="460010" y="184034"/>
                </a:cubicBezTo>
                <a:lnTo>
                  <a:pt x="630134" y="184034"/>
                </a:lnTo>
                <a:cubicBezTo>
                  <a:pt x="639867" y="184034"/>
                  <a:pt x="647908" y="175931"/>
                  <a:pt x="647908" y="166121"/>
                </a:cubicBezTo>
                <a:lnTo>
                  <a:pt x="647908" y="94256"/>
                </a:lnTo>
                <a:cubicBezTo>
                  <a:pt x="648120" y="84447"/>
                  <a:pt x="640079" y="76343"/>
                  <a:pt x="630134" y="76343"/>
                </a:cubicBezTo>
                <a:close/>
                <a:moveTo>
                  <a:pt x="620401" y="156525"/>
                </a:moveTo>
                <a:lnTo>
                  <a:pt x="469744" y="156525"/>
                </a:lnTo>
                <a:lnTo>
                  <a:pt x="469744" y="104066"/>
                </a:lnTo>
                <a:lnTo>
                  <a:pt x="620401" y="104066"/>
                </a:lnTo>
                <a:lnTo>
                  <a:pt x="620401" y="156525"/>
                </a:lnTo>
                <a:close/>
                <a:moveTo>
                  <a:pt x="878337" y="638469"/>
                </a:moveTo>
                <a:cubicBezTo>
                  <a:pt x="867968" y="638469"/>
                  <a:pt x="859716" y="646786"/>
                  <a:pt x="859716" y="657235"/>
                </a:cubicBezTo>
                <a:cubicBezTo>
                  <a:pt x="859716" y="667684"/>
                  <a:pt x="867968" y="676001"/>
                  <a:pt x="878337" y="676001"/>
                </a:cubicBezTo>
                <a:cubicBezTo>
                  <a:pt x="888705" y="676001"/>
                  <a:pt x="896957" y="667684"/>
                  <a:pt x="896957" y="657235"/>
                </a:cubicBezTo>
                <a:cubicBezTo>
                  <a:pt x="896957" y="646786"/>
                  <a:pt x="888705" y="638469"/>
                  <a:pt x="878337" y="638469"/>
                </a:cubicBezTo>
                <a:close/>
                <a:moveTo>
                  <a:pt x="1076391" y="942776"/>
                </a:moveTo>
                <a:lnTo>
                  <a:pt x="994715" y="942776"/>
                </a:lnTo>
                <a:cubicBezTo>
                  <a:pt x="997042" y="937445"/>
                  <a:pt x="998100" y="931474"/>
                  <a:pt x="998100" y="925503"/>
                </a:cubicBezTo>
                <a:lnTo>
                  <a:pt x="998100" y="45209"/>
                </a:lnTo>
                <a:cubicBezTo>
                  <a:pt x="998100" y="20259"/>
                  <a:pt x="977998" y="0"/>
                  <a:pt x="953453" y="0"/>
                </a:cubicBezTo>
                <a:lnTo>
                  <a:pt x="136903" y="0"/>
                </a:lnTo>
                <a:cubicBezTo>
                  <a:pt x="112146" y="0"/>
                  <a:pt x="92044" y="20259"/>
                  <a:pt x="92044" y="45209"/>
                </a:cubicBezTo>
                <a:lnTo>
                  <a:pt x="92044" y="925289"/>
                </a:lnTo>
                <a:cubicBezTo>
                  <a:pt x="92044" y="931474"/>
                  <a:pt x="93314" y="937231"/>
                  <a:pt x="95430" y="942563"/>
                </a:cubicBezTo>
                <a:lnTo>
                  <a:pt x="13754" y="942563"/>
                </a:lnTo>
                <a:cubicBezTo>
                  <a:pt x="6136" y="942563"/>
                  <a:pt x="0" y="948747"/>
                  <a:pt x="0" y="956424"/>
                </a:cubicBezTo>
                <a:cubicBezTo>
                  <a:pt x="0" y="964101"/>
                  <a:pt x="6136" y="970285"/>
                  <a:pt x="13754" y="970285"/>
                </a:cubicBezTo>
                <a:lnTo>
                  <a:pt x="1076179" y="970285"/>
                </a:lnTo>
                <a:cubicBezTo>
                  <a:pt x="1083797" y="970285"/>
                  <a:pt x="1089933" y="964101"/>
                  <a:pt x="1089933" y="956424"/>
                </a:cubicBezTo>
                <a:cubicBezTo>
                  <a:pt x="1089933" y="948747"/>
                  <a:pt x="1083797" y="942776"/>
                  <a:pt x="1076391" y="942776"/>
                </a:cubicBezTo>
                <a:close/>
                <a:moveTo>
                  <a:pt x="531318" y="942776"/>
                </a:moveTo>
                <a:lnTo>
                  <a:pt x="334111" y="942776"/>
                </a:lnTo>
                <a:cubicBezTo>
                  <a:pt x="330937" y="942776"/>
                  <a:pt x="328397" y="940217"/>
                  <a:pt x="328397" y="937018"/>
                </a:cubicBezTo>
                <a:lnTo>
                  <a:pt x="328397" y="260378"/>
                </a:lnTo>
                <a:cubicBezTo>
                  <a:pt x="328397" y="257179"/>
                  <a:pt x="330937" y="254620"/>
                  <a:pt x="334111" y="254620"/>
                </a:cubicBezTo>
                <a:lnTo>
                  <a:pt x="531318" y="254620"/>
                </a:lnTo>
                <a:lnTo>
                  <a:pt x="531318" y="942776"/>
                </a:lnTo>
                <a:close/>
                <a:moveTo>
                  <a:pt x="761747" y="936805"/>
                </a:moveTo>
                <a:cubicBezTo>
                  <a:pt x="761747" y="940004"/>
                  <a:pt x="759208" y="942563"/>
                  <a:pt x="756034" y="942563"/>
                </a:cubicBezTo>
                <a:lnTo>
                  <a:pt x="558826" y="942563"/>
                </a:lnTo>
                <a:lnTo>
                  <a:pt x="558826" y="254620"/>
                </a:lnTo>
                <a:lnTo>
                  <a:pt x="756034" y="254620"/>
                </a:lnTo>
                <a:cubicBezTo>
                  <a:pt x="759208" y="254620"/>
                  <a:pt x="761747" y="257179"/>
                  <a:pt x="761747" y="260378"/>
                </a:cubicBezTo>
                <a:lnTo>
                  <a:pt x="761747" y="936805"/>
                </a:lnTo>
                <a:close/>
                <a:moveTo>
                  <a:pt x="970593" y="925289"/>
                </a:moveTo>
                <a:cubicBezTo>
                  <a:pt x="970593" y="934886"/>
                  <a:pt x="962975" y="942563"/>
                  <a:pt x="953453" y="942563"/>
                </a:cubicBezTo>
                <a:lnTo>
                  <a:pt x="788831" y="942563"/>
                </a:lnTo>
                <a:cubicBezTo>
                  <a:pt x="789255" y="940643"/>
                  <a:pt x="789466" y="938724"/>
                  <a:pt x="789466" y="936805"/>
                </a:cubicBezTo>
                <a:lnTo>
                  <a:pt x="789466" y="260378"/>
                </a:lnTo>
                <a:cubicBezTo>
                  <a:pt x="789466" y="241825"/>
                  <a:pt x="774443" y="226684"/>
                  <a:pt x="756034" y="226684"/>
                </a:cubicBezTo>
                <a:lnTo>
                  <a:pt x="334111" y="226684"/>
                </a:lnTo>
                <a:cubicBezTo>
                  <a:pt x="315702" y="226684"/>
                  <a:pt x="300890" y="241825"/>
                  <a:pt x="300890" y="260378"/>
                </a:cubicBezTo>
                <a:lnTo>
                  <a:pt x="300890" y="936805"/>
                </a:lnTo>
                <a:cubicBezTo>
                  <a:pt x="300890" y="938724"/>
                  <a:pt x="301102" y="940643"/>
                  <a:pt x="301525" y="942563"/>
                </a:cubicBezTo>
                <a:lnTo>
                  <a:pt x="136903" y="942563"/>
                </a:lnTo>
                <a:cubicBezTo>
                  <a:pt x="127381" y="942563"/>
                  <a:pt x="119763" y="934672"/>
                  <a:pt x="119763" y="925289"/>
                </a:cubicBezTo>
                <a:lnTo>
                  <a:pt x="119763" y="45209"/>
                </a:lnTo>
                <a:cubicBezTo>
                  <a:pt x="119763" y="35613"/>
                  <a:pt x="127593" y="27936"/>
                  <a:pt x="136903" y="27936"/>
                </a:cubicBezTo>
                <a:lnTo>
                  <a:pt x="953242" y="27936"/>
                </a:lnTo>
                <a:cubicBezTo>
                  <a:pt x="962763" y="27936"/>
                  <a:pt x="970381" y="35826"/>
                  <a:pt x="970381" y="45209"/>
                </a:cubicBezTo>
                <a:lnTo>
                  <a:pt x="970381" y="925289"/>
                </a:lnTo>
                <a:close/>
                <a:moveTo>
                  <a:pt x="878337" y="533977"/>
                </a:moveTo>
                <a:cubicBezTo>
                  <a:pt x="867968" y="533977"/>
                  <a:pt x="859716" y="542293"/>
                  <a:pt x="859716" y="552743"/>
                </a:cubicBezTo>
                <a:cubicBezTo>
                  <a:pt x="859716" y="563192"/>
                  <a:pt x="867968" y="571509"/>
                  <a:pt x="878337" y="571509"/>
                </a:cubicBezTo>
                <a:cubicBezTo>
                  <a:pt x="888705" y="571509"/>
                  <a:pt x="896957" y="563192"/>
                  <a:pt x="896957" y="552743"/>
                </a:cubicBezTo>
                <a:cubicBezTo>
                  <a:pt x="896957" y="542293"/>
                  <a:pt x="888705" y="533977"/>
                  <a:pt x="878337" y="533977"/>
                </a:cubicBezTo>
                <a:close/>
              </a:path>
            </a:pathLst>
          </a:custGeom>
          <a:solidFill>
            <a:srgbClr val="BC95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604e88bc46_1_25"/>
          <p:cNvSpPr/>
          <p:nvPr/>
        </p:nvSpPr>
        <p:spPr>
          <a:xfrm>
            <a:off x="397127" y="5002372"/>
            <a:ext cx="1090738" cy="795923"/>
          </a:xfrm>
          <a:custGeom>
            <a:avLst/>
            <a:gdLst/>
            <a:ahLst/>
            <a:cxnLst/>
            <a:rect l="l" t="t" r="r" b="b"/>
            <a:pathLst>
              <a:path w="853807" h="623032" extrusionOk="0">
                <a:moveTo>
                  <a:pt x="285953" y="451800"/>
                </a:moveTo>
                <a:cubicBezTo>
                  <a:pt x="280442" y="423857"/>
                  <a:pt x="257261" y="410048"/>
                  <a:pt x="256288" y="409398"/>
                </a:cubicBezTo>
                <a:cubicBezTo>
                  <a:pt x="251263" y="406474"/>
                  <a:pt x="244941" y="408099"/>
                  <a:pt x="241861" y="413135"/>
                </a:cubicBezTo>
                <a:cubicBezTo>
                  <a:pt x="238943" y="418171"/>
                  <a:pt x="240564" y="424669"/>
                  <a:pt x="245589" y="427594"/>
                </a:cubicBezTo>
                <a:cubicBezTo>
                  <a:pt x="245751" y="427756"/>
                  <a:pt x="261800" y="437504"/>
                  <a:pt x="265204" y="456024"/>
                </a:cubicBezTo>
                <a:cubicBezTo>
                  <a:pt x="267960" y="470970"/>
                  <a:pt x="262124" y="488191"/>
                  <a:pt x="247697" y="507037"/>
                </a:cubicBezTo>
                <a:cubicBezTo>
                  <a:pt x="229541" y="530756"/>
                  <a:pt x="222084" y="553825"/>
                  <a:pt x="225650" y="575919"/>
                </a:cubicBezTo>
                <a:cubicBezTo>
                  <a:pt x="230351" y="605000"/>
                  <a:pt x="252722" y="620596"/>
                  <a:pt x="253694" y="621246"/>
                </a:cubicBezTo>
                <a:cubicBezTo>
                  <a:pt x="255478" y="622545"/>
                  <a:pt x="257585" y="623033"/>
                  <a:pt x="259692" y="623033"/>
                </a:cubicBezTo>
                <a:cubicBezTo>
                  <a:pt x="263097" y="623033"/>
                  <a:pt x="266339" y="621408"/>
                  <a:pt x="268446" y="618484"/>
                </a:cubicBezTo>
                <a:cubicBezTo>
                  <a:pt x="271688" y="613610"/>
                  <a:pt x="270553" y="607112"/>
                  <a:pt x="265690" y="603862"/>
                </a:cubicBezTo>
                <a:cubicBezTo>
                  <a:pt x="265528" y="603700"/>
                  <a:pt x="249804" y="592490"/>
                  <a:pt x="246562" y="572508"/>
                </a:cubicBezTo>
                <a:cubicBezTo>
                  <a:pt x="243968" y="556424"/>
                  <a:pt x="250128" y="538716"/>
                  <a:pt x="264556" y="519871"/>
                </a:cubicBezTo>
                <a:cubicBezTo>
                  <a:pt x="282873" y="496152"/>
                  <a:pt x="290168" y="473082"/>
                  <a:pt x="285953" y="451800"/>
                </a:cubicBezTo>
                <a:close/>
                <a:moveTo>
                  <a:pt x="636587" y="451800"/>
                </a:moveTo>
                <a:cubicBezTo>
                  <a:pt x="631075" y="423857"/>
                  <a:pt x="607894" y="410048"/>
                  <a:pt x="606921" y="409398"/>
                </a:cubicBezTo>
                <a:cubicBezTo>
                  <a:pt x="601896" y="406474"/>
                  <a:pt x="595574" y="408099"/>
                  <a:pt x="592494" y="413135"/>
                </a:cubicBezTo>
                <a:cubicBezTo>
                  <a:pt x="589576" y="418171"/>
                  <a:pt x="591197" y="424669"/>
                  <a:pt x="596222" y="427594"/>
                </a:cubicBezTo>
                <a:cubicBezTo>
                  <a:pt x="596385" y="427756"/>
                  <a:pt x="612433" y="437504"/>
                  <a:pt x="615837" y="456024"/>
                </a:cubicBezTo>
                <a:cubicBezTo>
                  <a:pt x="618593" y="470970"/>
                  <a:pt x="612757" y="488191"/>
                  <a:pt x="598330" y="507037"/>
                </a:cubicBezTo>
                <a:cubicBezTo>
                  <a:pt x="580174" y="530756"/>
                  <a:pt x="572717" y="553825"/>
                  <a:pt x="576284" y="575919"/>
                </a:cubicBezTo>
                <a:cubicBezTo>
                  <a:pt x="580985" y="605000"/>
                  <a:pt x="603355" y="620596"/>
                  <a:pt x="604328" y="621246"/>
                </a:cubicBezTo>
                <a:cubicBezTo>
                  <a:pt x="606111" y="622545"/>
                  <a:pt x="608218" y="623033"/>
                  <a:pt x="610326" y="623033"/>
                </a:cubicBezTo>
                <a:cubicBezTo>
                  <a:pt x="613730" y="623033"/>
                  <a:pt x="616972" y="621408"/>
                  <a:pt x="619079" y="618484"/>
                </a:cubicBezTo>
                <a:cubicBezTo>
                  <a:pt x="622321" y="613610"/>
                  <a:pt x="621187" y="607112"/>
                  <a:pt x="616324" y="603862"/>
                </a:cubicBezTo>
                <a:cubicBezTo>
                  <a:pt x="616161" y="603700"/>
                  <a:pt x="600437" y="592490"/>
                  <a:pt x="597195" y="572508"/>
                </a:cubicBezTo>
                <a:cubicBezTo>
                  <a:pt x="594601" y="556424"/>
                  <a:pt x="600761" y="538716"/>
                  <a:pt x="615189" y="519871"/>
                </a:cubicBezTo>
                <a:cubicBezTo>
                  <a:pt x="633507" y="496152"/>
                  <a:pt x="640801" y="473082"/>
                  <a:pt x="636587" y="451800"/>
                </a:cubicBezTo>
                <a:close/>
                <a:moveTo>
                  <a:pt x="458433" y="451800"/>
                </a:moveTo>
                <a:cubicBezTo>
                  <a:pt x="452922" y="423857"/>
                  <a:pt x="429741" y="410048"/>
                  <a:pt x="428768" y="409398"/>
                </a:cubicBezTo>
                <a:cubicBezTo>
                  <a:pt x="423743" y="406474"/>
                  <a:pt x="417421" y="408099"/>
                  <a:pt x="414341" y="413135"/>
                </a:cubicBezTo>
                <a:cubicBezTo>
                  <a:pt x="411423" y="418171"/>
                  <a:pt x="413044" y="424669"/>
                  <a:pt x="418069" y="427594"/>
                </a:cubicBezTo>
                <a:cubicBezTo>
                  <a:pt x="418231" y="427756"/>
                  <a:pt x="434280" y="437504"/>
                  <a:pt x="437684" y="456024"/>
                </a:cubicBezTo>
                <a:cubicBezTo>
                  <a:pt x="440440" y="470970"/>
                  <a:pt x="434604" y="488191"/>
                  <a:pt x="420176" y="507037"/>
                </a:cubicBezTo>
                <a:cubicBezTo>
                  <a:pt x="402021" y="530756"/>
                  <a:pt x="394564" y="553825"/>
                  <a:pt x="398130" y="575919"/>
                </a:cubicBezTo>
                <a:cubicBezTo>
                  <a:pt x="402831" y="605000"/>
                  <a:pt x="425202" y="620596"/>
                  <a:pt x="426174" y="621246"/>
                </a:cubicBezTo>
                <a:cubicBezTo>
                  <a:pt x="427957" y="622545"/>
                  <a:pt x="430065" y="623033"/>
                  <a:pt x="432172" y="623033"/>
                </a:cubicBezTo>
                <a:cubicBezTo>
                  <a:pt x="435576" y="623033"/>
                  <a:pt x="438818" y="621408"/>
                  <a:pt x="440926" y="618484"/>
                </a:cubicBezTo>
                <a:cubicBezTo>
                  <a:pt x="444168" y="613610"/>
                  <a:pt x="443033" y="607112"/>
                  <a:pt x="438170" y="603862"/>
                </a:cubicBezTo>
                <a:cubicBezTo>
                  <a:pt x="438008" y="603700"/>
                  <a:pt x="422284" y="592490"/>
                  <a:pt x="419042" y="572508"/>
                </a:cubicBezTo>
                <a:cubicBezTo>
                  <a:pt x="416448" y="556424"/>
                  <a:pt x="422608" y="538716"/>
                  <a:pt x="437035" y="519871"/>
                </a:cubicBezTo>
                <a:cubicBezTo>
                  <a:pt x="455353" y="496152"/>
                  <a:pt x="462486" y="473082"/>
                  <a:pt x="458433" y="451800"/>
                </a:cubicBezTo>
                <a:close/>
                <a:moveTo>
                  <a:pt x="87861" y="308836"/>
                </a:moveTo>
                <a:lnTo>
                  <a:pt x="760597" y="308836"/>
                </a:lnTo>
                <a:cubicBezTo>
                  <a:pt x="766433" y="308836"/>
                  <a:pt x="771134" y="304124"/>
                  <a:pt x="771134" y="298276"/>
                </a:cubicBezTo>
                <a:cubicBezTo>
                  <a:pt x="771134" y="292427"/>
                  <a:pt x="766433" y="287716"/>
                  <a:pt x="760597" y="287716"/>
                </a:cubicBezTo>
                <a:lnTo>
                  <a:pt x="87861" y="287716"/>
                </a:lnTo>
                <a:cubicBezTo>
                  <a:pt x="82025" y="287716"/>
                  <a:pt x="77324" y="292427"/>
                  <a:pt x="77324" y="298276"/>
                </a:cubicBezTo>
                <a:cubicBezTo>
                  <a:pt x="77324" y="304124"/>
                  <a:pt x="82025" y="308836"/>
                  <a:pt x="87861" y="308836"/>
                </a:cubicBezTo>
                <a:close/>
                <a:moveTo>
                  <a:pt x="781022" y="0"/>
                </a:moveTo>
                <a:lnTo>
                  <a:pt x="72623" y="0"/>
                </a:lnTo>
                <a:cubicBezTo>
                  <a:pt x="32583" y="0"/>
                  <a:pt x="0" y="32654"/>
                  <a:pt x="0" y="72782"/>
                </a:cubicBezTo>
                <a:lnTo>
                  <a:pt x="0" y="303150"/>
                </a:lnTo>
                <a:cubicBezTo>
                  <a:pt x="0" y="343277"/>
                  <a:pt x="32583" y="375932"/>
                  <a:pt x="72623" y="375932"/>
                </a:cubicBezTo>
                <a:lnTo>
                  <a:pt x="781184" y="375932"/>
                </a:lnTo>
                <a:cubicBezTo>
                  <a:pt x="821224" y="375932"/>
                  <a:pt x="853808" y="343277"/>
                  <a:pt x="853808" y="303150"/>
                </a:cubicBezTo>
                <a:lnTo>
                  <a:pt x="853808" y="72782"/>
                </a:lnTo>
                <a:cubicBezTo>
                  <a:pt x="853808" y="32654"/>
                  <a:pt x="821062" y="0"/>
                  <a:pt x="781022" y="0"/>
                </a:cubicBezTo>
                <a:close/>
                <a:moveTo>
                  <a:pt x="832734" y="303312"/>
                </a:moveTo>
                <a:cubicBezTo>
                  <a:pt x="832734" y="331743"/>
                  <a:pt x="809553" y="354974"/>
                  <a:pt x="781184" y="354974"/>
                </a:cubicBezTo>
                <a:lnTo>
                  <a:pt x="72623" y="354974"/>
                </a:lnTo>
                <a:cubicBezTo>
                  <a:pt x="44255" y="354974"/>
                  <a:pt x="21074" y="331743"/>
                  <a:pt x="21074" y="303312"/>
                </a:cubicBezTo>
                <a:lnTo>
                  <a:pt x="21074" y="250838"/>
                </a:lnTo>
                <a:lnTo>
                  <a:pt x="832734" y="250838"/>
                </a:lnTo>
                <a:lnTo>
                  <a:pt x="832734" y="303312"/>
                </a:lnTo>
                <a:close/>
                <a:moveTo>
                  <a:pt x="832734" y="229555"/>
                </a:moveTo>
                <a:lnTo>
                  <a:pt x="20912" y="229555"/>
                </a:lnTo>
                <a:lnTo>
                  <a:pt x="20912" y="72782"/>
                </a:lnTo>
                <a:cubicBezTo>
                  <a:pt x="20912" y="44351"/>
                  <a:pt x="44093" y="21120"/>
                  <a:pt x="72461" y="21120"/>
                </a:cubicBezTo>
                <a:lnTo>
                  <a:pt x="781022" y="21120"/>
                </a:lnTo>
                <a:cubicBezTo>
                  <a:pt x="809391" y="21120"/>
                  <a:pt x="832572" y="44351"/>
                  <a:pt x="832572" y="72782"/>
                </a:cubicBezTo>
                <a:lnTo>
                  <a:pt x="832572" y="229555"/>
                </a:lnTo>
                <a:close/>
              </a:path>
            </a:pathLst>
          </a:custGeom>
          <a:solidFill>
            <a:srgbClr val="BC95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4" name="Google Shape;554;g3604e88bc46_1_25"/>
          <p:cNvGrpSpPr/>
          <p:nvPr/>
        </p:nvGrpSpPr>
        <p:grpSpPr>
          <a:xfrm>
            <a:off x="4285776" y="4874912"/>
            <a:ext cx="908605" cy="906109"/>
            <a:chOff x="-31455100" y="3909350"/>
            <a:chExt cx="294600" cy="293800"/>
          </a:xfrm>
        </p:grpSpPr>
        <p:sp>
          <p:nvSpPr>
            <p:cNvPr id="555" name="Google Shape;555;g3604e88bc46_1_25"/>
            <p:cNvSpPr/>
            <p:nvPr/>
          </p:nvSpPr>
          <p:spPr>
            <a:xfrm>
              <a:off x="-31455100" y="3909350"/>
              <a:ext cx="294600" cy="293800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5199" y="1"/>
                  </a:moveTo>
                  <a:cubicBezTo>
                    <a:pt x="5042" y="1"/>
                    <a:pt x="4916" y="127"/>
                    <a:pt x="4884" y="284"/>
                  </a:cubicBezTo>
                  <a:lnTo>
                    <a:pt x="4727" y="883"/>
                  </a:lnTo>
                  <a:cubicBezTo>
                    <a:pt x="4191" y="977"/>
                    <a:pt x="3655" y="1229"/>
                    <a:pt x="3151" y="1513"/>
                  </a:cubicBezTo>
                  <a:lnTo>
                    <a:pt x="2647" y="1229"/>
                  </a:lnTo>
                  <a:cubicBezTo>
                    <a:pt x="2599" y="1205"/>
                    <a:pt x="2542" y="1195"/>
                    <a:pt x="2482" y="1195"/>
                  </a:cubicBezTo>
                  <a:cubicBezTo>
                    <a:pt x="2386" y="1195"/>
                    <a:pt x="2284" y="1222"/>
                    <a:pt x="2206" y="1261"/>
                  </a:cubicBezTo>
                  <a:lnTo>
                    <a:pt x="1261" y="2206"/>
                  </a:lnTo>
                  <a:cubicBezTo>
                    <a:pt x="1135" y="2332"/>
                    <a:pt x="1135" y="2490"/>
                    <a:pt x="1230" y="2647"/>
                  </a:cubicBezTo>
                  <a:lnTo>
                    <a:pt x="1513" y="3151"/>
                  </a:lnTo>
                  <a:cubicBezTo>
                    <a:pt x="1198" y="3624"/>
                    <a:pt x="978" y="4191"/>
                    <a:pt x="883" y="4726"/>
                  </a:cubicBezTo>
                  <a:lnTo>
                    <a:pt x="284" y="4884"/>
                  </a:lnTo>
                  <a:cubicBezTo>
                    <a:pt x="127" y="4947"/>
                    <a:pt x="1" y="5041"/>
                    <a:pt x="1" y="5199"/>
                  </a:cubicBezTo>
                  <a:lnTo>
                    <a:pt x="1" y="6585"/>
                  </a:lnTo>
                  <a:cubicBezTo>
                    <a:pt x="1" y="6743"/>
                    <a:pt x="127" y="6869"/>
                    <a:pt x="284" y="6900"/>
                  </a:cubicBezTo>
                  <a:lnTo>
                    <a:pt x="883" y="7058"/>
                  </a:lnTo>
                  <a:cubicBezTo>
                    <a:pt x="946" y="7404"/>
                    <a:pt x="1072" y="7782"/>
                    <a:pt x="1230" y="8129"/>
                  </a:cubicBezTo>
                  <a:cubicBezTo>
                    <a:pt x="1504" y="7854"/>
                    <a:pt x="2843" y="6486"/>
                    <a:pt x="2841" y="6486"/>
                  </a:cubicBezTo>
                  <a:lnTo>
                    <a:pt x="2841" y="6486"/>
                  </a:lnTo>
                  <a:cubicBezTo>
                    <a:pt x="2841" y="6486"/>
                    <a:pt x="2839" y="6488"/>
                    <a:pt x="2836" y="6491"/>
                  </a:cubicBezTo>
                  <a:cubicBezTo>
                    <a:pt x="2836" y="6459"/>
                    <a:pt x="2805" y="6050"/>
                    <a:pt x="2805" y="5955"/>
                  </a:cubicBezTo>
                  <a:cubicBezTo>
                    <a:pt x="2773" y="4222"/>
                    <a:pt x="4191" y="2836"/>
                    <a:pt x="5861" y="2836"/>
                  </a:cubicBezTo>
                  <a:cubicBezTo>
                    <a:pt x="7562" y="2836"/>
                    <a:pt x="8948" y="4222"/>
                    <a:pt x="8948" y="5924"/>
                  </a:cubicBezTo>
                  <a:cubicBezTo>
                    <a:pt x="8948" y="7499"/>
                    <a:pt x="7751" y="8822"/>
                    <a:pt x="6113" y="8948"/>
                  </a:cubicBezTo>
                  <a:cubicBezTo>
                    <a:pt x="6066" y="8948"/>
                    <a:pt x="5963" y="8956"/>
                    <a:pt x="5821" y="8956"/>
                  </a:cubicBezTo>
                  <a:cubicBezTo>
                    <a:pt x="5680" y="8956"/>
                    <a:pt x="5499" y="8948"/>
                    <a:pt x="5294" y="8917"/>
                  </a:cubicBezTo>
                  <a:lnTo>
                    <a:pt x="3655" y="10523"/>
                  </a:lnTo>
                  <a:cubicBezTo>
                    <a:pt x="4034" y="10681"/>
                    <a:pt x="4349" y="10807"/>
                    <a:pt x="4727" y="10870"/>
                  </a:cubicBezTo>
                  <a:lnTo>
                    <a:pt x="4884" y="11468"/>
                  </a:lnTo>
                  <a:cubicBezTo>
                    <a:pt x="4916" y="11626"/>
                    <a:pt x="5042" y="11752"/>
                    <a:pt x="5199" y="11752"/>
                  </a:cubicBezTo>
                  <a:lnTo>
                    <a:pt x="6585" y="11752"/>
                  </a:lnTo>
                  <a:cubicBezTo>
                    <a:pt x="6743" y="11752"/>
                    <a:pt x="6869" y="11626"/>
                    <a:pt x="6901" y="11468"/>
                  </a:cubicBezTo>
                  <a:lnTo>
                    <a:pt x="7058" y="10870"/>
                  </a:lnTo>
                  <a:cubicBezTo>
                    <a:pt x="7594" y="10775"/>
                    <a:pt x="8129" y="10523"/>
                    <a:pt x="8633" y="10240"/>
                  </a:cubicBezTo>
                  <a:lnTo>
                    <a:pt x="9137" y="10523"/>
                  </a:lnTo>
                  <a:cubicBezTo>
                    <a:pt x="9185" y="10547"/>
                    <a:pt x="9243" y="10558"/>
                    <a:pt x="9302" y="10558"/>
                  </a:cubicBezTo>
                  <a:cubicBezTo>
                    <a:pt x="9399" y="10558"/>
                    <a:pt x="9501" y="10531"/>
                    <a:pt x="9578" y="10492"/>
                  </a:cubicBezTo>
                  <a:lnTo>
                    <a:pt x="10524" y="9547"/>
                  </a:lnTo>
                  <a:cubicBezTo>
                    <a:pt x="10650" y="9421"/>
                    <a:pt x="10650" y="9263"/>
                    <a:pt x="10555" y="9106"/>
                  </a:cubicBezTo>
                  <a:lnTo>
                    <a:pt x="10303" y="8601"/>
                  </a:lnTo>
                  <a:cubicBezTo>
                    <a:pt x="10618" y="8129"/>
                    <a:pt x="10807" y="7562"/>
                    <a:pt x="10933" y="7026"/>
                  </a:cubicBezTo>
                  <a:lnTo>
                    <a:pt x="11500" y="6869"/>
                  </a:lnTo>
                  <a:cubicBezTo>
                    <a:pt x="11658" y="6806"/>
                    <a:pt x="11784" y="6711"/>
                    <a:pt x="11784" y="6554"/>
                  </a:cubicBezTo>
                  <a:lnTo>
                    <a:pt x="11784" y="5167"/>
                  </a:lnTo>
                  <a:cubicBezTo>
                    <a:pt x="11752" y="5041"/>
                    <a:pt x="11658" y="4915"/>
                    <a:pt x="11500" y="4884"/>
                  </a:cubicBezTo>
                  <a:lnTo>
                    <a:pt x="10902" y="4726"/>
                  </a:lnTo>
                  <a:cubicBezTo>
                    <a:pt x="10807" y="4191"/>
                    <a:pt x="10555" y="3687"/>
                    <a:pt x="10272" y="3151"/>
                  </a:cubicBezTo>
                  <a:lnTo>
                    <a:pt x="10555" y="2647"/>
                  </a:lnTo>
                  <a:cubicBezTo>
                    <a:pt x="10650" y="2521"/>
                    <a:pt x="10587" y="2332"/>
                    <a:pt x="10524" y="2206"/>
                  </a:cubicBezTo>
                  <a:lnTo>
                    <a:pt x="9578" y="1261"/>
                  </a:lnTo>
                  <a:cubicBezTo>
                    <a:pt x="9509" y="1209"/>
                    <a:pt x="9430" y="1185"/>
                    <a:pt x="9347" y="1185"/>
                  </a:cubicBezTo>
                  <a:cubicBezTo>
                    <a:pt x="9279" y="1185"/>
                    <a:pt x="9208" y="1201"/>
                    <a:pt x="9137" y="1229"/>
                  </a:cubicBezTo>
                  <a:lnTo>
                    <a:pt x="8633" y="1513"/>
                  </a:lnTo>
                  <a:cubicBezTo>
                    <a:pt x="8161" y="1198"/>
                    <a:pt x="7594" y="977"/>
                    <a:pt x="7058" y="883"/>
                  </a:cubicBezTo>
                  <a:lnTo>
                    <a:pt x="6901" y="284"/>
                  </a:lnTo>
                  <a:cubicBezTo>
                    <a:pt x="6869" y="127"/>
                    <a:pt x="6743" y="1"/>
                    <a:pt x="6585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BC955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3604e88bc46_1_25"/>
            <p:cNvSpPr/>
            <p:nvPr/>
          </p:nvSpPr>
          <p:spPr>
            <a:xfrm>
              <a:off x="-31455100" y="3997350"/>
              <a:ext cx="215050" cy="205025"/>
            </a:xfrm>
            <a:custGeom>
              <a:avLst/>
              <a:gdLst/>
              <a:ahLst/>
              <a:cxnLst/>
              <a:rect l="l" t="t" r="r" b="b"/>
              <a:pathLst>
                <a:path w="8602" h="8201" extrusionOk="0">
                  <a:moveTo>
                    <a:pt x="5939" y="0"/>
                  </a:moveTo>
                  <a:cubicBezTo>
                    <a:pt x="4729" y="0"/>
                    <a:pt x="3750" y="854"/>
                    <a:pt x="3561" y="1963"/>
                  </a:cubicBezTo>
                  <a:cubicBezTo>
                    <a:pt x="3466" y="2404"/>
                    <a:pt x="3498" y="2813"/>
                    <a:pt x="3624" y="3223"/>
                  </a:cubicBezTo>
                  <a:lnTo>
                    <a:pt x="410" y="6468"/>
                  </a:lnTo>
                  <a:cubicBezTo>
                    <a:pt x="1" y="6846"/>
                    <a:pt x="1" y="7507"/>
                    <a:pt x="410" y="7917"/>
                  </a:cubicBezTo>
                  <a:cubicBezTo>
                    <a:pt x="600" y="8106"/>
                    <a:pt x="852" y="8200"/>
                    <a:pt x="1111" y="8200"/>
                  </a:cubicBezTo>
                  <a:cubicBezTo>
                    <a:pt x="1371" y="8200"/>
                    <a:pt x="1639" y="8106"/>
                    <a:pt x="1860" y="7917"/>
                  </a:cubicBezTo>
                  <a:lnTo>
                    <a:pt x="5136" y="4640"/>
                  </a:lnTo>
                  <a:cubicBezTo>
                    <a:pt x="5388" y="4735"/>
                    <a:pt x="5664" y="4782"/>
                    <a:pt x="5947" y="4782"/>
                  </a:cubicBezTo>
                  <a:cubicBezTo>
                    <a:pt x="6231" y="4782"/>
                    <a:pt x="6522" y="4735"/>
                    <a:pt x="6806" y="4640"/>
                  </a:cubicBezTo>
                  <a:cubicBezTo>
                    <a:pt x="7846" y="4294"/>
                    <a:pt x="8602" y="3065"/>
                    <a:pt x="8224" y="1773"/>
                  </a:cubicBezTo>
                  <a:cubicBezTo>
                    <a:pt x="8192" y="1647"/>
                    <a:pt x="8129" y="1553"/>
                    <a:pt x="8003" y="1521"/>
                  </a:cubicBezTo>
                  <a:cubicBezTo>
                    <a:pt x="7972" y="1514"/>
                    <a:pt x="7942" y="1510"/>
                    <a:pt x="7914" y="1510"/>
                  </a:cubicBezTo>
                  <a:cubicBezTo>
                    <a:pt x="7830" y="1510"/>
                    <a:pt x="7759" y="1545"/>
                    <a:pt x="7688" y="1616"/>
                  </a:cubicBezTo>
                  <a:lnTo>
                    <a:pt x="6901" y="2404"/>
                  </a:lnTo>
                  <a:cubicBezTo>
                    <a:pt x="6759" y="2530"/>
                    <a:pt x="6578" y="2593"/>
                    <a:pt x="6400" y="2593"/>
                  </a:cubicBezTo>
                  <a:cubicBezTo>
                    <a:pt x="6223" y="2593"/>
                    <a:pt x="6050" y="2530"/>
                    <a:pt x="5924" y="2404"/>
                  </a:cubicBezTo>
                  <a:cubicBezTo>
                    <a:pt x="5640" y="2120"/>
                    <a:pt x="5640" y="1679"/>
                    <a:pt x="5924" y="1395"/>
                  </a:cubicBezTo>
                  <a:lnTo>
                    <a:pt x="6711" y="608"/>
                  </a:lnTo>
                  <a:cubicBezTo>
                    <a:pt x="6774" y="545"/>
                    <a:pt x="6806" y="419"/>
                    <a:pt x="6774" y="293"/>
                  </a:cubicBezTo>
                  <a:cubicBezTo>
                    <a:pt x="6743" y="198"/>
                    <a:pt x="6648" y="104"/>
                    <a:pt x="6554" y="72"/>
                  </a:cubicBezTo>
                  <a:cubicBezTo>
                    <a:pt x="6344" y="23"/>
                    <a:pt x="6139" y="0"/>
                    <a:pt x="5939" y="0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BC955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7" name="Google Shape;557;g3604e88bc46_1_25"/>
          <p:cNvGrpSpPr/>
          <p:nvPr/>
        </p:nvGrpSpPr>
        <p:grpSpPr>
          <a:xfrm>
            <a:off x="4285806" y="5940179"/>
            <a:ext cx="732164" cy="1123737"/>
            <a:chOff x="2150494" y="4401379"/>
            <a:chExt cx="732164" cy="1123737"/>
          </a:xfrm>
        </p:grpSpPr>
        <p:sp>
          <p:nvSpPr>
            <p:cNvPr id="558" name="Google Shape;558;g3604e88bc46_1_25"/>
            <p:cNvSpPr/>
            <p:nvPr/>
          </p:nvSpPr>
          <p:spPr>
            <a:xfrm>
              <a:off x="2599527" y="4728455"/>
              <a:ext cx="28273" cy="27791"/>
            </a:xfrm>
            <a:custGeom>
              <a:avLst/>
              <a:gdLst/>
              <a:ahLst/>
              <a:cxnLst/>
              <a:rect l="l" t="t" r="r" b="b"/>
              <a:pathLst>
                <a:path w="28273" h="27791" extrusionOk="0">
                  <a:moveTo>
                    <a:pt x="16669" y="27637"/>
                  </a:moveTo>
                  <a:cubicBezTo>
                    <a:pt x="23246" y="26435"/>
                    <a:pt x="29335" y="19706"/>
                    <a:pt x="28117" y="11535"/>
                  </a:cubicBezTo>
                  <a:cubicBezTo>
                    <a:pt x="27386" y="7210"/>
                    <a:pt x="24951" y="4566"/>
                    <a:pt x="22758" y="2884"/>
                  </a:cubicBezTo>
                  <a:cubicBezTo>
                    <a:pt x="20323" y="961"/>
                    <a:pt x="17156" y="0"/>
                    <a:pt x="13990" y="0"/>
                  </a:cubicBezTo>
                  <a:cubicBezTo>
                    <a:pt x="13259" y="0"/>
                    <a:pt x="12529" y="0"/>
                    <a:pt x="11798" y="240"/>
                  </a:cubicBezTo>
                  <a:cubicBezTo>
                    <a:pt x="8632" y="721"/>
                    <a:pt x="5465" y="2884"/>
                    <a:pt x="3029" y="6248"/>
                  </a:cubicBezTo>
                  <a:cubicBezTo>
                    <a:pt x="837" y="9372"/>
                    <a:pt x="-381" y="13218"/>
                    <a:pt x="107" y="16342"/>
                  </a:cubicBezTo>
                  <a:cubicBezTo>
                    <a:pt x="1568" y="22830"/>
                    <a:pt x="8144" y="28838"/>
                    <a:pt x="16669" y="27637"/>
                  </a:cubicBezTo>
                  <a:close/>
                </a:path>
              </a:pathLst>
            </a:custGeom>
            <a:solidFill>
              <a:srgbClr val="BC95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g3604e88bc46_1_25"/>
            <p:cNvSpPr/>
            <p:nvPr/>
          </p:nvSpPr>
          <p:spPr>
            <a:xfrm>
              <a:off x="2346566" y="4959162"/>
              <a:ext cx="320048" cy="315780"/>
            </a:xfrm>
            <a:custGeom>
              <a:avLst/>
              <a:gdLst/>
              <a:ahLst/>
              <a:cxnLst/>
              <a:rect l="l" t="t" r="r" b="b"/>
              <a:pathLst>
                <a:path w="320048" h="315780" extrusionOk="0">
                  <a:moveTo>
                    <a:pt x="212635" y="8892"/>
                  </a:moveTo>
                  <a:cubicBezTo>
                    <a:pt x="196559" y="3124"/>
                    <a:pt x="178292" y="0"/>
                    <a:pt x="160024" y="0"/>
                  </a:cubicBezTo>
                  <a:cubicBezTo>
                    <a:pt x="71853" y="0"/>
                    <a:pt x="0" y="70894"/>
                    <a:pt x="0" y="157890"/>
                  </a:cubicBezTo>
                  <a:cubicBezTo>
                    <a:pt x="0" y="244886"/>
                    <a:pt x="71853" y="315781"/>
                    <a:pt x="160024" y="315781"/>
                  </a:cubicBezTo>
                  <a:cubicBezTo>
                    <a:pt x="202892" y="315781"/>
                    <a:pt x="243081" y="299439"/>
                    <a:pt x="273283" y="269639"/>
                  </a:cubicBezTo>
                  <a:cubicBezTo>
                    <a:pt x="302998" y="241762"/>
                    <a:pt x="320048" y="201629"/>
                    <a:pt x="320048" y="159573"/>
                  </a:cubicBezTo>
                  <a:cubicBezTo>
                    <a:pt x="320048" y="152603"/>
                    <a:pt x="316882" y="148518"/>
                    <a:pt x="310062" y="147557"/>
                  </a:cubicBezTo>
                  <a:lnTo>
                    <a:pt x="309088" y="147316"/>
                  </a:lnTo>
                  <a:cubicBezTo>
                    <a:pt x="256964" y="128091"/>
                    <a:pt x="221890" y="78825"/>
                    <a:pt x="221890" y="24513"/>
                  </a:cubicBezTo>
                  <a:lnTo>
                    <a:pt x="221890" y="23071"/>
                  </a:lnTo>
                  <a:cubicBezTo>
                    <a:pt x="221890" y="16582"/>
                    <a:pt x="218237" y="11055"/>
                    <a:pt x="212635" y="8892"/>
                  </a:cubicBezTo>
                  <a:close/>
                  <a:moveTo>
                    <a:pt x="287897" y="167263"/>
                  </a:moveTo>
                  <a:lnTo>
                    <a:pt x="291064" y="168705"/>
                  </a:lnTo>
                  <a:lnTo>
                    <a:pt x="290576" y="172310"/>
                  </a:lnTo>
                  <a:cubicBezTo>
                    <a:pt x="282295" y="237677"/>
                    <a:pt x="226031" y="286942"/>
                    <a:pt x="159781" y="286942"/>
                  </a:cubicBezTo>
                  <a:cubicBezTo>
                    <a:pt x="87684" y="286942"/>
                    <a:pt x="28985" y="229025"/>
                    <a:pt x="28985" y="157890"/>
                  </a:cubicBezTo>
                  <a:cubicBezTo>
                    <a:pt x="28985" y="86756"/>
                    <a:pt x="87684" y="28838"/>
                    <a:pt x="159781" y="28838"/>
                  </a:cubicBezTo>
                  <a:cubicBezTo>
                    <a:pt x="169523" y="28838"/>
                    <a:pt x="180727" y="28838"/>
                    <a:pt x="190957" y="32203"/>
                  </a:cubicBezTo>
                  <a:lnTo>
                    <a:pt x="194124" y="33164"/>
                  </a:lnTo>
                  <a:lnTo>
                    <a:pt x="194367" y="36288"/>
                  </a:lnTo>
                  <a:cubicBezTo>
                    <a:pt x="198751" y="93004"/>
                    <a:pt x="234799" y="143231"/>
                    <a:pt x="287897" y="167263"/>
                  </a:cubicBezTo>
                  <a:close/>
                </a:path>
              </a:pathLst>
            </a:custGeom>
            <a:solidFill>
              <a:srgbClr val="BC95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g3604e88bc46_1_25"/>
            <p:cNvSpPr/>
            <p:nvPr/>
          </p:nvSpPr>
          <p:spPr>
            <a:xfrm>
              <a:off x="2696573" y="4401379"/>
              <a:ext cx="186085" cy="183604"/>
            </a:xfrm>
            <a:custGeom>
              <a:avLst/>
              <a:gdLst/>
              <a:ahLst/>
              <a:cxnLst/>
              <a:rect l="l" t="t" r="r" b="b"/>
              <a:pathLst>
                <a:path w="186085" h="183604" extrusionOk="0">
                  <a:moveTo>
                    <a:pt x="93043" y="0"/>
                  </a:moveTo>
                  <a:cubicBezTo>
                    <a:pt x="41650" y="0"/>
                    <a:pt x="0" y="41095"/>
                    <a:pt x="0" y="91802"/>
                  </a:cubicBezTo>
                  <a:cubicBezTo>
                    <a:pt x="0" y="142510"/>
                    <a:pt x="41650" y="183605"/>
                    <a:pt x="93043" y="183605"/>
                  </a:cubicBezTo>
                  <a:cubicBezTo>
                    <a:pt x="144436" y="183605"/>
                    <a:pt x="186086" y="142510"/>
                    <a:pt x="186086" y="91802"/>
                  </a:cubicBezTo>
                  <a:cubicBezTo>
                    <a:pt x="186086" y="41095"/>
                    <a:pt x="144436" y="0"/>
                    <a:pt x="93043" y="0"/>
                  </a:cubicBezTo>
                  <a:close/>
                  <a:moveTo>
                    <a:pt x="93043" y="156448"/>
                  </a:moveTo>
                  <a:cubicBezTo>
                    <a:pt x="57726" y="156448"/>
                    <a:pt x="28985" y="128091"/>
                    <a:pt x="28985" y="93244"/>
                  </a:cubicBezTo>
                  <a:cubicBezTo>
                    <a:pt x="28985" y="58398"/>
                    <a:pt x="57726" y="30040"/>
                    <a:pt x="93043" y="30040"/>
                  </a:cubicBezTo>
                  <a:cubicBezTo>
                    <a:pt x="127630" y="30040"/>
                    <a:pt x="157101" y="58878"/>
                    <a:pt x="157101" y="93244"/>
                  </a:cubicBezTo>
                  <a:cubicBezTo>
                    <a:pt x="156858" y="128091"/>
                    <a:pt x="128360" y="156448"/>
                    <a:pt x="93043" y="156448"/>
                  </a:cubicBezTo>
                  <a:close/>
                </a:path>
              </a:pathLst>
            </a:custGeom>
            <a:solidFill>
              <a:srgbClr val="BC95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g3604e88bc46_1_25"/>
            <p:cNvSpPr/>
            <p:nvPr/>
          </p:nvSpPr>
          <p:spPr>
            <a:xfrm>
              <a:off x="2228192" y="4880818"/>
              <a:ext cx="556552" cy="490733"/>
            </a:xfrm>
            <a:custGeom>
              <a:avLst/>
              <a:gdLst/>
              <a:ahLst/>
              <a:cxnLst/>
              <a:rect l="l" t="t" r="r" b="b"/>
              <a:pathLst>
                <a:path w="556552" h="490733" extrusionOk="0">
                  <a:moveTo>
                    <a:pt x="15345" y="490734"/>
                  </a:moveTo>
                  <a:lnTo>
                    <a:pt x="541208" y="490734"/>
                  </a:lnTo>
                  <a:cubicBezTo>
                    <a:pt x="548028" y="490734"/>
                    <a:pt x="555335" y="483284"/>
                    <a:pt x="556552" y="474873"/>
                  </a:cubicBezTo>
                  <a:lnTo>
                    <a:pt x="556552" y="15140"/>
                  </a:lnTo>
                  <a:cubicBezTo>
                    <a:pt x="556552" y="6969"/>
                    <a:pt x="549489" y="0"/>
                    <a:pt x="541208" y="0"/>
                  </a:cubicBezTo>
                  <a:lnTo>
                    <a:pt x="15345" y="0"/>
                  </a:lnTo>
                  <a:cubicBezTo>
                    <a:pt x="7063" y="0"/>
                    <a:pt x="0" y="6969"/>
                    <a:pt x="0" y="15140"/>
                  </a:cubicBezTo>
                  <a:lnTo>
                    <a:pt x="0" y="475594"/>
                  </a:lnTo>
                  <a:cubicBezTo>
                    <a:pt x="0" y="483524"/>
                    <a:pt x="7307" y="490734"/>
                    <a:pt x="15345" y="490734"/>
                  </a:cubicBezTo>
                  <a:close/>
                  <a:moveTo>
                    <a:pt x="30690" y="30280"/>
                  </a:moveTo>
                  <a:lnTo>
                    <a:pt x="525863" y="30280"/>
                  </a:lnTo>
                  <a:lnTo>
                    <a:pt x="525863" y="461895"/>
                  </a:lnTo>
                  <a:lnTo>
                    <a:pt x="30690" y="461895"/>
                  </a:lnTo>
                  <a:lnTo>
                    <a:pt x="30690" y="30280"/>
                  </a:lnTo>
                  <a:close/>
                </a:path>
              </a:pathLst>
            </a:custGeom>
            <a:solidFill>
              <a:srgbClr val="BC95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g3604e88bc46_1_25"/>
            <p:cNvSpPr/>
            <p:nvPr/>
          </p:nvSpPr>
          <p:spPr>
            <a:xfrm>
              <a:off x="2677413" y="4728455"/>
              <a:ext cx="28084" cy="27791"/>
            </a:xfrm>
            <a:custGeom>
              <a:avLst/>
              <a:gdLst/>
              <a:ahLst/>
              <a:cxnLst/>
              <a:rect l="l" t="t" r="r" b="b"/>
              <a:pathLst>
                <a:path w="28084" h="27791" extrusionOk="0">
                  <a:moveTo>
                    <a:pt x="16481" y="27637"/>
                  </a:moveTo>
                  <a:cubicBezTo>
                    <a:pt x="23057" y="26435"/>
                    <a:pt x="29146" y="19706"/>
                    <a:pt x="27928" y="11535"/>
                  </a:cubicBezTo>
                  <a:cubicBezTo>
                    <a:pt x="27198" y="7210"/>
                    <a:pt x="24762" y="4566"/>
                    <a:pt x="22570" y="2884"/>
                  </a:cubicBezTo>
                  <a:cubicBezTo>
                    <a:pt x="20134" y="961"/>
                    <a:pt x="16968" y="0"/>
                    <a:pt x="13801" y="0"/>
                  </a:cubicBezTo>
                  <a:cubicBezTo>
                    <a:pt x="13071" y="0"/>
                    <a:pt x="12340" y="0"/>
                    <a:pt x="11609" y="240"/>
                  </a:cubicBezTo>
                  <a:cubicBezTo>
                    <a:pt x="4789" y="1442"/>
                    <a:pt x="-1056" y="9613"/>
                    <a:pt x="162" y="16101"/>
                  </a:cubicBezTo>
                  <a:cubicBezTo>
                    <a:pt x="1379" y="22830"/>
                    <a:pt x="7956" y="28838"/>
                    <a:pt x="16481" y="27637"/>
                  </a:cubicBezTo>
                  <a:close/>
                </a:path>
              </a:pathLst>
            </a:custGeom>
            <a:solidFill>
              <a:srgbClr val="BC95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g3604e88bc46_1_25"/>
            <p:cNvSpPr/>
            <p:nvPr/>
          </p:nvSpPr>
          <p:spPr>
            <a:xfrm>
              <a:off x="2754923" y="4728455"/>
              <a:ext cx="28273" cy="27791"/>
            </a:xfrm>
            <a:custGeom>
              <a:avLst/>
              <a:gdLst/>
              <a:ahLst/>
              <a:cxnLst/>
              <a:rect l="l" t="t" r="r" b="b"/>
              <a:pathLst>
                <a:path w="28273" h="27791" extrusionOk="0">
                  <a:moveTo>
                    <a:pt x="16669" y="27637"/>
                  </a:moveTo>
                  <a:cubicBezTo>
                    <a:pt x="23246" y="26435"/>
                    <a:pt x="29335" y="19706"/>
                    <a:pt x="28117" y="11535"/>
                  </a:cubicBezTo>
                  <a:cubicBezTo>
                    <a:pt x="27386" y="7210"/>
                    <a:pt x="24951" y="4566"/>
                    <a:pt x="22758" y="2884"/>
                  </a:cubicBezTo>
                  <a:cubicBezTo>
                    <a:pt x="20323" y="961"/>
                    <a:pt x="17156" y="0"/>
                    <a:pt x="13990" y="0"/>
                  </a:cubicBezTo>
                  <a:cubicBezTo>
                    <a:pt x="13259" y="0"/>
                    <a:pt x="12529" y="0"/>
                    <a:pt x="11798" y="240"/>
                  </a:cubicBezTo>
                  <a:cubicBezTo>
                    <a:pt x="8631" y="721"/>
                    <a:pt x="5465" y="2884"/>
                    <a:pt x="3029" y="6248"/>
                  </a:cubicBezTo>
                  <a:cubicBezTo>
                    <a:pt x="837" y="9372"/>
                    <a:pt x="-380" y="13218"/>
                    <a:pt x="107" y="16342"/>
                  </a:cubicBezTo>
                  <a:cubicBezTo>
                    <a:pt x="1568" y="22830"/>
                    <a:pt x="8144" y="28838"/>
                    <a:pt x="16669" y="27637"/>
                  </a:cubicBezTo>
                  <a:close/>
                </a:path>
              </a:pathLst>
            </a:custGeom>
            <a:solidFill>
              <a:srgbClr val="BC95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g3604e88bc46_1_25"/>
            <p:cNvSpPr/>
            <p:nvPr/>
          </p:nvSpPr>
          <p:spPr>
            <a:xfrm>
              <a:off x="2169249" y="4401379"/>
              <a:ext cx="108631" cy="106942"/>
            </a:xfrm>
            <a:custGeom>
              <a:avLst/>
              <a:gdLst/>
              <a:ahLst/>
              <a:cxnLst/>
              <a:rect l="l" t="t" r="r" b="b"/>
              <a:pathLst>
                <a:path w="108631" h="106942" extrusionOk="0">
                  <a:moveTo>
                    <a:pt x="54072" y="0"/>
                  </a:moveTo>
                  <a:cubicBezTo>
                    <a:pt x="24113" y="0"/>
                    <a:pt x="0" y="24032"/>
                    <a:pt x="0" y="53351"/>
                  </a:cubicBezTo>
                  <a:cubicBezTo>
                    <a:pt x="0" y="82910"/>
                    <a:pt x="24357" y="106942"/>
                    <a:pt x="54316" y="106942"/>
                  </a:cubicBezTo>
                  <a:cubicBezTo>
                    <a:pt x="84274" y="106942"/>
                    <a:pt x="108631" y="82910"/>
                    <a:pt x="108631" y="53351"/>
                  </a:cubicBezTo>
                  <a:cubicBezTo>
                    <a:pt x="108388" y="24032"/>
                    <a:pt x="84031" y="0"/>
                    <a:pt x="54072" y="0"/>
                  </a:cubicBezTo>
                  <a:close/>
                  <a:moveTo>
                    <a:pt x="54072" y="79786"/>
                  </a:moveTo>
                  <a:cubicBezTo>
                    <a:pt x="40432" y="79786"/>
                    <a:pt x="28985" y="68491"/>
                    <a:pt x="28985" y="55033"/>
                  </a:cubicBezTo>
                  <a:cubicBezTo>
                    <a:pt x="28985" y="41575"/>
                    <a:pt x="40432" y="30280"/>
                    <a:pt x="54072" y="30280"/>
                  </a:cubicBezTo>
                  <a:cubicBezTo>
                    <a:pt x="68443" y="30280"/>
                    <a:pt x="79160" y="40854"/>
                    <a:pt x="79160" y="55033"/>
                  </a:cubicBezTo>
                  <a:cubicBezTo>
                    <a:pt x="79160" y="68491"/>
                    <a:pt x="67712" y="79786"/>
                    <a:pt x="54072" y="79786"/>
                  </a:cubicBezTo>
                  <a:close/>
                </a:path>
              </a:pathLst>
            </a:custGeom>
            <a:solidFill>
              <a:srgbClr val="BC95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g3604e88bc46_1_25"/>
            <p:cNvSpPr/>
            <p:nvPr/>
          </p:nvSpPr>
          <p:spPr>
            <a:xfrm>
              <a:off x="2150494" y="4650591"/>
              <a:ext cx="711948" cy="874525"/>
            </a:xfrm>
            <a:custGeom>
              <a:avLst/>
              <a:gdLst/>
              <a:ahLst/>
              <a:cxnLst/>
              <a:rect l="l" t="t" r="r" b="b"/>
              <a:pathLst>
                <a:path w="711948" h="874525" extrusionOk="0">
                  <a:moveTo>
                    <a:pt x="0" y="859385"/>
                  </a:moveTo>
                  <a:cubicBezTo>
                    <a:pt x="0" y="867556"/>
                    <a:pt x="7063" y="874525"/>
                    <a:pt x="15345" y="874525"/>
                  </a:cubicBezTo>
                  <a:lnTo>
                    <a:pt x="696604" y="874525"/>
                  </a:lnTo>
                  <a:cubicBezTo>
                    <a:pt x="703424" y="874525"/>
                    <a:pt x="710731" y="867075"/>
                    <a:pt x="711949" y="858664"/>
                  </a:cubicBezTo>
                  <a:lnTo>
                    <a:pt x="711949" y="15140"/>
                  </a:lnTo>
                  <a:cubicBezTo>
                    <a:pt x="711949" y="6969"/>
                    <a:pt x="704885" y="0"/>
                    <a:pt x="696604" y="0"/>
                  </a:cubicBezTo>
                  <a:lnTo>
                    <a:pt x="15345" y="0"/>
                  </a:lnTo>
                  <a:cubicBezTo>
                    <a:pt x="7063" y="0"/>
                    <a:pt x="0" y="6969"/>
                    <a:pt x="0" y="15140"/>
                  </a:cubicBezTo>
                  <a:lnTo>
                    <a:pt x="0" y="859385"/>
                  </a:lnTo>
                  <a:close/>
                  <a:moveTo>
                    <a:pt x="30690" y="30280"/>
                  </a:moveTo>
                  <a:lnTo>
                    <a:pt x="681259" y="30280"/>
                  </a:lnTo>
                  <a:lnTo>
                    <a:pt x="681259" y="155007"/>
                  </a:lnTo>
                  <a:lnTo>
                    <a:pt x="302998" y="155007"/>
                  </a:lnTo>
                  <a:lnTo>
                    <a:pt x="302998" y="91802"/>
                  </a:lnTo>
                  <a:cubicBezTo>
                    <a:pt x="302998" y="83631"/>
                    <a:pt x="295935" y="76662"/>
                    <a:pt x="287654" y="76662"/>
                  </a:cubicBezTo>
                  <a:lnTo>
                    <a:pt x="30690" y="76662"/>
                  </a:lnTo>
                  <a:lnTo>
                    <a:pt x="30690" y="30280"/>
                  </a:lnTo>
                  <a:close/>
                  <a:moveTo>
                    <a:pt x="30690" y="106942"/>
                  </a:moveTo>
                  <a:lnTo>
                    <a:pt x="272309" y="106942"/>
                  </a:lnTo>
                  <a:lnTo>
                    <a:pt x="272309" y="155007"/>
                  </a:lnTo>
                  <a:lnTo>
                    <a:pt x="30690" y="155007"/>
                  </a:lnTo>
                  <a:lnTo>
                    <a:pt x="30690" y="106942"/>
                  </a:lnTo>
                  <a:close/>
                  <a:moveTo>
                    <a:pt x="30690" y="183845"/>
                  </a:moveTo>
                  <a:lnTo>
                    <a:pt x="681259" y="183845"/>
                  </a:lnTo>
                  <a:lnTo>
                    <a:pt x="681259" y="767342"/>
                  </a:lnTo>
                  <a:lnTo>
                    <a:pt x="30690" y="767342"/>
                  </a:lnTo>
                  <a:lnTo>
                    <a:pt x="30690" y="183845"/>
                  </a:lnTo>
                  <a:close/>
                  <a:moveTo>
                    <a:pt x="30690" y="797623"/>
                  </a:moveTo>
                  <a:lnTo>
                    <a:pt x="681259" y="797623"/>
                  </a:lnTo>
                  <a:lnTo>
                    <a:pt x="681259" y="845687"/>
                  </a:lnTo>
                  <a:lnTo>
                    <a:pt x="30690" y="845687"/>
                  </a:lnTo>
                  <a:lnTo>
                    <a:pt x="30690" y="797623"/>
                  </a:lnTo>
                  <a:close/>
                </a:path>
              </a:pathLst>
            </a:custGeom>
            <a:solidFill>
              <a:srgbClr val="BC95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g3604e88bc46_1_25"/>
            <p:cNvSpPr/>
            <p:nvPr/>
          </p:nvSpPr>
          <p:spPr>
            <a:xfrm>
              <a:off x="2346323" y="4498468"/>
              <a:ext cx="127142" cy="125447"/>
            </a:xfrm>
            <a:custGeom>
              <a:avLst/>
              <a:gdLst/>
              <a:ahLst/>
              <a:cxnLst/>
              <a:rect l="l" t="t" r="r" b="b"/>
              <a:pathLst>
                <a:path w="127142" h="125447" extrusionOk="0">
                  <a:moveTo>
                    <a:pt x="63571" y="0"/>
                  </a:moveTo>
                  <a:cubicBezTo>
                    <a:pt x="29228" y="0"/>
                    <a:pt x="0" y="28838"/>
                    <a:pt x="0" y="62724"/>
                  </a:cubicBezTo>
                  <a:cubicBezTo>
                    <a:pt x="0" y="96609"/>
                    <a:pt x="28985" y="125447"/>
                    <a:pt x="63571" y="125447"/>
                  </a:cubicBezTo>
                  <a:cubicBezTo>
                    <a:pt x="98158" y="125447"/>
                    <a:pt x="127142" y="96609"/>
                    <a:pt x="127142" y="62724"/>
                  </a:cubicBezTo>
                  <a:cubicBezTo>
                    <a:pt x="127142" y="28838"/>
                    <a:pt x="98158" y="0"/>
                    <a:pt x="63571" y="0"/>
                  </a:cubicBezTo>
                  <a:close/>
                  <a:moveTo>
                    <a:pt x="63571" y="98051"/>
                  </a:moveTo>
                  <a:cubicBezTo>
                    <a:pt x="44573" y="98051"/>
                    <a:pt x="29228" y="82910"/>
                    <a:pt x="29228" y="64165"/>
                  </a:cubicBezTo>
                  <a:cubicBezTo>
                    <a:pt x="29228" y="45421"/>
                    <a:pt x="44573" y="30280"/>
                    <a:pt x="63571" y="30280"/>
                  </a:cubicBezTo>
                  <a:cubicBezTo>
                    <a:pt x="83544" y="30280"/>
                    <a:pt x="97914" y="44459"/>
                    <a:pt x="97914" y="64165"/>
                  </a:cubicBezTo>
                  <a:cubicBezTo>
                    <a:pt x="98158" y="83872"/>
                    <a:pt x="83544" y="98051"/>
                    <a:pt x="63571" y="98051"/>
                  </a:cubicBezTo>
                  <a:close/>
                </a:path>
              </a:pathLst>
            </a:custGeom>
            <a:solidFill>
              <a:srgbClr val="BC95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67" name="Google Shape;567;g3604e88bc46_1_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174" y="2397450"/>
            <a:ext cx="2537400" cy="10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3604e88bc46_1_25"/>
          <p:cNvSpPr txBox="1"/>
          <p:nvPr/>
        </p:nvSpPr>
        <p:spPr>
          <a:xfrm>
            <a:off x="950000" y="2567350"/>
            <a:ext cx="18600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Black"/>
              <a:buNone/>
              <a:tabLst/>
              <a:defRPr/>
            </a:pPr>
            <a:r>
              <a:rPr kumimoji="0" lang="e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7,395.8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Black"/>
              <a:buNone/>
              <a:tabLst/>
              <a:defRPr/>
            </a:pPr>
            <a:r>
              <a:rPr kumimoji="0" lang="e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mdp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69" name="Google Shape;569;g3604e88bc46_1_25"/>
          <p:cNvSpPr txBox="1"/>
          <p:nvPr/>
        </p:nvSpPr>
        <p:spPr>
          <a:xfrm>
            <a:off x="397125" y="1409775"/>
            <a:ext cx="2537400" cy="11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400" tIns="75675" rIns="151400" bIns="7567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Monto total </a:t>
            </a:r>
            <a:b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</a:br>
            <a: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de Inversión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2020 - 2024 </a:t>
            </a:r>
            <a:endParaRPr kumimoji="0" sz="3100" b="0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0" name="Google Shape;570;g3604e88bc46_1_25"/>
          <p:cNvSpPr/>
          <p:nvPr/>
        </p:nvSpPr>
        <p:spPr>
          <a:xfrm>
            <a:off x="584649" y="7189276"/>
            <a:ext cx="733085" cy="970803"/>
          </a:xfrm>
          <a:custGeom>
            <a:avLst/>
            <a:gdLst/>
            <a:ahLst/>
            <a:cxnLst/>
            <a:rect l="l" t="t" r="r" b="b"/>
            <a:pathLst>
              <a:path w="958281" h="1269024" extrusionOk="0">
                <a:moveTo>
                  <a:pt x="383778" y="1269025"/>
                </a:moveTo>
                <a:lnTo>
                  <a:pt x="351861" y="1263700"/>
                </a:lnTo>
                <a:cubicBezTo>
                  <a:pt x="147060" y="1237075"/>
                  <a:pt x="-12524" y="1016089"/>
                  <a:pt x="775" y="779129"/>
                </a:cubicBezTo>
                <a:cubicBezTo>
                  <a:pt x="775" y="630031"/>
                  <a:pt x="72588" y="515544"/>
                  <a:pt x="224193" y="419695"/>
                </a:cubicBezTo>
                <a:cubicBezTo>
                  <a:pt x="322603" y="358458"/>
                  <a:pt x="365159" y="278584"/>
                  <a:pt x="357180" y="174747"/>
                </a:cubicBezTo>
                <a:cubicBezTo>
                  <a:pt x="351861" y="121498"/>
                  <a:pt x="325263" y="78898"/>
                  <a:pt x="290687" y="28311"/>
                </a:cubicBezTo>
                <a:lnTo>
                  <a:pt x="274728" y="4349"/>
                </a:lnTo>
                <a:lnTo>
                  <a:pt x="301326" y="1686"/>
                </a:lnTo>
                <a:cubicBezTo>
                  <a:pt x="407715" y="-11626"/>
                  <a:pt x="535383" y="54936"/>
                  <a:pt x="607196" y="164097"/>
                </a:cubicBezTo>
                <a:cubicBezTo>
                  <a:pt x="673689" y="265272"/>
                  <a:pt x="689648" y="377095"/>
                  <a:pt x="692308" y="475607"/>
                </a:cubicBezTo>
                <a:cubicBezTo>
                  <a:pt x="748162" y="438332"/>
                  <a:pt x="772100" y="385083"/>
                  <a:pt x="788058" y="310534"/>
                </a:cubicBezTo>
                <a:lnTo>
                  <a:pt x="798697" y="265272"/>
                </a:lnTo>
                <a:lnTo>
                  <a:pt x="819975" y="305209"/>
                </a:lnTo>
                <a:cubicBezTo>
                  <a:pt x="857212" y="374433"/>
                  <a:pt x="886469" y="440995"/>
                  <a:pt x="907747" y="510219"/>
                </a:cubicBezTo>
                <a:cubicBezTo>
                  <a:pt x="929025" y="579444"/>
                  <a:pt x="942323" y="648668"/>
                  <a:pt x="950303" y="720555"/>
                </a:cubicBezTo>
                <a:cubicBezTo>
                  <a:pt x="955622" y="749842"/>
                  <a:pt x="958282" y="779129"/>
                  <a:pt x="958282" y="811079"/>
                </a:cubicBezTo>
                <a:cubicBezTo>
                  <a:pt x="952962" y="952190"/>
                  <a:pt x="870510" y="1106614"/>
                  <a:pt x="750822" y="1191813"/>
                </a:cubicBezTo>
                <a:cubicBezTo>
                  <a:pt x="702947" y="1226425"/>
                  <a:pt x="655071" y="1247725"/>
                  <a:pt x="607196" y="1253050"/>
                </a:cubicBezTo>
                <a:lnTo>
                  <a:pt x="575279" y="1258375"/>
                </a:lnTo>
                <a:lnTo>
                  <a:pt x="588578" y="1229088"/>
                </a:lnTo>
                <a:cubicBezTo>
                  <a:pt x="655071" y="1085314"/>
                  <a:pt x="647092" y="946865"/>
                  <a:pt x="559320" y="805754"/>
                </a:cubicBezTo>
                <a:cubicBezTo>
                  <a:pt x="546022" y="792442"/>
                  <a:pt x="535383" y="781792"/>
                  <a:pt x="527404" y="771142"/>
                </a:cubicBezTo>
                <a:cubicBezTo>
                  <a:pt x="516765" y="760492"/>
                  <a:pt x="508785" y="752505"/>
                  <a:pt x="500806" y="747179"/>
                </a:cubicBezTo>
                <a:cubicBezTo>
                  <a:pt x="482188" y="731205"/>
                  <a:pt x="474209" y="731205"/>
                  <a:pt x="466229" y="733867"/>
                </a:cubicBezTo>
                <a:cubicBezTo>
                  <a:pt x="447611" y="739192"/>
                  <a:pt x="423674" y="771142"/>
                  <a:pt x="383778" y="816404"/>
                </a:cubicBezTo>
                <a:cubicBezTo>
                  <a:pt x="343881" y="882966"/>
                  <a:pt x="322603" y="952190"/>
                  <a:pt x="317284" y="1021414"/>
                </a:cubicBezTo>
                <a:cubicBezTo>
                  <a:pt x="314624" y="1090639"/>
                  <a:pt x="330583" y="1162526"/>
                  <a:pt x="365159" y="1234412"/>
                </a:cubicBezTo>
                <a:lnTo>
                  <a:pt x="383778" y="1269025"/>
                </a:lnTo>
                <a:close/>
                <a:moveTo>
                  <a:pt x="335902" y="36299"/>
                </a:moveTo>
                <a:cubicBezTo>
                  <a:pt x="365159" y="78898"/>
                  <a:pt x="386437" y="121498"/>
                  <a:pt x="391757" y="172085"/>
                </a:cubicBezTo>
                <a:cubicBezTo>
                  <a:pt x="402396" y="286571"/>
                  <a:pt x="351861" y="379758"/>
                  <a:pt x="242811" y="448982"/>
                </a:cubicBezTo>
                <a:cubicBezTo>
                  <a:pt x="101845" y="539507"/>
                  <a:pt x="35351" y="643343"/>
                  <a:pt x="35351" y="781792"/>
                </a:cubicBezTo>
                <a:cubicBezTo>
                  <a:pt x="24712" y="986802"/>
                  <a:pt x="152380" y="1181163"/>
                  <a:pt x="325263" y="1223763"/>
                </a:cubicBezTo>
                <a:cubicBezTo>
                  <a:pt x="296006" y="1157201"/>
                  <a:pt x="285367" y="1090639"/>
                  <a:pt x="288027" y="1024077"/>
                </a:cubicBezTo>
                <a:cubicBezTo>
                  <a:pt x="293346" y="949528"/>
                  <a:pt x="317284" y="874978"/>
                  <a:pt x="359840" y="803091"/>
                </a:cubicBezTo>
                <a:cubicBezTo>
                  <a:pt x="407715" y="747179"/>
                  <a:pt x="431653" y="715230"/>
                  <a:pt x="458250" y="707242"/>
                </a:cubicBezTo>
                <a:cubicBezTo>
                  <a:pt x="484848" y="699255"/>
                  <a:pt x="506126" y="712567"/>
                  <a:pt x="524744" y="728542"/>
                </a:cubicBezTo>
                <a:cubicBezTo>
                  <a:pt x="532723" y="733867"/>
                  <a:pt x="540702" y="741854"/>
                  <a:pt x="551341" y="755167"/>
                </a:cubicBezTo>
                <a:cubicBezTo>
                  <a:pt x="561980" y="765817"/>
                  <a:pt x="572619" y="776467"/>
                  <a:pt x="583258" y="789779"/>
                </a:cubicBezTo>
                <a:lnTo>
                  <a:pt x="585918" y="795104"/>
                </a:lnTo>
                <a:cubicBezTo>
                  <a:pt x="671030" y="936215"/>
                  <a:pt x="686988" y="1079989"/>
                  <a:pt x="631134" y="1223763"/>
                </a:cubicBezTo>
                <a:cubicBezTo>
                  <a:pt x="663050" y="1215775"/>
                  <a:pt x="697627" y="1197138"/>
                  <a:pt x="726884" y="1175838"/>
                </a:cubicBezTo>
                <a:cubicBezTo>
                  <a:pt x="835934" y="1095964"/>
                  <a:pt x="915726" y="952190"/>
                  <a:pt x="921045" y="821729"/>
                </a:cubicBezTo>
                <a:cubicBezTo>
                  <a:pt x="921045" y="792442"/>
                  <a:pt x="921045" y="765817"/>
                  <a:pt x="915726" y="739192"/>
                </a:cubicBezTo>
                <a:lnTo>
                  <a:pt x="915726" y="736530"/>
                </a:lnTo>
                <a:cubicBezTo>
                  <a:pt x="907747" y="664643"/>
                  <a:pt x="894448" y="598081"/>
                  <a:pt x="875830" y="531519"/>
                </a:cubicBezTo>
                <a:cubicBezTo>
                  <a:pt x="859871" y="478270"/>
                  <a:pt x="838593" y="425020"/>
                  <a:pt x="809336" y="371771"/>
                </a:cubicBezTo>
                <a:cubicBezTo>
                  <a:pt x="790718" y="435670"/>
                  <a:pt x="758801" y="494244"/>
                  <a:pt x="681669" y="528856"/>
                </a:cubicBezTo>
                <a:lnTo>
                  <a:pt x="657731" y="539507"/>
                </a:lnTo>
                <a:lnTo>
                  <a:pt x="657731" y="512882"/>
                </a:lnTo>
                <a:cubicBezTo>
                  <a:pt x="655071" y="411708"/>
                  <a:pt x="644432" y="294559"/>
                  <a:pt x="577939" y="190722"/>
                </a:cubicBezTo>
                <a:cubicBezTo>
                  <a:pt x="522084" y="97536"/>
                  <a:pt x="421014" y="38961"/>
                  <a:pt x="335902" y="36299"/>
                </a:cubicBezTo>
                <a:close/>
              </a:path>
            </a:pathLst>
          </a:custGeom>
          <a:solidFill>
            <a:srgbClr val="BC95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1" name="Google Shape;571;g3604e88bc46_1_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7201" y="8134860"/>
            <a:ext cx="2884034" cy="10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g3604e88bc46_1_25"/>
          <p:cNvSpPr txBox="1"/>
          <p:nvPr/>
        </p:nvSpPr>
        <p:spPr>
          <a:xfrm>
            <a:off x="4923625" y="8367375"/>
            <a:ext cx="1860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Black"/>
              <a:buNone/>
              <a:tabLst/>
              <a:defRPr/>
            </a:pPr>
            <a:r>
              <a:rPr kumimoji="0" lang="es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Black"/>
                <a:ea typeface="Noto Sans Black"/>
                <a:cs typeface="Noto Sans Black"/>
                <a:sym typeface="Noto Sans Black"/>
              </a:rPr>
              <a:t> </a:t>
            </a:r>
            <a:r>
              <a:rPr kumimoji="0" lang="es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9,879</a:t>
            </a:r>
            <a:r>
              <a:rPr kumimoji="0" lang="es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kumimoji="0" lang="es" sz="1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mdp</a:t>
            </a:r>
            <a:endParaRPr kumimoji="0" sz="100" b="0" i="0" u="none" strike="noStrike" kern="0" cap="none" spc="0" normalizeH="0" baseline="0" noProof="0">
              <a:ln>
                <a:noFill/>
              </a:ln>
              <a:solidFill>
                <a:srgbClr val="DDC9A3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73" name="Google Shape;573;g3604e88bc46_1_25"/>
          <p:cNvSpPr txBox="1"/>
          <p:nvPr/>
        </p:nvSpPr>
        <p:spPr>
          <a:xfrm>
            <a:off x="4632600" y="7238100"/>
            <a:ext cx="2118900" cy="1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400" tIns="75675" rIns="151400" bIns="7567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17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Monto de</a:t>
            </a:r>
            <a:endParaRPr kumimoji="0" sz="1700" b="1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17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Inversión</a:t>
            </a:r>
            <a:endParaRPr kumimoji="0" sz="1700" b="1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7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 </a:t>
            </a:r>
            <a:endParaRPr kumimoji="0" sz="2700" b="0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4" name="Google Shape;574;g3604e88bc46_1_25"/>
          <p:cNvPicPr preferRelativeResize="0"/>
          <p:nvPr/>
        </p:nvPicPr>
        <p:blipFill rotWithShape="1">
          <a:blip r:embed="rId5">
            <a:alphaModFix/>
          </a:blip>
          <a:srcRect l="25766"/>
          <a:stretch/>
        </p:blipFill>
        <p:spPr>
          <a:xfrm>
            <a:off x="3370875" y="1163300"/>
            <a:ext cx="4125000" cy="268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0" name="Google Shape;580;p26"/>
          <p:cNvGraphicFramePr/>
          <p:nvPr/>
        </p:nvGraphicFramePr>
        <p:xfrm>
          <a:off x="383483" y="3177439"/>
          <a:ext cx="6874200" cy="5990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</a:t>
                      </a:r>
                      <a:endParaRPr sz="11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Central de Mezclas </a:t>
                      </a:r>
                      <a:endParaRPr sz="11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Estado</a:t>
                      </a:r>
                      <a:endParaRPr sz="11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Monto mdp</a:t>
                      </a:r>
                      <a:endParaRPr sz="11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HES 14,  Veracruz*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Veracruz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$22.2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UMF 12, Caucel*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Yucatán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$34.5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HES 2 CMN, Cd. Obregón*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Sonora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$17.06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HO CMN Siglo XXI*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Ciudad de México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$16.1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UMF 1  Tapachula*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Chiapas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$21.2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UMAA 68,  Chihuahua*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Chihuahua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$19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2"/>
                            </a:ext>
                          </a:extLst>
                        </a:rPr>
                        <a:t>7</a:t>
                      </a:r>
                      <a:endParaRPr lang="es"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3"/>
                            </a:ext>
                          </a:extLst>
                        </a:rPr>
                        <a:t>UMAE 24 Monterrey*</a:t>
                      </a:r>
                      <a:endParaRPr lang="es-MX"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4"/>
                            </a:ext>
                          </a:extLst>
                        </a:rPr>
                        <a:t>Nuevo León</a:t>
                      </a:r>
                      <a:endParaRPr lang="es-MX"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5"/>
                            </a:ext>
                          </a:extLst>
                        </a:rPr>
                        <a:t>$0.82</a:t>
                      </a:r>
                      <a:endParaRPr lang="es"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UMAA 36 Tijuana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Baja California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67.4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2 Tuxtla Gutiérrez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Chiapas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59.1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HE 71 Torreón 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Coahuila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60.6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9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UMF 29 con UMAA Acapulco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Guerrero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54.1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CMNO Guadalajara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Jalisco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71.9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HGZ 14 Hermosillo 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Sonora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65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6 Ciudad Madero 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Tamaulipas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61.8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CMN La Raza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Ciudad de México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72.3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CMN HE Puebla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Puebla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60.9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8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17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UMF 48 Cd. Juárez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Chihuahua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$62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8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UMF 34 La Paz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BCS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64.8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8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El Bajío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Guanajuato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78.2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3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1 Culiacán 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Sinaloa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61.1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5505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* Conservación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581" name="Google Shape;581;p26"/>
          <p:cNvSpPr txBox="1"/>
          <p:nvPr/>
        </p:nvSpPr>
        <p:spPr>
          <a:xfrm>
            <a:off x="1494001" y="1616750"/>
            <a:ext cx="3183900" cy="11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400" tIns="75675" rIns="151400" bIns="756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20 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Centros de Mezcla </a:t>
            </a:r>
            <a:br>
              <a:rPr kumimoji="0" lang="es" sz="2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</a:b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en 15 entidades</a:t>
            </a:r>
            <a:endParaRPr kumimoji="0" sz="3100" b="0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26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583" name="Google Shape;583;p26"/>
          <p:cNvGraphicFramePr/>
          <p:nvPr/>
        </p:nvGraphicFramePr>
        <p:xfrm>
          <a:off x="287700" y="9538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6"/>
                            </a:ext>
                          </a:extLst>
                        </a:rPr>
                        <a:t>26. Inversión en infraestructura hospitalaria</a:t>
                      </a:r>
                      <a:endParaRPr lang="es-MX"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84" name="Google Shape;584;p26"/>
          <p:cNvGrpSpPr/>
          <p:nvPr/>
        </p:nvGrpSpPr>
        <p:grpSpPr>
          <a:xfrm>
            <a:off x="468762" y="1728105"/>
            <a:ext cx="1036229" cy="946113"/>
            <a:chOff x="6414287" y="2874806"/>
            <a:chExt cx="1036229" cy="946113"/>
          </a:xfrm>
        </p:grpSpPr>
        <p:sp>
          <p:nvSpPr>
            <p:cNvPr id="585" name="Google Shape;585;p26"/>
            <p:cNvSpPr/>
            <p:nvPr/>
          </p:nvSpPr>
          <p:spPr>
            <a:xfrm>
              <a:off x="6414287" y="3092275"/>
              <a:ext cx="384923" cy="728644"/>
            </a:xfrm>
            <a:custGeom>
              <a:avLst/>
              <a:gdLst/>
              <a:ahLst/>
              <a:cxnLst/>
              <a:rect l="l" t="t" r="r" b="b"/>
              <a:pathLst>
                <a:path w="384923" h="728644" extrusionOk="0">
                  <a:moveTo>
                    <a:pt x="192352" y="728644"/>
                  </a:moveTo>
                  <a:cubicBezTo>
                    <a:pt x="272994" y="728644"/>
                    <a:pt x="339976" y="662544"/>
                    <a:pt x="341738" y="581021"/>
                  </a:cubicBezTo>
                  <a:lnTo>
                    <a:pt x="341738" y="146302"/>
                  </a:lnTo>
                  <a:lnTo>
                    <a:pt x="365314" y="146302"/>
                  </a:lnTo>
                  <a:cubicBezTo>
                    <a:pt x="374127" y="146302"/>
                    <a:pt x="384923" y="137268"/>
                    <a:pt x="384923" y="126692"/>
                  </a:cubicBezTo>
                  <a:cubicBezTo>
                    <a:pt x="384923" y="116116"/>
                    <a:pt x="375670" y="107082"/>
                    <a:pt x="365314" y="107082"/>
                  </a:cubicBezTo>
                  <a:lnTo>
                    <a:pt x="341738" y="107082"/>
                  </a:lnTo>
                  <a:lnTo>
                    <a:pt x="341738" y="19610"/>
                  </a:lnTo>
                  <a:cubicBezTo>
                    <a:pt x="341738" y="9034"/>
                    <a:pt x="332484" y="0"/>
                    <a:pt x="322129" y="0"/>
                  </a:cubicBezTo>
                  <a:lnTo>
                    <a:pt x="62795" y="0"/>
                  </a:lnTo>
                  <a:cubicBezTo>
                    <a:pt x="52220" y="0"/>
                    <a:pt x="43186" y="9254"/>
                    <a:pt x="43186" y="19610"/>
                  </a:cubicBezTo>
                  <a:lnTo>
                    <a:pt x="43186" y="107082"/>
                  </a:lnTo>
                  <a:lnTo>
                    <a:pt x="19610" y="107082"/>
                  </a:lnTo>
                  <a:cubicBezTo>
                    <a:pt x="9034" y="107082"/>
                    <a:pt x="0" y="116336"/>
                    <a:pt x="0" y="126692"/>
                  </a:cubicBezTo>
                  <a:cubicBezTo>
                    <a:pt x="0" y="137268"/>
                    <a:pt x="9254" y="146302"/>
                    <a:pt x="19610" y="146302"/>
                  </a:cubicBezTo>
                  <a:lnTo>
                    <a:pt x="43186" y="146302"/>
                  </a:lnTo>
                  <a:lnTo>
                    <a:pt x="43186" y="579258"/>
                  </a:lnTo>
                  <a:cubicBezTo>
                    <a:pt x="43186" y="661662"/>
                    <a:pt x="110167" y="728644"/>
                    <a:pt x="192352" y="728644"/>
                  </a:cubicBezTo>
                  <a:close/>
                  <a:moveTo>
                    <a:pt x="80863" y="37677"/>
                  </a:moveTo>
                  <a:lnTo>
                    <a:pt x="304061" y="37677"/>
                  </a:lnTo>
                  <a:lnTo>
                    <a:pt x="304061" y="107082"/>
                  </a:lnTo>
                  <a:lnTo>
                    <a:pt x="80863" y="107082"/>
                  </a:lnTo>
                  <a:lnTo>
                    <a:pt x="80863" y="37677"/>
                  </a:lnTo>
                  <a:close/>
                  <a:moveTo>
                    <a:pt x="80863" y="535191"/>
                  </a:moveTo>
                  <a:lnTo>
                    <a:pt x="131319" y="535191"/>
                  </a:lnTo>
                  <a:cubicBezTo>
                    <a:pt x="141895" y="535191"/>
                    <a:pt x="150929" y="525937"/>
                    <a:pt x="150929" y="515581"/>
                  </a:cubicBezTo>
                  <a:cubicBezTo>
                    <a:pt x="150929" y="505005"/>
                    <a:pt x="141675" y="495972"/>
                    <a:pt x="131319" y="495972"/>
                  </a:cubicBezTo>
                  <a:lnTo>
                    <a:pt x="80863" y="495972"/>
                  </a:lnTo>
                  <a:lnTo>
                    <a:pt x="80863" y="449040"/>
                  </a:lnTo>
                  <a:lnTo>
                    <a:pt x="131319" y="449040"/>
                  </a:lnTo>
                  <a:cubicBezTo>
                    <a:pt x="141895" y="449040"/>
                    <a:pt x="150929" y="439786"/>
                    <a:pt x="150929" y="429431"/>
                  </a:cubicBezTo>
                  <a:cubicBezTo>
                    <a:pt x="150929" y="418855"/>
                    <a:pt x="141675" y="409821"/>
                    <a:pt x="131319" y="409821"/>
                  </a:cubicBezTo>
                  <a:lnTo>
                    <a:pt x="80863" y="409821"/>
                  </a:lnTo>
                  <a:lnTo>
                    <a:pt x="80863" y="362890"/>
                  </a:lnTo>
                  <a:lnTo>
                    <a:pt x="131319" y="362890"/>
                  </a:lnTo>
                  <a:cubicBezTo>
                    <a:pt x="141895" y="362890"/>
                    <a:pt x="150929" y="353636"/>
                    <a:pt x="150929" y="343280"/>
                  </a:cubicBezTo>
                  <a:cubicBezTo>
                    <a:pt x="150929" y="332924"/>
                    <a:pt x="141675" y="323670"/>
                    <a:pt x="131319" y="323670"/>
                  </a:cubicBezTo>
                  <a:lnTo>
                    <a:pt x="80863" y="323670"/>
                  </a:lnTo>
                  <a:lnTo>
                    <a:pt x="80863" y="276739"/>
                  </a:lnTo>
                  <a:lnTo>
                    <a:pt x="131319" y="276739"/>
                  </a:lnTo>
                  <a:cubicBezTo>
                    <a:pt x="141895" y="276739"/>
                    <a:pt x="150929" y="267485"/>
                    <a:pt x="150929" y="257130"/>
                  </a:cubicBezTo>
                  <a:cubicBezTo>
                    <a:pt x="150929" y="246554"/>
                    <a:pt x="141675" y="237520"/>
                    <a:pt x="131319" y="237520"/>
                  </a:cubicBezTo>
                  <a:lnTo>
                    <a:pt x="80863" y="237520"/>
                  </a:lnTo>
                  <a:lnTo>
                    <a:pt x="80863" y="147403"/>
                  </a:lnTo>
                  <a:lnTo>
                    <a:pt x="304061" y="147403"/>
                  </a:lnTo>
                  <a:lnTo>
                    <a:pt x="304061" y="582122"/>
                  </a:lnTo>
                  <a:cubicBezTo>
                    <a:pt x="304061" y="643595"/>
                    <a:pt x="254045" y="693611"/>
                    <a:pt x="192572" y="693611"/>
                  </a:cubicBezTo>
                  <a:cubicBezTo>
                    <a:pt x="131099" y="693611"/>
                    <a:pt x="80863" y="643595"/>
                    <a:pt x="80863" y="582122"/>
                  </a:cubicBezTo>
                  <a:lnTo>
                    <a:pt x="80863" y="535191"/>
                  </a:ln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26"/>
            <p:cNvSpPr/>
            <p:nvPr/>
          </p:nvSpPr>
          <p:spPr>
            <a:xfrm>
              <a:off x="6888886" y="2874806"/>
              <a:ext cx="561630" cy="946113"/>
            </a:xfrm>
            <a:custGeom>
              <a:avLst/>
              <a:gdLst/>
              <a:ahLst/>
              <a:cxnLst/>
              <a:rect l="l" t="t" r="r" b="b"/>
              <a:pathLst>
                <a:path w="561630" h="946113" extrusionOk="0">
                  <a:moveTo>
                    <a:pt x="440" y="667171"/>
                  </a:moveTo>
                  <a:cubicBezTo>
                    <a:pt x="440" y="820964"/>
                    <a:pt x="125591" y="946114"/>
                    <a:pt x="279383" y="946114"/>
                  </a:cubicBezTo>
                  <a:cubicBezTo>
                    <a:pt x="424143" y="946114"/>
                    <a:pt x="547970" y="831099"/>
                    <a:pt x="561631" y="684357"/>
                  </a:cubicBezTo>
                  <a:lnTo>
                    <a:pt x="561631" y="667391"/>
                  </a:lnTo>
                  <a:cubicBezTo>
                    <a:pt x="561631" y="566038"/>
                    <a:pt x="502581" y="469311"/>
                    <a:pt x="411143" y="421058"/>
                  </a:cubicBezTo>
                  <a:lnTo>
                    <a:pt x="409601" y="420176"/>
                  </a:lnTo>
                  <a:lnTo>
                    <a:pt x="409601" y="268587"/>
                  </a:lnTo>
                  <a:lnTo>
                    <a:pt x="412244" y="268587"/>
                  </a:lnTo>
                  <a:cubicBezTo>
                    <a:pt x="431414" y="267705"/>
                    <a:pt x="450583" y="259994"/>
                    <a:pt x="467548" y="246333"/>
                  </a:cubicBezTo>
                  <a:cubicBezTo>
                    <a:pt x="483412" y="233554"/>
                    <a:pt x="492446" y="214605"/>
                    <a:pt x="492446" y="194114"/>
                  </a:cubicBezTo>
                  <a:cubicBezTo>
                    <a:pt x="492446" y="152030"/>
                    <a:pt x="455650" y="119201"/>
                    <a:pt x="408720" y="119201"/>
                  </a:cubicBezTo>
                  <a:lnTo>
                    <a:pt x="404313" y="119201"/>
                  </a:lnTo>
                  <a:lnTo>
                    <a:pt x="404313" y="19610"/>
                  </a:lnTo>
                  <a:cubicBezTo>
                    <a:pt x="404313" y="9034"/>
                    <a:pt x="395058" y="0"/>
                    <a:pt x="384703" y="0"/>
                  </a:cubicBezTo>
                  <a:lnTo>
                    <a:pt x="168776" y="0"/>
                  </a:lnTo>
                  <a:cubicBezTo>
                    <a:pt x="158200" y="0"/>
                    <a:pt x="148946" y="9254"/>
                    <a:pt x="148946" y="19610"/>
                  </a:cubicBezTo>
                  <a:lnTo>
                    <a:pt x="148946" y="119421"/>
                  </a:lnTo>
                  <a:lnTo>
                    <a:pt x="146302" y="119421"/>
                  </a:lnTo>
                  <a:cubicBezTo>
                    <a:pt x="126252" y="120302"/>
                    <a:pt x="105540" y="128675"/>
                    <a:pt x="90998" y="141674"/>
                  </a:cubicBezTo>
                  <a:cubicBezTo>
                    <a:pt x="75134" y="154454"/>
                    <a:pt x="65880" y="173623"/>
                    <a:pt x="65880" y="193894"/>
                  </a:cubicBezTo>
                  <a:cubicBezTo>
                    <a:pt x="65880" y="235096"/>
                    <a:pt x="101794" y="267705"/>
                    <a:pt x="147844" y="268587"/>
                  </a:cubicBezTo>
                  <a:lnTo>
                    <a:pt x="150488" y="268587"/>
                  </a:lnTo>
                  <a:lnTo>
                    <a:pt x="150488" y="418414"/>
                  </a:lnTo>
                  <a:lnTo>
                    <a:pt x="148946" y="419295"/>
                  </a:lnTo>
                  <a:cubicBezTo>
                    <a:pt x="105320" y="442871"/>
                    <a:pt x="70948" y="473938"/>
                    <a:pt x="46270" y="511615"/>
                  </a:cubicBezTo>
                  <a:cubicBezTo>
                    <a:pt x="17847" y="555241"/>
                    <a:pt x="1763" y="606579"/>
                    <a:pt x="0" y="660561"/>
                  </a:cubicBezTo>
                  <a:lnTo>
                    <a:pt x="0" y="667171"/>
                  </a:lnTo>
                  <a:close/>
                  <a:moveTo>
                    <a:pt x="519767" y="688323"/>
                  </a:moveTo>
                  <a:cubicBezTo>
                    <a:pt x="509192" y="810829"/>
                    <a:pt x="404313" y="906674"/>
                    <a:pt x="281146" y="906674"/>
                  </a:cubicBezTo>
                  <a:cubicBezTo>
                    <a:pt x="160182" y="906674"/>
                    <a:pt x="57507" y="816116"/>
                    <a:pt x="42084" y="696035"/>
                  </a:cubicBezTo>
                  <a:lnTo>
                    <a:pt x="41643" y="691848"/>
                  </a:lnTo>
                  <a:lnTo>
                    <a:pt x="45830" y="693170"/>
                  </a:lnTo>
                  <a:cubicBezTo>
                    <a:pt x="80863" y="703967"/>
                    <a:pt x="118980" y="709475"/>
                    <a:pt x="158641" y="709475"/>
                  </a:cubicBezTo>
                  <a:cubicBezTo>
                    <a:pt x="207775" y="709475"/>
                    <a:pt x="261316" y="700001"/>
                    <a:pt x="321908" y="680170"/>
                  </a:cubicBezTo>
                  <a:cubicBezTo>
                    <a:pt x="447498" y="635883"/>
                    <a:pt x="501700" y="669595"/>
                    <a:pt x="519106" y="686120"/>
                  </a:cubicBezTo>
                  <a:lnTo>
                    <a:pt x="519988" y="687001"/>
                  </a:lnTo>
                  <a:lnTo>
                    <a:pt x="519767" y="688323"/>
                  </a:lnTo>
                  <a:close/>
                  <a:moveTo>
                    <a:pt x="188386" y="38999"/>
                  </a:moveTo>
                  <a:lnTo>
                    <a:pt x="366636" y="38999"/>
                  </a:lnTo>
                  <a:lnTo>
                    <a:pt x="366636" y="118980"/>
                  </a:lnTo>
                  <a:lnTo>
                    <a:pt x="188386" y="118980"/>
                  </a:lnTo>
                  <a:lnTo>
                    <a:pt x="188386" y="38999"/>
                  </a:lnTo>
                  <a:close/>
                  <a:moveTo>
                    <a:pt x="149827" y="235537"/>
                  </a:moveTo>
                  <a:cubicBezTo>
                    <a:pt x="124048" y="235537"/>
                    <a:pt x="103777" y="217249"/>
                    <a:pt x="103777" y="193894"/>
                  </a:cubicBezTo>
                  <a:cubicBezTo>
                    <a:pt x="103777" y="181555"/>
                    <a:pt x="107963" y="171860"/>
                    <a:pt x="116777" y="163928"/>
                  </a:cubicBezTo>
                  <a:cubicBezTo>
                    <a:pt x="127573" y="156217"/>
                    <a:pt x="138590" y="152251"/>
                    <a:pt x="149827" y="152251"/>
                  </a:cubicBezTo>
                  <a:lnTo>
                    <a:pt x="408940" y="152251"/>
                  </a:lnTo>
                  <a:cubicBezTo>
                    <a:pt x="434719" y="152251"/>
                    <a:pt x="454989" y="170539"/>
                    <a:pt x="454989" y="193894"/>
                  </a:cubicBezTo>
                  <a:cubicBezTo>
                    <a:pt x="454989" y="206232"/>
                    <a:pt x="450803" y="215927"/>
                    <a:pt x="441990" y="223859"/>
                  </a:cubicBezTo>
                  <a:cubicBezTo>
                    <a:pt x="431193" y="231571"/>
                    <a:pt x="420177" y="235537"/>
                    <a:pt x="408940" y="235537"/>
                  </a:cubicBezTo>
                  <a:lnTo>
                    <a:pt x="149827" y="235537"/>
                  </a:lnTo>
                  <a:close/>
                  <a:moveTo>
                    <a:pt x="40982" y="648002"/>
                  </a:moveTo>
                  <a:cubicBezTo>
                    <a:pt x="47372" y="560529"/>
                    <a:pt x="100472" y="483412"/>
                    <a:pt x="179572" y="447057"/>
                  </a:cubicBezTo>
                  <a:cubicBezTo>
                    <a:pt x="185962" y="443752"/>
                    <a:pt x="190148" y="437583"/>
                    <a:pt x="190148" y="430532"/>
                  </a:cubicBezTo>
                  <a:lnTo>
                    <a:pt x="190148" y="268587"/>
                  </a:lnTo>
                  <a:lnTo>
                    <a:pt x="370161" y="268587"/>
                  </a:lnTo>
                  <a:lnTo>
                    <a:pt x="370161" y="432075"/>
                  </a:lnTo>
                  <a:cubicBezTo>
                    <a:pt x="370161" y="438905"/>
                    <a:pt x="374127" y="445295"/>
                    <a:pt x="380737" y="448600"/>
                  </a:cubicBezTo>
                  <a:cubicBezTo>
                    <a:pt x="456532" y="482531"/>
                    <a:pt x="507870" y="552818"/>
                    <a:pt x="518445" y="636544"/>
                  </a:cubicBezTo>
                  <a:lnTo>
                    <a:pt x="519106" y="641833"/>
                  </a:lnTo>
                  <a:lnTo>
                    <a:pt x="514480" y="639409"/>
                  </a:lnTo>
                  <a:cubicBezTo>
                    <a:pt x="506988" y="635443"/>
                    <a:pt x="499938" y="632358"/>
                    <a:pt x="492667" y="629934"/>
                  </a:cubicBezTo>
                  <a:cubicBezTo>
                    <a:pt x="443973" y="613189"/>
                    <a:pt x="380076" y="618036"/>
                    <a:pt x="307806" y="643816"/>
                  </a:cubicBezTo>
                  <a:cubicBezTo>
                    <a:pt x="252502" y="663205"/>
                    <a:pt x="202707" y="669595"/>
                    <a:pt x="161064" y="669595"/>
                  </a:cubicBezTo>
                  <a:cubicBezTo>
                    <a:pt x="105099" y="669595"/>
                    <a:pt x="63677" y="657917"/>
                    <a:pt x="42745" y="650426"/>
                  </a:cubicBezTo>
                  <a:lnTo>
                    <a:pt x="40762" y="649765"/>
                  </a:lnTo>
                  <a:lnTo>
                    <a:pt x="40982" y="648002"/>
                  </a:ln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87" name="Google Shape;58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9264" y="1660399"/>
            <a:ext cx="2884034" cy="10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26"/>
          <p:cNvSpPr txBox="1"/>
          <p:nvPr/>
        </p:nvSpPr>
        <p:spPr>
          <a:xfrm>
            <a:off x="5155275" y="1785661"/>
            <a:ext cx="1980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Black"/>
              <a:buNone/>
              <a:tabLst/>
              <a:defRPr/>
            </a:pPr>
            <a:r>
              <a:rPr kumimoji="0" lang="es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669.98 </a:t>
            </a:r>
            <a:br>
              <a:rPr kumimoji="0" lang="es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kumimoji="0" lang="es" sz="1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mdp</a:t>
            </a:r>
            <a:endParaRPr kumimoji="0" sz="100" b="0" i="0" u="none" strike="noStrike" kern="0" cap="none" spc="0" normalizeH="0" baseline="0" noProof="0">
              <a:ln>
                <a:noFill/>
              </a:ln>
              <a:solidFill>
                <a:srgbClr val="DDC9A3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27"/>
          <p:cNvPicPr preferRelativeResize="0"/>
          <p:nvPr/>
        </p:nvPicPr>
        <p:blipFill rotWithShape="1">
          <a:blip r:embed="rId4">
            <a:alphaModFix/>
          </a:blip>
          <a:srcRect l="4177" t="10548" b="10548"/>
          <a:stretch/>
        </p:blipFill>
        <p:spPr>
          <a:xfrm>
            <a:off x="1912225" y="2738400"/>
            <a:ext cx="3994130" cy="2393224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7"/>
          <p:cNvSpPr txBox="1"/>
          <p:nvPr/>
        </p:nvSpPr>
        <p:spPr>
          <a:xfrm>
            <a:off x="0" y="77200"/>
            <a:ext cx="777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596" name="Google Shape;596;p27"/>
          <p:cNvGraphicFramePr/>
          <p:nvPr/>
        </p:nvGraphicFramePr>
        <p:xfrm>
          <a:off x="1820038" y="1170450"/>
          <a:ext cx="4800525" cy="1346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0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81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ATENCIÓN A POBLACIÓN INFANTIL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Guarderías 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1,271  unidades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185,163  Inscritos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Prestación directa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129 unidades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15,100 inscritos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Prestación indirecta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1,142 unidades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173,063 inscritos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instalada 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235,268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lt1"/>
                        </a:solidFill>
                        <a:latin typeface="Noto Sans Light"/>
                        <a:ea typeface="Noto Sans Light"/>
                        <a:cs typeface="Noto Sans Light"/>
                        <a:sym typeface="Noto Sans Ligh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 espera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34,959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Noto Sans Light"/>
                        <a:ea typeface="Noto Sans Light"/>
                        <a:cs typeface="Noto Sans Light"/>
                        <a:sym typeface="Noto Sans Ligh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97" name="Google Shape;597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238" y="1579484"/>
            <a:ext cx="978400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7"/>
          <p:cNvSpPr txBox="1"/>
          <p:nvPr/>
        </p:nvSpPr>
        <p:spPr>
          <a:xfrm>
            <a:off x="149073" y="4933050"/>
            <a:ext cx="35253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Fuente : Boletín de guarderías agosto de 2025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99" name="Google Shape;599;p27"/>
          <p:cNvGraphicFramePr/>
          <p:nvPr/>
        </p:nvGraphicFramePr>
        <p:xfrm>
          <a:off x="65325" y="683725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27. Guarderías y </a:t>
                      </a: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7"/>
                            </a:ext>
                          </a:extLst>
                        </a:rPr>
                        <a:t>CECI</a:t>
                      </a:r>
                      <a:endParaRPr lang="es-MX"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0" name="Google Shape;600;p27"/>
          <p:cNvSpPr txBox="1"/>
          <p:nvPr/>
        </p:nvSpPr>
        <p:spPr>
          <a:xfrm>
            <a:off x="709600" y="4189700"/>
            <a:ext cx="1122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Directa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503100" y="4207992"/>
            <a:ext cx="209700" cy="209700"/>
          </a:xfrm>
          <a:prstGeom prst="rect">
            <a:avLst/>
          </a:prstGeom>
          <a:solidFill>
            <a:srgbClr val="BC95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7"/>
          <p:cNvSpPr txBox="1"/>
          <p:nvPr/>
        </p:nvSpPr>
        <p:spPr>
          <a:xfrm>
            <a:off x="710686" y="4504327"/>
            <a:ext cx="1067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Indirecta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3" name="Google Shape;603;p27"/>
          <p:cNvSpPr/>
          <p:nvPr/>
        </p:nvSpPr>
        <p:spPr>
          <a:xfrm>
            <a:off x="503100" y="4522636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4" name="Google Shape;604;p27"/>
          <p:cNvGraphicFramePr/>
          <p:nvPr/>
        </p:nvGraphicFramePr>
        <p:xfrm>
          <a:off x="132950" y="5266350"/>
          <a:ext cx="7474250" cy="6400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Modelos: Centros de Educación y Cuidado Infantil (CECI)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5" name="Google Shape;605;p27"/>
          <p:cNvSpPr txBox="1"/>
          <p:nvPr/>
        </p:nvSpPr>
        <p:spPr>
          <a:xfrm>
            <a:off x="149073" y="9089675"/>
            <a:ext cx="35253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Fuente : SCI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6" name="Google Shape;606;p27"/>
          <p:cNvPicPr preferRelativeResize="0"/>
          <p:nvPr/>
        </p:nvPicPr>
        <p:blipFill rotWithShape="1">
          <a:blip r:embed="rId6">
            <a:alphaModFix/>
          </a:blip>
          <a:srcRect b="5567"/>
          <a:stretch/>
        </p:blipFill>
        <p:spPr>
          <a:xfrm>
            <a:off x="449249" y="6164539"/>
            <a:ext cx="2824681" cy="26670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7" name="Google Shape;607;p27"/>
          <p:cNvGraphicFramePr/>
          <p:nvPr/>
        </p:nvGraphicFramePr>
        <p:xfrm>
          <a:off x="3808275" y="6046500"/>
          <a:ext cx="3087250" cy="3273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8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110 niñas y niños​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720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55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Terreno: 1,500 m</a:t>
                      </a:r>
                      <a:r>
                        <a:rPr lang="es" sz="1000" u="none" strike="noStrike" cap="none" baseline="30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​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720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Construcción: 1,100 m</a:t>
                      </a:r>
                      <a:r>
                        <a:rPr lang="es" sz="1000" u="none" strike="noStrike" cap="none" baseline="30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​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720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8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 niñas y niños​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720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55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Terreno: 1,800 m</a:t>
                      </a:r>
                      <a:r>
                        <a:rPr lang="es" sz="1000" u="none" strike="noStrike" cap="none" baseline="30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​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720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Construcción: 1,300m</a:t>
                      </a:r>
                      <a:r>
                        <a:rPr lang="es" sz="1000" u="none" strike="noStrike" cap="none" baseline="30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​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720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8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200 niñas y niños​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720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Terreno: 2,200 m</a:t>
                      </a:r>
                      <a:r>
                        <a:rPr lang="es" sz="1000" u="none" strike="noStrike" cap="none" baseline="30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​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720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Construcción: 1,700 m</a:t>
                      </a:r>
                      <a:r>
                        <a:rPr lang="es" sz="1000" u="none" strike="noStrike" cap="none" baseline="30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​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720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8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250 niñas y niños​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720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55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Terreno: 2,500 m</a:t>
                      </a:r>
                      <a:r>
                        <a:rPr lang="es" sz="1000" u="none" strike="noStrike" cap="none" baseline="30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​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720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Construcción: 2,000 m</a:t>
                      </a:r>
                      <a:r>
                        <a:rPr lang="es" sz="1000" u="none" strike="noStrike" cap="none" baseline="30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​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720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3" name="Google Shape;613;g3604e88bc46_0_5"/>
          <p:cNvGraphicFramePr/>
          <p:nvPr/>
        </p:nvGraphicFramePr>
        <p:xfrm>
          <a:off x="65325" y="683725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28. </a:t>
                      </a: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8"/>
                            </a:ext>
                          </a:extLst>
                        </a:rPr>
                        <a:t>Centros de Educación y Cuidado Infantil (CECI) </a:t>
                      </a:r>
                      <a:endParaRPr lang="es-MX"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4" name="Google Shape;614;g3604e88bc46_0_5"/>
          <p:cNvSpPr txBox="1"/>
          <p:nvPr/>
        </p:nvSpPr>
        <p:spPr>
          <a:xfrm>
            <a:off x="149073" y="9114775"/>
            <a:ext cx="35253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s" sz="13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Fuente : SCI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15" name="Google Shape;615;g3604e88bc46_0_5"/>
          <p:cNvGraphicFramePr/>
          <p:nvPr/>
        </p:nvGraphicFramePr>
        <p:xfrm>
          <a:off x="1723200" y="1219200"/>
          <a:ext cx="5266800" cy="840818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1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" sz="19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</a:t>
                      </a:r>
                      <a:endParaRPr sz="19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270000" marB="91425" anchor="ctr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2025 </a:t>
                      </a:r>
                      <a:endParaRPr sz="13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2026</a:t>
                      </a:r>
                      <a:endParaRPr sz="13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Cd. Juárez, Chihuahua</a:t>
                      </a:r>
                      <a:endParaRPr sz="12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126000" anchor="ctr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 México Oriente</a:t>
                      </a:r>
                      <a:endParaRPr sz="12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126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Las Gladiolas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Ecatepec, Edomex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Municipio Libre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Chimalhuacán. Edomex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Paraje de Oriente 17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Chalco, Edomex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Senderos de San Isidro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Nezahualcóyotl, Edomex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Urbivilla del Cedro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Mexicali, Baja California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198000" marB="91425" anchor="ctr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Municipios con propuesta  de terreno</a:t>
                      </a:r>
                      <a:endParaRPr sz="12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 Finca los Jazmines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Yecapixtla. Mor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7. Hacienda de las Torres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54000" marR="91425" marT="198000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 Cancún, Q.Roo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 Cozumel, Q,Roo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8. Playa del Carmen, Q.Roo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 Texmelucan, Edomex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 San Pedro, N.L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11. Escobedo, N.L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12. Tuxtla Gtz, Chis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13. Tizayuca, Hgo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14. San Francisco del Rincón, Edomex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15. San Luis de la Paz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16. Valle de Santiago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17. Matamoros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162000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2027 al 2030</a:t>
                      </a:r>
                      <a:endParaRPr sz="15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234000" marB="162000" anchor="ctr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000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176 CECI en planeación (necesidades con base en población trabajadora sector manufactura, jornaleras y brechas)</a:t>
                      </a:r>
                      <a:endParaRPr sz="1200" b="1" u="none" strike="noStrike" cap="none" dirty="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E9E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616" name="Google Shape;616;g3604e88bc46_0_5"/>
          <p:cNvSpPr txBox="1"/>
          <p:nvPr/>
        </p:nvSpPr>
        <p:spPr>
          <a:xfrm>
            <a:off x="8285025" y="36021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17" name="Google Shape;617;g3604e88bc46_0_5"/>
          <p:cNvPicPr preferRelativeResize="0"/>
          <p:nvPr/>
        </p:nvPicPr>
        <p:blipFill rotWithShape="1">
          <a:blip r:embed="rId4">
            <a:alphaModFix/>
          </a:blip>
          <a:srcRect r="60363"/>
          <a:stretch/>
        </p:blipFill>
        <p:spPr>
          <a:xfrm>
            <a:off x="217725" y="1343025"/>
            <a:ext cx="1310044" cy="1201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g3604e88bc46_0_5"/>
          <p:cNvSpPr txBox="1"/>
          <p:nvPr/>
        </p:nvSpPr>
        <p:spPr>
          <a:xfrm>
            <a:off x="0" y="77200"/>
            <a:ext cx="777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" name="Google Shape;624;p28"/>
          <p:cNvGraphicFramePr/>
          <p:nvPr/>
        </p:nvGraphicFramePr>
        <p:xfrm>
          <a:off x="615200" y="2888308"/>
          <a:ext cx="6542000" cy="6397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4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97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 2019-2024</a:t>
                      </a:r>
                      <a:endParaRPr sz="11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Unidad médica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Estado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Unidad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Descripción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Monto mdp</a:t>
                      </a:r>
                      <a:endParaRPr sz="1100" b="1" i="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40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H. Oncología  (proceso)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CMN SXXI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Ciudad de México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baja energía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$292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9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baja energía.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Tomógrafo simulador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$227.1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40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H.E. CMNO, Guadalajara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Jalisco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de baja energía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$155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9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baja energía. 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Tomógrafo simulador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$176.7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H.E. Puebla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Puebla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de baja energía. Radiocirugía con simulador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$295.7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95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Oncología 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CMN SXXI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Ciudad de México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de baja energía tomógrafo simulador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$163.8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9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de baja energía. Radiocirugía robótica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$163.8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H.E. CMNO Guadalajara (proceso)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Jalisco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de baja energía. Tomógrafo simulador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$176.7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0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H.E. CMN León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Guanajuato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de alta energía con simulador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$177.3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UMAE H.E. 25 Monterrey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Nuevo León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dedicado a radiocirugía con simulador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$295.7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1 Cd. Obregón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Sonora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dedicado a radiocirugía con simulador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$295.7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04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 2025</a:t>
                      </a:r>
                      <a:endParaRPr sz="1100" b="1" i="0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55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0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HES 71 Torreón *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Coahuila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de alta energía con simulador 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$116.8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0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HGR 20 Tijuana*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BC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de baja energía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$957.77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0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HES 25 Monterrey*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NL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de baja energía 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$464.9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0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HES CMN Mérida*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Yucatán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i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ontserrat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Acelerador lineal de alta energía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i="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$93.8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0400"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*4  Sustituidos en 4 unidades médicas en 2023.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625" name="Google Shape;625;p28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626" name="Google Shape;626;p28"/>
          <p:cNvGraphicFramePr/>
          <p:nvPr/>
        </p:nvGraphicFramePr>
        <p:xfrm>
          <a:off x="287700" y="725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pt-BR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29. </a:t>
                      </a:r>
                      <a:r>
                        <a:rPr lang="pt-BR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9"/>
                            </a:ext>
                          </a:extLst>
                        </a:rPr>
                        <a:t>Equipo médico Aceleradores lineales</a:t>
                      </a:r>
                      <a:endParaRPr lang="pt-BR"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7" name="Google Shape;627;p28"/>
          <p:cNvSpPr txBox="1"/>
          <p:nvPr/>
        </p:nvSpPr>
        <p:spPr>
          <a:xfrm>
            <a:off x="1722600" y="1611531"/>
            <a:ext cx="3183900" cy="11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400" tIns="75675" rIns="151400" bIns="756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16 aceleradores lineales </a:t>
            </a:r>
            <a:r>
              <a:rPr kumimoji="0" lang="es" sz="2200" b="0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en 10 unidades médicas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628" name="Google Shape;62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9264" y="1655169"/>
            <a:ext cx="2884034" cy="10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28"/>
          <p:cNvSpPr txBox="1"/>
          <p:nvPr/>
        </p:nvSpPr>
        <p:spPr>
          <a:xfrm>
            <a:off x="5155275" y="1780431"/>
            <a:ext cx="1980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Black"/>
              <a:buNone/>
              <a:tabLst/>
              <a:defRPr/>
            </a:pPr>
            <a:r>
              <a:rPr kumimoji="0" lang="es" sz="3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4,052.7 </a:t>
            </a:r>
            <a:br>
              <a:rPr kumimoji="0" lang="es" sz="3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kumimoji="0" lang="e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mdp</a:t>
            </a:r>
            <a:endParaRPr kumimoji="0" sz="100" b="0" i="0" u="none" strike="noStrike" kern="0" cap="none" spc="0" normalizeH="0" baseline="0" noProof="0">
              <a:ln>
                <a:noFill/>
              </a:ln>
              <a:solidFill>
                <a:srgbClr val="DDC9A3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30" name="Google Shape;630;p28"/>
          <p:cNvSpPr/>
          <p:nvPr/>
        </p:nvSpPr>
        <p:spPr>
          <a:xfrm>
            <a:off x="667061" y="1704272"/>
            <a:ext cx="1055549" cy="983318"/>
          </a:xfrm>
          <a:custGeom>
            <a:avLst/>
            <a:gdLst/>
            <a:ahLst/>
            <a:cxnLst/>
            <a:rect l="l" t="t" r="r" b="b"/>
            <a:pathLst>
              <a:path w="1623922" h="1512797" extrusionOk="0">
                <a:moveTo>
                  <a:pt x="245954" y="1037686"/>
                </a:moveTo>
                <a:lnTo>
                  <a:pt x="536089" y="1098212"/>
                </a:lnTo>
                <a:cubicBezTo>
                  <a:pt x="537481" y="1098562"/>
                  <a:pt x="539220" y="1098562"/>
                  <a:pt x="540612" y="1098562"/>
                </a:cubicBezTo>
                <a:cubicBezTo>
                  <a:pt x="543047" y="1098562"/>
                  <a:pt x="545134" y="1098212"/>
                  <a:pt x="547569" y="1097513"/>
                </a:cubicBezTo>
                <a:lnTo>
                  <a:pt x="1191502" y="893544"/>
                </a:lnTo>
                <a:cubicBezTo>
                  <a:pt x="1201939" y="890395"/>
                  <a:pt x="1208549" y="880249"/>
                  <a:pt x="1207157" y="869404"/>
                </a:cubicBezTo>
                <a:cubicBezTo>
                  <a:pt x="1205766" y="858558"/>
                  <a:pt x="1197416" y="850161"/>
                  <a:pt x="1186632" y="849112"/>
                </a:cubicBezTo>
                <a:lnTo>
                  <a:pt x="838052" y="820073"/>
                </a:lnTo>
                <a:cubicBezTo>
                  <a:pt x="835269" y="819723"/>
                  <a:pt x="832486" y="820073"/>
                  <a:pt x="829703" y="820773"/>
                </a:cubicBezTo>
                <a:lnTo>
                  <a:pt x="244214" y="992904"/>
                </a:lnTo>
                <a:cubicBezTo>
                  <a:pt x="234126" y="995703"/>
                  <a:pt x="227516" y="1005149"/>
                  <a:pt x="227864" y="1015645"/>
                </a:cubicBezTo>
                <a:cubicBezTo>
                  <a:pt x="228560" y="1026491"/>
                  <a:pt x="235865" y="1035237"/>
                  <a:pt x="245954" y="1037686"/>
                </a:cubicBezTo>
                <a:close/>
                <a:moveTo>
                  <a:pt x="838400" y="866255"/>
                </a:moveTo>
                <a:lnTo>
                  <a:pt x="1068004" y="885497"/>
                </a:lnTo>
                <a:lnTo>
                  <a:pt x="539568" y="1052731"/>
                </a:lnTo>
                <a:lnTo>
                  <a:pt x="343709" y="1011797"/>
                </a:lnTo>
                <a:lnTo>
                  <a:pt x="838400" y="866255"/>
                </a:lnTo>
                <a:close/>
                <a:moveTo>
                  <a:pt x="765692" y="1069874"/>
                </a:moveTo>
                <a:lnTo>
                  <a:pt x="516260" y="1155240"/>
                </a:lnTo>
                <a:cubicBezTo>
                  <a:pt x="513129" y="1149642"/>
                  <a:pt x="507563" y="1145444"/>
                  <a:pt x="500953" y="1144394"/>
                </a:cubicBezTo>
                <a:lnTo>
                  <a:pt x="223341" y="1096463"/>
                </a:lnTo>
                <a:cubicBezTo>
                  <a:pt x="221602" y="1096113"/>
                  <a:pt x="220211" y="1096463"/>
                  <a:pt x="218471" y="1096463"/>
                </a:cubicBezTo>
                <a:cubicBezTo>
                  <a:pt x="217427" y="1096463"/>
                  <a:pt x="216036" y="1096113"/>
                  <a:pt x="214992" y="1096463"/>
                </a:cubicBezTo>
                <a:lnTo>
                  <a:pt x="214296" y="1096463"/>
                </a:lnTo>
                <a:cubicBezTo>
                  <a:pt x="214296" y="1096463"/>
                  <a:pt x="214296" y="1096463"/>
                  <a:pt x="214296" y="1096463"/>
                </a:cubicBezTo>
                <a:lnTo>
                  <a:pt x="18438" y="1136697"/>
                </a:lnTo>
                <a:cubicBezTo>
                  <a:pt x="6262" y="1139146"/>
                  <a:pt x="-1739" y="1151391"/>
                  <a:pt x="696" y="1163636"/>
                </a:cubicBezTo>
                <a:cubicBezTo>
                  <a:pt x="696" y="1163636"/>
                  <a:pt x="696" y="1163986"/>
                  <a:pt x="696" y="1163986"/>
                </a:cubicBezTo>
                <a:cubicBezTo>
                  <a:pt x="696" y="1165036"/>
                  <a:pt x="0" y="1165735"/>
                  <a:pt x="0" y="1166785"/>
                </a:cubicBezTo>
                <a:lnTo>
                  <a:pt x="0" y="1420084"/>
                </a:lnTo>
                <a:cubicBezTo>
                  <a:pt x="0" y="1430930"/>
                  <a:pt x="7306" y="1440026"/>
                  <a:pt x="17742" y="1442475"/>
                </a:cubicBezTo>
                <a:lnTo>
                  <a:pt x="342318" y="1512447"/>
                </a:lnTo>
                <a:cubicBezTo>
                  <a:pt x="344057" y="1512797"/>
                  <a:pt x="345449" y="1512797"/>
                  <a:pt x="347188" y="1512797"/>
                </a:cubicBezTo>
                <a:cubicBezTo>
                  <a:pt x="349623" y="1512797"/>
                  <a:pt x="352058" y="1512447"/>
                  <a:pt x="354494" y="1511398"/>
                </a:cubicBezTo>
                <a:lnTo>
                  <a:pt x="354494" y="1511398"/>
                </a:lnTo>
                <a:cubicBezTo>
                  <a:pt x="354494" y="1511398"/>
                  <a:pt x="354494" y="1511398"/>
                  <a:pt x="354494" y="1511398"/>
                </a:cubicBezTo>
                <a:lnTo>
                  <a:pt x="779260" y="1366206"/>
                </a:lnTo>
                <a:cubicBezTo>
                  <a:pt x="788305" y="1363057"/>
                  <a:pt x="794567" y="1354310"/>
                  <a:pt x="794567" y="1344514"/>
                </a:cubicBezTo>
                <a:lnTo>
                  <a:pt x="794567" y="1091215"/>
                </a:lnTo>
                <a:cubicBezTo>
                  <a:pt x="794567" y="1083868"/>
                  <a:pt x="791088" y="1076871"/>
                  <a:pt x="785174" y="1072673"/>
                </a:cubicBezTo>
                <a:cubicBezTo>
                  <a:pt x="779956" y="1068474"/>
                  <a:pt x="772302" y="1067425"/>
                  <a:pt x="765692" y="1069874"/>
                </a:cubicBezTo>
                <a:close/>
                <a:moveTo>
                  <a:pt x="325271" y="1461717"/>
                </a:moveTo>
                <a:lnTo>
                  <a:pt x="45921" y="1401542"/>
                </a:lnTo>
                <a:lnTo>
                  <a:pt x="45921" y="1194774"/>
                </a:lnTo>
                <a:lnTo>
                  <a:pt x="325271" y="1254950"/>
                </a:lnTo>
                <a:lnTo>
                  <a:pt x="325271" y="1461717"/>
                </a:lnTo>
                <a:close/>
                <a:moveTo>
                  <a:pt x="346492" y="1212967"/>
                </a:moveTo>
                <a:lnTo>
                  <a:pt x="115497" y="1163286"/>
                </a:lnTo>
                <a:lnTo>
                  <a:pt x="219863" y="1141595"/>
                </a:lnTo>
                <a:lnTo>
                  <a:pt x="442508" y="1180080"/>
                </a:lnTo>
                <a:lnTo>
                  <a:pt x="346492" y="1212967"/>
                </a:lnTo>
                <a:close/>
                <a:moveTo>
                  <a:pt x="750386" y="1328421"/>
                </a:moveTo>
                <a:lnTo>
                  <a:pt x="370496" y="1458219"/>
                </a:lnTo>
                <a:lnTo>
                  <a:pt x="370496" y="1253201"/>
                </a:lnTo>
                <a:lnTo>
                  <a:pt x="750386" y="1123402"/>
                </a:lnTo>
                <a:lnTo>
                  <a:pt x="750386" y="1328421"/>
                </a:lnTo>
                <a:close/>
                <a:moveTo>
                  <a:pt x="1275690" y="53529"/>
                </a:moveTo>
                <a:cubicBezTo>
                  <a:pt x="1109402" y="700"/>
                  <a:pt x="945896" y="0"/>
                  <a:pt x="937547" y="0"/>
                </a:cubicBezTo>
                <a:lnTo>
                  <a:pt x="937547" y="0"/>
                </a:lnTo>
                <a:cubicBezTo>
                  <a:pt x="756648" y="0"/>
                  <a:pt x="632801" y="40234"/>
                  <a:pt x="570182" y="120002"/>
                </a:cubicBezTo>
                <a:cubicBezTo>
                  <a:pt x="517303" y="186826"/>
                  <a:pt x="527392" y="257497"/>
                  <a:pt x="530175" y="271492"/>
                </a:cubicBezTo>
                <a:lnTo>
                  <a:pt x="530175" y="513945"/>
                </a:lnTo>
                <a:cubicBezTo>
                  <a:pt x="530175" y="526540"/>
                  <a:pt x="540264" y="536686"/>
                  <a:pt x="552788" y="536686"/>
                </a:cubicBezTo>
                <a:lnTo>
                  <a:pt x="934068" y="536686"/>
                </a:lnTo>
                <a:cubicBezTo>
                  <a:pt x="934068" y="536686"/>
                  <a:pt x="934068" y="537036"/>
                  <a:pt x="934416" y="537036"/>
                </a:cubicBezTo>
                <a:cubicBezTo>
                  <a:pt x="935112" y="538086"/>
                  <a:pt x="999123" y="634647"/>
                  <a:pt x="979989" y="777040"/>
                </a:cubicBezTo>
                <a:cubicBezTo>
                  <a:pt x="978250" y="789635"/>
                  <a:pt x="986947" y="800831"/>
                  <a:pt x="999470" y="802580"/>
                </a:cubicBezTo>
                <a:cubicBezTo>
                  <a:pt x="1000514" y="802580"/>
                  <a:pt x="1001558" y="802930"/>
                  <a:pt x="1002601" y="802930"/>
                </a:cubicBezTo>
                <a:cubicBezTo>
                  <a:pt x="1013734" y="802930"/>
                  <a:pt x="1023474" y="794533"/>
                  <a:pt x="1024866" y="783338"/>
                </a:cubicBezTo>
                <a:cubicBezTo>
                  <a:pt x="1044348" y="640595"/>
                  <a:pt x="989730" y="540535"/>
                  <a:pt x="975467" y="517094"/>
                </a:cubicBezTo>
                <a:cubicBezTo>
                  <a:pt x="975467" y="516044"/>
                  <a:pt x="976162" y="515345"/>
                  <a:pt x="976162" y="514295"/>
                </a:cubicBezTo>
                <a:lnTo>
                  <a:pt x="976162" y="389045"/>
                </a:lnTo>
                <a:cubicBezTo>
                  <a:pt x="1095139" y="367703"/>
                  <a:pt x="1188719" y="383447"/>
                  <a:pt x="1253774" y="436976"/>
                </a:cubicBezTo>
                <a:cubicBezTo>
                  <a:pt x="1360922" y="525141"/>
                  <a:pt x="1358139" y="687826"/>
                  <a:pt x="1358139" y="690275"/>
                </a:cubicBezTo>
                <a:cubicBezTo>
                  <a:pt x="1358139" y="990455"/>
                  <a:pt x="1242641" y="1057978"/>
                  <a:pt x="1221072" y="1068124"/>
                </a:cubicBezTo>
                <a:lnTo>
                  <a:pt x="891626" y="1023692"/>
                </a:lnTo>
                <a:cubicBezTo>
                  <a:pt x="885017" y="1022992"/>
                  <a:pt x="878755" y="1024742"/>
                  <a:pt x="873884" y="1029290"/>
                </a:cubicBezTo>
                <a:cubicBezTo>
                  <a:pt x="869014" y="1033488"/>
                  <a:pt x="866231" y="1039786"/>
                  <a:pt x="866231" y="1046433"/>
                </a:cubicBezTo>
                <a:lnTo>
                  <a:pt x="866231" y="1328771"/>
                </a:lnTo>
                <a:cubicBezTo>
                  <a:pt x="866231" y="1336467"/>
                  <a:pt x="870058" y="1343815"/>
                  <a:pt x="876667" y="1348013"/>
                </a:cubicBezTo>
                <a:cubicBezTo>
                  <a:pt x="953550" y="1396993"/>
                  <a:pt x="1021039" y="1413437"/>
                  <a:pt x="1077397" y="1413437"/>
                </a:cubicBezTo>
                <a:cubicBezTo>
                  <a:pt x="1169934" y="1413437"/>
                  <a:pt x="1231509" y="1368655"/>
                  <a:pt x="1252034" y="1351162"/>
                </a:cubicBezTo>
                <a:cubicBezTo>
                  <a:pt x="1599918" y="1345214"/>
                  <a:pt x="1623922" y="973662"/>
                  <a:pt x="1623922" y="968764"/>
                </a:cubicBezTo>
                <a:lnTo>
                  <a:pt x="1623922" y="443273"/>
                </a:lnTo>
                <a:cubicBezTo>
                  <a:pt x="1622879" y="260296"/>
                  <a:pt x="1502511" y="125600"/>
                  <a:pt x="1275690" y="53529"/>
                </a:cubicBezTo>
                <a:close/>
                <a:moveTo>
                  <a:pt x="910412" y="1315476"/>
                </a:moveTo>
                <a:lnTo>
                  <a:pt x="910412" y="1071973"/>
                </a:lnTo>
                <a:lnTo>
                  <a:pt x="1200200" y="1111157"/>
                </a:lnTo>
                <a:lnTo>
                  <a:pt x="1200200" y="1328071"/>
                </a:lnTo>
                <a:cubicBezTo>
                  <a:pt x="1200200" y="1329470"/>
                  <a:pt x="1200895" y="1330520"/>
                  <a:pt x="1200895" y="1331919"/>
                </a:cubicBezTo>
                <a:cubicBezTo>
                  <a:pt x="1156714" y="1361308"/>
                  <a:pt x="1055480" y="1403291"/>
                  <a:pt x="910412" y="1315476"/>
                </a:cubicBezTo>
                <a:close/>
                <a:moveTo>
                  <a:pt x="605666" y="148341"/>
                </a:moveTo>
                <a:cubicBezTo>
                  <a:pt x="658544" y="81168"/>
                  <a:pt x="773346" y="45482"/>
                  <a:pt x="937547" y="45482"/>
                </a:cubicBezTo>
                <a:cubicBezTo>
                  <a:pt x="938243" y="45482"/>
                  <a:pt x="972683" y="45832"/>
                  <a:pt x="1025214" y="50730"/>
                </a:cubicBezTo>
                <a:cubicBezTo>
                  <a:pt x="953202" y="73471"/>
                  <a:pt x="877711" y="119302"/>
                  <a:pt x="856490" y="208867"/>
                </a:cubicBezTo>
                <a:lnTo>
                  <a:pt x="576444" y="208867"/>
                </a:lnTo>
                <a:cubicBezTo>
                  <a:pt x="580618" y="190324"/>
                  <a:pt x="589315" y="168983"/>
                  <a:pt x="605666" y="148341"/>
                </a:cubicBezTo>
                <a:close/>
                <a:moveTo>
                  <a:pt x="575052" y="254349"/>
                </a:moveTo>
                <a:lnTo>
                  <a:pt x="851620" y="254349"/>
                </a:lnTo>
                <a:lnTo>
                  <a:pt x="851620" y="349861"/>
                </a:lnTo>
                <a:lnTo>
                  <a:pt x="575052" y="349861"/>
                </a:lnTo>
                <a:lnTo>
                  <a:pt x="575052" y="254349"/>
                </a:lnTo>
                <a:close/>
                <a:moveTo>
                  <a:pt x="930242" y="491204"/>
                </a:moveTo>
                <a:lnTo>
                  <a:pt x="575052" y="491204"/>
                </a:lnTo>
                <a:lnTo>
                  <a:pt x="575052" y="395692"/>
                </a:lnTo>
                <a:lnTo>
                  <a:pt x="930242" y="395692"/>
                </a:lnTo>
                <a:lnTo>
                  <a:pt x="930242" y="491204"/>
                </a:lnTo>
                <a:close/>
                <a:moveTo>
                  <a:pt x="1245424" y="1305330"/>
                </a:moveTo>
                <a:lnTo>
                  <a:pt x="1245424" y="1106259"/>
                </a:lnTo>
                <a:cubicBezTo>
                  <a:pt x="1288562" y="1083868"/>
                  <a:pt x="1402320" y="995703"/>
                  <a:pt x="1402320" y="690975"/>
                </a:cubicBezTo>
                <a:cubicBezTo>
                  <a:pt x="1402668" y="683278"/>
                  <a:pt x="1405799" y="504849"/>
                  <a:pt x="1281952" y="402340"/>
                </a:cubicBezTo>
                <a:cubicBezTo>
                  <a:pt x="1200547" y="334817"/>
                  <a:pt x="1084354" y="317324"/>
                  <a:pt x="937547" y="350210"/>
                </a:cubicBezTo>
                <a:lnTo>
                  <a:pt x="897193" y="350210"/>
                </a:lnTo>
                <a:lnTo>
                  <a:pt x="897193" y="234057"/>
                </a:lnTo>
                <a:cubicBezTo>
                  <a:pt x="918761" y="82217"/>
                  <a:pt x="1145582" y="73471"/>
                  <a:pt x="1169586" y="72771"/>
                </a:cubicBezTo>
                <a:cubicBezTo>
                  <a:pt x="1200200" y="79418"/>
                  <a:pt x="1231509" y="87465"/>
                  <a:pt x="1263167" y="97261"/>
                </a:cubicBezTo>
                <a:cubicBezTo>
                  <a:pt x="1471897" y="163735"/>
                  <a:pt x="1577653" y="280238"/>
                  <a:pt x="1577653" y="443273"/>
                </a:cubicBezTo>
                <a:lnTo>
                  <a:pt x="1577653" y="967015"/>
                </a:lnTo>
                <a:cubicBezTo>
                  <a:pt x="1576610" y="981009"/>
                  <a:pt x="1555041" y="1302881"/>
                  <a:pt x="1245424" y="1305330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8"/>
          <p:cNvSpPr txBox="1"/>
          <p:nvPr/>
        </p:nvSpPr>
        <p:spPr>
          <a:xfrm>
            <a:off x="301950" y="1106200"/>
            <a:ext cx="50184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400" tIns="75675" rIns="151400" bIns="756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s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Inversión 2019-2024 y </a:t>
            </a:r>
            <a:r>
              <a:rPr kumimoji="0" lang="es" sz="2100" b="1" i="0" u="none" strike="noStrike" kern="0" cap="none" spc="0" normalizeH="0" baseline="0" noProof="0">
                <a:ln>
                  <a:noFill/>
                </a:ln>
                <a:solidFill>
                  <a:srgbClr val="006556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006556"/>
              </a:solidFill>
              <a:effectLst/>
              <a:uLnTx/>
              <a:uFillTx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7" name="Google Shape;637;p29"/>
          <p:cNvGraphicFramePr/>
          <p:nvPr/>
        </p:nvGraphicFramePr>
        <p:xfrm>
          <a:off x="287700" y="97285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30. Camas por cada 1000 habitantes</a:t>
                      </a:r>
                      <a:endParaRPr sz="2100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9" name="Google Shape;639;p29"/>
          <p:cNvSpPr txBox="1"/>
          <p:nvPr/>
        </p:nvSpPr>
        <p:spPr>
          <a:xfrm>
            <a:off x="0" y="2570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1" name="Google Shape;641;p29"/>
          <p:cNvSpPr/>
          <p:nvPr/>
        </p:nvSpPr>
        <p:spPr>
          <a:xfrm>
            <a:off x="6080575" y="1944147"/>
            <a:ext cx="1329125" cy="957966"/>
          </a:xfrm>
          <a:custGeom>
            <a:avLst/>
            <a:gdLst/>
            <a:ahLst/>
            <a:cxnLst/>
            <a:rect l="l" t="t" r="r" b="b"/>
            <a:pathLst>
              <a:path w="858885" h="619041" extrusionOk="0">
                <a:moveTo>
                  <a:pt x="823608" y="502532"/>
                </a:moveTo>
                <a:cubicBezTo>
                  <a:pt x="812812" y="497684"/>
                  <a:pt x="809507" y="491735"/>
                  <a:pt x="809947" y="480278"/>
                </a:cubicBezTo>
                <a:cubicBezTo>
                  <a:pt x="810828" y="456482"/>
                  <a:pt x="810168" y="432686"/>
                  <a:pt x="810168" y="408669"/>
                </a:cubicBezTo>
                <a:cubicBezTo>
                  <a:pt x="810168" y="393466"/>
                  <a:pt x="810168" y="393466"/>
                  <a:pt x="824710" y="393466"/>
                </a:cubicBezTo>
                <a:cubicBezTo>
                  <a:pt x="829337" y="393466"/>
                  <a:pt x="833743" y="393466"/>
                  <a:pt x="838370" y="393466"/>
                </a:cubicBezTo>
                <a:cubicBezTo>
                  <a:pt x="852472" y="393246"/>
                  <a:pt x="855997" y="389941"/>
                  <a:pt x="855997" y="376060"/>
                </a:cubicBezTo>
                <a:cubicBezTo>
                  <a:pt x="855997" y="293214"/>
                  <a:pt x="855997" y="210589"/>
                  <a:pt x="855777" y="127744"/>
                </a:cubicBezTo>
                <a:cubicBezTo>
                  <a:pt x="855777" y="104168"/>
                  <a:pt x="841455" y="86762"/>
                  <a:pt x="818981" y="81694"/>
                </a:cubicBezTo>
                <a:cubicBezTo>
                  <a:pt x="796727" y="76626"/>
                  <a:pt x="776016" y="85660"/>
                  <a:pt x="765440" y="106592"/>
                </a:cubicBezTo>
                <a:cubicBezTo>
                  <a:pt x="761694" y="113642"/>
                  <a:pt x="757287" y="115846"/>
                  <a:pt x="749796" y="115846"/>
                </a:cubicBezTo>
                <a:cubicBezTo>
                  <a:pt x="735695" y="115625"/>
                  <a:pt x="721373" y="115846"/>
                  <a:pt x="707272" y="115846"/>
                </a:cubicBezTo>
                <a:cubicBezTo>
                  <a:pt x="707051" y="115846"/>
                  <a:pt x="706611" y="115846"/>
                  <a:pt x="706390" y="115846"/>
                </a:cubicBezTo>
                <a:cubicBezTo>
                  <a:pt x="671578" y="115846"/>
                  <a:pt x="513158" y="115625"/>
                  <a:pt x="478565" y="115846"/>
                </a:cubicBezTo>
                <a:cubicBezTo>
                  <a:pt x="430092" y="116066"/>
                  <a:pt x="402330" y="140082"/>
                  <a:pt x="395059" y="188115"/>
                </a:cubicBezTo>
                <a:cubicBezTo>
                  <a:pt x="394177" y="193844"/>
                  <a:pt x="391974" y="195827"/>
                  <a:pt x="386245" y="195827"/>
                </a:cubicBezTo>
                <a:cubicBezTo>
                  <a:pt x="341738" y="195607"/>
                  <a:pt x="297230" y="195827"/>
                  <a:pt x="252723" y="195386"/>
                </a:cubicBezTo>
                <a:cubicBezTo>
                  <a:pt x="249638" y="195386"/>
                  <a:pt x="244571" y="191200"/>
                  <a:pt x="243910" y="188115"/>
                </a:cubicBezTo>
                <a:cubicBezTo>
                  <a:pt x="239062" y="165861"/>
                  <a:pt x="225181" y="153082"/>
                  <a:pt x="203809" y="146692"/>
                </a:cubicBezTo>
                <a:cubicBezTo>
                  <a:pt x="172962" y="137439"/>
                  <a:pt x="142336" y="127083"/>
                  <a:pt x="111269" y="118270"/>
                </a:cubicBezTo>
                <a:cubicBezTo>
                  <a:pt x="99811" y="114964"/>
                  <a:pt x="96727" y="109015"/>
                  <a:pt x="96947" y="97778"/>
                </a:cubicBezTo>
                <a:cubicBezTo>
                  <a:pt x="97388" y="79270"/>
                  <a:pt x="97388" y="60542"/>
                  <a:pt x="96066" y="42034"/>
                </a:cubicBezTo>
                <a:cubicBezTo>
                  <a:pt x="94303" y="20001"/>
                  <a:pt x="78439" y="5018"/>
                  <a:pt x="54863" y="611"/>
                </a:cubicBezTo>
                <a:cubicBezTo>
                  <a:pt x="36796" y="-2694"/>
                  <a:pt x="15203" y="7662"/>
                  <a:pt x="6830" y="25509"/>
                </a:cubicBezTo>
                <a:cubicBezTo>
                  <a:pt x="3085" y="33221"/>
                  <a:pt x="661" y="42034"/>
                  <a:pt x="441" y="50407"/>
                </a:cubicBezTo>
                <a:cubicBezTo>
                  <a:pt x="-220" y="88304"/>
                  <a:pt x="220" y="218962"/>
                  <a:pt x="0" y="256859"/>
                </a:cubicBezTo>
                <a:cubicBezTo>
                  <a:pt x="0" y="257080"/>
                  <a:pt x="0" y="257520"/>
                  <a:pt x="0" y="257741"/>
                </a:cubicBezTo>
                <a:cubicBezTo>
                  <a:pt x="0" y="297181"/>
                  <a:pt x="0" y="336620"/>
                  <a:pt x="0" y="376060"/>
                </a:cubicBezTo>
                <a:cubicBezTo>
                  <a:pt x="0" y="389280"/>
                  <a:pt x="4186" y="393466"/>
                  <a:pt x="17627" y="393687"/>
                </a:cubicBezTo>
                <a:cubicBezTo>
                  <a:pt x="27762" y="393907"/>
                  <a:pt x="37897" y="394127"/>
                  <a:pt x="48033" y="393466"/>
                </a:cubicBezTo>
                <a:cubicBezTo>
                  <a:pt x="57066" y="392805"/>
                  <a:pt x="59490" y="396551"/>
                  <a:pt x="59270" y="404924"/>
                </a:cubicBezTo>
                <a:cubicBezTo>
                  <a:pt x="58829" y="431144"/>
                  <a:pt x="58829" y="457584"/>
                  <a:pt x="59270" y="483803"/>
                </a:cubicBezTo>
                <a:cubicBezTo>
                  <a:pt x="59490" y="492617"/>
                  <a:pt x="57066" y="497244"/>
                  <a:pt x="48253" y="500989"/>
                </a:cubicBezTo>
                <a:cubicBezTo>
                  <a:pt x="21813" y="511786"/>
                  <a:pt x="7051" y="537785"/>
                  <a:pt x="10796" y="564005"/>
                </a:cubicBezTo>
                <a:cubicBezTo>
                  <a:pt x="14762" y="591987"/>
                  <a:pt x="36355" y="614461"/>
                  <a:pt x="63236" y="618427"/>
                </a:cubicBezTo>
                <a:cubicBezTo>
                  <a:pt x="91218" y="622614"/>
                  <a:pt x="120302" y="604987"/>
                  <a:pt x="129777" y="578106"/>
                </a:cubicBezTo>
                <a:cubicBezTo>
                  <a:pt x="139912" y="549463"/>
                  <a:pt x="129997" y="517735"/>
                  <a:pt x="103116" y="504955"/>
                </a:cubicBezTo>
                <a:cubicBezTo>
                  <a:pt x="87032" y="497244"/>
                  <a:pt x="83286" y="488210"/>
                  <a:pt x="84608" y="472126"/>
                </a:cubicBezTo>
                <a:cubicBezTo>
                  <a:pt x="85930" y="457363"/>
                  <a:pt x="84829" y="457143"/>
                  <a:pt x="99371" y="457143"/>
                </a:cubicBezTo>
                <a:cubicBezTo>
                  <a:pt x="323230" y="457143"/>
                  <a:pt x="546869" y="457143"/>
                  <a:pt x="770728" y="457143"/>
                </a:cubicBezTo>
                <a:cubicBezTo>
                  <a:pt x="774914" y="457143"/>
                  <a:pt x="779100" y="457584"/>
                  <a:pt x="784609" y="457804"/>
                </a:cubicBezTo>
                <a:cubicBezTo>
                  <a:pt x="784609" y="463312"/>
                  <a:pt x="784389" y="468159"/>
                  <a:pt x="784609" y="473007"/>
                </a:cubicBezTo>
                <a:cubicBezTo>
                  <a:pt x="785710" y="491956"/>
                  <a:pt x="782846" y="495922"/>
                  <a:pt x="765880" y="505176"/>
                </a:cubicBezTo>
                <a:cubicBezTo>
                  <a:pt x="759270" y="508701"/>
                  <a:pt x="752660" y="513548"/>
                  <a:pt x="748033" y="519277"/>
                </a:cubicBezTo>
                <a:cubicBezTo>
                  <a:pt x="730847" y="540650"/>
                  <a:pt x="731508" y="573700"/>
                  <a:pt x="749135" y="595292"/>
                </a:cubicBezTo>
                <a:cubicBezTo>
                  <a:pt x="767423" y="617987"/>
                  <a:pt x="798490" y="625478"/>
                  <a:pt x="823828" y="612919"/>
                </a:cubicBezTo>
                <a:cubicBezTo>
                  <a:pt x="846523" y="601462"/>
                  <a:pt x="858421" y="582513"/>
                  <a:pt x="858861" y="557395"/>
                </a:cubicBezTo>
                <a:cubicBezTo>
                  <a:pt x="859522" y="531616"/>
                  <a:pt x="846743" y="512887"/>
                  <a:pt x="823608" y="502532"/>
                </a:cubicBezTo>
                <a:close/>
                <a:moveTo>
                  <a:pt x="419956" y="199132"/>
                </a:moveTo>
                <a:cubicBezTo>
                  <a:pt x="419956" y="161675"/>
                  <a:pt x="439566" y="141845"/>
                  <a:pt x="477023" y="141625"/>
                </a:cubicBezTo>
                <a:cubicBezTo>
                  <a:pt x="503683" y="141404"/>
                  <a:pt x="530344" y="141625"/>
                  <a:pt x="557004" y="141625"/>
                </a:cubicBezTo>
                <a:cubicBezTo>
                  <a:pt x="566478" y="141625"/>
                  <a:pt x="662764" y="142286"/>
                  <a:pt x="700001" y="141404"/>
                </a:cubicBezTo>
                <a:cubicBezTo>
                  <a:pt x="716085" y="141404"/>
                  <a:pt x="731949" y="141404"/>
                  <a:pt x="748033" y="141404"/>
                </a:cubicBezTo>
                <a:cubicBezTo>
                  <a:pt x="756626" y="141404"/>
                  <a:pt x="759711" y="144269"/>
                  <a:pt x="759711" y="153082"/>
                </a:cubicBezTo>
                <a:cubicBezTo>
                  <a:pt x="759491" y="220725"/>
                  <a:pt x="759491" y="288367"/>
                  <a:pt x="759931" y="356230"/>
                </a:cubicBezTo>
                <a:cubicBezTo>
                  <a:pt x="759931" y="365704"/>
                  <a:pt x="756626" y="368789"/>
                  <a:pt x="746932" y="368789"/>
                </a:cubicBezTo>
                <a:cubicBezTo>
                  <a:pt x="642053" y="368569"/>
                  <a:pt x="537174" y="368569"/>
                  <a:pt x="432295" y="368789"/>
                </a:cubicBezTo>
                <a:cubicBezTo>
                  <a:pt x="422821" y="368789"/>
                  <a:pt x="419516" y="365925"/>
                  <a:pt x="419516" y="356230"/>
                </a:cubicBezTo>
                <a:cubicBezTo>
                  <a:pt x="420177" y="303570"/>
                  <a:pt x="419956" y="251351"/>
                  <a:pt x="419956" y="199132"/>
                </a:cubicBezTo>
                <a:close/>
                <a:moveTo>
                  <a:pt x="97388" y="140303"/>
                </a:moveTo>
                <a:cubicBezTo>
                  <a:pt x="103777" y="142286"/>
                  <a:pt x="107964" y="143608"/>
                  <a:pt x="112150" y="144930"/>
                </a:cubicBezTo>
                <a:cubicBezTo>
                  <a:pt x="141454" y="154184"/>
                  <a:pt x="170759" y="163218"/>
                  <a:pt x="200063" y="172472"/>
                </a:cubicBezTo>
                <a:cubicBezTo>
                  <a:pt x="210639" y="175777"/>
                  <a:pt x="217029" y="182607"/>
                  <a:pt x="218351" y="194946"/>
                </a:cubicBezTo>
                <a:cubicBezTo>
                  <a:pt x="214605" y="195166"/>
                  <a:pt x="211520" y="195607"/>
                  <a:pt x="208436" y="195607"/>
                </a:cubicBezTo>
                <a:cubicBezTo>
                  <a:pt x="175165" y="195607"/>
                  <a:pt x="141895" y="195386"/>
                  <a:pt x="108845" y="195827"/>
                </a:cubicBezTo>
                <a:cubicBezTo>
                  <a:pt x="100472" y="195827"/>
                  <a:pt x="96727" y="193624"/>
                  <a:pt x="97167" y="184590"/>
                </a:cubicBezTo>
                <a:cubicBezTo>
                  <a:pt x="97828" y="170489"/>
                  <a:pt x="97388" y="156387"/>
                  <a:pt x="97388" y="140303"/>
                </a:cubicBezTo>
                <a:close/>
                <a:moveTo>
                  <a:pt x="97167" y="231521"/>
                </a:moveTo>
                <a:cubicBezTo>
                  <a:pt x="96947" y="224030"/>
                  <a:pt x="99371" y="220945"/>
                  <a:pt x="107523" y="220945"/>
                </a:cubicBezTo>
                <a:cubicBezTo>
                  <a:pt x="199843" y="221165"/>
                  <a:pt x="291942" y="221165"/>
                  <a:pt x="384262" y="220945"/>
                </a:cubicBezTo>
                <a:cubicBezTo>
                  <a:pt x="391974" y="220945"/>
                  <a:pt x="394838" y="223589"/>
                  <a:pt x="394838" y="231301"/>
                </a:cubicBezTo>
                <a:cubicBezTo>
                  <a:pt x="394398" y="249588"/>
                  <a:pt x="394398" y="267876"/>
                  <a:pt x="394838" y="285944"/>
                </a:cubicBezTo>
                <a:cubicBezTo>
                  <a:pt x="395059" y="294537"/>
                  <a:pt x="391313" y="296520"/>
                  <a:pt x="383381" y="296520"/>
                </a:cubicBezTo>
                <a:cubicBezTo>
                  <a:pt x="337551" y="296299"/>
                  <a:pt x="291502" y="296299"/>
                  <a:pt x="245672" y="296299"/>
                </a:cubicBezTo>
                <a:cubicBezTo>
                  <a:pt x="200504" y="296299"/>
                  <a:pt x="155115" y="296079"/>
                  <a:pt x="109947" y="296520"/>
                </a:cubicBezTo>
                <a:cubicBezTo>
                  <a:pt x="100032" y="296520"/>
                  <a:pt x="96947" y="293435"/>
                  <a:pt x="97388" y="283960"/>
                </a:cubicBezTo>
                <a:cubicBezTo>
                  <a:pt x="97608" y="266774"/>
                  <a:pt x="97608" y="249148"/>
                  <a:pt x="97167" y="231521"/>
                </a:cubicBezTo>
                <a:close/>
                <a:moveTo>
                  <a:pt x="108184" y="557175"/>
                </a:moveTo>
                <a:cubicBezTo>
                  <a:pt x="107964" y="577225"/>
                  <a:pt x="91879" y="593309"/>
                  <a:pt x="72049" y="593309"/>
                </a:cubicBezTo>
                <a:cubicBezTo>
                  <a:pt x="52439" y="593309"/>
                  <a:pt x="36135" y="577004"/>
                  <a:pt x="35914" y="557175"/>
                </a:cubicBezTo>
                <a:cubicBezTo>
                  <a:pt x="35694" y="537565"/>
                  <a:pt x="51999" y="521480"/>
                  <a:pt x="72049" y="521480"/>
                </a:cubicBezTo>
                <a:cubicBezTo>
                  <a:pt x="92320" y="521480"/>
                  <a:pt x="108404" y="537344"/>
                  <a:pt x="108184" y="557175"/>
                </a:cubicBezTo>
                <a:close/>
                <a:moveTo>
                  <a:pt x="40101" y="368348"/>
                </a:moveTo>
                <a:cubicBezTo>
                  <a:pt x="26220" y="368348"/>
                  <a:pt x="25559" y="367467"/>
                  <a:pt x="25559" y="353366"/>
                </a:cubicBezTo>
                <a:cubicBezTo>
                  <a:pt x="25779" y="318994"/>
                  <a:pt x="25779" y="284621"/>
                  <a:pt x="25779" y="250029"/>
                </a:cubicBezTo>
                <a:cubicBezTo>
                  <a:pt x="25779" y="248487"/>
                  <a:pt x="25779" y="247165"/>
                  <a:pt x="25779" y="245623"/>
                </a:cubicBezTo>
                <a:cubicBezTo>
                  <a:pt x="25779" y="210810"/>
                  <a:pt x="25559" y="83457"/>
                  <a:pt x="25999" y="48644"/>
                </a:cubicBezTo>
                <a:cubicBezTo>
                  <a:pt x="26220" y="34983"/>
                  <a:pt x="35033" y="26390"/>
                  <a:pt x="47372" y="25950"/>
                </a:cubicBezTo>
                <a:cubicBezTo>
                  <a:pt x="60371" y="25509"/>
                  <a:pt x="69625" y="33882"/>
                  <a:pt x="70948" y="47542"/>
                </a:cubicBezTo>
                <a:cubicBezTo>
                  <a:pt x="71388" y="52169"/>
                  <a:pt x="71168" y="56576"/>
                  <a:pt x="71168" y="61203"/>
                </a:cubicBezTo>
                <a:cubicBezTo>
                  <a:pt x="71168" y="141184"/>
                  <a:pt x="71168" y="221165"/>
                  <a:pt x="71388" y="301146"/>
                </a:cubicBezTo>
                <a:cubicBezTo>
                  <a:pt x="71388" y="319434"/>
                  <a:pt x="74253" y="321858"/>
                  <a:pt x="92100" y="321858"/>
                </a:cubicBezTo>
                <a:cubicBezTo>
                  <a:pt x="162166" y="321858"/>
                  <a:pt x="232452" y="321858"/>
                  <a:pt x="302518" y="321858"/>
                </a:cubicBezTo>
                <a:cubicBezTo>
                  <a:pt x="329179" y="321858"/>
                  <a:pt x="355839" y="322078"/>
                  <a:pt x="382500" y="321638"/>
                </a:cubicBezTo>
                <a:cubicBezTo>
                  <a:pt x="391974" y="321417"/>
                  <a:pt x="395059" y="325163"/>
                  <a:pt x="394177" y="334417"/>
                </a:cubicBezTo>
                <a:cubicBezTo>
                  <a:pt x="393516" y="341027"/>
                  <a:pt x="393737" y="347637"/>
                  <a:pt x="393957" y="354467"/>
                </a:cubicBezTo>
                <a:cubicBezTo>
                  <a:pt x="394398" y="367467"/>
                  <a:pt x="393737" y="368348"/>
                  <a:pt x="380737" y="368348"/>
                </a:cubicBezTo>
                <a:cubicBezTo>
                  <a:pt x="267485" y="368348"/>
                  <a:pt x="153793" y="368348"/>
                  <a:pt x="40101" y="368348"/>
                </a:cubicBezTo>
                <a:close/>
                <a:moveTo>
                  <a:pt x="784609" y="409330"/>
                </a:moveTo>
                <a:cubicBezTo>
                  <a:pt x="783727" y="431805"/>
                  <a:pt x="783727" y="431805"/>
                  <a:pt x="760813" y="431805"/>
                </a:cubicBezTo>
                <a:cubicBezTo>
                  <a:pt x="652188" y="431805"/>
                  <a:pt x="543343" y="431805"/>
                  <a:pt x="434719" y="431805"/>
                </a:cubicBezTo>
                <a:lnTo>
                  <a:pt x="434719" y="431584"/>
                </a:lnTo>
                <a:cubicBezTo>
                  <a:pt x="321908" y="431584"/>
                  <a:pt x="208876" y="431584"/>
                  <a:pt x="96066" y="431805"/>
                </a:cubicBezTo>
                <a:cubicBezTo>
                  <a:pt x="87032" y="431805"/>
                  <a:pt x="84829" y="429161"/>
                  <a:pt x="85049" y="420568"/>
                </a:cubicBezTo>
                <a:cubicBezTo>
                  <a:pt x="85490" y="393687"/>
                  <a:pt x="85049" y="393687"/>
                  <a:pt x="112150" y="393687"/>
                </a:cubicBezTo>
                <a:cubicBezTo>
                  <a:pt x="331382" y="393687"/>
                  <a:pt x="550394" y="393687"/>
                  <a:pt x="769626" y="393687"/>
                </a:cubicBezTo>
                <a:cubicBezTo>
                  <a:pt x="785270" y="393466"/>
                  <a:pt x="785270" y="393466"/>
                  <a:pt x="784609" y="409330"/>
                </a:cubicBezTo>
                <a:close/>
                <a:moveTo>
                  <a:pt x="785270" y="244080"/>
                </a:moveTo>
                <a:lnTo>
                  <a:pt x="785710" y="244080"/>
                </a:lnTo>
                <a:cubicBezTo>
                  <a:pt x="785710" y="206183"/>
                  <a:pt x="785270" y="168285"/>
                  <a:pt x="785931" y="130388"/>
                </a:cubicBezTo>
                <a:cubicBezTo>
                  <a:pt x="786151" y="110117"/>
                  <a:pt x="804659" y="99321"/>
                  <a:pt x="820744" y="109677"/>
                </a:cubicBezTo>
                <a:cubicBezTo>
                  <a:pt x="829116" y="114964"/>
                  <a:pt x="830879" y="123337"/>
                  <a:pt x="830879" y="132591"/>
                </a:cubicBezTo>
                <a:cubicBezTo>
                  <a:pt x="830879" y="177760"/>
                  <a:pt x="830879" y="223148"/>
                  <a:pt x="830879" y="268317"/>
                </a:cubicBezTo>
                <a:cubicBezTo>
                  <a:pt x="830879" y="296740"/>
                  <a:pt x="830879" y="325163"/>
                  <a:pt x="830879" y="353586"/>
                </a:cubicBezTo>
                <a:cubicBezTo>
                  <a:pt x="830879" y="368348"/>
                  <a:pt x="830659" y="368569"/>
                  <a:pt x="816337" y="368128"/>
                </a:cubicBezTo>
                <a:cubicBezTo>
                  <a:pt x="810828" y="367908"/>
                  <a:pt x="805100" y="367908"/>
                  <a:pt x="799592" y="368128"/>
                </a:cubicBezTo>
                <a:cubicBezTo>
                  <a:pt x="785710" y="368348"/>
                  <a:pt x="785270" y="368128"/>
                  <a:pt x="785270" y="354467"/>
                </a:cubicBezTo>
                <a:cubicBezTo>
                  <a:pt x="785270" y="317671"/>
                  <a:pt x="785270" y="280876"/>
                  <a:pt x="785270" y="244080"/>
                </a:cubicBezTo>
                <a:close/>
                <a:moveTo>
                  <a:pt x="796948" y="593309"/>
                </a:moveTo>
                <a:cubicBezTo>
                  <a:pt x="777338" y="593089"/>
                  <a:pt x="761033" y="576343"/>
                  <a:pt x="761474" y="556734"/>
                </a:cubicBezTo>
                <a:cubicBezTo>
                  <a:pt x="761914" y="536683"/>
                  <a:pt x="777778" y="521480"/>
                  <a:pt x="798269" y="521701"/>
                </a:cubicBezTo>
                <a:cubicBezTo>
                  <a:pt x="817879" y="521921"/>
                  <a:pt x="833523" y="537344"/>
                  <a:pt x="833743" y="556954"/>
                </a:cubicBezTo>
                <a:cubicBezTo>
                  <a:pt x="833743" y="577225"/>
                  <a:pt x="817218" y="593529"/>
                  <a:pt x="796948" y="593309"/>
                </a:cubicBezTo>
                <a:close/>
              </a:path>
            </a:pathLst>
          </a:custGeom>
          <a:solidFill>
            <a:srgbClr val="0465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9"/>
          <p:cNvSpPr/>
          <p:nvPr/>
        </p:nvSpPr>
        <p:spPr>
          <a:xfrm rot="-5400000">
            <a:off x="6386740" y="4686337"/>
            <a:ext cx="877750" cy="893349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rgbClr val="9F2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639B8-118D-7DF8-09DF-4D20F2948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797386"/>
              </p:ext>
            </p:extLst>
          </p:nvPr>
        </p:nvGraphicFramePr>
        <p:xfrm>
          <a:off x="182881" y="1402081"/>
          <a:ext cx="5684519" cy="7775422"/>
        </p:xfrm>
        <a:graphic>
          <a:graphicData uri="http://schemas.openxmlformats.org/drawingml/2006/table">
            <a:tbl>
              <a:tblPr/>
              <a:tblGrid>
                <a:gridCol w="2926001">
                  <a:extLst>
                    <a:ext uri="{9D8B030D-6E8A-4147-A177-3AD203B41FA5}">
                      <a16:colId xmlns:a16="http://schemas.microsoft.com/office/drawing/2014/main" val="2113454426"/>
                    </a:ext>
                  </a:extLst>
                </a:gridCol>
                <a:gridCol w="1379259">
                  <a:extLst>
                    <a:ext uri="{9D8B030D-6E8A-4147-A177-3AD203B41FA5}">
                      <a16:colId xmlns:a16="http://schemas.microsoft.com/office/drawing/2014/main" val="4099284684"/>
                    </a:ext>
                  </a:extLst>
                </a:gridCol>
                <a:gridCol w="1379259">
                  <a:extLst>
                    <a:ext uri="{9D8B030D-6E8A-4147-A177-3AD203B41FA5}">
                      <a16:colId xmlns:a16="http://schemas.microsoft.com/office/drawing/2014/main" val="2051881486"/>
                    </a:ext>
                  </a:extLst>
                </a:gridCol>
              </a:tblGrid>
              <a:tr h="38111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itchFamily="2" charset="77"/>
                        </a:rPr>
                        <a:t>ENTIDAD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55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itchFamily="2" charset="77"/>
                        </a:rPr>
                        <a:t>Indicador de camas 2024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55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itchFamily="2" charset="77"/>
                        </a:rPr>
                        <a:t>Indicador de camas 2026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18949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Ciudad de México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1.12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20455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Sonora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0.84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0.79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956852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Chihuahua</a:t>
                      </a:r>
                      <a:endParaRPr lang="en-US" sz="1400" dirty="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0.65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0.71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94456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Coahuila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0.72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0.68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234310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Guerrero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0.77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0.67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455879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Nayarit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0.75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0.67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660488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Jalisco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0.76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0.66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758716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Durango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0.69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0.64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511733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Veracruz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0.72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0.63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215095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Campeche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0.56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0.63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243054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Colima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0.68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0.62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986375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Baja California Sur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0.7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0.61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128021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Yucatán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0.68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372924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Nuevo León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0.66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275267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Michoacán</a:t>
                      </a:r>
                      <a:endParaRPr lang="en-US" sz="1400" dirty="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0.63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0.59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43541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Morelos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0.61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0.58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67587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Sinaloa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0.66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0.58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766529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Tamaulipas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0.62</a:t>
                      </a:r>
                      <a:endParaRPr lang="en-MX" sz="1400" dirty="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0.57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945873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San Luis Potosí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0.61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0.56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418214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Aguascalientes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0.63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0.56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55097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Baja California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0.64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0.55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660254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Guanajuato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0.59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0.52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12178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Hidalgo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0.55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0.49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6034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Puebla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0.59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0.49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609315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México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0.48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574131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Quintana Roo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0.45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075579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Zacatecas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0.51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0.44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908246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Tabasco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0.53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0.44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463796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Oaxaca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0.53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0.43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343118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Querétaro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0.49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0.43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49704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Chiapas</a:t>
                      </a:r>
                      <a:endParaRPr lang="en-US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0.5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0.4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21002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Tlaxcala</a:t>
                      </a:r>
                      <a:endParaRPr lang="en-US" sz="1400" dirty="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0.46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0.39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01005"/>
                  </a:ext>
                </a:extLst>
              </a:tr>
              <a:tr h="2105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5C4C"/>
                          </a:solidFill>
                          <a:effectLst/>
                          <a:latin typeface="Montserrat" pitchFamily="2" charset="77"/>
                        </a:rPr>
                        <a:t>Nacional</a:t>
                      </a:r>
                      <a:endParaRPr lang="en-US" sz="1400" dirty="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1" i="0" u="none" strike="noStrike">
                          <a:solidFill>
                            <a:srgbClr val="005C4C"/>
                          </a:solidFill>
                          <a:effectLst/>
                          <a:latin typeface="Montserrat" pitchFamily="2" charset="77"/>
                        </a:rPr>
                        <a:t>0.68</a:t>
                      </a:r>
                      <a:endParaRPr lang="en-MX" sz="140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MX" sz="1000" b="1" i="0" u="none" strike="noStrike" dirty="0">
                          <a:solidFill>
                            <a:srgbClr val="005C4C"/>
                          </a:solidFill>
                          <a:effectLst/>
                          <a:latin typeface="Montserrat" pitchFamily="2" charset="77"/>
                        </a:rPr>
                        <a:t>0.61</a:t>
                      </a:r>
                      <a:endParaRPr lang="en-MX" sz="1400" dirty="0">
                        <a:effectLst/>
                      </a:endParaRPr>
                    </a:p>
                  </a:txBody>
                  <a:tcPr marL="71670" marR="71670" marT="35835" marB="358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679596"/>
                  </a:ext>
                </a:extLst>
              </a:tr>
            </a:tbl>
          </a:graphicData>
        </a:graphic>
      </p:graphicFrame>
      <p:sp>
        <p:nvSpPr>
          <p:cNvPr id="3" name="TextBox 8">
            <a:extLst>
              <a:ext uri="{FF2B5EF4-FFF2-40B4-BE49-F238E27FC236}">
                <a16:creationId xmlns:a16="http://schemas.microsoft.com/office/drawing/2014/main" id="{95FA1BEC-E132-E23D-E289-D0398B7EEA84}"/>
              </a:ext>
            </a:extLst>
          </p:cNvPr>
          <p:cNvSpPr txBox="1"/>
          <p:nvPr/>
        </p:nvSpPr>
        <p:spPr>
          <a:xfrm>
            <a:off x="6050280" y="5571887"/>
            <a:ext cx="15506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1" i="0" u="none" strike="noStrike" dirty="0">
                <a:solidFill>
                  <a:srgbClr val="9F2241"/>
                </a:solidFill>
                <a:effectLst/>
                <a:latin typeface="Montserrat" pitchFamily="2" charset="77"/>
              </a:rPr>
              <a:t>Var </a:t>
            </a:r>
            <a:br>
              <a:rPr lang="en-US" sz="1400" b="1" i="0" u="none" strike="noStrike" dirty="0">
                <a:solidFill>
                  <a:srgbClr val="9F2241"/>
                </a:solidFill>
                <a:effectLst/>
                <a:latin typeface="Montserrat" pitchFamily="2" charset="77"/>
              </a:rPr>
            </a:br>
            <a:r>
              <a:rPr lang="en-US" sz="1800" b="1" i="0" u="none" strike="noStrike" dirty="0">
                <a:solidFill>
                  <a:srgbClr val="9F2241"/>
                </a:solidFill>
                <a:effectLst/>
                <a:latin typeface="Montserrat" pitchFamily="2" charset="77"/>
              </a:rPr>
              <a:t>+0.1</a:t>
            </a:r>
            <a:endParaRPr lang="en-MX" dirty="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3BE490FA-C51C-6FF8-5EA2-F74512BADA33}"/>
              </a:ext>
            </a:extLst>
          </p:cNvPr>
          <p:cNvSpPr txBox="1"/>
          <p:nvPr/>
        </p:nvSpPr>
        <p:spPr>
          <a:xfrm>
            <a:off x="5852160" y="6348383"/>
            <a:ext cx="19202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0" i="0" u="none" strike="noStrike" dirty="0" err="1">
                <a:solidFill>
                  <a:srgbClr val="006455"/>
                </a:solidFill>
                <a:effectLst/>
                <a:latin typeface="Montserrat" pitchFamily="2" charset="77"/>
              </a:rPr>
              <a:t>Indicador</a:t>
            </a:r>
            <a:r>
              <a:rPr lang="en-US" sz="1400" b="0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  <a:t> Nacional 2025: </a:t>
            </a:r>
            <a:br>
              <a:rPr lang="en-US" sz="1400" b="0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</a:br>
            <a:r>
              <a:rPr lang="en-US" sz="1400" b="1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  <a:t>0.61 camas </a:t>
            </a:r>
            <a:br>
              <a:rPr lang="en-US" sz="1400" b="1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</a:br>
            <a:r>
              <a:rPr lang="en-US" sz="1400" b="1" i="0" u="none" strike="noStrike" dirty="0" err="1">
                <a:solidFill>
                  <a:srgbClr val="006455"/>
                </a:solidFill>
                <a:effectLst/>
                <a:latin typeface="Montserrat" pitchFamily="2" charset="77"/>
              </a:rPr>
              <a:t>por</a:t>
            </a:r>
            <a:r>
              <a:rPr lang="en-US" sz="1400" b="1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  <a:t> </a:t>
            </a:r>
            <a:r>
              <a:rPr lang="en-US" sz="1400" b="1" i="0" u="none" strike="noStrike" dirty="0" err="1">
                <a:solidFill>
                  <a:srgbClr val="006455"/>
                </a:solidFill>
                <a:effectLst/>
                <a:latin typeface="Montserrat" pitchFamily="2" charset="77"/>
              </a:rPr>
              <a:t>cada</a:t>
            </a:r>
            <a:r>
              <a:rPr lang="en-US" sz="1400" b="1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  <a:t> 1,000 DH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br>
              <a:rPr lang="en-US" dirty="0"/>
            </a:br>
            <a:br>
              <a:rPr lang="en-US" dirty="0"/>
            </a:br>
            <a:endParaRPr lang="en-MX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05A4D-D996-02F4-A78C-4618EEF8FC3F}"/>
              </a:ext>
            </a:extLst>
          </p:cNvPr>
          <p:cNvSpPr txBox="1"/>
          <p:nvPr/>
        </p:nvSpPr>
        <p:spPr>
          <a:xfrm>
            <a:off x="5852160" y="2914174"/>
            <a:ext cx="1920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1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  <a:t>Meta: </a:t>
            </a:r>
            <a:br>
              <a:rPr lang="en-US" sz="1400" b="1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</a:br>
            <a:r>
              <a:rPr lang="en-US" sz="1400" b="1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  <a:t>1 </a:t>
            </a:r>
            <a:r>
              <a:rPr lang="en-US" sz="1400" b="1" i="0" u="none" strike="noStrike" dirty="0" err="1">
                <a:solidFill>
                  <a:srgbClr val="006455"/>
                </a:solidFill>
                <a:effectLst/>
                <a:latin typeface="Montserrat" pitchFamily="2" charset="77"/>
              </a:rPr>
              <a:t>cama</a:t>
            </a:r>
            <a:r>
              <a:rPr lang="en-US" sz="1400" b="1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  <a:t> </a:t>
            </a:r>
            <a:br>
              <a:rPr lang="en-US" sz="1400" b="1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</a:br>
            <a:r>
              <a:rPr lang="en-US" sz="1400" b="0" i="0" u="none" strike="noStrike" dirty="0" err="1">
                <a:solidFill>
                  <a:srgbClr val="006455"/>
                </a:solidFill>
                <a:effectLst/>
                <a:latin typeface="Montserrat" pitchFamily="2" charset="77"/>
              </a:rPr>
              <a:t>por</a:t>
            </a:r>
            <a:r>
              <a:rPr lang="en-US" sz="1400" b="0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  <a:t> </a:t>
            </a:r>
            <a:r>
              <a:rPr lang="en-US" sz="1400" b="0" i="0" u="none" strike="noStrike" dirty="0" err="1">
                <a:solidFill>
                  <a:srgbClr val="006455"/>
                </a:solidFill>
                <a:effectLst/>
                <a:latin typeface="Montserrat" pitchFamily="2" charset="77"/>
              </a:rPr>
              <a:t>cada</a:t>
            </a:r>
            <a:r>
              <a:rPr lang="en-US" sz="1400" b="0" i="0" u="none" strike="noStrike" dirty="0">
                <a:solidFill>
                  <a:srgbClr val="006455"/>
                </a:solidFill>
                <a:effectLst/>
                <a:latin typeface="Montserrat" pitchFamily="2" charset="77"/>
              </a:rPr>
              <a:t> 1,000 DH</a:t>
            </a:r>
            <a:endParaRPr lang="en-US" b="0" i="0" dirty="0">
              <a:solidFill>
                <a:srgbClr val="000000"/>
              </a:solidFill>
              <a:effectLst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0"/>
          <p:cNvSpPr txBox="1"/>
          <p:nvPr/>
        </p:nvSpPr>
        <p:spPr>
          <a:xfrm>
            <a:off x="0" y="235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652" name="Google Shape;652;p30"/>
          <p:cNvGraphicFramePr/>
          <p:nvPr/>
        </p:nvGraphicFramePr>
        <p:xfrm>
          <a:off x="211500" y="763176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31. Ac</a:t>
                      </a: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0"/>
                            </a:ext>
                          </a:extLst>
                        </a:rPr>
                        <a:t>tividad Económica </a:t>
                      </a: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</a:t>
                      </a: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                               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3" name="Table 652"/>
          <p:cNvGraphicFramePr>
            <a:graphicFrameLocks noGrp="1"/>
          </p:cNvGraphicFramePr>
          <p:nvPr/>
        </p:nvGraphicFramePr>
        <p:xfrm>
          <a:off x="259200" y="1170000"/>
          <a:ext cx="6926400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3240000"/>
                <a:gridCol w="2066400"/>
              </a:tblGrid>
              <a:tr h="522514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 públicos</a:t>
                      </a:r>
                    </a:p>
                  </a:txBody>
                  <a:tcPr anchor="ctr" marL="18000" marR="18000" marT="3600" marB="36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18000" marR="18000" marT="3600" marB="360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18000" marR="18000" marT="3600" marB="3600"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Entidad</a:t>
                      </a:r>
                    </a:p>
                  </a:txBody>
                  <a:tcPr anchor="ctr" marL="18000" marR="180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</a:t>
                      </a:r>
                    </a:p>
                  </a:txBody>
                  <a:tcPr anchor="ctr" marL="18000" marR="180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</a:t>
                      </a:r>
                    </a:p>
                  </a:txBody>
                  <a:tcPr anchor="ctr" marL="18000" marR="18000" marT="3600" marB="3600">
                    <a:solidFill>
                      <a:srgbClr val="BC955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CDMX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108,412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Jalisco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Gobierno del Estado de Jalisco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56,021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Veracruz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Secretaría de Educación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55,961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CDMX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Secretaría de la Defensa Nacional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52,653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Yucatán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Gobierno del Estado Libre y Soberano de Yucatán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52,371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</a:tr>
              <a:tr h="522514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 privados</a:t>
                      </a:r>
                    </a:p>
                  </a:txBody>
                  <a:tcPr anchor="ctr" marL="18000" marR="18000" marT="3600" marB="36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18000" marR="18000" marT="3600" marB="360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18000" marR="18000" marT="3600" marB="3600"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Entidad</a:t>
                      </a:r>
                    </a:p>
                  </a:txBody>
                  <a:tcPr anchor="ctr" marL="18000" marR="180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</a:t>
                      </a:r>
                    </a:p>
                  </a:txBody>
                  <a:tcPr anchor="ctr" marL="18000" marR="180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</a:t>
                      </a:r>
                    </a:p>
                  </a:txBody>
                  <a:tcPr anchor="ctr" marL="18000" marR="18000" marT="3600" marB="3600">
                    <a:solidFill>
                      <a:srgbClr val="BC955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Estado México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Itelevate Solutions S.A. de C.V.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64,561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CDMX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Lieberbv S. de R.L. de C.V.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46,393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CDMX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Banco Nacional de México SA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34,411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Estado México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33,306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</a:tr>
              <a:tr h="5225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CDMX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28,678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1"/>
          <p:cNvSpPr txBox="1"/>
          <p:nvPr/>
        </p:nvSpPr>
        <p:spPr>
          <a:xfrm>
            <a:off x="0" y="25700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  <a:tabLst/>
              <a:defRPr/>
            </a:pPr>
            <a:r>
              <a:rPr kumimoji="0" lang="e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NACIONAL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664" name="Google Shape;664;p31"/>
          <p:cNvGraphicFramePr/>
          <p:nvPr/>
        </p:nvGraphicFramePr>
        <p:xfrm>
          <a:off x="211500" y="763176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32. Principales deudores</a:t>
                      </a: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1"/>
                            </a:ext>
                          </a:extLst>
                        </a:rPr>
                        <a:t> </a:t>
                      </a: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-MX" sz="2100" b="1" u="none" strike="noStrike" cap="none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                                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5" name="Table 664"/>
          <p:cNvGraphicFramePr>
            <a:graphicFrameLocks noGrp="1"/>
          </p:cNvGraphicFramePr>
          <p:nvPr/>
        </p:nvGraphicFramePr>
        <p:xfrm>
          <a:off x="259200" y="1170000"/>
          <a:ext cx="6926400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3240000"/>
                <a:gridCol w="2066400"/>
              </a:tblGrid>
              <a:tr h="522514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del Gobierno del Estado</a:t>
                      </a:r>
                    </a:p>
                  </a:txBody>
                  <a:tcPr anchor="ctr" marL="18000" marR="18000" marT="3600" marB="36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18000" marR="18000" marT="3600" marB="360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18000" marR="18000" marT="3600" marB="3600"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Entidad</a:t>
                      </a:r>
                    </a:p>
                  </a:txBody>
                  <a:tcPr anchor="ctr" marL="18000" marR="180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</a:t>
                      </a:r>
                    </a:p>
                  </a:txBody>
                  <a:tcPr anchor="ctr" marL="18000" marR="180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 anchor="ctr" marL="18000" marR="18000" marT="3600" marB="3600">
                    <a:solidFill>
                      <a:srgbClr val="00645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Nayarit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Universidad de Nayarit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$910,063.5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CDMX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Secretaría de la Defensa Nacional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$810,002.1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Morelos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Universidad Autónoma del Estado de Morelos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$541,741.6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Campeche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Municipio del Carmen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$230,093.5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Zacatecas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Secretaría de Educación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$224,871.4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</a:tr>
              <a:tr h="522514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 marL="18000" marR="18000" marT="3600" marB="36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18000" marR="18000" marT="3600" marB="360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18000" marR="18000" marT="3600" marB="3600"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Entidad</a:t>
                      </a:r>
                    </a:p>
                  </a:txBody>
                  <a:tcPr anchor="ctr" marL="18000" marR="180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</a:t>
                      </a:r>
                    </a:p>
                  </a:txBody>
                  <a:tcPr anchor="ctr" marL="18000" marR="18000" marT="3600" marB="36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 anchor="ctr" marL="18000" marR="18000" marT="3600" marB="3600">
                    <a:solidFill>
                      <a:srgbClr val="00645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Hidalgo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Grupo Constructor Industrial Oil &amp; Gas S.A. de C.V.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$313,628.5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CDMX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México Railway Engineering Technology S.A.P.I. de C.V.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$246,624.1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Jalisco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Roberto Ochoa Ruiz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$107,722.5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CDMX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La Casa del Utensilio S.A.S. de C.V.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$107,194.9</a:t>
                      </a:r>
                    </a:p>
                  </a:txBody>
                  <a:tcPr anchor="ctr" marL="18000" marR="18000" marT="3600" marB="3600">
                    <a:solidFill>
                      <a:srgbClr val="EFEFEF"/>
                    </a:solidFill>
                  </a:tcPr>
                </a:tc>
              </a:tr>
              <a:tr h="5225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Sonora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Grupo Chamberlain S. de R.L. de C.V.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$97,869.0</a:t>
                      </a:r>
                    </a:p>
                  </a:txBody>
                  <a:tcPr anchor="ctr" marL="18000" marR="180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3172</Words>
  <Application>Microsoft Macintosh PowerPoint</Application>
  <PresentationFormat>Custom</PresentationFormat>
  <Paragraphs>1411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50" baseType="lpstr">
      <vt:lpstr>Noto Sans Symbols</vt:lpstr>
      <vt:lpstr>Arial</vt:lpstr>
      <vt:lpstr>Noto Sans Medium</vt:lpstr>
      <vt:lpstr>Noto Sans</vt:lpstr>
      <vt:lpstr>Montserrat</vt:lpstr>
      <vt:lpstr>Montserrat Black</vt:lpstr>
      <vt:lpstr>Noto Sans Light</vt:lpstr>
      <vt:lpstr>Noto Sans Symbols Black</vt:lpstr>
      <vt:lpstr>Noto Sans Black</vt:lpstr>
      <vt:lpstr>Montserrat ExtraBold</vt:lpstr>
      <vt:lpstr>Calibri</vt:lpstr>
      <vt:lpstr>Montserrat Medium</vt:lpstr>
      <vt:lpstr>Simple Light</vt:lpstr>
      <vt:lpstr>1_Simple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61</cp:revision>
  <dcterms:modified xsi:type="dcterms:W3CDTF">2026-05-14T00:52:58Z</dcterms:modified>
</cp:coreProperties>
</file>